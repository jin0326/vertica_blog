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8" r:id="rId2"/>
    <p:sldId id="261" r:id="rId3"/>
    <p:sldId id="257" r:id="rId4"/>
    <p:sldId id="262" r:id="rId5"/>
    <p:sldId id="259" r:id="rId6"/>
    <p:sldId id="260" r:id="rId7"/>
    <p:sldId id="269" r:id="rId8"/>
    <p:sldId id="266" r:id="rId9"/>
    <p:sldId id="267" r:id="rId10"/>
    <p:sldId id="263" r:id="rId11"/>
    <p:sldId id="264" r:id="rId12"/>
    <p:sldId id="265" r:id="rId13"/>
    <p:sldId id="270" r:id="rId14"/>
    <p:sldId id="271" r:id="rId15"/>
    <p:sldId id="274" r:id="rId16"/>
    <p:sldId id="272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9720263" cy="8999538"/>
  <p:notesSz cx="6858000" cy="9144000"/>
  <p:defaultTextStyle>
    <a:defPPr>
      <a:defRPr lang="ko-KR"/>
    </a:defPPr>
    <a:lvl1pPr marL="0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1pPr>
    <a:lvl2pPr marL="534833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2pPr>
    <a:lvl3pPr marL="1069665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3pPr>
    <a:lvl4pPr marL="1604498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4pPr>
    <a:lvl5pPr marL="2139330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5pPr>
    <a:lvl6pPr marL="2674163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6pPr>
    <a:lvl7pPr marL="3208995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7pPr>
    <a:lvl8pPr marL="3743828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8pPr>
    <a:lvl9pPr marL="4278660" algn="l" defTabSz="1069665" rtl="0" eaLnBrk="1" latinLnBrk="1" hangingPunct="1">
      <a:defRPr sz="210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34" userDrawn="1">
          <p15:clr>
            <a:srgbClr val="A4A3A4"/>
          </p15:clr>
        </p15:guide>
        <p15:guide id="2" pos="30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DBFF"/>
    <a:srgbClr val="98B6FE"/>
    <a:srgbClr val="9BB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34" autoAdjust="0"/>
    <p:restoredTop sz="94660"/>
  </p:normalViewPr>
  <p:slideViewPr>
    <p:cSldViewPr snapToGrid="0">
      <p:cViewPr>
        <p:scale>
          <a:sx n="75" d="100"/>
          <a:sy n="75" d="100"/>
        </p:scale>
        <p:origin x="252" y="438"/>
      </p:cViewPr>
      <p:guideLst>
        <p:guide orient="horz" pos="2834"/>
        <p:guide pos="30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020" y="1472842"/>
            <a:ext cx="8262224" cy="3133172"/>
          </a:xfrm>
        </p:spPr>
        <p:txBody>
          <a:bodyPr anchor="b"/>
          <a:lstStyle>
            <a:lvl1pPr algn="ctr">
              <a:defRPr sz="6378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5033" y="4726842"/>
            <a:ext cx="7290197" cy="2172804"/>
          </a:xfrm>
        </p:spPr>
        <p:txBody>
          <a:bodyPr/>
          <a:lstStyle>
            <a:lvl1pPr marL="0" indent="0" algn="ctr">
              <a:buNone/>
              <a:defRPr sz="2551"/>
            </a:lvl1pPr>
            <a:lvl2pPr marL="486004" indent="0" algn="ctr">
              <a:buNone/>
              <a:defRPr sz="2126"/>
            </a:lvl2pPr>
            <a:lvl3pPr marL="972007" indent="0" algn="ctr">
              <a:buNone/>
              <a:defRPr sz="1913"/>
            </a:lvl3pPr>
            <a:lvl4pPr marL="1458011" indent="0" algn="ctr">
              <a:buNone/>
              <a:defRPr sz="1701"/>
            </a:lvl4pPr>
            <a:lvl5pPr marL="1944014" indent="0" algn="ctr">
              <a:buNone/>
              <a:defRPr sz="1701"/>
            </a:lvl5pPr>
            <a:lvl6pPr marL="2430018" indent="0" algn="ctr">
              <a:buNone/>
              <a:defRPr sz="1701"/>
            </a:lvl6pPr>
            <a:lvl7pPr marL="2916022" indent="0" algn="ctr">
              <a:buNone/>
              <a:defRPr sz="1701"/>
            </a:lvl7pPr>
            <a:lvl8pPr marL="3402025" indent="0" algn="ctr">
              <a:buNone/>
              <a:defRPr sz="1701"/>
            </a:lvl8pPr>
            <a:lvl9pPr marL="3888029" indent="0" algn="ctr">
              <a:buNone/>
              <a:defRPr sz="1701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468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677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206" y="2243638"/>
            <a:ext cx="8383727" cy="3743557"/>
          </a:xfrm>
        </p:spPr>
        <p:txBody>
          <a:bodyPr anchor="b"/>
          <a:lstStyle>
            <a:lvl1pPr>
              <a:defRPr sz="6378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206" y="6022610"/>
            <a:ext cx="8383727" cy="1968648"/>
          </a:xfrm>
        </p:spPr>
        <p:txBody>
          <a:bodyPr/>
          <a:lstStyle>
            <a:lvl1pPr marL="0" indent="0">
              <a:buNone/>
              <a:defRPr sz="2551">
                <a:solidFill>
                  <a:schemeClr val="tx1"/>
                </a:solidFill>
              </a:defRPr>
            </a:lvl1pPr>
            <a:lvl2pPr marL="486004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2pPr>
            <a:lvl3pPr marL="972007" indent="0">
              <a:buNone/>
              <a:defRPr sz="1913">
                <a:solidFill>
                  <a:schemeClr val="tx1">
                    <a:tint val="75000"/>
                  </a:schemeClr>
                </a:solidFill>
              </a:defRPr>
            </a:lvl3pPr>
            <a:lvl4pPr marL="1458011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4pPr>
            <a:lvl5pPr marL="1944014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5pPr>
            <a:lvl6pPr marL="2430018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6pPr>
            <a:lvl7pPr marL="2916022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7pPr>
            <a:lvl8pPr marL="3402025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8pPr>
            <a:lvl9pPr marL="3888029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835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268" y="2395710"/>
            <a:ext cx="4131112" cy="571012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0883" y="2395710"/>
            <a:ext cx="4131112" cy="571012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50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479144"/>
            <a:ext cx="8383727" cy="173949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535" y="2206137"/>
            <a:ext cx="4112126" cy="1081194"/>
          </a:xfrm>
        </p:spPr>
        <p:txBody>
          <a:bodyPr anchor="b"/>
          <a:lstStyle>
            <a:lvl1pPr marL="0" indent="0">
              <a:buNone/>
              <a:defRPr sz="2551" b="1"/>
            </a:lvl1pPr>
            <a:lvl2pPr marL="486004" indent="0">
              <a:buNone/>
              <a:defRPr sz="2126" b="1"/>
            </a:lvl2pPr>
            <a:lvl3pPr marL="972007" indent="0">
              <a:buNone/>
              <a:defRPr sz="1913" b="1"/>
            </a:lvl3pPr>
            <a:lvl4pPr marL="1458011" indent="0">
              <a:buNone/>
              <a:defRPr sz="1701" b="1"/>
            </a:lvl4pPr>
            <a:lvl5pPr marL="1944014" indent="0">
              <a:buNone/>
              <a:defRPr sz="1701" b="1"/>
            </a:lvl5pPr>
            <a:lvl6pPr marL="2430018" indent="0">
              <a:buNone/>
              <a:defRPr sz="1701" b="1"/>
            </a:lvl6pPr>
            <a:lvl7pPr marL="2916022" indent="0">
              <a:buNone/>
              <a:defRPr sz="1701" b="1"/>
            </a:lvl7pPr>
            <a:lvl8pPr marL="3402025" indent="0">
              <a:buNone/>
              <a:defRPr sz="1701" b="1"/>
            </a:lvl8pPr>
            <a:lvl9pPr marL="3888029" indent="0">
              <a:buNone/>
              <a:defRPr sz="1701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9535" y="3287331"/>
            <a:ext cx="4112126" cy="483516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0884" y="2206137"/>
            <a:ext cx="4132378" cy="1081194"/>
          </a:xfrm>
        </p:spPr>
        <p:txBody>
          <a:bodyPr anchor="b"/>
          <a:lstStyle>
            <a:lvl1pPr marL="0" indent="0">
              <a:buNone/>
              <a:defRPr sz="2551" b="1"/>
            </a:lvl1pPr>
            <a:lvl2pPr marL="486004" indent="0">
              <a:buNone/>
              <a:defRPr sz="2126" b="1"/>
            </a:lvl2pPr>
            <a:lvl3pPr marL="972007" indent="0">
              <a:buNone/>
              <a:defRPr sz="1913" b="1"/>
            </a:lvl3pPr>
            <a:lvl4pPr marL="1458011" indent="0">
              <a:buNone/>
              <a:defRPr sz="1701" b="1"/>
            </a:lvl4pPr>
            <a:lvl5pPr marL="1944014" indent="0">
              <a:buNone/>
              <a:defRPr sz="1701" b="1"/>
            </a:lvl5pPr>
            <a:lvl6pPr marL="2430018" indent="0">
              <a:buNone/>
              <a:defRPr sz="1701" b="1"/>
            </a:lvl6pPr>
            <a:lvl7pPr marL="2916022" indent="0">
              <a:buNone/>
              <a:defRPr sz="1701" b="1"/>
            </a:lvl7pPr>
            <a:lvl8pPr marL="3402025" indent="0">
              <a:buNone/>
              <a:defRPr sz="1701" b="1"/>
            </a:lvl8pPr>
            <a:lvl9pPr marL="3888029" indent="0">
              <a:buNone/>
              <a:defRPr sz="1701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0884" y="3287331"/>
            <a:ext cx="4132378" cy="483516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222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358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702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599969"/>
            <a:ext cx="3135038" cy="2099892"/>
          </a:xfrm>
        </p:spPr>
        <p:txBody>
          <a:bodyPr anchor="b"/>
          <a:lstStyle>
            <a:lvl1pPr>
              <a:defRPr sz="3402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2378" y="1295769"/>
            <a:ext cx="4920883" cy="6395505"/>
          </a:xfrm>
        </p:spPr>
        <p:txBody>
          <a:bodyPr/>
          <a:lstStyle>
            <a:lvl1pPr>
              <a:defRPr sz="3402"/>
            </a:lvl1pPr>
            <a:lvl2pPr>
              <a:defRPr sz="2976"/>
            </a:lvl2pPr>
            <a:lvl3pPr>
              <a:defRPr sz="2551"/>
            </a:lvl3pPr>
            <a:lvl4pPr>
              <a:defRPr sz="2126"/>
            </a:lvl4pPr>
            <a:lvl5pPr>
              <a:defRPr sz="2126"/>
            </a:lvl5pPr>
            <a:lvl6pPr>
              <a:defRPr sz="2126"/>
            </a:lvl6pPr>
            <a:lvl7pPr>
              <a:defRPr sz="2126"/>
            </a:lvl7pPr>
            <a:lvl8pPr>
              <a:defRPr sz="2126"/>
            </a:lvl8pPr>
            <a:lvl9pPr>
              <a:defRPr sz="2126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2699862"/>
            <a:ext cx="3135038" cy="5001827"/>
          </a:xfrm>
        </p:spPr>
        <p:txBody>
          <a:bodyPr/>
          <a:lstStyle>
            <a:lvl1pPr marL="0" indent="0">
              <a:buNone/>
              <a:defRPr sz="1701"/>
            </a:lvl1pPr>
            <a:lvl2pPr marL="486004" indent="0">
              <a:buNone/>
              <a:defRPr sz="1488"/>
            </a:lvl2pPr>
            <a:lvl3pPr marL="972007" indent="0">
              <a:buNone/>
              <a:defRPr sz="1276"/>
            </a:lvl3pPr>
            <a:lvl4pPr marL="1458011" indent="0">
              <a:buNone/>
              <a:defRPr sz="1063"/>
            </a:lvl4pPr>
            <a:lvl5pPr marL="1944014" indent="0">
              <a:buNone/>
              <a:defRPr sz="1063"/>
            </a:lvl5pPr>
            <a:lvl6pPr marL="2430018" indent="0">
              <a:buNone/>
              <a:defRPr sz="1063"/>
            </a:lvl6pPr>
            <a:lvl7pPr marL="2916022" indent="0">
              <a:buNone/>
              <a:defRPr sz="1063"/>
            </a:lvl7pPr>
            <a:lvl8pPr marL="3402025" indent="0">
              <a:buNone/>
              <a:defRPr sz="1063"/>
            </a:lvl8pPr>
            <a:lvl9pPr marL="3888029" indent="0">
              <a:buNone/>
              <a:defRPr sz="1063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814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599969"/>
            <a:ext cx="3135038" cy="2099892"/>
          </a:xfrm>
        </p:spPr>
        <p:txBody>
          <a:bodyPr anchor="b"/>
          <a:lstStyle>
            <a:lvl1pPr>
              <a:defRPr sz="3402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2378" y="1295769"/>
            <a:ext cx="4920883" cy="6395505"/>
          </a:xfrm>
        </p:spPr>
        <p:txBody>
          <a:bodyPr anchor="t"/>
          <a:lstStyle>
            <a:lvl1pPr marL="0" indent="0">
              <a:buNone/>
              <a:defRPr sz="3402"/>
            </a:lvl1pPr>
            <a:lvl2pPr marL="486004" indent="0">
              <a:buNone/>
              <a:defRPr sz="2976"/>
            </a:lvl2pPr>
            <a:lvl3pPr marL="972007" indent="0">
              <a:buNone/>
              <a:defRPr sz="2551"/>
            </a:lvl3pPr>
            <a:lvl4pPr marL="1458011" indent="0">
              <a:buNone/>
              <a:defRPr sz="2126"/>
            </a:lvl4pPr>
            <a:lvl5pPr marL="1944014" indent="0">
              <a:buNone/>
              <a:defRPr sz="2126"/>
            </a:lvl5pPr>
            <a:lvl6pPr marL="2430018" indent="0">
              <a:buNone/>
              <a:defRPr sz="2126"/>
            </a:lvl6pPr>
            <a:lvl7pPr marL="2916022" indent="0">
              <a:buNone/>
              <a:defRPr sz="2126"/>
            </a:lvl7pPr>
            <a:lvl8pPr marL="3402025" indent="0">
              <a:buNone/>
              <a:defRPr sz="2126"/>
            </a:lvl8pPr>
            <a:lvl9pPr marL="3888029" indent="0">
              <a:buNone/>
              <a:defRPr sz="2126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2699862"/>
            <a:ext cx="3135038" cy="5001827"/>
          </a:xfrm>
        </p:spPr>
        <p:txBody>
          <a:bodyPr/>
          <a:lstStyle>
            <a:lvl1pPr marL="0" indent="0">
              <a:buNone/>
              <a:defRPr sz="1701"/>
            </a:lvl1pPr>
            <a:lvl2pPr marL="486004" indent="0">
              <a:buNone/>
              <a:defRPr sz="1488"/>
            </a:lvl2pPr>
            <a:lvl3pPr marL="972007" indent="0">
              <a:buNone/>
              <a:defRPr sz="1276"/>
            </a:lvl3pPr>
            <a:lvl4pPr marL="1458011" indent="0">
              <a:buNone/>
              <a:defRPr sz="1063"/>
            </a:lvl4pPr>
            <a:lvl5pPr marL="1944014" indent="0">
              <a:buNone/>
              <a:defRPr sz="1063"/>
            </a:lvl5pPr>
            <a:lvl6pPr marL="2430018" indent="0">
              <a:buNone/>
              <a:defRPr sz="1063"/>
            </a:lvl6pPr>
            <a:lvl7pPr marL="2916022" indent="0">
              <a:buNone/>
              <a:defRPr sz="1063"/>
            </a:lvl7pPr>
            <a:lvl8pPr marL="3402025" indent="0">
              <a:buNone/>
              <a:defRPr sz="1063"/>
            </a:lvl8pPr>
            <a:lvl9pPr marL="3888029" indent="0">
              <a:buNone/>
              <a:defRPr sz="1063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589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422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6064" y="479142"/>
            <a:ext cx="2095932" cy="7626692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269" y="479142"/>
            <a:ext cx="6166292" cy="7626692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46140-E90A-48B1-9E02-0E867CD1ADA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10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268" y="479144"/>
            <a:ext cx="8383727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268" y="2395710"/>
            <a:ext cx="8383727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268" y="8341240"/>
            <a:ext cx="2187059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46140-E90A-48B1-9E02-0E867CD1ADA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19837" y="8341240"/>
            <a:ext cx="3280589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64936" y="8341240"/>
            <a:ext cx="2187059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A2E430-26F2-45E0-91DB-9D36365265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501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72007" rtl="0" eaLnBrk="1" latinLnBrk="1" hangingPunct="1">
        <a:lnSpc>
          <a:spcPct val="90000"/>
        </a:lnSpc>
        <a:spcBef>
          <a:spcPct val="0"/>
        </a:spcBef>
        <a:buNone/>
        <a:defRPr sz="46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002" indent="-243002" algn="l" defTabSz="972007" rtl="0" eaLnBrk="1" latinLnBrk="1" hangingPunct="1">
        <a:lnSpc>
          <a:spcPct val="90000"/>
        </a:lnSpc>
        <a:spcBef>
          <a:spcPts val="1063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29005" indent="-243002" algn="l" defTabSz="972007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2pPr>
      <a:lvl3pPr marL="1215009" indent="-243002" algn="l" defTabSz="972007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701013" indent="-243002" algn="l" defTabSz="972007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4pPr>
      <a:lvl5pPr marL="2187016" indent="-243002" algn="l" defTabSz="972007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5pPr>
      <a:lvl6pPr marL="2673020" indent="-243002" algn="l" defTabSz="972007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6pPr>
      <a:lvl7pPr marL="3159023" indent="-243002" algn="l" defTabSz="972007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7pPr>
      <a:lvl8pPr marL="3645027" indent="-243002" algn="l" defTabSz="972007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8pPr>
      <a:lvl9pPr marL="4131031" indent="-243002" algn="l" defTabSz="972007" rtl="0" eaLnBrk="1" latinLnBrk="1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1pPr>
      <a:lvl2pPr marL="486004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2pPr>
      <a:lvl3pPr marL="972007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3pPr>
      <a:lvl4pPr marL="1458011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4pPr>
      <a:lvl5pPr marL="1944014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5pPr>
      <a:lvl6pPr marL="2430018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6pPr>
      <a:lvl7pPr marL="2916022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7pPr>
      <a:lvl8pPr marL="3402025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8pPr>
      <a:lvl9pPr marL="3888029" algn="l" defTabSz="972007" rtl="0" eaLnBrk="1" latinLnBrk="1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microsoft.com/office/2007/relationships/hdphoto" Target="../media/hdphoto2.wdp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직사각형 88"/>
          <p:cNvSpPr/>
          <p:nvPr/>
        </p:nvSpPr>
        <p:spPr>
          <a:xfrm>
            <a:off x="1" y="0"/>
            <a:ext cx="9720262" cy="899953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200" b="1" dirty="0" err="1"/>
              <a:t>Vertica</a:t>
            </a:r>
            <a:r>
              <a:rPr lang="en-US" altLang="ko-KR" sz="7200" b="1" dirty="0"/>
              <a:t> Playbook</a:t>
            </a:r>
          </a:p>
        </p:txBody>
      </p:sp>
    </p:spTree>
    <p:extLst>
      <p:ext uri="{BB962C8B-B14F-4D97-AF65-F5344CB8AC3E}">
        <p14:creationId xmlns:p14="http://schemas.microsoft.com/office/powerpoint/2010/main" val="339012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152400" y="125187"/>
            <a:ext cx="2062617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Vertica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란 무엇인가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61471" y="556986"/>
            <a:ext cx="9312729" cy="4971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Vertica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는 데이터 수집부터 분석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시각화에 이르는 전 과정을 통합한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현대적인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데이터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레이크하우스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아키텍처를 제공합니다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object 18"/>
          <p:cNvSpPr txBox="1"/>
          <p:nvPr/>
        </p:nvSpPr>
        <p:spPr>
          <a:xfrm>
            <a:off x="729724" y="2212412"/>
            <a:ext cx="1701920" cy="1981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200" b="1" spc="25" dirty="0">
                <a:latin typeface="+mn-ea"/>
                <a:cs typeface="맑은 고딕"/>
              </a:rPr>
              <a:t>SQL Data Warehouse</a:t>
            </a:r>
            <a:endParaRPr sz="1200" dirty="0">
              <a:latin typeface="+mn-ea"/>
              <a:cs typeface="맑은 고딕"/>
            </a:endParaRPr>
          </a:p>
        </p:txBody>
      </p:sp>
      <p:pic>
        <p:nvPicPr>
          <p:cNvPr id="11" name="object 7"/>
          <p:cNvPicPr/>
          <p:nvPr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77123" y="1055350"/>
            <a:ext cx="1007120" cy="1007120"/>
          </a:xfrm>
          <a:prstGeom prst="rect">
            <a:avLst/>
          </a:prstGeom>
          <a:ln>
            <a:noFill/>
          </a:ln>
        </p:spPr>
      </p:pic>
      <p:sp>
        <p:nvSpPr>
          <p:cNvPr id="16" name="object 9"/>
          <p:cNvSpPr txBox="1"/>
          <p:nvPr/>
        </p:nvSpPr>
        <p:spPr>
          <a:xfrm>
            <a:off x="163286" y="2528748"/>
            <a:ext cx="3113314" cy="1129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3515" marR="79375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185420" algn="l"/>
              </a:tabLst>
            </a:pPr>
            <a:r>
              <a:rPr sz="1000" spc="-20" dirty="0">
                <a:latin typeface="+mn-ea"/>
                <a:cs typeface="맑은 고딕"/>
              </a:rPr>
              <a:t>MP</a:t>
            </a:r>
            <a:r>
              <a:rPr sz="1000" spc="-50" dirty="0">
                <a:latin typeface="+mn-ea"/>
                <a:cs typeface="맑은 고딕"/>
              </a:rPr>
              <a:t>P</a:t>
            </a:r>
            <a:r>
              <a:rPr sz="1000" spc="-95" dirty="0">
                <a:latin typeface="+mn-ea"/>
                <a:cs typeface="맑은 고딕"/>
              </a:rPr>
              <a:t> </a:t>
            </a:r>
            <a:r>
              <a:rPr sz="1000" spc="-80" dirty="0">
                <a:latin typeface="+mn-ea"/>
                <a:cs typeface="맑은 고딕"/>
              </a:rPr>
              <a:t>+</a:t>
            </a:r>
            <a:r>
              <a:rPr sz="1000" spc="-95" dirty="0">
                <a:latin typeface="+mn-ea"/>
                <a:cs typeface="맑은 고딕"/>
              </a:rPr>
              <a:t> </a:t>
            </a:r>
            <a:r>
              <a:rPr sz="1000" spc="-5" dirty="0">
                <a:latin typeface="+mn-ea"/>
                <a:cs typeface="맑은 고딕"/>
              </a:rPr>
              <a:t>Colu</a:t>
            </a:r>
            <a:r>
              <a:rPr sz="1000" spc="-15" dirty="0">
                <a:latin typeface="+mn-ea"/>
                <a:cs typeface="맑은 고딕"/>
              </a:rPr>
              <a:t>m</a:t>
            </a:r>
            <a:r>
              <a:rPr sz="1000" spc="-5" dirty="0">
                <a:latin typeface="+mn-ea"/>
                <a:cs typeface="맑은 고딕"/>
              </a:rPr>
              <a:t>n</a:t>
            </a:r>
            <a:r>
              <a:rPr sz="1000" dirty="0">
                <a:latin typeface="+mn-ea"/>
                <a:cs typeface="맑은 고딕"/>
              </a:rPr>
              <a:t>a</a:t>
            </a:r>
            <a:r>
              <a:rPr sz="1000" spc="-40" dirty="0">
                <a:latin typeface="+mn-ea"/>
                <a:cs typeface="맑은 고딕"/>
              </a:rPr>
              <a:t>r</a:t>
            </a:r>
            <a:r>
              <a:rPr sz="1000" spc="-100" dirty="0">
                <a:latin typeface="+mn-ea"/>
                <a:cs typeface="맑은 고딕"/>
              </a:rPr>
              <a:t> </a:t>
            </a:r>
            <a:r>
              <a:rPr sz="1000" spc="-75" dirty="0">
                <a:latin typeface="+mn-ea"/>
                <a:cs typeface="맑은 고딕"/>
              </a:rPr>
              <a:t>아키텍처를</a:t>
            </a:r>
            <a:r>
              <a:rPr sz="1000" spc="-95" dirty="0">
                <a:latin typeface="+mn-ea"/>
                <a:cs typeface="맑은 고딕"/>
              </a:rPr>
              <a:t> </a:t>
            </a:r>
            <a:r>
              <a:rPr sz="1000" spc="-75" dirty="0">
                <a:latin typeface="+mn-ea"/>
                <a:cs typeface="맑은 고딕"/>
              </a:rPr>
              <a:t>통해</a:t>
            </a:r>
            <a:r>
              <a:rPr sz="1000" spc="-100" dirty="0">
                <a:latin typeface="+mn-ea"/>
                <a:cs typeface="맑은 고딕"/>
              </a:rPr>
              <a:t> </a:t>
            </a:r>
            <a:r>
              <a:rPr sz="1000" spc="-70" dirty="0">
                <a:latin typeface="+mn-ea"/>
                <a:cs typeface="맑은 고딕"/>
              </a:rPr>
              <a:t>대용량  데이터</a:t>
            </a:r>
            <a:r>
              <a:rPr sz="1000" spc="-135" dirty="0">
                <a:latin typeface="+mn-ea"/>
                <a:cs typeface="맑은 고딕"/>
              </a:rPr>
              <a:t> </a:t>
            </a:r>
            <a:r>
              <a:rPr sz="1000" spc="-85" dirty="0" err="1">
                <a:latin typeface="+mn-ea"/>
                <a:cs typeface="맑은 고딕"/>
              </a:rPr>
              <a:t>분석</a:t>
            </a:r>
            <a:r>
              <a:rPr sz="1000" spc="-75" dirty="0" err="1">
                <a:latin typeface="+mn-ea"/>
                <a:cs typeface="맑은 고딕"/>
              </a:rPr>
              <a:t>에</a:t>
            </a:r>
            <a:r>
              <a:rPr sz="1000" spc="-100" dirty="0">
                <a:latin typeface="+mn-ea"/>
                <a:cs typeface="맑은 고딕"/>
              </a:rPr>
              <a:t> </a:t>
            </a:r>
            <a:r>
              <a:rPr sz="1000" spc="-75" dirty="0" err="1" smtClean="0">
                <a:latin typeface="+mn-ea"/>
                <a:cs typeface="맑은 고딕"/>
              </a:rPr>
              <a:t>최적화</a:t>
            </a:r>
            <a:endParaRPr lang="en-US" sz="1000" dirty="0">
              <a:latin typeface="+mn-ea"/>
              <a:cs typeface="맑은 고딕"/>
            </a:endParaRPr>
          </a:p>
          <a:p>
            <a:pPr marL="183515" marR="79375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185420" algn="l"/>
              </a:tabLst>
            </a:pPr>
            <a:r>
              <a:rPr sz="1000" dirty="0" smtClean="0">
                <a:latin typeface="+mn-ea"/>
                <a:cs typeface="맑은 고딕"/>
              </a:rPr>
              <a:t>On</a:t>
            </a:r>
            <a:r>
              <a:rPr sz="1000" spc="-70" dirty="0" smtClean="0">
                <a:latin typeface="+mn-ea"/>
                <a:cs typeface="맑은 고딕"/>
              </a:rPr>
              <a:t>-</a:t>
            </a:r>
            <a:r>
              <a:rPr sz="1000" spc="-25" dirty="0" smtClean="0">
                <a:latin typeface="+mn-ea"/>
                <a:cs typeface="맑은 고딕"/>
              </a:rPr>
              <a:t>p</a:t>
            </a:r>
            <a:r>
              <a:rPr sz="1000" spc="-45" dirty="0" smtClean="0">
                <a:latin typeface="+mn-ea"/>
                <a:cs typeface="맑은 고딕"/>
              </a:rPr>
              <a:t>r</a:t>
            </a:r>
            <a:r>
              <a:rPr sz="1000" spc="-10" dirty="0" smtClean="0">
                <a:latin typeface="+mn-ea"/>
                <a:cs typeface="맑은 고딕"/>
              </a:rPr>
              <a:t>e</a:t>
            </a:r>
            <a:r>
              <a:rPr sz="1000" spc="-40" dirty="0" smtClean="0">
                <a:latin typeface="+mn-ea"/>
                <a:cs typeface="맑은 고딕"/>
              </a:rPr>
              <a:t>mi</a:t>
            </a:r>
            <a:r>
              <a:rPr sz="1000" spc="-35" dirty="0" smtClean="0">
                <a:latin typeface="+mn-ea"/>
                <a:cs typeface="맑은 고딕"/>
              </a:rPr>
              <a:t>s</a:t>
            </a:r>
            <a:r>
              <a:rPr sz="1000" spc="-10" dirty="0" smtClean="0">
                <a:latin typeface="+mn-ea"/>
                <a:cs typeface="맑은 고딕"/>
              </a:rPr>
              <a:t>e</a:t>
            </a:r>
            <a:r>
              <a:rPr sz="1000" spc="-95" dirty="0" smtClean="0">
                <a:latin typeface="+mn-ea"/>
                <a:cs typeface="맑은 고딕"/>
              </a:rPr>
              <a:t> </a:t>
            </a:r>
            <a:r>
              <a:rPr sz="1000" spc="-80" dirty="0">
                <a:latin typeface="+mn-ea"/>
                <a:cs typeface="맑은 고딕"/>
              </a:rPr>
              <a:t>/</a:t>
            </a:r>
            <a:r>
              <a:rPr sz="1000" spc="-95" dirty="0">
                <a:latin typeface="+mn-ea"/>
                <a:cs typeface="맑은 고딕"/>
              </a:rPr>
              <a:t> P</a:t>
            </a:r>
            <a:r>
              <a:rPr sz="1000" spc="-5" dirty="0">
                <a:latin typeface="+mn-ea"/>
                <a:cs typeface="맑은 고딕"/>
              </a:rPr>
              <a:t>u</a:t>
            </a:r>
            <a:r>
              <a:rPr sz="1000" spc="-25" dirty="0">
                <a:latin typeface="+mn-ea"/>
                <a:cs typeface="맑은 고딕"/>
              </a:rPr>
              <a:t>b</a:t>
            </a:r>
            <a:r>
              <a:rPr sz="1000" spc="-40" dirty="0">
                <a:latin typeface="+mn-ea"/>
                <a:cs typeface="맑은 고딕"/>
              </a:rPr>
              <a:t>l</a:t>
            </a:r>
            <a:r>
              <a:rPr sz="1000" spc="-45" dirty="0">
                <a:latin typeface="+mn-ea"/>
                <a:cs typeface="맑은 고딕"/>
              </a:rPr>
              <a:t>i</a:t>
            </a:r>
            <a:r>
              <a:rPr sz="1000" spc="-5" dirty="0">
                <a:latin typeface="+mn-ea"/>
                <a:cs typeface="맑은 고딕"/>
              </a:rPr>
              <a:t>c</a:t>
            </a:r>
            <a:r>
              <a:rPr sz="1000" spc="-114" dirty="0">
                <a:latin typeface="+mn-ea"/>
                <a:cs typeface="맑은 고딕"/>
              </a:rPr>
              <a:t> </a:t>
            </a:r>
            <a:r>
              <a:rPr sz="1000" dirty="0">
                <a:latin typeface="+mn-ea"/>
                <a:cs typeface="맑은 고딕"/>
              </a:rPr>
              <a:t>C</a:t>
            </a:r>
            <a:r>
              <a:rPr sz="1000" spc="-5" dirty="0">
                <a:latin typeface="+mn-ea"/>
                <a:cs typeface="맑은 고딕"/>
              </a:rPr>
              <a:t>l</a:t>
            </a:r>
            <a:r>
              <a:rPr sz="1000" spc="-20" dirty="0">
                <a:latin typeface="+mn-ea"/>
                <a:cs typeface="맑은 고딕"/>
              </a:rPr>
              <a:t>o</a:t>
            </a:r>
            <a:r>
              <a:rPr sz="1000" spc="-5" dirty="0">
                <a:latin typeface="+mn-ea"/>
                <a:cs typeface="맑은 고딕"/>
              </a:rPr>
              <a:t>u</a:t>
            </a:r>
            <a:r>
              <a:rPr sz="1000" spc="-25" dirty="0">
                <a:latin typeface="+mn-ea"/>
                <a:cs typeface="맑은 고딕"/>
              </a:rPr>
              <a:t>d</a:t>
            </a:r>
            <a:r>
              <a:rPr sz="1000" spc="-95" dirty="0">
                <a:latin typeface="+mn-ea"/>
                <a:cs typeface="맑은 고딕"/>
              </a:rPr>
              <a:t> </a:t>
            </a:r>
            <a:r>
              <a:rPr sz="1000" spc="-80" dirty="0">
                <a:latin typeface="+mn-ea"/>
                <a:cs typeface="맑은 고딕"/>
              </a:rPr>
              <a:t>/</a:t>
            </a:r>
            <a:r>
              <a:rPr sz="1000" spc="-85" dirty="0">
                <a:latin typeface="+mn-ea"/>
                <a:cs typeface="맑은 고딕"/>
              </a:rPr>
              <a:t> </a:t>
            </a:r>
            <a:r>
              <a:rPr sz="1000" spc="-50" dirty="0">
                <a:latin typeface="+mn-ea"/>
                <a:cs typeface="맑은 고딕"/>
              </a:rPr>
              <a:t>P</a:t>
            </a:r>
            <a:r>
              <a:rPr sz="1000" spc="-45" dirty="0">
                <a:latin typeface="+mn-ea"/>
                <a:cs typeface="맑은 고딕"/>
              </a:rPr>
              <a:t>r</a:t>
            </a:r>
            <a:r>
              <a:rPr sz="1000" spc="-35" dirty="0">
                <a:latin typeface="+mn-ea"/>
                <a:cs typeface="맑은 고딕"/>
              </a:rPr>
              <a:t>i</a:t>
            </a:r>
            <a:r>
              <a:rPr sz="1000" spc="-80" dirty="0">
                <a:latin typeface="+mn-ea"/>
                <a:cs typeface="맑은 고딕"/>
              </a:rPr>
              <a:t>v</a:t>
            </a:r>
            <a:r>
              <a:rPr sz="1000" dirty="0">
                <a:latin typeface="+mn-ea"/>
                <a:cs typeface="맑은 고딕"/>
              </a:rPr>
              <a:t>a</a:t>
            </a:r>
            <a:r>
              <a:rPr sz="1000" spc="-35" dirty="0">
                <a:latin typeface="+mn-ea"/>
                <a:cs typeface="맑은 고딕"/>
              </a:rPr>
              <a:t>t</a:t>
            </a:r>
            <a:r>
              <a:rPr sz="1000" spc="-10" dirty="0">
                <a:latin typeface="+mn-ea"/>
                <a:cs typeface="맑은 고딕"/>
              </a:rPr>
              <a:t>e</a:t>
            </a:r>
            <a:r>
              <a:rPr sz="1000" spc="-110" dirty="0">
                <a:latin typeface="+mn-ea"/>
                <a:cs typeface="맑은 고딕"/>
              </a:rPr>
              <a:t> </a:t>
            </a:r>
            <a:r>
              <a:rPr sz="1000" dirty="0" smtClean="0">
                <a:latin typeface="+mn-ea"/>
                <a:cs typeface="맑은 고딕"/>
              </a:rPr>
              <a:t>C</a:t>
            </a:r>
            <a:r>
              <a:rPr sz="1000" spc="-5" dirty="0" smtClean="0">
                <a:latin typeface="+mn-ea"/>
                <a:cs typeface="맑은 고딕"/>
              </a:rPr>
              <a:t>l</a:t>
            </a:r>
            <a:r>
              <a:rPr sz="1000" spc="-20" dirty="0" smtClean="0">
                <a:latin typeface="+mn-ea"/>
                <a:cs typeface="맑은 고딕"/>
              </a:rPr>
              <a:t>o</a:t>
            </a:r>
            <a:r>
              <a:rPr sz="1000" spc="-5" dirty="0" smtClean="0">
                <a:latin typeface="+mn-ea"/>
                <a:cs typeface="맑은 고딕"/>
              </a:rPr>
              <a:t>u</a:t>
            </a:r>
            <a:r>
              <a:rPr sz="1000" spc="-25" dirty="0" smtClean="0">
                <a:latin typeface="+mn-ea"/>
                <a:cs typeface="맑은 고딕"/>
              </a:rPr>
              <a:t>d</a:t>
            </a:r>
            <a:r>
              <a:rPr lang="en-US" sz="1000" spc="-25" dirty="0" smtClean="0">
                <a:latin typeface="+mn-ea"/>
                <a:cs typeface="맑은 고딕"/>
              </a:rPr>
              <a:t> </a:t>
            </a:r>
            <a:r>
              <a:rPr sz="1000" spc="-80" dirty="0" smtClean="0">
                <a:latin typeface="+mn-ea"/>
                <a:cs typeface="맑은 고딕"/>
              </a:rPr>
              <a:t>/</a:t>
            </a:r>
            <a:r>
              <a:rPr sz="1000" spc="-85" dirty="0" smtClean="0">
                <a:latin typeface="+mn-ea"/>
                <a:cs typeface="맑은 고딕"/>
              </a:rPr>
              <a:t> </a:t>
            </a:r>
            <a:r>
              <a:rPr sz="1000" spc="-20" dirty="0" smtClean="0">
                <a:latin typeface="+mn-ea"/>
                <a:cs typeface="맑은 고딕"/>
              </a:rPr>
              <a:t>k8s</a:t>
            </a:r>
            <a:r>
              <a:rPr sz="1000" spc="-90" dirty="0" smtClean="0">
                <a:latin typeface="+mn-ea"/>
                <a:cs typeface="맑은 고딕"/>
              </a:rPr>
              <a:t> </a:t>
            </a:r>
            <a:r>
              <a:rPr sz="1000" spc="-70" dirty="0" smtClean="0">
                <a:latin typeface="+mn-ea"/>
                <a:cs typeface="맑은 고딕"/>
              </a:rPr>
              <a:t>등</a:t>
            </a:r>
            <a:r>
              <a:rPr sz="1000" spc="-90" dirty="0" smtClean="0">
                <a:latin typeface="+mn-ea"/>
                <a:cs typeface="맑은 고딕"/>
              </a:rPr>
              <a:t> </a:t>
            </a:r>
            <a:r>
              <a:rPr sz="1000" spc="-85" dirty="0" err="1" smtClean="0">
                <a:latin typeface="+mn-ea"/>
                <a:cs typeface="맑은 고딕"/>
              </a:rPr>
              <a:t>어</a:t>
            </a:r>
            <a:r>
              <a:rPr sz="1000" spc="-80" dirty="0" err="1" smtClean="0">
                <a:latin typeface="+mn-ea"/>
                <a:cs typeface="맑은 고딕"/>
              </a:rPr>
              <a:t>떤</a:t>
            </a:r>
            <a:r>
              <a:rPr sz="1000" spc="-125" dirty="0" smtClean="0">
                <a:latin typeface="+mn-ea"/>
                <a:cs typeface="맑은 고딕"/>
              </a:rPr>
              <a:t> </a:t>
            </a:r>
            <a:r>
              <a:rPr sz="1000" spc="-85" dirty="0" err="1" smtClean="0">
                <a:latin typeface="+mn-ea"/>
                <a:cs typeface="맑은 고딕"/>
              </a:rPr>
              <a:t>인프</a:t>
            </a:r>
            <a:r>
              <a:rPr sz="1000" spc="-80" dirty="0" err="1" smtClean="0">
                <a:latin typeface="+mn-ea"/>
                <a:cs typeface="맑은 고딕"/>
              </a:rPr>
              <a:t>라</a:t>
            </a:r>
            <a:r>
              <a:rPr sz="1000" spc="-135" dirty="0" smtClean="0">
                <a:latin typeface="+mn-ea"/>
                <a:cs typeface="맑은 고딕"/>
              </a:rPr>
              <a:t> </a:t>
            </a:r>
            <a:r>
              <a:rPr sz="1000" spc="-85" dirty="0" err="1" smtClean="0">
                <a:latin typeface="+mn-ea"/>
                <a:cs typeface="맑은 고딕"/>
              </a:rPr>
              <a:t>환</a:t>
            </a:r>
            <a:r>
              <a:rPr sz="1000" spc="-80" dirty="0" err="1" smtClean="0">
                <a:latin typeface="+mn-ea"/>
                <a:cs typeface="맑은 고딕"/>
              </a:rPr>
              <a:t>경</a:t>
            </a:r>
            <a:r>
              <a:rPr sz="1000" spc="-125" dirty="0" smtClean="0">
                <a:latin typeface="+mn-ea"/>
                <a:cs typeface="맑은 고딕"/>
              </a:rPr>
              <a:t> </a:t>
            </a:r>
            <a:r>
              <a:rPr sz="1000" spc="-70" dirty="0" err="1" smtClean="0">
                <a:latin typeface="+mn-ea"/>
                <a:cs typeface="맑은 고딕"/>
              </a:rPr>
              <a:t>에서도</a:t>
            </a:r>
            <a:r>
              <a:rPr sz="1000" spc="-90" dirty="0" smtClean="0">
                <a:latin typeface="+mn-ea"/>
                <a:cs typeface="맑은 고딕"/>
              </a:rPr>
              <a:t> </a:t>
            </a:r>
            <a:r>
              <a:rPr sz="1000" spc="-75" dirty="0" err="1" smtClean="0">
                <a:latin typeface="+mn-ea"/>
                <a:cs typeface="맑은 고딕"/>
              </a:rPr>
              <a:t>배</a:t>
            </a:r>
            <a:r>
              <a:rPr sz="1000" spc="-70" dirty="0" err="1" smtClean="0">
                <a:latin typeface="+mn-ea"/>
                <a:cs typeface="맑은 고딕"/>
              </a:rPr>
              <a:t>포</a:t>
            </a:r>
            <a:r>
              <a:rPr sz="1000" spc="-105" dirty="0" smtClean="0">
                <a:latin typeface="+mn-ea"/>
                <a:cs typeface="맑은 고딕"/>
              </a:rPr>
              <a:t> </a:t>
            </a:r>
            <a:r>
              <a:rPr sz="1000" spc="-70" dirty="0" smtClean="0">
                <a:latin typeface="+mn-ea"/>
                <a:cs typeface="맑은 고딕"/>
              </a:rPr>
              <a:t>및</a:t>
            </a:r>
            <a:r>
              <a:rPr lang="en-US" sz="1000" dirty="0">
                <a:latin typeface="+mn-ea"/>
                <a:cs typeface="맑은 고딕"/>
              </a:rPr>
              <a:t> </a:t>
            </a:r>
            <a:r>
              <a:rPr sz="1000" spc="-75" dirty="0" err="1" smtClean="0">
                <a:latin typeface="+mn-ea"/>
                <a:cs typeface="맑은 고딕"/>
              </a:rPr>
              <a:t>운영</a:t>
            </a:r>
            <a:r>
              <a:rPr sz="1000" spc="-90" dirty="0" smtClean="0">
                <a:latin typeface="+mn-ea"/>
                <a:cs typeface="맑은 고딕"/>
              </a:rPr>
              <a:t> </a:t>
            </a:r>
            <a:r>
              <a:rPr sz="1000" spc="-75" dirty="0" err="1" smtClean="0">
                <a:latin typeface="+mn-ea"/>
                <a:cs typeface="맑은 고딕"/>
              </a:rPr>
              <a:t>지원</a:t>
            </a:r>
            <a:endParaRPr lang="en-US" sz="1000" dirty="0">
              <a:latin typeface="+mn-ea"/>
              <a:cs typeface="맑은 고딕"/>
            </a:endParaRP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ko-KR" altLang="en-US" sz="1000" spc="-330" dirty="0" smtClean="0">
                <a:latin typeface="+mn-ea"/>
                <a:cs typeface="Courier New"/>
              </a:rPr>
              <a:t> </a:t>
            </a:r>
            <a:r>
              <a:rPr lang="en-US" altLang="ko-KR" sz="1000" spc="-55" dirty="0">
                <a:latin typeface="+mn-ea"/>
                <a:cs typeface="맑은 고딕"/>
              </a:rPr>
              <a:t>I/O</a:t>
            </a:r>
            <a:r>
              <a:rPr lang="ko-KR" altLang="en-US" sz="1000" spc="-114" dirty="0">
                <a:latin typeface="+mn-ea"/>
                <a:cs typeface="맑은 고딕"/>
              </a:rPr>
              <a:t> </a:t>
            </a:r>
            <a:r>
              <a:rPr lang="ko-KR" altLang="en-US" sz="1000" spc="-85" dirty="0">
                <a:latin typeface="+mn-ea"/>
                <a:cs typeface="맑은 고딕"/>
              </a:rPr>
              <a:t>최적화</a:t>
            </a:r>
            <a:r>
              <a:rPr lang="ko-KR" altLang="en-US" sz="1000" spc="-135" dirty="0">
                <a:latin typeface="+mn-ea"/>
                <a:cs typeface="맑은 고딕"/>
              </a:rPr>
              <a:t> </a:t>
            </a:r>
            <a:r>
              <a:rPr lang="ko-KR" altLang="en-US" sz="1000" spc="-85" dirty="0">
                <a:latin typeface="+mn-ea"/>
                <a:cs typeface="맑은 고딕"/>
              </a:rPr>
              <a:t>아키텍처</a:t>
            </a:r>
            <a:r>
              <a:rPr lang="ko-KR" altLang="en-US" sz="1000" spc="-75" dirty="0">
                <a:latin typeface="+mn-ea"/>
                <a:cs typeface="맑은 고딕"/>
              </a:rPr>
              <a:t>로</a:t>
            </a:r>
            <a:r>
              <a:rPr lang="ko-KR" altLang="en-US" sz="1000" spc="-110" dirty="0">
                <a:latin typeface="+mn-ea"/>
                <a:cs typeface="맑은 고딕"/>
              </a:rPr>
              <a:t> </a:t>
            </a:r>
            <a:r>
              <a:rPr lang="ko-KR" altLang="en-US" sz="1000" spc="-75" dirty="0">
                <a:latin typeface="+mn-ea"/>
                <a:cs typeface="맑은 고딕"/>
              </a:rPr>
              <a:t>전통적인</a:t>
            </a:r>
            <a:r>
              <a:rPr lang="ko-KR" altLang="en-US" sz="1000" spc="-95" dirty="0">
                <a:latin typeface="+mn-ea"/>
                <a:cs typeface="맑은 고딕"/>
              </a:rPr>
              <a:t> </a:t>
            </a:r>
            <a:r>
              <a:rPr lang="en-US" altLang="ko-KR" sz="1000" spc="-25" dirty="0" smtClean="0">
                <a:latin typeface="+mn-ea"/>
                <a:cs typeface="맑은 고딕"/>
              </a:rPr>
              <a:t>D</a:t>
            </a:r>
            <a:r>
              <a:rPr lang="en-US" altLang="ko-KR" sz="1000" spc="20" dirty="0" smtClean="0">
                <a:latin typeface="+mn-ea"/>
                <a:cs typeface="맑은 고딕"/>
              </a:rPr>
              <a:t>W</a:t>
            </a:r>
            <a:r>
              <a:rPr lang="ko-KR" altLang="en-US" sz="1000" dirty="0" smtClean="0">
                <a:latin typeface="+mn-ea"/>
                <a:cs typeface="맑은 고딕"/>
              </a:rPr>
              <a:t> </a:t>
            </a:r>
            <a:r>
              <a:rPr lang="ko-KR" altLang="en-US" sz="1000" spc="-75" dirty="0" smtClean="0">
                <a:latin typeface="+mn-ea"/>
                <a:cs typeface="맑은 고딕"/>
              </a:rPr>
              <a:t>환경보다</a:t>
            </a:r>
            <a:r>
              <a:rPr lang="ko-KR" altLang="en-US" sz="1000" spc="-100" dirty="0" smtClean="0">
                <a:latin typeface="+mn-ea"/>
                <a:cs typeface="맑은 고딕"/>
              </a:rPr>
              <a:t> </a:t>
            </a:r>
            <a:r>
              <a:rPr lang="en-US" altLang="ko-KR" sz="1000" spc="30" dirty="0">
                <a:latin typeface="+mn-ea"/>
                <a:cs typeface="맑은 고딕"/>
              </a:rPr>
              <a:t>10</a:t>
            </a:r>
            <a:r>
              <a:rPr lang="en-US" altLang="ko-KR" sz="1000" spc="-70" dirty="0">
                <a:latin typeface="+mn-ea"/>
                <a:cs typeface="맑은 고딕"/>
              </a:rPr>
              <a:t>-</a:t>
            </a:r>
            <a:r>
              <a:rPr lang="en-US" altLang="ko-KR" sz="1000" spc="30" dirty="0">
                <a:latin typeface="+mn-ea"/>
                <a:cs typeface="맑은 고딕"/>
              </a:rPr>
              <a:t>50</a:t>
            </a:r>
            <a:r>
              <a:rPr lang="ko-KR" altLang="en-US" sz="1000" spc="-75" dirty="0">
                <a:latin typeface="+mn-ea"/>
                <a:cs typeface="맑은 고딕"/>
              </a:rPr>
              <a:t>배</a:t>
            </a:r>
            <a:r>
              <a:rPr lang="ko-KR" altLang="en-US" sz="1000" spc="-110" dirty="0">
                <a:latin typeface="+mn-ea"/>
                <a:cs typeface="맑은 고딕"/>
              </a:rPr>
              <a:t> </a:t>
            </a:r>
            <a:r>
              <a:rPr lang="ko-KR" altLang="en-US" sz="1000" spc="-75" dirty="0">
                <a:latin typeface="+mn-ea"/>
                <a:cs typeface="맑은 고딕"/>
              </a:rPr>
              <a:t>이상</a:t>
            </a:r>
            <a:r>
              <a:rPr lang="ko-KR" altLang="en-US" sz="1000" spc="-90" dirty="0">
                <a:latin typeface="+mn-ea"/>
                <a:cs typeface="맑은 고딕"/>
              </a:rPr>
              <a:t> </a:t>
            </a:r>
            <a:r>
              <a:rPr lang="ko-KR" altLang="en-US" sz="1000" spc="-75" dirty="0">
                <a:latin typeface="+mn-ea"/>
                <a:cs typeface="맑은 고딕"/>
              </a:rPr>
              <a:t>빠른</a:t>
            </a:r>
            <a:r>
              <a:rPr lang="ko-KR" altLang="en-US" sz="1000" spc="-100" dirty="0">
                <a:latin typeface="+mn-ea"/>
                <a:cs typeface="맑은 고딕"/>
              </a:rPr>
              <a:t> </a:t>
            </a:r>
            <a:r>
              <a:rPr lang="ko-KR" altLang="en-US" sz="1000" spc="-75" dirty="0">
                <a:latin typeface="+mn-ea"/>
                <a:cs typeface="맑은 고딕"/>
              </a:rPr>
              <a:t>처리</a:t>
            </a:r>
            <a:r>
              <a:rPr lang="ko-KR" altLang="en-US" sz="1000" spc="-90" dirty="0">
                <a:latin typeface="+mn-ea"/>
                <a:cs typeface="맑은 고딕"/>
              </a:rPr>
              <a:t> </a:t>
            </a:r>
            <a:r>
              <a:rPr lang="ko-KR" altLang="en-US" sz="1000" spc="-75" dirty="0">
                <a:latin typeface="+mn-ea"/>
                <a:cs typeface="맑은 고딕"/>
              </a:rPr>
              <a:t>성능</a:t>
            </a:r>
            <a:r>
              <a:rPr lang="ko-KR" altLang="en-US" sz="1000" spc="-90" dirty="0">
                <a:latin typeface="+mn-ea"/>
                <a:cs typeface="맑은 고딕"/>
              </a:rPr>
              <a:t> </a:t>
            </a:r>
            <a:r>
              <a:rPr lang="ko-KR" altLang="en-US" sz="1000" spc="-75" dirty="0" smtClean="0">
                <a:latin typeface="+mn-ea"/>
                <a:cs typeface="맑은 고딕"/>
              </a:rPr>
              <a:t>제공</a:t>
            </a:r>
            <a:endParaRPr lang="en-US" altLang="ko-KR" sz="1000" spc="-75" dirty="0" smtClean="0">
              <a:latin typeface="+mn-ea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ko-KR" altLang="en-US" sz="1000" dirty="0">
              <a:latin typeface="+mn-ea"/>
              <a:cs typeface="맑은 고딕"/>
            </a:endParaRPr>
          </a:p>
        </p:txBody>
      </p:sp>
      <p:sp>
        <p:nvSpPr>
          <p:cNvPr id="9" name="object 18"/>
          <p:cNvSpPr txBox="1"/>
          <p:nvPr/>
        </p:nvSpPr>
        <p:spPr>
          <a:xfrm>
            <a:off x="3701202" y="2220532"/>
            <a:ext cx="2311952" cy="1981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200" b="1" spc="25" dirty="0">
                <a:latin typeface="+mn-ea"/>
                <a:cs typeface="맑은 고딕"/>
              </a:rPr>
              <a:t>Analytics &amp; Machine Learning</a:t>
            </a:r>
            <a:endParaRPr sz="1200" dirty="0">
              <a:latin typeface="+mn-ea"/>
              <a:cs typeface="맑은 고딕"/>
            </a:endParaRPr>
          </a:p>
        </p:txBody>
      </p:sp>
      <p:pic>
        <p:nvPicPr>
          <p:cNvPr id="13" name="object 14"/>
          <p:cNvPicPr/>
          <p:nvPr/>
        </p:nvPicPr>
        <p:blipFill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353618" y="1097330"/>
            <a:ext cx="1007120" cy="1007120"/>
          </a:xfrm>
          <a:prstGeom prst="rect">
            <a:avLst/>
          </a:prstGeom>
          <a:ln>
            <a:noFill/>
          </a:ln>
        </p:spPr>
      </p:pic>
      <p:sp>
        <p:nvSpPr>
          <p:cNvPr id="18" name="object 19"/>
          <p:cNvSpPr txBox="1"/>
          <p:nvPr/>
        </p:nvSpPr>
        <p:spPr>
          <a:xfrm>
            <a:off x="3439781" y="2532035"/>
            <a:ext cx="3113314" cy="1129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sz="1000" spc="-85" dirty="0" err="1" smtClean="0">
                <a:latin typeface="+mn-ea"/>
                <a:cs typeface="맑은 고딕"/>
              </a:rPr>
              <a:t>페</a:t>
            </a:r>
            <a:r>
              <a:rPr sz="1000" spc="-80" dirty="0" err="1" smtClean="0">
                <a:latin typeface="+mn-ea"/>
                <a:cs typeface="맑은 고딕"/>
              </a:rPr>
              <a:t>타</a:t>
            </a:r>
            <a:r>
              <a:rPr sz="1000" spc="-125" dirty="0" smtClean="0">
                <a:latin typeface="+mn-ea"/>
                <a:cs typeface="맑은 고딕"/>
              </a:rPr>
              <a:t> </a:t>
            </a:r>
            <a:r>
              <a:rPr sz="1000" spc="-85" dirty="0" err="1">
                <a:latin typeface="+mn-ea"/>
                <a:cs typeface="맑은 고딕"/>
              </a:rPr>
              <a:t>바이</a:t>
            </a:r>
            <a:r>
              <a:rPr sz="1000" spc="-80" dirty="0" err="1">
                <a:latin typeface="+mn-ea"/>
                <a:cs typeface="맑은 고딕"/>
              </a:rPr>
              <a:t>트</a:t>
            </a:r>
            <a:r>
              <a:rPr sz="1000" spc="-135" dirty="0">
                <a:latin typeface="+mn-ea"/>
                <a:cs typeface="맑은 고딕"/>
              </a:rPr>
              <a:t> </a:t>
            </a:r>
            <a:r>
              <a:rPr sz="1000" spc="-85" dirty="0" err="1" smtClean="0">
                <a:latin typeface="+mn-ea"/>
                <a:cs typeface="맑은 고딕"/>
              </a:rPr>
              <a:t>규모</a:t>
            </a:r>
            <a:r>
              <a:rPr sz="1000" spc="-75" dirty="0" err="1" smtClean="0">
                <a:latin typeface="+mn-ea"/>
                <a:cs typeface="맑은 고딕"/>
              </a:rPr>
              <a:t>의</a:t>
            </a:r>
            <a:r>
              <a:rPr lang="en-US" sz="1000" spc="-75" dirty="0" smtClean="0">
                <a:latin typeface="+mn-ea"/>
                <a:cs typeface="맑은 고딕"/>
              </a:rPr>
              <a:t> </a:t>
            </a:r>
            <a:r>
              <a:rPr sz="1000" spc="-35" dirty="0" smtClean="0">
                <a:latin typeface="+mn-ea"/>
                <a:cs typeface="맑은 고딕"/>
              </a:rPr>
              <a:t>I</a:t>
            </a:r>
            <a:r>
              <a:rPr sz="1000" spc="-60" dirty="0" smtClean="0">
                <a:latin typeface="+mn-ea"/>
                <a:cs typeface="맑은 고딕"/>
              </a:rPr>
              <a:t>n</a:t>
            </a:r>
            <a:r>
              <a:rPr sz="1000" spc="-70" dirty="0" smtClean="0">
                <a:latin typeface="+mn-ea"/>
                <a:cs typeface="맑은 고딕"/>
              </a:rPr>
              <a:t>-</a:t>
            </a:r>
            <a:r>
              <a:rPr sz="1000" spc="-25" dirty="0" smtClean="0">
                <a:latin typeface="+mn-ea"/>
                <a:cs typeface="맑은 고딕"/>
              </a:rPr>
              <a:t>D</a:t>
            </a:r>
            <a:r>
              <a:rPr sz="1000" dirty="0" smtClean="0">
                <a:latin typeface="+mn-ea"/>
                <a:cs typeface="맑은 고딕"/>
              </a:rPr>
              <a:t>a</a:t>
            </a:r>
            <a:r>
              <a:rPr sz="1000" spc="-35" dirty="0" smtClean="0">
                <a:latin typeface="+mn-ea"/>
                <a:cs typeface="맑은 고딕"/>
              </a:rPr>
              <a:t>t</a:t>
            </a:r>
            <a:r>
              <a:rPr sz="1000" dirty="0" smtClean="0">
                <a:latin typeface="+mn-ea"/>
                <a:cs typeface="맑은 고딕"/>
              </a:rPr>
              <a:t>a</a:t>
            </a:r>
            <a:r>
              <a:rPr sz="1000" spc="-25" dirty="0" smtClean="0">
                <a:latin typeface="+mn-ea"/>
                <a:cs typeface="맑은 고딕"/>
              </a:rPr>
              <a:t>b</a:t>
            </a:r>
            <a:r>
              <a:rPr sz="1000" dirty="0" smtClean="0">
                <a:latin typeface="+mn-ea"/>
                <a:cs typeface="맑은 고딕"/>
              </a:rPr>
              <a:t>a</a:t>
            </a:r>
            <a:r>
              <a:rPr sz="1000" spc="-55" dirty="0" smtClean="0">
                <a:latin typeface="+mn-ea"/>
                <a:cs typeface="맑은 고딕"/>
              </a:rPr>
              <a:t>s</a:t>
            </a:r>
            <a:r>
              <a:rPr sz="1000" spc="-10" dirty="0" smtClean="0">
                <a:latin typeface="+mn-ea"/>
                <a:cs typeface="맑은 고딕"/>
              </a:rPr>
              <a:t>e</a:t>
            </a:r>
            <a:r>
              <a:rPr sz="1000" spc="-110" dirty="0" smtClean="0">
                <a:latin typeface="+mn-ea"/>
                <a:cs typeface="맑은 고딕"/>
              </a:rPr>
              <a:t> </a:t>
            </a:r>
            <a:r>
              <a:rPr sz="1000" spc="5" dirty="0">
                <a:latin typeface="+mn-ea"/>
                <a:cs typeface="맑은 고딕"/>
              </a:rPr>
              <a:t>Ma</a:t>
            </a:r>
            <a:r>
              <a:rPr sz="1000" spc="-10" dirty="0">
                <a:latin typeface="+mn-ea"/>
                <a:cs typeface="맑은 고딕"/>
              </a:rPr>
              <a:t>c</a:t>
            </a:r>
            <a:r>
              <a:rPr sz="1000" spc="-5" dirty="0">
                <a:latin typeface="+mn-ea"/>
                <a:cs typeface="맑은 고딕"/>
              </a:rPr>
              <a:t>h</a:t>
            </a:r>
            <a:r>
              <a:rPr sz="1000" spc="-20" dirty="0">
                <a:latin typeface="+mn-ea"/>
                <a:cs typeface="맑은 고딕"/>
              </a:rPr>
              <a:t>ine</a:t>
            </a:r>
            <a:r>
              <a:rPr sz="1000" spc="-114" dirty="0">
                <a:latin typeface="+mn-ea"/>
                <a:cs typeface="맑은 고딕"/>
              </a:rPr>
              <a:t> </a:t>
            </a:r>
            <a:r>
              <a:rPr sz="1000" spc="-40" dirty="0">
                <a:latin typeface="+mn-ea"/>
                <a:cs typeface="맑은 고딕"/>
              </a:rPr>
              <a:t>L</a:t>
            </a:r>
            <a:r>
              <a:rPr sz="1000" spc="-10" dirty="0">
                <a:latin typeface="+mn-ea"/>
                <a:cs typeface="맑은 고딕"/>
              </a:rPr>
              <a:t>e</a:t>
            </a:r>
            <a:r>
              <a:rPr sz="1000" dirty="0">
                <a:latin typeface="+mn-ea"/>
                <a:cs typeface="맑은 고딕"/>
              </a:rPr>
              <a:t>a</a:t>
            </a:r>
            <a:r>
              <a:rPr sz="1000" spc="-45" dirty="0">
                <a:latin typeface="+mn-ea"/>
                <a:cs typeface="맑은 고딕"/>
              </a:rPr>
              <a:t>r</a:t>
            </a:r>
            <a:r>
              <a:rPr sz="1000" spc="-5" dirty="0">
                <a:latin typeface="+mn-ea"/>
                <a:cs typeface="맑은 고딕"/>
              </a:rPr>
              <a:t>n</a:t>
            </a:r>
            <a:r>
              <a:rPr sz="1000" spc="-25" dirty="0">
                <a:latin typeface="+mn-ea"/>
                <a:cs typeface="맑은 고딕"/>
              </a:rPr>
              <a:t>ing</a:t>
            </a:r>
            <a:r>
              <a:rPr sz="1000" spc="-110" dirty="0">
                <a:latin typeface="+mn-ea"/>
                <a:cs typeface="맑은 고딕"/>
              </a:rPr>
              <a:t> </a:t>
            </a:r>
            <a:r>
              <a:rPr sz="1000" spc="-75" dirty="0" err="1" smtClean="0">
                <a:latin typeface="+mn-ea"/>
                <a:cs typeface="맑은 고딕"/>
              </a:rPr>
              <a:t>지원</a:t>
            </a:r>
            <a:endParaRPr lang="en-US" sz="1000" spc="-75" dirty="0" smtClean="0">
              <a:latin typeface="+mn-ea"/>
              <a:cs typeface="맑은 고딕"/>
            </a:endParaRP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ko-KR" altLang="en-US" sz="1000" spc="-75" dirty="0" smtClean="0">
                <a:latin typeface="+mn-ea"/>
                <a:cs typeface="맑은 고딕"/>
              </a:rPr>
              <a:t>사용자에게</a:t>
            </a:r>
            <a:r>
              <a:rPr lang="ko-KR" altLang="en-US" sz="1000" spc="-100" dirty="0" smtClean="0">
                <a:latin typeface="+mn-ea"/>
                <a:cs typeface="맑은 고딕"/>
              </a:rPr>
              <a:t> </a:t>
            </a:r>
            <a:r>
              <a:rPr lang="ko-KR" altLang="en-US" sz="1000" spc="-75" dirty="0" smtClean="0">
                <a:latin typeface="+mn-ea"/>
                <a:cs typeface="맑은 고딕"/>
              </a:rPr>
              <a:t>친숙한</a:t>
            </a:r>
            <a:r>
              <a:rPr lang="ko-KR" altLang="en-US" sz="1000" dirty="0" smtClean="0">
                <a:latin typeface="+mn-ea"/>
                <a:cs typeface="맑은 고딕"/>
              </a:rPr>
              <a:t> </a:t>
            </a:r>
            <a:r>
              <a:rPr lang="en-US" altLang="ko-KR" sz="1000" spc="-20" dirty="0" smtClean="0">
                <a:latin typeface="+mn-ea"/>
                <a:cs typeface="맑은 고딕"/>
              </a:rPr>
              <a:t>SQ</a:t>
            </a:r>
            <a:r>
              <a:rPr lang="en-US" altLang="ko-KR" sz="1000" spc="-10" dirty="0" smtClean="0">
                <a:latin typeface="+mn-ea"/>
                <a:cs typeface="맑은 고딕"/>
              </a:rPr>
              <a:t>L</a:t>
            </a:r>
            <a:r>
              <a:rPr lang="ko-KR" altLang="en-US" sz="1000" spc="-85" dirty="0">
                <a:latin typeface="+mn-ea"/>
                <a:cs typeface="맑은 고딕"/>
              </a:rPr>
              <a:t>로</a:t>
            </a:r>
            <a:r>
              <a:rPr lang="ko-KR" altLang="en-US" sz="1000" spc="-135" dirty="0">
                <a:latin typeface="+mn-ea"/>
                <a:cs typeface="맑은 고딕"/>
              </a:rPr>
              <a:t> </a:t>
            </a:r>
            <a:r>
              <a:rPr lang="en-US" altLang="ko-KR" sz="1000" spc="-25" dirty="0">
                <a:latin typeface="+mn-ea"/>
                <a:cs typeface="맑은 고딕"/>
              </a:rPr>
              <a:t>M</a:t>
            </a:r>
            <a:r>
              <a:rPr lang="en-US" altLang="ko-KR" sz="1000" spc="-10" dirty="0">
                <a:latin typeface="+mn-ea"/>
                <a:cs typeface="맑은 고딕"/>
              </a:rPr>
              <a:t>L</a:t>
            </a:r>
            <a:r>
              <a:rPr lang="ko-KR" altLang="en-US" sz="1000" spc="-105" dirty="0">
                <a:latin typeface="+mn-ea"/>
                <a:cs typeface="맑은 고딕"/>
              </a:rPr>
              <a:t> </a:t>
            </a:r>
            <a:r>
              <a:rPr lang="ko-KR" altLang="en-US" sz="1000" spc="-85" dirty="0">
                <a:latin typeface="+mn-ea"/>
                <a:cs typeface="맑은 고딕"/>
              </a:rPr>
              <a:t>프로세스</a:t>
            </a:r>
            <a:r>
              <a:rPr lang="ko-KR" altLang="en-US" sz="1000" spc="-180" dirty="0">
                <a:latin typeface="+mn-ea"/>
                <a:cs typeface="맑은 고딕"/>
              </a:rPr>
              <a:t> </a:t>
            </a:r>
            <a:r>
              <a:rPr lang="ko-KR" altLang="en-US" sz="1000" spc="-75" dirty="0" smtClean="0">
                <a:latin typeface="+mn-ea"/>
                <a:cs typeface="맑은 고딕"/>
              </a:rPr>
              <a:t>지원</a:t>
            </a:r>
            <a:endParaRPr lang="en-US" altLang="ko-KR" sz="1000" dirty="0">
              <a:latin typeface="+mn-ea"/>
              <a:cs typeface="맑은 고딕"/>
            </a:endParaRP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altLang="ko-KR" sz="1000" spc="-55" dirty="0" smtClean="0">
                <a:latin typeface="+mn-ea"/>
                <a:cs typeface="맑은 고딕"/>
              </a:rPr>
              <a:t>P</a:t>
            </a:r>
            <a:r>
              <a:rPr lang="en-US" altLang="ko-KR" sz="1000" spc="5" dirty="0" smtClean="0">
                <a:latin typeface="+mn-ea"/>
                <a:cs typeface="맑은 고딕"/>
              </a:rPr>
              <a:t>MM</a:t>
            </a:r>
            <a:r>
              <a:rPr lang="en-US" altLang="ko-KR" sz="1000" spc="-40" dirty="0" smtClean="0">
                <a:latin typeface="+mn-ea"/>
                <a:cs typeface="맑은 고딕"/>
              </a:rPr>
              <a:t>L</a:t>
            </a:r>
            <a:r>
              <a:rPr lang="ko-KR" altLang="en-US" sz="1000" spc="-105" dirty="0" smtClean="0">
                <a:latin typeface="+mn-ea"/>
                <a:cs typeface="맑은 고딕"/>
              </a:rPr>
              <a:t> </a:t>
            </a:r>
            <a:r>
              <a:rPr lang="en-US" altLang="ko-KR" sz="1000" spc="-90" dirty="0">
                <a:latin typeface="+mn-ea"/>
                <a:cs typeface="맑은 고딕"/>
              </a:rPr>
              <a:t>/</a:t>
            </a:r>
            <a:r>
              <a:rPr lang="ko-KR" altLang="en-US" sz="1000" spc="-110" dirty="0">
                <a:latin typeface="+mn-ea"/>
                <a:cs typeface="맑은 고딕"/>
              </a:rPr>
              <a:t> </a:t>
            </a:r>
            <a:r>
              <a:rPr lang="en-US" altLang="ko-KR" sz="1000" spc="-175" dirty="0" err="1">
                <a:latin typeface="+mn-ea"/>
                <a:cs typeface="맑은 고딕"/>
              </a:rPr>
              <a:t>T</a:t>
            </a:r>
            <a:r>
              <a:rPr lang="en-US" altLang="ko-KR" sz="1000" spc="-25" dirty="0" err="1">
                <a:latin typeface="+mn-ea"/>
                <a:cs typeface="맑은 고딕"/>
              </a:rPr>
              <a:t>en</a:t>
            </a:r>
            <a:r>
              <a:rPr lang="en-US" altLang="ko-KR" sz="1000" spc="-15" dirty="0" err="1">
                <a:latin typeface="+mn-ea"/>
                <a:cs typeface="맑은 고딕"/>
              </a:rPr>
              <a:t>s</a:t>
            </a:r>
            <a:r>
              <a:rPr lang="en-US" altLang="ko-KR" sz="1000" spc="-40" dirty="0" err="1">
                <a:latin typeface="+mn-ea"/>
                <a:cs typeface="맑은 고딕"/>
              </a:rPr>
              <a:t>o</a:t>
            </a:r>
            <a:r>
              <a:rPr lang="en-US" altLang="ko-KR" sz="1000" spc="-30" dirty="0" err="1">
                <a:latin typeface="+mn-ea"/>
                <a:cs typeface="맑은 고딕"/>
              </a:rPr>
              <a:t>r</a:t>
            </a:r>
            <a:r>
              <a:rPr lang="en-US" altLang="ko-KR" sz="1000" spc="-5" dirty="0" err="1">
                <a:latin typeface="+mn-ea"/>
                <a:cs typeface="맑은 고딕"/>
              </a:rPr>
              <a:t>Flow</a:t>
            </a:r>
            <a:r>
              <a:rPr lang="ko-KR" altLang="en-US" sz="1000" spc="-140" dirty="0">
                <a:latin typeface="+mn-ea"/>
                <a:cs typeface="맑은 고딕"/>
              </a:rPr>
              <a:t> </a:t>
            </a:r>
            <a:r>
              <a:rPr lang="en-US" altLang="ko-KR" sz="1000" spc="5" dirty="0">
                <a:latin typeface="+mn-ea"/>
                <a:cs typeface="맑은 고딕"/>
              </a:rPr>
              <a:t>M</a:t>
            </a:r>
            <a:r>
              <a:rPr lang="en-US" altLang="ko-KR" sz="1000" spc="-20" dirty="0">
                <a:latin typeface="+mn-ea"/>
                <a:cs typeface="맑은 고딕"/>
              </a:rPr>
              <a:t>ode</a:t>
            </a:r>
            <a:r>
              <a:rPr lang="en-US" altLang="ko-KR" sz="1000" spc="-45" dirty="0">
                <a:latin typeface="+mn-ea"/>
                <a:cs typeface="맑은 고딕"/>
              </a:rPr>
              <a:t>l</a:t>
            </a:r>
            <a:r>
              <a:rPr lang="ko-KR" altLang="en-US" sz="1000" spc="-155" dirty="0">
                <a:latin typeface="+mn-ea"/>
                <a:cs typeface="맑은 고딕"/>
              </a:rPr>
              <a:t> </a:t>
            </a:r>
            <a:r>
              <a:rPr lang="ko-KR" altLang="en-US" sz="1000" spc="-75" dirty="0">
                <a:latin typeface="+mn-ea"/>
                <a:cs typeface="맑은 고딕"/>
              </a:rPr>
              <a:t>에</a:t>
            </a:r>
            <a:r>
              <a:rPr lang="ko-KR" altLang="en-US" sz="1000" spc="-90" dirty="0">
                <a:latin typeface="+mn-ea"/>
                <a:cs typeface="맑은 고딕"/>
              </a:rPr>
              <a:t> </a:t>
            </a:r>
            <a:r>
              <a:rPr lang="ko-KR" altLang="en-US" sz="1000" spc="-75" dirty="0" smtClean="0">
                <a:latin typeface="+mn-ea"/>
                <a:cs typeface="맑은 고딕"/>
              </a:rPr>
              <a:t>대해 </a:t>
            </a:r>
            <a:r>
              <a:rPr lang="en-US" altLang="ko-KR" sz="1000" spc="-10" dirty="0" smtClean="0">
                <a:latin typeface="+mn-ea"/>
                <a:cs typeface="맑은 고딕"/>
              </a:rPr>
              <a:t>e</a:t>
            </a:r>
            <a:r>
              <a:rPr lang="en-US" altLang="ko-KR" sz="1000" spc="-30" dirty="0" smtClean="0">
                <a:latin typeface="+mn-ea"/>
                <a:cs typeface="맑은 고딕"/>
              </a:rPr>
              <a:t>xp</a:t>
            </a:r>
            <a:r>
              <a:rPr lang="en-US" altLang="ko-KR" sz="1000" spc="-20" dirty="0" smtClean="0">
                <a:latin typeface="+mn-ea"/>
                <a:cs typeface="맑은 고딕"/>
              </a:rPr>
              <a:t>o</a:t>
            </a:r>
            <a:r>
              <a:rPr lang="en-US" altLang="ko-KR" sz="1000" spc="-45" dirty="0" smtClean="0">
                <a:latin typeface="+mn-ea"/>
                <a:cs typeface="맑은 고딕"/>
              </a:rPr>
              <a:t>r</a:t>
            </a:r>
            <a:r>
              <a:rPr lang="en-US" altLang="ko-KR" sz="1000" spc="-30" dirty="0" smtClean="0">
                <a:latin typeface="+mn-ea"/>
                <a:cs typeface="맑은 고딕"/>
              </a:rPr>
              <a:t>t</a:t>
            </a:r>
            <a:r>
              <a:rPr lang="ko-KR" altLang="en-US" sz="1000" spc="-105" dirty="0" smtClean="0">
                <a:latin typeface="+mn-ea"/>
                <a:cs typeface="맑은 고딕"/>
              </a:rPr>
              <a:t> </a:t>
            </a:r>
            <a:r>
              <a:rPr lang="en-US" altLang="ko-KR" sz="1000" spc="-80" dirty="0">
                <a:latin typeface="+mn-ea"/>
                <a:cs typeface="맑은 고딕"/>
              </a:rPr>
              <a:t>/</a:t>
            </a:r>
            <a:r>
              <a:rPr lang="ko-KR" altLang="en-US" sz="1000" spc="-85" dirty="0">
                <a:latin typeface="+mn-ea"/>
                <a:cs typeface="맑은 고딕"/>
              </a:rPr>
              <a:t> </a:t>
            </a:r>
            <a:r>
              <a:rPr lang="en-US" altLang="ko-KR" sz="1000" spc="-30" dirty="0">
                <a:latin typeface="+mn-ea"/>
                <a:cs typeface="맑은 고딕"/>
              </a:rPr>
              <a:t>imp</a:t>
            </a:r>
            <a:r>
              <a:rPr lang="en-US" altLang="ko-KR" sz="1000" spc="-20" dirty="0">
                <a:latin typeface="+mn-ea"/>
                <a:cs typeface="맑은 고딕"/>
              </a:rPr>
              <a:t>o</a:t>
            </a:r>
            <a:r>
              <a:rPr lang="en-US" altLang="ko-KR" sz="1000" spc="-45" dirty="0">
                <a:latin typeface="+mn-ea"/>
                <a:cs typeface="맑은 고딕"/>
              </a:rPr>
              <a:t>r</a:t>
            </a:r>
            <a:r>
              <a:rPr lang="en-US" altLang="ko-KR" sz="1000" spc="-30" dirty="0">
                <a:latin typeface="+mn-ea"/>
                <a:cs typeface="맑은 고딕"/>
              </a:rPr>
              <a:t>t</a:t>
            </a:r>
            <a:r>
              <a:rPr lang="ko-KR" altLang="en-US" sz="1000" spc="-95" dirty="0">
                <a:latin typeface="+mn-ea"/>
                <a:cs typeface="맑은 고딕"/>
              </a:rPr>
              <a:t> </a:t>
            </a:r>
            <a:r>
              <a:rPr lang="ko-KR" altLang="en-US" sz="1000" spc="-75" dirty="0">
                <a:latin typeface="+mn-ea"/>
                <a:cs typeface="맑은 고딕"/>
              </a:rPr>
              <a:t>기능</a:t>
            </a:r>
            <a:r>
              <a:rPr lang="ko-KR" altLang="en-US" sz="1000" spc="-90" dirty="0">
                <a:latin typeface="+mn-ea"/>
                <a:cs typeface="맑은 고딕"/>
              </a:rPr>
              <a:t> </a:t>
            </a:r>
            <a:r>
              <a:rPr lang="ko-KR" altLang="en-US" sz="1000" spc="-75" dirty="0" smtClean="0">
                <a:latin typeface="+mn-ea"/>
                <a:cs typeface="맑은 고딕"/>
              </a:rPr>
              <a:t>지원</a:t>
            </a:r>
            <a:endParaRPr lang="en-US" altLang="ko-KR" sz="1000" spc="-75" dirty="0">
              <a:latin typeface="+mn-ea"/>
              <a:cs typeface="맑은 고딕"/>
            </a:endParaRPr>
          </a:p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altLang="ko-KR" sz="1000" spc="5" dirty="0" smtClean="0">
                <a:latin typeface="+mn-ea"/>
                <a:cs typeface="맑은 고딕"/>
              </a:rPr>
              <a:t>Geos</a:t>
            </a:r>
            <a:r>
              <a:rPr lang="en-US" altLang="ko-KR" sz="1000" spc="-30" dirty="0" smtClean="0">
                <a:latin typeface="+mn-ea"/>
                <a:cs typeface="맑은 고딕"/>
              </a:rPr>
              <a:t>pat</a:t>
            </a:r>
            <a:r>
              <a:rPr lang="en-US" altLang="ko-KR" sz="1000" spc="-25" dirty="0" smtClean="0">
                <a:latin typeface="+mn-ea"/>
                <a:cs typeface="맑은 고딕"/>
              </a:rPr>
              <a:t>i</a:t>
            </a:r>
            <a:r>
              <a:rPr lang="en-US" altLang="ko-KR" sz="1000" spc="-20" dirty="0" smtClean="0">
                <a:latin typeface="+mn-ea"/>
                <a:cs typeface="맑은 고딕"/>
              </a:rPr>
              <a:t>al</a:t>
            </a:r>
            <a:r>
              <a:rPr lang="en-US" altLang="ko-KR" sz="1000" spc="-135" dirty="0" smtClean="0">
                <a:latin typeface="+mn-ea"/>
                <a:cs typeface="맑은 고딕"/>
              </a:rPr>
              <a:t> </a:t>
            </a:r>
            <a:r>
              <a:rPr lang="en-US" altLang="ko-KR" sz="1000" spc="-90" dirty="0" smtClean="0">
                <a:latin typeface="+mn-ea"/>
                <a:cs typeface="맑은 고딕"/>
              </a:rPr>
              <a:t>/</a:t>
            </a:r>
            <a:r>
              <a:rPr lang="en-US" altLang="ko-KR" sz="1000" spc="-110" dirty="0" smtClean="0">
                <a:latin typeface="+mn-ea"/>
                <a:cs typeface="맑은 고딕"/>
              </a:rPr>
              <a:t> </a:t>
            </a:r>
            <a:r>
              <a:rPr lang="en-US" altLang="ko-KR" sz="1000" spc="-30" dirty="0" smtClean="0">
                <a:latin typeface="+mn-ea"/>
                <a:cs typeface="맑은 고딕"/>
              </a:rPr>
              <a:t>Full</a:t>
            </a:r>
            <a:r>
              <a:rPr lang="en-US" altLang="ko-KR" sz="1000" spc="-114" dirty="0" smtClean="0">
                <a:latin typeface="+mn-ea"/>
                <a:cs typeface="맑은 고딕"/>
              </a:rPr>
              <a:t> </a:t>
            </a:r>
            <a:r>
              <a:rPr lang="en-US" altLang="ko-KR" sz="1000" spc="-40" dirty="0" smtClean="0">
                <a:latin typeface="+mn-ea"/>
                <a:cs typeface="맑은 고딕"/>
              </a:rPr>
              <a:t>t</a:t>
            </a:r>
            <a:r>
              <a:rPr lang="en-US" altLang="ko-KR" sz="1000" spc="-25" dirty="0" smtClean="0">
                <a:latin typeface="+mn-ea"/>
                <a:cs typeface="맑은 고딕"/>
              </a:rPr>
              <a:t>e</a:t>
            </a:r>
            <a:r>
              <a:rPr lang="en-US" altLang="ko-KR" sz="1000" spc="-20" dirty="0" smtClean="0">
                <a:latin typeface="+mn-ea"/>
                <a:cs typeface="맑은 고딕"/>
              </a:rPr>
              <a:t>x</a:t>
            </a:r>
            <a:r>
              <a:rPr lang="en-US" altLang="ko-KR" sz="1000" spc="-30" dirty="0" smtClean="0">
                <a:latin typeface="+mn-ea"/>
                <a:cs typeface="맑은 고딕"/>
              </a:rPr>
              <a:t>t</a:t>
            </a:r>
            <a:r>
              <a:rPr lang="en-US" altLang="ko-KR" sz="1000" spc="-105" dirty="0" smtClean="0">
                <a:latin typeface="+mn-ea"/>
                <a:cs typeface="맑은 고딕"/>
              </a:rPr>
              <a:t> </a:t>
            </a:r>
            <a:r>
              <a:rPr lang="en-US" altLang="ko-KR" sz="1000" spc="-50" dirty="0" smtClean="0">
                <a:latin typeface="+mn-ea"/>
                <a:cs typeface="맑은 고딕"/>
              </a:rPr>
              <a:t>s</a:t>
            </a:r>
            <a:r>
              <a:rPr lang="en-US" altLang="ko-KR" sz="1000" dirty="0" smtClean="0">
                <a:latin typeface="+mn-ea"/>
                <a:cs typeface="맑은 고딕"/>
              </a:rPr>
              <a:t>ea</a:t>
            </a:r>
            <a:r>
              <a:rPr lang="en-US" altLang="ko-KR" sz="1000" spc="-55" dirty="0" smtClean="0">
                <a:latin typeface="+mn-ea"/>
                <a:cs typeface="맑은 고딕"/>
              </a:rPr>
              <a:t>r</a:t>
            </a:r>
            <a:r>
              <a:rPr lang="en-US" altLang="ko-KR" sz="1000" spc="-5" dirty="0" smtClean="0">
                <a:latin typeface="+mn-ea"/>
                <a:cs typeface="맑은 고딕"/>
              </a:rPr>
              <a:t>c</a:t>
            </a:r>
            <a:r>
              <a:rPr lang="en-US" altLang="ko-KR" sz="1000" dirty="0" smtClean="0">
                <a:latin typeface="+mn-ea"/>
                <a:cs typeface="맑은 고딕"/>
              </a:rPr>
              <a:t>h</a:t>
            </a:r>
            <a:r>
              <a:rPr lang="en-US" altLang="ko-KR" sz="1000" spc="-125" dirty="0" smtClean="0">
                <a:latin typeface="+mn-ea"/>
                <a:cs typeface="맑은 고딕"/>
              </a:rPr>
              <a:t> </a:t>
            </a:r>
            <a:r>
              <a:rPr lang="ko-KR" altLang="en-US" sz="1000" spc="-60" dirty="0" smtClean="0">
                <a:latin typeface="+mn-ea"/>
                <a:cs typeface="맑은 고딕"/>
              </a:rPr>
              <a:t>등의  향상된</a:t>
            </a:r>
            <a:r>
              <a:rPr lang="ko-KR" altLang="en-US" sz="1000" spc="-100" dirty="0">
                <a:latin typeface="+mn-ea"/>
                <a:cs typeface="맑은 고딕"/>
              </a:rPr>
              <a:t> </a:t>
            </a:r>
            <a:r>
              <a:rPr lang="ko-KR" altLang="en-US" sz="1000" spc="-85" dirty="0" smtClean="0">
                <a:latin typeface="+mn-ea"/>
                <a:cs typeface="맑은 고딕"/>
              </a:rPr>
              <a:t>고급</a:t>
            </a:r>
            <a:r>
              <a:rPr lang="ko-KR" altLang="en-US" sz="1000" spc="-120" dirty="0" smtClean="0">
                <a:latin typeface="+mn-ea"/>
                <a:cs typeface="맑은 고딕"/>
              </a:rPr>
              <a:t> </a:t>
            </a:r>
            <a:r>
              <a:rPr lang="ko-KR" altLang="en-US" sz="1000" spc="-85" dirty="0" smtClean="0">
                <a:latin typeface="+mn-ea"/>
                <a:cs typeface="맑은 고딕"/>
              </a:rPr>
              <a:t>분석</a:t>
            </a:r>
            <a:r>
              <a:rPr lang="ko-KR" altLang="en-US" sz="1000" spc="-120" dirty="0" smtClean="0">
                <a:latin typeface="+mn-ea"/>
                <a:cs typeface="맑은 고딕"/>
              </a:rPr>
              <a:t> </a:t>
            </a:r>
            <a:r>
              <a:rPr lang="ko-KR" altLang="en-US" sz="1000" spc="-85" dirty="0" smtClean="0">
                <a:latin typeface="+mn-ea"/>
                <a:cs typeface="맑은 고딕"/>
              </a:rPr>
              <a:t>기능</a:t>
            </a:r>
            <a:r>
              <a:rPr lang="ko-KR" altLang="en-US" sz="1000" spc="-170" dirty="0" smtClean="0">
                <a:latin typeface="+mn-ea"/>
                <a:cs typeface="맑은 고딕"/>
              </a:rPr>
              <a:t> </a:t>
            </a:r>
            <a:r>
              <a:rPr lang="ko-KR" altLang="en-US" sz="1000" spc="-75" dirty="0" smtClean="0">
                <a:latin typeface="+mn-ea"/>
                <a:cs typeface="맑은 고딕"/>
              </a:rPr>
              <a:t>지원</a:t>
            </a:r>
            <a:endParaRPr lang="ko-KR" altLang="en-US" sz="1000" dirty="0" smtClean="0">
              <a:latin typeface="+mn-ea"/>
              <a:cs typeface="맑은 고딕"/>
            </a:endParaRPr>
          </a:p>
          <a:p>
            <a:pPr marL="356235" indent="-17145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endParaRPr lang="ko-KR" altLang="en-US" sz="1000" dirty="0">
              <a:latin typeface="+mn-ea"/>
              <a:cs typeface="맑은 고딕"/>
            </a:endParaRPr>
          </a:p>
        </p:txBody>
      </p:sp>
      <p:sp>
        <p:nvSpPr>
          <p:cNvPr id="10" name="object 18"/>
          <p:cNvSpPr txBox="1"/>
          <p:nvPr/>
        </p:nvSpPr>
        <p:spPr>
          <a:xfrm>
            <a:off x="7266531" y="2270139"/>
            <a:ext cx="1734286" cy="1981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200" b="1" spc="25" dirty="0">
                <a:latin typeface="+mn-ea"/>
                <a:cs typeface="맑은 고딕"/>
              </a:rPr>
              <a:t>Query Engine</a:t>
            </a:r>
            <a:endParaRPr sz="1200" dirty="0">
              <a:latin typeface="+mn-ea"/>
              <a:cs typeface="맑은 고딕"/>
            </a:endParaRPr>
          </a:p>
        </p:txBody>
      </p:sp>
      <p:pic>
        <p:nvPicPr>
          <p:cNvPr id="12" name="object 13"/>
          <p:cNvPicPr/>
          <p:nvPr/>
        </p:nvPicPr>
        <p:blipFill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630114" y="1132937"/>
            <a:ext cx="1007120" cy="1007120"/>
          </a:xfrm>
          <a:prstGeom prst="rect">
            <a:avLst/>
          </a:prstGeom>
          <a:ln>
            <a:noFill/>
          </a:ln>
        </p:spPr>
      </p:pic>
      <p:sp>
        <p:nvSpPr>
          <p:cNvPr id="21" name="object 15"/>
          <p:cNvSpPr txBox="1"/>
          <p:nvPr/>
        </p:nvSpPr>
        <p:spPr>
          <a:xfrm>
            <a:off x="6715809" y="2544544"/>
            <a:ext cx="3048930" cy="924612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297815" marR="5080" indent="-285750" algn="just">
              <a:lnSpc>
                <a:spcPct val="996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sz="1000" spc="-35" dirty="0" smtClean="0">
                <a:latin typeface="+mn-ea"/>
                <a:cs typeface="맑은 고딕"/>
              </a:rPr>
              <a:t>HDFS</a:t>
            </a:r>
            <a:r>
              <a:rPr sz="1000" spc="-130" dirty="0" smtClean="0">
                <a:latin typeface="+mn-ea"/>
                <a:cs typeface="맑은 고딕"/>
              </a:rPr>
              <a:t> </a:t>
            </a:r>
            <a:r>
              <a:rPr sz="1000" spc="-90" dirty="0">
                <a:latin typeface="+mn-ea"/>
                <a:cs typeface="맑은 고딕"/>
              </a:rPr>
              <a:t>/</a:t>
            </a:r>
            <a:r>
              <a:rPr sz="1000" spc="-110" dirty="0">
                <a:latin typeface="+mn-ea"/>
                <a:cs typeface="맑은 고딕"/>
              </a:rPr>
              <a:t> </a:t>
            </a:r>
            <a:r>
              <a:rPr sz="1000" spc="-10" dirty="0">
                <a:latin typeface="+mn-ea"/>
                <a:cs typeface="맑은 고딕"/>
              </a:rPr>
              <a:t>Ob</a:t>
            </a:r>
            <a:r>
              <a:rPr sz="1000" spc="-15" dirty="0">
                <a:latin typeface="+mn-ea"/>
                <a:cs typeface="맑은 고딕"/>
              </a:rPr>
              <a:t>j</a:t>
            </a:r>
            <a:r>
              <a:rPr sz="1000" spc="-5" dirty="0">
                <a:latin typeface="+mn-ea"/>
                <a:cs typeface="맑은 고딕"/>
              </a:rPr>
              <a:t>e</a:t>
            </a:r>
            <a:r>
              <a:rPr sz="1000" dirty="0">
                <a:latin typeface="+mn-ea"/>
                <a:cs typeface="맑은 고딕"/>
              </a:rPr>
              <a:t>c</a:t>
            </a:r>
            <a:r>
              <a:rPr sz="1000" spc="-30" dirty="0">
                <a:latin typeface="+mn-ea"/>
                <a:cs typeface="맑은 고딕"/>
              </a:rPr>
              <a:t>t</a:t>
            </a:r>
            <a:r>
              <a:rPr sz="1000" spc="-130" dirty="0">
                <a:latin typeface="+mn-ea"/>
                <a:cs typeface="맑은 고딕"/>
              </a:rPr>
              <a:t> </a:t>
            </a:r>
            <a:r>
              <a:rPr sz="1000" spc="-35" dirty="0">
                <a:latin typeface="+mn-ea"/>
                <a:cs typeface="맑은 고딕"/>
              </a:rPr>
              <a:t>Stor</a:t>
            </a:r>
            <a:r>
              <a:rPr sz="1000" dirty="0">
                <a:latin typeface="+mn-ea"/>
                <a:cs typeface="맑은 고딕"/>
              </a:rPr>
              <a:t>e</a:t>
            </a:r>
            <a:r>
              <a:rPr sz="1000" spc="-75" dirty="0">
                <a:latin typeface="+mn-ea"/>
                <a:cs typeface="맑은 고딕"/>
              </a:rPr>
              <a:t>에 </a:t>
            </a:r>
            <a:r>
              <a:rPr sz="1000" spc="-65" dirty="0">
                <a:latin typeface="+mn-ea"/>
                <a:cs typeface="맑은 고딕"/>
              </a:rPr>
              <a:t>저장된  </a:t>
            </a:r>
            <a:r>
              <a:rPr sz="1000" spc="-65" dirty="0" err="1">
                <a:latin typeface="+mn-ea"/>
                <a:cs typeface="맑은 고딕"/>
              </a:rPr>
              <a:t>다양한</a:t>
            </a:r>
            <a:r>
              <a:rPr sz="1000" spc="-100" dirty="0">
                <a:latin typeface="+mn-ea"/>
                <a:cs typeface="맑은 고딕"/>
              </a:rPr>
              <a:t> </a:t>
            </a:r>
            <a:r>
              <a:rPr sz="1000" spc="-75" dirty="0" err="1" smtClean="0">
                <a:latin typeface="+mn-ea"/>
                <a:cs typeface="맑은 고딕"/>
              </a:rPr>
              <a:t>포맷</a:t>
            </a:r>
            <a:endParaRPr lang="en-US" sz="1000" spc="-75" dirty="0" smtClean="0">
              <a:latin typeface="+mn-ea"/>
              <a:cs typeface="맑은 고딕"/>
            </a:endParaRPr>
          </a:p>
          <a:p>
            <a:pPr marL="12065" marR="5080" algn="just">
              <a:lnSpc>
                <a:spcPct val="99600"/>
              </a:lnSpc>
              <a:spcBef>
                <a:spcPts val="10"/>
              </a:spcBef>
            </a:pPr>
            <a:r>
              <a:rPr sz="1000" dirty="0" smtClean="0">
                <a:latin typeface="+mn-ea"/>
                <a:cs typeface="맑은 고딕"/>
              </a:rPr>
              <a:t>(</a:t>
            </a:r>
            <a:r>
              <a:rPr sz="1000" spc="-95" dirty="0" smtClean="0">
                <a:latin typeface="+mn-ea"/>
                <a:cs typeface="맑은 고딕"/>
              </a:rPr>
              <a:t>P</a:t>
            </a:r>
            <a:r>
              <a:rPr sz="1000" dirty="0" smtClean="0">
                <a:latin typeface="+mn-ea"/>
                <a:cs typeface="맑은 고딕"/>
              </a:rPr>
              <a:t>a</a:t>
            </a:r>
            <a:r>
              <a:rPr sz="1000" spc="-45" dirty="0" smtClean="0">
                <a:latin typeface="+mn-ea"/>
                <a:cs typeface="맑은 고딕"/>
              </a:rPr>
              <a:t>r</a:t>
            </a:r>
            <a:r>
              <a:rPr sz="1000" spc="-25" dirty="0" smtClean="0">
                <a:latin typeface="+mn-ea"/>
                <a:cs typeface="맑은 고딕"/>
              </a:rPr>
              <a:t>q</a:t>
            </a:r>
            <a:r>
              <a:rPr sz="1000" spc="-5" dirty="0" smtClean="0">
                <a:latin typeface="+mn-ea"/>
                <a:cs typeface="맑은 고딕"/>
              </a:rPr>
              <a:t>u</a:t>
            </a:r>
            <a:r>
              <a:rPr sz="1000" spc="-10" dirty="0" smtClean="0">
                <a:latin typeface="+mn-ea"/>
                <a:cs typeface="맑은 고딕"/>
              </a:rPr>
              <a:t>e</a:t>
            </a:r>
            <a:r>
              <a:rPr sz="1000" spc="-30" dirty="0" smtClean="0">
                <a:latin typeface="+mn-ea"/>
                <a:cs typeface="맑은 고딕"/>
              </a:rPr>
              <a:t>t</a:t>
            </a:r>
            <a:r>
              <a:rPr lang="en-US" sz="1000" spc="-114" dirty="0" smtClean="0">
                <a:latin typeface="+mn-ea"/>
                <a:cs typeface="맑은 고딕"/>
              </a:rPr>
              <a:t> </a:t>
            </a:r>
            <a:r>
              <a:rPr sz="1000" spc="-80" dirty="0" smtClean="0">
                <a:latin typeface="+mn-ea"/>
                <a:cs typeface="맑은 고딕"/>
              </a:rPr>
              <a:t>/</a:t>
            </a:r>
            <a:r>
              <a:rPr sz="1000" spc="-95" dirty="0" smtClean="0">
                <a:latin typeface="+mn-ea"/>
                <a:cs typeface="맑은 고딕"/>
              </a:rPr>
              <a:t> </a:t>
            </a:r>
            <a:r>
              <a:rPr sz="1000" dirty="0" smtClean="0">
                <a:latin typeface="+mn-ea"/>
                <a:cs typeface="맑은 고딕"/>
              </a:rPr>
              <a:t>ORC</a:t>
            </a:r>
            <a:r>
              <a:rPr sz="1000" spc="-60" dirty="0" smtClean="0">
                <a:latin typeface="+mn-ea"/>
                <a:cs typeface="맑은 고딕"/>
              </a:rPr>
              <a:t> </a:t>
            </a:r>
            <a:r>
              <a:rPr sz="1000" spc="-75" dirty="0" smtClean="0">
                <a:latin typeface="+mn-ea"/>
                <a:cs typeface="맑은 고딕"/>
              </a:rPr>
              <a:t>등</a:t>
            </a:r>
            <a:r>
              <a:rPr sz="1000" spc="5" dirty="0" smtClean="0">
                <a:latin typeface="+mn-ea"/>
                <a:cs typeface="맑은 고딕"/>
              </a:rPr>
              <a:t>)</a:t>
            </a:r>
            <a:r>
              <a:rPr sz="1000" spc="-90" dirty="0" smtClean="0">
                <a:latin typeface="+mn-ea"/>
                <a:cs typeface="맑은 고딕"/>
              </a:rPr>
              <a:t> </a:t>
            </a:r>
            <a:r>
              <a:rPr sz="1000" spc="-45" dirty="0" smtClean="0">
                <a:latin typeface="+mn-ea"/>
                <a:cs typeface="맑은 고딕"/>
              </a:rPr>
              <a:t>의  </a:t>
            </a:r>
            <a:r>
              <a:rPr sz="1000" spc="-75" dirty="0" err="1" smtClean="0">
                <a:latin typeface="+mn-ea"/>
                <a:cs typeface="맑은 고딕"/>
              </a:rPr>
              <a:t>데이터</a:t>
            </a:r>
            <a:r>
              <a:rPr sz="1000" spc="-70" dirty="0" err="1" smtClean="0">
                <a:latin typeface="+mn-ea"/>
                <a:cs typeface="맑은 고딕"/>
              </a:rPr>
              <a:t>를</a:t>
            </a:r>
            <a:r>
              <a:rPr sz="1000" spc="-105" dirty="0" smtClean="0">
                <a:latin typeface="+mn-ea"/>
                <a:cs typeface="맑은 고딕"/>
              </a:rPr>
              <a:t> </a:t>
            </a:r>
            <a:r>
              <a:rPr sz="1000" spc="-75" dirty="0" err="1" smtClean="0">
                <a:latin typeface="+mn-ea"/>
                <a:cs typeface="맑은 고딕"/>
              </a:rPr>
              <a:t>직</a:t>
            </a:r>
            <a:r>
              <a:rPr sz="1000" spc="-70" dirty="0" err="1" smtClean="0">
                <a:latin typeface="+mn-ea"/>
                <a:cs typeface="맑은 고딕"/>
              </a:rPr>
              <a:t>접</a:t>
            </a:r>
            <a:r>
              <a:rPr sz="1000" spc="-90" dirty="0" smtClean="0">
                <a:latin typeface="+mn-ea"/>
                <a:cs typeface="맑은 고딕"/>
              </a:rPr>
              <a:t> </a:t>
            </a:r>
            <a:r>
              <a:rPr sz="1000" spc="-70" dirty="0" err="1" smtClean="0">
                <a:latin typeface="+mn-ea"/>
                <a:cs typeface="맑은 고딕"/>
              </a:rPr>
              <a:t>조회</a:t>
            </a:r>
            <a:endParaRPr lang="en-US" sz="1000" spc="-70" dirty="0" smtClean="0">
              <a:latin typeface="+mn-ea"/>
              <a:cs typeface="맑은 고딕"/>
            </a:endParaRPr>
          </a:p>
          <a:p>
            <a:pPr marL="184785" marR="5080" indent="-172720" algn="just">
              <a:lnSpc>
                <a:spcPct val="996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altLang="ko-KR" sz="1000" dirty="0" smtClean="0">
                <a:latin typeface="+mn-ea"/>
                <a:cs typeface="맑은 고딕"/>
              </a:rPr>
              <a:t>DW</a:t>
            </a:r>
            <a:r>
              <a:rPr lang="ko-KR" altLang="en-US" sz="1000" spc="-85" dirty="0" smtClean="0">
                <a:latin typeface="+mn-ea"/>
                <a:cs typeface="맑은 고딕"/>
              </a:rPr>
              <a:t> </a:t>
            </a:r>
            <a:r>
              <a:rPr lang="ko-KR" altLang="en-US" sz="1000" spc="-75" dirty="0">
                <a:latin typeface="+mn-ea"/>
                <a:cs typeface="맑은 고딕"/>
              </a:rPr>
              <a:t>데이터와</a:t>
            </a:r>
            <a:r>
              <a:rPr lang="ko-KR" altLang="en-US" sz="1000" spc="-100" dirty="0">
                <a:latin typeface="+mn-ea"/>
                <a:cs typeface="맑은 고딕"/>
              </a:rPr>
              <a:t> </a:t>
            </a:r>
            <a:r>
              <a:rPr lang="en-US" altLang="ko-KR" sz="1000" spc="-25" dirty="0">
                <a:latin typeface="+mn-ea"/>
                <a:cs typeface="맑은 고딕"/>
              </a:rPr>
              <a:t>D</a:t>
            </a:r>
            <a:r>
              <a:rPr lang="en-US" altLang="ko-KR" sz="1000" dirty="0">
                <a:latin typeface="+mn-ea"/>
                <a:cs typeface="맑은 고딕"/>
              </a:rPr>
              <a:t>a</a:t>
            </a:r>
            <a:r>
              <a:rPr lang="en-US" altLang="ko-KR" sz="1000" spc="-35" dirty="0">
                <a:latin typeface="+mn-ea"/>
                <a:cs typeface="맑은 고딕"/>
              </a:rPr>
              <a:t>t</a:t>
            </a:r>
            <a:r>
              <a:rPr lang="en-US" altLang="ko-KR" sz="1000" dirty="0">
                <a:latin typeface="+mn-ea"/>
                <a:cs typeface="맑은 고딕"/>
              </a:rPr>
              <a:t>a</a:t>
            </a:r>
            <a:r>
              <a:rPr lang="ko-KR" altLang="en-US" sz="1000" spc="-95" dirty="0">
                <a:latin typeface="+mn-ea"/>
                <a:cs typeface="맑은 고딕"/>
              </a:rPr>
              <a:t> </a:t>
            </a:r>
            <a:r>
              <a:rPr lang="en-US" altLang="ko-KR" sz="1000" spc="-40" dirty="0">
                <a:latin typeface="+mn-ea"/>
                <a:cs typeface="맑은 고딕"/>
              </a:rPr>
              <a:t>L</a:t>
            </a:r>
            <a:r>
              <a:rPr lang="en-US" altLang="ko-KR" sz="1000" dirty="0">
                <a:latin typeface="+mn-ea"/>
                <a:cs typeface="맑은 고딕"/>
              </a:rPr>
              <a:t>a</a:t>
            </a:r>
            <a:r>
              <a:rPr lang="en-US" altLang="ko-KR" sz="1000" spc="-25" dirty="0">
                <a:latin typeface="+mn-ea"/>
                <a:cs typeface="맑은 고딕"/>
              </a:rPr>
              <a:t>k</a:t>
            </a:r>
            <a:r>
              <a:rPr lang="en-US" altLang="ko-KR" sz="1000" spc="-15" dirty="0">
                <a:latin typeface="+mn-ea"/>
                <a:cs typeface="맑은 고딕"/>
              </a:rPr>
              <a:t>e</a:t>
            </a:r>
            <a:r>
              <a:rPr lang="ko-KR" altLang="en-US" sz="1000" spc="-75" dirty="0">
                <a:latin typeface="+mn-ea"/>
                <a:cs typeface="맑은 고딕"/>
              </a:rPr>
              <a:t>에</a:t>
            </a:r>
            <a:r>
              <a:rPr lang="ko-KR" altLang="en-US" sz="1000" spc="-110" dirty="0">
                <a:latin typeface="+mn-ea"/>
                <a:cs typeface="맑은 고딕"/>
              </a:rPr>
              <a:t> </a:t>
            </a:r>
            <a:r>
              <a:rPr lang="ko-KR" altLang="en-US" sz="1000" spc="-75" dirty="0" smtClean="0">
                <a:latin typeface="+mn-ea"/>
                <a:cs typeface="맑은 고딕"/>
              </a:rPr>
              <a:t>존재하는</a:t>
            </a:r>
            <a:r>
              <a:rPr lang="ko-KR" altLang="en-US" sz="1000" dirty="0" smtClean="0">
                <a:latin typeface="+mn-ea"/>
                <a:cs typeface="맑은 고딕"/>
              </a:rPr>
              <a:t> </a:t>
            </a:r>
            <a:r>
              <a:rPr lang="ko-KR" altLang="en-US" sz="1000" spc="-85" dirty="0" smtClean="0">
                <a:latin typeface="+mn-ea"/>
                <a:cs typeface="맑은 고딕"/>
              </a:rPr>
              <a:t>데이터</a:t>
            </a:r>
            <a:r>
              <a:rPr lang="ko-KR" altLang="en-US" sz="1000" spc="-135" dirty="0" smtClean="0">
                <a:latin typeface="+mn-ea"/>
                <a:cs typeface="맑은 고딕"/>
              </a:rPr>
              <a:t> </a:t>
            </a:r>
            <a:r>
              <a:rPr lang="ko-KR" altLang="en-US" sz="1000" spc="-85" dirty="0">
                <a:latin typeface="+mn-ea"/>
                <a:cs typeface="맑은 고딕"/>
              </a:rPr>
              <a:t>연계</a:t>
            </a:r>
            <a:r>
              <a:rPr lang="ko-KR" altLang="en-US" sz="1000" spc="-120" dirty="0">
                <a:latin typeface="+mn-ea"/>
                <a:cs typeface="맑은 고딕"/>
              </a:rPr>
              <a:t> </a:t>
            </a:r>
            <a:r>
              <a:rPr lang="ko-KR" altLang="en-US" sz="1000" spc="-85" dirty="0">
                <a:latin typeface="+mn-ea"/>
                <a:cs typeface="맑은 고딕"/>
              </a:rPr>
              <a:t>분</a:t>
            </a:r>
            <a:r>
              <a:rPr lang="ko-KR" altLang="en-US" sz="1000" spc="-90" dirty="0">
                <a:latin typeface="+mn-ea"/>
                <a:cs typeface="맑은 고딕"/>
              </a:rPr>
              <a:t>석</a:t>
            </a:r>
            <a:r>
              <a:rPr lang="en-US" altLang="ko-KR" sz="1000" dirty="0">
                <a:latin typeface="+mn-ea"/>
                <a:cs typeface="맑은 고딕"/>
              </a:rPr>
              <a:t>(</a:t>
            </a:r>
            <a:r>
              <a:rPr lang="en-US" altLang="ko-KR" sz="1000" spc="-90" dirty="0">
                <a:latin typeface="+mn-ea"/>
                <a:cs typeface="맑은 고딕"/>
              </a:rPr>
              <a:t>J</a:t>
            </a:r>
            <a:r>
              <a:rPr lang="en-US" altLang="ko-KR" sz="1000" spc="-20" dirty="0">
                <a:latin typeface="+mn-ea"/>
                <a:cs typeface="맑은 고딕"/>
              </a:rPr>
              <a:t>o</a:t>
            </a:r>
            <a:r>
              <a:rPr lang="en-US" altLang="ko-KR" sz="1000" spc="-25" dirty="0">
                <a:latin typeface="+mn-ea"/>
                <a:cs typeface="맑은 고딕"/>
              </a:rPr>
              <a:t>in</a:t>
            </a:r>
            <a:r>
              <a:rPr lang="ko-KR" altLang="en-US" sz="1000" spc="-95" dirty="0">
                <a:latin typeface="+mn-ea"/>
                <a:cs typeface="맑은 고딕"/>
              </a:rPr>
              <a:t> </a:t>
            </a:r>
            <a:r>
              <a:rPr lang="ko-KR" altLang="en-US" sz="1000" spc="-75" dirty="0">
                <a:latin typeface="+mn-ea"/>
                <a:cs typeface="맑은 고딕"/>
              </a:rPr>
              <a:t>처리</a:t>
            </a:r>
            <a:r>
              <a:rPr lang="en-US" altLang="ko-KR" sz="1000" spc="5" dirty="0">
                <a:latin typeface="+mn-ea"/>
                <a:cs typeface="맑은 고딕"/>
              </a:rPr>
              <a:t>)</a:t>
            </a:r>
            <a:r>
              <a:rPr lang="ko-KR" altLang="en-US" sz="1000" spc="-90" dirty="0">
                <a:latin typeface="+mn-ea"/>
                <a:cs typeface="맑은 고딕"/>
              </a:rPr>
              <a:t> </a:t>
            </a:r>
            <a:r>
              <a:rPr lang="ko-KR" altLang="en-US" sz="1000" spc="-75" dirty="0" smtClean="0">
                <a:latin typeface="+mn-ea"/>
                <a:cs typeface="맑은 고딕"/>
              </a:rPr>
              <a:t>지원</a:t>
            </a:r>
            <a:endParaRPr lang="en-US" altLang="ko-KR" sz="1000" spc="-75" dirty="0">
              <a:latin typeface="+mn-ea"/>
              <a:cs typeface="맑은 고딕"/>
            </a:endParaRPr>
          </a:p>
          <a:p>
            <a:pPr marL="184785" marR="5080" indent="-172720" algn="just">
              <a:lnSpc>
                <a:spcPct val="996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altLang="ko-KR" sz="1000" spc="25" dirty="0" smtClean="0">
                <a:latin typeface="+mn-ea"/>
                <a:cs typeface="맑은 고딕"/>
              </a:rPr>
              <a:t>A</a:t>
            </a:r>
            <a:r>
              <a:rPr lang="en-US" altLang="ko-KR" sz="1000" spc="-40" dirty="0" smtClean="0">
                <a:latin typeface="+mn-ea"/>
                <a:cs typeface="맑은 고딕"/>
              </a:rPr>
              <a:t>R</a:t>
            </a:r>
            <a:r>
              <a:rPr lang="en-US" altLang="ko-KR" sz="1000" spc="-45" dirty="0" smtClean="0">
                <a:latin typeface="+mn-ea"/>
                <a:cs typeface="맑은 고딕"/>
              </a:rPr>
              <a:t>R</a:t>
            </a:r>
            <a:r>
              <a:rPr lang="en-US" altLang="ko-KR" sz="1000" spc="-105" dirty="0" smtClean="0">
                <a:latin typeface="+mn-ea"/>
                <a:cs typeface="맑은 고딕"/>
              </a:rPr>
              <a:t>A</a:t>
            </a:r>
            <a:r>
              <a:rPr lang="en-US" altLang="ko-KR" sz="1000" spc="70" dirty="0" smtClean="0">
                <a:latin typeface="+mn-ea"/>
                <a:cs typeface="맑은 고딕"/>
              </a:rPr>
              <a:t>Y</a:t>
            </a:r>
            <a:r>
              <a:rPr lang="ko-KR" altLang="en-US" sz="1000" spc="-85" dirty="0" smtClean="0">
                <a:latin typeface="+mn-ea"/>
                <a:cs typeface="맑은 고딕"/>
              </a:rPr>
              <a:t> </a:t>
            </a:r>
            <a:r>
              <a:rPr lang="en-US" altLang="ko-KR" sz="1000" spc="-80" dirty="0">
                <a:latin typeface="+mn-ea"/>
                <a:cs typeface="맑은 고딕"/>
              </a:rPr>
              <a:t>/</a:t>
            </a:r>
            <a:r>
              <a:rPr lang="ko-KR" altLang="en-US" sz="1000" spc="-85" dirty="0">
                <a:latin typeface="+mn-ea"/>
                <a:cs typeface="맑은 고딕"/>
              </a:rPr>
              <a:t> </a:t>
            </a:r>
            <a:r>
              <a:rPr lang="en-US" altLang="ko-KR" sz="1000" spc="15" dirty="0">
                <a:latin typeface="+mn-ea"/>
                <a:cs typeface="맑은 고딕"/>
              </a:rPr>
              <a:t>MA</a:t>
            </a:r>
            <a:r>
              <a:rPr lang="en-US" altLang="ko-KR" sz="1000" spc="-50" dirty="0">
                <a:latin typeface="+mn-ea"/>
                <a:cs typeface="맑은 고딕"/>
              </a:rPr>
              <a:t>P</a:t>
            </a:r>
            <a:r>
              <a:rPr lang="ko-KR" altLang="en-US" sz="1000" spc="-95" dirty="0">
                <a:latin typeface="+mn-ea"/>
                <a:cs typeface="맑은 고딕"/>
              </a:rPr>
              <a:t> </a:t>
            </a:r>
            <a:r>
              <a:rPr lang="en-US" altLang="ko-KR" sz="1000" spc="-80" dirty="0">
                <a:latin typeface="+mn-ea"/>
                <a:cs typeface="맑은 고딕"/>
              </a:rPr>
              <a:t>/</a:t>
            </a:r>
            <a:r>
              <a:rPr lang="ko-KR" altLang="en-US" sz="1000" spc="-85" dirty="0">
                <a:latin typeface="+mn-ea"/>
                <a:cs typeface="맑은 고딕"/>
              </a:rPr>
              <a:t> </a:t>
            </a:r>
            <a:r>
              <a:rPr lang="en-US" altLang="ko-KR" sz="1000" spc="-30" dirty="0">
                <a:latin typeface="+mn-ea"/>
                <a:cs typeface="맑은 고딕"/>
              </a:rPr>
              <a:t>S</a:t>
            </a:r>
            <a:r>
              <a:rPr lang="en-US" altLang="ko-KR" sz="1000" spc="-45" dirty="0">
                <a:latin typeface="+mn-ea"/>
                <a:cs typeface="맑은 고딕"/>
              </a:rPr>
              <a:t>T</a:t>
            </a:r>
            <a:r>
              <a:rPr lang="en-US" altLang="ko-KR" sz="1000" spc="-15" dirty="0">
                <a:latin typeface="+mn-ea"/>
                <a:cs typeface="맑은 고딕"/>
              </a:rPr>
              <a:t>RUCT</a:t>
            </a:r>
            <a:r>
              <a:rPr lang="ko-KR" altLang="en-US" sz="1000" spc="-95" dirty="0">
                <a:latin typeface="+mn-ea"/>
                <a:cs typeface="맑은 고딕"/>
              </a:rPr>
              <a:t> </a:t>
            </a:r>
            <a:r>
              <a:rPr lang="ko-KR" altLang="en-US" sz="1000" spc="-60" dirty="0">
                <a:latin typeface="+mn-ea"/>
                <a:cs typeface="맑은 고딕"/>
              </a:rPr>
              <a:t>등  </a:t>
            </a:r>
            <a:r>
              <a:rPr lang="ko-KR" altLang="en-US" sz="1000" spc="-60" dirty="0" err="1">
                <a:latin typeface="+mn-ea"/>
                <a:cs typeface="맑은 고딕"/>
              </a:rPr>
              <a:t>오픈소스</a:t>
            </a:r>
            <a:r>
              <a:rPr lang="ko-KR" altLang="en-US" sz="1000" spc="-100" dirty="0">
                <a:latin typeface="+mn-ea"/>
                <a:cs typeface="맑은 고딕"/>
              </a:rPr>
              <a:t> </a:t>
            </a:r>
            <a:r>
              <a:rPr lang="ko-KR" altLang="en-US" sz="1000" spc="-75" dirty="0">
                <a:latin typeface="+mn-ea"/>
                <a:cs typeface="맑은 고딕"/>
              </a:rPr>
              <a:t>파일에서</a:t>
            </a:r>
            <a:r>
              <a:rPr lang="ko-KR" altLang="en-US" sz="1000" spc="-100" dirty="0">
                <a:latin typeface="+mn-ea"/>
                <a:cs typeface="맑은 고딕"/>
              </a:rPr>
              <a:t> </a:t>
            </a:r>
            <a:r>
              <a:rPr lang="ko-KR" altLang="en-US" sz="1000" spc="-60" dirty="0" smtClean="0">
                <a:latin typeface="+mn-ea"/>
                <a:cs typeface="맑은 고딕"/>
              </a:rPr>
              <a:t>빈번하게  </a:t>
            </a:r>
            <a:r>
              <a:rPr lang="ko-KR" altLang="en-US" sz="1000" spc="-75" dirty="0">
                <a:latin typeface="+mn-ea"/>
                <a:cs typeface="맑은 고딕"/>
              </a:rPr>
              <a:t>활용되</a:t>
            </a:r>
            <a:r>
              <a:rPr lang="ko-KR" altLang="en-US" sz="1000" spc="-70" dirty="0">
                <a:latin typeface="+mn-ea"/>
                <a:cs typeface="맑은 고딕"/>
              </a:rPr>
              <a:t>는</a:t>
            </a:r>
            <a:r>
              <a:rPr lang="ko-KR" altLang="en-US" sz="1000" spc="-105" dirty="0">
                <a:latin typeface="+mn-ea"/>
                <a:cs typeface="맑은 고딕"/>
              </a:rPr>
              <a:t> </a:t>
            </a:r>
            <a:r>
              <a:rPr lang="en-US" altLang="ko-KR" sz="1000" spc="-15" dirty="0">
                <a:latin typeface="+mn-ea"/>
                <a:cs typeface="맑은 고딕"/>
              </a:rPr>
              <a:t>Compl</a:t>
            </a:r>
            <a:r>
              <a:rPr lang="en-US" altLang="ko-KR" sz="1000" spc="-20" dirty="0">
                <a:latin typeface="+mn-ea"/>
                <a:cs typeface="맑은 고딕"/>
              </a:rPr>
              <a:t>ex</a:t>
            </a:r>
            <a:r>
              <a:rPr lang="ko-KR" altLang="en-US" sz="1000" spc="-130" dirty="0">
                <a:latin typeface="+mn-ea"/>
                <a:cs typeface="맑은 고딕"/>
              </a:rPr>
              <a:t> </a:t>
            </a:r>
            <a:r>
              <a:rPr lang="en-US" altLang="ko-KR" sz="1000" spc="-135" dirty="0">
                <a:latin typeface="+mn-ea"/>
                <a:cs typeface="맑은 고딕"/>
              </a:rPr>
              <a:t>T</a:t>
            </a:r>
            <a:r>
              <a:rPr lang="en-US" altLang="ko-KR" sz="1000" spc="-105" dirty="0">
                <a:latin typeface="+mn-ea"/>
                <a:cs typeface="맑은 고딕"/>
              </a:rPr>
              <a:t>y</a:t>
            </a:r>
            <a:r>
              <a:rPr lang="en-US" altLang="ko-KR" sz="1000" spc="-15" dirty="0">
                <a:latin typeface="+mn-ea"/>
                <a:cs typeface="맑은 고딕"/>
              </a:rPr>
              <a:t>pe</a:t>
            </a:r>
            <a:r>
              <a:rPr lang="ko-KR" altLang="en-US" sz="1000" spc="-155" dirty="0">
                <a:latin typeface="+mn-ea"/>
                <a:cs typeface="맑은 고딕"/>
              </a:rPr>
              <a:t> </a:t>
            </a:r>
            <a:r>
              <a:rPr lang="ko-KR" altLang="en-US" sz="1000" spc="-40" dirty="0">
                <a:latin typeface="+mn-ea"/>
                <a:cs typeface="맑은 고딕"/>
              </a:rPr>
              <a:t>을  </a:t>
            </a:r>
            <a:r>
              <a:rPr lang="ko-KR" altLang="en-US" sz="1000" spc="-75" dirty="0">
                <a:latin typeface="+mn-ea"/>
                <a:cs typeface="맑은 고딕"/>
              </a:rPr>
              <a:t>완벽하게</a:t>
            </a:r>
            <a:r>
              <a:rPr lang="ko-KR" altLang="en-US" sz="1000" spc="-100" dirty="0">
                <a:latin typeface="+mn-ea"/>
                <a:cs typeface="맑은 고딕"/>
              </a:rPr>
              <a:t> </a:t>
            </a:r>
            <a:r>
              <a:rPr lang="ko-KR" altLang="en-US" sz="1000" spc="-75" dirty="0" smtClean="0">
                <a:latin typeface="+mn-ea"/>
                <a:cs typeface="맑은 고딕"/>
              </a:rPr>
              <a:t>지원</a:t>
            </a:r>
            <a:endParaRPr lang="ko-KR" altLang="en-US" sz="1000" dirty="0">
              <a:latin typeface="+mn-ea"/>
              <a:cs typeface="맑은 고딕"/>
            </a:endParaRPr>
          </a:p>
        </p:txBody>
      </p:sp>
      <p:cxnSp>
        <p:nvCxnSpPr>
          <p:cNvPr id="3" name="직선 연결선 2"/>
          <p:cNvCxnSpPr/>
          <p:nvPr/>
        </p:nvCxnSpPr>
        <p:spPr>
          <a:xfrm flipV="1">
            <a:off x="215900" y="4953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직사각형 86"/>
          <p:cNvSpPr/>
          <p:nvPr/>
        </p:nvSpPr>
        <p:spPr>
          <a:xfrm>
            <a:off x="119742" y="3933374"/>
            <a:ext cx="2186829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Vertica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핵심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기술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128813" y="4352473"/>
            <a:ext cx="9873546" cy="4971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Vertica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는 다음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5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가지 기술 요소를 중심으로 고성능 분석을 지원합니다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9" name="직선 연결선 88"/>
          <p:cNvCxnSpPr/>
          <p:nvPr/>
        </p:nvCxnSpPr>
        <p:spPr>
          <a:xfrm flipV="1">
            <a:off x="234042" y="4290787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0" name="Table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554398"/>
              </p:ext>
            </p:extLst>
          </p:nvPr>
        </p:nvGraphicFramePr>
        <p:xfrm>
          <a:off x="750540" y="4825895"/>
          <a:ext cx="158267" cy="103293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826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0658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482" marR="50482" marT="25241" marB="25241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482" marR="50482" marT="25241" marB="25241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482" marR="50482" marT="25241" marB="25241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482" marR="50482" marT="25241" marB="25241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482" marR="50482" marT="25241" marB="25241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91" name="Table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636451"/>
              </p:ext>
            </p:extLst>
          </p:nvPr>
        </p:nvGraphicFramePr>
        <p:xfrm>
          <a:off x="1020284" y="4825895"/>
          <a:ext cx="158267" cy="1032935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15826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0658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482" marR="50482" marT="25241" marB="25241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482" marR="50482" marT="25241" marB="25241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482" marR="50482" marT="25241" marB="25241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482" marR="50482" marT="25241" marB="25241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482" marR="50482" marT="25241" marB="25241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92" name="Table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086703"/>
              </p:ext>
            </p:extLst>
          </p:nvPr>
        </p:nvGraphicFramePr>
        <p:xfrm>
          <a:off x="1326816" y="4825895"/>
          <a:ext cx="158267" cy="1032935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5826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0658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482" marR="50482" marT="25241" marB="25241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482" marR="50482" marT="25241" marB="25241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482" marR="50482" marT="25241" marB="25241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482" marR="50482" marT="25241" marB="25241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482" marR="50482" marT="25241" marB="25241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93" name="Table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602155"/>
              </p:ext>
            </p:extLst>
          </p:nvPr>
        </p:nvGraphicFramePr>
        <p:xfrm>
          <a:off x="1606607" y="4825895"/>
          <a:ext cx="158267" cy="1032935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15826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0658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482" marR="50482" marT="25241" marB="25241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482" marR="50482" marT="25241" marB="25241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482" marR="50482" marT="25241" marB="25241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482" marR="50482" marT="25241" marB="25241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0658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482" marR="50482" marT="25241" marB="25241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94" name="Table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805300"/>
              </p:ext>
            </p:extLst>
          </p:nvPr>
        </p:nvGraphicFramePr>
        <p:xfrm>
          <a:off x="1869579" y="4826573"/>
          <a:ext cx="157415" cy="103158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15741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06316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210" marR="50210" marT="25105" marB="2510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06316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210" marR="50210" marT="25105" marB="2510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06316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210" marR="50210" marT="25105" marB="2510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06316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210" marR="50210" marT="25105" marB="2510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06316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50210" marR="50210" marT="25105" marB="2510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cxnSp>
        <p:nvCxnSpPr>
          <p:cNvPr id="95" name="Straight Arrow Connector 96"/>
          <p:cNvCxnSpPr/>
          <p:nvPr/>
        </p:nvCxnSpPr>
        <p:spPr>
          <a:xfrm>
            <a:off x="820499" y="4798875"/>
            <a:ext cx="0" cy="1086974"/>
          </a:xfrm>
          <a:prstGeom prst="straightConnector1">
            <a:avLst/>
          </a:prstGeom>
          <a:ln w="127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6" name="그룹 95"/>
          <p:cNvGrpSpPr/>
          <p:nvPr/>
        </p:nvGrpSpPr>
        <p:grpSpPr>
          <a:xfrm>
            <a:off x="7471403" y="4803205"/>
            <a:ext cx="1190066" cy="966226"/>
            <a:chOff x="8060037" y="1837974"/>
            <a:chExt cx="1424572" cy="1305922"/>
          </a:xfrm>
        </p:grpSpPr>
        <p:sp>
          <p:nvSpPr>
            <p:cNvPr id="97" name="Rectangle 61"/>
            <p:cNvSpPr/>
            <p:nvPr/>
          </p:nvSpPr>
          <p:spPr>
            <a:xfrm>
              <a:off x="8131343" y="1837975"/>
              <a:ext cx="162152" cy="13059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98" name="Rectangle 62"/>
            <p:cNvSpPr/>
            <p:nvPr/>
          </p:nvSpPr>
          <p:spPr>
            <a:xfrm>
              <a:off x="8318832" y="1837975"/>
              <a:ext cx="162152" cy="130592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99" name="Rectangle 63"/>
            <p:cNvSpPr/>
            <p:nvPr/>
          </p:nvSpPr>
          <p:spPr>
            <a:xfrm>
              <a:off x="8506320" y="1837975"/>
              <a:ext cx="162152" cy="130592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0" name="Rectangle 64"/>
            <p:cNvSpPr/>
            <p:nvPr/>
          </p:nvSpPr>
          <p:spPr>
            <a:xfrm>
              <a:off x="8901566" y="1837974"/>
              <a:ext cx="162152" cy="130592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1" name="Rectangle 65"/>
            <p:cNvSpPr/>
            <p:nvPr/>
          </p:nvSpPr>
          <p:spPr>
            <a:xfrm>
              <a:off x="9089054" y="1837974"/>
              <a:ext cx="162152" cy="130592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2" name="Rectangle 66"/>
            <p:cNvSpPr/>
            <p:nvPr/>
          </p:nvSpPr>
          <p:spPr>
            <a:xfrm>
              <a:off x="9276542" y="1837974"/>
              <a:ext cx="162152" cy="130592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8060037" y="1837975"/>
              <a:ext cx="270942" cy="294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73588">
                <a:spcAft>
                  <a:spcPts val="533"/>
                </a:spcAft>
                <a:buSzPct val="100000"/>
              </a:pPr>
              <a:r>
                <a:rPr lang="en-US" sz="1200" dirty="0">
                  <a:latin typeface="+mn-ea"/>
                </a:rPr>
                <a:t>A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8254252" y="1837975"/>
              <a:ext cx="270942" cy="294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73588">
                <a:spcAft>
                  <a:spcPts val="533"/>
                </a:spcAft>
                <a:buSzPct val="100000"/>
              </a:pPr>
              <a:r>
                <a:rPr lang="en-US" sz="1200" dirty="0">
                  <a:latin typeface="+mn-ea"/>
                </a:rPr>
                <a:t>B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8443446" y="1837975"/>
              <a:ext cx="278502" cy="294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73588">
                <a:spcAft>
                  <a:spcPts val="533"/>
                </a:spcAft>
                <a:buSzPct val="100000"/>
              </a:pPr>
              <a:r>
                <a:rPr lang="en-US" sz="1200" dirty="0">
                  <a:latin typeface="+mn-ea"/>
                </a:rPr>
                <a:t>D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8830260" y="1837975"/>
              <a:ext cx="278502" cy="294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73588">
                <a:spcAft>
                  <a:spcPts val="533"/>
                </a:spcAft>
                <a:buSzPct val="100000"/>
              </a:pPr>
              <a:r>
                <a:rPr lang="en-US" sz="1200" dirty="0">
                  <a:latin typeface="+mn-ea"/>
                </a:rPr>
                <a:t>C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9024472" y="1837975"/>
              <a:ext cx="270942" cy="294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73588">
                <a:spcAft>
                  <a:spcPts val="533"/>
                </a:spcAft>
                <a:buSzPct val="100000"/>
              </a:pPr>
              <a:r>
                <a:rPr lang="en-US" sz="1200" dirty="0">
                  <a:latin typeface="+mn-ea"/>
                </a:rPr>
                <a:t>E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9213667" y="1837977"/>
              <a:ext cx="270942" cy="294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73588">
                <a:spcAft>
                  <a:spcPts val="533"/>
                </a:spcAft>
                <a:buSzPct val="100000"/>
              </a:pPr>
              <a:r>
                <a:rPr lang="en-US" sz="1200" dirty="0">
                  <a:latin typeface="+mn-ea"/>
                </a:rPr>
                <a:t>A</a:t>
              </a:r>
            </a:p>
          </p:txBody>
        </p:sp>
        <p:cxnSp>
          <p:nvCxnSpPr>
            <p:cNvPr id="109" name="Straight Arrow Connector 73"/>
            <p:cNvCxnSpPr/>
            <p:nvPr/>
          </p:nvCxnSpPr>
          <p:spPr>
            <a:xfrm flipH="1">
              <a:off x="8203826" y="2288428"/>
              <a:ext cx="929" cy="699205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74"/>
            <p:cNvCxnSpPr/>
            <p:nvPr/>
          </p:nvCxnSpPr>
          <p:spPr>
            <a:xfrm>
              <a:off x="8972531" y="2300039"/>
              <a:ext cx="0" cy="622255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75"/>
            <p:cNvCxnSpPr/>
            <p:nvPr/>
          </p:nvCxnSpPr>
          <p:spPr>
            <a:xfrm flipV="1">
              <a:off x="8396835" y="2304642"/>
              <a:ext cx="0" cy="622255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" name="Freeform 166"/>
          <p:cNvSpPr>
            <a:spLocks noChangeAspect="1" noChangeArrowheads="1"/>
          </p:cNvSpPr>
          <p:nvPr/>
        </p:nvSpPr>
        <p:spPr bwMode="auto">
          <a:xfrm>
            <a:off x="4496632" y="4842339"/>
            <a:ext cx="818338" cy="1000048"/>
          </a:xfrm>
          <a:custGeom>
            <a:avLst/>
            <a:gdLst>
              <a:gd name="T0" fmla="*/ 26342358 w 394"/>
              <a:gd name="T1" fmla="*/ 0 h 511"/>
              <a:gd name="T2" fmla="*/ 0 w 394"/>
              <a:gd name="T3" fmla="*/ 27520686 h 511"/>
              <a:gd name="T4" fmla="*/ 82025463 w 394"/>
              <a:gd name="T5" fmla="*/ 109653647 h 511"/>
              <a:gd name="T6" fmla="*/ 82025463 w 394"/>
              <a:gd name="T7" fmla="*/ 0 h 511"/>
              <a:gd name="T8" fmla="*/ 47972830 w 394"/>
              <a:gd name="T9" fmla="*/ 4515033 h 511"/>
              <a:gd name="T10" fmla="*/ 54183679 w 394"/>
              <a:gd name="T11" fmla="*/ 21715578 h 511"/>
              <a:gd name="T12" fmla="*/ 25271538 w 394"/>
              <a:gd name="T13" fmla="*/ 6450378 h 511"/>
              <a:gd name="T14" fmla="*/ 7709812 w 394"/>
              <a:gd name="T15" fmla="*/ 25370561 h 511"/>
              <a:gd name="T16" fmla="*/ 47544687 w 394"/>
              <a:gd name="T17" fmla="*/ 33541039 h 511"/>
              <a:gd name="T18" fmla="*/ 49472256 w 394"/>
              <a:gd name="T19" fmla="*/ 36335971 h 511"/>
              <a:gd name="T20" fmla="*/ 47544687 w 394"/>
              <a:gd name="T21" fmla="*/ 40851467 h 511"/>
              <a:gd name="T22" fmla="*/ 49472256 w 394"/>
              <a:gd name="T23" fmla="*/ 43646400 h 511"/>
              <a:gd name="T24" fmla="*/ 47544687 w 394"/>
              <a:gd name="T25" fmla="*/ 47946652 h 511"/>
              <a:gd name="T26" fmla="*/ 49472256 w 394"/>
              <a:gd name="T27" fmla="*/ 50741584 h 511"/>
              <a:gd name="T28" fmla="*/ 47544687 w 394"/>
              <a:gd name="T29" fmla="*/ 55256617 h 511"/>
              <a:gd name="T30" fmla="*/ 49472256 w 394"/>
              <a:gd name="T31" fmla="*/ 58052012 h 511"/>
              <a:gd name="T32" fmla="*/ 47544687 w 394"/>
              <a:gd name="T33" fmla="*/ 62567045 h 511"/>
              <a:gd name="T34" fmla="*/ 49472256 w 394"/>
              <a:gd name="T35" fmla="*/ 65361978 h 511"/>
              <a:gd name="T36" fmla="*/ 47544687 w 394"/>
              <a:gd name="T37" fmla="*/ 69662230 h 511"/>
              <a:gd name="T38" fmla="*/ 49472256 w 394"/>
              <a:gd name="T39" fmla="*/ 72457162 h 511"/>
              <a:gd name="T40" fmla="*/ 47544687 w 394"/>
              <a:gd name="T41" fmla="*/ 76972195 h 511"/>
              <a:gd name="T42" fmla="*/ 49472256 w 394"/>
              <a:gd name="T43" fmla="*/ 79767590 h 511"/>
              <a:gd name="T44" fmla="*/ 47544687 w 394"/>
              <a:gd name="T45" fmla="*/ 84282623 h 511"/>
              <a:gd name="T46" fmla="*/ 49472256 w 394"/>
              <a:gd name="T47" fmla="*/ 87077555 h 511"/>
              <a:gd name="T48" fmla="*/ 47544687 w 394"/>
              <a:gd name="T49" fmla="*/ 91593051 h 511"/>
              <a:gd name="T50" fmla="*/ 49472256 w 394"/>
              <a:gd name="T51" fmla="*/ 94387984 h 511"/>
              <a:gd name="T52" fmla="*/ 47544687 w 394"/>
              <a:gd name="T53" fmla="*/ 98688236 h 511"/>
              <a:gd name="T54" fmla="*/ 49472256 w 394"/>
              <a:gd name="T55" fmla="*/ 101483168 h 511"/>
              <a:gd name="T56" fmla="*/ 45831190 w 394"/>
              <a:gd name="T57" fmla="*/ 105138151 h 511"/>
              <a:gd name="T58" fmla="*/ 27841321 w 394"/>
              <a:gd name="T59" fmla="*/ 29886056 h 511"/>
              <a:gd name="T60" fmla="*/ 43689550 w 394"/>
              <a:gd name="T61" fmla="*/ 4515033 h 511"/>
              <a:gd name="T62" fmla="*/ 49472256 w 394"/>
              <a:gd name="T63" fmla="*/ 26230611 h 511"/>
              <a:gd name="T64" fmla="*/ 47544687 w 394"/>
              <a:gd name="T65" fmla="*/ 29026006 h 511"/>
              <a:gd name="T66" fmla="*/ 58895565 w 394"/>
              <a:gd name="T67" fmla="*/ 24080948 h 511"/>
              <a:gd name="T68" fmla="*/ 79455217 w 394"/>
              <a:gd name="T69" fmla="*/ 4515033 h 511"/>
              <a:gd name="T70" fmla="*/ 53327394 w 394"/>
              <a:gd name="T71" fmla="*/ 103848075 h 511"/>
              <a:gd name="T72" fmla="*/ 56967996 w 394"/>
              <a:gd name="T73" fmla="*/ 100193092 h 511"/>
              <a:gd name="T74" fmla="*/ 53327394 w 394"/>
              <a:gd name="T75" fmla="*/ 96538110 h 511"/>
              <a:gd name="T76" fmla="*/ 56967996 w 394"/>
              <a:gd name="T77" fmla="*/ 92883127 h 511"/>
              <a:gd name="T78" fmla="*/ 53327394 w 394"/>
              <a:gd name="T79" fmla="*/ 89227681 h 511"/>
              <a:gd name="T80" fmla="*/ 56967996 w 394"/>
              <a:gd name="T81" fmla="*/ 85572699 h 511"/>
              <a:gd name="T82" fmla="*/ 53327394 w 394"/>
              <a:gd name="T83" fmla="*/ 82132497 h 511"/>
              <a:gd name="T84" fmla="*/ 56967996 w 394"/>
              <a:gd name="T85" fmla="*/ 78477514 h 511"/>
              <a:gd name="T86" fmla="*/ 53327394 w 394"/>
              <a:gd name="T87" fmla="*/ 74822532 h 511"/>
              <a:gd name="T88" fmla="*/ 56967996 w 394"/>
              <a:gd name="T89" fmla="*/ 71167086 h 511"/>
              <a:gd name="T90" fmla="*/ 53327394 w 394"/>
              <a:gd name="T91" fmla="*/ 67512104 h 511"/>
              <a:gd name="T92" fmla="*/ 56967996 w 394"/>
              <a:gd name="T93" fmla="*/ 63857121 h 511"/>
              <a:gd name="T94" fmla="*/ 53327394 w 394"/>
              <a:gd name="T95" fmla="*/ 60201675 h 511"/>
              <a:gd name="T96" fmla="*/ 56967996 w 394"/>
              <a:gd name="T97" fmla="*/ 56761937 h 511"/>
              <a:gd name="T98" fmla="*/ 53327394 w 394"/>
              <a:gd name="T99" fmla="*/ 53106491 h 511"/>
              <a:gd name="T100" fmla="*/ 56967996 w 394"/>
              <a:gd name="T101" fmla="*/ 49451508 h 511"/>
              <a:gd name="T102" fmla="*/ 53327394 w 394"/>
              <a:gd name="T103" fmla="*/ 45796526 h 511"/>
              <a:gd name="T104" fmla="*/ 56967996 w 394"/>
              <a:gd name="T105" fmla="*/ 42141543 h 511"/>
              <a:gd name="T106" fmla="*/ 53327394 w 394"/>
              <a:gd name="T107" fmla="*/ 38486097 h 511"/>
              <a:gd name="T108" fmla="*/ 56967996 w 394"/>
              <a:gd name="T109" fmla="*/ 34831115 h 511"/>
              <a:gd name="T110" fmla="*/ 53327394 w 394"/>
              <a:gd name="T111" fmla="*/ 31390913 h 511"/>
              <a:gd name="T112" fmla="*/ 56967996 w 394"/>
              <a:gd name="T113" fmla="*/ 27735931 h 511"/>
              <a:gd name="T114" fmla="*/ 58895565 w 394"/>
              <a:gd name="T115" fmla="*/ 24080948 h 511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394" h="511">
                <a:moveTo>
                  <a:pt x="214" y="0"/>
                </a:moveTo>
                <a:lnTo>
                  <a:pt x="214" y="0"/>
                </a:lnTo>
                <a:cubicBezTo>
                  <a:pt x="123" y="0"/>
                  <a:pt x="123" y="0"/>
                  <a:pt x="123" y="0"/>
                </a:cubicBezTo>
                <a:cubicBezTo>
                  <a:pt x="120" y="0"/>
                  <a:pt x="117" y="1"/>
                  <a:pt x="116" y="4"/>
                </a:cubicBezTo>
                <a:cubicBezTo>
                  <a:pt x="3" y="121"/>
                  <a:pt x="3" y="121"/>
                  <a:pt x="3" y="121"/>
                </a:cubicBezTo>
                <a:cubicBezTo>
                  <a:pt x="2" y="124"/>
                  <a:pt x="0" y="126"/>
                  <a:pt x="0" y="128"/>
                </a:cubicBezTo>
                <a:cubicBezTo>
                  <a:pt x="0" y="499"/>
                  <a:pt x="0" y="499"/>
                  <a:pt x="0" y="499"/>
                </a:cubicBezTo>
                <a:cubicBezTo>
                  <a:pt x="0" y="506"/>
                  <a:pt x="6" y="510"/>
                  <a:pt x="12" y="510"/>
                </a:cubicBezTo>
                <a:cubicBezTo>
                  <a:pt x="383" y="510"/>
                  <a:pt x="383" y="510"/>
                  <a:pt x="383" y="510"/>
                </a:cubicBezTo>
                <a:cubicBezTo>
                  <a:pt x="388" y="510"/>
                  <a:pt x="393" y="506"/>
                  <a:pt x="393" y="499"/>
                </a:cubicBezTo>
                <a:cubicBezTo>
                  <a:pt x="393" y="11"/>
                  <a:pt x="393" y="11"/>
                  <a:pt x="393" y="11"/>
                </a:cubicBezTo>
                <a:cubicBezTo>
                  <a:pt x="393" y="6"/>
                  <a:pt x="388" y="0"/>
                  <a:pt x="383" y="0"/>
                </a:cubicBezTo>
                <a:cubicBezTo>
                  <a:pt x="265" y="0"/>
                  <a:pt x="265" y="0"/>
                  <a:pt x="265" y="0"/>
                </a:cubicBezTo>
                <a:lnTo>
                  <a:pt x="214" y="0"/>
                </a:lnTo>
                <a:close/>
                <a:moveTo>
                  <a:pt x="224" y="21"/>
                </a:moveTo>
                <a:lnTo>
                  <a:pt x="224" y="21"/>
                </a:lnTo>
                <a:cubicBezTo>
                  <a:pt x="253" y="21"/>
                  <a:pt x="253" y="21"/>
                  <a:pt x="253" y="21"/>
                </a:cubicBezTo>
                <a:cubicBezTo>
                  <a:pt x="253" y="101"/>
                  <a:pt x="253" y="101"/>
                  <a:pt x="253" y="101"/>
                </a:cubicBezTo>
                <a:cubicBezTo>
                  <a:pt x="224" y="101"/>
                  <a:pt x="224" y="101"/>
                  <a:pt x="224" y="101"/>
                </a:cubicBezTo>
                <a:lnTo>
                  <a:pt x="224" y="21"/>
                </a:lnTo>
                <a:close/>
                <a:moveTo>
                  <a:pt x="118" y="30"/>
                </a:moveTo>
                <a:lnTo>
                  <a:pt x="118" y="30"/>
                </a:lnTo>
                <a:cubicBezTo>
                  <a:pt x="118" y="118"/>
                  <a:pt x="118" y="118"/>
                  <a:pt x="118" y="118"/>
                </a:cubicBezTo>
                <a:cubicBezTo>
                  <a:pt x="36" y="118"/>
                  <a:pt x="36" y="118"/>
                  <a:pt x="36" y="118"/>
                </a:cubicBezTo>
                <a:lnTo>
                  <a:pt x="118" y="30"/>
                </a:lnTo>
                <a:close/>
                <a:moveTo>
                  <a:pt x="222" y="156"/>
                </a:moveTo>
                <a:lnTo>
                  <a:pt x="222" y="156"/>
                </a:lnTo>
                <a:cubicBezTo>
                  <a:pt x="231" y="156"/>
                  <a:pt x="231" y="156"/>
                  <a:pt x="231" y="156"/>
                </a:cubicBezTo>
                <a:cubicBezTo>
                  <a:pt x="229" y="158"/>
                  <a:pt x="228" y="160"/>
                  <a:pt x="228" y="162"/>
                </a:cubicBezTo>
                <a:cubicBezTo>
                  <a:pt x="228" y="165"/>
                  <a:pt x="229" y="168"/>
                  <a:pt x="231" y="169"/>
                </a:cubicBezTo>
                <a:cubicBezTo>
                  <a:pt x="222" y="169"/>
                  <a:pt x="222" y="169"/>
                  <a:pt x="222" y="169"/>
                </a:cubicBezTo>
                <a:cubicBezTo>
                  <a:pt x="216" y="169"/>
                  <a:pt x="211" y="173"/>
                  <a:pt x="211" y="179"/>
                </a:cubicBezTo>
                <a:cubicBezTo>
                  <a:pt x="211" y="185"/>
                  <a:pt x="216" y="190"/>
                  <a:pt x="222" y="190"/>
                </a:cubicBezTo>
                <a:cubicBezTo>
                  <a:pt x="231" y="190"/>
                  <a:pt x="231" y="190"/>
                  <a:pt x="231" y="190"/>
                </a:cubicBezTo>
                <a:cubicBezTo>
                  <a:pt x="229" y="192"/>
                  <a:pt x="228" y="193"/>
                  <a:pt x="228" y="196"/>
                </a:cubicBezTo>
                <a:cubicBezTo>
                  <a:pt x="228" y="199"/>
                  <a:pt x="229" y="200"/>
                  <a:pt x="231" y="203"/>
                </a:cubicBezTo>
                <a:cubicBezTo>
                  <a:pt x="222" y="203"/>
                  <a:pt x="222" y="203"/>
                  <a:pt x="222" y="203"/>
                </a:cubicBezTo>
                <a:cubicBezTo>
                  <a:pt x="216" y="203"/>
                  <a:pt x="211" y="207"/>
                  <a:pt x="211" y="213"/>
                </a:cubicBezTo>
                <a:cubicBezTo>
                  <a:pt x="211" y="219"/>
                  <a:pt x="216" y="223"/>
                  <a:pt x="222" y="223"/>
                </a:cubicBezTo>
                <a:cubicBezTo>
                  <a:pt x="231" y="223"/>
                  <a:pt x="231" y="223"/>
                  <a:pt x="231" y="223"/>
                </a:cubicBezTo>
                <a:cubicBezTo>
                  <a:pt x="229" y="226"/>
                  <a:pt x="228" y="227"/>
                  <a:pt x="228" y="230"/>
                </a:cubicBezTo>
                <a:cubicBezTo>
                  <a:pt x="228" y="233"/>
                  <a:pt x="229" y="234"/>
                  <a:pt x="231" y="236"/>
                </a:cubicBezTo>
                <a:cubicBezTo>
                  <a:pt x="222" y="236"/>
                  <a:pt x="222" y="236"/>
                  <a:pt x="222" y="236"/>
                </a:cubicBezTo>
                <a:cubicBezTo>
                  <a:pt x="216" y="236"/>
                  <a:pt x="211" y="241"/>
                  <a:pt x="211" y="247"/>
                </a:cubicBezTo>
                <a:cubicBezTo>
                  <a:pt x="211" y="253"/>
                  <a:pt x="216" y="257"/>
                  <a:pt x="222" y="257"/>
                </a:cubicBezTo>
                <a:cubicBezTo>
                  <a:pt x="231" y="257"/>
                  <a:pt x="231" y="257"/>
                  <a:pt x="231" y="257"/>
                </a:cubicBezTo>
                <a:cubicBezTo>
                  <a:pt x="229" y="259"/>
                  <a:pt x="228" y="261"/>
                  <a:pt x="228" y="264"/>
                </a:cubicBezTo>
                <a:cubicBezTo>
                  <a:pt x="228" y="266"/>
                  <a:pt x="229" y="268"/>
                  <a:pt x="231" y="270"/>
                </a:cubicBezTo>
                <a:cubicBezTo>
                  <a:pt x="222" y="270"/>
                  <a:pt x="222" y="270"/>
                  <a:pt x="222" y="270"/>
                </a:cubicBezTo>
                <a:cubicBezTo>
                  <a:pt x="216" y="270"/>
                  <a:pt x="211" y="274"/>
                  <a:pt x="211" y="280"/>
                </a:cubicBezTo>
                <a:cubicBezTo>
                  <a:pt x="211" y="285"/>
                  <a:pt x="216" y="291"/>
                  <a:pt x="222" y="291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29" y="293"/>
                  <a:pt x="228" y="294"/>
                  <a:pt x="228" y="297"/>
                </a:cubicBezTo>
                <a:cubicBezTo>
                  <a:pt x="228" y="300"/>
                  <a:pt x="229" y="301"/>
                  <a:pt x="231" y="304"/>
                </a:cubicBezTo>
                <a:cubicBezTo>
                  <a:pt x="222" y="304"/>
                  <a:pt x="222" y="304"/>
                  <a:pt x="222" y="304"/>
                </a:cubicBezTo>
                <a:cubicBezTo>
                  <a:pt x="216" y="304"/>
                  <a:pt x="211" y="308"/>
                  <a:pt x="211" y="314"/>
                </a:cubicBezTo>
                <a:cubicBezTo>
                  <a:pt x="211" y="320"/>
                  <a:pt x="216" y="324"/>
                  <a:pt x="222" y="324"/>
                </a:cubicBezTo>
                <a:cubicBezTo>
                  <a:pt x="231" y="324"/>
                  <a:pt x="231" y="324"/>
                  <a:pt x="231" y="324"/>
                </a:cubicBezTo>
                <a:cubicBezTo>
                  <a:pt x="229" y="327"/>
                  <a:pt x="228" y="328"/>
                  <a:pt x="228" y="331"/>
                </a:cubicBezTo>
                <a:cubicBezTo>
                  <a:pt x="228" y="334"/>
                  <a:pt x="229" y="335"/>
                  <a:pt x="231" y="337"/>
                </a:cubicBezTo>
                <a:cubicBezTo>
                  <a:pt x="222" y="337"/>
                  <a:pt x="222" y="337"/>
                  <a:pt x="222" y="337"/>
                </a:cubicBezTo>
                <a:cubicBezTo>
                  <a:pt x="216" y="337"/>
                  <a:pt x="211" y="342"/>
                  <a:pt x="211" y="348"/>
                </a:cubicBezTo>
                <a:cubicBezTo>
                  <a:pt x="211" y="354"/>
                  <a:pt x="216" y="358"/>
                  <a:pt x="222" y="358"/>
                </a:cubicBezTo>
                <a:cubicBezTo>
                  <a:pt x="231" y="358"/>
                  <a:pt x="231" y="358"/>
                  <a:pt x="231" y="358"/>
                </a:cubicBezTo>
                <a:cubicBezTo>
                  <a:pt x="229" y="359"/>
                  <a:pt x="228" y="362"/>
                  <a:pt x="228" y="365"/>
                </a:cubicBezTo>
                <a:cubicBezTo>
                  <a:pt x="228" y="367"/>
                  <a:pt x="229" y="369"/>
                  <a:pt x="231" y="371"/>
                </a:cubicBezTo>
                <a:cubicBezTo>
                  <a:pt x="222" y="371"/>
                  <a:pt x="222" y="371"/>
                  <a:pt x="222" y="371"/>
                </a:cubicBezTo>
                <a:cubicBezTo>
                  <a:pt x="216" y="371"/>
                  <a:pt x="211" y="375"/>
                  <a:pt x="211" y="382"/>
                </a:cubicBezTo>
                <a:cubicBezTo>
                  <a:pt x="211" y="388"/>
                  <a:pt x="216" y="392"/>
                  <a:pt x="222" y="392"/>
                </a:cubicBezTo>
                <a:cubicBezTo>
                  <a:pt x="231" y="392"/>
                  <a:pt x="231" y="392"/>
                  <a:pt x="231" y="392"/>
                </a:cubicBezTo>
                <a:cubicBezTo>
                  <a:pt x="229" y="393"/>
                  <a:pt x="228" y="396"/>
                  <a:pt x="228" y="398"/>
                </a:cubicBezTo>
                <a:cubicBezTo>
                  <a:pt x="228" y="401"/>
                  <a:pt x="229" y="403"/>
                  <a:pt x="231" y="405"/>
                </a:cubicBezTo>
                <a:cubicBezTo>
                  <a:pt x="222" y="405"/>
                  <a:pt x="222" y="405"/>
                  <a:pt x="222" y="405"/>
                </a:cubicBezTo>
                <a:cubicBezTo>
                  <a:pt x="216" y="405"/>
                  <a:pt x="211" y="409"/>
                  <a:pt x="211" y="415"/>
                </a:cubicBezTo>
                <a:cubicBezTo>
                  <a:pt x="211" y="420"/>
                  <a:pt x="216" y="426"/>
                  <a:pt x="222" y="426"/>
                </a:cubicBezTo>
                <a:cubicBezTo>
                  <a:pt x="231" y="426"/>
                  <a:pt x="231" y="426"/>
                  <a:pt x="231" y="426"/>
                </a:cubicBezTo>
                <a:cubicBezTo>
                  <a:pt x="229" y="428"/>
                  <a:pt x="228" y="429"/>
                  <a:pt x="228" y="432"/>
                </a:cubicBezTo>
                <a:cubicBezTo>
                  <a:pt x="228" y="435"/>
                  <a:pt x="229" y="436"/>
                  <a:pt x="231" y="439"/>
                </a:cubicBezTo>
                <a:cubicBezTo>
                  <a:pt x="222" y="439"/>
                  <a:pt x="222" y="439"/>
                  <a:pt x="222" y="439"/>
                </a:cubicBezTo>
                <a:cubicBezTo>
                  <a:pt x="216" y="439"/>
                  <a:pt x="211" y="443"/>
                  <a:pt x="211" y="449"/>
                </a:cubicBezTo>
                <a:cubicBezTo>
                  <a:pt x="211" y="455"/>
                  <a:pt x="216" y="459"/>
                  <a:pt x="222" y="459"/>
                </a:cubicBezTo>
                <a:cubicBezTo>
                  <a:pt x="231" y="459"/>
                  <a:pt x="231" y="459"/>
                  <a:pt x="231" y="459"/>
                </a:cubicBezTo>
                <a:cubicBezTo>
                  <a:pt x="229" y="462"/>
                  <a:pt x="228" y="463"/>
                  <a:pt x="228" y="466"/>
                </a:cubicBezTo>
                <a:cubicBezTo>
                  <a:pt x="228" y="469"/>
                  <a:pt x="229" y="470"/>
                  <a:pt x="231" y="472"/>
                </a:cubicBezTo>
                <a:cubicBezTo>
                  <a:pt x="222" y="472"/>
                  <a:pt x="222" y="472"/>
                  <a:pt x="222" y="472"/>
                </a:cubicBezTo>
                <a:cubicBezTo>
                  <a:pt x="216" y="472"/>
                  <a:pt x="211" y="477"/>
                  <a:pt x="211" y="483"/>
                </a:cubicBezTo>
                <a:cubicBezTo>
                  <a:pt x="211" y="484"/>
                  <a:pt x="212" y="487"/>
                  <a:pt x="214" y="489"/>
                </a:cubicBezTo>
                <a:cubicBezTo>
                  <a:pt x="22" y="489"/>
                  <a:pt x="22" y="489"/>
                  <a:pt x="22" y="489"/>
                </a:cubicBezTo>
                <a:cubicBezTo>
                  <a:pt x="22" y="139"/>
                  <a:pt x="22" y="139"/>
                  <a:pt x="22" y="139"/>
                </a:cubicBezTo>
                <a:cubicBezTo>
                  <a:pt x="130" y="139"/>
                  <a:pt x="130" y="139"/>
                  <a:pt x="130" y="139"/>
                </a:cubicBezTo>
                <a:cubicBezTo>
                  <a:pt x="135" y="139"/>
                  <a:pt x="140" y="135"/>
                  <a:pt x="140" y="129"/>
                </a:cubicBezTo>
                <a:cubicBezTo>
                  <a:pt x="140" y="21"/>
                  <a:pt x="140" y="21"/>
                  <a:pt x="140" y="21"/>
                </a:cubicBezTo>
                <a:cubicBezTo>
                  <a:pt x="204" y="21"/>
                  <a:pt x="204" y="21"/>
                  <a:pt x="204" y="21"/>
                </a:cubicBezTo>
                <a:cubicBezTo>
                  <a:pt x="204" y="112"/>
                  <a:pt x="204" y="112"/>
                  <a:pt x="204" y="112"/>
                </a:cubicBezTo>
                <a:cubicBezTo>
                  <a:pt x="204" y="118"/>
                  <a:pt x="208" y="122"/>
                  <a:pt x="214" y="122"/>
                </a:cubicBezTo>
                <a:cubicBezTo>
                  <a:pt x="231" y="122"/>
                  <a:pt x="231" y="122"/>
                  <a:pt x="231" y="122"/>
                </a:cubicBezTo>
                <a:cubicBezTo>
                  <a:pt x="229" y="125"/>
                  <a:pt x="228" y="126"/>
                  <a:pt x="228" y="129"/>
                </a:cubicBezTo>
                <a:cubicBezTo>
                  <a:pt x="228" y="131"/>
                  <a:pt x="229" y="133"/>
                  <a:pt x="231" y="135"/>
                </a:cubicBezTo>
                <a:cubicBezTo>
                  <a:pt x="222" y="135"/>
                  <a:pt x="222" y="135"/>
                  <a:pt x="222" y="135"/>
                </a:cubicBezTo>
                <a:cubicBezTo>
                  <a:pt x="216" y="135"/>
                  <a:pt x="211" y="139"/>
                  <a:pt x="211" y="146"/>
                </a:cubicBezTo>
                <a:cubicBezTo>
                  <a:pt x="211" y="152"/>
                  <a:pt x="216" y="156"/>
                  <a:pt x="222" y="156"/>
                </a:cubicBezTo>
                <a:close/>
                <a:moveTo>
                  <a:pt x="275" y="112"/>
                </a:moveTo>
                <a:lnTo>
                  <a:pt x="275" y="112"/>
                </a:lnTo>
                <a:cubicBezTo>
                  <a:pt x="275" y="21"/>
                  <a:pt x="275" y="21"/>
                  <a:pt x="275" y="21"/>
                </a:cubicBezTo>
                <a:cubicBezTo>
                  <a:pt x="371" y="21"/>
                  <a:pt x="371" y="21"/>
                  <a:pt x="371" y="21"/>
                </a:cubicBezTo>
                <a:cubicBezTo>
                  <a:pt x="371" y="489"/>
                  <a:pt x="371" y="489"/>
                  <a:pt x="371" y="489"/>
                </a:cubicBezTo>
                <a:cubicBezTo>
                  <a:pt x="246" y="489"/>
                  <a:pt x="246" y="489"/>
                  <a:pt x="246" y="489"/>
                </a:cubicBezTo>
                <a:cubicBezTo>
                  <a:pt x="248" y="487"/>
                  <a:pt x="249" y="484"/>
                  <a:pt x="249" y="483"/>
                </a:cubicBezTo>
                <a:cubicBezTo>
                  <a:pt x="249" y="480"/>
                  <a:pt x="248" y="477"/>
                  <a:pt x="246" y="476"/>
                </a:cubicBezTo>
                <a:cubicBezTo>
                  <a:pt x="256" y="476"/>
                  <a:pt x="256" y="476"/>
                  <a:pt x="256" y="476"/>
                </a:cubicBezTo>
                <a:cubicBezTo>
                  <a:pt x="262" y="476"/>
                  <a:pt x="266" y="472"/>
                  <a:pt x="266" y="466"/>
                </a:cubicBezTo>
                <a:cubicBezTo>
                  <a:pt x="266" y="460"/>
                  <a:pt x="262" y="455"/>
                  <a:pt x="256" y="455"/>
                </a:cubicBezTo>
                <a:cubicBezTo>
                  <a:pt x="246" y="455"/>
                  <a:pt x="246" y="455"/>
                  <a:pt x="246" y="455"/>
                </a:cubicBezTo>
                <a:cubicBezTo>
                  <a:pt x="248" y="453"/>
                  <a:pt x="249" y="452"/>
                  <a:pt x="249" y="449"/>
                </a:cubicBezTo>
                <a:cubicBezTo>
                  <a:pt x="249" y="446"/>
                  <a:pt x="248" y="445"/>
                  <a:pt x="246" y="442"/>
                </a:cubicBezTo>
                <a:cubicBezTo>
                  <a:pt x="256" y="442"/>
                  <a:pt x="256" y="442"/>
                  <a:pt x="256" y="442"/>
                </a:cubicBezTo>
                <a:cubicBezTo>
                  <a:pt x="262" y="442"/>
                  <a:pt x="266" y="438"/>
                  <a:pt x="266" y="432"/>
                </a:cubicBezTo>
                <a:cubicBezTo>
                  <a:pt x="266" y="426"/>
                  <a:pt x="262" y="422"/>
                  <a:pt x="256" y="422"/>
                </a:cubicBezTo>
                <a:cubicBezTo>
                  <a:pt x="246" y="422"/>
                  <a:pt x="246" y="422"/>
                  <a:pt x="246" y="422"/>
                </a:cubicBezTo>
                <a:cubicBezTo>
                  <a:pt x="248" y="419"/>
                  <a:pt x="249" y="418"/>
                  <a:pt x="249" y="415"/>
                </a:cubicBezTo>
                <a:cubicBezTo>
                  <a:pt x="249" y="412"/>
                  <a:pt x="248" y="411"/>
                  <a:pt x="246" y="409"/>
                </a:cubicBezTo>
                <a:cubicBezTo>
                  <a:pt x="256" y="409"/>
                  <a:pt x="256" y="409"/>
                  <a:pt x="256" y="409"/>
                </a:cubicBezTo>
                <a:cubicBezTo>
                  <a:pt x="262" y="409"/>
                  <a:pt x="266" y="403"/>
                  <a:pt x="266" y="398"/>
                </a:cubicBezTo>
                <a:cubicBezTo>
                  <a:pt x="266" y="392"/>
                  <a:pt x="262" y="388"/>
                  <a:pt x="256" y="388"/>
                </a:cubicBezTo>
                <a:cubicBezTo>
                  <a:pt x="246" y="388"/>
                  <a:pt x="246" y="388"/>
                  <a:pt x="246" y="388"/>
                </a:cubicBezTo>
                <a:cubicBezTo>
                  <a:pt x="248" y="386"/>
                  <a:pt x="249" y="384"/>
                  <a:pt x="249" y="382"/>
                </a:cubicBezTo>
                <a:cubicBezTo>
                  <a:pt x="249" y="379"/>
                  <a:pt x="248" y="376"/>
                  <a:pt x="246" y="375"/>
                </a:cubicBezTo>
                <a:cubicBezTo>
                  <a:pt x="256" y="375"/>
                  <a:pt x="256" y="375"/>
                  <a:pt x="256" y="375"/>
                </a:cubicBezTo>
                <a:cubicBezTo>
                  <a:pt x="262" y="375"/>
                  <a:pt x="266" y="371"/>
                  <a:pt x="266" y="365"/>
                </a:cubicBezTo>
                <a:cubicBezTo>
                  <a:pt x="266" y="359"/>
                  <a:pt x="262" y="354"/>
                  <a:pt x="256" y="354"/>
                </a:cubicBezTo>
                <a:cubicBezTo>
                  <a:pt x="246" y="354"/>
                  <a:pt x="246" y="354"/>
                  <a:pt x="246" y="354"/>
                </a:cubicBezTo>
                <a:cubicBezTo>
                  <a:pt x="248" y="352"/>
                  <a:pt x="249" y="351"/>
                  <a:pt x="249" y="348"/>
                </a:cubicBezTo>
                <a:cubicBezTo>
                  <a:pt x="249" y="345"/>
                  <a:pt x="248" y="344"/>
                  <a:pt x="246" y="341"/>
                </a:cubicBezTo>
                <a:cubicBezTo>
                  <a:pt x="256" y="341"/>
                  <a:pt x="256" y="341"/>
                  <a:pt x="256" y="341"/>
                </a:cubicBezTo>
                <a:cubicBezTo>
                  <a:pt x="262" y="341"/>
                  <a:pt x="266" y="337"/>
                  <a:pt x="266" y="331"/>
                </a:cubicBezTo>
                <a:cubicBezTo>
                  <a:pt x="266" y="325"/>
                  <a:pt x="262" y="321"/>
                  <a:pt x="256" y="321"/>
                </a:cubicBezTo>
                <a:cubicBezTo>
                  <a:pt x="246" y="321"/>
                  <a:pt x="246" y="321"/>
                  <a:pt x="246" y="321"/>
                </a:cubicBezTo>
                <a:cubicBezTo>
                  <a:pt x="248" y="318"/>
                  <a:pt x="249" y="317"/>
                  <a:pt x="249" y="314"/>
                </a:cubicBezTo>
                <a:cubicBezTo>
                  <a:pt x="249" y="311"/>
                  <a:pt x="248" y="310"/>
                  <a:pt x="246" y="308"/>
                </a:cubicBezTo>
                <a:cubicBezTo>
                  <a:pt x="256" y="308"/>
                  <a:pt x="256" y="308"/>
                  <a:pt x="256" y="308"/>
                </a:cubicBezTo>
                <a:cubicBezTo>
                  <a:pt x="262" y="308"/>
                  <a:pt x="266" y="303"/>
                  <a:pt x="266" y="297"/>
                </a:cubicBezTo>
                <a:cubicBezTo>
                  <a:pt x="266" y="291"/>
                  <a:pt x="262" y="287"/>
                  <a:pt x="256" y="287"/>
                </a:cubicBezTo>
                <a:cubicBezTo>
                  <a:pt x="246" y="287"/>
                  <a:pt x="246" y="287"/>
                  <a:pt x="246" y="287"/>
                </a:cubicBezTo>
                <a:cubicBezTo>
                  <a:pt x="248" y="285"/>
                  <a:pt x="249" y="283"/>
                  <a:pt x="249" y="280"/>
                </a:cubicBezTo>
                <a:cubicBezTo>
                  <a:pt x="249" y="278"/>
                  <a:pt x="248" y="276"/>
                  <a:pt x="246" y="274"/>
                </a:cubicBezTo>
                <a:cubicBezTo>
                  <a:pt x="256" y="274"/>
                  <a:pt x="256" y="274"/>
                  <a:pt x="256" y="274"/>
                </a:cubicBezTo>
                <a:cubicBezTo>
                  <a:pt x="262" y="274"/>
                  <a:pt x="266" y="270"/>
                  <a:pt x="266" y="264"/>
                </a:cubicBezTo>
                <a:cubicBezTo>
                  <a:pt x="266" y="257"/>
                  <a:pt x="262" y="253"/>
                  <a:pt x="256" y="253"/>
                </a:cubicBezTo>
                <a:cubicBezTo>
                  <a:pt x="246" y="253"/>
                  <a:pt x="246" y="253"/>
                  <a:pt x="246" y="253"/>
                </a:cubicBezTo>
                <a:cubicBezTo>
                  <a:pt x="248" y="251"/>
                  <a:pt x="249" y="249"/>
                  <a:pt x="249" y="247"/>
                </a:cubicBezTo>
                <a:cubicBezTo>
                  <a:pt x="249" y="244"/>
                  <a:pt x="248" y="241"/>
                  <a:pt x="246" y="240"/>
                </a:cubicBezTo>
                <a:cubicBezTo>
                  <a:pt x="256" y="240"/>
                  <a:pt x="256" y="240"/>
                  <a:pt x="256" y="240"/>
                </a:cubicBezTo>
                <a:cubicBezTo>
                  <a:pt x="262" y="240"/>
                  <a:pt x="266" y="236"/>
                  <a:pt x="266" y="230"/>
                </a:cubicBezTo>
                <a:cubicBezTo>
                  <a:pt x="266" y="224"/>
                  <a:pt x="262" y="219"/>
                  <a:pt x="256" y="219"/>
                </a:cubicBezTo>
                <a:cubicBezTo>
                  <a:pt x="246" y="219"/>
                  <a:pt x="246" y="219"/>
                  <a:pt x="246" y="219"/>
                </a:cubicBezTo>
                <a:cubicBezTo>
                  <a:pt x="248" y="217"/>
                  <a:pt x="249" y="216"/>
                  <a:pt x="249" y="213"/>
                </a:cubicBezTo>
                <a:cubicBezTo>
                  <a:pt x="249" y="210"/>
                  <a:pt x="248" y="209"/>
                  <a:pt x="246" y="207"/>
                </a:cubicBezTo>
                <a:cubicBezTo>
                  <a:pt x="256" y="207"/>
                  <a:pt x="256" y="207"/>
                  <a:pt x="256" y="207"/>
                </a:cubicBezTo>
                <a:cubicBezTo>
                  <a:pt x="262" y="207"/>
                  <a:pt x="266" y="202"/>
                  <a:pt x="266" y="196"/>
                </a:cubicBezTo>
                <a:cubicBezTo>
                  <a:pt x="266" y="190"/>
                  <a:pt x="262" y="186"/>
                  <a:pt x="256" y="186"/>
                </a:cubicBezTo>
                <a:cubicBezTo>
                  <a:pt x="246" y="186"/>
                  <a:pt x="246" y="186"/>
                  <a:pt x="246" y="186"/>
                </a:cubicBezTo>
                <a:cubicBezTo>
                  <a:pt x="248" y="183"/>
                  <a:pt x="249" y="182"/>
                  <a:pt x="249" y="179"/>
                </a:cubicBezTo>
                <a:cubicBezTo>
                  <a:pt x="249" y="177"/>
                  <a:pt x="248" y="175"/>
                  <a:pt x="246" y="173"/>
                </a:cubicBezTo>
                <a:cubicBezTo>
                  <a:pt x="256" y="173"/>
                  <a:pt x="256" y="173"/>
                  <a:pt x="256" y="173"/>
                </a:cubicBezTo>
                <a:cubicBezTo>
                  <a:pt x="262" y="173"/>
                  <a:pt x="266" y="168"/>
                  <a:pt x="266" y="162"/>
                </a:cubicBezTo>
                <a:cubicBezTo>
                  <a:pt x="266" y="156"/>
                  <a:pt x="262" y="152"/>
                  <a:pt x="256" y="152"/>
                </a:cubicBezTo>
                <a:cubicBezTo>
                  <a:pt x="246" y="152"/>
                  <a:pt x="246" y="152"/>
                  <a:pt x="246" y="152"/>
                </a:cubicBezTo>
                <a:cubicBezTo>
                  <a:pt x="248" y="151"/>
                  <a:pt x="249" y="148"/>
                  <a:pt x="249" y="146"/>
                </a:cubicBezTo>
                <a:cubicBezTo>
                  <a:pt x="249" y="143"/>
                  <a:pt x="248" y="141"/>
                  <a:pt x="246" y="139"/>
                </a:cubicBezTo>
                <a:cubicBezTo>
                  <a:pt x="256" y="139"/>
                  <a:pt x="256" y="139"/>
                  <a:pt x="256" y="139"/>
                </a:cubicBezTo>
                <a:cubicBezTo>
                  <a:pt x="262" y="139"/>
                  <a:pt x="266" y="135"/>
                  <a:pt x="266" y="129"/>
                </a:cubicBezTo>
                <a:cubicBezTo>
                  <a:pt x="266" y="126"/>
                  <a:pt x="265" y="125"/>
                  <a:pt x="263" y="122"/>
                </a:cubicBezTo>
                <a:cubicBezTo>
                  <a:pt x="265" y="122"/>
                  <a:pt x="265" y="122"/>
                  <a:pt x="265" y="122"/>
                </a:cubicBezTo>
                <a:cubicBezTo>
                  <a:pt x="270" y="122"/>
                  <a:pt x="275" y="118"/>
                  <a:pt x="275" y="112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9BB9FE"/>
            </a:solidFill>
          </a:ln>
        </p:spPr>
        <p:txBody>
          <a:bodyPr wrap="none" anchor="ctr"/>
          <a:lstStyle/>
          <a:p>
            <a:endParaRPr lang="en-US" sz="700">
              <a:latin typeface="+mn-ea"/>
            </a:endParaRPr>
          </a:p>
        </p:txBody>
      </p:sp>
      <p:sp>
        <p:nvSpPr>
          <p:cNvPr id="113" name="Rectangle 86"/>
          <p:cNvSpPr/>
          <p:nvPr/>
        </p:nvSpPr>
        <p:spPr>
          <a:xfrm>
            <a:off x="628446" y="5918200"/>
            <a:ext cx="1603053" cy="432611"/>
          </a:xfrm>
          <a:prstGeom prst="rect">
            <a:avLst/>
          </a:prstGeom>
          <a:solidFill>
            <a:srgbClr val="0B3D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+mn-ea"/>
              </a:rPr>
              <a:t>Native</a:t>
            </a:r>
          </a:p>
          <a:p>
            <a:pPr algn="ctr"/>
            <a:r>
              <a:rPr lang="en-US" sz="1100" b="1" dirty="0">
                <a:solidFill>
                  <a:schemeClr val="bg1"/>
                </a:solidFill>
                <a:latin typeface="+mn-ea"/>
              </a:rPr>
              <a:t>Columnar Storage</a:t>
            </a:r>
          </a:p>
        </p:txBody>
      </p:sp>
      <p:sp>
        <p:nvSpPr>
          <p:cNvPr id="114" name="Rectangle 89"/>
          <p:cNvSpPr/>
          <p:nvPr/>
        </p:nvSpPr>
        <p:spPr>
          <a:xfrm>
            <a:off x="4126046" y="5918200"/>
            <a:ext cx="1603053" cy="432611"/>
          </a:xfrm>
          <a:prstGeom prst="rect">
            <a:avLst/>
          </a:prstGeom>
          <a:solidFill>
            <a:srgbClr val="0B3D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+mn-ea"/>
              </a:rPr>
              <a:t>Compression</a:t>
            </a:r>
          </a:p>
          <a:p>
            <a:pPr algn="ctr"/>
            <a:r>
              <a:rPr lang="en-US" sz="1100" b="1" dirty="0">
                <a:solidFill>
                  <a:schemeClr val="bg1"/>
                </a:solidFill>
                <a:latin typeface="+mn-ea"/>
              </a:rPr>
              <a:t>/Encoding</a:t>
            </a:r>
          </a:p>
        </p:txBody>
      </p:sp>
      <p:sp>
        <p:nvSpPr>
          <p:cNvPr id="115" name="Rectangle 105"/>
          <p:cNvSpPr/>
          <p:nvPr/>
        </p:nvSpPr>
        <p:spPr>
          <a:xfrm>
            <a:off x="7304675" y="5900059"/>
            <a:ext cx="1603053" cy="432611"/>
          </a:xfrm>
          <a:prstGeom prst="rect">
            <a:avLst/>
          </a:prstGeom>
          <a:solidFill>
            <a:srgbClr val="0B3D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+mn-ea"/>
              </a:rPr>
              <a:t>Projections</a:t>
            </a:r>
          </a:p>
        </p:txBody>
      </p:sp>
      <p:sp>
        <p:nvSpPr>
          <p:cNvPr id="116" name="object 10"/>
          <p:cNvSpPr txBox="1"/>
          <p:nvPr/>
        </p:nvSpPr>
        <p:spPr>
          <a:xfrm>
            <a:off x="21772" y="6373222"/>
            <a:ext cx="28080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ko-KR" altLang="en-US" sz="1000" spc="-70" dirty="0" smtClean="0">
                <a:latin typeface="+mn-ea"/>
                <a:cs typeface="맑은 고딕"/>
              </a:rPr>
              <a:t>필요한 </a:t>
            </a:r>
            <a:r>
              <a:rPr lang="ko-KR" altLang="en-US" sz="1000" spc="-70" dirty="0">
                <a:latin typeface="+mn-ea"/>
                <a:cs typeface="맑은 고딕"/>
              </a:rPr>
              <a:t>컬럼만을 조회</a:t>
            </a:r>
            <a:r>
              <a:rPr lang="ko-KR" altLang="en-US" sz="1000" dirty="0">
                <a:latin typeface="+mn-ea"/>
                <a:cs typeface="Pretendard Variable Medium" panose="02000003000000020004" pitchFamily="2" charset="-127"/>
              </a:rPr>
              <a:t>하여 </a:t>
            </a:r>
            <a:r>
              <a:rPr lang="ko-KR" altLang="en-US" sz="1000" dirty="0" smtClean="0">
                <a:latin typeface="+mn-ea"/>
                <a:cs typeface="Pretendard Variable Medium" panose="02000003000000020004" pitchFamily="2" charset="-127"/>
              </a:rPr>
              <a:t>빠른 </a:t>
            </a:r>
            <a:r>
              <a:rPr lang="ko-KR" altLang="en-US" sz="1000" dirty="0">
                <a:latin typeface="+mn-ea"/>
                <a:cs typeface="Pretendard Variable Medium" panose="02000003000000020004" pitchFamily="2" charset="-127"/>
              </a:rPr>
              <a:t>쿼리 성능 보장</a:t>
            </a:r>
            <a:endParaRPr sz="1000" dirty="0">
              <a:latin typeface="+mn-ea"/>
              <a:cs typeface="맑은 고딕"/>
            </a:endParaRPr>
          </a:p>
        </p:txBody>
      </p:sp>
      <p:sp>
        <p:nvSpPr>
          <p:cNvPr id="117" name="object 10"/>
          <p:cNvSpPr txBox="1"/>
          <p:nvPr/>
        </p:nvSpPr>
        <p:spPr>
          <a:xfrm>
            <a:off x="3519372" y="6373222"/>
            <a:ext cx="2808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000" spc="-330" dirty="0" smtClean="0">
                <a:latin typeface="+mn-ea"/>
                <a:cs typeface="Courier New"/>
              </a:rPr>
              <a:t> </a:t>
            </a:r>
            <a:r>
              <a:rPr lang="en-US" altLang="ko-KR" sz="1000" dirty="0">
                <a:latin typeface="+mn-ea"/>
                <a:cs typeface="Pretendard Variable Medium" panose="02000003000000020004" pitchFamily="2" charset="-127"/>
              </a:rPr>
              <a:t>Disk </a:t>
            </a:r>
            <a:r>
              <a:rPr lang="en-US" altLang="ko-KR" sz="1000" spc="-70" dirty="0">
                <a:latin typeface="+mn-ea"/>
                <a:cs typeface="맑은 고딕"/>
              </a:rPr>
              <a:t>I/O </a:t>
            </a:r>
            <a:r>
              <a:rPr lang="ko-KR" altLang="en-US" sz="1000" spc="-70" dirty="0">
                <a:latin typeface="+mn-ea"/>
                <a:cs typeface="맑은 고딕"/>
              </a:rPr>
              <a:t>비용을 최소화</a:t>
            </a:r>
            <a:r>
              <a:rPr lang="ko-KR" altLang="en-US" sz="1000" dirty="0">
                <a:latin typeface="+mn-ea"/>
                <a:cs typeface="Pretendard Variable Medium" panose="02000003000000020004" pitchFamily="2" charset="-127"/>
              </a:rPr>
              <a:t>하는</a:t>
            </a:r>
            <a:r>
              <a:rPr lang="ko-KR" altLang="en-US" sz="1000" spc="-70" dirty="0">
                <a:latin typeface="+mn-ea"/>
                <a:cs typeface="맑은 고딕"/>
              </a:rPr>
              <a:t> </a:t>
            </a:r>
            <a:r>
              <a:rPr lang="ko-KR" altLang="en-US" sz="1000" dirty="0">
                <a:latin typeface="+mn-ea"/>
                <a:cs typeface="Pretendard Variable Medium" panose="02000003000000020004" pitchFamily="2" charset="-127"/>
              </a:rPr>
              <a:t>동시에 성능을 가속화</a:t>
            </a:r>
            <a:endParaRPr lang="en-US" altLang="ko-KR" sz="1000" dirty="0">
              <a:latin typeface="+mn-ea"/>
              <a:cs typeface="Pretendard Variable Medium" panose="02000003000000020004" pitchFamily="2" charset="-127"/>
            </a:endParaRPr>
          </a:p>
        </p:txBody>
      </p:sp>
      <p:sp>
        <p:nvSpPr>
          <p:cNvPr id="118" name="object 10"/>
          <p:cNvSpPr txBox="1"/>
          <p:nvPr/>
        </p:nvSpPr>
        <p:spPr>
          <a:xfrm>
            <a:off x="6717001" y="6376851"/>
            <a:ext cx="2808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ko-KR" altLang="en-US" sz="1000" dirty="0" err="1" smtClean="0">
                <a:latin typeface="+mn-ea"/>
                <a:cs typeface="Pretendard Variable Medium" panose="02000003000000020004" pitchFamily="2" charset="-127"/>
              </a:rPr>
              <a:t>노드</a:t>
            </a:r>
            <a:r>
              <a:rPr lang="ko-KR" altLang="en-US" sz="1000" dirty="0" smtClean="0">
                <a:latin typeface="+mn-ea"/>
                <a:cs typeface="Pretendard Variable Medium" panose="02000003000000020004" pitchFamily="2" charset="-127"/>
              </a:rPr>
              <a:t> </a:t>
            </a:r>
            <a:r>
              <a:rPr lang="ko-KR" altLang="en-US" sz="1000" dirty="0">
                <a:latin typeface="+mn-ea"/>
                <a:cs typeface="Pretendard Variable Medium" panose="02000003000000020004" pitchFamily="2" charset="-127"/>
              </a:rPr>
              <a:t>장애 대처와 </a:t>
            </a:r>
            <a:r>
              <a:rPr lang="ko-KR" altLang="en-US" sz="1000" spc="-70" dirty="0">
                <a:latin typeface="+mn-ea"/>
                <a:cs typeface="맑은 고딕"/>
              </a:rPr>
              <a:t>쿼리 성능을 담보</a:t>
            </a:r>
            <a:r>
              <a:rPr lang="ko-KR" altLang="en-US" sz="1000" dirty="0">
                <a:latin typeface="+mn-ea"/>
                <a:cs typeface="Pretendard Variable Medium" panose="02000003000000020004" pitchFamily="2" charset="-127"/>
              </a:rPr>
              <a:t>하기</a:t>
            </a:r>
            <a:r>
              <a:rPr lang="ko-KR" altLang="en-US" sz="1000" spc="-70" dirty="0">
                <a:latin typeface="+mn-ea"/>
                <a:cs typeface="맑은 고딕"/>
              </a:rPr>
              <a:t> </a:t>
            </a:r>
            <a:r>
              <a:rPr lang="ko-KR" altLang="en-US" sz="1000" dirty="0">
                <a:latin typeface="+mn-ea"/>
                <a:cs typeface="Pretendard Variable Medium" panose="02000003000000020004" pitchFamily="2" charset="-127"/>
              </a:rPr>
              <a:t>위한 최적화 방안 제공</a:t>
            </a:r>
            <a:endParaRPr lang="en-US" altLang="ko-KR" sz="1000" dirty="0">
              <a:latin typeface="+mn-ea"/>
              <a:cs typeface="Pretendard Variable Medium" panose="02000003000000020004" pitchFamily="2" charset="-127"/>
            </a:endParaRPr>
          </a:p>
        </p:txBody>
      </p:sp>
      <p:grpSp>
        <p:nvGrpSpPr>
          <p:cNvPr id="119" name="Group 76"/>
          <p:cNvGrpSpPr>
            <a:grpSpLocks noChangeAspect="1"/>
          </p:cNvGrpSpPr>
          <p:nvPr/>
        </p:nvGrpSpPr>
        <p:grpSpPr>
          <a:xfrm>
            <a:off x="7605161" y="6753434"/>
            <a:ext cx="991930" cy="862684"/>
            <a:chOff x="1392799" y="8552193"/>
            <a:chExt cx="285312" cy="263081"/>
          </a:xfrm>
          <a:solidFill>
            <a:srgbClr val="0078EF"/>
          </a:solidFill>
        </p:grpSpPr>
        <p:sp>
          <p:nvSpPr>
            <p:cNvPr id="120" name="Freeform 119"/>
            <p:cNvSpPr>
              <a:spLocks noChangeArrowheads="1"/>
            </p:cNvSpPr>
            <p:nvPr/>
          </p:nvSpPr>
          <p:spPr bwMode="auto">
            <a:xfrm>
              <a:off x="1392799" y="8642980"/>
              <a:ext cx="83370" cy="83372"/>
            </a:xfrm>
            <a:custGeom>
              <a:avLst/>
              <a:gdLst>
                <a:gd name="T0" fmla="*/ 100 w 200"/>
                <a:gd name="T1" fmla="*/ 199 h 200"/>
                <a:gd name="T2" fmla="*/ 100 w 200"/>
                <a:gd name="T3" fmla="*/ 199 h 200"/>
                <a:gd name="T4" fmla="*/ 0 w 200"/>
                <a:gd name="T5" fmla="*/ 100 h 200"/>
                <a:gd name="T6" fmla="*/ 100 w 200"/>
                <a:gd name="T7" fmla="*/ 0 h 200"/>
                <a:gd name="T8" fmla="*/ 199 w 200"/>
                <a:gd name="T9" fmla="*/ 100 h 200"/>
                <a:gd name="T10" fmla="*/ 100 w 200"/>
                <a:gd name="T11" fmla="*/ 19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0" h="200">
                  <a:moveTo>
                    <a:pt x="100" y="199"/>
                  </a:moveTo>
                  <a:lnTo>
                    <a:pt x="100" y="199"/>
                  </a:lnTo>
                  <a:cubicBezTo>
                    <a:pt x="45" y="199"/>
                    <a:pt x="0" y="154"/>
                    <a:pt x="0" y="100"/>
                  </a:cubicBezTo>
                  <a:cubicBezTo>
                    <a:pt x="0" y="45"/>
                    <a:pt x="45" y="0"/>
                    <a:pt x="100" y="0"/>
                  </a:cubicBezTo>
                  <a:cubicBezTo>
                    <a:pt x="154" y="0"/>
                    <a:pt x="199" y="45"/>
                    <a:pt x="199" y="100"/>
                  </a:cubicBezTo>
                  <a:cubicBezTo>
                    <a:pt x="199" y="154"/>
                    <a:pt x="154" y="199"/>
                    <a:pt x="100" y="199"/>
                  </a:cubicBezTo>
                </a:path>
              </a:pathLst>
            </a:custGeom>
            <a:solidFill>
              <a:schemeClr val="bg1"/>
            </a:solidFill>
            <a:ln w="38100" cap="flat">
              <a:solidFill>
                <a:srgbClr val="9BB9FE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50">
                <a:latin typeface="+mn-ea"/>
              </a:endParaRPr>
            </a:p>
          </p:txBody>
        </p:sp>
        <p:sp>
          <p:nvSpPr>
            <p:cNvPr id="121" name="Freeform 120"/>
            <p:cNvSpPr>
              <a:spLocks noChangeArrowheads="1"/>
            </p:cNvSpPr>
            <p:nvPr/>
          </p:nvSpPr>
          <p:spPr bwMode="auto">
            <a:xfrm>
              <a:off x="1624383" y="8657801"/>
              <a:ext cx="53728" cy="55580"/>
            </a:xfrm>
            <a:custGeom>
              <a:avLst/>
              <a:gdLst>
                <a:gd name="T0" fmla="*/ 129 w 130"/>
                <a:gd name="T1" fmla="*/ 65 h 131"/>
                <a:gd name="T2" fmla="*/ 129 w 130"/>
                <a:gd name="T3" fmla="*/ 65 h 131"/>
                <a:gd name="T4" fmla="*/ 64 w 130"/>
                <a:gd name="T5" fmla="*/ 130 h 131"/>
                <a:gd name="T6" fmla="*/ 0 w 130"/>
                <a:gd name="T7" fmla="*/ 65 h 131"/>
                <a:gd name="T8" fmla="*/ 64 w 130"/>
                <a:gd name="T9" fmla="*/ 0 h 131"/>
                <a:gd name="T10" fmla="*/ 129 w 130"/>
                <a:gd name="T11" fmla="*/ 65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131">
                  <a:moveTo>
                    <a:pt x="129" y="65"/>
                  </a:moveTo>
                  <a:lnTo>
                    <a:pt x="129" y="65"/>
                  </a:lnTo>
                  <a:cubicBezTo>
                    <a:pt x="129" y="100"/>
                    <a:pt x="100" y="130"/>
                    <a:pt x="64" y="130"/>
                  </a:cubicBezTo>
                  <a:cubicBezTo>
                    <a:pt x="29" y="130"/>
                    <a:pt x="0" y="100"/>
                    <a:pt x="0" y="65"/>
                  </a:cubicBezTo>
                  <a:cubicBezTo>
                    <a:pt x="0" y="30"/>
                    <a:pt x="29" y="0"/>
                    <a:pt x="64" y="0"/>
                  </a:cubicBezTo>
                  <a:cubicBezTo>
                    <a:pt x="100" y="0"/>
                    <a:pt x="129" y="30"/>
                    <a:pt x="129" y="65"/>
                  </a:cubicBezTo>
                </a:path>
              </a:pathLst>
            </a:custGeom>
            <a:solidFill>
              <a:schemeClr val="bg1"/>
            </a:solidFill>
            <a:ln w="38100" cap="flat">
              <a:solidFill>
                <a:srgbClr val="9BB9FE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50">
                <a:latin typeface="+mn-ea"/>
              </a:endParaRPr>
            </a:p>
          </p:txBody>
        </p:sp>
        <p:sp>
          <p:nvSpPr>
            <p:cNvPr id="122" name="Freeform 121"/>
            <p:cNvSpPr>
              <a:spLocks noChangeArrowheads="1"/>
            </p:cNvSpPr>
            <p:nvPr/>
          </p:nvSpPr>
          <p:spPr bwMode="auto">
            <a:xfrm>
              <a:off x="1596595" y="8552193"/>
              <a:ext cx="53727" cy="55580"/>
            </a:xfrm>
            <a:custGeom>
              <a:avLst/>
              <a:gdLst>
                <a:gd name="T0" fmla="*/ 129 w 130"/>
                <a:gd name="T1" fmla="*/ 64 h 131"/>
                <a:gd name="T2" fmla="*/ 129 w 130"/>
                <a:gd name="T3" fmla="*/ 64 h 131"/>
                <a:gd name="T4" fmla="*/ 65 w 130"/>
                <a:gd name="T5" fmla="*/ 130 h 131"/>
                <a:gd name="T6" fmla="*/ 0 w 130"/>
                <a:gd name="T7" fmla="*/ 64 h 131"/>
                <a:gd name="T8" fmla="*/ 65 w 130"/>
                <a:gd name="T9" fmla="*/ 0 h 131"/>
                <a:gd name="T10" fmla="*/ 129 w 130"/>
                <a:gd name="T11" fmla="*/ 64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131">
                  <a:moveTo>
                    <a:pt x="129" y="64"/>
                  </a:moveTo>
                  <a:lnTo>
                    <a:pt x="129" y="64"/>
                  </a:lnTo>
                  <a:cubicBezTo>
                    <a:pt x="129" y="101"/>
                    <a:pt x="100" y="130"/>
                    <a:pt x="65" y="130"/>
                  </a:cubicBezTo>
                  <a:cubicBezTo>
                    <a:pt x="28" y="130"/>
                    <a:pt x="0" y="101"/>
                    <a:pt x="0" y="64"/>
                  </a:cubicBezTo>
                  <a:cubicBezTo>
                    <a:pt x="0" y="29"/>
                    <a:pt x="28" y="0"/>
                    <a:pt x="65" y="0"/>
                  </a:cubicBezTo>
                  <a:cubicBezTo>
                    <a:pt x="100" y="0"/>
                    <a:pt x="129" y="29"/>
                    <a:pt x="129" y="64"/>
                  </a:cubicBezTo>
                </a:path>
              </a:pathLst>
            </a:custGeom>
            <a:solidFill>
              <a:schemeClr val="bg1"/>
            </a:solidFill>
            <a:ln w="38100" cap="flat">
              <a:solidFill>
                <a:srgbClr val="9BB9FE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50">
                <a:latin typeface="+mn-ea"/>
              </a:endParaRPr>
            </a:p>
          </p:txBody>
        </p:sp>
        <p:sp>
          <p:nvSpPr>
            <p:cNvPr id="123" name="Freeform 122"/>
            <p:cNvSpPr>
              <a:spLocks noChangeArrowheads="1"/>
            </p:cNvSpPr>
            <p:nvPr/>
          </p:nvSpPr>
          <p:spPr bwMode="auto">
            <a:xfrm>
              <a:off x="1596596" y="8761546"/>
              <a:ext cx="53727" cy="53728"/>
            </a:xfrm>
            <a:custGeom>
              <a:avLst/>
              <a:gdLst>
                <a:gd name="T0" fmla="*/ 129 w 130"/>
                <a:gd name="T1" fmla="*/ 65 h 130"/>
                <a:gd name="T2" fmla="*/ 129 w 130"/>
                <a:gd name="T3" fmla="*/ 65 h 130"/>
                <a:gd name="T4" fmla="*/ 65 w 130"/>
                <a:gd name="T5" fmla="*/ 129 h 130"/>
                <a:gd name="T6" fmla="*/ 0 w 130"/>
                <a:gd name="T7" fmla="*/ 65 h 130"/>
                <a:gd name="T8" fmla="*/ 65 w 130"/>
                <a:gd name="T9" fmla="*/ 0 h 130"/>
                <a:gd name="T10" fmla="*/ 129 w 130"/>
                <a:gd name="T11" fmla="*/ 65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130">
                  <a:moveTo>
                    <a:pt x="129" y="65"/>
                  </a:moveTo>
                  <a:lnTo>
                    <a:pt x="129" y="65"/>
                  </a:lnTo>
                  <a:cubicBezTo>
                    <a:pt x="129" y="100"/>
                    <a:pt x="100" y="129"/>
                    <a:pt x="65" y="129"/>
                  </a:cubicBezTo>
                  <a:cubicBezTo>
                    <a:pt x="28" y="129"/>
                    <a:pt x="0" y="100"/>
                    <a:pt x="0" y="65"/>
                  </a:cubicBezTo>
                  <a:cubicBezTo>
                    <a:pt x="0" y="29"/>
                    <a:pt x="28" y="0"/>
                    <a:pt x="65" y="0"/>
                  </a:cubicBezTo>
                  <a:cubicBezTo>
                    <a:pt x="100" y="0"/>
                    <a:pt x="129" y="29"/>
                    <a:pt x="129" y="65"/>
                  </a:cubicBezTo>
                </a:path>
              </a:pathLst>
            </a:custGeom>
            <a:solidFill>
              <a:schemeClr val="bg1"/>
            </a:solidFill>
            <a:ln w="38100" cap="flat">
              <a:solidFill>
                <a:srgbClr val="9BB9FE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50">
                <a:latin typeface="+mn-ea"/>
              </a:endParaRPr>
            </a:p>
          </p:txBody>
        </p:sp>
        <p:sp>
          <p:nvSpPr>
            <p:cNvPr id="124" name="Freeform 123"/>
            <p:cNvSpPr>
              <a:spLocks noChangeArrowheads="1"/>
            </p:cNvSpPr>
            <p:nvPr/>
          </p:nvSpPr>
          <p:spPr bwMode="auto">
            <a:xfrm>
              <a:off x="1483582" y="8705968"/>
              <a:ext cx="101898" cy="62991"/>
            </a:xfrm>
            <a:custGeom>
              <a:avLst/>
              <a:gdLst>
                <a:gd name="T0" fmla="*/ 228 w 242"/>
                <a:gd name="T1" fmla="*/ 150 h 151"/>
                <a:gd name="T2" fmla="*/ 228 w 242"/>
                <a:gd name="T3" fmla="*/ 150 h 151"/>
                <a:gd name="T4" fmla="*/ 222 w 242"/>
                <a:gd name="T5" fmla="*/ 149 h 151"/>
                <a:gd name="T6" fmla="*/ 191 w 242"/>
                <a:gd name="T7" fmla="*/ 131 h 151"/>
                <a:gd name="T8" fmla="*/ 187 w 242"/>
                <a:gd name="T9" fmla="*/ 114 h 151"/>
                <a:gd name="T10" fmla="*/ 203 w 242"/>
                <a:gd name="T11" fmla="*/ 110 h 151"/>
                <a:gd name="T12" fmla="*/ 234 w 242"/>
                <a:gd name="T13" fmla="*/ 129 h 151"/>
                <a:gd name="T14" fmla="*/ 238 w 242"/>
                <a:gd name="T15" fmla="*/ 145 h 151"/>
                <a:gd name="T16" fmla="*/ 228 w 242"/>
                <a:gd name="T17" fmla="*/ 150 h 151"/>
                <a:gd name="T18" fmla="*/ 136 w 242"/>
                <a:gd name="T19" fmla="*/ 97 h 151"/>
                <a:gd name="T20" fmla="*/ 136 w 242"/>
                <a:gd name="T21" fmla="*/ 97 h 151"/>
                <a:gd name="T22" fmla="*/ 130 w 242"/>
                <a:gd name="T23" fmla="*/ 95 h 151"/>
                <a:gd name="T24" fmla="*/ 99 w 242"/>
                <a:gd name="T25" fmla="*/ 77 h 151"/>
                <a:gd name="T26" fmla="*/ 94 w 242"/>
                <a:gd name="T27" fmla="*/ 61 h 151"/>
                <a:gd name="T28" fmla="*/ 111 w 242"/>
                <a:gd name="T29" fmla="*/ 57 h 151"/>
                <a:gd name="T30" fmla="*/ 141 w 242"/>
                <a:gd name="T31" fmla="*/ 75 h 151"/>
                <a:gd name="T32" fmla="*/ 145 w 242"/>
                <a:gd name="T33" fmla="*/ 91 h 151"/>
                <a:gd name="T34" fmla="*/ 136 w 242"/>
                <a:gd name="T35" fmla="*/ 97 h 151"/>
                <a:gd name="T36" fmla="*/ 43 w 242"/>
                <a:gd name="T37" fmla="*/ 43 h 151"/>
                <a:gd name="T38" fmla="*/ 43 w 242"/>
                <a:gd name="T39" fmla="*/ 43 h 151"/>
                <a:gd name="T40" fmla="*/ 37 w 242"/>
                <a:gd name="T41" fmla="*/ 42 h 151"/>
                <a:gd name="T42" fmla="*/ 7 w 242"/>
                <a:gd name="T43" fmla="*/ 23 h 151"/>
                <a:gd name="T44" fmla="*/ 3 w 242"/>
                <a:gd name="T45" fmla="*/ 7 h 151"/>
                <a:gd name="T46" fmla="*/ 18 w 242"/>
                <a:gd name="T47" fmla="*/ 3 h 151"/>
                <a:gd name="T48" fmla="*/ 50 w 242"/>
                <a:gd name="T49" fmla="*/ 21 h 151"/>
                <a:gd name="T50" fmla="*/ 54 w 242"/>
                <a:gd name="T51" fmla="*/ 37 h 151"/>
                <a:gd name="T52" fmla="*/ 43 w 242"/>
                <a:gd name="T53" fmla="*/ 43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2" h="151">
                  <a:moveTo>
                    <a:pt x="228" y="150"/>
                  </a:moveTo>
                  <a:lnTo>
                    <a:pt x="228" y="150"/>
                  </a:lnTo>
                  <a:cubicBezTo>
                    <a:pt x="226" y="150"/>
                    <a:pt x="223" y="150"/>
                    <a:pt x="222" y="149"/>
                  </a:cubicBezTo>
                  <a:cubicBezTo>
                    <a:pt x="191" y="131"/>
                    <a:pt x="191" y="131"/>
                    <a:pt x="191" y="131"/>
                  </a:cubicBezTo>
                  <a:cubicBezTo>
                    <a:pt x="186" y="128"/>
                    <a:pt x="184" y="121"/>
                    <a:pt x="187" y="114"/>
                  </a:cubicBezTo>
                  <a:cubicBezTo>
                    <a:pt x="190" y="109"/>
                    <a:pt x="197" y="107"/>
                    <a:pt x="203" y="110"/>
                  </a:cubicBezTo>
                  <a:cubicBezTo>
                    <a:pt x="234" y="129"/>
                    <a:pt x="234" y="129"/>
                    <a:pt x="234" y="129"/>
                  </a:cubicBezTo>
                  <a:cubicBezTo>
                    <a:pt x="239" y="132"/>
                    <a:pt x="241" y="139"/>
                    <a:pt x="238" y="145"/>
                  </a:cubicBezTo>
                  <a:cubicBezTo>
                    <a:pt x="236" y="148"/>
                    <a:pt x="232" y="150"/>
                    <a:pt x="228" y="150"/>
                  </a:cubicBezTo>
                  <a:close/>
                  <a:moveTo>
                    <a:pt x="136" y="97"/>
                  </a:moveTo>
                  <a:lnTo>
                    <a:pt x="136" y="97"/>
                  </a:lnTo>
                  <a:cubicBezTo>
                    <a:pt x="134" y="97"/>
                    <a:pt x="132" y="96"/>
                    <a:pt x="130" y="95"/>
                  </a:cubicBezTo>
                  <a:cubicBezTo>
                    <a:pt x="99" y="77"/>
                    <a:pt x="99" y="77"/>
                    <a:pt x="99" y="77"/>
                  </a:cubicBezTo>
                  <a:cubicBezTo>
                    <a:pt x="93" y="74"/>
                    <a:pt x="91" y="67"/>
                    <a:pt x="94" y="61"/>
                  </a:cubicBezTo>
                  <a:cubicBezTo>
                    <a:pt x="97" y="55"/>
                    <a:pt x="105" y="54"/>
                    <a:pt x="111" y="57"/>
                  </a:cubicBezTo>
                  <a:cubicBezTo>
                    <a:pt x="141" y="75"/>
                    <a:pt x="141" y="75"/>
                    <a:pt x="141" y="75"/>
                  </a:cubicBezTo>
                  <a:cubicBezTo>
                    <a:pt x="147" y="78"/>
                    <a:pt x="149" y="85"/>
                    <a:pt x="145" y="91"/>
                  </a:cubicBezTo>
                  <a:cubicBezTo>
                    <a:pt x="143" y="95"/>
                    <a:pt x="139" y="97"/>
                    <a:pt x="136" y="97"/>
                  </a:cubicBezTo>
                  <a:close/>
                  <a:moveTo>
                    <a:pt x="43" y="43"/>
                  </a:moveTo>
                  <a:lnTo>
                    <a:pt x="43" y="43"/>
                  </a:lnTo>
                  <a:cubicBezTo>
                    <a:pt x="41" y="43"/>
                    <a:pt x="39" y="43"/>
                    <a:pt x="37" y="42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1" y="20"/>
                    <a:pt x="0" y="12"/>
                    <a:pt x="3" y="7"/>
                  </a:cubicBezTo>
                  <a:cubicBezTo>
                    <a:pt x="6" y="2"/>
                    <a:pt x="13" y="0"/>
                    <a:pt x="18" y="3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5" y="24"/>
                    <a:pt x="57" y="31"/>
                    <a:pt x="54" y="37"/>
                  </a:cubicBezTo>
                  <a:cubicBezTo>
                    <a:pt x="52" y="41"/>
                    <a:pt x="48" y="43"/>
                    <a:pt x="43" y="43"/>
                  </a:cubicBezTo>
                  <a:close/>
                </a:path>
              </a:pathLst>
            </a:custGeom>
            <a:solidFill>
              <a:schemeClr val="bg1"/>
            </a:solidFill>
            <a:ln w="38100" cap="flat">
              <a:solidFill>
                <a:srgbClr val="9BB9FE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50">
                <a:latin typeface="+mn-ea"/>
              </a:endParaRPr>
            </a:p>
          </p:txBody>
        </p:sp>
        <p:sp>
          <p:nvSpPr>
            <p:cNvPr id="125" name="Freeform 124"/>
            <p:cNvSpPr>
              <a:spLocks noChangeArrowheads="1"/>
            </p:cNvSpPr>
            <p:nvPr/>
          </p:nvSpPr>
          <p:spPr bwMode="auto">
            <a:xfrm>
              <a:off x="1485437" y="8598519"/>
              <a:ext cx="103750" cy="61139"/>
            </a:xfrm>
            <a:custGeom>
              <a:avLst/>
              <a:gdLst>
                <a:gd name="T0" fmla="*/ 13 w 245"/>
                <a:gd name="T1" fmla="*/ 146 h 147"/>
                <a:gd name="T2" fmla="*/ 13 w 245"/>
                <a:gd name="T3" fmla="*/ 146 h 147"/>
                <a:gd name="T4" fmla="*/ 3 w 245"/>
                <a:gd name="T5" fmla="*/ 139 h 147"/>
                <a:gd name="T6" fmla="*/ 7 w 245"/>
                <a:gd name="T7" fmla="*/ 124 h 147"/>
                <a:gd name="T8" fmla="*/ 38 w 245"/>
                <a:gd name="T9" fmla="*/ 107 h 147"/>
                <a:gd name="T10" fmla="*/ 54 w 245"/>
                <a:gd name="T11" fmla="*/ 111 h 147"/>
                <a:gd name="T12" fmla="*/ 50 w 245"/>
                <a:gd name="T13" fmla="*/ 127 h 147"/>
                <a:gd name="T14" fmla="*/ 18 w 245"/>
                <a:gd name="T15" fmla="*/ 145 h 147"/>
                <a:gd name="T16" fmla="*/ 13 w 245"/>
                <a:gd name="T17" fmla="*/ 146 h 147"/>
                <a:gd name="T18" fmla="*/ 106 w 245"/>
                <a:gd name="T19" fmla="*/ 94 h 147"/>
                <a:gd name="T20" fmla="*/ 106 w 245"/>
                <a:gd name="T21" fmla="*/ 94 h 147"/>
                <a:gd name="T22" fmla="*/ 97 w 245"/>
                <a:gd name="T23" fmla="*/ 88 h 147"/>
                <a:gd name="T24" fmla="*/ 101 w 245"/>
                <a:gd name="T25" fmla="*/ 72 h 147"/>
                <a:gd name="T26" fmla="*/ 132 w 245"/>
                <a:gd name="T27" fmla="*/ 55 h 147"/>
                <a:gd name="T28" fmla="*/ 148 w 245"/>
                <a:gd name="T29" fmla="*/ 59 h 147"/>
                <a:gd name="T30" fmla="*/ 143 w 245"/>
                <a:gd name="T31" fmla="*/ 75 h 147"/>
                <a:gd name="T32" fmla="*/ 112 w 245"/>
                <a:gd name="T33" fmla="*/ 93 h 147"/>
                <a:gd name="T34" fmla="*/ 106 w 245"/>
                <a:gd name="T35" fmla="*/ 94 h 147"/>
                <a:gd name="T36" fmla="*/ 200 w 245"/>
                <a:gd name="T37" fmla="*/ 43 h 147"/>
                <a:gd name="T38" fmla="*/ 200 w 245"/>
                <a:gd name="T39" fmla="*/ 43 h 147"/>
                <a:gd name="T40" fmla="*/ 189 w 245"/>
                <a:gd name="T41" fmla="*/ 36 h 147"/>
                <a:gd name="T42" fmla="*/ 194 w 245"/>
                <a:gd name="T43" fmla="*/ 21 h 147"/>
                <a:gd name="T44" fmla="*/ 226 w 245"/>
                <a:gd name="T45" fmla="*/ 3 h 147"/>
                <a:gd name="T46" fmla="*/ 241 w 245"/>
                <a:gd name="T47" fmla="*/ 8 h 147"/>
                <a:gd name="T48" fmla="*/ 237 w 245"/>
                <a:gd name="T49" fmla="*/ 24 h 147"/>
                <a:gd name="T50" fmla="*/ 206 w 245"/>
                <a:gd name="T51" fmla="*/ 41 h 147"/>
                <a:gd name="T52" fmla="*/ 200 w 245"/>
                <a:gd name="T53" fmla="*/ 4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5" h="147">
                  <a:moveTo>
                    <a:pt x="13" y="146"/>
                  </a:moveTo>
                  <a:lnTo>
                    <a:pt x="13" y="146"/>
                  </a:lnTo>
                  <a:cubicBezTo>
                    <a:pt x="9" y="146"/>
                    <a:pt x="5" y="144"/>
                    <a:pt x="3" y="139"/>
                  </a:cubicBezTo>
                  <a:cubicBezTo>
                    <a:pt x="0" y="134"/>
                    <a:pt x="2" y="127"/>
                    <a:pt x="7" y="124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45" y="104"/>
                    <a:pt x="51" y="106"/>
                    <a:pt x="54" y="111"/>
                  </a:cubicBezTo>
                  <a:cubicBezTo>
                    <a:pt x="57" y="117"/>
                    <a:pt x="55" y="124"/>
                    <a:pt x="50" y="127"/>
                  </a:cubicBezTo>
                  <a:cubicBezTo>
                    <a:pt x="18" y="145"/>
                    <a:pt x="18" y="145"/>
                    <a:pt x="18" y="145"/>
                  </a:cubicBezTo>
                  <a:cubicBezTo>
                    <a:pt x="16" y="146"/>
                    <a:pt x="14" y="146"/>
                    <a:pt x="13" y="146"/>
                  </a:cubicBezTo>
                  <a:close/>
                  <a:moveTo>
                    <a:pt x="106" y="94"/>
                  </a:moveTo>
                  <a:lnTo>
                    <a:pt x="106" y="94"/>
                  </a:lnTo>
                  <a:cubicBezTo>
                    <a:pt x="102" y="94"/>
                    <a:pt x="99" y="92"/>
                    <a:pt x="97" y="88"/>
                  </a:cubicBezTo>
                  <a:cubicBezTo>
                    <a:pt x="93" y="82"/>
                    <a:pt x="96" y="75"/>
                    <a:pt x="101" y="72"/>
                  </a:cubicBezTo>
                  <a:cubicBezTo>
                    <a:pt x="132" y="55"/>
                    <a:pt x="132" y="55"/>
                    <a:pt x="132" y="55"/>
                  </a:cubicBezTo>
                  <a:cubicBezTo>
                    <a:pt x="137" y="52"/>
                    <a:pt x="144" y="54"/>
                    <a:pt x="148" y="59"/>
                  </a:cubicBezTo>
                  <a:cubicBezTo>
                    <a:pt x="151" y="66"/>
                    <a:pt x="149" y="72"/>
                    <a:pt x="143" y="75"/>
                  </a:cubicBezTo>
                  <a:cubicBezTo>
                    <a:pt x="112" y="93"/>
                    <a:pt x="112" y="93"/>
                    <a:pt x="112" y="93"/>
                  </a:cubicBezTo>
                  <a:cubicBezTo>
                    <a:pt x="110" y="94"/>
                    <a:pt x="108" y="94"/>
                    <a:pt x="106" y="94"/>
                  </a:cubicBezTo>
                  <a:close/>
                  <a:moveTo>
                    <a:pt x="200" y="43"/>
                  </a:moveTo>
                  <a:lnTo>
                    <a:pt x="200" y="43"/>
                  </a:lnTo>
                  <a:cubicBezTo>
                    <a:pt x="195" y="43"/>
                    <a:pt x="191" y="41"/>
                    <a:pt x="189" y="36"/>
                  </a:cubicBezTo>
                  <a:cubicBezTo>
                    <a:pt x="186" y="31"/>
                    <a:pt x="188" y="24"/>
                    <a:pt x="194" y="21"/>
                  </a:cubicBezTo>
                  <a:cubicBezTo>
                    <a:pt x="226" y="3"/>
                    <a:pt x="226" y="3"/>
                    <a:pt x="226" y="3"/>
                  </a:cubicBezTo>
                  <a:cubicBezTo>
                    <a:pt x="231" y="0"/>
                    <a:pt x="238" y="2"/>
                    <a:pt x="241" y="8"/>
                  </a:cubicBezTo>
                  <a:cubicBezTo>
                    <a:pt x="244" y="14"/>
                    <a:pt x="242" y="21"/>
                    <a:pt x="237" y="24"/>
                  </a:cubicBezTo>
                  <a:cubicBezTo>
                    <a:pt x="206" y="41"/>
                    <a:pt x="206" y="41"/>
                    <a:pt x="206" y="41"/>
                  </a:cubicBezTo>
                  <a:cubicBezTo>
                    <a:pt x="204" y="42"/>
                    <a:pt x="202" y="43"/>
                    <a:pt x="200" y="43"/>
                  </a:cubicBezTo>
                  <a:close/>
                </a:path>
              </a:pathLst>
            </a:custGeom>
            <a:solidFill>
              <a:schemeClr val="bg1"/>
            </a:solidFill>
            <a:ln w="38100" cap="flat">
              <a:solidFill>
                <a:srgbClr val="9BB9FE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50">
                <a:latin typeface="+mn-ea"/>
              </a:endParaRPr>
            </a:p>
          </p:txBody>
        </p:sp>
        <p:sp>
          <p:nvSpPr>
            <p:cNvPr id="126" name="Freeform 125"/>
            <p:cNvSpPr>
              <a:spLocks noChangeArrowheads="1"/>
            </p:cNvSpPr>
            <p:nvPr/>
          </p:nvSpPr>
          <p:spPr bwMode="auto">
            <a:xfrm>
              <a:off x="1492848" y="8678154"/>
              <a:ext cx="114866" cy="11116"/>
            </a:xfrm>
            <a:custGeom>
              <a:avLst/>
              <a:gdLst>
                <a:gd name="T0" fmla="*/ 262 w 274"/>
                <a:gd name="T1" fmla="*/ 24 h 25"/>
                <a:gd name="T2" fmla="*/ 262 w 274"/>
                <a:gd name="T3" fmla="*/ 24 h 25"/>
                <a:gd name="T4" fmla="*/ 225 w 274"/>
                <a:gd name="T5" fmla="*/ 24 h 25"/>
                <a:gd name="T6" fmla="*/ 214 w 274"/>
                <a:gd name="T7" fmla="*/ 13 h 25"/>
                <a:gd name="T8" fmla="*/ 225 w 274"/>
                <a:gd name="T9" fmla="*/ 0 h 25"/>
                <a:gd name="T10" fmla="*/ 262 w 274"/>
                <a:gd name="T11" fmla="*/ 0 h 25"/>
                <a:gd name="T12" fmla="*/ 273 w 274"/>
                <a:gd name="T13" fmla="*/ 13 h 25"/>
                <a:gd name="T14" fmla="*/ 262 w 274"/>
                <a:gd name="T15" fmla="*/ 24 h 25"/>
                <a:gd name="T16" fmla="*/ 154 w 274"/>
                <a:gd name="T17" fmla="*/ 24 h 25"/>
                <a:gd name="T18" fmla="*/ 154 w 274"/>
                <a:gd name="T19" fmla="*/ 24 h 25"/>
                <a:gd name="T20" fmla="*/ 119 w 274"/>
                <a:gd name="T21" fmla="*/ 24 h 25"/>
                <a:gd name="T22" fmla="*/ 108 w 274"/>
                <a:gd name="T23" fmla="*/ 13 h 25"/>
                <a:gd name="T24" fmla="*/ 119 w 274"/>
                <a:gd name="T25" fmla="*/ 0 h 25"/>
                <a:gd name="T26" fmla="*/ 154 w 274"/>
                <a:gd name="T27" fmla="*/ 0 h 25"/>
                <a:gd name="T28" fmla="*/ 166 w 274"/>
                <a:gd name="T29" fmla="*/ 13 h 25"/>
                <a:gd name="T30" fmla="*/ 154 w 274"/>
                <a:gd name="T31" fmla="*/ 24 h 25"/>
                <a:gd name="T32" fmla="*/ 47 w 274"/>
                <a:gd name="T33" fmla="*/ 24 h 25"/>
                <a:gd name="T34" fmla="*/ 47 w 274"/>
                <a:gd name="T35" fmla="*/ 24 h 25"/>
                <a:gd name="T36" fmla="*/ 12 w 274"/>
                <a:gd name="T37" fmla="*/ 24 h 25"/>
                <a:gd name="T38" fmla="*/ 0 w 274"/>
                <a:gd name="T39" fmla="*/ 13 h 25"/>
                <a:gd name="T40" fmla="*/ 12 w 274"/>
                <a:gd name="T41" fmla="*/ 0 h 25"/>
                <a:gd name="T42" fmla="*/ 47 w 274"/>
                <a:gd name="T43" fmla="*/ 0 h 25"/>
                <a:gd name="T44" fmla="*/ 60 w 274"/>
                <a:gd name="T45" fmla="*/ 13 h 25"/>
                <a:gd name="T46" fmla="*/ 47 w 274"/>
                <a:gd name="T47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4" h="25">
                  <a:moveTo>
                    <a:pt x="262" y="24"/>
                  </a:moveTo>
                  <a:lnTo>
                    <a:pt x="262" y="24"/>
                  </a:lnTo>
                  <a:cubicBezTo>
                    <a:pt x="225" y="24"/>
                    <a:pt x="225" y="24"/>
                    <a:pt x="225" y="24"/>
                  </a:cubicBezTo>
                  <a:cubicBezTo>
                    <a:pt x="219" y="24"/>
                    <a:pt x="214" y="19"/>
                    <a:pt x="214" y="13"/>
                  </a:cubicBezTo>
                  <a:cubicBezTo>
                    <a:pt x="214" y="7"/>
                    <a:pt x="219" y="0"/>
                    <a:pt x="225" y="0"/>
                  </a:cubicBezTo>
                  <a:cubicBezTo>
                    <a:pt x="262" y="0"/>
                    <a:pt x="262" y="0"/>
                    <a:pt x="262" y="0"/>
                  </a:cubicBezTo>
                  <a:cubicBezTo>
                    <a:pt x="268" y="0"/>
                    <a:pt x="273" y="7"/>
                    <a:pt x="273" y="13"/>
                  </a:cubicBezTo>
                  <a:cubicBezTo>
                    <a:pt x="273" y="19"/>
                    <a:pt x="268" y="24"/>
                    <a:pt x="262" y="24"/>
                  </a:cubicBezTo>
                  <a:close/>
                  <a:moveTo>
                    <a:pt x="154" y="24"/>
                  </a:moveTo>
                  <a:lnTo>
                    <a:pt x="154" y="24"/>
                  </a:lnTo>
                  <a:cubicBezTo>
                    <a:pt x="119" y="24"/>
                    <a:pt x="119" y="24"/>
                    <a:pt x="119" y="24"/>
                  </a:cubicBezTo>
                  <a:cubicBezTo>
                    <a:pt x="113" y="24"/>
                    <a:pt x="108" y="19"/>
                    <a:pt x="108" y="13"/>
                  </a:cubicBezTo>
                  <a:cubicBezTo>
                    <a:pt x="108" y="7"/>
                    <a:pt x="113" y="0"/>
                    <a:pt x="119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61" y="0"/>
                    <a:pt x="166" y="7"/>
                    <a:pt x="166" y="13"/>
                  </a:cubicBezTo>
                  <a:cubicBezTo>
                    <a:pt x="166" y="19"/>
                    <a:pt x="161" y="24"/>
                    <a:pt x="154" y="24"/>
                  </a:cubicBezTo>
                  <a:close/>
                  <a:moveTo>
                    <a:pt x="47" y="24"/>
                  </a:moveTo>
                  <a:lnTo>
                    <a:pt x="47" y="24"/>
                  </a:lnTo>
                  <a:cubicBezTo>
                    <a:pt x="12" y="24"/>
                    <a:pt x="12" y="24"/>
                    <a:pt x="12" y="24"/>
                  </a:cubicBezTo>
                  <a:cubicBezTo>
                    <a:pt x="6" y="24"/>
                    <a:pt x="0" y="19"/>
                    <a:pt x="0" y="13"/>
                  </a:cubicBezTo>
                  <a:cubicBezTo>
                    <a:pt x="0" y="7"/>
                    <a:pt x="6" y="0"/>
                    <a:pt x="1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4" y="0"/>
                    <a:pt x="60" y="7"/>
                    <a:pt x="60" y="13"/>
                  </a:cubicBezTo>
                  <a:cubicBezTo>
                    <a:pt x="60" y="19"/>
                    <a:pt x="54" y="24"/>
                    <a:pt x="47" y="24"/>
                  </a:cubicBezTo>
                  <a:close/>
                </a:path>
              </a:pathLst>
            </a:custGeom>
            <a:solidFill>
              <a:schemeClr val="bg1"/>
            </a:solidFill>
            <a:ln w="38100" cap="flat">
              <a:solidFill>
                <a:srgbClr val="9BB9FE"/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50">
                <a:latin typeface="+mn-ea"/>
              </a:endParaRPr>
            </a:p>
          </p:txBody>
        </p:sp>
      </p:grpSp>
      <p:sp>
        <p:nvSpPr>
          <p:cNvPr id="127" name="Rectangle 99"/>
          <p:cNvSpPr/>
          <p:nvPr/>
        </p:nvSpPr>
        <p:spPr>
          <a:xfrm>
            <a:off x="7310485" y="7654091"/>
            <a:ext cx="1603053" cy="357793"/>
          </a:xfrm>
          <a:prstGeom prst="rect">
            <a:avLst/>
          </a:prstGeom>
          <a:solidFill>
            <a:srgbClr val="0B3D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  <a:latin typeface="+mn-ea"/>
              </a:rPr>
              <a:t>MPP Scale-out</a:t>
            </a:r>
          </a:p>
        </p:txBody>
      </p:sp>
      <p:sp>
        <p:nvSpPr>
          <p:cNvPr id="128" name="Rectangle 102"/>
          <p:cNvSpPr/>
          <p:nvPr/>
        </p:nvSpPr>
        <p:spPr>
          <a:xfrm>
            <a:off x="598560" y="7654091"/>
            <a:ext cx="1603053" cy="357793"/>
          </a:xfrm>
          <a:prstGeom prst="rect">
            <a:avLst/>
          </a:prstGeom>
          <a:solidFill>
            <a:srgbClr val="0B3D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  <a:latin typeface="+mn-ea"/>
              </a:rPr>
              <a:t>Distributed Query  </a:t>
            </a:r>
          </a:p>
        </p:txBody>
      </p:sp>
      <p:sp>
        <p:nvSpPr>
          <p:cNvPr id="129" name="object 10"/>
          <p:cNvSpPr txBox="1"/>
          <p:nvPr/>
        </p:nvSpPr>
        <p:spPr>
          <a:xfrm>
            <a:off x="6682040" y="8038989"/>
            <a:ext cx="2808000" cy="6776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975" indent="-180975">
              <a:lnSpc>
                <a:spcPct val="120000"/>
              </a:lnSpc>
              <a:buClr>
                <a:srgbClr val="1668C1"/>
              </a:buClr>
              <a:buFont typeface="Arial" panose="020B0604020202020204" pitchFamily="34" charset="0"/>
              <a:buChar char="•"/>
            </a:pPr>
            <a:r>
              <a:rPr lang="en-US" altLang="ko-KR" sz="900" dirty="0" smtClean="0">
                <a:latin typeface="+mn-ea"/>
                <a:cs typeface="Pretendard Variable Medium" panose="02000003000000020004" pitchFamily="2" charset="-127"/>
              </a:rPr>
              <a:t>Name </a:t>
            </a:r>
            <a:r>
              <a:rPr lang="en-US" altLang="ko-KR" sz="900" dirty="0">
                <a:latin typeface="+mn-ea"/>
                <a:cs typeface="Pretendard Variable Medium" panose="02000003000000020004" pitchFamily="2" charset="-127"/>
              </a:rPr>
              <a:t>node</a:t>
            </a:r>
            <a:r>
              <a:rPr lang="ko-KR" altLang="en-US" sz="900" dirty="0">
                <a:latin typeface="+mn-ea"/>
                <a:cs typeface="Pretendard Variable Medium" panose="02000003000000020004" pitchFamily="2" charset="-127"/>
              </a:rPr>
              <a:t>와 같은 </a:t>
            </a:r>
            <a:r>
              <a:rPr lang="en-US" altLang="ko-KR" sz="900" spc="-70" dirty="0">
                <a:latin typeface="+mn-ea"/>
                <a:cs typeface="맑은 고딕"/>
              </a:rPr>
              <a:t>Single point of failure</a:t>
            </a:r>
            <a:r>
              <a:rPr lang="ko-KR" altLang="en-US" sz="900" spc="-70" dirty="0">
                <a:latin typeface="+mn-ea"/>
                <a:cs typeface="맑은 고딕"/>
              </a:rPr>
              <a:t>를 제거</a:t>
            </a:r>
            <a:r>
              <a:rPr lang="ko-KR" altLang="en-US" sz="900" dirty="0">
                <a:latin typeface="+mn-ea"/>
                <a:cs typeface="Pretendard Variable Medium" panose="02000003000000020004" pitchFamily="2" charset="-127"/>
              </a:rPr>
              <a:t>한</a:t>
            </a:r>
            <a:r>
              <a:rPr lang="ko-KR" altLang="en-US" sz="900" spc="-70" dirty="0">
                <a:latin typeface="+mn-ea"/>
                <a:cs typeface="맑은 고딕"/>
              </a:rPr>
              <a:t> </a:t>
            </a:r>
            <a:r>
              <a:rPr lang="ko-KR" altLang="en-US" sz="900" dirty="0">
                <a:latin typeface="+mn-ea"/>
                <a:cs typeface="Pretendard Variable Medium" panose="02000003000000020004" pitchFamily="2" charset="-127"/>
              </a:rPr>
              <a:t>순수 </a:t>
            </a:r>
            <a:r>
              <a:rPr lang="en-US" altLang="ko-KR" sz="900" dirty="0">
                <a:latin typeface="+mn-ea"/>
                <a:cs typeface="Pretendard Variable Medium" panose="02000003000000020004" pitchFamily="2" charset="-127"/>
              </a:rPr>
              <a:t>MPP </a:t>
            </a:r>
            <a:r>
              <a:rPr lang="ko-KR" altLang="en-US" sz="900" dirty="0">
                <a:latin typeface="+mn-ea"/>
                <a:cs typeface="Pretendard Variable Medium" panose="02000003000000020004" pitchFamily="2" charset="-127"/>
              </a:rPr>
              <a:t>아키텍처</a:t>
            </a:r>
            <a:r>
              <a:rPr lang="en-US" altLang="ko-KR" sz="900" dirty="0">
                <a:latin typeface="+mn-ea"/>
                <a:cs typeface="Pretendard Variable Medium" panose="02000003000000020004" pitchFamily="2" charset="-127"/>
              </a:rPr>
              <a:t/>
            </a:r>
            <a:br>
              <a:rPr lang="en-US" altLang="ko-KR" sz="900" dirty="0">
                <a:latin typeface="+mn-ea"/>
                <a:cs typeface="Pretendard Variable Medium" panose="02000003000000020004" pitchFamily="2" charset="-127"/>
              </a:rPr>
            </a:br>
            <a:r>
              <a:rPr lang="en-US" altLang="ko-KR" sz="900" dirty="0">
                <a:latin typeface="+mn-ea"/>
                <a:cs typeface="Pretendard Variable Medium" panose="02000003000000020004" pitchFamily="2" charset="-127"/>
              </a:rPr>
              <a:t>(</a:t>
            </a:r>
            <a:r>
              <a:rPr lang="en-US" altLang="ko-KR" sz="900" i="0" dirty="0">
                <a:effectLst/>
                <a:latin typeface="+mn-ea"/>
              </a:rPr>
              <a:t>Massively Parallel Processing)</a:t>
            </a:r>
            <a:endParaRPr lang="en-US" altLang="ko-KR" sz="900" dirty="0">
              <a:latin typeface="+mn-ea"/>
              <a:cs typeface="Pretendard Variable Medium" panose="02000003000000020004" pitchFamily="2" charset="-127"/>
            </a:endParaRPr>
          </a:p>
          <a:p>
            <a:pPr marL="180975" indent="-180975">
              <a:lnSpc>
                <a:spcPct val="120000"/>
              </a:lnSpc>
              <a:buClr>
                <a:srgbClr val="1668C1"/>
              </a:buClr>
              <a:buFont typeface="Arial" panose="020B0604020202020204" pitchFamily="34" charset="0"/>
              <a:buChar char="•"/>
            </a:pPr>
            <a:r>
              <a:rPr lang="en-US" altLang="ko-KR" sz="900" dirty="0" smtClean="0">
                <a:latin typeface="+mn-ea"/>
                <a:cs typeface="Pretendard Variable Medium" panose="02000003000000020004" pitchFamily="2" charset="-127"/>
              </a:rPr>
              <a:t>Exabyte </a:t>
            </a:r>
            <a:r>
              <a:rPr lang="ko-KR" altLang="en-US" sz="900" dirty="0">
                <a:latin typeface="+mn-ea"/>
                <a:cs typeface="Pretendard Variable Medium" panose="02000003000000020004" pitchFamily="2" charset="-127"/>
              </a:rPr>
              <a:t>수준의 </a:t>
            </a:r>
            <a:r>
              <a:rPr lang="ko-KR" altLang="en-US" sz="900" dirty="0" err="1">
                <a:latin typeface="+mn-ea"/>
                <a:cs typeface="Pretendard Variable Medium" panose="02000003000000020004" pitchFamily="2" charset="-127"/>
              </a:rPr>
              <a:t>확장성</a:t>
            </a:r>
            <a:r>
              <a:rPr lang="ko-KR" altLang="en-US" sz="900" dirty="0">
                <a:latin typeface="+mn-ea"/>
                <a:cs typeface="Pretendard Variable Medium" panose="02000003000000020004" pitchFamily="2" charset="-127"/>
              </a:rPr>
              <a:t> </a:t>
            </a:r>
            <a:r>
              <a:rPr lang="ko-KR" altLang="en-US" sz="900" dirty="0" smtClean="0">
                <a:latin typeface="+mn-ea"/>
                <a:cs typeface="Pretendard Variable Medium" panose="02000003000000020004" pitchFamily="2" charset="-127"/>
              </a:rPr>
              <a:t>제공</a:t>
            </a:r>
            <a:endParaRPr lang="en-US" altLang="ko-KR" sz="900" dirty="0">
              <a:latin typeface="+mn-ea"/>
              <a:cs typeface="Pretendard Variable Medium" panose="02000003000000020004" pitchFamily="2" charset="-127"/>
            </a:endParaRPr>
          </a:p>
        </p:txBody>
      </p:sp>
      <p:sp>
        <p:nvSpPr>
          <p:cNvPr id="130" name="object 10"/>
          <p:cNvSpPr txBox="1"/>
          <p:nvPr/>
        </p:nvSpPr>
        <p:spPr>
          <a:xfrm>
            <a:off x="10886" y="8038989"/>
            <a:ext cx="2808000" cy="1790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+mn-ea"/>
                <a:cs typeface="Pretendard Variable Medium" panose="02000003000000020004" pitchFamily="2" charset="-127"/>
              </a:rPr>
              <a:t>특정 </a:t>
            </a:r>
            <a:r>
              <a:rPr lang="ko-KR" altLang="en-US" sz="900" dirty="0">
                <a:latin typeface="+mn-ea"/>
                <a:cs typeface="Pretendard Variable Medium" panose="02000003000000020004" pitchFamily="2" charset="-127"/>
              </a:rPr>
              <a:t>노드에 대한 종속성이 없는 </a:t>
            </a:r>
            <a:r>
              <a:rPr lang="ko-KR" altLang="en-US" sz="900" spc="-70" dirty="0">
                <a:latin typeface="+mn-ea"/>
                <a:cs typeface="맑은 고딕"/>
              </a:rPr>
              <a:t>분산 쿼리 수행</a:t>
            </a:r>
            <a:endParaRPr lang="en-US" altLang="ko-KR" sz="900" spc="-70" dirty="0">
              <a:latin typeface="+mn-ea"/>
              <a:cs typeface="맑은 고딕"/>
            </a:endParaRPr>
          </a:p>
        </p:txBody>
      </p:sp>
      <p:grpSp>
        <p:nvGrpSpPr>
          <p:cNvPr id="131" name="Group 1"/>
          <p:cNvGrpSpPr/>
          <p:nvPr/>
        </p:nvGrpSpPr>
        <p:grpSpPr>
          <a:xfrm rot="18900000">
            <a:off x="894295" y="6758481"/>
            <a:ext cx="989810" cy="989810"/>
            <a:chOff x="7135913" y="1248230"/>
            <a:chExt cx="1851539" cy="1832402"/>
          </a:xfrm>
        </p:grpSpPr>
        <p:grpSp>
          <p:nvGrpSpPr>
            <p:cNvPr id="132" name="Group 107"/>
            <p:cNvGrpSpPr>
              <a:grpSpLocks noChangeAspect="1"/>
            </p:cNvGrpSpPr>
            <p:nvPr/>
          </p:nvGrpSpPr>
          <p:grpSpPr>
            <a:xfrm>
              <a:off x="7579370" y="1782286"/>
              <a:ext cx="1408082" cy="1298346"/>
              <a:chOff x="1392805" y="8552255"/>
              <a:chExt cx="285314" cy="263087"/>
            </a:xfrm>
            <a:solidFill>
              <a:srgbClr val="0078EF"/>
            </a:solidFill>
          </p:grpSpPr>
          <p:sp>
            <p:nvSpPr>
              <p:cNvPr id="140" name="Freeform 119"/>
              <p:cNvSpPr>
                <a:spLocks noChangeArrowheads="1"/>
              </p:cNvSpPr>
              <p:nvPr/>
            </p:nvSpPr>
            <p:spPr bwMode="auto">
              <a:xfrm>
                <a:off x="1392805" y="8643039"/>
                <a:ext cx="83370" cy="83372"/>
              </a:xfrm>
              <a:custGeom>
                <a:avLst/>
                <a:gdLst>
                  <a:gd name="T0" fmla="*/ 100 w 200"/>
                  <a:gd name="T1" fmla="*/ 199 h 200"/>
                  <a:gd name="T2" fmla="*/ 100 w 200"/>
                  <a:gd name="T3" fmla="*/ 199 h 200"/>
                  <a:gd name="T4" fmla="*/ 0 w 200"/>
                  <a:gd name="T5" fmla="*/ 100 h 200"/>
                  <a:gd name="T6" fmla="*/ 100 w 200"/>
                  <a:gd name="T7" fmla="*/ 0 h 200"/>
                  <a:gd name="T8" fmla="*/ 199 w 200"/>
                  <a:gd name="T9" fmla="*/ 100 h 200"/>
                  <a:gd name="T10" fmla="*/ 100 w 200"/>
                  <a:gd name="T11" fmla="*/ 199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00" h="200">
                    <a:moveTo>
                      <a:pt x="100" y="199"/>
                    </a:moveTo>
                    <a:lnTo>
                      <a:pt x="100" y="199"/>
                    </a:lnTo>
                    <a:cubicBezTo>
                      <a:pt x="45" y="199"/>
                      <a:pt x="0" y="154"/>
                      <a:pt x="0" y="100"/>
                    </a:cubicBezTo>
                    <a:cubicBezTo>
                      <a:pt x="0" y="45"/>
                      <a:pt x="45" y="0"/>
                      <a:pt x="100" y="0"/>
                    </a:cubicBezTo>
                    <a:cubicBezTo>
                      <a:pt x="154" y="0"/>
                      <a:pt x="199" y="45"/>
                      <a:pt x="199" y="100"/>
                    </a:cubicBezTo>
                    <a:cubicBezTo>
                      <a:pt x="199" y="154"/>
                      <a:pt x="154" y="199"/>
                      <a:pt x="100" y="199"/>
                    </a:cubicBezTo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/>
              </a:p>
            </p:txBody>
          </p:sp>
          <p:sp>
            <p:nvSpPr>
              <p:cNvPr id="141" name="Freeform 120"/>
              <p:cNvSpPr>
                <a:spLocks noChangeArrowheads="1"/>
              </p:cNvSpPr>
              <p:nvPr/>
            </p:nvSpPr>
            <p:spPr bwMode="auto">
              <a:xfrm>
                <a:off x="1624391" y="8657860"/>
                <a:ext cx="53728" cy="55580"/>
              </a:xfrm>
              <a:custGeom>
                <a:avLst/>
                <a:gdLst>
                  <a:gd name="T0" fmla="*/ 129 w 130"/>
                  <a:gd name="T1" fmla="*/ 65 h 131"/>
                  <a:gd name="T2" fmla="*/ 129 w 130"/>
                  <a:gd name="T3" fmla="*/ 65 h 131"/>
                  <a:gd name="T4" fmla="*/ 64 w 130"/>
                  <a:gd name="T5" fmla="*/ 130 h 131"/>
                  <a:gd name="T6" fmla="*/ 0 w 130"/>
                  <a:gd name="T7" fmla="*/ 65 h 131"/>
                  <a:gd name="T8" fmla="*/ 64 w 130"/>
                  <a:gd name="T9" fmla="*/ 0 h 131"/>
                  <a:gd name="T10" fmla="*/ 129 w 130"/>
                  <a:gd name="T11" fmla="*/ 65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31">
                    <a:moveTo>
                      <a:pt x="129" y="65"/>
                    </a:moveTo>
                    <a:lnTo>
                      <a:pt x="129" y="65"/>
                    </a:lnTo>
                    <a:cubicBezTo>
                      <a:pt x="129" y="100"/>
                      <a:pt x="100" y="130"/>
                      <a:pt x="64" y="130"/>
                    </a:cubicBezTo>
                    <a:cubicBezTo>
                      <a:pt x="29" y="130"/>
                      <a:pt x="0" y="100"/>
                      <a:pt x="0" y="65"/>
                    </a:cubicBezTo>
                    <a:cubicBezTo>
                      <a:pt x="0" y="30"/>
                      <a:pt x="29" y="0"/>
                      <a:pt x="64" y="0"/>
                    </a:cubicBezTo>
                    <a:cubicBezTo>
                      <a:pt x="100" y="0"/>
                      <a:pt x="129" y="30"/>
                      <a:pt x="129" y="65"/>
                    </a:cubicBezTo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/>
              </a:p>
            </p:txBody>
          </p:sp>
          <p:sp>
            <p:nvSpPr>
              <p:cNvPr id="142" name="Freeform 121"/>
              <p:cNvSpPr>
                <a:spLocks noChangeArrowheads="1"/>
              </p:cNvSpPr>
              <p:nvPr/>
            </p:nvSpPr>
            <p:spPr bwMode="auto">
              <a:xfrm>
                <a:off x="1596601" y="8552255"/>
                <a:ext cx="53727" cy="55580"/>
              </a:xfrm>
              <a:custGeom>
                <a:avLst/>
                <a:gdLst>
                  <a:gd name="T0" fmla="*/ 129 w 130"/>
                  <a:gd name="T1" fmla="*/ 64 h 131"/>
                  <a:gd name="T2" fmla="*/ 129 w 130"/>
                  <a:gd name="T3" fmla="*/ 64 h 131"/>
                  <a:gd name="T4" fmla="*/ 65 w 130"/>
                  <a:gd name="T5" fmla="*/ 130 h 131"/>
                  <a:gd name="T6" fmla="*/ 0 w 130"/>
                  <a:gd name="T7" fmla="*/ 64 h 131"/>
                  <a:gd name="T8" fmla="*/ 65 w 130"/>
                  <a:gd name="T9" fmla="*/ 0 h 131"/>
                  <a:gd name="T10" fmla="*/ 129 w 130"/>
                  <a:gd name="T11" fmla="*/ 6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31">
                    <a:moveTo>
                      <a:pt x="129" y="64"/>
                    </a:moveTo>
                    <a:lnTo>
                      <a:pt x="129" y="64"/>
                    </a:lnTo>
                    <a:cubicBezTo>
                      <a:pt x="129" y="101"/>
                      <a:pt x="100" y="130"/>
                      <a:pt x="65" y="130"/>
                    </a:cubicBezTo>
                    <a:cubicBezTo>
                      <a:pt x="28" y="130"/>
                      <a:pt x="0" y="101"/>
                      <a:pt x="0" y="64"/>
                    </a:cubicBezTo>
                    <a:cubicBezTo>
                      <a:pt x="0" y="29"/>
                      <a:pt x="28" y="0"/>
                      <a:pt x="65" y="0"/>
                    </a:cubicBezTo>
                    <a:cubicBezTo>
                      <a:pt x="100" y="0"/>
                      <a:pt x="129" y="29"/>
                      <a:pt x="129" y="64"/>
                    </a:cubicBezTo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/>
              </a:p>
            </p:txBody>
          </p:sp>
          <p:sp>
            <p:nvSpPr>
              <p:cNvPr id="143" name="Freeform 122"/>
              <p:cNvSpPr>
                <a:spLocks noChangeArrowheads="1"/>
              </p:cNvSpPr>
              <p:nvPr/>
            </p:nvSpPr>
            <p:spPr bwMode="auto">
              <a:xfrm>
                <a:off x="1596601" y="8761613"/>
                <a:ext cx="53727" cy="53729"/>
              </a:xfrm>
              <a:custGeom>
                <a:avLst/>
                <a:gdLst>
                  <a:gd name="T0" fmla="*/ 129 w 130"/>
                  <a:gd name="T1" fmla="*/ 65 h 130"/>
                  <a:gd name="T2" fmla="*/ 129 w 130"/>
                  <a:gd name="T3" fmla="*/ 65 h 130"/>
                  <a:gd name="T4" fmla="*/ 65 w 130"/>
                  <a:gd name="T5" fmla="*/ 129 h 130"/>
                  <a:gd name="T6" fmla="*/ 0 w 130"/>
                  <a:gd name="T7" fmla="*/ 65 h 130"/>
                  <a:gd name="T8" fmla="*/ 65 w 130"/>
                  <a:gd name="T9" fmla="*/ 0 h 130"/>
                  <a:gd name="T10" fmla="*/ 129 w 130"/>
                  <a:gd name="T11" fmla="*/ 65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30">
                    <a:moveTo>
                      <a:pt x="129" y="65"/>
                    </a:moveTo>
                    <a:lnTo>
                      <a:pt x="129" y="65"/>
                    </a:lnTo>
                    <a:cubicBezTo>
                      <a:pt x="129" y="100"/>
                      <a:pt x="100" y="129"/>
                      <a:pt x="65" y="129"/>
                    </a:cubicBezTo>
                    <a:cubicBezTo>
                      <a:pt x="28" y="129"/>
                      <a:pt x="0" y="100"/>
                      <a:pt x="0" y="65"/>
                    </a:cubicBezTo>
                    <a:cubicBezTo>
                      <a:pt x="0" y="29"/>
                      <a:pt x="28" y="0"/>
                      <a:pt x="65" y="0"/>
                    </a:cubicBezTo>
                    <a:cubicBezTo>
                      <a:pt x="100" y="0"/>
                      <a:pt x="129" y="29"/>
                      <a:pt x="129" y="65"/>
                    </a:cubicBezTo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/>
              </a:p>
            </p:txBody>
          </p:sp>
          <p:sp>
            <p:nvSpPr>
              <p:cNvPr id="144" name="Freeform 123"/>
              <p:cNvSpPr>
                <a:spLocks noChangeArrowheads="1"/>
              </p:cNvSpPr>
              <p:nvPr/>
            </p:nvSpPr>
            <p:spPr bwMode="auto">
              <a:xfrm>
                <a:off x="1483586" y="8706037"/>
                <a:ext cx="101898" cy="62992"/>
              </a:xfrm>
              <a:custGeom>
                <a:avLst/>
                <a:gdLst>
                  <a:gd name="T0" fmla="*/ 228 w 242"/>
                  <a:gd name="T1" fmla="*/ 150 h 151"/>
                  <a:gd name="T2" fmla="*/ 228 w 242"/>
                  <a:gd name="T3" fmla="*/ 150 h 151"/>
                  <a:gd name="T4" fmla="*/ 222 w 242"/>
                  <a:gd name="T5" fmla="*/ 149 h 151"/>
                  <a:gd name="T6" fmla="*/ 191 w 242"/>
                  <a:gd name="T7" fmla="*/ 131 h 151"/>
                  <a:gd name="T8" fmla="*/ 187 w 242"/>
                  <a:gd name="T9" fmla="*/ 114 h 151"/>
                  <a:gd name="T10" fmla="*/ 203 w 242"/>
                  <a:gd name="T11" fmla="*/ 110 h 151"/>
                  <a:gd name="T12" fmla="*/ 234 w 242"/>
                  <a:gd name="T13" fmla="*/ 129 h 151"/>
                  <a:gd name="T14" fmla="*/ 238 w 242"/>
                  <a:gd name="T15" fmla="*/ 145 h 151"/>
                  <a:gd name="T16" fmla="*/ 228 w 242"/>
                  <a:gd name="T17" fmla="*/ 150 h 151"/>
                  <a:gd name="T18" fmla="*/ 136 w 242"/>
                  <a:gd name="T19" fmla="*/ 97 h 151"/>
                  <a:gd name="T20" fmla="*/ 136 w 242"/>
                  <a:gd name="T21" fmla="*/ 97 h 151"/>
                  <a:gd name="T22" fmla="*/ 130 w 242"/>
                  <a:gd name="T23" fmla="*/ 95 h 151"/>
                  <a:gd name="T24" fmla="*/ 99 w 242"/>
                  <a:gd name="T25" fmla="*/ 77 h 151"/>
                  <a:gd name="T26" fmla="*/ 94 w 242"/>
                  <a:gd name="T27" fmla="*/ 61 h 151"/>
                  <a:gd name="T28" fmla="*/ 111 w 242"/>
                  <a:gd name="T29" fmla="*/ 57 h 151"/>
                  <a:gd name="T30" fmla="*/ 141 w 242"/>
                  <a:gd name="T31" fmla="*/ 75 h 151"/>
                  <a:gd name="T32" fmla="*/ 145 w 242"/>
                  <a:gd name="T33" fmla="*/ 91 h 151"/>
                  <a:gd name="T34" fmla="*/ 136 w 242"/>
                  <a:gd name="T35" fmla="*/ 97 h 151"/>
                  <a:gd name="T36" fmla="*/ 43 w 242"/>
                  <a:gd name="T37" fmla="*/ 43 h 151"/>
                  <a:gd name="T38" fmla="*/ 43 w 242"/>
                  <a:gd name="T39" fmla="*/ 43 h 151"/>
                  <a:gd name="T40" fmla="*/ 37 w 242"/>
                  <a:gd name="T41" fmla="*/ 42 h 151"/>
                  <a:gd name="T42" fmla="*/ 7 w 242"/>
                  <a:gd name="T43" fmla="*/ 23 h 151"/>
                  <a:gd name="T44" fmla="*/ 3 w 242"/>
                  <a:gd name="T45" fmla="*/ 7 h 151"/>
                  <a:gd name="T46" fmla="*/ 18 w 242"/>
                  <a:gd name="T47" fmla="*/ 3 h 151"/>
                  <a:gd name="T48" fmla="*/ 50 w 242"/>
                  <a:gd name="T49" fmla="*/ 21 h 151"/>
                  <a:gd name="T50" fmla="*/ 54 w 242"/>
                  <a:gd name="T51" fmla="*/ 37 h 151"/>
                  <a:gd name="T52" fmla="*/ 43 w 242"/>
                  <a:gd name="T53" fmla="*/ 43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2" h="151">
                    <a:moveTo>
                      <a:pt x="228" y="150"/>
                    </a:moveTo>
                    <a:lnTo>
                      <a:pt x="228" y="150"/>
                    </a:lnTo>
                    <a:cubicBezTo>
                      <a:pt x="226" y="150"/>
                      <a:pt x="223" y="150"/>
                      <a:pt x="222" y="149"/>
                    </a:cubicBezTo>
                    <a:cubicBezTo>
                      <a:pt x="191" y="131"/>
                      <a:pt x="191" y="131"/>
                      <a:pt x="191" y="131"/>
                    </a:cubicBezTo>
                    <a:cubicBezTo>
                      <a:pt x="186" y="128"/>
                      <a:pt x="184" y="121"/>
                      <a:pt x="187" y="114"/>
                    </a:cubicBezTo>
                    <a:cubicBezTo>
                      <a:pt x="190" y="109"/>
                      <a:pt x="197" y="107"/>
                      <a:pt x="203" y="110"/>
                    </a:cubicBezTo>
                    <a:cubicBezTo>
                      <a:pt x="234" y="129"/>
                      <a:pt x="234" y="129"/>
                      <a:pt x="234" y="129"/>
                    </a:cubicBezTo>
                    <a:cubicBezTo>
                      <a:pt x="239" y="132"/>
                      <a:pt x="241" y="139"/>
                      <a:pt x="238" y="145"/>
                    </a:cubicBezTo>
                    <a:cubicBezTo>
                      <a:pt x="236" y="148"/>
                      <a:pt x="232" y="150"/>
                      <a:pt x="228" y="150"/>
                    </a:cubicBezTo>
                    <a:close/>
                    <a:moveTo>
                      <a:pt x="136" y="97"/>
                    </a:moveTo>
                    <a:lnTo>
                      <a:pt x="136" y="97"/>
                    </a:lnTo>
                    <a:cubicBezTo>
                      <a:pt x="134" y="97"/>
                      <a:pt x="132" y="96"/>
                      <a:pt x="130" y="95"/>
                    </a:cubicBezTo>
                    <a:cubicBezTo>
                      <a:pt x="99" y="77"/>
                      <a:pt x="99" y="77"/>
                      <a:pt x="99" y="77"/>
                    </a:cubicBezTo>
                    <a:cubicBezTo>
                      <a:pt x="93" y="74"/>
                      <a:pt x="91" y="67"/>
                      <a:pt x="94" y="61"/>
                    </a:cubicBezTo>
                    <a:cubicBezTo>
                      <a:pt x="97" y="55"/>
                      <a:pt x="105" y="54"/>
                      <a:pt x="111" y="57"/>
                    </a:cubicBezTo>
                    <a:cubicBezTo>
                      <a:pt x="141" y="75"/>
                      <a:pt x="141" y="75"/>
                      <a:pt x="141" y="75"/>
                    </a:cubicBezTo>
                    <a:cubicBezTo>
                      <a:pt x="147" y="78"/>
                      <a:pt x="149" y="85"/>
                      <a:pt x="145" y="91"/>
                    </a:cubicBezTo>
                    <a:cubicBezTo>
                      <a:pt x="143" y="95"/>
                      <a:pt x="139" y="97"/>
                      <a:pt x="136" y="97"/>
                    </a:cubicBezTo>
                    <a:close/>
                    <a:moveTo>
                      <a:pt x="43" y="43"/>
                    </a:moveTo>
                    <a:lnTo>
                      <a:pt x="43" y="43"/>
                    </a:lnTo>
                    <a:cubicBezTo>
                      <a:pt x="41" y="43"/>
                      <a:pt x="39" y="43"/>
                      <a:pt x="37" y="42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1" y="20"/>
                      <a:pt x="0" y="12"/>
                      <a:pt x="3" y="7"/>
                    </a:cubicBezTo>
                    <a:cubicBezTo>
                      <a:pt x="6" y="2"/>
                      <a:pt x="13" y="0"/>
                      <a:pt x="18" y="3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55" y="24"/>
                      <a:pt x="57" y="31"/>
                      <a:pt x="54" y="37"/>
                    </a:cubicBezTo>
                    <a:cubicBezTo>
                      <a:pt x="52" y="41"/>
                      <a:pt x="48" y="43"/>
                      <a:pt x="43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/>
              </a:p>
            </p:txBody>
          </p:sp>
          <p:sp>
            <p:nvSpPr>
              <p:cNvPr id="145" name="Freeform 124"/>
              <p:cNvSpPr>
                <a:spLocks noChangeArrowheads="1"/>
              </p:cNvSpPr>
              <p:nvPr/>
            </p:nvSpPr>
            <p:spPr bwMode="auto">
              <a:xfrm>
                <a:off x="1485438" y="8598586"/>
                <a:ext cx="103750" cy="61140"/>
              </a:xfrm>
              <a:custGeom>
                <a:avLst/>
                <a:gdLst>
                  <a:gd name="T0" fmla="*/ 13 w 245"/>
                  <a:gd name="T1" fmla="*/ 146 h 147"/>
                  <a:gd name="T2" fmla="*/ 13 w 245"/>
                  <a:gd name="T3" fmla="*/ 146 h 147"/>
                  <a:gd name="T4" fmla="*/ 3 w 245"/>
                  <a:gd name="T5" fmla="*/ 139 h 147"/>
                  <a:gd name="T6" fmla="*/ 7 w 245"/>
                  <a:gd name="T7" fmla="*/ 124 h 147"/>
                  <a:gd name="T8" fmla="*/ 38 w 245"/>
                  <a:gd name="T9" fmla="*/ 107 h 147"/>
                  <a:gd name="T10" fmla="*/ 54 w 245"/>
                  <a:gd name="T11" fmla="*/ 111 h 147"/>
                  <a:gd name="T12" fmla="*/ 50 w 245"/>
                  <a:gd name="T13" fmla="*/ 127 h 147"/>
                  <a:gd name="T14" fmla="*/ 18 w 245"/>
                  <a:gd name="T15" fmla="*/ 145 h 147"/>
                  <a:gd name="T16" fmla="*/ 13 w 245"/>
                  <a:gd name="T17" fmla="*/ 146 h 147"/>
                  <a:gd name="T18" fmla="*/ 106 w 245"/>
                  <a:gd name="T19" fmla="*/ 94 h 147"/>
                  <a:gd name="T20" fmla="*/ 106 w 245"/>
                  <a:gd name="T21" fmla="*/ 94 h 147"/>
                  <a:gd name="T22" fmla="*/ 97 w 245"/>
                  <a:gd name="T23" fmla="*/ 88 h 147"/>
                  <a:gd name="T24" fmla="*/ 101 w 245"/>
                  <a:gd name="T25" fmla="*/ 72 h 147"/>
                  <a:gd name="T26" fmla="*/ 132 w 245"/>
                  <a:gd name="T27" fmla="*/ 55 h 147"/>
                  <a:gd name="T28" fmla="*/ 148 w 245"/>
                  <a:gd name="T29" fmla="*/ 59 h 147"/>
                  <a:gd name="T30" fmla="*/ 143 w 245"/>
                  <a:gd name="T31" fmla="*/ 75 h 147"/>
                  <a:gd name="T32" fmla="*/ 112 w 245"/>
                  <a:gd name="T33" fmla="*/ 93 h 147"/>
                  <a:gd name="T34" fmla="*/ 106 w 245"/>
                  <a:gd name="T35" fmla="*/ 94 h 147"/>
                  <a:gd name="T36" fmla="*/ 200 w 245"/>
                  <a:gd name="T37" fmla="*/ 43 h 147"/>
                  <a:gd name="T38" fmla="*/ 200 w 245"/>
                  <a:gd name="T39" fmla="*/ 43 h 147"/>
                  <a:gd name="T40" fmla="*/ 189 w 245"/>
                  <a:gd name="T41" fmla="*/ 36 h 147"/>
                  <a:gd name="T42" fmla="*/ 194 w 245"/>
                  <a:gd name="T43" fmla="*/ 21 h 147"/>
                  <a:gd name="T44" fmla="*/ 226 w 245"/>
                  <a:gd name="T45" fmla="*/ 3 h 147"/>
                  <a:gd name="T46" fmla="*/ 241 w 245"/>
                  <a:gd name="T47" fmla="*/ 8 h 147"/>
                  <a:gd name="T48" fmla="*/ 237 w 245"/>
                  <a:gd name="T49" fmla="*/ 24 h 147"/>
                  <a:gd name="T50" fmla="*/ 206 w 245"/>
                  <a:gd name="T51" fmla="*/ 41 h 147"/>
                  <a:gd name="T52" fmla="*/ 200 w 245"/>
                  <a:gd name="T53" fmla="*/ 43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5" h="147">
                    <a:moveTo>
                      <a:pt x="13" y="146"/>
                    </a:moveTo>
                    <a:lnTo>
                      <a:pt x="13" y="146"/>
                    </a:lnTo>
                    <a:cubicBezTo>
                      <a:pt x="9" y="146"/>
                      <a:pt x="5" y="144"/>
                      <a:pt x="3" y="139"/>
                    </a:cubicBezTo>
                    <a:cubicBezTo>
                      <a:pt x="0" y="134"/>
                      <a:pt x="2" y="127"/>
                      <a:pt x="7" y="124"/>
                    </a:cubicBezTo>
                    <a:cubicBezTo>
                      <a:pt x="38" y="107"/>
                      <a:pt x="38" y="107"/>
                      <a:pt x="38" y="107"/>
                    </a:cubicBezTo>
                    <a:cubicBezTo>
                      <a:pt x="45" y="104"/>
                      <a:pt x="51" y="106"/>
                      <a:pt x="54" y="111"/>
                    </a:cubicBezTo>
                    <a:cubicBezTo>
                      <a:pt x="57" y="117"/>
                      <a:pt x="55" y="124"/>
                      <a:pt x="50" y="127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6" y="146"/>
                      <a:pt x="14" y="146"/>
                      <a:pt x="13" y="146"/>
                    </a:cubicBezTo>
                    <a:close/>
                    <a:moveTo>
                      <a:pt x="106" y="94"/>
                    </a:moveTo>
                    <a:lnTo>
                      <a:pt x="106" y="94"/>
                    </a:lnTo>
                    <a:cubicBezTo>
                      <a:pt x="102" y="94"/>
                      <a:pt x="99" y="92"/>
                      <a:pt x="97" y="88"/>
                    </a:cubicBezTo>
                    <a:cubicBezTo>
                      <a:pt x="93" y="82"/>
                      <a:pt x="96" y="75"/>
                      <a:pt x="101" y="72"/>
                    </a:cubicBezTo>
                    <a:cubicBezTo>
                      <a:pt x="132" y="55"/>
                      <a:pt x="132" y="55"/>
                      <a:pt x="132" y="55"/>
                    </a:cubicBezTo>
                    <a:cubicBezTo>
                      <a:pt x="137" y="52"/>
                      <a:pt x="144" y="54"/>
                      <a:pt x="148" y="59"/>
                    </a:cubicBezTo>
                    <a:cubicBezTo>
                      <a:pt x="151" y="66"/>
                      <a:pt x="149" y="72"/>
                      <a:pt x="143" y="75"/>
                    </a:cubicBezTo>
                    <a:cubicBezTo>
                      <a:pt x="112" y="93"/>
                      <a:pt x="112" y="93"/>
                      <a:pt x="112" y="93"/>
                    </a:cubicBezTo>
                    <a:cubicBezTo>
                      <a:pt x="110" y="94"/>
                      <a:pt x="108" y="94"/>
                      <a:pt x="106" y="94"/>
                    </a:cubicBezTo>
                    <a:close/>
                    <a:moveTo>
                      <a:pt x="200" y="43"/>
                    </a:moveTo>
                    <a:lnTo>
                      <a:pt x="200" y="43"/>
                    </a:lnTo>
                    <a:cubicBezTo>
                      <a:pt x="195" y="43"/>
                      <a:pt x="191" y="41"/>
                      <a:pt x="189" y="36"/>
                    </a:cubicBezTo>
                    <a:cubicBezTo>
                      <a:pt x="186" y="31"/>
                      <a:pt x="188" y="24"/>
                      <a:pt x="194" y="21"/>
                    </a:cubicBezTo>
                    <a:cubicBezTo>
                      <a:pt x="226" y="3"/>
                      <a:pt x="226" y="3"/>
                      <a:pt x="226" y="3"/>
                    </a:cubicBezTo>
                    <a:cubicBezTo>
                      <a:pt x="231" y="0"/>
                      <a:pt x="238" y="2"/>
                      <a:pt x="241" y="8"/>
                    </a:cubicBezTo>
                    <a:cubicBezTo>
                      <a:pt x="244" y="14"/>
                      <a:pt x="242" y="21"/>
                      <a:pt x="237" y="24"/>
                    </a:cubicBezTo>
                    <a:cubicBezTo>
                      <a:pt x="206" y="41"/>
                      <a:pt x="206" y="41"/>
                      <a:pt x="206" y="41"/>
                    </a:cubicBezTo>
                    <a:cubicBezTo>
                      <a:pt x="204" y="42"/>
                      <a:pt x="202" y="43"/>
                      <a:pt x="200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/>
              </a:p>
            </p:txBody>
          </p:sp>
          <p:sp>
            <p:nvSpPr>
              <p:cNvPr id="146" name="Freeform 125"/>
              <p:cNvSpPr>
                <a:spLocks noChangeArrowheads="1"/>
              </p:cNvSpPr>
              <p:nvPr/>
            </p:nvSpPr>
            <p:spPr bwMode="auto">
              <a:xfrm>
                <a:off x="1492848" y="8678154"/>
                <a:ext cx="114866" cy="11116"/>
              </a:xfrm>
              <a:custGeom>
                <a:avLst/>
                <a:gdLst>
                  <a:gd name="T0" fmla="*/ 262 w 274"/>
                  <a:gd name="T1" fmla="*/ 24 h 25"/>
                  <a:gd name="T2" fmla="*/ 262 w 274"/>
                  <a:gd name="T3" fmla="*/ 24 h 25"/>
                  <a:gd name="T4" fmla="*/ 225 w 274"/>
                  <a:gd name="T5" fmla="*/ 24 h 25"/>
                  <a:gd name="T6" fmla="*/ 214 w 274"/>
                  <a:gd name="T7" fmla="*/ 13 h 25"/>
                  <a:gd name="T8" fmla="*/ 225 w 274"/>
                  <a:gd name="T9" fmla="*/ 0 h 25"/>
                  <a:gd name="T10" fmla="*/ 262 w 274"/>
                  <a:gd name="T11" fmla="*/ 0 h 25"/>
                  <a:gd name="T12" fmla="*/ 273 w 274"/>
                  <a:gd name="T13" fmla="*/ 13 h 25"/>
                  <a:gd name="T14" fmla="*/ 262 w 274"/>
                  <a:gd name="T15" fmla="*/ 24 h 25"/>
                  <a:gd name="T16" fmla="*/ 154 w 274"/>
                  <a:gd name="T17" fmla="*/ 24 h 25"/>
                  <a:gd name="T18" fmla="*/ 154 w 274"/>
                  <a:gd name="T19" fmla="*/ 24 h 25"/>
                  <a:gd name="T20" fmla="*/ 119 w 274"/>
                  <a:gd name="T21" fmla="*/ 24 h 25"/>
                  <a:gd name="T22" fmla="*/ 108 w 274"/>
                  <a:gd name="T23" fmla="*/ 13 h 25"/>
                  <a:gd name="T24" fmla="*/ 119 w 274"/>
                  <a:gd name="T25" fmla="*/ 0 h 25"/>
                  <a:gd name="T26" fmla="*/ 154 w 274"/>
                  <a:gd name="T27" fmla="*/ 0 h 25"/>
                  <a:gd name="T28" fmla="*/ 166 w 274"/>
                  <a:gd name="T29" fmla="*/ 13 h 25"/>
                  <a:gd name="T30" fmla="*/ 154 w 274"/>
                  <a:gd name="T31" fmla="*/ 24 h 25"/>
                  <a:gd name="T32" fmla="*/ 47 w 274"/>
                  <a:gd name="T33" fmla="*/ 24 h 25"/>
                  <a:gd name="T34" fmla="*/ 47 w 274"/>
                  <a:gd name="T35" fmla="*/ 24 h 25"/>
                  <a:gd name="T36" fmla="*/ 12 w 274"/>
                  <a:gd name="T37" fmla="*/ 24 h 25"/>
                  <a:gd name="T38" fmla="*/ 0 w 274"/>
                  <a:gd name="T39" fmla="*/ 13 h 25"/>
                  <a:gd name="T40" fmla="*/ 12 w 274"/>
                  <a:gd name="T41" fmla="*/ 0 h 25"/>
                  <a:gd name="T42" fmla="*/ 47 w 274"/>
                  <a:gd name="T43" fmla="*/ 0 h 25"/>
                  <a:gd name="T44" fmla="*/ 60 w 274"/>
                  <a:gd name="T45" fmla="*/ 13 h 25"/>
                  <a:gd name="T46" fmla="*/ 47 w 274"/>
                  <a:gd name="T47" fmla="*/ 2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74" h="25">
                    <a:moveTo>
                      <a:pt x="262" y="24"/>
                    </a:moveTo>
                    <a:lnTo>
                      <a:pt x="262" y="24"/>
                    </a:lnTo>
                    <a:cubicBezTo>
                      <a:pt x="225" y="24"/>
                      <a:pt x="225" y="24"/>
                      <a:pt x="225" y="24"/>
                    </a:cubicBezTo>
                    <a:cubicBezTo>
                      <a:pt x="219" y="24"/>
                      <a:pt x="214" y="19"/>
                      <a:pt x="214" y="13"/>
                    </a:cubicBezTo>
                    <a:cubicBezTo>
                      <a:pt x="214" y="7"/>
                      <a:pt x="219" y="0"/>
                      <a:pt x="225" y="0"/>
                    </a:cubicBezTo>
                    <a:cubicBezTo>
                      <a:pt x="262" y="0"/>
                      <a:pt x="262" y="0"/>
                      <a:pt x="262" y="0"/>
                    </a:cubicBezTo>
                    <a:cubicBezTo>
                      <a:pt x="268" y="0"/>
                      <a:pt x="273" y="7"/>
                      <a:pt x="273" y="13"/>
                    </a:cubicBezTo>
                    <a:cubicBezTo>
                      <a:pt x="273" y="19"/>
                      <a:pt x="268" y="24"/>
                      <a:pt x="262" y="24"/>
                    </a:cubicBezTo>
                    <a:close/>
                    <a:moveTo>
                      <a:pt x="154" y="24"/>
                    </a:moveTo>
                    <a:lnTo>
                      <a:pt x="154" y="24"/>
                    </a:lnTo>
                    <a:cubicBezTo>
                      <a:pt x="119" y="24"/>
                      <a:pt x="119" y="24"/>
                      <a:pt x="119" y="24"/>
                    </a:cubicBezTo>
                    <a:cubicBezTo>
                      <a:pt x="113" y="24"/>
                      <a:pt x="108" y="19"/>
                      <a:pt x="108" y="13"/>
                    </a:cubicBezTo>
                    <a:cubicBezTo>
                      <a:pt x="108" y="7"/>
                      <a:pt x="113" y="0"/>
                      <a:pt x="119" y="0"/>
                    </a:cubicBezTo>
                    <a:cubicBezTo>
                      <a:pt x="154" y="0"/>
                      <a:pt x="154" y="0"/>
                      <a:pt x="154" y="0"/>
                    </a:cubicBezTo>
                    <a:cubicBezTo>
                      <a:pt x="161" y="0"/>
                      <a:pt x="166" y="7"/>
                      <a:pt x="166" y="13"/>
                    </a:cubicBezTo>
                    <a:cubicBezTo>
                      <a:pt x="166" y="19"/>
                      <a:pt x="161" y="24"/>
                      <a:pt x="154" y="24"/>
                    </a:cubicBezTo>
                    <a:close/>
                    <a:moveTo>
                      <a:pt x="47" y="24"/>
                    </a:moveTo>
                    <a:lnTo>
                      <a:pt x="47" y="24"/>
                    </a:lnTo>
                    <a:cubicBezTo>
                      <a:pt x="12" y="24"/>
                      <a:pt x="12" y="24"/>
                      <a:pt x="12" y="24"/>
                    </a:cubicBezTo>
                    <a:cubicBezTo>
                      <a:pt x="6" y="24"/>
                      <a:pt x="0" y="19"/>
                      <a:pt x="0" y="13"/>
                    </a:cubicBezTo>
                    <a:cubicBezTo>
                      <a:pt x="0" y="7"/>
                      <a:pt x="6" y="0"/>
                      <a:pt x="12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54" y="0"/>
                      <a:pt x="60" y="7"/>
                      <a:pt x="60" y="13"/>
                    </a:cubicBezTo>
                    <a:cubicBezTo>
                      <a:pt x="60" y="19"/>
                      <a:pt x="54" y="24"/>
                      <a:pt x="47" y="24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/>
              </a:p>
            </p:txBody>
          </p:sp>
        </p:grpSp>
        <p:grpSp>
          <p:nvGrpSpPr>
            <p:cNvPr id="133" name="Group 115"/>
            <p:cNvGrpSpPr>
              <a:grpSpLocks noChangeAspect="1"/>
            </p:cNvGrpSpPr>
            <p:nvPr/>
          </p:nvGrpSpPr>
          <p:grpSpPr>
            <a:xfrm rot="16200000">
              <a:off x="7305065" y="1079078"/>
              <a:ext cx="960043" cy="1298347"/>
              <a:chOff x="1483585" y="8552255"/>
              <a:chExt cx="194530" cy="263087"/>
            </a:xfrm>
            <a:solidFill>
              <a:srgbClr val="0078EF"/>
            </a:solidFill>
          </p:grpSpPr>
          <p:sp>
            <p:nvSpPr>
              <p:cNvPr id="134" name="Freeform 120"/>
              <p:cNvSpPr>
                <a:spLocks noChangeArrowheads="1"/>
              </p:cNvSpPr>
              <p:nvPr/>
            </p:nvSpPr>
            <p:spPr bwMode="auto">
              <a:xfrm>
                <a:off x="1624387" y="8657860"/>
                <a:ext cx="53728" cy="55580"/>
              </a:xfrm>
              <a:custGeom>
                <a:avLst/>
                <a:gdLst>
                  <a:gd name="T0" fmla="*/ 129 w 130"/>
                  <a:gd name="T1" fmla="*/ 65 h 131"/>
                  <a:gd name="T2" fmla="*/ 129 w 130"/>
                  <a:gd name="T3" fmla="*/ 65 h 131"/>
                  <a:gd name="T4" fmla="*/ 64 w 130"/>
                  <a:gd name="T5" fmla="*/ 130 h 131"/>
                  <a:gd name="T6" fmla="*/ 0 w 130"/>
                  <a:gd name="T7" fmla="*/ 65 h 131"/>
                  <a:gd name="T8" fmla="*/ 64 w 130"/>
                  <a:gd name="T9" fmla="*/ 0 h 131"/>
                  <a:gd name="T10" fmla="*/ 129 w 130"/>
                  <a:gd name="T11" fmla="*/ 65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31">
                    <a:moveTo>
                      <a:pt x="129" y="65"/>
                    </a:moveTo>
                    <a:lnTo>
                      <a:pt x="129" y="65"/>
                    </a:lnTo>
                    <a:cubicBezTo>
                      <a:pt x="129" y="100"/>
                      <a:pt x="100" y="130"/>
                      <a:pt x="64" y="130"/>
                    </a:cubicBezTo>
                    <a:cubicBezTo>
                      <a:pt x="29" y="130"/>
                      <a:pt x="0" y="100"/>
                      <a:pt x="0" y="65"/>
                    </a:cubicBezTo>
                    <a:cubicBezTo>
                      <a:pt x="0" y="30"/>
                      <a:pt x="29" y="0"/>
                      <a:pt x="64" y="0"/>
                    </a:cubicBezTo>
                    <a:cubicBezTo>
                      <a:pt x="100" y="0"/>
                      <a:pt x="129" y="30"/>
                      <a:pt x="129" y="65"/>
                    </a:cubicBezTo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/>
              </a:p>
            </p:txBody>
          </p:sp>
          <p:sp>
            <p:nvSpPr>
              <p:cNvPr id="135" name="Freeform 121"/>
              <p:cNvSpPr>
                <a:spLocks noChangeArrowheads="1"/>
              </p:cNvSpPr>
              <p:nvPr/>
            </p:nvSpPr>
            <p:spPr bwMode="auto">
              <a:xfrm>
                <a:off x="1596598" y="8552255"/>
                <a:ext cx="53727" cy="55580"/>
              </a:xfrm>
              <a:custGeom>
                <a:avLst/>
                <a:gdLst>
                  <a:gd name="T0" fmla="*/ 129 w 130"/>
                  <a:gd name="T1" fmla="*/ 64 h 131"/>
                  <a:gd name="T2" fmla="*/ 129 w 130"/>
                  <a:gd name="T3" fmla="*/ 64 h 131"/>
                  <a:gd name="T4" fmla="*/ 65 w 130"/>
                  <a:gd name="T5" fmla="*/ 130 h 131"/>
                  <a:gd name="T6" fmla="*/ 0 w 130"/>
                  <a:gd name="T7" fmla="*/ 64 h 131"/>
                  <a:gd name="T8" fmla="*/ 65 w 130"/>
                  <a:gd name="T9" fmla="*/ 0 h 131"/>
                  <a:gd name="T10" fmla="*/ 129 w 130"/>
                  <a:gd name="T11" fmla="*/ 6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31">
                    <a:moveTo>
                      <a:pt x="129" y="64"/>
                    </a:moveTo>
                    <a:lnTo>
                      <a:pt x="129" y="64"/>
                    </a:lnTo>
                    <a:cubicBezTo>
                      <a:pt x="129" y="101"/>
                      <a:pt x="100" y="130"/>
                      <a:pt x="65" y="130"/>
                    </a:cubicBezTo>
                    <a:cubicBezTo>
                      <a:pt x="28" y="130"/>
                      <a:pt x="0" y="101"/>
                      <a:pt x="0" y="64"/>
                    </a:cubicBezTo>
                    <a:cubicBezTo>
                      <a:pt x="0" y="29"/>
                      <a:pt x="28" y="0"/>
                      <a:pt x="65" y="0"/>
                    </a:cubicBezTo>
                    <a:cubicBezTo>
                      <a:pt x="100" y="0"/>
                      <a:pt x="129" y="29"/>
                      <a:pt x="129" y="64"/>
                    </a:cubicBezTo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/>
              </a:p>
            </p:txBody>
          </p:sp>
          <p:sp>
            <p:nvSpPr>
              <p:cNvPr id="136" name="Freeform 122"/>
              <p:cNvSpPr>
                <a:spLocks noChangeArrowheads="1"/>
              </p:cNvSpPr>
              <p:nvPr/>
            </p:nvSpPr>
            <p:spPr bwMode="auto">
              <a:xfrm>
                <a:off x="1596597" y="8761613"/>
                <a:ext cx="53727" cy="53729"/>
              </a:xfrm>
              <a:custGeom>
                <a:avLst/>
                <a:gdLst>
                  <a:gd name="T0" fmla="*/ 129 w 130"/>
                  <a:gd name="T1" fmla="*/ 65 h 130"/>
                  <a:gd name="T2" fmla="*/ 129 w 130"/>
                  <a:gd name="T3" fmla="*/ 65 h 130"/>
                  <a:gd name="T4" fmla="*/ 65 w 130"/>
                  <a:gd name="T5" fmla="*/ 129 h 130"/>
                  <a:gd name="T6" fmla="*/ 0 w 130"/>
                  <a:gd name="T7" fmla="*/ 65 h 130"/>
                  <a:gd name="T8" fmla="*/ 65 w 130"/>
                  <a:gd name="T9" fmla="*/ 0 h 130"/>
                  <a:gd name="T10" fmla="*/ 129 w 130"/>
                  <a:gd name="T11" fmla="*/ 65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0" h="130">
                    <a:moveTo>
                      <a:pt x="129" y="65"/>
                    </a:moveTo>
                    <a:lnTo>
                      <a:pt x="129" y="65"/>
                    </a:lnTo>
                    <a:cubicBezTo>
                      <a:pt x="129" y="100"/>
                      <a:pt x="100" y="129"/>
                      <a:pt x="65" y="129"/>
                    </a:cubicBezTo>
                    <a:cubicBezTo>
                      <a:pt x="28" y="129"/>
                      <a:pt x="0" y="100"/>
                      <a:pt x="0" y="65"/>
                    </a:cubicBezTo>
                    <a:cubicBezTo>
                      <a:pt x="0" y="29"/>
                      <a:pt x="28" y="0"/>
                      <a:pt x="65" y="0"/>
                    </a:cubicBezTo>
                    <a:cubicBezTo>
                      <a:pt x="100" y="0"/>
                      <a:pt x="129" y="29"/>
                      <a:pt x="129" y="65"/>
                    </a:cubicBezTo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/>
              </a:p>
            </p:txBody>
          </p:sp>
          <p:sp>
            <p:nvSpPr>
              <p:cNvPr id="137" name="Freeform 123"/>
              <p:cNvSpPr>
                <a:spLocks noChangeArrowheads="1"/>
              </p:cNvSpPr>
              <p:nvPr/>
            </p:nvSpPr>
            <p:spPr bwMode="auto">
              <a:xfrm>
                <a:off x="1483585" y="8706037"/>
                <a:ext cx="101898" cy="62992"/>
              </a:xfrm>
              <a:custGeom>
                <a:avLst/>
                <a:gdLst>
                  <a:gd name="T0" fmla="*/ 228 w 242"/>
                  <a:gd name="T1" fmla="*/ 150 h 151"/>
                  <a:gd name="T2" fmla="*/ 228 w 242"/>
                  <a:gd name="T3" fmla="*/ 150 h 151"/>
                  <a:gd name="T4" fmla="*/ 222 w 242"/>
                  <a:gd name="T5" fmla="*/ 149 h 151"/>
                  <a:gd name="T6" fmla="*/ 191 w 242"/>
                  <a:gd name="T7" fmla="*/ 131 h 151"/>
                  <a:gd name="T8" fmla="*/ 187 w 242"/>
                  <a:gd name="T9" fmla="*/ 114 h 151"/>
                  <a:gd name="T10" fmla="*/ 203 w 242"/>
                  <a:gd name="T11" fmla="*/ 110 h 151"/>
                  <a:gd name="T12" fmla="*/ 234 w 242"/>
                  <a:gd name="T13" fmla="*/ 129 h 151"/>
                  <a:gd name="T14" fmla="*/ 238 w 242"/>
                  <a:gd name="T15" fmla="*/ 145 h 151"/>
                  <a:gd name="T16" fmla="*/ 228 w 242"/>
                  <a:gd name="T17" fmla="*/ 150 h 151"/>
                  <a:gd name="T18" fmla="*/ 136 w 242"/>
                  <a:gd name="T19" fmla="*/ 97 h 151"/>
                  <a:gd name="T20" fmla="*/ 136 w 242"/>
                  <a:gd name="T21" fmla="*/ 97 h 151"/>
                  <a:gd name="T22" fmla="*/ 130 w 242"/>
                  <a:gd name="T23" fmla="*/ 95 h 151"/>
                  <a:gd name="T24" fmla="*/ 99 w 242"/>
                  <a:gd name="T25" fmla="*/ 77 h 151"/>
                  <a:gd name="T26" fmla="*/ 94 w 242"/>
                  <a:gd name="T27" fmla="*/ 61 h 151"/>
                  <a:gd name="T28" fmla="*/ 111 w 242"/>
                  <a:gd name="T29" fmla="*/ 57 h 151"/>
                  <a:gd name="T30" fmla="*/ 141 w 242"/>
                  <a:gd name="T31" fmla="*/ 75 h 151"/>
                  <a:gd name="T32" fmla="*/ 145 w 242"/>
                  <a:gd name="T33" fmla="*/ 91 h 151"/>
                  <a:gd name="T34" fmla="*/ 136 w 242"/>
                  <a:gd name="T35" fmla="*/ 97 h 151"/>
                  <a:gd name="T36" fmla="*/ 43 w 242"/>
                  <a:gd name="T37" fmla="*/ 43 h 151"/>
                  <a:gd name="T38" fmla="*/ 43 w 242"/>
                  <a:gd name="T39" fmla="*/ 43 h 151"/>
                  <a:gd name="T40" fmla="*/ 37 w 242"/>
                  <a:gd name="T41" fmla="*/ 42 h 151"/>
                  <a:gd name="T42" fmla="*/ 7 w 242"/>
                  <a:gd name="T43" fmla="*/ 23 h 151"/>
                  <a:gd name="T44" fmla="*/ 3 w 242"/>
                  <a:gd name="T45" fmla="*/ 7 h 151"/>
                  <a:gd name="T46" fmla="*/ 18 w 242"/>
                  <a:gd name="T47" fmla="*/ 3 h 151"/>
                  <a:gd name="T48" fmla="*/ 50 w 242"/>
                  <a:gd name="T49" fmla="*/ 21 h 151"/>
                  <a:gd name="T50" fmla="*/ 54 w 242"/>
                  <a:gd name="T51" fmla="*/ 37 h 151"/>
                  <a:gd name="T52" fmla="*/ 43 w 242"/>
                  <a:gd name="T53" fmla="*/ 43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2" h="151">
                    <a:moveTo>
                      <a:pt x="228" y="150"/>
                    </a:moveTo>
                    <a:lnTo>
                      <a:pt x="228" y="150"/>
                    </a:lnTo>
                    <a:cubicBezTo>
                      <a:pt x="226" y="150"/>
                      <a:pt x="223" y="150"/>
                      <a:pt x="222" y="149"/>
                    </a:cubicBezTo>
                    <a:cubicBezTo>
                      <a:pt x="191" y="131"/>
                      <a:pt x="191" y="131"/>
                      <a:pt x="191" y="131"/>
                    </a:cubicBezTo>
                    <a:cubicBezTo>
                      <a:pt x="186" y="128"/>
                      <a:pt x="184" y="121"/>
                      <a:pt x="187" y="114"/>
                    </a:cubicBezTo>
                    <a:cubicBezTo>
                      <a:pt x="190" y="109"/>
                      <a:pt x="197" y="107"/>
                      <a:pt x="203" y="110"/>
                    </a:cubicBezTo>
                    <a:cubicBezTo>
                      <a:pt x="234" y="129"/>
                      <a:pt x="234" y="129"/>
                      <a:pt x="234" y="129"/>
                    </a:cubicBezTo>
                    <a:cubicBezTo>
                      <a:pt x="239" y="132"/>
                      <a:pt x="241" y="139"/>
                      <a:pt x="238" y="145"/>
                    </a:cubicBezTo>
                    <a:cubicBezTo>
                      <a:pt x="236" y="148"/>
                      <a:pt x="232" y="150"/>
                      <a:pt x="228" y="150"/>
                    </a:cubicBezTo>
                    <a:close/>
                    <a:moveTo>
                      <a:pt x="136" y="97"/>
                    </a:moveTo>
                    <a:lnTo>
                      <a:pt x="136" y="97"/>
                    </a:lnTo>
                    <a:cubicBezTo>
                      <a:pt x="134" y="97"/>
                      <a:pt x="132" y="96"/>
                      <a:pt x="130" y="95"/>
                    </a:cubicBezTo>
                    <a:cubicBezTo>
                      <a:pt x="99" y="77"/>
                      <a:pt x="99" y="77"/>
                      <a:pt x="99" y="77"/>
                    </a:cubicBezTo>
                    <a:cubicBezTo>
                      <a:pt x="93" y="74"/>
                      <a:pt x="91" y="67"/>
                      <a:pt x="94" y="61"/>
                    </a:cubicBezTo>
                    <a:cubicBezTo>
                      <a:pt x="97" y="55"/>
                      <a:pt x="105" y="54"/>
                      <a:pt x="111" y="57"/>
                    </a:cubicBezTo>
                    <a:cubicBezTo>
                      <a:pt x="141" y="75"/>
                      <a:pt x="141" y="75"/>
                      <a:pt x="141" y="75"/>
                    </a:cubicBezTo>
                    <a:cubicBezTo>
                      <a:pt x="147" y="78"/>
                      <a:pt x="149" y="85"/>
                      <a:pt x="145" y="91"/>
                    </a:cubicBezTo>
                    <a:cubicBezTo>
                      <a:pt x="143" y="95"/>
                      <a:pt x="139" y="97"/>
                      <a:pt x="136" y="97"/>
                    </a:cubicBezTo>
                    <a:close/>
                    <a:moveTo>
                      <a:pt x="43" y="43"/>
                    </a:moveTo>
                    <a:lnTo>
                      <a:pt x="43" y="43"/>
                    </a:lnTo>
                    <a:cubicBezTo>
                      <a:pt x="41" y="43"/>
                      <a:pt x="39" y="43"/>
                      <a:pt x="37" y="42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1" y="20"/>
                      <a:pt x="0" y="12"/>
                      <a:pt x="3" y="7"/>
                    </a:cubicBezTo>
                    <a:cubicBezTo>
                      <a:pt x="6" y="2"/>
                      <a:pt x="13" y="0"/>
                      <a:pt x="18" y="3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55" y="24"/>
                      <a:pt x="57" y="31"/>
                      <a:pt x="54" y="37"/>
                    </a:cubicBezTo>
                    <a:cubicBezTo>
                      <a:pt x="52" y="41"/>
                      <a:pt x="48" y="43"/>
                      <a:pt x="43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/>
              </a:p>
            </p:txBody>
          </p:sp>
          <p:sp>
            <p:nvSpPr>
              <p:cNvPr id="138" name="Freeform 124"/>
              <p:cNvSpPr>
                <a:spLocks noChangeArrowheads="1"/>
              </p:cNvSpPr>
              <p:nvPr/>
            </p:nvSpPr>
            <p:spPr bwMode="auto">
              <a:xfrm>
                <a:off x="1485436" y="8598586"/>
                <a:ext cx="103750" cy="61140"/>
              </a:xfrm>
              <a:custGeom>
                <a:avLst/>
                <a:gdLst>
                  <a:gd name="T0" fmla="*/ 13 w 245"/>
                  <a:gd name="T1" fmla="*/ 146 h 147"/>
                  <a:gd name="T2" fmla="*/ 13 w 245"/>
                  <a:gd name="T3" fmla="*/ 146 h 147"/>
                  <a:gd name="T4" fmla="*/ 3 w 245"/>
                  <a:gd name="T5" fmla="*/ 139 h 147"/>
                  <a:gd name="T6" fmla="*/ 7 w 245"/>
                  <a:gd name="T7" fmla="*/ 124 h 147"/>
                  <a:gd name="T8" fmla="*/ 38 w 245"/>
                  <a:gd name="T9" fmla="*/ 107 h 147"/>
                  <a:gd name="T10" fmla="*/ 54 w 245"/>
                  <a:gd name="T11" fmla="*/ 111 h 147"/>
                  <a:gd name="T12" fmla="*/ 50 w 245"/>
                  <a:gd name="T13" fmla="*/ 127 h 147"/>
                  <a:gd name="T14" fmla="*/ 18 w 245"/>
                  <a:gd name="T15" fmla="*/ 145 h 147"/>
                  <a:gd name="T16" fmla="*/ 13 w 245"/>
                  <a:gd name="T17" fmla="*/ 146 h 147"/>
                  <a:gd name="T18" fmla="*/ 106 w 245"/>
                  <a:gd name="T19" fmla="*/ 94 h 147"/>
                  <a:gd name="T20" fmla="*/ 106 w 245"/>
                  <a:gd name="T21" fmla="*/ 94 h 147"/>
                  <a:gd name="T22" fmla="*/ 97 w 245"/>
                  <a:gd name="T23" fmla="*/ 88 h 147"/>
                  <a:gd name="T24" fmla="*/ 101 w 245"/>
                  <a:gd name="T25" fmla="*/ 72 h 147"/>
                  <a:gd name="T26" fmla="*/ 132 w 245"/>
                  <a:gd name="T27" fmla="*/ 55 h 147"/>
                  <a:gd name="T28" fmla="*/ 148 w 245"/>
                  <a:gd name="T29" fmla="*/ 59 h 147"/>
                  <a:gd name="T30" fmla="*/ 143 w 245"/>
                  <a:gd name="T31" fmla="*/ 75 h 147"/>
                  <a:gd name="T32" fmla="*/ 112 w 245"/>
                  <a:gd name="T33" fmla="*/ 93 h 147"/>
                  <a:gd name="T34" fmla="*/ 106 w 245"/>
                  <a:gd name="T35" fmla="*/ 94 h 147"/>
                  <a:gd name="T36" fmla="*/ 200 w 245"/>
                  <a:gd name="T37" fmla="*/ 43 h 147"/>
                  <a:gd name="T38" fmla="*/ 200 w 245"/>
                  <a:gd name="T39" fmla="*/ 43 h 147"/>
                  <a:gd name="T40" fmla="*/ 189 w 245"/>
                  <a:gd name="T41" fmla="*/ 36 h 147"/>
                  <a:gd name="T42" fmla="*/ 194 w 245"/>
                  <a:gd name="T43" fmla="*/ 21 h 147"/>
                  <a:gd name="T44" fmla="*/ 226 w 245"/>
                  <a:gd name="T45" fmla="*/ 3 h 147"/>
                  <a:gd name="T46" fmla="*/ 241 w 245"/>
                  <a:gd name="T47" fmla="*/ 8 h 147"/>
                  <a:gd name="T48" fmla="*/ 237 w 245"/>
                  <a:gd name="T49" fmla="*/ 24 h 147"/>
                  <a:gd name="T50" fmla="*/ 206 w 245"/>
                  <a:gd name="T51" fmla="*/ 41 h 147"/>
                  <a:gd name="T52" fmla="*/ 200 w 245"/>
                  <a:gd name="T53" fmla="*/ 43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5" h="147">
                    <a:moveTo>
                      <a:pt x="13" y="146"/>
                    </a:moveTo>
                    <a:lnTo>
                      <a:pt x="13" y="146"/>
                    </a:lnTo>
                    <a:cubicBezTo>
                      <a:pt x="9" y="146"/>
                      <a:pt x="5" y="144"/>
                      <a:pt x="3" y="139"/>
                    </a:cubicBezTo>
                    <a:cubicBezTo>
                      <a:pt x="0" y="134"/>
                      <a:pt x="2" y="127"/>
                      <a:pt x="7" y="124"/>
                    </a:cubicBezTo>
                    <a:cubicBezTo>
                      <a:pt x="38" y="107"/>
                      <a:pt x="38" y="107"/>
                      <a:pt x="38" y="107"/>
                    </a:cubicBezTo>
                    <a:cubicBezTo>
                      <a:pt x="45" y="104"/>
                      <a:pt x="51" y="106"/>
                      <a:pt x="54" y="111"/>
                    </a:cubicBezTo>
                    <a:cubicBezTo>
                      <a:pt x="57" y="117"/>
                      <a:pt x="55" y="124"/>
                      <a:pt x="50" y="127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6" y="146"/>
                      <a:pt x="14" y="146"/>
                      <a:pt x="13" y="146"/>
                    </a:cubicBezTo>
                    <a:close/>
                    <a:moveTo>
                      <a:pt x="106" y="94"/>
                    </a:moveTo>
                    <a:lnTo>
                      <a:pt x="106" y="94"/>
                    </a:lnTo>
                    <a:cubicBezTo>
                      <a:pt x="102" y="94"/>
                      <a:pt x="99" y="92"/>
                      <a:pt x="97" y="88"/>
                    </a:cubicBezTo>
                    <a:cubicBezTo>
                      <a:pt x="93" y="82"/>
                      <a:pt x="96" y="75"/>
                      <a:pt x="101" y="72"/>
                    </a:cubicBezTo>
                    <a:cubicBezTo>
                      <a:pt x="132" y="55"/>
                      <a:pt x="132" y="55"/>
                      <a:pt x="132" y="55"/>
                    </a:cubicBezTo>
                    <a:cubicBezTo>
                      <a:pt x="137" y="52"/>
                      <a:pt x="144" y="54"/>
                      <a:pt x="148" y="59"/>
                    </a:cubicBezTo>
                    <a:cubicBezTo>
                      <a:pt x="151" y="66"/>
                      <a:pt x="149" y="72"/>
                      <a:pt x="143" y="75"/>
                    </a:cubicBezTo>
                    <a:cubicBezTo>
                      <a:pt x="112" y="93"/>
                      <a:pt x="112" y="93"/>
                      <a:pt x="112" y="93"/>
                    </a:cubicBezTo>
                    <a:cubicBezTo>
                      <a:pt x="110" y="94"/>
                      <a:pt x="108" y="94"/>
                      <a:pt x="106" y="94"/>
                    </a:cubicBezTo>
                    <a:close/>
                    <a:moveTo>
                      <a:pt x="200" y="43"/>
                    </a:moveTo>
                    <a:lnTo>
                      <a:pt x="200" y="43"/>
                    </a:lnTo>
                    <a:cubicBezTo>
                      <a:pt x="195" y="43"/>
                      <a:pt x="191" y="41"/>
                      <a:pt x="189" y="36"/>
                    </a:cubicBezTo>
                    <a:cubicBezTo>
                      <a:pt x="186" y="31"/>
                      <a:pt x="188" y="24"/>
                      <a:pt x="194" y="21"/>
                    </a:cubicBezTo>
                    <a:cubicBezTo>
                      <a:pt x="226" y="3"/>
                      <a:pt x="226" y="3"/>
                      <a:pt x="226" y="3"/>
                    </a:cubicBezTo>
                    <a:cubicBezTo>
                      <a:pt x="231" y="0"/>
                      <a:pt x="238" y="2"/>
                      <a:pt x="241" y="8"/>
                    </a:cubicBezTo>
                    <a:cubicBezTo>
                      <a:pt x="244" y="14"/>
                      <a:pt x="242" y="21"/>
                      <a:pt x="237" y="24"/>
                    </a:cubicBezTo>
                    <a:cubicBezTo>
                      <a:pt x="206" y="41"/>
                      <a:pt x="206" y="41"/>
                      <a:pt x="206" y="41"/>
                    </a:cubicBezTo>
                    <a:cubicBezTo>
                      <a:pt x="204" y="42"/>
                      <a:pt x="202" y="43"/>
                      <a:pt x="200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/>
              </a:p>
            </p:txBody>
          </p:sp>
          <p:sp>
            <p:nvSpPr>
              <p:cNvPr id="139" name="Freeform 125"/>
              <p:cNvSpPr>
                <a:spLocks noChangeArrowheads="1"/>
              </p:cNvSpPr>
              <p:nvPr/>
            </p:nvSpPr>
            <p:spPr bwMode="auto">
              <a:xfrm>
                <a:off x="1492848" y="8678154"/>
                <a:ext cx="114866" cy="11116"/>
              </a:xfrm>
              <a:custGeom>
                <a:avLst/>
                <a:gdLst>
                  <a:gd name="T0" fmla="*/ 262 w 274"/>
                  <a:gd name="T1" fmla="*/ 24 h 25"/>
                  <a:gd name="T2" fmla="*/ 262 w 274"/>
                  <a:gd name="T3" fmla="*/ 24 h 25"/>
                  <a:gd name="T4" fmla="*/ 225 w 274"/>
                  <a:gd name="T5" fmla="*/ 24 h 25"/>
                  <a:gd name="T6" fmla="*/ 214 w 274"/>
                  <a:gd name="T7" fmla="*/ 13 h 25"/>
                  <a:gd name="T8" fmla="*/ 225 w 274"/>
                  <a:gd name="T9" fmla="*/ 0 h 25"/>
                  <a:gd name="T10" fmla="*/ 262 w 274"/>
                  <a:gd name="T11" fmla="*/ 0 h 25"/>
                  <a:gd name="T12" fmla="*/ 273 w 274"/>
                  <a:gd name="T13" fmla="*/ 13 h 25"/>
                  <a:gd name="T14" fmla="*/ 262 w 274"/>
                  <a:gd name="T15" fmla="*/ 24 h 25"/>
                  <a:gd name="T16" fmla="*/ 154 w 274"/>
                  <a:gd name="T17" fmla="*/ 24 h 25"/>
                  <a:gd name="T18" fmla="*/ 154 w 274"/>
                  <a:gd name="T19" fmla="*/ 24 h 25"/>
                  <a:gd name="T20" fmla="*/ 119 w 274"/>
                  <a:gd name="T21" fmla="*/ 24 h 25"/>
                  <a:gd name="T22" fmla="*/ 108 w 274"/>
                  <a:gd name="T23" fmla="*/ 13 h 25"/>
                  <a:gd name="T24" fmla="*/ 119 w 274"/>
                  <a:gd name="T25" fmla="*/ 0 h 25"/>
                  <a:gd name="T26" fmla="*/ 154 w 274"/>
                  <a:gd name="T27" fmla="*/ 0 h 25"/>
                  <a:gd name="T28" fmla="*/ 166 w 274"/>
                  <a:gd name="T29" fmla="*/ 13 h 25"/>
                  <a:gd name="T30" fmla="*/ 154 w 274"/>
                  <a:gd name="T31" fmla="*/ 24 h 25"/>
                  <a:gd name="T32" fmla="*/ 47 w 274"/>
                  <a:gd name="T33" fmla="*/ 24 h 25"/>
                  <a:gd name="T34" fmla="*/ 47 w 274"/>
                  <a:gd name="T35" fmla="*/ 24 h 25"/>
                  <a:gd name="T36" fmla="*/ 12 w 274"/>
                  <a:gd name="T37" fmla="*/ 24 h 25"/>
                  <a:gd name="T38" fmla="*/ 0 w 274"/>
                  <a:gd name="T39" fmla="*/ 13 h 25"/>
                  <a:gd name="T40" fmla="*/ 12 w 274"/>
                  <a:gd name="T41" fmla="*/ 0 h 25"/>
                  <a:gd name="T42" fmla="*/ 47 w 274"/>
                  <a:gd name="T43" fmla="*/ 0 h 25"/>
                  <a:gd name="T44" fmla="*/ 60 w 274"/>
                  <a:gd name="T45" fmla="*/ 13 h 25"/>
                  <a:gd name="T46" fmla="*/ 47 w 274"/>
                  <a:gd name="T47" fmla="*/ 2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74" h="25">
                    <a:moveTo>
                      <a:pt x="262" y="24"/>
                    </a:moveTo>
                    <a:lnTo>
                      <a:pt x="262" y="24"/>
                    </a:lnTo>
                    <a:cubicBezTo>
                      <a:pt x="225" y="24"/>
                      <a:pt x="225" y="24"/>
                      <a:pt x="225" y="24"/>
                    </a:cubicBezTo>
                    <a:cubicBezTo>
                      <a:pt x="219" y="24"/>
                      <a:pt x="214" y="19"/>
                      <a:pt x="214" y="13"/>
                    </a:cubicBezTo>
                    <a:cubicBezTo>
                      <a:pt x="214" y="7"/>
                      <a:pt x="219" y="0"/>
                      <a:pt x="225" y="0"/>
                    </a:cubicBezTo>
                    <a:cubicBezTo>
                      <a:pt x="262" y="0"/>
                      <a:pt x="262" y="0"/>
                      <a:pt x="262" y="0"/>
                    </a:cubicBezTo>
                    <a:cubicBezTo>
                      <a:pt x="268" y="0"/>
                      <a:pt x="273" y="7"/>
                      <a:pt x="273" y="13"/>
                    </a:cubicBezTo>
                    <a:cubicBezTo>
                      <a:pt x="273" y="19"/>
                      <a:pt x="268" y="24"/>
                      <a:pt x="262" y="24"/>
                    </a:cubicBezTo>
                    <a:close/>
                    <a:moveTo>
                      <a:pt x="154" y="24"/>
                    </a:moveTo>
                    <a:lnTo>
                      <a:pt x="154" y="24"/>
                    </a:lnTo>
                    <a:cubicBezTo>
                      <a:pt x="119" y="24"/>
                      <a:pt x="119" y="24"/>
                      <a:pt x="119" y="24"/>
                    </a:cubicBezTo>
                    <a:cubicBezTo>
                      <a:pt x="113" y="24"/>
                      <a:pt x="108" y="19"/>
                      <a:pt x="108" y="13"/>
                    </a:cubicBezTo>
                    <a:cubicBezTo>
                      <a:pt x="108" y="7"/>
                      <a:pt x="113" y="0"/>
                      <a:pt x="119" y="0"/>
                    </a:cubicBezTo>
                    <a:cubicBezTo>
                      <a:pt x="154" y="0"/>
                      <a:pt x="154" y="0"/>
                      <a:pt x="154" y="0"/>
                    </a:cubicBezTo>
                    <a:cubicBezTo>
                      <a:pt x="161" y="0"/>
                      <a:pt x="166" y="7"/>
                      <a:pt x="166" y="13"/>
                    </a:cubicBezTo>
                    <a:cubicBezTo>
                      <a:pt x="166" y="19"/>
                      <a:pt x="161" y="24"/>
                      <a:pt x="154" y="24"/>
                    </a:cubicBezTo>
                    <a:close/>
                    <a:moveTo>
                      <a:pt x="47" y="24"/>
                    </a:moveTo>
                    <a:lnTo>
                      <a:pt x="47" y="24"/>
                    </a:lnTo>
                    <a:cubicBezTo>
                      <a:pt x="12" y="24"/>
                      <a:pt x="12" y="24"/>
                      <a:pt x="12" y="24"/>
                    </a:cubicBezTo>
                    <a:cubicBezTo>
                      <a:pt x="6" y="24"/>
                      <a:pt x="0" y="19"/>
                      <a:pt x="0" y="13"/>
                    </a:cubicBezTo>
                    <a:cubicBezTo>
                      <a:pt x="0" y="7"/>
                      <a:pt x="6" y="0"/>
                      <a:pt x="12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54" y="0"/>
                      <a:pt x="60" y="7"/>
                      <a:pt x="60" y="13"/>
                    </a:cubicBezTo>
                    <a:cubicBezTo>
                      <a:pt x="60" y="19"/>
                      <a:pt x="54" y="24"/>
                      <a:pt x="47" y="24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9BB9FE"/>
                </a:solidFill>
                <a:bevel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/>
              </a:p>
            </p:txBody>
          </p:sp>
        </p:grpSp>
      </p:grpSp>
      <p:sp>
        <p:nvSpPr>
          <p:cNvPr id="147" name="Rectangle 99"/>
          <p:cNvSpPr/>
          <p:nvPr/>
        </p:nvSpPr>
        <p:spPr>
          <a:xfrm>
            <a:off x="4131856" y="7654091"/>
            <a:ext cx="1603053" cy="357793"/>
          </a:xfrm>
          <a:prstGeom prst="rect">
            <a:avLst/>
          </a:prstGeom>
          <a:solidFill>
            <a:srgbClr val="0B3D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050" b="1" dirty="0" smtClean="0">
                <a:solidFill>
                  <a:schemeClr val="bg1"/>
                </a:solidFill>
                <a:latin typeface="+mn-ea"/>
              </a:rPr>
              <a:t>MCP</a:t>
            </a:r>
            <a:r>
              <a:rPr lang="en-US" sz="105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sz="1050" b="1" dirty="0" err="1" smtClean="0">
                <a:solidFill>
                  <a:schemeClr val="bg1"/>
                </a:solidFill>
                <a:latin typeface="+mn-ea"/>
              </a:rPr>
              <a:t>Intergration</a:t>
            </a:r>
            <a:endParaRPr lang="en-US" sz="105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8" name="object 10"/>
          <p:cNvSpPr txBox="1"/>
          <p:nvPr/>
        </p:nvSpPr>
        <p:spPr>
          <a:xfrm>
            <a:off x="3544182" y="8038989"/>
            <a:ext cx="28080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975" indent="-180975">
              <a:lnSpc>
                <a:spcPct val="120000"/>
              </a:lnSpc>
              <a:buClr>
                <a:srgbClr val="1668C1"/>
              </a:buClr>
              <a:buFont typeface="Arial" panose="020B0604020202020204" pitchFamily="34" charset="0"/>
              <a:buChar char="•"/>
            </a:pPr>
            <a:r>
              <a:rPr lang="en-US" altLang="ko-KR" sz="900" dirty="0" smtClean="0">
                <a:latin typeface="+mn-ea"/>
                <a:cs typeface="Pretendard Variable Medium" panose="02000003000000020004" pitchFamily="2" charset="-127"/>
              </a:rPr>
              <a:t>MCP </a:t>
            </a:r>
            <a:r>
              <a:rPr lang="ko-KR" altLang="en-US" sz="900" dirty="0" smtClean="0">
                <a:latin typeface="+mn-ea"/>
                <a:cs typeface="Pretendard Variable Medium" panose="02000003000000020004" pitchFamily="2" charset="-127"/>
              </a:rPr>
              <a:t>기반 자연어 질의 지원으로 </a:t>
            </a:r>
            <a:r>
              <a:rPr lang="en-US" altLang="ko-KR" sz="900" dirty="0" smtClean="0">
                <a:latin typeface="+mn-ea"/>
                <a:cs typeface="Pretendard Variable Medium" panose="02000003000000020004" pitchFamily="2" charset="-127"/>
              </a:rPr>
              <a:t>SQL</a:t>
            </a:r>
            <a:r>
              <a:rPr lang="ko-KR" altLang="en-US" sz="900" dirty="0" smtClean="0">
                <a:latin typeface="+mn-ea"/>
                <a:cs typeface="Pretendard Variable Medium" panose="02000003000000020004" pitchFamily="2" charset="-127"/>
              </a:rPr>
              <a:t>에 익숙하지 않은 사용자도 데이터 분석가능</a:t>
            </a:r>
            <a:endParaRPr lang="en-US" altLang="ko-KR" sz="900" dirty="0" smtClean="0">
              <a:latin typeface="+mn-ea"/>
              <a:cs typeface="Pretendard Variable Medium" panose="02000003000000020004" pitchFamily="2" charset="-127"/>
            </a:endParaRPr>
          </a:p>
          <a:p>
            <a:pPr marL="180975" indent="-180975">
              <a:lnSpc>
                <a:spcPct val="120000"/>
              </a:lnSpc>
              <a:buClr>
                <a:srgbClr val="1668C1"/>
              </a:buClr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+mn-ea"/>
                <a:cs typeface="Pretendard Variable Medium" panose="02000003000000020004" pitchFamily="2" charset="-127"/>
              </a:rPr>
              <a:t>이미지</a:t>
            </a:r>
            <a:r>
              <a:rPr lang="en-US" altLang="ko-KR" sz="900" dirty="0" smtClean="0">
                <a:latin typeface="+mn-ea"/>
                <a:cs typeface="Pretendard Variable Medium" panose="02000003000000020004" pitchFamily="2" charset="-127"/>
              </a:rPr>
              <a:t>/ </a:t>
            </a:r>
            <a:r>
              <a:rPr lang="ko-KR" altLang="en-US" sz="900" dirty="0" smtClean="0">
                <a:latin typeface="+mn-ea"/>
                <a:cs typeface="Pretendard Variable Medium" panose="02000003000000020004" pitchFamily="2" charset="-127"/>
              </a:rPr>
              <a:t>비정형 데이터에 대한 고차원 </a:t>
            </a:r>
            <a:r>
              <a:rPr lang="en-US" altLang="ko-KR" sz="900" dirty="0" smtClean="0">
                <a:latin typeface="+mn-ea"/>
                <a:cs typeface="Pretendard Variable Medium" panose="02000003000000020004" pitchFamily="2" charset="-127"/>
              </a:rPr>
              <a:t>Vector Search </a:t>
            </a:r>
            <a:r>
              <a:rPr lang="ko-KR" altLang="en-US" sz="900" dirty="0" smtClean="0">
                <a:latin typeface="+mn-ea"/>
                <a:cs typeface="Pretendard Variable Medium" panose="02000003000000020004" pitchFamily="2" charset="-127"/>
              </a:rPr>
              <a:t>기능으로 유사도 기반 고속 검색 및 분석 가능</a:t>
            </a:r>
            <a:endParaRPr lang="en-US" altLang="ko-KR" sz="900" dirty="0">
              <a:latin typeface="+mn-ea"/>
              <a:cs typeface="Pretendard Variable Medium" panose="02000003000000020004" pitchFamily="2" charset="-127"/>
            </a:endParaRPr>
          </a:p>
        </p:txBody>
      </p:sp>
      <p:grpSp>
        <p:nvGrpSpPr>
          <p:cNvPr id="149" name="그룹 148"/>
          <p:cNvGrpSpPr/>
          <p:nvPr/>
        </p:nvGrpSpPr>
        <p:grpSpPr>
          <a:xfrm>
            <a:off x="4429978" y="6841489"/>
            <a:ext cx="990470" cy="798556"/>
            <a:chOff x="7561385" y="4865070"/>
            <a:chExt cx="1363620" cy="1045583"/>
          </a:xfrm>
        </p:grpSpPr>
        <p:grpSp>
          <p:nvGrpSpPr>
            <p:cNvPr id="150" name="그룹 149"/>
            <p:cNvGrpSpPr/>
            <p:nvPr/>
          </p:nvGrpSpPr>
          <p:grpSpPr>
            <a:xfrm>
              <a:off x="7561385" y="4865070"/>
              <a:ext cx="1090245" cy="689287"/>
              <a:chOff x="7408985" y="4888525"/>
              <a:chExt cx="855784" cy="505613"/>
            </a:xfrm>
          </p:grpSpPr>
          <p:sp>
            <p:nvSpPr>
              <p:cNvPr id="155" name="모서리가 둥근 사각형 설명선 154"/>
              <p:cNvSpPr/>
              <p:nvPr/>
            </p:nvSpPr>
            <p:spPr>
              <a:xfrm>
                <a:off x="7432430" y="4888525"/>
                <a:ext cx="797171" cy="480646"/>
              </a:xfrm>
              <a:prstGeom prst="wedgeRoundRectCallout">
                <a:avLst>
                  <a:gd name="adj1" fmla="val -38392"/>
                  <a:gd name="adj2" fmla="val 90421"/>
                  <a:gd name="adj3" fmla="val 16667"/>
                </a:avLst>
              </a:prstGeom>
              <a:noFill/>
              <a:ln w="38100">
                <a:solidFill>
                  <a:srgbClr val="9BB9F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>
                  <a:lnSpc>
                    <a:spcPct val="30000"/>
                  </a:lnSpc>
                </a:pPr>
                <a:endParaRPr lang="en-US" altLang="ko-KR" sz="1800" b="1" dirty="0">
                  <a:solidFill>
                    <a:srgbClr val="9BB9FE"/>
                  </a:solidFill>
                </a:endParaRPr>
              </a:p>
            </p:txBody>
          </p:sp>
          <p:sp>
            <p:nvSpPr>
              <p:cNvPr id="156" name="TextBox 155"/>
              <p:cNvSpPr txBox="1"/>
              <p:nvPr/>
            </p:nvSpPr>
            <p:spPr>
              <a:xfrm>
                <a:off x="7408985" y="5041947"/>
                <a:ext cx="855784" cy="352191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 algn="ctr">
                  <a:lnSpc>
                    <a:spcPct val="30000"/>
                  </a:lnSpc>
                </a:pPr>
                <a:r>
                  <a:rPr lang="en-US" altLang="ko-KR" sz="2800" b="1" dirty="0">
                    <a:solidFill>
                      <a:srgbClr val="9BB9FE"/>
                    </a:solidFill>
                  </a:rPr>
                  <a:t>-----</a:t>
                </a:r>
              </a:p>
              <a:p>
                <a:pPr algn="ctr">
                  <a:lnSpc>
                    <a:spcPct val="30000"/>
                  </a:lnSpc>
                </a:pPr>
                <a:r>
                  <a:rPr lang="en-US" altLang="ko-KR" sz="2800" b="1" dirty="0">
                    <a:solidFill>
                      <a:srgbClr val="9BB9FE"/>
                    </a:solidFill>
                  </a:rPr>
                  <a:t>-----</a:t>
                </a:r>
              </a:p>
              <a:p>
                <a:pPr algn="ctr">
                  <a:lnSpc>
                    <a:spcPct val="30000"/>
                  </a:lnSpc>
                </a:pPr>
                <a:r>
                  <a:rPr lang="en-US" altLang="ko-KR" sz="2800" b="1" dirty="0" smtClean="0">
                    <a:solidFill>
                      <a:srgbClr val="9BB9FE"/>
                    </a:solidFill>
                  </a:rPr>
                  <a:t>-----</a:t>
                </a:r>
                <a:endParaRPr lang="en-US" altLang="ko-KR" sz="2800" b="1" dirty="0">
                  <a:solidFill>
                    <a:srgbClr val="9BB9FE"/>
                  </a:solidFill>
                </a:endParaRPr>
              </a:p>
            </p:txBody>
          </p:sp>
        </p:grpSp>
        <p:grpSp>
          <p:nvGrpSpPr>
            <p:cNvPr id="151" name="그룹 150"/>
            <p:cNvGrpSpPr/>
            <p:nvPr/>
          </p:nvGrpSpPr>
          <p:grpSpPr>
            <a:xfrm>
              <a:off x="8172450" y="5175250"/>
              <a:ext cx="752555" cy="735403"/>
              <a:chOff x="8229600" y="5207000"/>
              <a:chExt cx="752555" cy="735403"/>
            </a:xfrm>
          </p:grpSpPr>
          <p:sp>
            <p:nvSpPr>
              <p:cNvPr id="152" name="뺄셈 기호 151"/>
              <p:cNvSpPr/>
              <p:nvPr/>
            </p:nvSpPr>
            <p:spPr>
              <a:xfrm rot="2468983">
                <a:off x="8546839" y="5539715"/>
                <a:ext cx="435316" cy="402688"/>
              </a:xfrm>
              <a:prstGeom prst="mathMinus">
                <a:avLst/>
              </a:prstGeom>
              <a:solidFill>
                <a:schemeClr val="bg1"/>
              </a:solidFill>
              <a:ln w="38100">
                <a:solidFill>
                  <a:srgbClr val="9BB9F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153" name="타원 152"/>
              <p:cNvSpPr/>
              <p:nvPr/>
            </p:nvSpPr>
            <p:spPr>
              <a:xfrm>
                <a:off x="8229600" y="5207000"/>
                <a:ext cx="543600" cy="54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9BB9F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154" name="타원 153"/>
              <p:cNvSpPr/>
              <p:nvPr/>
            </p:nvSpPr>
            <p:spPr>
              <a:xfrm>
                <a:off x="8306687" y="5277100"/>
                <a:ext cx="396000" cy="396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9BB9F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47370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9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15" y="5730068"/>
            <a:ext cx="1912809" cy="719215"/>
          </a:xfrm>
          <a:prstGeom prst="rect">
            <a:avLst/>
          </a:prstGeom>
        </p:spPr>
      </p:pic>
      <p:pic>
        <p:nvPicPr>
          <p:cNvPr id="3" name="Picture 30"/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040" y="5628537"/>
            <a:ext cx="1613988" cy="922277"/>
          </a:xfrm>
          <a:prstGeom prst="rect">
            <a:avLst/>
          </a:prstGeom>
        </p:spPr>
      </p:pic>
      <p:pic>
        <p:nvPicPr>
          <p:cNvPr id="4" name="Picture 31"/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7637" y="4772602"/>
            <a:ext cx="1610159" cy="103553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F25A3B3A-32C8-4401-A476-E8CCEB3258D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800" y="4808506"/>
            <a:ext cx="1292973" cy="963724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="" xmlns:a16="http://schemas.microsoft.com/office/drawing/2014/main" id="{051FB3A4-C7F9-45D0-A73B-557A6E1C4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743" y="5797256"/>
            <a:ext cx="2482895" cy="584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Vertica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포트폴리오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01171" y="1028700"/>
            <a:ext cx="9312729" cy="105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tx1"/>
                </a:solidFill>
                <a:latin typeface="+mn-ea"/>
              </a:rPr>
              <a:t>Vertica</a:t>
            </a:r>
            <a:r>
              <a:rPr lang="en-US" altLang="ko-KR" sz="16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Enterprise On-Premise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컬럼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처리 및 선진 압축 기법 기반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최대 성능 및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확장성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보장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ML, Pattern Matching, Flex Tables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등 다양한 고급 기능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제공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01171" y="480786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Vertica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는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온프레미스부터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퍼블릭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프라이빗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클라우드까지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고객의 환경에 최적화된 다양한 배포 옵션을 제공합니다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.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8471" y="2159000"/>
            <a:ext cx="9312729" cy="1079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tx1"/>
                </a:solidFill>
                <a:latin typeface="+mn-ea"/>
              </a:rPr>
              <a:t>Vertica</a:t>
            </a:r>
            <a:r>
              <a:rPr lang="en-US" altLang="ko-KR" sz="16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Enterprise in the Clouds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클라우드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플랫폼으로의 빠른 전개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(BYOL)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AWS, Azure, Google,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Vmware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완벽 지원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유연한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클라우드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기반 옵션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제공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01171" y="3289300"/>
            <a:ext cx="9312729" cy="1181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tx1"/>
                </a:solidFill>
                <a:latin typeface="+mn-ea"/>
              </a:rPr>
              <a:t>Vertica</a:t>
            </a:r>
            <a:r>
              <a:rPr lang="en-US" altLang="ko-KR" sz="16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Eon in the Clouds &amp; On-Premise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Computing Node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와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Storage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의 완전 분리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Object Storage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기반의 무한한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확장성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Workload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에 따른 유연한 증설 및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Multi-Cluster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구성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지원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12726" y="6671388"/>
            <a:ext cx="9393237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+mj-ea"/>
                <a:ea typeface="+mj-ea"/>
              </a:rPr>
              <a:t>Public / Private Cloud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ea"/>
                <a:ea typeface="+mj-ea"/>
              </a:rPr>
              <a:t>AWS Azure GCP </a:t>
            </a:r>
            <a:r>
              <a:rPr lang="en-US" altLang="ko-KR" sz="1400" dirty="0" err="1">
                <a:latin typeface="+mj-ea"/>
                <a:ea typeface="+mj-ea"/>
              </a:rPr>
              <a:t>Naver</a:t>
            </a:r>
            <a:r>
              <a:rPr lang="en-US" altLang="ko-KR" sz="1400" dirty="0">
                <a:latin typeface="+mj-ea"/>
                <a:ea typeface="+mj-ea"/>
              </a:rPr>
              <a:t> Cloud KT Cloud </a:t>
            </a:r>
            <a:r>
              <a:rPr lang="en-US" altLang="ko-KR" sz="1400" dirty="0" err="1">
                <a:latin typeface="+mj-ea"/>
                <a:ea typeface="+mj-ea"/>
              </a:rPr>
              <a:t>Kubernetes</a:t>
            </a:r>
            <a:r>
              <a:rPr lang="en-US" altLang="ko-KR" sz="1400" dirty="0">
                <a:latin typeface="+mj-ea"/>
                <a:ea typeface="+mj-ea"/>
              </a:rPr>
              <a:t> </a:t>
            </a:r>
            <a:r>
              <a:rPr lang="en-US" altLang="ko-KR" sz="1400" dirty="0" err="1">
                <a:latin typeface="+mj-ea"/>
                <a:ea typeface="+mj-ea"/>
              </a:rPr>
              <a:t>Vmware</a:t>
            </a:r>
            <a:endParaRPr lang="en-US" altLang="ko-KR" sz="1400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j-ea"/>
                <a:ea typeface="+mj-ea"/>
              </a:rPr>
              <a:t>주요 </a:t>
            </a:r>
            <a:r>
              <a:rPr lang="en-US" altLang="ko-KR" sz="1400" dirty="0">
                <a:latin typeface="+mj-ea"/>
                <a:ea typeface="+mj-ea"/>
              </a:rPr>
              <a:t>Public cloud marketplace</a:t>
            </a:r>
            <a:r>
              <a:rPr lang="ko-KR" altLang="en-US" sz="1400" dirty="0">
                <a:latin typeface="+mj-ea"/>
                <a:ea typeface="+mj-ea"/>
              </a:rPr>
              <a:t>를 통한 수분 내 클러스터 </a:t>
            </a:r>
            <a:r>
              <a:rPr lang="ko-KR" altLang="en-US" sz="1400" dirty="0" err="1">
                <a:latin typeface="+mj-ea"/>
                <a:ea typeface="+mj-ea"/>
              </a:rPr>
              <a:t>프로비저닝</a:t>
            </a:r>
            <a:r>
              <a:rPr lang="ko-KR" altLang="en-US" sz="1400" dirty="0">
                <a:latin typeface="+mj-ea"/>
                <a:ea typeface="+mj-ea"/>
              </a:rPr>
              <a:t> 지원 및 </a:t>
            </a:r>
            <a:r>
              <a:rPr lang="en-US" altLang="ko-KR" sz="1400" dirty="0">
                <a:latin typeface="+mj-ea"/>
                <a:ea typeface="+mj-ea"/>
              </a:rPr>
              <a:t>Private cloud(K8s, </a:t>
            </a:r>
            <a:r>
              <a:rPr lang="en-US" altLang="ko-KR" sz="1400" dirty="0" err="1">
                <a:latin typeface="+mj-ea"/>
                <a:ea typeface="+mj-ea"/>
              </a:rPr>
              <a:t>Vmware</a:t>
            </a:r>
            <a:r>
              <a:rPr lang="en-US" altLang="ko-KR" sz="1400" dirty="0">
                <a:latin typeface="+mj-ea"/>
                <a:ea typeface="+mj-ea"/>
              </a:rPr>
              <a:t>) </a:t>
            </a:r>
            <a:r>
              <a:rPr lang="ko-KR" altLang="en-US" sz="1400" dirty="0">
                <a:latin typeface="+mj-ea"/>
                <a:ea typeface="+mj-ea"/>
              </a:rPr>
              <a:t>기반의 </a:t>
            </a:r>
            <a:r>
              <a:rPr lang="en-US" altLang="ko-KR" sz="1400" dirty="0">
                <a:latin typeface="+mj-ea"/>
                <a:ea typeface="+mj-ea"/>
              </a:rPr>
              <a:t>DW </a:t>
            </a:r>
            <a:r>
              <a:rPr lang="ko-KR" altLang="en-US" sz="1400" dirty="0">
                <a:latin typeface="+mj-ea"/>
                <a:ea typeface="+mj-ea"/>
              </a:rPr>
              <a:t>구축 지원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77524" y="1058997"/>
            <a:ext cx="867976" cy="1014382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2285" y="2311072"/>
            <a:ext cx="1077127" cy="847062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87048" y="3599091"/>
            <a:ext cx="1286278" cy="637910"/>
          </a:xfrm>
          <a:prstGeom prst="rect">
            <a:avLst/>
          </a:prstGeom>
        </p:spPr>
      </p:pic>
      <p:cxnSp>
        <p:nvCxnSpPr>
          <p:cNvPr id="20" name="직선 연결선 1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386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Vertica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아키텍처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Vertica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는 단순하고 효율적인 아키텍처로 대규모 데이터 분석을 지원합니다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168047" y="676727"/>
            <a:ext cx="9312729" cy="105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solidFill>
                  <a:schemeClr val="tx1"/>
                </a:solidFill>
                <a:latin typeface="+mn-ea"/>
              </a:rPr>
              <a:t>Pure-MPP (Massively Parallel Processing)</a:t>
            </a:r>
            <a:br>
              <a:rPr lang="en-US" altLang="ko-KR" sz="1400" b="1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Vertica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는 별도의 마스터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노드를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분리하지 않고 모든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노드가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동일한 역할을 수행하는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pure-MPP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구조입니다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또한 클러스터 구성이나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노드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구성에 특별한 하드웨어나 소프트웨어를 필요로 하지 않기 때문에 비용적인 강점이 있으며 복잡한 구성이 불필요하여 클러스터 구성 과정이 매우 간단하고 빠릅니다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769050" y="2034553"/>
            <a:ext cx="3192971" cy="1393647"/>
            <a:chOff x="5918698" y="2256619"/>
            <a:chExt cx="3192971" cy="1393647"/>
          </a:xfrm>
        </p:grpSpPr>
        <p:sp>
          <p:nvSpPr>
            <p:cNvPr id="50" name="Rounded Rectangle 32"/>
            <p:cNvSpPr/>
            <p:nvPr/>
          </p:nvSpPr>
          <p:spPr>
            <a:xfrm>
              <a:off x="7124680" y="3081590"/>
              <a:ext cx="306371" cy="327398"/>
            </a:xfrm>
            <a:prstGeom prst="roundRect">
              <a:avLst/>
            </a:prstGeom>
            <a:solidFill>
              <a:srgbClr val="F47E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+mn-ea"/>
              </a:endParaRPr>
            </a:p>
          </p:txBody>
        </p:sp>
        <p:sp>
          <p:nvSpPr>
            <p:cNvPr id="51" name="Rounded Rectangle 33"/>
            <p:cNvSpPr/>
            <p:nvPr/>
          </p:nvSpPr>
          <p:spPr>
            <a:xfrm>
              <a:off x="7492864" y="3081590"/>
              <a:ext cx="306371" cy="327398"/>
            </a:xfrm>
            <a:prstGeom prst="roundRect">
              <a:avLst/>
            </a:prstGeom>
            <a:solidFill>
              <a:srgbClr val="F47E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+mn-ea"/>
              </a:endParaRPr>
            </a:p>
          </p:txBody>
        </p:sp>
        <p:sp>
          <p:nvSpPr>
            <p:cNvPr id="52" name="Rounded Rectangle 34"/>
            <p:cNvSpPr/>
            <p:nvPr/>
          </p:nvSpPr>
          <p:spPr>
            <a:xfrm>
              <a:off x="7861048" y="3081590"/>
              <a:ext cx="306371" cy="327398"/>
            </a:xfrm>
            <a:prstGeom prst="roundRect">
              <a:avLst/>
            </a:prstGeom>
            <a:solidFill>
              <a:srgbClr val="F47E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+mn-ea"/>
              </a:endParaRPr>
            </a:p>
          </p:txBody>
        </p:sp>
        <p:cxnSp>
          <p:nvCxnSpPr>
            <p:cNvPr id="53" name="Straight Connector 35"/>
            <p:cNvCxnSpPr>
              <a:endCxn id="50" idx="0"/>
            </p:cNvCxnSpPr>
            <p:nvPr/>
          </p:nvCxnSpPr>
          <p:spPr>
            <a:xfrm>
              <a:off x="7277866" y="2971703"/>
              <a:ext cx="0" cy="109887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36"/>
            <p:cNvCxnSpPr/>
            <p:nvPr/>
          </p:nvCxnSpPr>
          <p:spPr>
            <a:xfrm>
              <a:off x="7646049" y="2976466"/>
              <a:ext cx="0" cy="127809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37"/>
            <p:cNvCxnSpPr/>
            <p:nvPr/>
          </p:nvCxnSpPr>
          <p:spPr>
            <a:xfrm>
              <a:off x="8014233" y="2976466"/>
              <a:ext cx="0" cy="127809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ounded Rectangle 38"/>
            <p:cNvSpPr/>
            <p:nvPr/>
          </p:nvSpPr>
          <p:spPr>
            <a:xfrm>
              <a:off x="7277867" y="2529655"/>
              <a:ext cx="306371" cy="327398"/>
            </a:xfrm>
            <a:prstGeom prst="roundRect">
              <a:avLst/>
            </a:prstGeom>
            <a:solidFill>
              <a:srgbClr val="F47E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+mn-ea"/>
              </a:endParaRPr>
            </a:p>
          </p:txBody>
        </p:sp>
        <p:cxnSp>
          <p:nvCxnSpPr>
            <p:cNvPr id="57" name="Straight Connector 39"/>
            <p:cNvCxnSpPr/>
            <p:nvPr/>
          </p:nvCxnSpPr>
          <p:spPr>
            <a:xfrm>
              <a:off x="7431052" y="2850536"/>
              <a:ext cx="1" cy="125930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40"/>
            <p:cNvCxnSpPr>
              <a:stCxn id="59" idx="2"/>
            </p:cNvCxnSpPr>
            <p:nvPr/>
          </p:nvCxnSpPr>
          <p:spPr>
            <a:xfrm>
              <a:off x="7830142" y="2857053"/>
              <a:ext cx="2654" cy="128939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ounded Rectangle 41"/>
            <p:cNvSpPr/>
            <p:nvPr/>
          </p:nvSpPr>
          <p:spPr>
            <a:xfrm>
              <a:off x="7676956" y="2529655"/>
              <a:ext cx="306371" cy="327398"/>
            </a:xfrm>
            <a:prstGeom prst="roundRect">
              <a:avLst/>
            </a:prstGeom>
            <a:solidFill>
              <a:srgbClr val="F47E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+mn-ea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227501" y="2264314"/>
              <a:ext cx="8018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30213">
                <a:spcAft>
                  <a:spcPts val="400"/>
                </a:spcAft>
                <a:buSzPct val="100000"/>
              </a:pPr>
              <a:r>
                <a:rPr lang="en-US" sz="1000" b="1" dirty="0">
                  <a:latin typeface="+mn-ea"/>
                  <a:cs typeface="HP Simplified" pitchFamily="34" charset="0"/>
                </a:rPr>
                <a:t>DB Server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106672" y="3396350"/>
              <a:ext cx="109196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30213">
                <a:spcAft>
                  <a:spcPts val="400"/>
                </a:spcAft>
                <a:buSzPct val="100000"/>
              </a:pPr>
              <a:r>
                <a:rPr lang="en-US" sz="1000" b="1" dirty="0">
                  <a:latin typeface="+mn-ea"/>
                  <a:cs typeface="HP Simplified" pitchFamily="34" charset="0"/>
                </a:rPr>
                <a:t>Storage Server</a:t>
              </a:r>
            </a:p>
          </p:txBody>
        </p:sp>
        <p:sp>
          <p:nvSpPr>
            <p:cNvPr id="62" name="Rounded Rectangle 44"/>
            <p:cNvSpPr/>
            <p:nvPr/>
          </p:nvSpPr>
          <p:spPr>
            <a:xfrm>
              <a:off x="7054159" y="2918514"/>
              <a:ext cx="1161065" cy="115905"/>
            </a:xfrm>
            <a:prstGeom prst="roundRect">
              <a:avLst/>
            </a:prstGeom>
            <a:solidFill>
              <a:srgbClr val="F0533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 err="1">
                  <a:latin typeface="+mn-ea"/>
                </a:rPr>
                <a:t>InfiniBand</a:t>
              </a:r>
              <a:endParaRPr lang="en-US" sz="800" dirty="0">
                <a:latin typeface="+mn-ea"/>
              </a:endParaRPr>
            </a:p>
          </p:txBody>
        </p:sp>
        <p:sp>
          <p:nvSpPr>
            <p:cNvPr id="63" name="Rounded Rectangle 45"/>
            <p:cNvSpPr/>
            <p:nvPr/>
          </p:nvSpPr>
          <p:spPr>
            <a:xfrm>
              <a:off x="7158426" y="3122125"/>
              <a:ext cx="220858" cy="95658"/>
            </a:xfrm>
            <a:prstGeom prst="roundRect">
              <a:avLst/>
            </a:prstGeom>
            <a:solidFill>
              <a:srgbClr val="FBD4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800" dirty="0">
                  <a:solidFill>
                    <a:srgbClr val="FF0000"/>
                  </a:solidFill>
                  <a:latin typeface="+mn-ea"/>
                </a:rPr>
                <a:t>SSD</a:t>
              </a:r>
            </a:p>
          </p:txBody>
        </p:sp>
        <p:sp>
          <p:nvSpPr>
            <p:cNvPr id="64" name="Rounded Rectangle 46"/>
            <p:cNvSpPr/>
            <p:nvPr/>
          </p:nvSpPr>
          <p:spPr>
            <a:xfrm>
              <a:off x="7535621" y="3122125"/>
              <a:ext cx="220858" cy="95658"/>
            </a:xfrm>
            <a:prstGeom prst="roundRect">
              <a:avLst/>
            </a:prstGeom>
            <a:solidFill>
              <a:srgbClr val="FBD4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800" dirty="0">
                  <a:solidFill>
                    <a:srgbClr val="FF0000"/>
                  </a:solidFill>
                  <a:latin typeface="+mn-ea"/>
                </a:rPr>
                <a:t>SSD</a:t>
              </a:r>
            </a:p>
          </p:txBody>
        </p:sp>
        <p:sp>
          <p:nvSpPr>
            <p:cNvPr id="65" name="Rounded Rectangle 47"/>
            <p:cNvSpPr/>
            <p:nvPr/>
          </p:nvSpPr>
          <p:spPr>
            <a:xfrm>
              <a:off x="7903804" y="3122125"/>
              <a:ext cx="220858" cy="95658"/>
            </a:xfrm>
            <a:prstGeom prst="roundRect">
              <a:avLst/>
            </a:prstGeom>
            <a:solidFill>
              <a:srgbClr val="FBD4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800" dirty="0">
                  <a:solidFill>
                    <a:srgbClr val="FF0000"/>
                  </a:solidFill>
                  <a:latin typeface="+mn-ea"/>
                </a:rPr>
                <a:t>SSD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934531" y="2264314"/>
              <a:ext cx="103265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30213">
                <a:spcAft>
                  <a:spcPts val="400"/>
                </a:spcAft>
                <a:buSzPct val="100000"/>
              </a:pPr>
              <a:r>
                <a:rPr lang="en-US" altLang="ko-KR" sz="1000" b="1" dirty="0">
                  <a:latin typeface="+mn-ea"/>
                  <a:cs typeface="HP Simplified" pitchFamily="34" charset="0"/>
                </a:rPr>
                <a:t>Master Server</a:t>
              </a:r>
              <a:endParaRPr lang="en-US" sz="1000" b="1" dirty="0">
                <a:latin typeface="+mn-ea"/>
                <a:cs typeface="HP Simplified" pitchFamily="34" charset="0"/>
              </a:endParaRPr>
            </a:p>
          </p:txBody>
        </p:sp>
        <p:sp>
          <p:nvSpPr>
            <p:cNvPr id="38" name="Rounded Rectangle 19"/>
            <p:cNvSpPr/>
            <p:nvPr/>
          </p:nvSpPr>
          <p:spPr>
            <a:xfrm>
              <a:off x="5918698" y="3081590"/>
              <a:ext cx="306371" cy="327398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+mn-ea"/>
              </a:endParaRPr>
            </a:p>
          </p:txBody>
        </p:sp>
        <p:sp>
          <p:nvSpPr>
            <p:cNvPr id="39" name="Rounded Rectangle 20"/>
            <p:cNvSpPr/>
            <p:nvPr/>
          </p:nvSpPr>
          <p:spPr>
            <a:xfrm>
              <a:off x="6286882" y="3081590"/>
              <a:ext cx="306371" cy="327398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+mn-ea"/>
              </a:endParaRPr>
            </a:p>
          </p:txBody>
        </p:sp>
        <p:sp>
          <p:nvSpPr>
            <p:cNvPr id="40" name="Rounded Rectangle 21"/>
            <p:cNvSpPr/>
            <p:nvPr/>
          </p:nvSpPr>
          <p:spPr>
            <a:xfrm>
              <a:off x="6655065" y="3081590"/>
              <a:ext cx="306371" cy="327398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+mn-ea"/>
              </a:endParaRPr>
            </a:p>
          </p:txBody>
        </p:sp>
        <p:cxnSp>
          <p:nvCxnSpPr>
            <p:cNvPr id="41" name="Straight Connector 22"/>
            <p:cNvCxnSpPr/>
            <p:nvPr/>
          </p:nvCxnSpPr>
          <p:spPr>
            <a:xfrm>
              <a:off x="5918698" y="2973457"/>
              <a:ext cx="1042738" cy="0"/>
            </a:xfrm>
            <a:prstGeom prst="line">
              <a:avLst/>
            </a:prstGeom>
            <a:ln w="28575" cmpd="sng">
              <a:solidFill>
                <a:srgbClr val="92D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23"/>
            <p:cNvCxnSpPr>
              <a:endCxn id="38" idx="0"/>
            </p:cNvCxnSpPr>
            <p:nvPr/>
          </p:nvCxnSpPr>
          <p:spPr>
            <a:xfrm>
              <a:off x="6071884" y="2968694"/>
              <a:ext cx="0" cy="112896"/>
            </a:xfrm>
            <a:prstGeom prst="line">
              <a:avLst/>
            </a:prstGeom>
            <a:ln w="28575" cmpd="sng">
              <a:solidFill>
                <a:srgbClr val="92D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24"/>
            <p:cNvCxnSpPr/>
            <p:nvPr/>
          </p:nvCxnSpPr>
          <p:spPr>
            <a:xfrm>
              <a:off x="6440066" y="2973457"/>
              <a:ext cx="0" cy="127809"/>
            </a:xfrm>
            <a:prstGeom prst="line">
              <a:avLst/>
            </a:prstGeom>
            <a:ln w="28575" cmpd="sng">
              <a:solidFill>
                <a:srgbClr val="92D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25"/>
            <p:cNvCxnSpPr/>
            <p:nvPr/>
          </p:nvCxnSpPr>
          <p:spPr>
            <a:xfrm>
              <a:off x="6808250" y="2973457"/>
              <a:ext cx="0" cy="127809"/>
            </a:xfrm>
            <a:prstGeom prst="line">
              <a:avLst/>
            </a:prstGeom>
            <a:ln w="28575" cmpd="sng">
              <a:solidFill>
                <a:srgbClr val="92D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ounded Rectangle 26"/>
            <p:cNvSpPr/>
            <p:nvPr/>
          </p:nvSpPr>
          <p:spPr>
            <a:xfrm>
              <a:off x="6094207" y="2529655"/>
              <a:ext cx="306371" cy="327398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+mn-ea"/>
              </a:endParaRPr>
            </a:p>
          </p:txBody>
        </p:sp>
        <p:cxnSp>
          <p:nvCxnSpPr>
            <p:cNvPr id="46" name="Straight Connector 27"/>
            <p:cNvCxnSpPr/>
            <p:nvPr/>
          </p:nvCxnSpPr>
          <p:spPr>
            <a:xfrm>
              <a:off x="6247393" y="2847527"/>
              <a:ext cx="1" cy="125930"/>
            </a:xfrm>
            <a:prstGeom prst="line">
              <a:avLst/>
            </a:prstGeom>
            <a:ln w="28575" cmpd="sng">
              <a:solidFill>
                <a:srgbClr val="92D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28"/>
            <p:cNvCxnSpPr>
              <a:stCxn id="48" idx="2"/>
            </p:cNvCxnSpPr>
            <p:nvPr/>
          </p:nvCxnSpPr>
          <p:spPr>
            <a:xfrm>
              <a:off x="6646483" y="2857053"/>
              <a:ext cx="2654" cy="125930"/>
            </a:xfrm>
            <a:prstGeom prst="line">
              <a:avLst/>
            </a:prstGeom>
            <a:ln w="28575" cmpd="sng">
              <a:solidFill>
                <a:srgbClr val="92D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ounded Rectangle 29"/>
            <p:cNvSpPr/>
            <p:nvPr/>
          </p:nvSpPr>
          <p:spPr>
            <a:xfrm>
              <a:off x="6493297" y="2529655"/>
              <a:ext cx="306371" cy="327398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+mn-ea"/>
              </a:endParaRPr>
            </a:p>
          </p:txBody>
        </p:sp>
        <p:cxnSp>
          <p:nvCxnSpPr>
            <p:cNvPr id="49" name="Straight Arrow Connector 31"/>
            <p:cNvCxnSpPr/>
            <p:nvPr/>
          </p:nvCxnSpPr>
          <p:spPr>
            <a:xfrm>
              <a:off x="6225622" y="2682059"/>
              <a:ext cx="429996" cy="0"/>
            </a:xfrm>
            <a:prstGeom prst="straightConnector1">
              <a:avLst/>
            </a:prstGeom>
            <a:ln w="12700" cmpd="sng">
              <a:solidFill>
                <a:srgbClr val="003300"/>
              </a:solidFill>
              <a:headEnd type="arrow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6021140" y="3396350"/>
              <a:ext cx="84670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30213">
                <a:spcAft>
                  <a:spcPts val="400"/>
                </a:spcAft>
                <a:buSzPct val="100000"/>
              </a:pPr>
              <a:r>
                <a:rPr lang="en-US" altLang="ko-KR" sz="1000" b="1" dirty="0">
                  <a:latin typeface="+mn-ea"/>
                  <a:cs typeface="HP Simplified" pitchFamily="34" charset="0"/>
                </a:rPr>
                <a:t>Data Node</a:t>
              </a:r>
              <a:endParaRPr lang="en-US" sz="1000" b="1" dirty="0">
                <a:latin typeface="+mn-ea"/>
                <a:cs typeface="HP Simplified" pitchFamily="34" charset="0"/>
              </a:endParaRPr>
            </a:p>
          </p:txBody>
        </p:sp>
        <p:sp>
          <p:nvSpPr>
            <p:cNvPr id="27" name="Rounded Rectangle 33"/>
            <p:cNvSpPr/>
            <p:nvPr/>
          </p:nvSpPr>
          <p:spPr>
            <a:xfrm>
              <a:off x="8489978" y="3081590"/>
              <a:ext cx="306372" cy="327398"/>
            </a:xfrm>
            <a:prstGeom prst="roundRect">
              <a:avLst/>
            </a:prstGeom>
            <a:solidFill>
              <a:srgbClr val="104E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+mn-ea"/>
              </a:endParaRPr>
            </a:p>
          </p:txBody>
        </p:sp>
        <p:sp>
          <p:nvSpPr>
            <p:cNvPr id="28" name="Rounded Rectangle 38"/>
            <p:cNvSpPr/>
            <p:nvPr/>
          </p:nvSpPr>
          <p:spPr>
            <a:xfrm>
              <a:off x="8284451" y="2529655"/>
              <a:ext cx="306372" cy="327398"/>
            </a:xfrm>
            <a:prstGeom prst="roundRect">
              <a:avLst/>
            </a:prstGeom>
            <a:solidFill>
              <a:srgbClr val="60A4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</a:endParaRPr>
            </a:p>
          </p:txBody>
        </p:sp>
        <p:cxnSp>
          <p:nvCxnSpPr>
            <p:cNvPr id="29" name="Straight Connector 39"/>
            <p:cNvCxnSpPr>
              <a:endCxn id="27" idx="0"/>
            </p:cNvCxnSpPr>
            <p:nvPr/>
          </p:nvCxnSpPr>
          <p:spPr>
            <a:xfrm>
              <a:off x="8428166" y="2845775"/>
              <a:ext cx="214998" cy="235815"/>
            </a:xfrm>
            <a:prstGeom prst="line">
              <a:avLst/>
            </a:prstGeom>
            <a:ln w="28575" cmpd="sng">
              <a:solidFill>
                <a:schemeClr val="accent4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40"/>
            <p:cNvCxnSpPr>
              <a:stCxn id="31" idx="2"/>
              <a:endCxn id="27" idx="0"/>
            </p:cNvCxnSpPr>
            <p:nvPr/>
          </p:nvCxnSpPr>
          <p:spPr>
            <a:xfrm flipH="1">
              <a:off x="8643164" y="2857053"/>
              <a:ext cx="193562" cy="224537"/>
            </a:xfrm>
            <a:prstGeom prst="line">
              <a:avLst/>
            </a:prstGeom>
            <a:ln w="28575" cmpd="sng">
              <a:solidFill>
                <a:schemeClr val="accent4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ounded Rectangle 41"/>
            <p:cNvSpPr/>
            <p:nvPr/>
          </p:nvSpPr>
          <p:spPr>
            <a:xfrm>
              <a:off x="8683540" y="2529655"/>
              <a:ext cx="306372" cy="327398"/>
            </a:xfrm>
            <a:prstGeom prst="roundRect">
              <a:avLst/>
            </a:prstGeom>
            <a:solidFill>
              <a:srgbClr val="60A4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+mn-ea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212704" y="2256619"/>
              <a:ext cx="44595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30213">
                <a:spcAft>
                  <a:spcPts val="400"/>
                </a:spcAft>
                <a:buSzPct val="100000"/>
              </a:pPr>
              <a:r>
                <a:rPr lang="en-US" sz="1000" b="1" dirty="0">
                  <a:latin typeface="+mn-ea"/>
                  <a:cs typeface="HP Simplified" pitchFamily="34" charset="0"/>
                </a:rPr>
                <a:t>R/W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312160" y="3396350"/>
              <a:ext cx="68640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30213">
                <a:spcAft>
                  <a:spcPts val="400"/>
                </a:spcAft>
                <a:buSzPct val="100000"/>
              </a:pPr>
              <a:r>
                <a:rPr lang="en-US" sz="1000" b="1" dirty="0">
                  <a:latin typeface="+mn-ea"/>
                  <a:cs typeface="HP Simplified" pitchFamily="34" charset="0"/>
                </a:rPr>
                <a:t>Storage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543884" y="2256619"/>
              <a:ext cx="56778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30213">
                <a:spcAft>
                  <a:spcPts val="400"/>
                </a:spcAft>
                <a:buSzPct val="100000"/>
              </a:pPr>
              <a:r>
                <a:rPr lang="en-US" sz="1000" b="1" dirty="0">
                  <a:latin typeface="+mn-ea"/>
                  <a:cs typeface="HP Simplified" pitchFamily="34" charset="0"/>
                </a:rPr>
                <a:t>READ</a:t>
              </a:r>
            </a:p>
          </p:txBody>
        </p:sp>
      </p:grpSp>
      <p:sp>
        <p:nvSpPr>
          <p:cNvPr id="23" name="Rectangle 18"/>
          <p:cNvSpPr/>
          <p:nvPr/>
        </p:nvSpPr>
        <p:spPr>
          <a:xfrm>
            <a:off x="1548645" y="1694192"/>
            <a:ext cx="163378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30213">
              <a:spcAft>
                <a:spcPts val="400"/>
              </a:spcAft>
              <a:buSzPct val="100000"/>
            </a:pPr>
            <a:r>
              <a:rPr lang="en-US" sz="1600" b="1" dirty="0">
                <a:latin typeface="+mn-ea"/>
                <a:cs typeface="HP Simplified" pitchFamily="34" charset="0"/>
              </a:rPr>
              <a:t>Other Systems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6229146" y="2059520"/>
            <a:ext cx="2514330" cy="1482492"/>
            <a:chOff x="6385195" y="3966698"/>
            <a:chExt cx="2514330" cy="1482492"/>
          </a:xfrm>
        </p:grpSpPr>
        <p:cxnSp>
          <p:nvCxnSpPr>
            <p:cNvPr id="73" name="Straight Connector 8"/>
            <p:cNvCxnSpPr/>
            <p:nvPr/>
          </p:nvCxnSpPr>
          <p:spPr>
            <a:xfrm>
              <a:off x="6390704" y="4238626"/>
              <a:ext cx="2350576" cy="0"/>
            </a:xfrm>
            <a:prstGeom prst="line">
              <a:avLst/>
            </a:prstGeom>
            <a:ln w="28575" cmpd="sng">
              <a:solidFill>
                <a:srgbClr val="0079E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ounded Rectangle 4"/>
            <p:cNvSpPr/>
            <p:nvPr/>
          </p:nvSpPr>
          <p:spPr>
            <a:xfrm>
              <a:off x="6435120" y="4342287"/>
              <a:ext cx="383479" cy="380228"/>
            </a:xfrm>
            <a:prstGeom prst="roundRect">
              <a:avLst/>
            </a:prstGeom>
            <a:solidFill>
              <a:srgbClr val="0079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n-ea"/>
              </a:endParaRPr>
            </a:p>
          </p:txBody>
        </p:sp>
        <p:cxnSp>
          <p:nvCxnSpPr>
            <p:cNvPr id="85" name="Straight Connector 9"/>
            <p:cNvCxnSpPr/>
            <p:nvPr/>
          </p:nvCxnSpPr>
          <p:spPr>
            <a:xfrm>
              <a:off x="6626859" y="4238626"/>
              <a:ext cx="0" cy="232105"/>
            </a:xfrm>
            <a:prstGeom prst="line">
              <a:avLst/>
            </a:prstGeom>
            <a:ln w="28575" cmpd="sng">
              <a:solidFill>
                <a:srgbClr val="0079E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Rounded Rectangle 5"/>
            <p:cNvSpPr/>
            <p:nvPr/>
          </p:nvSpPr>
          <p:spPr>
            <a:xfrm>
              <a:off x="7055513" y="4342287"/>
              <a:ext cx="383479" cy="380228"/>
            </a:xfrm>
            <a:prstGeom prst="roundRect">
              <a:avLst/>
            </a:prstGeom>
            <a:solidFill>
              <a:srgbClr val="0079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n-ea"/>
              </a:endParaRPr>
            </a:p>
          </p:txBody>
        </p:sp>
        <p:cxnSp>
          <p:nvCxnSpPr>
            <p:cNvPr id="83" name="Straight Connector 10"/>
            <p:cNvCxnSpPr/>
            <p:nvPr/>
          </p:nvCxnSpPr>
          <p:spPr>
            <a:xfrm>
              <a:off x="7247251" y="4238626"/>
              <a:ext cx="0" cy="232105"/>
            </a:xfrm>
            <a:prstGeom prst="line">
              <a:avLst/>
            </a:prstGeom>
            <a:ln w="28575" cmpd="sng">
              <a:solidFill>
                <a:srgbClr val="0079E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Rounded Rectangle 6"/>
            <p:cNvSpPr/>
            <p:nvPr/>
          </p:nvSpPr>
          <p:spPr>
            <a:xfrm>
              <a:off x="7675905" y="4348637"/>
              <a:ext cx="383479" cy="380228"/>
            </a:xfrm>
            <a:prstGeom prst="roundRect">
              <a:avLst/>
            </a:prstGeom>
            <a:solidFill>
              <a:srgbClr val="0079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n-ea"/>
              </a:endParaRPr>
            </a:p>
          </p:txBody>
        </p:sp>
        <p:cxnSp>
          <p:nvCxnSpPr>
            <p:cNvPr id="81" name="Straight Connector 11"/>
            <p:cNvCxnSpPr/>
            <p:nvPr/>
          </p:nvCxnSpPr>
          <p:spPr>
            <a:xfrm>
              <a:off x="7867644" y="4232276"/>
              <a:ext cx="0" cy="232105"/>
            </a:xfrm>
            <a:prstGeom prst="line">
              <a:avLst/>
            </a:prstGeom>
            <a:ln w="28575" cmpd="sng">
              <a:solidFill>
                <a:srgbClr val="0079E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Rounded Rectangle 7"/>
            <p:cNvSpPr/>
            <p:nvPr/>
          </p:nvSpPr>
          <p:spPr>
            <a:xfrm>
              <a:off x="8296297" y="4342287"/>
              <a:ext cx="383479" cy="380228"/>
            </a:xfrm>
            <a:prstGeom prst="roundRect">
              <a:avLst/>
            </a:prstGeom>
            <a:solidFill>
              <a:srgbClr val="0079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n-ea"/>
              </a:endParaRPr>
            </a:p>
          </p:txBody>
        </p:sp>
        <p:cxnSp>
          <p:nvCxnSpPr>
            <p:cNvPr id="79" name="Straight Connector 12"/>
            <p:cNvCxnSpPr/>
            <p:nvPr/>
          </p:nvCxnSpPr>
          <p:spPr>
            <a:xfrm>
              <a:off x="8488036" y="4238626"/>
              <a:ext cx="0" cy="232105"/>
            </a:xfrm>
            <a:prstGeom prst="line">
              <a:avLst/>
            </a:prstGeom>
            <a:ln w="28575" cmpd="sng">
              <a:solidFill>
                <a:srgbClr val="0079E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/>
            <p:cNvSpPr txBox="1"/>
            <p:nvPr/>
          </p:nvSpPr>
          <p:spPr>
            <a:xfrm>
              <a:off x="6860682" y="3966698"/>
              <a:ext cx="1441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30213">
                <a:spcAft>
                  <a:spcPts val="400"/>
                </a:spcAft>
                <a:buSzPct val="100000"/>
              </a:pPr>
              <a:r>
                <a:rPr lang="en-US" altLang="ko-KR" sz="1100" b="1" dirty="0">
                  <a:latin typeface="+mn-ea"/>
                  <a:cs typeface="HP Simplified" pitchFamily="34" charset="0"/>
                </a:rPr>
                <a:t>10G Ethernet N/W </a:t>
              </a:r>
              <a:endParaRPr lang="en-US" sz="1100" b="1" dirty="0">
                <a:latin typeface="+mn-ea"/>
                <a:cs typeface="HP Simplified" pitchFamily="34" charset="0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6576328" y="4422186"/>
              <a:ext cx="1965634" cy="23083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noAutofit/>
            </a:bodyPr>
            <a:lstStyle/>
            <a:p>
              <a:pPr algn="ctr" defTabSz="430213">
                <a:spcAft>
                  <a:spcPts val="400"/>
                </a:spcAft>
                <a:buSzPct val="100000"/>
              </a:pPr>
              <a:r>
                <a:rPr lang="en-US" altLang="ko-KR" sz="1100" b="1" dirty="0">
                  <a:latin typeface="+mn-ea"/>
                  <a:cs typeface="HP Simplified" pitchFamily="34" charset="0"/>
                </a:rPr>
                <a:t>Commodity Servers</a:t>
              </a:r>
              <a:endParaRPr lang="en-US" sz="1100" b="1" dirty="0">
                <a:latin typeface="+mn-ea"/>
                <a:cs typeface="HP Simplified" pitchFamily="34" charset="0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6385195" y="4741304"/>
              <a:ext cx="25143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defTabSz="430213">
                <a:lnSpc>
                  <a:spcPts val="1200"/>
                </a:lnSpc>
                <a:buSzPct val="100000"/>
                <a:buFont typeface="Wingdings" pitchFamily="2" charset="2"/>
                <a:buChar char="§"/>
              </a:pPr>
              <a:r>
                <a:rPr lang="en-US" altLang="ko-KR" sz="1050" dirty="0">
                  <a:latin typeface="+mn-ea"/>
                  <a:cs typeface="HP Simplified" pitchFamily="34" charset="0"/>
                </a:rPr>
                <a:t>No specialized nodes</a:t>
              </a:r>
            </a:p>
            <a:p>
              <a:pPr marL="171450" indent="-171450" defTabSz="430213">
                <a:lnSpc>
                  <a:spcPts val="1200"/>
                </a:lnSpc>
                <a:buSzPct val="100000"/>
                <a:buFont typeface="Wingdings" pitchFamily="2" charset="2"/>
                <a:buChar char="§"/>
              </a:pPr>
              <a:r>
                <a:rPr lang="en-US" altLang="ko-KR" sz="1050" dirty="0">
                  <a:latin typeface="+mn-ea"/>
                  <a:cs typeface="HP Simplified" pitchFamily="34" charset="0"/>
                </a:rPr>
                <a:t>All nodes are peers</a:t>
              </a:r>
            </a:p>
            <a:p>
              <a:pPr marL="171450" indent="-171450" defTabSz="430213">
                <a:lnSpc>
                  <a:spcPts val="1200"/>
                </a:lnSpc>
                <a:buSzPct val="100000"/>
                <a:buFont typeface="Wingdings" pitchFamily="2" charset="2"/>
                <a:buChar char="§"/>
              </a:pPr>
              <a:r>
                <a:rPr lang="en-US" altLang="ko-KR" sz="1050" dirty="0">
                  <a:latin typeface="+mn-ea"/>
                  <a:cs typeface="HP Simplified" pitchFamily="34" charset="0"/>
                </a:rPr>
                <a:t>Query/Load to any node</a:t>
              </a:r>
            </a:p>
            <a:p>
              <a:pPr marL="171450" indent="-171450" defTabSz="430213">
                <a:lnSpc>
                  <a:spcPts val="1200"/>
                </a:lnSpc>
                <a:buSzPct val="100000"/>
                <a:buFont typeface="Wingdings" pitchFamily="2" charset="2"/>
                <a:buChar char="§"/>
              </a:pPr>
              <a:r>
                <a:rPr lang="en-US" altLang="ko-KR" sz="1050" dirty="0">
                  <a:latin typeface="+mn-ea"/>
                  <a:cs typeface="HP Simplified" pitchFamily="34" charset="0"/>
                </a:rPr>
                <a:t>Continuous/real-time load &amp; query</a:t>
              </a:r>
            </a:p>
          </p:txBody>
        </p:sp>
      </p:grpSp>
      <p:sp>
        <p:nvSpPr>
          <p:cNvPr id="72" name="Rectangle 17"/>
          <p:cNvSpPr/>
          <p:nvPr/>
        </p:nvSpPr>
        <p:spPr>
          <a:xfrm>
            <a:off x="6945137" y="1694192"/>
            <a:ext cx="108234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30213">
              <a:spcAft>
                <a:spcPts val="400"/>
              </a:spcAft>
              <a:buSzPct val="100000"/>
            </a:pPr>
            <a:r>
              <a:rPr lang="en-US" sz="1600" b="1" dirty="0">
                <a:latin typeface="+mn-ea"/>
                <a:cs typeface="HP Simplified" pitchFamily="34" charset="0"/>
              </a:rPr>
              <a:t>VERTICA</a:t>
            </a:r>
          </a:p>
        </p:txBody>
      </p:sp>
      <p:pic>
        <p:nvPicPr>
          <p:cNvPr id="8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421" y="5905474"/>
            <a:ext cx="4850208" cy="2371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0" name="내용 개체 틀 2"/>
          <p:cNvSpPr txBox="1">
            <a:spLocks/>
          </p:cNvSpPr>
          <p:nvPr/>
        </p:nvSpPr>
        <p:spPr bwMode="auto">
          <a:xfrm>
            <a:off x="5214003" y="6271052"/>
            <a:ext cx="4275845" cy="184665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lvl="1">
              <a:lnSpc>
                <a:spcPct val="200000"/>
              </a:lnSpc>
              <a:buClr>
                <a:schemeClr val="tx2"/>
              </a:buClr>
              <a:defRPr/>
            </a:pPr>
            <a:r>
              <a:rPr lang="ko-KR" altLang="en-US" sz="1000" b="1" kern="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◆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 압축과 질의가 물리적인 </a:t>
            </a:r>
            <a:r>
              <a:rPr lang="en-US" altLang="ko-KR" sz="1100" b="1" kern="0" dirty="0">
                <a:latin typeface="+mn-ea"/>
                <a:cs typeface="Pretendard Variable SemiBold" panose="02000003000000020004" pitchFamily="2" charset="-127"/>
              </a:rPr>
              <a:t>I/O 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레벨부터 컬럼 단위로 처리</a:t>
            </a:r>
          </a:p>
          <a:p>
            <a:pPr marL="0" lvl="1">
              <a:lnSpc>
                <a:spcPct val="200000"/>
              </a:lnSpc>
              <a:buClr>
                <a:schemeClr val="tx2"/>
              </a:buClr>
              <a:defRPr/>
            </a:pPr>
            <a:r>
              <a:rPr lang="ko-KR" altLang="en-US" sz="1000" b="1" kern="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◆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 </a:t>
            </a:r>
            <a:r>
              <a:rPr lang="ko-KR" altLang="en-US" sz="1100" b="1" kern="0" dirty="0" err="1">
                <a:latin typeface="+mn-ea"/>
                <a:cs typeface="Pretendard Variable SemiBold" panose="02000003000000020004" pitchFamily="2" charset="-127"/>
              </a:rPr>
              <a:t>컬럼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 기반 저장 기술에 맞는 쿼리 옵티마이저</a:t>
            </a:r>
          </a:p>
          <a:p>
            <a:pPr marL="0" lvl="1">
              <a:lnSpc>
                <a:spcPct val="200000"/>
              </a:lnSpc>
              <a:buClr>
                <a:schemeClr val="tx2"/>
              </a:buClr>
              <a:defRPr/>
            </a:pPr>
            <a:r>
              <a:rPr lang="ko-KR" altLang="en-US" sz="1000" b="1" kern="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◆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 </a:t>
            </a:r>
            <a:r>
              <a:rPr lang="ko-KR" altLang="en-US" sz="1100" b="1" kern="0" dirty="0" err="1">
                <a:latin typeface="+mn-ea"/>
                <a:cs typeface="Pretendard Variable SemiBold" panose="02000003000000020004" pitchFamily="2" charset="-127"/>
              </a:rPr>
              <a:t>컬럼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 단위 저장</a:t>
            </a:r>
            <a:r>
              <a:rPr lang="en-US" altLang="ko-KR" sz="1100" b="1" kern="0" dirty="0">
                <a:latin typeface="+mn-ea"/>
                <a:cs typeface="Pretendard Variable SemiBold" panose="02000003000000020004" pitchFamily="2" charset="-127"/>
              </a:rPr>
              <a:t>, 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처리를 위한 별도의 옵션이나 절차가 불필요</a:t>
            </a:r>
          </a:p>
          <a:p>
            <a:pPr marL="0" lvl="1">
              <a:lnSpc>
                <a:spcPct val="200000"/>
              </a:lnSpc>
              <a:buClr>
                <a:schemeClr val="tx2"/>
              </a:buClr>
              <a:defRPr/>
            </a:pPr>
            <a:r>
              <a:rPr lang="ko-KR" altLang="en-US" sz="1000" b="1" kern="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◆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 </a:t>
            </a:r>
            <a:r>
              <a:rPr lang="ko-KR" altLang="en-US" sz="1100" b="1" kern="0" dirty="0" err="1">
                <a:latin typeface="+mn-ea"/>
                <a:cs typeface="Pretendard Variable SemiBold" panose="02000003000000020004" pitchFamily="2" charset="-127"/>
              </a:rPr>
              <a:t>컬럼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 저장 구조에 최적화된 데이터 적재와 트랜잭션 처리</a:t>
            </a:r>
          </a:p>
          <a:p>
            <a:pPr marL="0" lvl="1">
              <a:lnSpc>
                <a:spcPct val="200000"/>
              </a:lnSpc>
              <a:buClr>
                <a:schemeClr val="tx2"/>
              </a:buClr>
              <a:defRPr/>
            </a:pPr>
            <a:r>
              <a:rPr lang="ko-KR" altLang="en-US" sz="1000" b="1" kern="0" dirty="0">
                <a:solidFill>
                  <a:srgbClr val="0083CE"/>
                </a:solidFill>
                <a:latin typeface="+mn-ea"/>
                <a:cs typeface="Pretendard Variable SemiBold" panose="02000003000000020004" pitchFamily="2" charset="-127"/>
              </a:rPr>
              <a:t>◆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 적은 하드웨어 리소스로 다른 </a:t>
            </a:r>
            <a:r>
              <a:rPr lang="en-US" altLang="ko-KR" sz="1100" b="1" kern="0" dirty="0">
                <a:latin typeface="+mn-ea"/>
                <a:cs typeface="Pretendard Variable SemiBold" panose="02000003000000020004" pitchFamily="2" charset="-127"/>
              </a:rPr>
              <a:t>DBMS</a:t>
            </a:r>
            <a:r>
              <a:rPr lang="ko-KR" altLang="en-US" sz="1100" b="1" kern="0" dirty="0">
                <a:latin typeface="+mn-ea"/>
                <a:cs typeface="Pretendard Variable SemiBold" panose="02000003000000020004" pitchFamily="2" charset="-127"/>
              </a:rPr>
              <a:t>와 동일한 작업 수행</a:t>
            </a:r>
          </a:p>
        </p:txBody>
      </p:sp>
      <p:sp>
        <p:nvSpPr>
          <p:cNvPr id="88" name="직사각형 87"/>
          <p:cNvSpPr/>
          <p:nvPr/>
        </p:nvSpPr>
        <p:spPr>
          <a:xfrm>
            <a:off x="140833" y="4738919"/>
            <a:ext cx="9312729" cy="10305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solidFill>
                  <a:schemeClr val="tx1"/>
                </a:solidFill>
                <a:latin typeface="+mn-ea"/>
              </a:rPr>
              <a:t>Native Columnar</a:t>
            </a:r>
            <a:br>
              <a:rPr lang="en-US" altLang="ko-KR" sz="1400" b="1" dirty="0" smtClean="0">
                <a:solidFill>
                  <a:schemeClr val="tx1"/>
                </a:solidFill>
                <a:latin typeface="+mn-ea"/>
              </a:rPr>
            </a:b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대용량 데이터를 관리하는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DW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데이터베이스의 성능은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I/O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를 얼마나 줄일 수 있느냐에 달려 있습니다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 </a:t>
            </a:r>
          </a:p>
          <a:p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Vertica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의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Columnar DBMS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아키텍처는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Query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수행에 필요한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Column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만을 읽어 올 수 있도록 설계되었기 때문에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Query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시 마다 모든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`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열을 읽어와야 하는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row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기반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DBMS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와 비교하여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I/O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발생량을 획기적으로 감소시킬 수 있습니다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1" name="직선 연결선 90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/>
          <p:cNvSpPr/>
          <p:nvPr/>
        </p:nvSpPr>
        <p:spPr>
          <a:xfrm>
            <a:off x="435702" y="3454405"/>
            <a:ext cx="3859666" cy="108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두 종류 이상의 서버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특별한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H/W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사용으로 복잡도 증가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마스터 서버를 통한 작업 수행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저가형 서버 사용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관리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운영에 다양한 고려사항 존재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5414965" y="3552375"/>
            <a:ext cx="4142693" cy="108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동일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스펙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동일 구성의 서버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단순한 구성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아무 서버에나 작업을 요청하면 전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노드가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병렬 수행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시장의 신뢰도를 확보한 서버 사용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관리 및 사용 용이성 확보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4473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직사각형 89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Vertica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연계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272142" y="435429"/>
            <a:ext cx="9312729" cy="9107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solidFill>
                  <a:schemeClr val="tx1"/>
                </a:solidFill>
                <a:latin typeface="+mn-ea"/>
              </a:rPr>
              <a:t>Kafka / Spark </a:t>
            </a:r>
            <a:r>
              <a:rPr lang="ko-KR" altLang="en-US" sz="1400" b="1" dirty="0" smtClean="0">
                <a:solidFill>
                  <a:schemeClr val="tx1"/>
                </a:solidFill>
                <a:latin typeface="+mn-ea"/>
              </a:rPr>
              <a:t>연계</a:t>
            </a:r>
            <a:endParaRPr lang="en-US" altLang="ko-KR" sz="1400" b="1" dirty="0" smtClean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다양한 채널 및 플랫폼에서 유입되는 데이터를 실시간으로 저장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분석하기 위해서는 데이터 파이프 라인 플랫폼과의 유기적인 연계가 필수적입니다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.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2" name="직선 연결선 91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그룹 132"/>
          <p:cNvGrpSpPr/>
          <p:nvPr/>
        </p:nvGrpSpPr>
        <p:grpSpPr>
          <a:xfrm>
            <a:off x="111556" y="3616255"/>
            <a:ext cx="4710817" cy="1200329"/>
            <a:chOff x="3974094" y="1195996"/>
            <a:chExt cx="5738410" cy="1200329"/>
          </a:xfrm>
        </p:grpSpPr>
        <p:sp>
          <p:nvSpPr>
            <p:cNvPr id="97" name="타원 96">
              <a:extLst>
                <a:ext uri="{FF2B5EF4-FFF2-40B4-BE49-F238E27FC236}">
                  <a16:creationId xmlns:a16="http://schemas.microsoft.com/office/drawing/2014/main" xmlns="" id="{2A6A11AC-31D1-C238-469B-B8065561C8B3}"/>
                </a:ext>
              </a:extLst>
            </p:cNvPr>
            <p:cNvSpPr/>
            <p:nvPr/>
          </p:nvSpPr>
          <p:spPr>
            <a:xfrm>
              <a:off x="3974094" y="1232477"/>
              <a:ext cx="189788" cy="189788"/>
            </a:xfrm>
            <a:prstGeom prst="ellipse">
              <a:avLst/>
            </a:prstGeom>
            <a:solidFill>
              <a:srgbClr val="C6179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xmlns="" id="{370FDDD1-392F-C3F6-7926-8F5450602B51}"/>
                </a:ext>
              </a:extLst>
            </p:cNvPr>
            <p:cNvSpPr txBox="1"/>
            <p:nvPr/>
          </p:nvSpPr>
          <p:spPr>
            <a:xfrm>
              <a:off x="4118110" y="1195996"/>
              <a:ext cx="5594394" cy="1200329"/>
            </a:xfrm>
            <a:prstGeom prst="rect">
              <a:avLst/>
            </a:prstGeom>
          </p:spPr>
          <p:txBody>
            <a:bodyPr vert="horz" wrap="square" lIns="91440" tIns="45720" rIns="91440" bIns="45720" rtlCol="0" anchor="t" anchorCtr="0">
              <a:spAutoFit/>
            </a:bodyPr>
            <a:lstStyle/>
            <a:p>
              <a:pPr latinLnBrk="0"/>
              <a:r>
                <a:rPr lang="en-GB" sz="1200" b="1" dirty="0">
                  <a:solidFill>
                    <a:srgbClr val="1668C1"/>
                  </a:solidFill>
                  <a:latin typeface="+mn-ea"/>
                  <a:cs typeface="Roboto Light" charset="0"/>
                </a:rPr>
                <a:t>Consume</a:t>
              </a:r>
            </a:p>
            <a:p>
              <a:pPr latinLnBrk="0">
                <a:lnSpc>
                  <a:spcPct val="150000"/>
                </a:lnSpc>
              </a:pPr>
              <a:r>
                <a:rPr lang="ko-KR" altLang="en-US" sz="1000" dirty="0">
                  <a:solidFill>
                    <a:srgbClr val="1668C1"/>
                  </a:solidFill>
                  <a:latin typeface="+mn-ea"/>
                </a:rPr>
                <a:t>별도의 솔루션이나 커넥터 없이 카프카 토픽을 적재하는 기능을 빌트인 함수로 제공</a:t>
              </a:r>
              <a:endParaRPr lang="en-GB" altLang="ko-KR" sz="1000" dirty="0">
                <a:solidFill>
                  <a:srgbClr val="1668C1"/>
                </a:solidFill>
                <a:latin typeface="+mn-ea"/>
              </a:endParaRPr>
            </a:p>
            <a:p>
              <a:pPr latinLnBrk="0">
                <a:lnSpc>
                  <a:spcPct val="150000"/>
                </a:lnSpc>
              </a:pPr>
              <a:r>
                <a:rPr lang="ko-KR" altLang="en-US" sz="1000" dirty="0">
                  <a:solidFill>
                    <a:srgbClr val="1668C1"/>
                  </a:solidFill>
                  <a:latin typeface="+mn-ea"/>
                </a:rPr>
                <a:t>카프카 토픽의 파티션을 병렬로 적재하여 실시간 스트리밍 데이터 처리에 최적화</a:t>
              </a:r>
              <a:endParaRPr lang="en-GB" altLang="ko-KR" sz="1000" dirty="0">
                <a:solidFill>
                  <a:srgbClr val="1668C1"/>
                </a:solidFill>
                <a:latin typeface="+mn-ea"/>
              </a:endParaRPr>
            </a:p>
            <a:p>
              <a:pPr latinLnBrk="0">
                <a:lnSpc>
                  <a:spcPct val="150000"/>
                </a:lnSpc>
              </a:pPr>
              <a:r>
                <a:rPr lang="ko-KR" altLang="en-US" sz="1000" dirty="0">
                  <a:solidFill>
                    <a:srgbClr val="1668C1"/>
                  </a:solidFill>
                  <a:latin typeface="+mn-ea"/>
                </a:rPr>
                <a:t>자동으로 지속적인 </a:t>
              </a:r>
              <a:r>
                <a:rPr lang="ko-KR" altLang="en-US" sz="1000" dirty="0" err="1">
                  <a:solidFill>
                    <a:srgbClr val="1668C1"/>
                  </a:solidFill>
                  <a:latin typeface="+mn-ea"/>
                </a:rPr>
                <a:t>컨슈밍을</a:t>
              </a:r>
              <a:r>
                <a:rPr lang="ko-KR" altLang="en-US" sz="1000" dirty="0">
                  <a:solidFill>
                    <a:srgbClr val="1668C1"/>
                  </a:solidFill>
                  <a:latin typeface="+mn-ea"/>
                </a:rPr>
                <a:t> 지원하기 위한 </a:t>
              </a:r>
              <a:r>
                <a:rPr lang="ko-KR" altLang="en-US" sz="1000" dirty="0" err="1">
                  <a:solidFill>
                    <a:srgbClr val="1668C1"/>
                  </a:solidFill>
                  <a:latin typeface="+mn-ea"/>
                </a:rPr>
                <a:t>마이크로배치</a:t>
              </a:r>
              <a:r>
                <a:rPr lang="ko-KR" altLang="en-US" sz="1000" dirty="0">
                  <a:solidFill>
                    <a:srgbClr val="1668C1"/>
                  </a:solidFill>
                  <a:latin typeface="+mn-ea"/>
                </a:rPr>
                <a:t> 기능 탑재</a:t>
              </a:r>
              <a:endParaRPr lang="en-GB" altLang="ko-KR" sz="1000" dirty="0">
                <a:solidFill>
                  <a:srgbClr val="1668C1"/>
                </a:solidFill>
                <a:latin typeface="+mn-ea"/>
              </a:endParaRPr>
            </a:p>
            <a:p>
              <a:pPr latinLnBrk="0">
                <a:lnSpc>
                  <a:spcPct val="150000"/>
                </a:lnSpc>
              </a:pPr>
              <a:endParaRPr lang="en-GB" sz="1000" dirty="0">
                <a:solidFill>
                  <a:srgbClr val="1668C1"/>
                </a:solidFill>
                <a:latin typeface="+mn-ea"/>
              </a:endParaRPr>
            </a:p>
          </p:txBody>
        </p:sp>
      </p:grpSp>
      <p:grpSp>
        <p:nvGrpSpPr>
          <p:cNvPr id="131" name="그룹 130"/>
          <p:cNvGrpSpPr/>
          <p:nvPr/>
        </p:nvGrpSpPr>
        <p:grpSpPr>
          <a:xfrm>
            <a:off x="119744" y="5097233"/>
            <a:ext cx="4755888" cy="738664"/>
            <a:chOff x="3926949" y="2618919"/>
            <a:chExt cx="5793314" cy="738664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xmlns="" id="{8A596585-4EFC-7C6C-63D0-E577FBF1E255}"/>
                </a:ext>
              </a:extLst>
            </p:cNvPr>
            <p:cNvSpPr/>
            <p:nvPr/>
          </p:nvSpPr>
          <p:spPr>
            <a:xfrm>
              <a:off x="3926949" y="2655400"/>
              <a:ext cx="189788" cy="189788"/>
            </a:xfrm>
            <a:prstGeom prst="ellipse">
              <a:avLst/>
            </a:prstGeom>
            <a:solidFill>
              <a:srgbClr val="C6179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3</a:t>
              </a:r>
              <a:endPara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xmlns="" id="{A2DBD73D-1544-9997-4B5E-7BE89DA70BD5}"/>
                </a:ext>
              </a:extLst>
            </p:cNvPr>
            <p:cNvSpPr txBox="1"/>
            <p:nvPr/>
          </p:nvSpPr>
          <p:spPr>
            <a:xfrm>
              <a:off x="4070965" y="2618919"/>
              <a:ext cx="5649298" cy="738664"/>
            </a:xfrm>
            <a:prstGeom prst="rect">
              <a:avLst/>
            </a:prstGeom>
          </p:spPr>
          <p:txBody>
            <a:bodyPr vert="horz" wrap="square" lIns="91440" tIns="45720" rIns="91440" bIns="45720" rtlCol="0" anchor="t" anchorCtr="0">
              <a:spAutoFit/>
            </a:bodyPr>
            <a:lstStyle/>
            <a:p>
              <a:pPr latinLnBrk="0"/>
              <a:r>
                <a:rPr lang="en-US" altLang="ko-KR" sz="1200" b="1" dirty="0">
                  <a:solidFill>
                    <a:srgbClr val="1668C1"/>
                  </a:solidFill>
                  <a:latin typeface="+mn-ea"/>
                  <a:cs typeface="Roboto Light" charset="0"/>
                </a:rPr>
                <a:t>Produce</a:t>
              </a:r>
              <a:endParaRPr lang="en-GB" sz="1200" b="1" dirty="0">
                <a:solidFill>
                  <a:srgbClr val="1668C1"/>
                </a:solidFill>
                <a:latin typeface="+mn-ea"/>
                <a:cs typeface="Roboto Light" charset="0"/>
              </a:endParaRPr>
            </a:p>
            <a:p>
              <a:pPr latinLnBrk="0">
                <a:lnSpc>
                  <a:spcPct val="150000"/>
                </a:lnSpc>
              </a:pPr>
              <a:r>
                <a:rPr lang="ko-KR" altLang="en-US" sz="1000" dirty="0" err="1">
                  <a:solidFill>
                    <a:srgbClr val="1668C1"/>
                  </a:solidFill>
                  <a:latin typeface="+mn-ea"/>
                </a:rPr>
                <a:t>버티카에</a:t>
              </a:r>
              <a:r>
                <a:rPr lang="ko-KR" altLang="en-US" sz="1000" dirty="0">
                  <a:solidFill>
                    <a:srgbClr val="1668C1"/>
                  </a:solidFill>
                  <a:latin typeface="+mn-ea"/>
                </a:rPr>
                <a:t> 저장된 데이터를 카프카로 추출하는 기능을 제공</a:t>
              </a:r>
              <a:endParaRPr lang="en-GB" altLang="ko-KR" sz="1000" dirty="0">
                <a:solidFill>
                  <a:srgbClr val="1668C1"/>
                </a:solidFill>
                <a:latin typeface="+mn-ea"/>
              </a:endParaRPr>
            </a:p>
            <a:p>
              <a:pPr latinLnBrk="0">
                <a:lnSpc>
                  <a:spcPct val="150000"/>
                </a:lnSpc>
              </a:pPr>
              <a:r>
                <a:rPr lang="ko-KR" altLang="en-US" sz="1000" dirty="0">
                  <a:solidFill>
                    <a:srgbClr val="1668C1"/>
                  </a:solidFill>
                  <a:latin typeface="+mn-ea"/>
                </a:rPr>
                <a:t>추가적인 구축 없이 데이터 파이프 라인과 양방향으로 데이터를 주고 받을 수 있는 아키텍처</a:t>
              </a:r>
              <a:endParaRPr lang="en-GB" sz="1000" dirty="0">
                <a:solidFill>
                  <a:srgbClr val="1668C1"/>
                </a:solidFill>
                <a:latin typeface="+mn-ea"/>
              </a:endParaRPr>
            </a:p>
          </p:txBody>
        </p:sp>
      </p:grpSp>
      <p:grpSp>
        <p:nvGrpSpPr>
          <p:cNvPr id="130" name="그룹 129"/>
          <p:cNvGrpSpPr/>
          <p:nvPr/>
        </p:nvGrpSpPr>
        <p:grpSpPr>
          <a:xfrm>
            <a:off x="4974772" y="4448608"/>
            <a:ext cx="4755888" cy="1431161"/>
            <a:chOff x="3926949" y="3338266"/>
            <a:chExt cx="5793314" cy="1431161"/>
          </a:xfrm>
        </p:grpSpPr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xmlns="" id="{D7536991-A61A-F58E-EC18-61A6F108717B}"/>
                </a:ext>
              </a:extLst>
            </p:cNvPr>
            <p:cNvSpPr/>
            <p:nvPr/>
          </p:nvSpPr>
          <p:spPr>
            <a:xfrm>
              <a:off x="3926949" y="3374747"/>
              <a:ext cx="189788" cy="189788"/>
            </a:xfrm>
            <a:prstGeom prst="ellipse">
              <a:avLst/>
            </a:prstGeom>
            <a:solidFill>
              <a:srgbClr val="C6179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4</a:t>
              </a:r>
              <a:endPara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xmlns="" id="{688289CD-94AD-1B72-1500-6EAFBCF42BA0}"/>
                </a:ext>
              </a:extLst>
            </p:cNvPr>
            <p:cNvSpPr txBox="1"/>
            <p:nvPr/>
          </p:nvSpPr>
          <p:spPr>
            <a:xfrm>
              <a:off x="4070966" y="3338266"/>
              <a:ext cx="5649297" cy="1431161"/>
            </a:xfrm>
            <a:prstGeom prst="rect">
              <a:avLst/>
            </a:prstGeom>
          </p:spPr>
          <p:txBody>
            <a:bodyPr vert="horz" wrap="square" lIns="91440" tIns="45720" rIns="91440" bIns="45720" rtlCol="0" anchor="t" anchorCtr="0">
              <a:spAutoFit/>
            </a:bodyPr>
            <a:lstStyle/>
            <a:p>
              <a:pPr latinLnBrk="0"/>
              <a:r>
                <a:rPr lang="en-US" altLang="ko-KR" sz="1200" b="1" dirty="0">
                  <a:solidFill>
                    <a:srgbClr val="1668C1"/>
                  </a:solidFill>
                  <a:latin typeface="+mn-ea"/>
                  <a:cs typeface="Roboto Light" charset="0"/>
                </a:rPr>
                <a:t>Spark integration</a:t>
              </a:r>
              <a:endParaRPr lang="en-GB" sz="1200" b="1" dirty="0">
                <a:solidFill>
                  <a:srgbClr val="1668C1"/>
                </a:solidFill>
                <a:latin typeface="+mn-ea"/>
                <a:cs typeface="Roboto Light" charset="0"/>
              </a:endParaRPr>
            </a:p>
            <a:p>
              <a:pPr latinLnBrk="0">
                <a:lnSpc>
                  <a:spcPct val="150000"/>
                </a:lnSpc>
              </a:pPr>
              <a:r>
                <a:rPr lang="en-US" altLang="ko-KR" sz="1000" dirty="0">
                  <a:solidFill>
                    <a:srgbClr val="1668C1"/>
                  </a:solidFill>
                  <a:latin typeface="+mn-ea"/>
                </a:rPr>
                <a:t>Spark</a:t>
              </a:r>
              <a:r>
                <a:rPr lang="ko-KR" altLang="en-US" sz="1000" dirty="0">
                  <a:solidFill>
                    <a:srgbClr val="1668C1"/>
                  </a:solidFill>
                  <a:latin typeface="+mn-ea"/>
                </a:rPr>
                <a:t> 연계를 위한 커넥터가 기본 제공</a:t>
              </a:r>
              <a:r>
                <a:rPr lang="en-US" altLang="ko-KR" sz="1000" dirty="0">
                  <a:solidFill>
                    <a:srgbClr val="1668C1"/>
                  </a:solidFill>
                  <a:latin typeface="+mn-ea"/>
                </a:rPr>
                <a:t/>
              </a:r>
              <a:br>
                <a:rPr lang="en-US" altLang="ko-KR" sz="1000" dirty="0">
                  <a:solidFill>
                    <a:srgbClr val="1668C1"/>
                  </a:solidFill>
                  <a:latin typeface="+mn-ea"/>
                </a:rPr>
              </a:br>
              <a:r>
                <a:rPr lang="en-US" altLang="ko-KR" sz="1000" dirty="0">
                  <a:solidFill>
                    <a:srgbClr val="1668C1"/>
                  </a:solidFill>
                  <a:latin typeface="+mn-ea"/>
                </a:rPr>
                <a:t>Spark</a:t>
              </a:r>
              <a:r>
                <a:rPr lang="ko-KR" altLang="en-US" sz="1000" dirty="0">
                  <a:solidFill>
                    <a:srgbClr val="1668C1"/>
                  </a:solidFill>
                  <a:latin typeface="+mn-ea"/>
                </a:rPr>
                <a:t>에서 분석이 필요한 업무를 위해 빠르게 스파크 메모리로 </a:t>
              </a:r>
              <a:r>
                <a:rPr lang="ko-KR" altLang="en-US" sz="1000" dirty="0" err="1">
                  <a:solidFill>
                    <a:srgbClr val="1668C1"/>
                  </a:solidFill>
                  <a:latin typeface="+mn-ea"/>
                </a:rPr>
                <a:t>버티카</a:t>
              </a:r>
              <a:r>
                <a:rPr lang="ko-KR" altLang="en-US" sz="1000" dirty="0">
                  <a:solidFill>
                    <a:srgbClr val="1668C1"/>
                  </a:solidFill>
                  <a:latin typeface="+mn-ea"/>
                </a:rPr>
                <a:t> 데이터를 </a:t>
              </a:r>
              <a:r>
                <a:rPr lang="ko-KR" altLang="en-US" sz="1000" dirty="0" err="1">
                  <a:solidFill>
                    <a:srgbClr val="1668C1"/>
                  </a:solidFill>
                  <a:latin typeface="+mn-ea"/>
                </a:rPr>
                <a:t>로드하여</a:t>
              </a:r>
              <a:r>
                <a:rPr lang="ko-KR" altLang="en-US" sz="1000" dirty="0">
                  <a:solidFill>
                    <a:srgbClr val="1668C1"/>
                  </a:solidFill>
                  <a:latin typeface="+mn-ea"/>
                </a:rPr>
                <a:t> 실시간 분석 수행</a:t>
              </a:r>
              <a:endParaRPr lang="en-GB" altLang="ko-KR" sz="1000" dirty="0">
                <a:solidFill>
                  <a:srgbClr val="1668C1"/>
                </a:solidFill>
                <a:latin typeface="+mn-ea"/>
              </a:endParaRPr>
            </a:p>
            <a:p>
              <a:pPr latinLnBrk="0">
                <a:lnSpc>
                  <a:spcPct val="150000"/>
                </a:lnSpc>
              </a:pPr>
              <a:r>
                <a:rPr lang="ko-KR" altLang="en-US" sz="1000" dirty="0">
                  <a:solidFill>
                    <a:srgbClr val="1668C1"/>
                  </a:solidFill>
                  <a:latin typeface="+mn-ea"/>
                </a:rPr>
                <a:t>오브젝트 스토리지를 </a:t>
              </a:r>
              <a:r>
                <a:rPr lang="ko-KR" altLang="en-US" sz="1000" dirty="0" err="1">
                  <a:solidFill>
                    <a:srgbClr val="1668C1"/>
                  </a:solidFill>
                  <a:latin typeface="+mn-ea"/>
                </a:rPr>
                <a:t>스테이징</a:t>
              </a:r>
              <a:r>
                <a:rPr lang="ko-KR" altLang="en-US" sz="1000" dirty="0">
                  <a:solidFill>
                    <a:srgbClr val="1668C1"/>
                  </a:solidFill>
                  <a:latin typeface="+mn-ea"/>
                </a:rPr>
                <a:t> 파일 시스템으로 활용하여 병렬 추출 및</a:t>
              </a:r>
              <a:r>
                <a:rPr lang="en-US" altLang="ko-KR" sz="1000" dirty="0">
                  <a:solidFill>
                    <a:srgbClr val="1668C1"/>
                  </a:solidFill>
                  <a:latin typeface="+mn-ea"/>
                </a:rPr>
                <a:t> </a:t>
              </a:r>
              <a:r>
                <a:rPr lang="ko-KR" altLang="en-US" sz="1000" dirty="0">
                  <a:solidFill>
                    <a:srgbClr val="1668C1"/>
                  </a:solidFill>
                  <a:latin typeface="+mn-ea"/>
                </a:rPr>
                <a:t>병렬 적재 지원</a:t>
              </a:r>
              <a:endParaRPr lang="en-GB" altLang="ko-KR" sz="1000" dirty="0">
                <a:solidFill>
                  <a:srgbClr val="1668C1"/>
                </a:solidFill>
                <a:latin typeface="+mn-ea"/>
              </a:endParaRPr>
            </a:p>
            <a:p>
              <a:pPr latinLnBrk="0">
                <a:lnSpc>
                  <a:spcPct val="150000"/>
                </a:lnSpc>
              </a:pPr>
              <a:r>
                <a:rPr lang="ko-KR" altLang="en-US" sz="1000" dirty="0">
                  <a:solidFill>
                    <a:srgbClr val="1668C1"/>
                  </a:solidFill>
                  <a:latin typeface="+mn-ea"/>
                </a:rPr>
                <a:t>스파크에서 분석된 결과도 </a:t>
              </a:r>
              <a:r>
                <a:rPr lang="ko-KR" altLang="en-US" sz="1000" dirty="0" err="1">
                  <a:solidFill>
                    <a:srgbClr val="1668C1"/>
                  </a:solidFill>
                  <a:latin typeface="+mn-ea"/>
                </a:rPr>
                <a:t>버티카로</a:t>
              </a:r>
              <a:r>
                <a:rPr lang="ko-KR" altLang="en-US" sz="1000" dirty="0">
                  <a:solidFill>
                    <a:srgbClr val="1668C1"/>
                  </a:solidFill>
                  <a:latin typeface="+mn-ea"/>
                </a:rPr>
                <a:t> 병렬 추출 및 적재 수행</a:t>
              </a:r>
              <a:endParaRPr lang="en-GB" sz="1000" dirty="0">
                <a:solidFill>
                  <a:srgbClr val="1668C1"/>
                </a:solidFill>
                <a:latin typeface="+mn-ea"/>
              </a:endParaRPr>
            </a:p>
          </p:txBody>
        </p:sp>
      </p:grpSp>
      <p:grpSp>
        <p:nvGrpSpPr>
          <p:cNvPr id="132" name="그룹 131"/>
          <p:cNvGrpSpPr/>
          <p:nvPr/>
        </p:nvGrpSpPr>
        <p:grpSpPr>
          <a:xfrm>
            <a:off x="4963886" y="3903926"/>
            <a:ext cx="4755888" cy="507831"/>
            <a:chOff x="3926949" y="2162212"/>
            <a:chExt cx="5793314" cy="507831"/>
          </a:xfrm>
        </p:grpSpPr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xmlns="" id="{F74DE22F-BE57-990F-10C7-5A28137FF97D}"/>
                </a:ext>
              </a:extLst>
            </p:cNvPr>
            <p:cNvSpPr/>
            <p:nvPr/>
          </p:nvSpPr>
          <p:spPr>
            <a:xfrm>
              <a:off x="3926949" y="2198693"/>
              <a:ext cx="189788" cy="189788"/>
            </a:xfrm>
            <a:prstGeom prst="ellipse">
              <a:avLst/>
            </a:prstGeom>
            <a:solidFill>
              <a:srgbClr val="C6179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2</a:t>
              </a:r>
              <a:endPara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xmlns="" id="{2709A4DE-7D99-060B-4332-72EAE25DA559}"/>
                </a:ext>
              </a:extLst>
            </p:cNvPr>
            <p:cNvSpPr txBox="1"/>
            <p:nvPr/>
          </p:nvSpPr>
          <p:spPr>
            <a:xfrm>
              <a:off x="4070965" y="2162212"/>
              <a:ext cx="5649298" cy="507831"/>
            </a:xfrm>
            <a:prstGeom prst="rect">
              <a:avLst/>
            </a:prstGeom>
          </p:spPr>
          <p:txBody>
            <a:bodyPr vert="horz" wrap="square" lIns="91440" tIns="45720" rIns="91440" bIns="45720" rtlCol="0" anchor="t" anchorCtr="0">
              <a:spAutoFit/>
            </a:bodyPr>
            <a:lstStyle/>
            <a:p>
              <a:pPr latinLnBrk="0"/>
              <a:r>
                <a:rPr lang="en-US" altLang="ko-KR" sz="1200" b="1" dirty="0">
                  <a:solidFill>
                    <a:srgbClr val="1668C1"/>
                  </a:solidFill>
                  <a:latin typeface="+mn-ea"/>
                  <a:cs typeface="Roboto Light" charset="0"/>
                </a:rPr>
                <a:t>Realtime Analytics</a:t>
              </a:r>
              <a:endParaRPr lang="en-GB" sz="1200" b="1" dirty="0">
                <a:solidFill>
                  <a:srgbClr val="1668C1"/>
                </a:solidFill>
                <a:latin typeface="+mn-ea"/>
                <a:cs typeface="Roboto Light" charset="0"/>
              </a:endParaRPr>
            </a:p>
            <a:p>
              <a:pPr latinLnBrk="0">
                <a:lnSpc>
                  <a:spcPct val="150000"/>
                </a:lnSpc>
              </a:pPr>
              <a:r>
                <a:rPr lang="ko-KR" altLang="en-US" sz="1000" dirty="0">
                  <a:solidFill>
                    <a:srgbClr val="1668C1"/>
                  </a:solidFill>
                  <a:latin typeface="+mn-ea"/>
                </a:rPr>
                <a:t>매우 짧은 주기로 적재되는 대용량 데이터를 </a:t>
              </a:r>
              <a:r>
                <a:rPr lang="ko-KR" altLang="en-US" sz="1000" dirty="0" err="1">
                  <a:solidFill>
                    <a:srgbClr val="1668C1"/>
                  </a:solidFill>
                  <a:latin typeface="+mn-ea"/>
                </a:rPr>
                <a:t>버티카를</a:t>
              </a:r>
              <a:r>
                <a:rPr lang="ko-KR" altLang="en-US" sz="1000" dirty="0">
                  <a:solidFill>
                    <a:srgbClr val="1668C1"/>
                  </a:solidFill>
                  <a:latin typeface="+mn-ea"/>
                </a:rPr>
                <a:t> 통해 분석 수행</a:t>
              </a:r>
              <a:endParaRPr lang="en-GB" sz="1000" dirty="0">
                <a:solidFill>
                  <a:srgbClr val="1668C1"/>
                </a:solidFill>
                <a:latin typeface="+mn-ea"/>
              </a:endParaRPr>
            </a:p>
          </p:txBody>
        </p:sp>
      </p:grpSp>
      <p:sp>
        <p:nvSpPr>
          <p:cNvPr id="105" name="직사각형 104"/>
          <p:cNvSpPr/>
          <p:nvPr/>
        </p:nvSpPr>
        <p:spPr>
          <a:xfrm>
            <a:off x="214367" y="6147642"/>
            <a:ext cx="4532642" cy="9107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solidFill>
                  <a:schemeClr val="tx1"/>
                </a:solidFill>
                <a:latin typeface="+mn-ea"/>
              </a:rPr>
              <a:t>HDFS </a:t>
            </a:r>
            <a:r>
              <a:rPr lang="ko-KR" altLang="en-US" sz="1400" b="1" dirty="0" smtClean="0">
                <a:solidFill>
                  <a:schemeClr val="tx1"/>
                </a:solidFill>
                <a:latin typeface="+mn-ea"/>
              </a:rPr>
              <a:t>연계</a:t>
            </a:r>
            <a:endParaRPr lang="en-US" altLang="ko-KR" sz="1400" b="1" dirty="0" smtClean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추가적인 장비나 별도의 솔루션 설치 없이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하둡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연계를 지원하여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버티카를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통해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DW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와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하둡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 데이터 연계 분석을 </a:t>
            </a:r>
            <a:r>
              <a:rPr lang="ko-KR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지원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합니다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pic>
        <p:nvPicPr>
          <p:cNvPr id="122" name="그림 1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874" y="1376132"/>
            <a:ext cx="3421269" cy="2217696"/>
          </a:xfrm>
          <a:prstGeom prst="rect">
            <a:avLst/>
          </a:prstGeom>
        </p:spPr>
      </p:pic>
      <p:sp>
        <p:nvSpPr>
          <p:cNvPr id="124" name="직사각형 123"/>
          <p:cNvSpPr/>
          <p:nvPr/>
        </p:nvSpPr>
        <p:spPr>
          <a:xfrm>
            <a:off x="4973935" y="6159363"/>
            <a:ext cx="4567813" cy="1221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</a:rPr>
              <a:t>Object Storage </a:t>
            </a:r>
            <a:r>
              <a:rPr lang="ko-KR" altLang="en-US" sz="1400" b="1" dirty="0" smtClean="0">
                <a:solidFill>
                  <a:schemeClr val="tx1"/>
                </a:solidFill>
                <a:latin typeface="+mj-ea"/>
                <a:ea typeface="+mj-ea"/>
              </a:rPr>
              <a:t>연계</a:t>
            </a:r>
            <a:endParaRPr lang="en-US" altLang="ko-KR" sz="1400" b="1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Pretendard Variable Medium" panose="02000003000000020004" pitchFamily="2" charset="-127"/>
              </a:rPr>
              <a:t>추가적인 장비나 별도의 솔루션 설치 없이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Pretendard Variable Medium" panose="02000003000000020004" pitchFamily="2" charset="-127"/>
              </a:rPr>
              <a:t>Object Storage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Pretendard Variable Medium" panose="02000003000000020004" pitchFamily="2" charset="-127"/>
              </a:rPr>
              <a:t>에 저장된 데이터를 직접 분석할 수 있으며</a:t>
            </a:r>
          </a:p>
          <a:p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Pretendard Variable Medium" panose="02000003000000020004" pitchFamily="2" charset="-127"/>
              </a:rPr>
              <a:t>버티카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Pretendard Variable Medium" panose="02000003000000020004" pitchFamily="2" charset="-127"/>
              </a:rPr>
              <a:t> 데이터를 다양한 오픈 포맷으로 추출할 수 있어 타 시스템과 유연한 데이터 연계 지원</a:t>
            </a:r>
          </a:p>
        </p:txBody>
      </p:sp>
      <p:cxnSp>
        <p:nvCxnSpPr>
          <p:cNvPr id="125" name="직선 연결선 124"/>
          <p:cNvCxnSpPr/>
          <p:nvPr/>
        </p:nvCxnSpPr>
        <p:spPr>
          <a:xfrm>
            <a:off x="4859338" y="6281057"/>
            <a:ext cx="0" cy="2520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8" name="그림 1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126" y="7298586"/>
            <a:ext cx="3549878" cy="1646522"/>
          </a:xfrm>
          <a:prstGeom prst="rect">
            <a:avLst/>
          </a:prstGeom>
        </p:spPr>
      </p:pic>
      <p:pic>
        <p:nvPicPr>
          <p:cNvPr id="129" name="그림 12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06" y="7175554"/>
            <a:ext cx="3495266" cy="173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853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Vertica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</a:t>
            </a:r>
            <a:r>
              <a:rPr lang="en-US" altLang="ko-KR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EonMode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8785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Eon Mode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는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클라우드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이코노믹스의 동적 워크로드 및 효율적인 확장 요구에 대응하기 위해 설계된 컴퓨팅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스토리지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(C/S)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분리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아키텍처입니다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페타바이트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규모 이상의 통합 데이터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레이크하우스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Lakehouse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플랫폼을 구축하는 데 최적화되어 있습니다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191493" y="1113830"/>
            <a:ext cx="9312729" cy="410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 smtClean="0">
                <a:solidFill>
                  <a:schemeClr val="tx1"/>
                </a:solidFill>
                <a:latin typeface="+mn-ea"/>
              </a:rPr>
              <a:t>Eon Mode</a:t>
            </a:r>
            <a:r>
              <a:rPr lang="ko-KR" altLang="en-US" sz="1400" b="1" dirty="0" smtClean="0">
                <a:solidFill>
                  <a:schemeClr val="tx1"/>
                </a:solidFill>
                <a:latin typeface="+mn-ea"/>
              </a:rPr>
              <a:t>의 </a:t>
            </a:r>
            <a:r>
              <a:rPr lang="en-US" altLang="ko-KR" sz="1400" b="1" dirty="0" smtClean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400" b="1" dirty="0" smtClean="0">
                <a:solidFill>
                  <a:schemeClr val="tx1"/>
                </a:solidFill>
                <a:latin typeface="+mn-ea"/>
              </a:rPr>
              <a:t>대 핵심이점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6" name="Picture 11" descr="Sandbox Software – In the Cloud | FortiSandbox Cloud">
            <a:extLst>
              <a:ext uri="{FF2B5EF4-FFF2-40B4-BE49-F238E27FC236}">
                <a16:creationId xmlns="" xmlns:a16="http://schemas.microsoft.com/office/drawing/2014/main" id="{73BBF3D0-6B40-E280-BA30-1E77B5C4F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598" y="1375180"/>
            <a:ext cx="1503786" cy="946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cost Icon - Free PNG &amp; SVG 930448 - Noun Project">
            <a:extLst>
              <a:ext uri="{FF2B5EF4-FFF2-40B4-BE49-F238E27FC236}">
                <a16:creationId xmlns="" xmlns:a16="http://schemas.microsoft.com/office/drawing/2014/main" id="{B89FFE28-AD15-4FA1-FDD1-8DF6F4744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346" y="1312987"/>
            <a:ext cx="1064752" cy="106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roject Cargo Services | CFA">
            <a:extLst>
              <a:ext uri="{FF2B5EF4-FFF2-40B4-BE49-F238E27FC236}">
                <a16:creationId xmlns="" xmlns:a16="http://schemas.microsoft.com/office/drawing/2014/main" id="{A9578F59-39A1-6B09-C1A4-24DA78C49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5443" y="1313809"/>
            <a:ext cx="1003450" cy="1003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/>
          <p:cNvSpPr/>
          <p:nvPr/>
        </p:nvSpPr>
        <p:spPr>
          <a:xfrm>
            <a:off x="237812" y="2250839"/>
            <a:ext cx="3079818" cy="1793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뛰어난 </a:t>
            </a:r>
            <a:r>
              <a:rPr lang="ko-KR" altLang="en-US" sz="1400" b="1" dirty="0" err="1">
                <a:solidFill>
                  <a:schemeClr val="tx1"/>
                </a:solidFill>
                <a:latin typeface="+mn-ea"/>
              </a:rPr>
              <a:t>확장성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4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400" b="1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Scalability)</a:t>
            </a:r>
          </a:p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스토리지와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컴퓨팅이 분리되어 있어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데이터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재분산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(Rebalancing)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이나 조정 작업 없이 필요 시 즉각적으로 컴퓨팅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노드를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확장할 수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있습니다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컴퓨팅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자원과 완전히 독립적으로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스토리지를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무한 확장할 수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있습니다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367874" y="2250839"/>
            <a:ext cx="3079818" cy="1793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비용 효율성 </a:t>
            </a:r>
            <a:endParaRPr lang="en-US" altLang="ko-KR" sz="14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400" b="1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Cost)</a:t>
            </a:r>
          </a:p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대용량의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영구 데이터를 비용 효율적인 오픈 오브젝트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스토리지에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저장하여 전체 스토리지 비용을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최적화합니다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컴퓨팅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파워가 필요한 순간에만 동적으로 자원을 할당하고 활용하여 효율적인 컴퓨팅 비용 모델을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제공합니다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474489" y="2250839"/>
            <a:ext cx="3079818" cy="1793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chemeClr val="tx1"/>
                </a:solidFill>
                <a:latin typeface="+mn-ea"/>
              </a:rPr>
              <a:t>고가용성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 보장 </a:t>
            </a:r>
            <a:endParaRPr lang="en-US" altLang="ko-KR" sz="14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400" b="1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Availability)</a:t>
            </a:r>
          </a:p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200" dirty="0" err="1" smtClean="0">
                <a:solidFill>
                  <a:schemeClr val="tx1"/>
                </a:solidFill>
                <a:latin typeface="+mn-ea"/>
              </a:rPr>
              <a:t>퍼블릭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클라우드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및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엔터프라이즈급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오브젝트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스토리지의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최고 수준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SLA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를 그대로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상속받습니다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영구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데이터가 로컬 디스크가 아닌 중앙 오브젝트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스토리지에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저장되므로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특정 컴퓨팅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노드에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장애가 발생하거나 훼손되어도 데이터 유실이 전혀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없습니다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68047" y="3985986"/>
            <a:ext cx="9312729" cy="410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혁신적인 컴퓨팅 및 스토리지 아키텍처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50246" y="4232037"/>
            <a:ext cx="1848894" cy="18170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🔹 스마트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캐싱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Compute Architecture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):</a:t>
            </a:r>
          </a:p>
          <a:p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🔹 완벽한 트랜잭션 지원 </a:t>
            </a:r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(Storage Architecture):</a:t>
            </a:r>
          </a:p>
          <a:p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🔹 인프라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종속성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탈피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: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828800" y="3997575"/>
            <a:ext cx="7891463" cy="2309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각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컴퓨팅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노드는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영구 데이터를 자체 보관하지 않습니다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[cite: 991].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대신 자주 활용되는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핫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데이터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(Hot Data)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만 로컬 디스크 캐시에 보관하며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LRU(Least Recently Used)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알고리즘으로 관리하여 쿼리 성능을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극대화합니다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오브젝트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스토리지를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사용함에도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Write-Once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기반으로 동작하여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DML(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갱신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삭제 등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처리에 제약이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없습니다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트랜잭션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발생 시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커밋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(Commit)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된 데이터는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노드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수에 맞춘 최적의 조각으로 나뉘어 저장되며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즉시 모든 서브클러스터에서 동시에 조회할 수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있습니다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endParaRPr lang="en-US" altLang="ko-KR" sz="1200" dirty="0" smtClean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특정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하드웨어에 종속되지 않고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AWS, Azure, GCP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같은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퍼블릭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클라우드는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물론 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Kubernetes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환경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VMware,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그리고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온프레미스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(Dell, 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PureStorage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MinIO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하이브리드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구성을 완벽하게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지원합니다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Pretendard Variable Medium" panose="02000003000000020004" pitchFamily="2" charset="-127"/>
              <a:ea typeface="Pretendard Variable Medium" panose="02000003000000020004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0" y="6063759"/>
            <a:ext cx="9312729" cy="410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실전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Use Case: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동시성 확보 및 운영 단순화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148475" y="6150709"/>
            <a:ext cx="4692596" cy="30011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서브클러스터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Subcluster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기반 워크로드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격리</a:t>
            </a:r>
            <a:endParaRPr lang="en-US" altLang="ko-KR" sz="12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1200" b="1" dirty="0" smtClean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전통적 방식에서는 운영 업무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SLA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를 지키기 위해 분석 업무나 새로운 워크로드를 제약해야만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했습니다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+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독립적인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리소스 구성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각 서브클러스터는 다른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노드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수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CPU, Memory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 개별적인 리소스로 구성할 수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있습니다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+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멀티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클러스터 동시성 확장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주간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Batch, BI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대시보드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ML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분석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Spark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연계 등 용도별로 서브클러스터를 분리하여 워크로드 간의 간섭을 원천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차단합니다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+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빠른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확장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새로운 클러스터나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노드를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추가할 때 가장 오래 걸리는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'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데이터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리밸런싱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(Data Rebalancing)'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및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'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클러스터 간 데이터 동기화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'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과정이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불필요합니다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843289" y="6183087"/>
            <a:ext cx="4692596" cy="30011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Revive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를 통한 제로 다운타임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(Zero Downtime) </a:t>
            </a:r>
            <a:r>
              <a:rPr lang="ko-KR" altLang="en-US" sz="1200" b="1" dirty="0" err="1" smtClean="0">
                <a:solidFill>
                  <a:schemeClr val="tx1"/>
                </a:solidFill>
                <a:latin typeface="+mn-ea"/>
              </a:rPr>
              <a:t>마이그레이션</a:t>
            </a:r>
            <a:endParaRPr lang="en-US" altLang="ko-KR" sz="12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하드웨어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EOL(End of Life)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이나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클라우드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전환 시 막대한 데이터 이관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(Migration)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에 대한 부담을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해소합니다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+ 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OS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및 데이터 </a:t>
            </a:r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무의존성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메타데이터와 영구 데이터는 모두 오브젝트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스토리지에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있으므로 컴퓨팅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노드의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OS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나 인프라 환경에 얽매이지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않습니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+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데이터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이관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(Migration)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불필요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새로운 인프라나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클라우드에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빈 클러스터를 띄운 후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기존 오브젝트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스토리지의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메타 정보만 동기화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(Revive)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하면 즉시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DB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가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복구됩니다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+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서비스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중단 최소화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: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기존 시스템을 중단할 필요 없이 백그라운드에서 신규 구성을 완료한 뒤 전환할 수 있어 다운타임을 수 분 이내로 </a:t>
            </a:r>
            <a:r>
              <a:rPr lang="ko-KR" altLang="en-US" sz="1200" dirty="0" smtClean="0">
                <a:solidFill>
                  <a:schemeClr val="tx1"/>
                </a:solidFill>
                <a:latin typeface="+mn-ea"/>
              </a:rPr>
              <a:t>최소화합니다</a:t>
            </a:r>
            <a:r>
              <a:rPr lang="en-US" altLang="ko-KR" sz="12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0304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직사각형 88"/>
          <p:cNvSpPr/>
          <p:nvPr/>
        </p:nvSpPr>
        <p:spPr>
          <a:xfrm>
            <a:off x="1" y="0"/>
            <a:ext cx="9720262" cy="899953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200" b="1" dirty="0" err="1"/>
              <a:t>Vertica</a:t>
            </a:r>
            <a:r>
              <a:rPr lang="en-US" altLang="ko-KR" sz="7200" b="1" dirty="0"/>
              <a:t> Administration</a:t>
            </a:r>
            <a:endParaRPr lang="en-US" altLang="ko-KR" sz="7200" b="1" dirty="0"/>
          </a:p>
        </p:txBody>
      </p:sp>
    </p:spTree>
    <p:extLst>
      <p:ext uri="{BB962C8B-B14F-4D97-AF65-F5344CB8AC3E}">
        <p14:creationId xmlns:p14="http://schemas.microsoft.com/office/powerpoint/2010/main" val="2464239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Table . Projection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8785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Eon Mode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는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클라우드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이코노믹스의 동적 워크로드 및 효율적인 확장 요구에 대응하기 위해 설계된 컴퓨팅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스토리지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(C/S)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분리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아키텍처입니다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페타바이트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규모 이상의 통합 데이터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레이크하우스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Lakehouse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플랫폼을 구축하는 데 최적화되어 있습니다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29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Schema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8785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Eon Mode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는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클라우드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이코노믹스의 동적 워크로드 및 효율적인 확장 요구에 대응하기 위해 설계된 컴퓨팅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스토리지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(C/S)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분리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아키텍처입니다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페타바이트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규모 이상의 통합 데이터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레이크하우스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Lakehouse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플랫폼을 구축하는 데 최적화되어 있습니다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246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User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995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Profile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376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Resource Pool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542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Privilege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068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Backup / Restore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320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직사각형 88"/>
          <p:cNvSpPr/>
          <p:nvPr/>
        </p:nvSpPr>
        <p:spPr>
          <a:xfrm>
            <a:off x="1" y="0"/>
            <a:ext cx="9720262" cy="899953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200" b="1" dirty="0" err="1"/>
              <a:t>Vertica</a:t>
            </a:r>
            <a:r>
              <a:rPr lang="en-US" altLang="ko-KR" sz="7200" b="1" dirty="0"/>
              <a:t> </a:t>
            </a:r>
            <a:r>
              <a:rPr lang="en-US" altLang="ko-KR" sz="7200" b="1" dirty="0" err="1" smtClean="0"/>
              <a:t>CoreTech</a:t>
            </a:r>
            <a:endParaRPr lang="en-US" altLang="ko-KR" sz="7200" b="1" dirty="0"/>
          </a:p>
        </p:txBody>
      </p:sp>
    </p:spTree>
    <p:extLst>
      <p:ext uri="{BB962C8B-B14F-4D97-AF65-F5344CB8AC3E}">
        <p14:creationId xmlns:p14="http://schemas.microsoft.com/office/powerpoint/2010/main" val="3681055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vsql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977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Copy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978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Export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172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직사각형 88"/>
          <p:cNvSpPr/>
          <p:nvPr/>
        </p:nvSpPr>
        <p:spPr>
          <a:xfrm>
            <a:off x="1" y="0"/>
            <a:ext cx="9720262" cy="899953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200" b="1" dirty="0" err="1"/>
              <a:t>Vertica</a:t>
            </a:r>
            <a:r>
              <a:rPr lang="en-US" altLang="ko-KR" sz="7200" b="1" dirty="0"/>
              <a:t> Utilization</a:t>
            </a:r>
            <a:endParaRPr lang="en-US" altLang="ko-KR" sz="7200" b="1" dirty="0"/>
          </a:p>
        </p:txBody>
      </p:sp>
    </p:spTree>
    <p:extLst>
      <p:ext uri="{BB962C8B-B14F-4D97-AF65-F5344CB8AC3E}">
        <p14:creationId xmlns:p14="http://schemas.microsoft.com/office/powerpoint/2010/main" val="1195544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Connection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93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Monitoring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723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Python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860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직사각형 88"/>
          <p:cNvSpPr/>
          <p:nvPr/>
        </p:nvSpPr>
        <p:spPr>
          <a:xfrm>
            <a:off x="1" y="0"/>
            <a:ext cx="9720262" cy="899953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200" b="1" dirty="0" err="1"/>
              <a:t>Vertica</a:t>
            </a:r>
            <a:r>
              <a:rPr lang="en-US" altLang="ko-KR" sz="7200" b="1" dirty="0"/>
              <a:t> Fundamentals</a:t>
            </a:r>
            <a:endParaRPr lang="en-US" altLang="ko-KR" sz="7200" b="1" dirty="0"/>
          </a:p>
        </p:txBody>
      </p:sp>
    </p:spTree>
    <p:extLst>
      <p:ext uri="{BB962C8B-B14F-4D97-AF65-F5344CB8AC3E}">
        <p14:creationId xmlns:p14="http://schemas.microsoft.com/office/powerpoint/2010/main" val="367623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/>
          <p:cNvSpPr/>
          <p:nvPr/>
        </p:nvSpPr>
        <p:spPr>
          <a:xfrm>
            <a:off x="152400" y="125187"/>
            <a:ext cx="2667000" cy="3129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학습하기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1171" y="422730"/>
            <a:ext cx="9312729" cy="3574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xxx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/>
          <p:cNvCxnSpPr/>
          <p:nvPr/>
        </p:nvCxnSpPr>
        <p:spPr>
          <a:xfrm flipV="1">
            <a:off x="215900" y="469900"/>
            <a:ext cx="91567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91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6055</TotalTime>
  <Words>1302</Words>
  <Application>Microsoft Office PowerPoint</Application>
  <PresentationFormat>사용자 지정</PresentationFormat>
  <Paragraphs>203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5" baseType="lpstr">
      <vt:lpstr>HP Simplified</vt:lpstr>
      <vt:lpstr>Pretendard Variable Medium</vt:lpstr>
      <vt:lpstr>Pretendard Variable SemiBold</vt:lpstr>
      <vt:lpstr>Roboto Light</vt:lpstr>
      <vt:lpstr>맑은 고딕</vt:lpstr>
      <vt:lpstr>Arial</vt:lpstr>
      <vt:lpstr>Calibri</vt:lpstr>
      <vt:lpstr>Calibri Light</vt:lpstr>
      <vt:lpstr>Courier New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SOO</dc:creator>
  <cp:lastModifiedBy>SOO</cp:lastModifiedBy>
  <cp:revision>44</cp:revision>
  <dcterms:created xsi:type="dcterms:W3CDTF">2026-04-17T01:43:36Z</dcterms:created>
  <dcterms:modified xsi:type="dcterms:W3CDTF">2026-04-27T01:36:43Z</dcterms:modified>
</cp:coreProperties>
</file>