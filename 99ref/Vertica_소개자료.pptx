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handoutMasterIdLst>
    <p:handoutMasterId r:id="rId49"/>
  </p:handoutMasterIdLst>
  <p:sldIdLst>
    <p:sldId id="256" r:id="rId2"/>
    <p:sldId id="258" r:id="rId3"/>
    <p:sldId id="257" r:id="rId4"/>
    <p:sldId id="261" r:id="rId5"/>
    <p:sldId id="262" r:id="rId6"/>
    <p:sldId id="263" r:id="rId7"/>
    <p:sldId id="264" r:id="rId8"/>
    <p:sldId id="265" r:id="rId9"/>
    <p:sldId id="259" r:id="rId10"/>
    <p:sldId id="266" r:id="rId11"/>
    <p:sldId id="267" r:id="rId12"/>
    <p:sldId id="268" r:id="rId13"/>
    <p:sldId id="269" r:id="rId14"/>
    <p:sldId id="270" r:id="rId15"/>
    <p:sldId id="305" r:id="rId16"/>
    <p:sldId id="306" r:id="rId17"/>
    <p:sldId id="312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95" r:id="rId26"/>
    <p:sldId id="279" r:id="rId27"/>
    <p:sldId id="307" r:id="rId28"/>
    <p:sldId id="299" r:id="rId29"/>
    <p:sldId id="300" r:id="rId30"/>
    <p:sldId id="301" r:id="rId31"/>
    <p:sldId id="302" r:id="rId32"/>
    <p:sldId id="303" r:id="rId33"/>
    <p:sldId id="304" r:id="rId34"/>
    <p:sldId id="282" r:id="rId35"/>
    <p:sldId id="283" r:id="rId36"/>
    <p:sldId id="284" r:id="rId37"/>
    <p:sldId id="285" r:id="rId38"/>
    <p:sldId id="286" r:id="rId39"/>
    <p:sldId id="288" r:id="rId40"/>
    <p:sldId id="289" r:id="rId41"/>
    <p:sldId id="290" r:id="rId42"/>
    <p:sldId id="291" r:id="rId43"/>
    <p:sldId id="313" r:id="rId44"/>
    <p:sldId id="314" r:id="rId45"/>
    <p:sldId id="315" r:id="rId46"/>
    <p:sldId id="260" r:id="rId4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ED6"/>
    <a:srgbClr val="0070C0"/>
    <a:srgbClr val="2392D4"/>
    <a:srgbClr val="FFFFFF"/>
    <a:srgbClr val="0081CD"/>
    <a:srgbClr val="5B9BD5"/>
    <a:srgbClr val="0083CE"/>
    <a:srgbClr val="1C4076"/>
    <a:srgbClr val="02709C"/>
    <a:srgbClr val="0051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30" y="1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0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BE7C16-6BD3-CA45-87FF-AC8BDA78CC78}" type="doc">
      <dgm:prSet loTypeId="urn:microsoft.com/office/officeart/2005/8/layout/gear1" loCatId="relationship" qsTypeId="urn:microsoft.com/office/officeart/2005/8/quickstyle/simple4" qsCatId="simple" csTypeId="urn:microsoft.com/office/officeart/2005/8/colors/accent1_2#1" csCatId="accent1" phldr="1"/>
      <dgm:spPr/>
    </dgm:pt>
    <dgm:pt modelId="{FFB2DC72-E207-AE4C-99C6-30C7D46F56BB}">
      <dgm:prSet phldrT="[Text]"/>
      <dgm:spPr>
        <a:xfrm>
          <a:off x="411187" y="597382"/>
          <a:ext cx="502562" cy="502562"/>
        </a:xfrm>
        <a:prstGeom prst="gear9">
          <a:avLst/>
        </a:prstGeom>
        <a:solidFill>
          <a:srgbClr val="C6179D">
            <a:lumMod val="20000"/>
            <a:lumOff val="80000"/>
          </a:srgbClr>
        </a:solidFill>
        <a:ln>
          <a:noFill/>
        </a:ln>
        <a:effectLst/>
      </dgm:spPr>
      <dgm:t>
        <a:bodyPr/>
        <a:lstStyle/>
        <a:p>
          <a:pPr>
            <a:buNone/>
          </a:pPr>
          <a:endParaRPr lang="en-US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3C197EC9-D3DC-DC42-8AEC-4F84487F4576}" type="parTrans" cxnId="{507CEDFF-2374-BB4F-8CAA-8A11C5A58964}">
      <dgm:prSet/>
      <dgm:spPr/>
      <dgm:t>
        <a:bodyPr/>
        <a:lstStyle/>
        <a:p>
          <a:endParaRPr lang="en-US"/>
        </a:p>
      </dgm:t>
    </dgm:pt>
    <dgm:pt modelId="{3CFB0BA0-C7E0-1344-8BC7-D5A0E8071D09}" type="sibTrans" cxnId="{507CEDFF-2374-BB4F-8CAA-8A11C5A58964}">
      <dgm:prSet/>
      <dgm:spPr>
        <a:xfrm>
          <a:off x="344362" y="512832"/>
          <a:ext cx="643280" cy="643280"/>
        </a:xfrm>
        <a:prstGeom prst="circularArrow">
          <a:avLst>
            <a:gd name="adj1" fmla="val 4688"/>
            <a:gd name="adj2" fmla="val 299029"/>
            <a:gd name="adj3" fmla="val 2278686"/>
            <a:gd name="adj4" fmla="val 16532401"/>
            <a:gd name="adj5" fmla="val 5469"/>
          </a:avLst>
        </a:prstGeom>
        <a:solidFill>
          <a:sysClr val="window" lastClr="FFFFFF">
            <a:lumMod val="85000"/>
          </a:sysClr>
        </a:solidFill>
        <a:ln>
          <a:noFill/>
        </a:ln>
        <a:effectLst/>
      </dgm:spPr>
      <dgm:t>
        <a:bodyPr/>
        <a:lstStyle/>
        <a:p>
          <a:endParaRPr lang="en-US" dirty="0"/>
        </a:p>
      </dgm:t>
    </dgm:pt>
    <dgm:pt modelId="{6D35D351-613A-3844-90E8-DE331B38C953}">
      <dgm:prSet phldrT="[Text]"/>
      <dgm:spPr>
        <a:xfrm>
          <a:off x="118787" y="432363"/>
          <a:ext cx="365500" cy="365500"/>
        </a:xfrm>
        <a:prstGeom prst="gear6">
          <a:avLst/>
        </a:prstGeom>
        <a:solidFill>
          <a:srgbClr val="C6179D">
            <a:lumMod val="60000"/>
            <a:lumOff val="40000"/>
            <a:alpha val="80000"/>
          </a:srgbClr>
        </a:solidFill>
        <a:ln>
          <a:noFill/>
        </a:ln>
        <a:effectLst/>
      </dgm:spPr>
      <dgm:t>
        <a:bodyPr/>
        <a:lstStyle/>
        <a:p>
          <a:pPr>
            <a:buNone/>
          </a:pPr>
          <a:endParaRPr lang="en-US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10A13D4B-19A0-5C4B-BD8F-742B0789762F}" type="parTrans" cxnId="{53E4E9E3-8239-764F-980E-89A7D5FE2B14}">
      <dgm:prSet/>
      <dgm:spPr/>
      <dgm:t>
        <a:bodyPr/>
        <a:lstStyle/>
        <a:p>
          <a:endParaRPr lang="en-US"/>
        </a:p>
      </dgm:t>
    </dgm:pt>
    <dgm:pt modelId="{D576F9E5-B933-5F47-B972-00AF7155B7FF}" type="sibTrans" cxnId="{53E4E9E3-8239-764F-980E-89A7D5FE2B14}">
      <dgm:prSet/>
      <dgm:spPr>
        <a:xfrm>
          <a:off x="54058" y="388955"/>
          <a:ext cx="467383" cy="467383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ysClr val="window" lastClr="FFFFFF">
            <a:lumMod val="85000"/>
          </a:sysClr>
        </a:solidFill>
        <a:ln>
          <a:noFill/>
        </a:ln>
        <a:effectLst/>
      </dgm:spPr>
      <dgm:t>
        <a:bodyPr/>
        <a:lstStyle/>
        <a:p>
          <a:endParaRPr lang="en-US" dirty="0"/>
        </a:p>
      </dgm:t>
    </dgm:pt>
    <dgm:pt modelId="{D595E3FF-B8FD-D746-A220-06DD1CE4F32A}">
      <dgm:prSet phldrT="[Text]"/>
      <dgm:spPr/>
      <dgm:t>
        <a:bodyPr/>
        <a:lstStyle/>
        <a:p>
          <a:endParaRPr lang="en-US" dirty="0"/>
        </a:p>
      </dgm:t>
    </dgm:pt>
    <dgm:pt modelId="{9566CAD6-9618-B648-8800-9318A9F30DF8}" type="parTrans" cxnId="{D1A4B484-194E-A448-9C2E-CA31D1E7ED02}">
      <dgm:prSet/>
      <dgm:spPr/>
      <dgm:t>
        <a:bodyPr/>
        <a:lstStyle/>
        <a:p>
          <a:endParaRPr lang="en-US"/>
        </a:p>
      </dgm:t>
    </dgm:pt>
    <dgm:pt modelId="{15E4FAB7-28A0-764B-8F01-F4952947201F}" type="sibTrans" cxnId="{D1A4B484-194E-A448-9C2E-CA31D1E7ED02}">
      <dgm:prSet/>
      <dgm:spPr/>
      <dgm:t>
        <a:bodyPr/>
        <a:lstStyle/>
        <a:p>
          <a:endParaRPr lang="en-US"/>
        </a:p>
      </dgm:t>
    </dgm:pt>
    <dgm:pt modelId="{A23E5F16-2D3F-6E46-874C-D770DB85855E}">
      <dgm:prSet/>
      <dgm:spPr/>
      <dgm:t>
        <a:bodyPr/>
        <a:lstStyle/>
        <a:p>
          <a:endParaRPr lang="en-US" dirty="0"/>
        </a:p>
      </dgm:t>
    </dgm:pt>
    <dgm:pt modelId="{4DCBBED0-F6BF-8643-969C-37782EDD3A0F}" type="parTrans" cxnId="{F4D50A82-E7E1-5945-B5E7-EE27DB9C153F}">
      <dgm:prSet/>
      <dgm:spPr/>
      <dgm:t>
        <a:bodyPr/>
        <a:lstStyle/>
        <a:p>
          <a:endParaRPr lang="en-US"/>
        </a:p>
      </dgm:t>
    </dgm:pt>
    <dgm:pt modelId="{5F0DA50D-932E-9C41-BD3F-6B36F5C62488}" type="sibTrans" cxnId="{F4D50A82-E7E1-5945-B5E7-EE27DB9C153F}">
      <dgm:prSet/>
      <dgm:spPr/>
      <dgm:t>
        <a:bodyPr/>
        <a:lstStyle/>
        <a:p>
          <a:endParaRPr lang="en-US"/>
        </a:p>
      </dgm:t>
    </dgm:pt>
    <dgm:pt modelId="{D3B019E8-F33F-254E-BF8C-803B472CB2A4}">
      <dgm:prSet/>
      <dgm:spPr>
        <a:xfrm rot="20700000">
          <a:off x="323504" y="203590"/>
          <a:ext cx="358115" cy="358115"/>
        </a:xfrm>
        <a:prstGeom prst="gear6">
          <a:avLst/>
        </a:prstGeom>
        <a:solidFill>
          <a:srgbClr val="C6179D">
            <a:alpha val="90000"/>
          </a:srgbClr>
        </a:solidFill>
        <a:ln>
          <a:noFill/>
        </a:ln>
        <a:effectLst/>
      </dgm:spPr>
      <dgm:t>
        <a:bodyPr/>
        <a:lstStyle/>
        <a:p>
          <a:pPr>
            <a:buNone/>
          </a:pPr>
          <a:endParaRPr lang="en-US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BB56285C-836A-B942-A461-6AC402143AAD}" type="parTrans" cxnId="{C275C90F-C6C8-1C40-8591-E5CFAC2621A0}">
      <dgm:prSet/>
      <dgm:spPr/>
      <dgm:t>
        <a:bodyPr/>
        <a:lstStyle/>
        <a:p>
          <a:endParaRPr lang="en-US"/>
        </a:p>
      </dgm:t>
    </dgm:pt>
    <dgm:pt modelId="{0B663169-9FFF-1344-B874-75891E779B9E}" type="sibTrans" cxnId="{C275C90F-C6C8-1C40-8591-E5CFAC2621A0}">
      <dgm:prSet/>
      <dgm:spPr>
        <a:xfrm>
          <a:off x="240669" y="139228"/>
          <a:ext cx="503933" cy="503933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ysClr val="window" lastClr="FFFFFF">
            <a:lumMod val="85000"/>
          </a:sysClr>
        </a:solidFill>
        <a:ln>
          <a:noFill/>
        </a:ln>
        <a:effectLst/>
      </dgm:spPr>
      <dgm:t>
        <a:bodyPr/>
        <a:lstStyle/>
        <a:p>
          <a:endParaRPr lang="en-US" dirty="0"/>
        </a:p>
      </dgm:t>
    </dgm:pt>
    <dgm:pt modelId="{59B3D999-451E-E14E-8CF5-E87C8DDADD6D}" type="pres">
      <dgm:prSet presAssocID="{BCBE7C16-6BD3-CA45-87FF-AC8BDA78CC78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C16E1178-730B-3548-AB8D-4CAB5245610F}" type="pres">
      <dgm:prSet presAssocID="{FFB2DC72-E207-AE4C-99C6-30C7D46F56BB}" presName="gear1" presStyleLbl="node1" presStyleIdx="0" presStyleCnt="3" custLinFactNeighborY="4546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8E3280E-719F-AF44-A246-8ADCBF0F4FB6}" type="pres">
      <dgm:prSet presAssocID="{FFB2DC72-E207-AE4C-99C6-30C7D46F56BB}" presName="gear1srcNode" presStyleLbl="node1" presStyleIdx="0" presStyleCnt="3"/>
      <dgm:spPr/>
      <dgm:t>
        <a:bodyPr/>
        <a:lstStyle/>
        <a:p>
          <a:pPr latinLnBrk="1"/>
          <a:endParaRPr lang="ko-KR" altLang="en-US"/>
        </a:p>
      </dgm:t>
    </dgm:pt>
    <dgm:pt modelId="{A0C5DBE2-2705-1742-BDEA-2812D4E814A3}" type="pres">
      <dgm:prSet presAssocID="{FFB2DC72-E207-AE4C-99C6-30C7D46F56BB}" presName="gear1dstNode" presStyleLbl="node1" presStyleIdx="0" presStyleCnt="3"/>
      <dgm:spPr/>
      <dgm:t>
        <a:bodyPr/>
        <a:lstStyle/>
        <a:p>
          <a:pPr latinLnBrk="1"/>
          <a:endParaRPr lang="ko-KR" altLang="en-US"/>
        </a:p>
      </dgm:t>
    </dgm:pt>
    <dgm:pt modelId="{2538B885-C1CA-9B43-AF7D-8C802987493E}" type="pres">
      <dgm:prSet presAssocID="{6D35D351-613A-3844-90E8-DE331B38C953}" presName="gear2" presStyleLbl="node1" presStyleIdx="1" presStyleCnt="3" custLinFactNeighborY="-6398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77DB2C8A-EE3F-714A-9EAD-AA922CD67274}" type="pres">
      <dgm:prSet presAssocID="{6D35D351-613A-3844-90E8-DE331B38C953}" presName="gear2srcNode" presStyleLbl="node1" presStyleIdx="1" presStyleCnt="3"/>
      <dgm:spPr/>
      <dgm:t>
        <a:bodyPr/>
        <a:lstStyle/>
        <a:p>
          <a:pPr latinLnBrk="1"/>
          <a:endParaRPr lang="ko-KR" altLang="en-US"/>
        </a:p>
      </dgm:t>
    </dgm:pt>
    <dgm:pt modelId="{035812BE-E99B-FB4E-8685-833E708C5B4E}" type="pres">
      <dgm:prSet presAssocID="{6D35D351-613A-3844-90E8-DE331B38C953}" presName="gear2dstNode" presStyleLbl="node1" presStyleIdx="1" presStyleCnt="3"/>
      <dgm:spPr/>
      <dgm:t>
        <a:bodyPr/>
        <a:lstStyle/>
        <a:p>
          <a:pPr latinLnBrk="1"/>
          <a:endParaRPr lang="ko-KR" altLang="en-US"/>
        </a:p>
      </dgm:t>
    </dgm:pt>
    <dgm:pt modelId="{FC458D00-F7E5-C449-8E45-301A6F6510AE}" type="pres">
      <dgm:prSet presAssocID="{D3B019E8-F33F-254E-BF8C-803B472CB2A4}" presName="gear3" presStyleLbl="node1" presStyleIdx="2" presStyleCnt="3"/>
      <dgm:spPr/>
      <dgm:t>
        <a:bodyPr/>
        <a:lstStyle/>
        <a:p>
          <a:pPr latinLnBrk="1"/>
          <a:endParaRPr lang="ko-KR" altLang="en-US"/>
        </a:p>
      </dgm:t>
    </dgm:pt>
    <dgm:pt modelId="{707FB791-E200-3F49-8F60-A22FE99B369B}" type="pres">
      <dgm:prSet presAssocID="{D3B019E8-F33F-254E-BF8C-803B472CB2A4}" presName="gear3tx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842F6D3-3286-7A48-B6CB-5B20F9907E90}" type="pres">
      <dgm:prSet presAssocID="{D3B019E8-F33F-254E-BF8C-803B472CB2A4}" presName="gear3srcNode" presStyleLbl="node1" presStyleIdx="2" presStyleCnt="3"/>
      <dgm:spPr/>
      <dgm:t>
        <a:bodyPr/>
        <a:lstStyle/>
        <a:p>
          <a:pPr latinLnBrk="1"/>
          <a:endParaRPr lang="ko-KR" altLang="en-US"/>
        </a:p>
      </dgm:t>
    </dgm:pt>
    <dgm:pt modelId="{17B9C5E4-DDB4-3440-BA45-2E1D91013D22}" type="pres">
      <dgm:prSet presAssocID="{D3B019E8-F33F-254E-BF8C-803B472CB2A4}" presName="gear3dstNode" presStyleLbl="node1" presStyleIdx="2" presStyleCnt="3"/>
      <dgm:spPr/>
      <dgm:t>
        <a:bodyPr/>
        <a:lstStyle/>
        <a:p>
          <a:pPr latinLnBrk="1"/>
          <a:endParaRPr lang="ko-KR" altLang="en-US"/>
        </a:p>
      </dgm:t>
    </dgm:pt>
    <dgm:pt modelId="{E7BA4F8E-22CC-5C44-89A3-4F0D855FFF5D}" type="pres">
      <dgm:prSet presAssocID="{3CFB0BA0-C7E0-1344-8BC7-D5A0E8071D09}" presName="connector1" presStyleLbl="sibTrans2D1" presStyleIdx="0" presStyleCnt="3"/>
      <dgm:spPr/>
      <dgm:t>
        <a:bodyPr/>
        <a:lstStyle/>
        <a:p>
          <a:pPr latinLnBrk="1"/>
          <a:endParaRPr lang="ko-KR" altLang="en-US"/>
        </a:p>
      </dgm:t>
    </dgm:pt>
    <dgm:pt modelId="{1CEA9B82-3B92-E845-AF58-EFB870C00A25}" type="pres">
      <dgm:prSet presAssocID="{D576F9E5-B933-5F47-B972-00AF7155B7FF}" presName="connector2" presStyleLbl="sibTrans2D1" presStyleIdx="1" presStyleCnt="3"/>
      <dgm:spPr/>
      <dgm:t>
        <a:bodyPr/>
        <a:lstStyle/>
        <a:p>
          <a:pPr latinLnBrk="1"/>
          <a:endParaRPr lang="ko-KR" altLang="en-US"/>
        </a:p>
      </dgm:t>
    </dgm:pt>
    <dgm:pt modelId="{50439AD2-AD6C-BE4B-9AA8-87DFB9BC0FF8}" type="pres">
      <dgm:prSet presAssocID="{0B663169-9FFF-1344-B874-75891E779B9E}" presName="connector3" presStyleLbl="sibTrans2D1" presStyleIdx="2" presStyleCnt="3"/>
      <dgm:spPr/>
      <dgm:t>
        <a:bodyPr/>
        <a:lstStyle/>
        <a:p>
          <a:pPr latinLnBrk="1"/>
          <a:endParaRPr lang="ko-KR" altLang="en-US"/>
        </a:p>
      </dgm:t>
    </dgm:pt>
  </dgm:ptLst>
  <dgm:cxnLst>
    <dgm:cxn modelId="{7CEB941E-7493-461F-975D-3FAF1AEC76DA}" type="presOf" srcId="{D3B019E8-F33F-254E-BF8C-803B472CB2A4}" destId="{17B9C5E4-DDB4-3440-BA45-2E1D91013D22}" srcOrd="3" destOrd="0" presId="urn:microsoft.com/office/officeart/2005/8/layout/gear1"/>
    <dgm:cxn modelId="{F4D50A82-E7E1-5945-B5E7-EE27DB9C153F}" srcId="{BCBE7C16-6BD3-CA45-87FF-AC8BDA78CC78}" destId="{A23E5F16-2D3F-6E46-874C-D770DB85855E}" srcOrd="3" destOrd="0" parTransId="{4DCBBED0-F6BF-8643-969C-37782EDD3A0F}" sibTransId="{5F0DA50D-932E-9C41-BD3F-6B36F5C62488}"/>
    <dgm:cxn modelId="{6C23FCD2-1785-4018-9E63-B28625D0665B}" type="presOf" srcId="{6D35D351-613A-3844-90E8-DE331B38C953}" destId="{035812BE-E99B-FB4E-8685-833E708C5B4E}" srcOrd="2" destOrd="0" presId="urn:microsoft.com/office/officeart/2005/8/layout/gear1"/>
    <dgm:cxn modelId="{286F4BEC-00CC-4466-833C-46BEBE11241F}" type="presOf" srcId="{3CFB0BA0-C7E0-1344-8BC7-D5A0E8071D09}" destId="{E7BA4F8E-22CC-5C44-89A3-4F0D855FFF5D}" srcOrd="0" destOrd="0" presId="urn:microsoft.com/office/officeart/2005/8/layout/gear1"/>
    <dgm:cxn modelId="{8614F764-57BA-4EBE-879D-4DC64AF0C1B9}" type="presOf" srcId="{D576F9E5-B933-5F47-B972-00AF7155B7FF}" destId="{1CEA9B82-3B92-E845-AF58-EFB870C00A25}" srcOrd="0" destOrd="0" presId="urn:microsoft.com/office/officeart/2005/8/layout/gear1"/>
    <dgm:cxn modelId="{7F0CF9A9-148E-4812-8D19-16482AA017FD}" type="presOf" srcId="{D3B019E8-F33F-254E-BF8C-803B472CB2A4}" destId="{FC458D00-F7E5-C449-8E45-301A6F6510AE}" srcOrd="0" destOrd="0" presId="urn:microsoft.com/office/officeart/2005/8/layout/gear1"/>
    <dgm:cxn modelId="{E74A8C4E-81A2-4A9E-9D90-410EFFC16B5D}" type="presOf" srcId="{FFB2DC72-E207-AE4C-99C6-30C7D46F56BB}" destId="{C16E1178-730B-3548-AB8D-4CAB5245610F}" srcOrd="0" destOrd="0" presId="urn:microsoft.com/office/officeart/2005/8/layout/gear1"/>
    <dgm:cxn modelId="{A0ECBC4E-BE89-458B-AA14-942CBF90EEF6}" type="presOf" srcId="{0B663169-9FFF-1344-B874-75891E779B9E}" destId="{50439AD2-AD6C-BE4B-9AA8-87DFB9BC0FF8}" srcOrd="0" destOrd="0" presId="urn:microsoft.com/office/officeart/2005/8/layout/gear1"/>
    <dgm:cxn modelId="{6D02E627-4615-4B29-885C-68D328155A0D}" type="presOf" srcId="{FFB2DC72-E207-AE4C-99C6-30C7D46F56BB}" destId="{98E3280E-719F-AF44-A246-8ADCBF0F4FB6}" srcOrd="1" destOrd="0" presId="urn:microsoft.com/office/officeart/2005/8/layout/gear1"/>
    <dgm:cxn modelId="{53E4E9E3-8239-764F-980E-89A7D5FE2B14}" srcId="{BCBE7C16-6BD3-CA45-87FF-AC8BDA78CC78}" destId="{6D35D351-613A-3844-90E8-DE331B38C953}" srcOrd="1" destOrd="0" parTransId="{10A13D4B-19A0-5C4B-BD8F-742B0789762F}" sibTransId="{D576F9E5-B933-5F47-B972-00AF7155B7FF}"/>
    <dgm:cxn modelId="{C275C90F-C6C8-1C40-8591-E5CFAC2621A0}" srcId="{BCBE7C16-6BD3-CA45-87FF-AC8BDA78CC78}" destId="{D3B019E8-F33F-254E-BF8C-803B472CB2A4}" srcOrd="2" destOrd="0" parTransId="{BB56285C-836A-B942-A461-6AC402143AAD}" sibTransId="{0B663169-9FFF-1344-B874-75891E779B9E}"/>
    <dgm:cxn modelId="{B2748362-5043-4133-91CB-8797261A1C68}" type="presOf" srcId="{D3B019E8-F33F-254E-BF8C-803B472CB2A4}" destId="{707FB791-E200-3F49-8F60-A22FE99B369B}" srcOrd="1" destOrd="0" presId="urn:microsoft.com/office/officeart/2005/8/layout/gear1"/>
    <dgm:cxn modelId="{DA05A519-D818-4D93-87EF-F61067C3309F}" type="presOf" srcId="{FFB2DC72-E207-AE4C-99C6-30C7D46F56BB}" destId="{A0C5DBE2-2705-1742-BDEA-2812D4E814A3}" srcOrd="2" destOrd="0" presId="urn:microsoft.com/office/officeart/2005/8/layout/gear1"/>
    <dgm:cxn modelId="{507CEDFF-2374-BB4F-8CAA-8A11C5A58964}" srcId="{BCBE7C16-6BD3-CA45-87FF-AC8BDA78CC78}" destId="{FFB2DC72-E207-AE4C-99C6-30C7D46F56BB}" srcOrd="0" destOrd="0" parTransId="{3C197EC9-D3DC-DC42-8AEC-4F84487F4576}" sibTransId="{3CFB0BA0-C7E0-1344-8BC7-D5A0E8071D09}"/>
    <dgm:cxn modelId="{C2AFE90E-936F-4B5F-B32C-0561BAEAEF6A}" type="presOf" srcId="{6D35D351-613A-3844-90E8-DE331B38C953}" destId="{2538B885-C1CA-9B43-AF7D-8C802987493E}" srcOrd="0" destOrd="0" presId="urn:microsoft.com/office/officeart/2005/8/layout/gear1"/>
    <dgm:cxn modelId="{D1A4B484-194E-A448-9C2E-CA31D1E7ED02}" srcId="{BCBE7C16-6BD3-CA45-87FF-AC8BDA78CC78}" destId="{D595E3FF-B8FD-D746-A220-06DD1CE4F32A}" srcOrd="4" destOrd="0" parTransId="{9566CAD6-9618-B648-8800-9318A9F30DF8}" sibTransId="{15E4FAB7-28A0-764B-8F01-F4952947201F}"/>
    <dgm:cxn modelId="{166A3B4E-E8EA-4501-8A92-D1662458D91A}" type="presOf" srcId="{BCBE7C16-6BD3-CA45-87FF-AC8BDA78CC78}" destId="{59B3D999-451E-E14E-8CF5-E87C8DDADD6D}" srcOrd="0" destOrd="0" presId="urn:microsoft.com/office/officeart/2005/8/layout/gear1"/>
    <dgm:cxn modelId="{DA9AB55F-5A74-4E79-B2E4-3367B4591F0E}" type="presOf" srcId="{D3B019E8-F33F-254E-BF8C-803B472CB2A4}" destId="{4842F6D3-3286-7A48-B6CB-5B20F9907E90}" srcOrd="2" destOrd="0" presId="urn:microsoft.com/office/officeart/2005/8/layout/gear1"/>
    <dgm:cxn modelId="{A142B724-64BC-4FB4-80B1-AA048FCE50B7}" type="presOf" srcId="{6D35D351-613A-3844-90E8-DE331B38C953}" destId="{77DB2C8A-EE3F-714A-9EAD-AA922CD67274}" srcOrd="1" destOrd="0" presId="urn:microsoft.com/office/officeart/2005/8/layout/gear1"/>
    <dgm:cxn modelId="{AAFA550E-0FCE-4EA8-B9CF-BD4BE2A091A9}" type="presParOf" srcId="{59B3D999-451E-E14E-8CF5-E87C8DDADD6D}" destId="{C16E1178-730B-3548-AB8D-4CAB5245610F}" srcOrd="0" destOrd="0" presId="urn:microsoft.com/office/officeart/2005/8/layout/gear1"/>
    <dgm:cxn modelId="{943B5884-D931-4F72-9B59-75221EAA0FB1}" type="presParOf" srcId="{59B3D999-451E-E14E-8CF5-E87C8DDADD6D}" destId="{98E3280E-719F-AF44-A246-8ADCBF0F4FB6}" srcOrd="1" destOrd="0" presId="urn:microsoft.com/office/officeart/2005/8/layout/gear1"/>
    <dgm:cxn modelId="{2A62F123-F800-4A11-ABA0-25C74A2410B5}" type="presParOf" srcId="{59B3D999-451E-E14E-8CF5-E87C8DDADD6D}" destId="{A0C5DBE2-2705-1742-BDEA-2812D4E814A3}" srcOrd="2" destOrd="0" presId="urn:microsoft.com/office/officeart/2005/8/layout/gear1"/>
    <dgm:cxn modelId="{62A90B97-71BA-45E9-ADA2-48440C8B7E6C}" type="presParOf" srcId="{59B3D999-451E-E14E-8CF5-E87C8DDADD6D}" destId="{2538B885-C1CA-9B43-AF7D-8C802987493E}" srcOrd="3" destOrd="0" presId="urn:microsoft.com/office/officeart/2005/8/layout/gear1"/>
    <dgm:cxn modelId="{B3924B8B-89DD-4EB6-8323-D0F0BE716A71}" type="presParOf" srcId="{59B3D999-451E-E14E-8CF5-E87C8DDADD6D}" destId="{77DB2C8A-EE3F-714A-9EAD-AA922CD67274}" srcOrd="4" destOrd="0" presId="urn:microsoft.com/office/officeart/2005/8/layout/gear1"/>
    <dgm:cxn modelId="{D3D44121-9C3B-4D43-9EB1-12D2A56F3D40}" type="presParOf" srcId="{59B3D999-451E-E14E-8CF5-E87C8DDADD6D}" destId="{035812BE-E99B-FB4E-8685-833E708C5B4E}" srcOrd="5" destOrd="0" presId="urn:microsoft.com/office/officeart/2005/8/layout/gear1"/>
    <dgm:cxn modelId="{581CE4C4-27FF-40D7-A343-52DD6C4B7CE7}" type="presParOf" srcId="{59B3D999-451E-E14E-8CF5-E87C8DDADD6D}" destId="{FC458D00-F7E5-C449-8E45-301A6F6510AE}" srcOrd="6" destOrd="0" presId="urn:microsoft.com/office/officeart/2005/8/layout/gear1"/>
    <dgm:cxn modelId="{9ED3B317-1995-48DD-A51B-2833350D0F79}" type="presParOf" srcId="{59B3D999-451E-E14E-8CF5-E87C8DDADD6D}" destId="{707FB791-E200-3F49-8F60-A22FE99B369B}" srcOrd="7" destOrd="0" presId="urn:microsoft.com/office/officeart/2005/8/layout/gear1"/>
    <dgm:cxn modelId="{BBF6573E-9B0A-4277-8175-57AA39B998C2}" type="presParOf" srcId="{59B3D999-451E-E14E-8CF5-E87C8DDADD6D}" destId="{4842F6D3-3286-7A48-B6CB-5B20F9907E90}" srcOrd="8" destOrd="0" presId="urn:microsoft.com/office/officeart/2005/8/layout/gear1"/>
    <dgm:cxn modelId="{33A6E83F-B8B3-49FE-BDEF-E210EEAB0387}" type="presParOf" srcId="{59B3D999-451E-E14E-8CF5-E87C8DDADD6D}" destId="{17B9C5E4-DDB4-3440-BA45-2E1D91013D22}" srcOrd="9" destOrd="0" presId="urn:microsoft.com/office/officeart/2005/8/layout/gear1"/>
    <dgm:cxn modelId="{68910A6B-15CB-4C02-A138-A6C60FDF8C7F}" type="presParOf" srcId="{59B3D999-451E-E14E-8CF5-E87C8DDADD6D}" destId="{E7BA4F8E-22CC-5C44-89A3-4F0D855FFF5D}" srcOrd="10" destOrd="0" presId="urn:microsoft.com/office/officeart/2005/8/layout/gear1"/>
    <dgm:cxn modelId="{BFC7AB83-D944-4202-8F35-D96A1F8288A5}" type="presParOf" srcId="{59B3D999-451E-E14E-8CF5-E87C8DDADD6D}" destId="{1CEA9B82-3B92-E845-AF58-EFB870C00A25}" srcOrd="11" destOrd="0" presId="urn:microsoft.com/office/officeart/2005/8/layout/gear1"/>
    <dgm:cxn modelId="{D57DDEFA-A209-4E99-BDE6-2E1F70E1A913}" type="presParOf" srcId="{59B3D999-451E-E14E-8CF5-E87C8DDADD6D}" destId="{50439AD2-AD6C-BE4B-9AA8-87DFB9BC0FF8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CBE7C16-6BD3-CA45-87FF-AC8BDA78CC78}" type="doc">
      <dgm:prSet loTypeId="urn:microsoft.com/office/officeart/2005/8/layout/gear1" loCatId="relationship" qsTypeId="urn:microsoft.com/office/officeart/2005/8/quickstyle/simple4" qsCatId="simple" csTypeId="urn:microsoft.com/office/officeart/2005/8/colors/accent1_2#2" csCatId="accent1" phldr="1"/>
      <dgm:spPr/>
    </dgm:pt>
    <dgm:pt modelId="{FFB2DC72-E207-AE4C-99C6-30C7D46F56BB}">
      <dgm:prSet phldrT="[Text]"/>
      <dgm:spPr>
        <a:xfrm>
          <a:off x="428857" y="546685"/>
          <a:ext cx="524159" cy="524159"/>
        </a:xfrm>
        <a:prstGeom prst="gear9">
          <a:avLst/>
        </a:prstGeom>
        <a:solidFill>
          <a:srgbClr val="C6179D">
            <a:lumMod val="20000"/>
            <a:lumOff val="80000"/>
          </a:srgbClr>
        </a:solidFill>
        <a:ln>
          <a:noFill/>
        </a:ln>
        <a:effectLst/>
      </dgm:spPr>
      <dgm:t>
        <a:bodyPr/>
        <a:lstStyle/>
        <a:p>
          <a:pPr>
            <a:buNone/>
          </a:pPr>
          <a:endParaRPr lang="en-US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3C197EC9-D3DC-DC42-8AEC-4F84487F4576}" type="parTrans" cxnId="{507CEDFF-2374-BB4F-8CAA-8A11C5A58964}">
      <dgm:prSet/>
      <dgm:spPr/>
      <dgm:t>
        <a:bodyPr/>
        <a:lstStyle/>
        <a:p>
          <a:endParaRPr lang="en-US"/>
        </a:p>
      </dgm:t>
    </dgm:pt>
    <dgm:pt modelId="{3CFB0BA0-C7E0-1344-8BC7-D5A0E8071D09}" type="sibTrans" cxnId="{507CEDFF-2374-BB4F-8CAA-8A11C5A58964}">
      <dgm:prSet/>
      <dgm:spPr>
        <a:xfrm>
          <a:off x="360414" y="481815"/>
          <a:ext cx="670923" cy="670923"/>
        </a:xfrm>
        <a:prstGeom prst="circularArrow">
          <a:avLst>
            <a:gd name="adj1" fmla="val 4688"/>
            <a:gd name="adj2" fmla="val 299029"/>
            <a:gd name="adj3" fmla="val 2286721"/>
            <a:gd name="adj4" fmla="val 16500313"/>
            <a:gd name="adj5" fmla="val 5469"/>
          </a:avLst>
        </a:prstGeom>
        <a:solidFill>
          <a:sysClr val="window" lastClr="FFFFFF">
            <a:lumMod val="85000"/>
          </a:sysClr>
        </a:solidFill>
        <a:ln>
          <a:noFill/>
        </a:ln>
        <a:effectLst/>
      </dgm:spPr>
      <dgm:t>
        <a:bodyPr/>
        <a:lstStyle/>
        <a:p>
          <a:endParaRPr lang="en-US" dirty="0"/>
        </a:p>
      </dgm:t>
    </dgm:pt>
    <dgm:pt modelId="{6D35D351-613A-3844-90E8-DE331B38C953}">
      <dgm:prSet phldrT="[Text]"/>
      <dgm:spPr>
        <a:xfrm>
          <a:off x="123892" y="422793"/>
          <a:ext cx="381206" cy="381206"/>
        </a:xfrm>
        <a:prstGeom prst="gear6">
          <a:avLst/>
        </a:prstGeom>
        <a:solidFill>
          <a:srgbClr val="C6179D">
            <a:lumMod val="60000"/>
            <a:lumOff val="40000"/>
            <a:alpha val="80000"/>
          </a:srgbClr>
        </a:solidFill>
        <a:ln>
          <a:noFill/>
        </a:ln>
        <a:effectLst/>
      </dgm:spPr>
      <dgm:t>
        <a:bodyPr/>
        <a:lstStyle/>
        <a:p>
          <a:pPr>
            <a:buNone/>
          </a:pPr>
          <a:endParaRPr lang="en-US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10A13D4B-19A0-5C4B-BD8F-742B0789762F}" type="parTrans" cxnId="{53E4E9E3-8239-764F-980E-89A7D5FE2B14}">
      <dgm:prSet/>
      <dgm:spPr/>
      <dgm:t>
        <a:bodyPr/>
        <a:lstStyle/>
        <a:p>
          <a:endParaRPr lang="en-US"/>
        </a:p>
      </dgm:t>
    </dgm:pt>
    <dgm:pt modelId="{D576F9E5-B933-5F47-B972-00AF7155B7FF}" type="sibTrans" cxnId="{53E4E9E3-8239-764F-980E-89A7D5FE2B14}">
      <dgm:prSet/>
      <dgm:spPr>
        <a:xfrm>
          <a:off x="56381" y="352356"/>
          <a:ext cx="487468" cy="487468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ysClr val="window" lastClr="FFFFFF">
            <a:lumMod val="85000"/>
          </a:sysClr>
        </a:solidFill>
        <a:ln>
          <a:noFill/>
        </a:ln>
        <a:effectLst/>
      </dgm:spPr>
      <dgm:t>
        <a:bodyPr/>
        <a:lstStyle/>
        <a:p>
          <a:endParaRPr lang="en-US" dirty="0"/>
        </a:p>
      </dgm:t>
    </dgm:pt>
    <dgm:pt modelId="{D595E3FF-B8FD-D746-A220-06DD1CE4F32A}">
      <dgm:prSet phldrT="[Text]"/>
      <dgm:spPr/>
      <dgm:t>
        <a:bodyPr/>
        <a:lstStyle/>
        <a:p>
          <a:endParaRPr lang="en-US" dirty="0"/>
        </a:p>
      </dgm:t>
    </dgm:pt>
    <dgm:pt modelId="{9566CAD6-9618-B648-8800-9318A9F30DF8}" type="parTrans" cxnId="{D1A4B484-194E-A448-9C2E-CA31D1E7ED02}">
      <dgm:prSet/>
      <dgm:spPr/>
      <dgm:t>
        <a:bodyPr/>
        <a:lstStyle/>
        <a:p>
          <a:endParaRPr lang="en-US"/>
        </a:p>
      </dgm:t>
    </dgm:pt>
    <dgm:pt modelId="{15E4FAB7-28A0-764B-8F01-F4952947201F}" type="sibTrans" cxnId="{D1A4B484-194E-A448-9C2E-CA31D1E7ED02}">
      <dgm:prSet/>
      <dgm:spPr/>
      <dgm:t>
        <a:bodyPr/>
        <a:lstStyle/>
        <a:p>
          <a:endParaRPr lang="en-US"/>
        </a:p>
      </dgm:t>
    </dgm:pt>
    <dgm:pt modelId="{A23E5F16-2D3F-6E46-874C-D770DB85855E}">
      <dgm:prSet/>
      <dgm:spPr/>
      <dgm:t>
        <a:bodyPr/>
        <a:lstStyle/>
        <a:p>
          <a:endParaRPr lang="en-US" dirty="0"/>
        </a:p>
      </dgm:t>
    </dgm:pt>
    <dgm:pt modelId="{4DCBBED0-F6BF-8643-969C-37782EDD3A0F}" type="parTrans" cxnId="{F4D50A82-E7E1-5945-B5E7-EE27DB9C153F}">
      <dgm:prSet/>
      <dgm:spPr/>
      <dgm:t>
        <a:bodyPr/>
        <a:lstStyle/>
        <a:p>
          <a:endParaRPr lang="en-US"/>
        </a:p>
      </dgm:t>
    </dgm:pt>
    <dgm:pt modelId="{5F0DA50D-932E-9C41-BD3F-6B36F5C62488}" type="sibTrans" cxnId="{F4D50A82-E7E1-5945-B5E7-EE27DB9C153F}">
      <dgm:prSet/>
      <dgm:spPr/>
      <dgm:t>
        <a:bodyPr/>
        <a:lstStyle/>
        <a:p>
          <a:endParaRPr lang="en-US"/>
        </a:p>
      </dgm:t>
    </dgm:pt>
    <dgm:pt modelId="{D3B019E8-F33F-254E-BF8C-803B472CB2A4}">
      <dgm:prSet/>
      <dgm:spPr>
        <a:xfrm rot="20700000">
          <a:off x="337406" y="159799"/>
          <a:ext cx="373504" cy="373504"/>
        </a:xfrm>
        <a:prstGeom prst="gear6">
          <a:avLst/>
        </a:prstGeom>
        <a:solidFill>
          <a:srgbClr val="C6179D">
            <a:alpha val="90000"/>
          </a:srgbClr>
        </a:solidFill>
        <a:ln>
          <a:noFill/>
        </a:ln>
        <a:effectLst/>
      </dgm:spPr>
      <dgm:t>
        <a:bodyPr/>
        <a:lstStyle/>
        <a:p>
          <a:pPr>
            <a:buNone/>
          </a:pPr>
          <a:endParaRPr lang="en-US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BB56285C-836A-B942-A461-6AC402143AAD}" type="parTrans" cxnId="{C275C90F-C6C8-1C40-8591-E5CFAC2621A0}">
      <dgm:prSet/>
      <dgm:spPr/>
      <dgm:t>
        <a:bodyPr/>
        <a:lstStyle/>
        <a:p>
          <a:endParaRPr lang="en-US"/>
        </a:p>
      </dgm:t>
    </dgm:pt>
    <dgm:pt modelId="{0B663169-9FFF-1344-B874-75891E779B9E}" type="sibTrans" cxnId="{C275C90F-C6C8-1C40-8591-E5CFAC2621A0}">
      <dgm:prSet/>
      <dgm:spPr>
        <a:xfrm>
          <a:off x="251011" y="91898"/>
          <a:ext cx="525588" cy="525588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ysClr val="window" lastClr="FFFFFF">
            <a:lumMod val="85000"/>
          </a:sysClr>
        </a:solidFill>
        <a:ln>
          <a:noFill/>
        </a:ln>
        <a:effectLst/>
      </dgm:spPr>
      <dgm:t>
        <a:bodyPr/>
        <a:lstStyle/>
        <a:p>
          <a:endParaRPr lang="en-US" dirty="0"/>
        </a:p>
      </dgm:t>
    </dgm:pt>
    <dgm:pt modelId="{59B3D999-451E-E14E-8CF5-E87C8DDADD6D}" type="pres">
      <dgm:prSet presAssocID="{BCBE7C16-6BD3-CA45-87FF-AC8BDA78CC78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C16E1178-730B-3548-AB8D-4CAB5245610F}" type="pres">
      <dgm:prSet presAssocID="{FFB2DC72-E207-AE4C-99C6-30C7D46F56BB}" presName="gear1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8E3280E-719F-AF44-A246-8ADCBF0F4FB6}" type="pres">
      <dgm:prSet presAssocID="{FFB2DC72-E207-AE4C-99C6-30C7D46F56BB}" presName="gear1srcNode" presStyleLbl="node1" presStyleIdx="0" presStyleCnt="3"/>
      <dgm:spPr/>
      <dgm:t>
        <a:bodyPr/>
        <a:lstStyle/>
        <a:p>
          <a:pPr latinLnBrk="1"/>
          <a:endParaRPr lang="ko-KR" altLang="en-US"/>
        </a:p>
      </dgm:t>
    </dgm:pt>
    <dgm:pt modelId="{A0C5DBE2-2705-1742-BDEA-2812D4E814A3}" type="pres">
      <dgm:prSet presAssocID="{FFB2DC72-E207-AE4C-99C6-30C7D46F56BB}" presName="gear1dstNode" presStyleLbl="node1" presStyleIdx="0" presStyleCnt="3"/>
      <dgm:spPr/>
      <dgm:t>
        <a:bodyPr/>
        <a:lstStyle/>
        <a:p>
          <a:pPr latinLnBrk="1"/>
          <a:endParaRPr lang="ko-KR" altLang="en-US"/>
        </a:p>
      </dgm:t>
    </dgm:pt>
    <dgm:pt modelId="{2538B885-C1CA-9B43-AF7D-8C802987493E}" type="pres">
      <dgm:prSet presAssocID="{6D35D351-613A-3844-90E8-DE331B38C953}" presName="gear2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77DB2C8A-EE3F-714A-9EAD-AA922CD67274}" type="pres">
      <dgm:prSet presAssocID="{6D35D351-613A-3844-90E8-DE331B38C953}" presName="gear2srcNode" presStyleLbl="node1" presStyleIdx="1" presStyleCnt="3"/>
      <dgm:spPr/>
      <dgm:t>
        <a:bodyPr/>
        <a:lstStyle/>
        <a:p>
          <a:pPr latinLnBrk="1"/>
          <a:endParaRPr lang="ko-KR" altLang="en-US"/>
        </a:p>
      </dgm:t>
    </dgm:pt>
    <dgm:pt modelId="{035812BE-E99B-FB4E-8685-833E708C5B4E}" type="pres">
      <dgm:prSet presAssocID="{6D35D351-613A-3844-90E8-DE331B38C953}" presName="gear2dstNode" presStyleLbl="node1" presStyleIdx="1" presStyleCnt="3"/>
      <dgm:spPr/>
      <dgm:t>
        <a:bodyPr/>
        <a:lstStyle/>
        <a:p>
          <a:pPr latinLnBrk="1"/>
          <a:endParaRPr lang="ko-KR" altLang="en-US"/>
        </a:p>
      </dgm:t>
    </dgm:pt>
    <dgm:pt modelId="{FC458D00-F7E5-C449-8E45-301A6F6510AE}" type="pres">
      <dgm:prSet presAssocID="{D3B019E8-F33F-254E-BF8C-803B472CB2A4}" presName="gear3" presStyleLbl="node1" presStyleIdx="2" presStyleCnt="3"/>
      <dgm:spPr/>
      <dgm:t>
        <a:bodyPr/>
        <a:lstStyle/>
        <a:p>
          <a:pPr latinLnBrk="1"/>
          <a:endParaRPr lang="ko-KR" altLang="en-US"/>
        </a:p>
      </dgm:t>
    </dgm:pt>
    <dgm:pt modelId="{707FB791-E200-3F49-8F60-A22FE99B369B}" type="pres">
      <dgm:prSet presAssocID="{D3B019E8-F33F-254E-BF8C-803B472CB2A4}" presName="gear3tx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842F6D3-3286-7A48-B6CB-5B20F9907E90}" type="pres">
      <dgm:prSet presAssocID="{D3B019E8-F33F-254E-BF8C-803B472CB2A4}" presName="gear3srcNode" presStyleLbl="node1" presStyleIdx="2" presStyleCnt="3"/>
      <dgm:spPr/>
      <dgm:t>
        <a:bodyPr/>
        <a:lstStyle/>
        <a:p>
          <a:pPr latinLnBrk="1"/>
          <a:endParaRPr lang="ko-KR" altLang="en-US"/>
        </a:p>
      </dgm:t>
    </dgm:pt>
    <dgm:pt modelId="{17B9C5E4-DDB4-3440-BA45-2E1D91013D22}" type="pres">
      <dgm:prSet presAssocID="{D3B019E8-F33F-254E-BF8C-803B472CB2A4}" presName="gear3dstNode" presStyleLbl="node1" presStyleIdx="2" presStyleCnt="3"/>
      <dgm:spPr/>
      <dgm:t>
        <a:bodyPr/>
        <a:lstStyle/>
        <a:p>
          <a:pPr latinLnBrk="1"/>
          <a:endParaRPr lang="ko-KR" altLang="en-US"/>
        </a:p>
      </dgm:t>
    </dgm:pt>
    <dgm:pt modelId="{E7BA4F8E-22CC-5C44-89A3-4F0D855FFF5D}" type="pres">
      <dgm:prSet presAssocID="{3CFB0BA0-C7E0-1344-8BC7-D5A0E8071D09}" presName="connector1" presStyleLbl="sibTrans2D1" presStyleIdx="0" presStyleCnt="3"/>
      <dgm:spPr/>
      <dgm:t>
        <a:bodyPr/>
        <a:lstStyle/>
        <a:p>
          <a:pPr latinLnBrk="1"/>
          <a:endParaRPr lang="ko-KR" altLang="en-US"/>
        </a:p>
      </dgm:t>
    </dgm:pt>
    <dgm:pt modelId="{1CEA9B82-3B92-E845-AF58-EFB870C00A25}" type="pres">
      <dgm:prSet presAssocID="{D576F9E5-B933-5F47-B972-00AF7155B7FF}" presName="connector2" presStyleLbl="sibTrans2D1" presStyleIdx="1" presStyleCnt="3"/>
      <dgm:spPr/>
      <dgm:t>
        <a:bodyPr/>
        <a:lstStyle/>
        <a:p>
          <a:pPr latinLnBrk="1"/>
          <a:endParaRPr lang="ko-KR" altLang="en-US"/>
        </a:p>
      </dgm:t>
    </dgm:pt>
    <dgm:pt modelId="{50439AD2-AD6C-BE4B-9AA8-87DFB9BC0FF8}" type="pres">
      <dgm:prSet presAssocID="{0B663169-9FFF-1344-B874-75891E779B9E}" presName="connector3" presStyleLbl="sibTrans2D1" presStyleIdx="2" presStyleCnt="3"/>
      <dgm:spPr/>
      <dgm:t>
        <a:bodyPr/>
        <a:lstStyle/>
        <a:p>
          <a:pPr latinLnBrk="1"/>
          <a:endParaRPr lang="ko-KR" altLang="en-US"/>
        </a:p>
      </dgm:t>
    </dgm:pt>
  </dgm:ptLst>
  <dgm:cxnLst>
    <dgm:cxn modelId="{DADBC592-F12D-4674-A38E-325FA98BEFE0}" type="presOf" srcId="{0B663169-9FFF-1344-B874-75891E779B9E}" destId="{50439AD2-AD6C-BE4B-9AA8-87DFB9BC0FF8}" srcOrd="0" destOrd="0" presId="urn:microsoft.com/office/officeart/2005/8/layout/gear1"/>
    <dgm:cxn modelId="{D1A4B484-194E-A448-9C2E-CA31D1E7ED02}" srcId="{BCBE7C16-6BD3-CA45-87FF-AC8BDA78CC78}" destId="{D595E3FF-B8FD-D746-A220-06DD1CE4F32A}" srcOrd="4" destOrd="0" parTransId="{9566CAD6-9618-B648-8800-9318A9F30DF8}" sibTransId="{15E4FAB7-28A0-764B-8F01-F4952947201F}"/>
    <dgm:cxn modelId="{406E0B62-3C8D-46A4-8162-5D8519377AA7}" type="presOf" srcId="{6D35D351-613A-3844-90E8-DE331B38C953}" destId="{035812BE-E99B-FB4E-8685-833E708C5B4E}" srcOrd="2" destOrd="0" presId="urn:microsoft.com/office/officeart/2005/8/layout/gear1"/>
    <dgm:cxn modelId="{941B41DD-AF45-458D-81D9-9CB097E04D38}" type="presOf" srcId="{D3B019E8-F33F-254E-BF8C-803B472CB2A4}" destId="{4842F6D3-3286-7A48-B6CB-5B20F9907E90}" srcOrd="2" destOrd="0" presId="urn:microsoft.com/office/officeart/2005/8/layout/gear1"/>
    <dgm:cxn modelId="{53E4E9E3-8239-764F-980E-89A7D5FE2B14}" srcId="{BCBE7C16-6BD3-CA45-87FF-AC8BDA78CC78}" destId="{6D35D351-613A-3844-90E8-DE331B38C953}" srcOrd="1" destOrd="0" parTransId="{10A13D4B-19A0-5C4B-BD8F-742B0789762F}" sibTransId="{D576F9E5-B933-5F47-B972-00AF7155B7FF}"/>
    <dgm:cxn modelId="{AA587861-73B3-4817-8A79-70D6AAEA8963}" type="presOf" srcId="{6D35D351-613A-3844-90E8-DE331B38C953}" destId="{77DB2C8A-EE3F-714A-9EAD-AA922CD67274}" srcOrd="1" destOrd="0" presId="urn:microsoft.com/office/officeart/2005/8/layout/gear1"/>
    <dgm:cxn modelId="{83ECD8CC-A0F6-4369-9201-9019974E705C}" type="presOf" srcId="{D3B019E8-F33F-254E-BF8C-803B472CB2A4}" destId="{707FB791-E200-3F49-8F60-A22FE99B369B}" srcOrd="1" destOrd="0" presId="urn:microsoft.com/office/officeart/2005/8/layout/gear1"/>
    <dgm:cxn modelId="{D677C3DD-7E7A-4A15-A93C-2670B78CB924}" type="presOf" srcId="{FFB2DC72-E207-AE4C-99C6-30C7D46F56BB}" destId="{C16E1178-730B-3548-AB8D-4CAB5245610F}" srcOrd="0" destOrd="0" presId="urn:microsoft.com/office/officeart/2005/8/layout/gear1"/>
    <dgm:cxn modelId="{EB3D436F-AE68-4BE1-8048-839E937F5ACF}" type="presOf" srcId="{FFB2DC72-E207-AE4C-99C6-30C7D46F56BB}" destId="{A0C5DBE2-2705-1742-BDEA-2812D4E814A3}" srcOrd="2" destOrd="0" presId="urn:microsoft.com/office/officeart/2005/8/layout/gear1"/>
    <dgm:cxn modelId="{619DD6FE-B7C9-4621-8B0F-61A78B3A191B}" type="presOf" srcId="{D3B019E8-F33F-254E-BF8C-803B472CB2A4}" destId="{17B9C5E4-DDB4-3440-BA45-2E1D91013D22}" srcOrd="3" destOrd="0" presId="urn:microsoft.com/office/officeart/2005/8/layout/gear1"/>
    <dgm:cxn modelId="{D93AA7E3-BDDA-45F8-A5C9-9DFBBA9359F7}" type="presOf" srcId="{D576F9E5-B933-5F47-B972-00AF7155B7FF}" destId="{1CEA9B82-3B92-E845-AF58-EFB870C00A25}" srcOrd="0" destOrd="0" presId="urn:microsoft.com/office/officeart/2005/8/layout/gear1"/>
    <dgm:cxn modelId="{507CEDFF-2374-BB4F-8CAA-8A11C5A58964}" srcId="{BCBE7C16-6BD3-CA45-87FF-AC8BDA78CC78}" destId="{FFB2DC72-E207-AE4C-99C6-30C7D46F56BB}" srcOrd="0" destOrd="0" parTransId="{3C197EC9-D3DC-DC42-8AEC-4F84487F4576}" sibTransId="{3CFB0BA0-C7E0-1344-8BC7-D5A0E8071D09}"/>
    <dgm:cxn modelId="{83921916-3D9E-4D5B-ABE0-97CD361C3479}" type="presOf" srcId="{BCBE7C16-6BD3-CA45-87FF-AC8BDA78CC78}" destId="{59B3D999-451E-E14E-8CF5-E87C8DDADD6D}" srcOrd="0" destOrd="0" presId="urn:microsoft.com/office/officeart/2005/8/layout/gear1"/>
    <dgm:cxn modelId="{54E90BDC-A74E-4CBD-8C03-271F321935B0}" type="presOf" srcId="{3CFB0BA0-C7E0-1344-8BC7-D5A0E8071D09}" destId="{E7BA4F8E-22CC-5C44-89A3-4F0D855FFF5D}" srcOrd="0" destOrd="0" presId="urn:microsoft.com/office/officeart/2005/8/layout/gear1"/>
    <dgm:cxn modelId="{A917F490-EF90-4900-93E2-7BB23DDB7CAA}" type="presOf" srcId="{6D35D351-613A-3844-90E8-DE331B38C953}" destId="{2538B885-C1CA-9B43-AF7D-8C802987493E}" srcOrd="0" destOrd="0" presId="urn:microsoft.com/office/officeart/2005/8/layout/gear1"/>
    <dgm:cxn modelId="{A1776D73-C3ED-4357-B9C1-86B6E08016F9}" type="presOf" srcId="{FFB2DC72-E207-AE4C-99C6-30C7D46F56BB}" destId="{98E3280E-719F-AF44-A246-8ADCBF0F4FB6}" srcOrd="1" destOrd="0" presId="urn:microsoft.com/office/officeart/2005/8/layout/gear1"/>
    <dgm:cxn modelId="{26594624-D544-4BF0-B9F3-CBF882AD29F4}" type="presOf" srcId="{D3B019E8-F33F-254E-BF8C-803B472CB2A4}" destId="{FC458D00-F7E5-C449-8E45-301A6F6510AE}" srcOrd="0" destOrd="0" presId="urn:microsoft.com/office/officeart/2005/8/layout/gear1"/>
    <dgm:cxn modelId="{C275C90F-C6C8-1C40-8591-E5CFAC2621A0}" srcId="{BCBE7C16-6BD3-CA45-87FF-AC8BDA78CC78}" destId="{D3B019E8-F33F-254E-BF8C-803B472CB2A4}" srcOrd="2" destOrd="0" parTransId="{BB56285C-836A-B942-A461-6AC402143AAD}" sibTransId="{0B663169-9FFF-1344-B874-75891E779B9E}"/>
    <dgm:cxn modelId="{F4D50A82-E7E1-5945-B5E7-EE27DB9C153F}" srcId="{BCBE7C16-6BD3-CA45-87FF-AC8BDA78CC78}" destId="{A23E5F16-2D3F-6E46-874C-D770DB85855E}" srcOrd="3" destOrd="0" parTransId="{4DCBBED0-F6BF-8643-969C-37782EDD3A0F}" sibTransId="{5F0DA50D-932E-9C41-BD3F-6B36F5C62488}"/>
    <dgm:cxn modelId="{1CFA9EEB-8D3F-4222-8209-717F8A73928B}" type="presParOf" srcId="{59B3D999-451E-E14E-8CF5-E87C8DDADD6D}" destId="{C16E1178-730B-3548-AB8D-4CAB5245610F}" srcOrd="0" destOrd="0" presId="urn:microsoft.com/office/officeart/2005/8/layout/gear1"/>
    <dgm:cxn modelId="{C8DE72F4-A920-4891-A2BA-F565CA4A544C}" type="presParOf" srcId="{59B3D999-451E-E14E-8CF5-E87C8DDADD6D}" destId="{98E3280E-719F-AF44-A246-8ADCBF0F4FB6}" srcOrd="1" destOrd="0" presId="urn:microsoft.com/office/officeart/2005/8/layout/gear1"/>
    <dgm:cxn modelId="{56650FD7-530A-4209-B6FF-100EF1911863}" type="presParOf" srcId="{59B3D999-451E-E14E-8CF5-E87C8DDADD6D}" destId="{A0C5DBE2-2705-1742-BDEA-2812D4E814A3}" srcOrd="2" destOrd="0" presId="urn:microsoft.com/office/officeart/2005/8/layout/gear1"/>
    <dgm:cxn modelId="{A8498FFF-6E30-44C0-A8A6-54145E89C54B}" type="presParOf" srcId="{59B3D999-451E-E14E-8CF5-E87C8DDADD6D}" destId="{2538B885-C1CA-9B43-AF7D-8C802987493E}" srcOrd="3" destOrd="0" presId="urn:microsoft.com/office/officeart/2005/8/layout/gear1"/>
    <dgm:cxn modelId="{8E4DA75A-512A-424A-8D47-1699B6615698}" type="presParOf" srcId="{59B3D999-451E-E14E-8CF5-E87C8DDADD6D}" destId="{77DB2C8A-EE3F-714A-9EAD-AA922CD67274}" srcOrd="4" destOrd="0" presId="urn:microsoft.com/office/officeart/2005/8/layout/gear1"/>
    <dgm:cxn modelId="{1119AF26-19EB-446D-BF15-A011468AE54E}" type="presParOf" srcId="{59B3D999-451E-E14E-8CF5-E87C8DDADD6D}" destId="{035812BE-E99B-FB4E-8685-833E708C5B4E}" srcOrd="5" destOrd="0" presId="urn:microsoft.com/office/officeart/2005/8/layout/gear1"/>
    <dgm:cxn modelId="{B8A7DC6D-60FD-41FE-BD70-B1724C53095E}" type="presParOf" srcId="{59B3D999-451E-E14E-8CF5-E87C8DDADD6D}" destId="{FC458D00-F7E5-C449-8E45-301A6F6510AE}" srcOrd="6" destOrd="0" presId="urn:microsoft.com/office/officeart/2005/8/layout/gear1"/>
    <dgm:cxn modelId="{F613D023-A9C5-49D7-8E92-80233C0E08CF}" type="presParOf" srcId="{59B3D999-451E-E14E-8CF5-E87C8DDADD6D}" destId="{707FB791-E200-3F49-8F60-A22FE99B369B}" srcOrd="7" destOrd="0" presId="urn:microsoft.com/office/officeart/2005/8/layout/gear1"/>
    <dgm:cxn modelId="{95F2166A-C523-42A4-B51D-71E397A568ED}" type="presParOf" srcId="{59B3D999-451E-E14E-8CF5-E87C8DDADD6D}" destId="{4842F6D3-3286-7A48-B6CB-5B20F9907E90}" srcOrd="8" destOrd="0" presId="urn:microsoft.com/office/officeart/2005/8/layout/gear1"/>
    <dgm:cxn modelId="{2E59BEB1-D64F-442B-964C-0D87B588CEEC}" type="presParOf" srcId="{59B3D999-451E-E14E-8CF5-E87C8DDADD6D}" destId="{17B9C5E4-DDB4-3440-BA45-2E1D91013D22}" srcOrd="9" destOrd="0" presId="urn:microsoft.com/office/officeart/2005/8/layout/gear1"/>
    <dgm:cxn modelId="{162A05D4-CC45-428B-B3A4-31317FCEB98F}" type="presParOf" srcId="{59B3D999-451E-E14E-8CF5-E87C8DDADD6D}" destId="{E7BA4F8E-22CC-5C44-89A3-4F0D855FFF5D}" srcOrd="10" destOrd="0" presId="urn:microsoft.com/office/officeart/2005/8/layout/gear1"/>
    <dgm:cxn modelId="{FED825FE-CCC4-49BB-AEE3-07A5604FE9B3}" type="presParOf" srcId="{59B3D999-451E-E14E-8CF5-E87C8DDADD6D}" destId="{1CEA9B82-3B92-E845-AF58-EFB870C00A25}" srcOrd="11" destOrd="0" presId="urn:microsoft.com/office/officeart/2005/8/layout/gear1"/>
    <dgm:cxn modelId="{B0C261BB-F095-41BD-9CDF-1106C4CA4965}" type="presParOf" srcId="{59B3D999-451E-E14E-8CF5-E87C8DDADD6D}" destId="{50439AD2-AD6C-BE4B-9AA8-87DFB9BC0FF8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6E1178-730B-3548-AB8D-4CAB5245610F}">
      <dsp:nvSpPr>
        <dsp:cNvPr id="0" name=""/>
        <dsp:cNvSpPr/>
      </dsp:nvSpPr>
      <dsp:spPr>
        <a:xfrm>
          <a:off x="411187" y="597382"/>
          <a:ext cx="502562" cy="502562"/>
        </a:xfrm>
        <a:prstGeom prst="gear9">
          <a:avLst/>
        </a:prstGeom>
        <a:solidFill>
          <a:srgbClr val="C6179D">
            <a:lumMod val="20000"/>
            <a:lumOff val="80000"/>
          </a:srgb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512224" y="715105"/>
        <a:ext cx="300488" cy="258327"/>
      </dsp:txXfrm>
    </dsp:sp>
    <dsp:sp modelId="{2538B885-C1CA-9B43-AF7D-8C802987493E}">
      <dsp:nvSpPr>
        <dsp:cNvPr id="0" name=""/>
        <dsp:cNvSpPr/>
      </dsp:nvSpPr>
      <dsp:spPr>
        <a:xfrm>
          <a:off x="118787" y="432363"/>
          <a:ext cx="365500" cy="365500"/>
        </a:xfrm>
        <a:prstGeom prst="gear6">
          <a:avLst/>
        </a:prstGeom>
        <a:solidFill>
          <a:srgbClr val="C6179D">
            <a:lumMod val="60000"/>
            <a:lumOff val="40000"/>
            <a:alpha val="80000"/>
          </a:srgb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210803" y="524935"/>
        <a:ext cx="181468" cy="180356"/>
      </dsp:txXfrm>
    </dsp:sp>
    <dsp:sp modelId="{FC458D00-F7E5-C449-8E45-301A6F6510AE}">
      <dsp:nvSpPr>
        <dsp:cNvPr id="0" name=""/>
        <dsp:cNvSpPr/>
      </dsp:nvSpPr>
      <dsp:spPr>
        <a:xfrm rot="20700000">
          <a:off x="323504" y="203590"/>
          <a:ext cx="358115" cy="358115"/>
        </a:xfrm>
        <a:prstGeom prst="gear6">
          <a:avLst/>
        </a:prstGeom>
        <a:solidFill>
          <a:srgbClr val="C6179D">
            <a:alpha val="90000"/>
          </a:srgb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 rot="-20700000">
        <a:off x="452659" y="333051"/>
        <a:ext cx="99807" cy="99195"/>
      </dsp:txXfrm>
    </dsp:sp>
    <dsp:sp modelId="{E7BA4F8E-22CC-5C44-89A3-4F0D855FFF5D}">
      <dsp:nvSpPr>
        <dsp:cNvPr id="0" name=""/>
        <dsp:cNvSpPr/>
      </dsp:nvSpPr>
      <dsp:spPr>
        <a:xfrm>
          <a:off x="344362" y="512832"/>
          <a:ext cx="643280" cy="643280"/>
        </a:xfrm>
        <a:prstGeom prst="circularArrow">
          <a:avLst>
            <a:gd name="adj1" fmla="val 4688"/>
            <a:gd name="adj2" fmla="val 299029"/>
            <a:gd name="adj3" fmla="val 2278686"/>
            <a:gd name="adj4" fmla="val 16532401"/>
            <a:gd name="adj5" fmla="val 5469"/>
          </a:avLst>
        </a:prstGeom>
        <a:solidFill>
          <a:sysClr val="window" lastClr="FFFFFF">
            <a:lumMod val="85000"/>
          </a:sys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CEA9B82-3B92-E845-AF58-EFB870C00A25}">
      <dsp:nvSpPr>
        <dsp:cNvPr id="0" name=""/>
        <dsp:cNvSpPr/>
      </dsp:nvSpPr>
      <dsp:spPr>
        <a:xfrm>
          <a:off x="54058" y="388955"/>
          <a:ext cx="467383" cy="467383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ysClr val="window" lastClr="FFFFFF">
            <a:lumMod val="85000"/>
          </a:sys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0439AD2-AD6C-BE4B-9AA8-87DFB9BC0FF8}">
      <dsp:nvSpPr>
        <dsp:cNvPr id="0" name=""/>
        <dsp:cNvSpPr/>
      </dsp:nvSpPr>
      <dsp:spPr>
        <a:xfrm>
          <a:off x="240669" y="139228"/>
          <a:ext cx="503933" cy="503933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ysClr val="window" lastClr="FFFFFF">
            <a:lumMod val="85000"/>
          </a:sys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6E1178-730B-3548-AB8D-4CAB5245610F}">
      <dsp:nvSpPr>
        <dsp:cNvPr id="0" name=""/>
        <dsp:cNvSpPr/>
      </dsp:nvSpPr>
      <dsp:spPr>
        <a:xfrm>
          <a:off x="428857" y="546685"/>
          <a:ext cx="524159" cy="524159"/>
        </a:xfrm>
        <a:prstGeom prst="gear9">
          <a:avLst/>
        </a:prstGeom>
        <a:solidFill>
          <a:srgbClr val="C6179D">
            <a:lumMod val="20000"/>
            <a:lumOff val="80000"/>
          </a:srgb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534236" y="669467"/>
        <a:ext cx="313401" cy="269428"/>
      </dsp:txXfrm>
    </dsp:sp>
    <dsp:sp modelId="{2538B885-C1CA-9B43-AF7D-8C802987493E}">
      <dsp:nvSpPr>
        <dsp:cNvPr id="0" name=""/>
        <dsp:cNvSpPr/>
      </dsp:nvSpPr>
      <dsp:spPr>
        <a:xfrm>
          <a:off x="123892" y="422793"/>
          <a:ext cx="381206" cy="381206"/>
        </a:xfrm>
        <a:prstGeom prst="gear6">
          <a:avLst/>
        </a:prstGeom>
        <a:solidFill>
          <a:srgbClr val="C6179D">
            <a:lumMod val="60000"/>
            <a:lumOff val="40000"/>
            <a:alpha val="80000"/>
          </a:srgb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219862" y="519343"/>
        <a:ext cx="189266" cy="188106"/>
      </dsp:txXfrm>
    </dsp:sp>
    <dsp:sp modelId="{FC458D00-F7E5-C449-8E45-301A6F6510AE}">
      <dsp:nvSpPr>
        <dsp:cNvPr id="0" name=""/>
        <dsp:cNvSpPr/>
      </dsp:nvSpPr>
      <dsp:spPr>
        <a:xfrm rot="20700000">
          <a:off x="337406" y="159799"/>
          <a:ext cx="373504" cy="373504"/>
        </a:xfrm>
        <a:prstGeom prst="gear6">
          <a:avLst/>
        </a:prstGeom>
        <a:solidFill>
          <a:srgbClr val="C6179D">
            <a:alpha val="90000"/>
          </a:srgb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 rot="-20700000">
        <a:off x="472110" y="294822"/>
        <a:ext cx="104097" cy="103459"/>
      </dsp:txXfrm>
    </dsp:sp>
    <dsp:sp modelId="{E7BA4F8E-22CC-5C44-89A3-4F0D855FFF5D}">
      <dsp:nvSpPr>
        <dsp:cNvPr id="0" name=""/>
        <dsp:cNvSpPr/>
      </dsp:nvSpPr>
      <dsp:spPr>
        <a:xfrm>
          <a:off x="360414" y="481815"/>
          <a:ext cx="670923" cy="670923"/>
        </a:xfrm>
        <a:prstGeom prst="circularArrow">
          <a:avLst>
            <a:gd name="adj1" fmla="val 4688"/>
            <a:gd name="adj2" fmla="val 299029"/>
            <a:gd name="adj3" fmla="val 2286721"/>
            <a:gd name="adj4" fmla="val 16500313"/>
            <a:gd name="adj5" fmla="val 5469"/>
          </a:avLst>
        </a:prstGeom>
        <a:solidFill>
          <a:sysClr val="window" lastClr="FFFFFF">
            <a:lumMod val="85000"/>
          </a:sys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CEA9B82-3B92-E845-AF58-EFB870C00A25}">
      <dsp:nvSpPr>
        <dsp:cNvPr id="0" name=""/>
        <dsp:cNvSpPr/>
      </dsp:nvSpPr>
      <dsp:spPr>
        <a:xfrm>
          <a:off x="56381" y="352356"/>
          <a:ext cx="487468" cy="487468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ysClr val="window" lastClr="FFFFFF">
            <a:lumMod val="85000"/>
          </a:sys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0439AD2-AD6C-BE4B-9AA8-87DFB9BC0FF8}">
      <dsp:nvSpPr>
        <dsp:cNvPr id="0" name=""/>
        <dsp:cNvSpPr/>
      </dsp:nvSpPr>
      <dsp:spPr>
        <a:xfrm>
          <a:off x="251011" y="91898"/>
          <a:ext cx="525588" cy="525588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ysClr val="window" lastClr="FFFFFF">
            <a:lumMod val="85000"/>
          </a:sys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40A901-53E6-41C4-9EEA-8BEE09C37D41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6B63D7-6443-4B75-AADE-7EE57B9683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54107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B429C4-6C66-4BB2-903E-0003D83D0C80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10DF4C-EA12-4F11-84B6-FBA4F377C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44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90476" cy="6858000"/>
          </a:xfrm>
          <a:prstGeom prst="rect">
            <a:avLst/>
          </a:prstGeom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02C0B-84B5-4CD2-A6CE-C6BD7D6F90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1018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90476" cy="6858000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02C0B-84B5-4CD2-A6CE-C6BD7D6F904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361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소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9022" cy="6858000"/>
          </a:xfrm>
          <a:prstGeom prst="rect">
            <a:avLst/>
          </a:prstGeom>
        </p:spPr>
      </p:pic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841711" y="774440"/>
            <a:ext cx="10515600" cy="578499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3800">
                <a:solidFill>
                  <a:schemeClr val="bg1"/>
                </a:solidFill>
                <a:latin typeface="SB 어그로 Bold" panose="02020603020101020101" pitchFamily="18" charset="-127"/>
                <a:ea typeface="SB 어그로 Bold" panose="0202060302010102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0241230" y="6313620"/>
            <a:ext cx="370690" cy="365125"/>
          </a:xfrm>
        </p:spPr>
        <p:txBody>
          <a:bodyPr/>
          <a:lstStyle/>
          <a:p>
            <a:fld id="{AFA02C0B-84B5-4CD2-A6CE-C6BD7D6F9045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60F00B02-9D7E-A5DB-003D-287C7EDB4F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91867" y="6399865"/>
            <a:ext cx="771633" cy="13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856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841711" y="774440"/>
            <a:ext cx="10515600" cy="578499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3800">
                <a:solidFill>
                  <a:srgbClr val="000000"/>
                </a:solidFill>
                <a:latin typeface="SB 어그로 Bold" panose="02020603020101020101" pitchFamily="18" charset="-127"/>
                <a:ea typeface="SB 어그로 Bold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0241230" y="6313620"/>
            <a:ext cx="370690" cy="365125"/>
          </a:xfrm>
        </p:spPr>
        <p:txBody>
          <a:bodyPr/>
          <a:lstStyle>
            <a:lvl1pPr>
              <a:defRPr b="1"/>
            </a:lvl1pPr>
          </a:lstStyle>
          <a:p>
            <a:fld id="{AFA02C0B-84B5-4CD2-A6CE-C6BD7D6F904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="" xmlns:a16="http://schemas.microsoft.com/office/drawing/2014/main" id="{7BE8D780-37CE-1086-14B8-455A1C671FC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93820" y="6339499"/>
            <a:ext cx="901733" cy="225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363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뒷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106E20DF-6216-0129-0AC9-EDE67069BF4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087374" y="4448980"/>
            <a:ext cx="695422" cy="174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189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08F6DC-6B17-467A-8F5F-542C658D840B}" type="datetime1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0771070" y="6356350"/>
            <a:ext cx="370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</a:lstStyle>
          <a:p>
            <a:fld id="{AFA02C0B-84B5-4CD2-A6CE-C6BD7D6F90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1458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4" r:id="rId3"/>
    <p:sldLayoutId id="2147483656" r:id="rId4"/>
    <p:sldLayoutId id="2147483657" r:id="rId5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image" Target="../media/image27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jpeg"/><Relationship Id="rId3" Type="http://schemas.openxmlformats.org/officeDocument/2006/relationships/image" Target="../media/image35.png"/><Relationship Id="rId7" Type="http://schemas.microsoft.com/office/2007/relationships/hdphoto" Target="../media/hdphoto2.wdp"/><Relationship Id="rId12" Type="http://schemas.openxmlformats.org/officeDocument/2006/relationships/image" Target="../media/image43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11" Type="http://schemas.openxmlformats.org/officeDocument/2006/relationships/image" Target="../media/image42.png"/><Relationship Id="rId5" Type="http://schemas.openxmlformats.org/officeDocument/2006/relationships/image" Target="../media/image37.png"/><Relationship Id="rId10" Type="http://schemas.openxmlformats.org/officeDocument/2006/relationships/image" Target="../media/image41.png"/><Relationship Id="rId4" Type="http://schemas.openxmlformats.org/officeDocument/2006/relationships/image" Target="../media/image36.png"/><Relationship Id="rId9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1.png"/><Relationship Id="rId7" Type="http://schemas.openxmlformats.org/officeDocument/2006/relationships/image" Target="../media/image64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8.png"/><Relationship Id="rId5" Type="http://schemas.openxmlformats.org/officeDocument/2006/relationships/image" Target="../media/image63.png"/><Relationship Id="rId10" Type="http://schemas.openxmlformats.org/officeDocument/2006/relationships/image" Target="../media/image67.png"/><Relationship Id="rId4" Type="http://schemas.openxmlformats.org/officeDocument/2006/relationships/image" Target="../media/image62.png"/><Relationship Id="rId9" Type="http://schemas.openxmlformats.org/officeDocument/2006/relationships/image" Target="../media/image6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7.png"/><Relationship Id="rId7" Type="http://schemas.microsoft.com/office/2007/relationships/hdphoto" Target="../media/hdphoto4.wdp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9.png"/><Relationship Id="rId5" Type="http://schemas.microsoft.com/office/2007/relationships/hdphoto" Target="../media/hdphoto3.wdp"/><Relationship Id="rId4" Type="http://schemas.openxmlformats.org/officeDocument/2006/relationships/image" Target="../media/image7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92.png"/><Relationship Id="rId18" Type="http://schemas.openxmlformats.org/officeDocument/2006/relationships/image" Target="../media/image97.png"/><Relationship Id="rId3" Type="http://schemas.openxmlformats.org/officeDocument/2006/relationships/image" Target="../media/image82.jpeg"/><Relationship Id="rId7" Type="http://schemas.openxmlformats.org/officeDocument/2006/relationships/image" Target="../media/image86.png"/><Relationship Id="rId12" Type="http://schemas.openxmlformats.org/officeDocument/2006/relationships/image" Target="../media/image91.png"/><Relationship Id="rId17" Type="http://schemas.openxmlformats.org/officeDocument/2006/relationships/image" Target="../media/image96.png"/><Relationship Id="rId2" Type="http://schemas.openxmlformats.org/officeDocument/2006/relationships/image" Target="../media/image81.png"/><Relationship Id="rId16" Type="http://schemas.openxmlformats.org/officeDocument/2006/relationships/image" Target="../media/image9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84.jpeg"/><Relationship Id="rId15" Type="http://schemas.openxmlformats.org/officeDocument/2006/relationships/image" Target="../media/image94.png"/><Relationship Id="rId10" Type="http://schemas.openxmlformats.org/officeDocument/2006/relationships/image" Target="../media/image89.jpeg"/><Relationship Id="rId4" Type="http://schemas.openxmlformats.org/officeDocument/2006/relationships/image" Target="../media/image83.png"/><Relationship Id="rId9" Type="http://schemas.openxmlformats.org/officeDocument/2006/relationships/image" Target="../media/image88.png"/><Relationship Id="rId14" Type="http://schemas.openxmlformats.org/officeDocument/2006/relationships/image" Target="../media/image9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jpeg"/><Relationship Id="rId2" Type="http://schemas.openxmlformats.org/officeDocument/2006/relationships/image" Target="../media/image105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7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7" Type="http://schemas.openxmlformats.org/officeDocument/2006/relationships/image" Target="../media/image113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7.png"/><Relationship Id="rId7" Type="http://schemas.openxmlformats.org/officeDocument/2006/relationships/image" Target="../media/image121.jpe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0.png"/><Relationship Id="rId5" Type="http://schemas.openxmlformats.org/officeDocument/2006/relationships/image" Target="../media/image119.jpeg"/><Relationship Id="rId4" Type="http://schemas.openxmlformats.org/officeDocument/2006/relationships/image" Target="../media/image118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jpeg"/><Relationship Id="rId3" Type="http://schemas.openxmlformats.org/officeDocument/2006/relationships/image" Target="../media/image124.png"/><Relationship Id="rId7" Type="http://schemas.openxmlformats.org/officeDocument/2006/relationships/image" Target="../media/image128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4" Type="http://schemas.openxmlformats.org/officeDocument/2006/relationships/image" Target="../media/image125.jpeg"/><Relationship Id="rId9" Type="http://schemas.openxmlformats.org/officeDocument/2006/relationships/image" Target="../media/image130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3" Type="http://schemas.openxmlformats.org/officeDocument/2006/relationships/image" Target="../media/image132.jpeg"/><Relationship Id="rId7" Type="http://schemas.openxmlformats.org/officeDocument/2006/relationships/image" Target="../media/image136.png"/><Relationship Id="rId12" Type="http://schemas.openxmlformats.org/officeDocument/2006/relationships/image" Target="../media/image141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5.png"/><Relationship Id="rId11" Type="http://schemas.openxmlformats.org/officeDocument/2006/relationships/image" Target="../media/image140.png"/><Relationship Id="rId5" Type="http://schemas.openxmlformats.org/officeDocument/2006/relationships/image" Target="../media/image134.png"/><Relationship Id="rId10" Type="http://schemas.openxmlformats.org/officeDocument/2006/relationships/image" Target="../media/image139.png"/><Relationship Id="rId4" Type="http://schemas.openxmlformats.org/officeDocument/2006/relationships/image" Target="../media/image133.png"/><Relationship Id="rId9" Type="http://schemas.openxmlformats.org/officeDocument/2006/relationships/image" Target="../media/image138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4294967295"/>
          </p:nvPr>
        </p:nvSpPr>
        <p:spPr>
          <a:xfrm>
            <a:off x="1524000" y="1755573"/>
            <a:ext cx="9144000" cy="472375"/>
          </a:xfrm>
        </p:spPr>
        <p:txBody>
          <a:bodyPr>
            <a:normAutofit/>
          </a:bodyPr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+mj-ea"/>
              </a:rPr>
              <a:t>Vertica Analytics Platform</a:t>
            </a:r>
            <a:endParaRPr lang="ko-KR" altLang="en-US" sz="2000" dirty="0">
              <a:solidFill>
                <a:schemeClr val="bg1"/>
              </a:solidFill>
              <a:latin typeface="+mj-ea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563880" y="2702045"/>
            <a:ext cx="11064240" cy="1510320"/>
            <a:chOff x="683623" y="2641663"/>
            <a:chExt cx="11064240" cy="1510320"/>
          </a:xfrm>
        </p:grpSpPr>
        <p:sp>
          <p:nvSpPr>
            <p:cNvPr id="4" name="제목 1"/>
            <p:cNvSpPr txBox="1">
              <a:spLocks/>
            </p:cNvSpPr>
            <p:nvPr/>
          </p:nvSpPr>
          <p:spPr>
            <a:xfrm>
              <a:off x="1643743" y="2641663"/>
              <a:ext cx="9144000" cy="760764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ko-KR" altLang="en-US" sz="4000" dirty="0">
                  <a:solidFill>
                    <a:schemeClr val="bg1"/>
                  </a:solidFill>
                  <a:latin typeface="+mj-ea"/>
                </a:rPr>
                <a:t>데이터 기반 비즈니스를 위한</a:t>
              </a:r>
            </a:p>
          </p:txBody>
        </p:sp>
        <p:sp>
          <p:nvSpPr>
            <p:cNvPr id="5" name="제목 1"/>
            <p:cNvSpPr txBox="1">
              <a:spLocks/>
            </p:cNvSpPr>
            <p:nvPr/>
          </p:nvSpPr>
          <p:spPr>
            <a:xfrm>
              <a:off x="683623" y="3391219"/>
              <a:ext cx="11064240" cy="760764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altLang="ko-KR" sz="4000" dirty="0">
                  <a:solidFill>
                    <a:schemeClr val="bg1"/>
                  </a:solidFill>
                  <a:latin typeface="+mj-ea"/>
                </a:rPr>
                <a:t>OpenText Analytics Platform</a:t>
              </a:r>
              <a:endParaRPr lang="ko-KR" altLang="en-US" sz="4000" dirty="0">
                <a:solidFill>
                  <a:schemeClr val="bg1"/>
                </a:solidFill>
                <a:latin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20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>
          <a:xfrm>
            <a:off x="1939636" y="2702045"/>
            <a:ext cx="8312728" cy="76076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ko-KR" sz="3800" dirty="0">
                <a:solidFill>
                  <a:schemeClr val="bg1"/>
                </a:solidFill>
                <a:latin typeface="+mj-ea"/>
              </a:rPr>
              <a:t>What is VERTICA</a:t>
            </a:r>
            <a:endParaRPr lang="ko-KR" altLang="en-US" sz="3800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3" name="제목 1"/>
          <p:cNvSpPr txBox="1">
            <a:spLocks/>
          </p:cNvSpPr>
          <p:nvPr/>
        </p:nvSpPr>
        <p:spPr>
          <a:xfrm>
            <a:off x="5631825" y="3839619"/>
            <a:ext cx="928350" cy="42943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ko-KR" sz="1600" dirty="0">
                <a:solidFill>
                  <a:schemeClr val="bg1"/>
                </a:solidFill>
                <a:latin typeface="SB 어그로 Bold" panose="02020603020101020101" pitchFamily="18" charset="-127"/>
                <a:ea typeface="SB 어그로 Bold" panose="02020603020101020101" pitchFamily="18" charset="-127"/>
              </a:rPr>
              <a:t>01</a:t>
            </a:r>
            <a:endParaRPr lang="ko-KR" altLang="en-US" sz="1600" dirty="0">
              <a:solidFill>
                <a:schemeClr val="bg1"/>
              </a:solidFill>
              <a:latin typeface="SB 어그로 Bold" panose="02020603020101020101" pitchFamily="18" charset="-127"/>
              <a:ea typeface="SB 어그로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3276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What is VERTICA?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5" name="object 18"/>
          <p:cNvSpPr txBox="1"/>
          <p:nvPr/>
        </p:nvSpPr>
        <p:spPr>
          <a:xfrm>
            <a:off x="507196" y="1667590"/>
            <a:ext cx="3494404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2000" b="1" spc="25" dirty="0">
                <a:solidFill>
                  <a:srgbClr val="FFFFFF"/>
                </a:solidFill>
                <a:latin typeface="SB 어그로 Bold" panose="02020603020101020101" pitchFamily="18" charset="-127"/>
                <a:ea typeface="SB 어그로 Bold" panose="02020603020101020101" pitchFamily="18" charset="-127"/>
                <a:cs typeface="맑은 고딕"/>
              </a:rPr>
              <a:t>SQL Data Warehouse</a:t>
            </a:r>
            <a:endParaRPr sz="2000" dirty="0">
              <a:latin typeface="SB 어그로 Bold" panose="02020603020101020101" pitchFamily="18" charset="-127"/>
              <a:ea typeface="SB 어그로 Bold" panose="02020603020101020101" pitchFamily="18" charset="-127"/>
              <a:cs typeface="맑은 고딕"/>
            </a:endParaRPr>
          </a:p>
        </p:txBody>
      </p:sp>
      <p:sp>
        <p:nvSpPr>
          <p:cNvPr id="6" name="object 18"/>
          <p:cNvSpPr txBox="1"/>
          <p:nvPr/>
        </p:nvSpPr>
        <p:spPr>
          <a:xfrm>
            <a:off x="4238797" y="1667590"/>
            <a:ext cx="4651051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2000" b="1" spc="25" dirty="0">
                <a:solidFill>
                  <a:srgbClr val="FFFFFF"/>
                </a:solidFill>
                <a:latin typeface="SB 어그로 Bold" panose="02020603020101020101" pitchFamily="18" charset="-127"/>
                <a:ea typeface="SB 어그로 Bold" panose="02020603020101020101" pitchFamily="18" charset="-127"/>
                <a:cs typeface="맑은 고딕"/>
              </a:rPr>
              <a:t>Analytics &amp; Machine Learning</a:t>
            </a:r>
            <a:endParaRPr sz="2000" dirty="0">
              <a:latin typeface="SB 어그로 Bold" panose="02020603020101020101" pitchFamily="18" charset="-127"/>
              <a:ea typeface="SB 어그로 Bold" panose="02020603020101020101" pitchFamily="18" charset="-127"/>
              <a:cs typeface="맑은 고딕"/>
            </a:endParaRPr>
          </a:p>
        </p:txBody>
      </p:sp>
      <p:sp>
        <p:nvSpPr>
          <p:cNvPr id="7" name="object 18"/>
          <p:cNvSpPr txBox="1"/>
          <p:nvPr/>
        </p:nvSpPr>
        <p:spPr>
          <a:xfrm>
            <a:off x="9127045" y="1667590"/>
            <a:ext cx="21697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2000" b="1" spc="25" dirty="0">
                <a:solidFill>
                  <a:srgbClr val="FFFFFF"/>
                </a:solidFill>
                <a:latin typeface="SB 어그로 Bold" panose="02020603020101020101" pitchFamily="18" charset="-127"/>
                <a:ea typeface="SB 어그로 Bold" panose="02020603020101020101" pitchFamily="18" charset="-127"/>
                <a:cs typeface="맑은 고딕"/>
              </a:rPr>
              <a:t>Query Engine</a:t>
            </a:r>
            <a:endParaRPr sz="2000" dirty="0">
              <a:latin typeface="SB 어그로 Bold" panose="02020603020101020101" pitchFamily="18" charset="-127"/>
              <a:ea typeface="SB 어그로 Bold" panose="02020603020101020101" pitchFamily="18" charset="-127"/>
              <a:cs typeface="맑은 고딕"/>
            </a:endParaRPr>
          </a:p>
        </p:txBody>
      </p:sp>
      <p:pic>
        <p:nvPicPr>
          <p:cNvPr id="8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1186" y="2283832"/>
            <a:ext cx="1106424" cy="1380743"/>
          </a:xfrm>
          <a:prstGeom prst="rect">
            <a:avLst/>
          </a:prstGeom>
        </p:spPr>
      </p:pic>
      <p:pic>
        <p:nvPicPr>
          <p:cNvPr id="9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50505" y="2312787"/>
            <a:ext cx="1322831" cy="1322832"/>
          </a:xfrm>
          <a:prstGeom prst="rect">
            <a:avLst/>
          </a:prstGeom>
        </p:spPr>
      </p:pic>
      <p:pic>
        <p:nvPicPr>
          <p:cNvPr id="10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67677" y="2377558"/>
            <a:ext cx="1193291" cy="1193291"/>
          </a:xfrm>
          <a:prstGeom prst="rect">
            <a:avLst/>
          </a:prstGeom>
        </p:spPr>
      </p:pic>
      <p:sp>
        <p:nvSpPr>
          <p:cNvPr id="11" name="object 23"/>
          <p:cNvSpPr/>
          <p:nvPr/>
        </p:nvSpPr>
        <p:spPr>
          <a:xfrm>
            <a:off x="4101894" y="2709408"/>
            <a:ext cx="571500" cy="529590"/>
          </a:xfrm>
          <a:custGeom>
            <a:avLst/>
            <a:gdLst/>
            <a:ahLst/>
            <a:cxnLst/>
            <a:rect l="l" t="t" r="r" b="b"/>
            <a:pathLst>
              <a:path w="571500" h="529589">
                <a:moveTo>
                  <a:pt x="571246" y="180340"/>
                </a:moveTo>
                <a:lnTo>
                  <a:pt x="370332" y="180340"/>
                </a:lnTo>
                <a:lnTo>
                  <a:pt x="370332" y="0"/>
                </a:lnTo>
                <a:lnTo>
                  <a:pt x="200914" y="0"/>
                </a:lnTo>
                <a:lnTo>
                  <a:pt x="200914" y="180340"/>
                </a:lnTo>
                <a:lnTo>
                  <a:pt x="0" y="180340"/>
                </a:lnTo>
                <a:lnTo>
                  <a:pt x="0" y="350520"/>
                </a:lnTo>
                <a:lnTo>
                  <a:pt x="200914" y="350520"/>
                </a:lnTo>
                <a:lnTo>
                  <a:pt x="200914" y="529590"/>
                </a:lnTo>
                <a:lnTo>
                  <a:pt x="370332" y="529590"/>
                </a:lnTo>
                <a:lnTo>
                  <a:pt x="370332" y="350520"/>
                </a:lnTo>
                <a:lnTo>
                  <a:pt x="571246" y="350520"/>
                </a:lnTo>
                <a:lnTo>
                  <a:pt x="571246" y="1803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23"/>
          <p:cNvSpPr/>
          <p:nvPr/>
        </p:nvSpPr>
        <p:spPr>
          <a:xfrm>
            <a:off x="8069987" y="2709408"/>
            <a:ext cx="571500" cy="529590"/>
          </a:xfrm>
          <a:custGeom>
            <a:avLst/>
            <a:gdLst/>
            <a:ahLst/>
            <a:cxnLst/>
            <a:rect l="l" t="t" r="r" b="b"/>
            <a:pathLst>
              <a:path w="571500" h="529589">
                <a:moveTo>
                  <a:pt x="571246" y="180340"/>
                </a:moveTo>
                <a:lnTo>
                  <a:pt x="370332" y="180340"/>
                </a:lnTo>
                <a:lnTo>
                  <a:pt x="370332" y="0"/>
                </a:lnTo>
                <a:lnTo>
                  <a:pt x="200914" y="0"/>
                </a:lnTo>
                <a:lnTo>
                  <a:pt x="200914" y="180340"/>
                </a:lnTo>
                <a:lnTo>
                  <a:pt x="0" y="180340"/>
                </a:lnTo>
                <a:lnTo>
                  <a:pt x="0" y="350520"/>
                </a:lnTo>
                <a:lnTo>
                  <a:pt x="200914" y="350520"/>
                </a:lnTo>
                <a:lnTo>
                  <a:pt x="200914" y="529590"/>
                </a:lnTo>
                <a:lnTo>
                  <a:pt x="370332" y="529590"/>
                </a:lnTo>
                <a:lnTo>
                  <a:pt x="370332" y="350520"/>
                </a:lnTo>
                <a:lnTo>
                  <a:pt x="571246" y="350520"/>
                </a:lnTo>
                <a:lnTo>
                  <a:pt x="571246" y="1803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9"/>
          <p:cNvSpPr txBox="1"/>
          <p:nvPr/>
        </p:nvSpPr>
        <p:spPr>
          <a:xfrm>
            <a:off x="858128" y="3966071"/>
            <a:ext cx="3104515" cy="11855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785" marR="79375" indent="-172720">
              <a:lnSpc>
                <a:spcPct val="100000"/>
              </a:lnSpc>
              <a:spcBef>
                <a:spcPts val="105"/>
              </a:spcBef>
              <a:buFont typeface="Courier New"/>
              <a:buChar char="o"/>
              <a:tabLst>
                <a:tab pos="185420" algn="l"/>
              </a:tabLst>
            </a:pPr>
            <a:r>
              <a:rPr sz="1200" b="1" spc="-20" dirty="0">
                <a:solidFill>
                  <a:srgbClr val="FFFFFF"/>
                </a:solidFill>
                <a:latin typeface="맑은 고딕"/>
                <a:cs typeface="맑은 고딕"/>
              </a:rPr>
              <a:t>MP</a:t>
            </a:r>
            <a:r>
              <a:rPr sz="1200" b="1" spc="-50" dirty="0">
                <a:solidFill>
                  <a:srgbClr val="FFFFFF"/>
                </a:solidFill>
                <a:latin typeface="맑은 고딕"/>
                <a:cs typeface="맑은 고딕"/>
              </a:rPr>
              <a:t>P</a:t>
            </a:r>
            <a:r>
              <a:rPr sz="1200" b="1" spc="-9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-80" dirty="0">
                <a:solidFill>
                  <a:srgbClr val="FFFFFF"/>
                </a:solidFill>
                <a:latin typeface="맑은 고딕"/>
                <a:cs typeface="맑은 고딕"/>
              </a:rPr>
              <a:t>+</a:t>
            </a:r>
            <a:r>
              <a:rPr sz="1200" b="1" spc="-9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-5" dirty="0">
                <a:solidFill>
                  <a:srgbClr val="FFFFFF"/>
                </a:solidFill>
                <a:latin typeface="맑은 고딕"/>
                <a:cs typeface="맑은 고딕"/>
              </a:rPr>
              <a:t>Colu</a:t>
            </a:r>
            <a:r>
              <a:rPr sz="1200" b="1" spc="-15" dirty="0">
                <a:solidFill>
                  <a:srgbClr val="FFFFFF"/>
                </a:solidFill>
                <a:latin typeface="맑은 고딕"/>
                <a:cs typeface="맑은 고딕"/>
              </a:rPr>
              <a:t>m</a:t>
            </a:r>
            <a:r>
              <a:rPr sz="1200" b="1" spc="-5" dirty="0">
                <a:solidFill>
                  <a:srgbClr val="FFFFFF"/>
                </a:solidFill>
                <a:latin typeface="맑은 고딕"/>
                <a:cs typeface="맑은 고딕"/>
              </a:rPr>
              <a:t>n</a:t>
            </a:r>
            <a:r>
              <a:rPr sz="1200" b="1" dirty="0">
                <a:solidFill>
                  <a:srgbClr val="FFFFFF"/>
                </a:solidFill>
                <a:latin typeface="맑은 고딕"/>
                <a:cs typeface="맑은 고딕"/>
              </a:rPr>
              <a:t>a</a:t>
            </a:r>
            <a:r>
              <a:rPr sz="1200" b="1" spc="-40" dirty="0">
                <a:solidFill>
                  <a:srgbClr val="FFFFFF"/>
                </a:solidFill>
                <a:latin typeface="맑은 고딕"/>
                <a:cs typeface="맑은 고딕"/>
              </a:rPr>
              <a:t>r</a:t>
            </a:r>
            <a:r>
              <a:rPr sz="1200" b="1" spc="-10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-75" dirty="0">
                <a:solidFill>
                  <a:srgbClr val="FFFFFF"/>
                </a:solidFill>
                <a:latin typeface="맑은 고딕"/>
                <a:cs typeface="맑은 고딕"/>
              </a:rPr>
              <a:t>아키텍처를</a:t>
            </a:r>
            <a:r>
              <a:rPr sz="1200" b="1" spc="-9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-75" dirty="0">
                <a:solidFill>
                  <a:srgbClr val="FFFFFF"/>
                </a:solidFill>
                <a:latin typeface="맑은 고딕"/>
                <a:cs typeface="맑은 고딕"/>
              </a:rPr>
              <a:t>통해</a:t>
            </a:r>
            <a:r>
              <a:rPr sz="1200" b="1" spc="-10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400" b="1" spc="-70" dirty="0">
                <a:solidFill>
                  <a:srgbClr val="FFC000"/>
                </a:solidFill>
                <a:latin typeface="맑은 고딕"/>
                <a:cs typeface="맑은 고딕"/>
              </a:rPr>
              <a:t>대용량  데이터</a:t>
            </a:r>
            <a:r>
              <a:rPr sz="1400" b="1" spc="-135" dirty="0">
                <a:solidFill>
                  <a:srgbClr val="FFC000"/>
                </a:solidFill>
                <a:latin typeface="맑은 고딕"/>
                <a:cs typeface="맑은 고딕"/>
              </a:rPr>
              <a:t> </a:t>
            </a:r>
            <a:r>
              <a:rPr sz="1400" b="1" spc="-85" dirty="0">
                <a:solidFill>
                  <a:srgbClr val="FFC000"/>
                </a:solidFill>
                <a:latin typeface="맑은 고딕"/>
                <a:cs typeface="맑은 고딕"/>
              </a:rPr>
              <a:t>분석</a:t>
            </a:r>
            <a:r>
              <a:rPr sz="1200" b="1" spc="-75" dirty="0">
                <a:solidFill>
                  <a:srgbClr val="FFFFFF"/>
                </a:solidFill>
                <a:latin typeface="맑은 고딕"/>
                <a:cs typeface="맑은 고딕"/>
              </a:rPr>
              <a:t>에</a:t>
            </a:r>
            <a:r>
              <a:rPr sz="1200" b="1" spc="-10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-75" dirty="0">
                <a:solidFill>
                  <a:srgbClr val="FFFFFF"/>
                </a:solidFill>
                <a:latin typeface="맑은 고딕"/>
                <a:cs typeface="맑은 고딕"/>
              </a:rPr>
              <a:t>최적화</a:t>
            </a:r>
            <a:endParaRPr sz="1200" dirty="0">
              <a:latin typeface="맑은 고딕"/>
              <a:cs typeface="맑은 고딕"/>
            </a:endParaRPr>
          </a:p>
          <a:p>
            <a:pPr marL="184785" indent="-172720">
              <a:lnSpc>
                <a:spcPts val="1435"/>
              </a:lnSpc>
              <a:spcBef>
                <a:spcPts val="1205"/>
              </a:spcBef>
              <a:buFont typeface="Courier New"/>
              <a:buChar char="o"/>
              <a:tabLst>
                <a:tab pos="185420" algn="l"/>
              </a:tabLst>
            </a:pPr>
            <a:r>
              <a:rPr sz="1200" b="1" dirty="0">
                <a:solidFill>
                  <a:srgbClr val="FFFFFF"/>
                </a:solidFill>
                <a:latin typeface="맑은 고딕"/>
                <a:cs typeface="맑은 고딕"/>
              </a:rPr>
              <a:t>On</a:t>
            </a:r>
            <a:r>
              <a:rPr sz="1200" b="1" spc="-70" dirty="0">
                <a:solidFill>
                  <a:srgbClr val="FFFFFF"/>
                </a:solidFill>
                <a:latin typeface="맑은 고딕"/>
                <a:cs typeface="맑은 고딕"/>
              </a:rPr>
              <a:t>-</a:t>
            </a:r>
            <a:r>
              <a:rPr sz="1200" b="1" spc="-25" dirty="0">
                <a:solidFill>
                  <a:srgbClr val="FFFFFF"/>
                </a:solidFill>
                <a:latin typeface="맑은 고딕"/>
                <a:cs typeface="맑은 고딕"/>
              </a:rPr>
              <a:t>p</a:t>
            </a:r>
            <a:r>
              <a:rPr sz="1200" b="1" spc="-45" dirty="0">
                <a:solidFill>
                  <a:srgbClr val="FFFFFF"/>
                </a:solidFill>
                <a:latin typeface="맑은 고딕"/>
                <a:cs typeface="맑은 고딕"/>
              </a:rPr>
              <a:t>r</a:t>
            </a:r>
            <a:r>
              <a:rPr sz="1200" b="1" spc="-10" dirty="0">
                <a:solidFill>
                  <a:srgbClr val="FFFFFF"/>
                </a:solidFill>
                <a:latin typeface="맑은 고딕"/>
                <a:cs typeface="맑은 고딕"/>
              </a:rPr>
              <a:t>e</a:t>
            </a:r>
            <a:r>
              <a:rPr sz="1200" b="1" spc="-40" dirty="0">
                <a:solidFill>
                  <a:srgbClr val="FFFFFF"/>
                </a:solidFill>
                <a:latin typeface="맑은 고딕"/>
                <a:cs typeface="맑은 고딕"/>
              </a:rPr>
              <a:t>mi</a:t>
            </a:r>
            <a:r>
              <a:rPr sz="1200" b="1" spc="-35" dirty="0">
                <a:solidFill>
                  <a:srgbClr val="FFFFFF"/>
                </a:solidFill>
                <a:latin typeface="맑은 고딕"/>
                <a:cs typeface="맑은 고딕"/>
              </a:rPr>
              <a:t>s</a:t>
            </a:r>
            <a:r>
              <a:rPr sz="1200" b="1" spc="-10" dirty="0">
                <a:solidFill>
                  <a:srgbClr val="FFFFFF"/>
                </a:solidFill>
                <a:latin typeface="맑은 고딕"/>
                <a:cs typeface="맑은 고딕"/>
              </a:rPr>
              <a:t>e</a:t>
            </a:r>
            <a:r>
              <a:rPr sz="1200" b="1" spc="-9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-80" dirty="0">
                <a:solidFill>
                  <a:srgbClr val="FFFFFF"/>
                </a:solidFill>
                <a:latin typeface="맑은 고딕"/>
                <a:cs typeface="맑은 고딕"/>
              </a:rPr>
              <a:t>/</a:t>
            </a:r>
            <a:r>
              <a:rPr sz="1200" b="1" spc="-95" dirty="0">
                <a:solidFill>
                  <a:srgbClr val="FFFFFF"/>
                </a:solidFill>
                <a:latin typeface="맑은 고딕"/>
                <a:cs typeface="맑은 고딕"/>
              </a:rPr>
              <a:t> P</a:t>
            </a:r>
            <a:r>
              <a:rPr sz="1200" b="1" spc="-5" dirty="0">
                <a:solidFill>
                  <a:srgbClr val="FFFFFF"/>
                </a:solidFill>
                <a:latin typeface="맑은 고딕"/>
                <a:cs typeface="맑은 고딕"/>
              </a:rPr>
              <a:t>u</a:t>
            </a:r>
            <a:r>
              <a:rPr sz="1200" b="1" spc="-25" dirty="0">
                <a:solidFill>
                  <a:srgbClr val="FFFFFF"/>
                </a:solidFill>
                <a:latin typeface="맑은 고딕"/>
                <a:cs typeface="맑은 고딕"/>
              </a:rPr>
              <a:t>b</a:t>
            </a:r>
            <a:r>
              <a:rPr sz="1200" b="1" spc="-40" dirty="0">
                <a:solidFill>
                  <a:srgbClr val="FFFFFF"/>
                </a:solidFill>
                <a:latin typeface="맑은 고딕"/>
                <a:cs typeface="맑은 고딕"/>
              </a:rPr>
              <a:t>l</a:t>
            </a:r>
            <a:r>
              <a:rPr sz="1200" b="1" spc="-45" dirty="0">
                <a:solidFill>
                  <a:srgbClr val="FFFFFF"/>
                </a:solidFill>
                <a:latin typeface="맑은 고딕"/>
                <a:cs typeface="맑은 고딕"/>
              </a:rPr>
              <a:t>i</a:t>
            </a:r>
            <a:r>
              <a:rPr sz="1200" b="1" spc="-5" dirty="0">
                <a:solidFill>
                  <a:srgbClr val="FFFFFF"/>
                </a:solidFill>
                <a:latin typeface="맑은 고딕"/>
                <a:cs typeface="맑은 고딕"/>
              </a:rPr>
              <a:t>c</a:t>
            </a:r>
            <a:r>
              <a:rPr sz="1200" b="1" spc="-114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dirty="0">
                <a:solidFill>
                  <a:srgbClr val="FFFFFF"/>
                </a:solidFill>
                <a:latin typeface="맑은 고딕"/>
                <a:cs typeface="맑은 고딕"/>
              </a:rPr>
              <a:t>C</a:t>
            </a:r>
            <a:r>
              <a:rPr sz="1200" b="1" spc="-5" dirty="0">
                <a:solidFill>
                  <a:srgbClr val="FFFFFF"/>
                </a:solidFill>
                <a:latin typeface="맑은 고딕"/>
                <a:cs typeface="맑은 고딕"/>
              </a:rPr>
              <a:t>l</a:t>
            </a:r>
            <a:r>
              <a:rPr sz="1200" b="1" spc="-20" dirty="0">
                <a:solidFill>
                  <a:srgbClr val="FFFFFF"/>
                </a:solidFill>
                <a:latin typeface="맑은 고딕"/>
                <a:cs typeface="맑은 고딕"/>
              </a:rPr>
              <a:t>o</a:t>
            </a:r>
            <a:r>
              <a:rPr sz="1200" b="1" spc="-5" dirty="0">
                <a:solidFill>
                  <a:srgbClr val="FFFFFF"/>
                </a:solidFill>
                <a:latin typeface="맑은 고딕"/>
                <a:cs typeface="맑은 고딕"/>
              </a:rPr>
              <a:t>u</a:t>
            </a:r>
            <a:r>
              <a:rPr sz="1200" b="1" spc="-25" dirty="0">
                <a:solidFill>
                  <a:srgbClr val="FFFFFF"/>
                </a:solidFill>
                <a:latin typeface="맑은 고딕"/>
                <a:cs typeface="맑은 고딕"/>
              </a:rPr>
              <a:t>d</a:t>
            </a:r>
            <a:r>
              <a:rPr sz="1200" b="1" spc="-9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-80" dirty="0">
                <a:solidFill>
                  <a:srgbClr val="FFFFFF"/>
                </a:solidFill>
                <a:latin typeface="맑은 고딕"/>
                <a:cs typeface="맑은 고딕"/>
              </a:rPr>
              <a:t>/</a:t>
            </a:r>
            <a:r>
              <a:rPr sz="1200" b="1" spc="-8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-50" dirty="0">
                <a:solidFill>
                  <a:srgbClr val="FFFFFF"/>
                </a:solidFill>
                <a:latin typeface="맑은 고딕"/>
                <a:cs typeface="맑은 고딕"/>
              </a:rPr>
              <a:t>P</a:t>
            </a:r>
            <a:r>
              <a:rPr sz="1200" b="1" spc="-45" dirty="0">
                <a:solidFill>
                  <a:srgbClr val="FFFFFF"/>
                </a:solidFill>
                <a:latin typeface="맑은 고딕"/>
                <a:cs typeface="맑은 고딕"/>
              </a:rPr>
              <a:t>r</a:t>
            </a:r>
            <a:r>
              <a:rPr sz="1200" b="1" spc="-35" dirty="0">
                <a:solidFill>
                  <a:srgbClr val="FFFFFF"/>
                </a:solidFill>
                <a:latin typeface="맑은 고딕"/>
                <a:cs typeface="맑은 고딕"/>
              </a:rPr>
              <a:t>i</a:t>
            </a:r>
            <a:r>
              <a:rPr sz="1200" b="1" spc="-80" dirty="0">
                <a:solidFill>
                  <a:srgbClr val="FFFFFF"/>
                </a:solidFill>
                <a:latin typeface="맑은 고딕"/>
                <a:cs typeface="맑은 고딕"/>
              </a:rPr>
              <a:t>v</a:t>
            </a:r>
            <a:r>
              <a:rPr sz="1200" b="1" dirty="0">
                <a:solidFill>
                  <a:srgbClr val="FFFFFF"/>
                </a:solidFill>
                <a:latin typeface="맑은 고딕"/>
                <a:cs typeface="맑은 고딕"/>
              </a:rPr>
              <a:t>a</a:t>
            </a:r>
            <a:r>
              <a:rPr sz="1200" b="1" spc="-35" dirty="0">
                <a:solidFill>
                  <a:srgbClr val="FFFFFF"/>
                </a:solidFill>
                <a:latin typeface="맑은 고딕"/>
                <a:cs typeface="맑은 고딕"/>
              </a:rPr>
              <a:t>t</a:t>
            </a:r>
            <a:r>
              <a:rPr sz="1200" b="1" spc="-10" dirty="0">
                <a:solidFill>
                  <a:srgbClr val="FFFFFF"/>
                </a:solidFill>
                <a:latin typeface="맑은 고딕"/>
                <a:cs typeface="맑은 고딕"/>
              </a:rPr>
              <a:t>e</a:t>
            </a:r>
            <a:r>
              <a:rPr sz="1200" b="1" spc="-11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dirty="0">
                <a:solidFill>
                  <a:srgbClr val="FFFFFF"/>
                </a:solidFill>
                <a:latin typeface="맑은 고딕"/>
                <a:cs typeface="맑은 고딕"/>
              </a:rPr>
              <a:t>C</a:t>
            </a:r>
            <a:r>
              <a:rPr sz="1200" b="1" spc="-5" dirty="0">
                <a:solidFill>
                  <a:srgbClr val="FFFFFF"/>
                </a:solidFill>
                <a:latin typeface="맑은 고딕"/>
                <a:cs typeface="맑은 고딕"/>
              </a:rPr>
              <a:t>l</a:t>
            </a:r>
            <a:r>
              <a:rPr sz="1200" b="1" spc="-20" dirty="0">
                <a:solidFill>
                  <a:srgbClr val="FFFFFF"/>
                </a:solidFill>
                <a:latin typeface="맑은 고딕"/>
                <a:cs typeface="맑은 고딕"/>
              </a:rPr>
              <a:t>o</a:t>
            </a:r>
            <a:r>
              <a:rPr sz="1200" b="1" spc="-5" dirty="0">
                <a:solidFill>
                  <a:srgbClr val="FFFFFF"/>
                </a:solidFill>
                <a:latin typeface="맑은 고딕"/>
                <a:cs typeface="맑은 고딕"/>
              </a:rPr>
              <a:t>u</a:t>
            </a:r>
            <a:r>
              <a:rPr sz="1200" b="1" spc="-25" dirty="0">
                <a:solidFill>
                  <a:srgbClr val="FFFFFF"/>
                </a:solidFill>
                <a:latin typeface="맑은 고딕"/>
                <a:cs typeface="맑은 고딕"/>
              </a:rPr>
              <a:t>d</a:t>
            </a:r>
            <a:endParaRPr sz="1200" dirty="0">
              <a:latin typeface="맑은 고딕"/>
              <a:cs typeface="맑은 고딕"/>
            </a:endParaRPr>
          </a:p>
          <a:p>
            <a:pPr marL="184785">
              <a:lnSpc>
                <a:spcPts val="1675"/>
              </a:lnSpc>
            </a:pPr>
            <a:r>
              <a:rPr sz="1200" b="1" spc="-80" dirty="0">
                <a:solidFill>
                  <a:srgbClr val="FFFFFF"/>
                </a:solidFill>
                <a:latin typeface="맑은 고딕"/>
                <a:cs typeface="맑은 고딕"/>
              </a:rPr>
              <a:t>/</a:t>
            </a:r>
            <a:r>
              <a:rPr sz="1200" b="1" spc="-8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-20" dirty="0">
                <a:solidFill>
                  <a:srgbClr val="FFFFFF"/>
                </a:solidFill>
                <a:latin typeface="맑은 고딕"/>
                <a:cs typeface="맑은 고딕"/>
              </a:rPr>
              <a:t>k8s</a:t>
            </a:r>
            <a:r>
              <a:rPr sz="1200" b="1" spc="-9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-70" dirty="0">
                <a:solidFill>
                  <a:srgbClr val="FFFFFF"/>
                </a:solidFill>
                <a:latin typeface="맑은 고딕"/>
                <a:cs typeface="맑은 고딕"/>
              </a:rPr>
              <a:t>등</a:t>
            </a:r>
            <a:r>
              <a:rPr sz="1200" b="1" spc="-9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400" b="1" spc="-85" dirty="0">
                <a:solidFill>
                  <a:srgbClr val="FFC000"/>
                </a:solidFill>
                <a:latin typeface="맑은 고딕"/>
                <a:cs typeface="맑은 고딕"/>
              </a:rPr>
              <a:t>어</a:t>
            </a:r>
            <a:r>
              <a:rPr sz="1400" b="1" spc="-80" dirty="0">
                <a:solidFill>
                  <a:srgbClr val="FFC000"/>
                </a:solidFill>
                <a:latin typeface="맑은 고딕"/>
                <a:cs typeface="맑은 고딕"/>
              </a:rPr>
              <a:t>떤</a:t>
            </a:r>
            <a:r>
              <a:rPr sz="1400" b="1" spc="-125" dirty="0">
                <a:solidFill>
                  <a:srgbClr val="FFC000"/>
                </a:solidFill>
                <a:latin typeface="맑은 고딕"/>
                <a:cs typeface="맑은 고딕"/>
              </a:rPr>
              <a:t> </a:t>
            </a:r>
            <a:r>
              <a:rPr sz="1400" b="1" spc="-85" dirty="0">
                <a:solidFill>
                  <a:srgbClr val="FFC000"/>
                </a:solidFill>
                <a:latin typeface="맑은 고딕"/>
                <a:cs typeface="맑은 고딕"/>
              </a:rPr>
              <a:t>인프</a:t>
            </a:r>
            <a:r>
              <a:rPr sz="1400" b="1" spc="-80" dirty="0">
                <a:solidFill>
                  <a:srgbClr val="FFC000"/>
                </a:solidFill>
                <a:latin typeface="맑은 고딕"/>
                <a:cs typeface="맑은 고딕"/>
              </a:rPr>
              <a:t>라</a:t>
            </a:r>
            <a:r>
              <a:rPr sz="1400" b="1" spc="-135" dirty="0">
                <a:solidFill>
                  <a:srgbClr val="FFC000"/>
                </a:solidFill>
                <a:latin typeface="맑은 고딕"/>
                <a:cs typeface="맑은 고딕"/>
              </a:rPr>
              <a:t> </a:t>
            </a:r>
            <a:r>
              <a:rPr sz="1400" b="1" spc="-85" dirty="0">
                <a:solidFill>
                  <a:srgbClr val="FFC000"/>
                </a:solidFill>
                <a:latin typeface="맑은 고딕"/>
                <a:cs typeface="맑은 고딕"/>
              </a:rPr>
              <a:t>환</a:t>
            </a:r>
            <a:r>
              <a:rPr sz="1400" b="1" spc="-80" dirty="0">
                <a:solidFill>
                  <a:srgbClr val="FFC000"/>
                </a:solidFill>
                <a:latin typeface="맑은 고딕"/>
                <a:cs typeface="맑은 고딕"/>
              </a:rPr>
              <a:t>경</a:t>
            </a:r>
            <a:r>
              <a:rPr sz="1400" b="1" spc="-125" dirty="0">
                <a:solidFill>
                  <a:srgbClr val="FFC000"/>
                </a:solidFill>
                <a:latin typeface="맑은 고딕"/>
                <a:cs typeface="맑은 고딕"/>
              </a:rPr>
              <a:t> </a:t>
            </a:r>
            <a:r>
              <a:rPr sz="1200" b="1" spc="-70" dirty="0">
                <a:solidFill>
                  <a:srgbClr val="FFFFFF"/>
                </a:solidFill>
                <a:latin typeface="맑은 고딕"/>
                <a:cs typeface="맑은 고딕"/>
              </a:rPr>
              <a:t>에서도</a:t>
            </a:r>
            <a:r>
              <a:rPr sz="1200" b="1" spc="-9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-75" dirty="0">
                <a:solidFill>
                  <a:srgbClr val="FFFFFF"/>
                </a:solidFill>
                <a:latin typeface="맑은 고딕"/>
                <a:cs typeface="맑은 고딕"/>
              </a:rPr>
              <a:t>배</a:t>
            </a:r>
            <a:r>
              <a:rPr sz="1200" b="1" spc="-70" dirty="0">
                <a:solidFill>
                  <a:srgbClr val="FFFFFF"/>
                </a:solidFill>
                <a:latin typeface="맑은 고딕"/>
                <a:cs typeface="맑은 고딕"/>
              </a:rPr>
              <a:t>포</a:t>
            </a:r>
            <a:r>
              <a:rPr sz="1200" b="1" spc="-10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-70" dirty="0">
                <a:solidFill>
                  <a:srgbClr val="FFFFFF"/>
                </a:solidFill>
                <a:latin typeface="맑은 고딕"/>
                <a:cs typeface="맑은 고딕"/>
              </a:rPr>
              <a:t>및</a:t>
            </a:r>
            <a:endParaRPr sz="1200" dirty="0">
              <a:latin typeface="맑은 고딕"/>
              <a:cs typeface="맑은 고딕"/>
            </a:endParaRPr>
          </a:p>
          <a:p>
            <a:pPr marL="184785">
              <a:lnSpc>
                <a:spcPct val="100000"/>
              </a:lnSpc>
              <a:spcBef>
                <a:spcPts val="10"/>
              </a:spcBef>
            </a:pPr>
            <a:r>
              <a:rPr sz="1200" b="1" spc="-75" dirty="0">
                <a:solidFill>
                  <a:srgbClr val="FFFFFF"/>
                </a:solidFill>
                <a:latin typeface="맑은 고딕"/>
                <a:cs typeface="맑은 고딕"/>
              </a:rPr>
              <a:t>운영</a:t>
            </a:r>
            <a:r>
              <a:rPr sz="1200" b="1" spc="-9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-75" dirty="0">
                <a:solidFill>
                  <a:srgbClr val="FFFFFF"/>
                </a:solidFill>
                <a:latin typeface="맑은 고딕"/>
                <a:cs typeface="맑은 고딕"/>
              </a:rPr>
              <a:t>지원</a:t>
            </a:r>
            <a:endParaRPr sz="1200" dirty="0">
              <a:latin typeface="맑은 고딕"/>
              <a:cs typeface="맑은 고딕"/>
            </a:endParaRPr>
          </a:p>
        </p:txBody>
      </p:sp>
      <p:sp>
        <p:nvSpPr>
          <p:cNvPr id="14" name="object 10"/>
          <p:cNvSpPr txBox="1"/>
          <p:nvPr/>
        </p:nvSpPr>
        <p:spPr>
          <a:xfrm>
            <a:off x="858128" y="5276966"/>
            <a:ext cx="3023870" cy="423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ourier New"/>
                <a:cs typeface="Courier New"/>
              </a:rPr>
              <a:t>o</a:t>
            </a:r>
            <a:r>
              <a:rPr sz="1400" spc="-3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400" b="1" spc="-55" dirty="0">
                <a:solidFill>
                  <a:srgbClr val="FFC000"/>
                </a:solidFill>
                <a:latin typeface="맑은 고딕"/>
                <a:cs typeface="맑은 고딕"/>
              </a:rPr>
              <a:t>I/O</a:t>
            </a:r>
            <a:r>
              <a:rPr sz="1400" b="1" spc="-114" dirty="0">
                <a:solidFill>
                  <a:srgbClr val="FFC000"/>
                </a:solidFill>
                <a:latin typeface="맑은 고딕"/>
                <a:cs typeface="맑은 고딕"/>
              </a:rPr>
              <a:t> </a:t>
            </a:r>
            <a:r>
              <a:rPr sz="1400" b="1" spc="-85" dirty="0">
                <a:solidFill>
                  <a:srgbClr val="FFC000"/>
                </a:solidFill>
                <a:latin typeface="맑은 고딕"/>
                <a:cs typeface="맑은 고딕"/>
              </a:rPr>
              <a:t>최적화</a:t>
            </a:r>
            <a:r>
              <a:rPr sz="1400" b="1" spc="-135" dirty="0">
                <a:solidFill>
                  <a:srgbClr val="FFC000"/>
                </a:solidFill>
                <a:latin typeface="맑은 고딕"/>
                <a:cs typeface="맑은 고딕"/>
              </a:rPr>
              <a:t> </a:t>
            </a:r>
            <a:r>
              <a:rPr sz="1400" b="1" spc="-85" dirty="0">
                <a:solidFill>
                  <a:srgbClr val="FFC000"/>
                </a:solidFill>
                <a:latin typeface="맑은 고딕"/>
                <a:cs typeface="맑은 고딕"/>
              </a:rPr>
              <a:t>아키텍처</a:t>
            </a:r>
            <a:r>
              <a:rPr sz="1200" b="1" spc="-75" dirty="0">
                <a:solidFill>
                  <a:srgbClr val="FFFFFF"/>
                </a:solidFill>
                <a:latin typeface="맑은 고딕"/>
                <a:cs typeface="맑은 고딕"/>
              </a:rPr>
              <a:t>로</a:t>
            </a:r>
            <a:r>
              <a:rPr sz="1200" b="1" spc="-11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-75" dirty="0">
                <a:solidFill>
                  <a:srgbClr val="FFFFFF"/>
                </a:solidFill>
                <a:latin typeface="맑은 고딕"/>
                <a:cs typeface="맑은 고딕"/>
              </a:rPr>
              <a:t>전통적인</a:t>
            </a:r>
            <a:r>
              <a:rPr sz="1200" b="1" spc="-9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맑은 고딕"/>
                <a:cs typeface="맑은 고딕"/>
              </a:rPr>
              <a:t>D</a:t>
            </a:r>
            <a:r>
              <a:rPr sz="1200" b="1" spc="20" dirty="0">
                <a:solidFill>
                  <a:srgbClr val="FFFFFF"/>
                </a:solidFill>
                <a:latin typeface="맑은 고딕"/>
                <a:cs typeface="맑은 고딕"/>
              </a:rPr>
              <a:t>W</a:t>
            </a:r>
            <a:endParaRPr sz="1200" dirty="0">
              <a:latin typeface="맑은 고딕"/>
              <a:cs typeface="맑은 고딕"/>
            </a:endParaRPr>
          </a:p>
          <a:p>
            <a:pPr marL="184785">
              <a:lnSpc>
                <a:spcPct val="100000"/>
              </a:lnSpc>
              <a:spcBef>
                <a:spcPts val="10"/>
              </a:spcBef>
            </a:pPr>
            <a:r>
              <a:rPr sz="1200" b="1" spc="-75" dirty="0">
                <a:solidFill>
                  <a:srgbClr val="FFFFFF"/>
                </a:solidFill>
                <a:latin typeface="맑은 고딕"/>
                <a:cs typeface="맑은 고딕"/>
              </a:rPr>
              <a:t>환경보다</a:t>
            </a:r>
            <a:r>
              <a:rPr sz="1200" b="1" spc="-10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30" dirty="0">
                <a:solidFill>
                  <a:srgbClr val="FFFFFF"/>
                </a:solidFill>
                <a:latin typeface="맑은 고딕"/>
                <a:cs typeface="맑은 고딕"/>
              </a:rPr>
              <a:t>10</a:t>
            </a:r>
            <a:r>
              <a:rPr sz="1200" b="1" spc="-70" dirty="0">
                <a:solidFill>
                  <a:srgbClr val="FFFFFF"/>
                </a:solidFill>
                <a:latin typeface="맑은 고딕"/>
                <a:cs typeface="맑은 고딕"/>
              </a:rPr>
              <a:t>-</a:t>
            </a:r>
            <a:r>
              <a:rPr sz="1200" b="1" spc="30" dirty="0">
                <a:solidFill>
                  <a:srgbClr val="FFFFFF"/>
                </a:solidFill>
                <a:latin typeface="맑은 고딕"/>
                <a:cs typeface="맑은 고딕"/>
              </a:rPr>
              <a:t>50</a:t>
            </a:r>
            <a:r>
              <a:rPr sz="1200" b="1" spc="-75" dirty="0">
                <a:solidFill>
                  <a:srgbClr val="FFFFFF"/>
                </a:solidFill>
                <a:latin typeface="맑은 고딕"/>
                <a:cs typeface="맑은 고딕"/>
              </a:rPr>
              <a:t>배</a:t>
            </a:r>
            <a:r>
              <a:rPr sz="1200" b="1" spc="-11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-75" dirty="0">
                <a:solidFill>
                  <a:srgbClr val="FFFFFF"/>
                </a:solidFill>
                <a:latin typeface="맑은 고딕"/>
                <a:cs typeface="맑은 고딕"/>
              </a:rPr>
              <a:t>이상</a:t>
            </a:r>
            <a:r>
              <a:rPr sz="1200" b="1" spc="-9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-75" dirty="0">
                <a:solidFill>
                  <a:srgbClr val="FFFFFF"/>
                </a:solidFill>
                <a:latin typeface="맑은 고딕"/>
                <a:cs typeface="맑은 고딕"/>
              </a:rPr>
              <a:t>빠른</a:t>
            </a:r>
            <a:r>
              <a:rPr sz="1200" b="1" spc="-10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-75" dirty="0">
                <a:solidFill>
                  <a:srgbClr val="FFFFFF"/>
                </a:solidFill>
                <a:latin typeface="맑은 고딕"/>
                <a:cs typeface="맑은 고딕"/>
              </a:rPr>
              <a:t>처리</a:t>
            </a:r>
            <a:r>
              <a:rPr sz="1200" b="1" spc="-9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-75" dirty="0">
                <a:solidFill>
                  <a:srgbClr val="FFFFFF"/>
                </a:solidFill>
                <a:latin typeface="맑은 고딕"/>
                <a:cs typeface="맑은 고딕"/>
              </a:rPr>
              <a:t>성능</a:t>
            </a:r>
            <a:r>
              <a:rPr sz="1200" b="1" spc="-9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-75" dirty="0">
                <a:solidFill>
                  <a:srgbClr val="FFFFFF"/>
                </a:solidFill>
                <a:latin typeface="맑은 고딕"/>
                <a:cs typeface="맑은 고딕"/>
              </a:rPr>
              <a:t>제공</a:t>
            </a:r>
            <a:endParaRPr sz="1200" dirty="0">
              <a:latin typeface="맑은 고딕"/>
              <a:cs typeface="맑은 고딕"/>
            </a:endParaRPr>
          </a:p>
        </p:txBody>
      </p:sp>
      <p:sp>
        <p:nvSpPr>
          <p:cNvPr id="15" name="object 19"/>
          <p:cNvSpPr txBox="1"/>
          <p:nvPr/>
        </p:nvSpPr>
        <p:spPr>
          <a:xfrm>
            <a:off x="5406162" y="3939108"/>
            <a:ext cx="2663825" cy="4241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Courier New"/>
                <a:cs typeface="Courier New"/>
              </a:rPr>
              <a:t>o</a:t>
            </a:r>
            <a:r>
              <a:rPr sz="1400" spc="-3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400" b="1" spc="-85" dirty="0">
                <a:solidFill>
                  <a:srgbClr val="FFC000"/>
                </a:solidFill>
                <a:latin typeface="맑은 고딕"/>
                <a:cs typeface="맑은 고딕"/>
              </a:rPr>
              <a:t>페</a:t>
            </a:r>
            <a:r>
              <a:rPr sz="1400" b="1" spc="-80" dirty="0">
                <a:solidFill>
                  <a:srgbClr val="FFC000"/>
                </a:solidFill>
                <a:latin typeface="맑은 고딕"/>
                <a:cs typeface="맑은 고딕"/>
              </a:rPr>
              <a:t>타</a:t>
            </a:r>
            <a:r>
              <a:rPr sz="1400" b="1" spc="-125" dirty="0">
                <a:solidFill>
                  <a:srgbClr val="FFC000"/>
                </a:solidFill>
                <a:latin typeface="맑은 고딕"/>
                <a:cs typeface="맑은 고딕"/>
              </a:rPr>
              <a:t> </a:t>
            </a:r>
            <a:r>
              <a:rPr sz="1400" b="1" spc="-85" dirty="0">
                <a:solidFill>
                  <a:srgbClr val="FFC000"/>
                </a:solidFill>
                <a:latin typeface="맑은 고딕"/>
                <a:cs typeface="맑은 고딕"/>
              </a:rPr>
              <a:t>바이</a:t>
            </a:r>
            <a:r>
              <a:rPr sz="1400" b="1" spc="-80" dirty="0">
                <a:solidFill>
                  <a:srgbClr val="FFC000"/>
                </a:solidFill>
                <a:latin typeface="맑은 고딕"/>
                <a:cs typeface="맑은 고딕"/>
              </a:rPr>
              <a:t>트</a:t>
            </a:r>
            <a:r>
              <a:rPr sz="1400" b="1" spc="-135" dirty="0">
                <a:solidFill>
                  <a:srgbClr val="FFC000"/>
                </a:solidFill>
                <a:latin typeface="맑은 고딕"/>
                <a:cs typeface="맑은 고딕"/>
              </a:rPr>
              <a:t> </a:t>
            </a:r>
            <a:r>
              <a:rPr sz="1400" b="1" spc="-85" dirty="0">
                <a:solidFill>
                  <a:srgbClr val="FFC000"/>
                </a:solidFill>
                <a:latin typeface="맑은 고딕"/>
                <a:cs typeface="맑은 고딕"/>
              </a:rPr>
              <a:t>규모</a:t>
            </a:r>
            <a:r>
              <a:rPr sz="1200" b="1" spc="-75" dirty="0">
                <a:solidFill>
                  <a:srgbClr val="FFFFFF"/>
                </a:solidFill>
                <a:latin typeface="맑은 고딕"/>
                <a:cs typeface="맑은 고딕"/>
              </a:rPr>
              <a:t>의</a:t>
            </a:r>
            <a:endParaRPr sz="1200" dirty="0">
              <a:latin typeface="맑은 고딕"/>
              <a:cs typeface="맑은 고딕"/>
            </a:endParaRPr>
          </a:p>
          <a:p>
            <a:pPr marL="184785">
              <a:lnSpc>
                <a:spcPct val="100000"/>
              </a:lnSpc>
              <a:spcBef>
                <a:spcPts val="10"/>
              </a:spcBef>
            </a:pPr>
            <a:r>
              <a:rPr sz="1200" b="1" spc="-35" dirty="0">
                <a:solidFill>
                  <a:srgbClr val="FFFFFF"/>
                </a:solidFill>
                <a:latin typeface="맑은 고딕"/>
                <a:cs typeface="맑은 고딕"/>
              </a:rPr>
              <a:t>I</a:t>
            </a:r>
            <a:r>
              <a:rPr sz="1200" b="1" spc="-60" dirty="0">
                <a:solidFill>
                  <a:srgbClr val="FFFFFF"/>
                </a:solidFill>
                <a:latin typeface="맑은 고딕"/>
                <a:cs typeface="맑은 고딕"/>
              </a:rPr>
              <a:t>n</a:t>
            </a:r>
            <a:r>
              <a:rPr sz="1200" b="1" spc="-70" dirty="0">
                <a:solidFill>
                  <a:srgbClr val="FFFFFF"/>
                </a:solidFill>
                <a:latin typeface="맑은 고딕"/>
                <a:cs typeface="맑은 고딕"/>
              </a:rPr>
              <a:t>-</a:t>
            </a:r>
            <a:r>
              <a:rPr sz="1200" b="1" spc="-25" dirty="0">
                <a:solidFill>
                  <a:srgbClr val="FFFFFF"/>
                </a:solidFill>
                <a:latin typeface="맑은 고딕"/>
                <a:cs typeface="맑은 고딕"/>
              </a:rPr>
              <a:t>D</a:t>
            </a:r>
            <a:r>
              <a:rPr sz="1200" b="1" dirty="0">
                <a:solidFill>
                  <a:srgbClr val="FFFFFF"/>
                </a:solidFill>
                <a:latin typeface="맑은 고딕"/>
                <a:cs typeface="맑은 고딕"/>
              </a:rPr>
              <a:t>a</a:t>
            </a:r>
            <a:r>
              <a:rPr sz="1200" b="1" spc="-35" dirty="0">
                <a:solidFill>
                  <a:srgbClr val="FFFFFF"/>
                </a:solidFill>
                <a:latin typeface="맑은 고딕"/>
                <a:cs typeface="맑은 고딕"/>
              </a:rPr>
              <a:t>t</a:t>
            </a:r>
            <a:r>
              <a:rPr sz="1200" b="1" dirty="0">
                <a:solidFill>
                  <a:srgbClr val="FFFFFF"/>
                </a:solidFill>
                <a:latin typeface="맑은 고딕"/>
                <a:cs typeface="맑은 고딕"/>
              </a:rPr>
              <a:t>a</a:t>
            </a:r>
            <a:r>
              <a:rPr sz="1200" b="1" spc="-25" dirty="0">
                <a:solidFill>
                  <a:srgbClr val="FFFFFF"/>
                </a:solidFill>
                <a:latin typeface="맑은 고딕"/>
                <a:cs typeface="맑은 고딕"/>
              </a:rPr>
              <a:t>b</a:t>
            </a:r>
            <a:r>
              <a:rPr sz="1200" b="1" dirty="0">
                <a:solidFill>
                  <a:srgbClr val="FFFFFF"/>
                </a:solidFill>
                <a:latin typeface="맑은 고딕"/>
                <a:cs typeface="맑은 고딕"/>
              </a:rPr>
              <a:t>a</a:t>
            </a:r>
            <a:r>
              <a:rPr sz="1200" b="1" spc="-55" dirty="0">
                <a:solidFill>
                  <a:srgbClr val="FFFFFF"/>
                </a:solidFill>
                <a:latin typeface="맑은 고딕"/>
                <a:cs typeface="맑은 고딕"/>
              </a:rPr>
              <a:t>s</a:t>
            </a:r>
            <a:r>
              <a:rPr sz="1200" b="1" spc="-10" dirty="0">
                <a:solidFill>
                  <a:srgbClr val="FFFFFF"/>
                </a:solidFill>
                <a:latin typeface="맑은 고딕"/>
                <a:cs typeface="맑은 고딕"/>
              </a:rPr>
              <a:t>e</a:t>
            </a:r>
            <a:r>
              <a:rPr sz="1200" b="1" spc="-11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5" dirty="0">
                <a:solidFill>
                  <a:srgbClr val="FFFFFF"/>
                </a:solidFill>
                <a:latin typeface="맑은 고딕"/>
                <a:cs typeface="맑은 고딕"/>
              </a:rPr>
              <a:t>Ma</a:t>
            </a:r>
            <a:r>
              <a:rPr sz="1200" b="1" spc="-10" dirty="0">
                <a:solidFill>
                  <a:srgbClr val="FFFFFF"/>
                </a:solidFill>
                <a:latin typeface="맑은 고딕"/>
                <a:cs typeface="맑은 고딕"/>
              </a:rPr>
              <a:t>c</a:t>
            </a:r>
            <a:r>
              <a:rPr sz="1200" b="1" spc="-5" dirty="0">
                <a:solidFill>
                  <a:srgbClr val="FFFFFF"/>
                </a:solidFill>
                <a:latin typeface="맑은 고딕"/>
                <a:cs typeface="맑은 고딕"/>
              </a:rPr>
              <a:t>h</a:t>
            </a:r>
            <a:r>
              <a:rPr sz="1200" b="1" spc="-20" dirty="0">
                <a:solidFill>
                  <a:srgbClr val="FFFFFF"/>
                </a:solidFill>
                <a:latin typeface="맑은 고딕"/>
                <a:cs typeface="맑은 고딕"/>
              </a:rPr>
              <a:t>ine</a:t>
            </a:r>
            <a:r>
              <a:rPr sz="1200" b="1" spc="-114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-40" dirty="0">
                <a:solidFill>
                  <a:srgbClr val="FFFFFF"/>
                </a:solidFill>
                <a:latin typeface="맑은 고딕"/>
                <a:cs typeface="맑은 고딕"/>
              </a:rPr>
              <a:t>L</a:t>
            </a:r>
            <a:r>
              <a:rPr sz="1200" b="1" spc="-10" dirty="0">
                <a:solidFill>
                  <a:srgbClr val="FFFFFF"/>
                </a:solidFill>
                <a:latin typeface="맑은 고딕"/>
                <a:cs typeface="맑은 고딕"/>
              </a:rPr>
              <a:t>e</a:t>
            </a:r>
            <a:r>
              <a:rPr sz="1200" b="1" dirty="0">
                <a:solidFill>
                  <a:srgbClr val="FFFFFF"/>
                </a:solidFill>
                <a:latin typeface="맑은 고딕"/>
                <a:cs typeface="맑은 고딕"/>
              </a:rPr>
              <a:t>a</a:t>
            </a:r>
            <a:r>
              <a:rPr sz="1200" b="1" spc="-45" dirty="0">
                <a:solidFill>
                  <a:srgbClr val="FFFFFF"/>
                </a:solidFill>
                <a:latin typeface="맑은 고딕"/>
                <a:cs typeface="맑은 고딕"/>
              </a:rPr>
              <a:t>r</a:t>
            </a:r>
            <a:r>
              <a:rPr sz="1200" b="1" spc="-5" dirty="0">
                <a:solidFill>
                  <a:srgbClr val="FFFFFF"/>
                </a:solidFill>
                <a:latin typeface="맑은 고딕"/>
                <a:cs typeface="맑은 고딕"/>
              </a:rPr>
              <a:t>n</a:t>
            </a:r>
            <a:r>
              <a:rPr sz="1200" b="1" spc="-25" dirty="0">
                <a:solidFill>
                  <a:srgbClr val="FFFFFF"/>
                </a:solidFill>
                <a:latin typeface="맑은 고딕"/>
                <a:cs typeface="맑은 고딕"/>
              </a:rPr>
              <a:t>ing</a:t>
            </a:r>
            <a:r>
              <a:rPr sz="1200" b="1" spc="-11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-75" dirty="0">
                <a:solidFill>
                  <a:srgbClr val="FFFFFF"/>
                </a:solidFill>
                <a:latin typeface="맑은 고딕"/>
                <a:cs typeface="맑은 고딕"/>
              </a:rPr>
              <a:t>지원</a:t>
            </a:r>
            <a:endParaRPr sz="1200" dirty="0">
              <a:latin typeface="맑은 고딕"/>
              <a:cs typeface="맑은 고딕"/>
            </a:endParaRPr>
          </a:p>
        </p:txBody>
      </p:sp>
      <p:sp>
        <p:nvSpPr>
          <p:cNvPr id="16" name="object 20"/>
          <p:cNvSpPr txBox="1"/>
          <p:nvPr/>
        </p:nvSpPr>
        <p:spPr>
          <a:xfrm>
            <a:off x="5406162" y="4489957"/>
            <a:ext cx="2915285" cy="970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720">
              <a:lnSpc>
                <a:spcPts val="1435"/>
              </a:lnSpc>
              <a:spcBef>
                <a:spcPts val="100"/>
              </a:spcBef>
              <a:buFont typeface="Courier New"/>
              <a:buChar char="o"/>
              <a:tabLst>
                <a:tab pos="185420" algn="l"/>
              </a:tabLst>
            </a:pPr>
            <a:r>
              <a:rPr sz="1200" b="1" spc="-75" dirty="0">
                <a:solidFill>
                  <a:srgbClr val="FFFFFF"/>
                </a:solidFill>
                <a:latin typeface="맑은 고딕"/>
                <a:cs typeface="맑은 고딕"/>
              </a:rPr>
              <a:t>사용자에게</a:t>
            </a:r>
            <a:r>
              <a:rPr sz="1200" b="1" spc="-10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-75" dirty="0">
                <a:solidFill>
                  <a:srgbClr val="FFFFFF"/>
                </a:solidFill>
                <a:latin typeface="맑은 고딕"/>
                <a:cs typeface="맑은 고딕"/>
              </a:rPr>
              <a:t>친숙한</a:t>
            </a:r>
            <a:endParaRPr sz="1200" dirty="0">
              <a:latin typeface="맑은 고딕"/>
              <a:cs typeface="맑은 고딕"/>
            </a:endParaRPr>
          </a:p>
          <a:p>
            <a:pPr marL="184785">
              <a:lnSpc>
                <a:spcPts val="1675"/>
              </a:lnSpc>
            </a:pPr>
            <a:r>
              <a:rPr sz="1400" b="1" spc="-20" dirty="0">
                <a:solidFill>
                  <a:srgbClr val="FFC000"/>
                </a:solidFill>
                <a:latin typeface="맑은 고딕"/>
                <a:cs typeface="맑은 고딕"/>
              </a:rPr>
              <a:t>SQ</a:t>
            </a:r>
            <a:r>
              <a:rPr sz="1400" b="1" spc="-10" dirty="0">
                <a:solidFill>
                  <a:srgbClr val="FFC000"/>
                </a:solidFill>
                <a:latin typeface="맑은 고딕"/>
                <a:cs typeface="맑은 고딕"/>
              </a:rPr>
              <a:t>L</a:t>
            </a:r>
            <a:r>
              <a:rPr sz="1400" b="1" spc="-85" dirty="0">
                <a:solidFill>
                  <a:srgbClr val="FFC000"/>
                </a:solidFill>
                <a:latin typeface="맑은 고딕"/>
                <a:cs typeface="맑은 고딕"/>
              </a:rPr>
              <a:t>로</a:t>
            </a:r>
            <a:r>
              <a:rPr sz="1400" b="1" spc="-135" dirty="0">
                <a:solidFill>
                  <a:srgbClr val="FFC000"/>
                </a:solidFill>
                <a:latin typeface="맑은 고딕"/>
                <a:cs typeface="맑은 고딕"/>
              </a:rPr>
              <a:t> </a:t>
            </a:r>
            <a:r>
              <a:rPr sz="1400" b="1" spc="-25" dirty="0">
                <a:solidFill>
                  <a:srgbClr val="FFC000"/>
                </a:solidFill>
                <a:latin typeface="맑은 고딕"/>
                <a:cs typeface="맑은 고딕"/>
              </a:rPr>
              <a:t>M</a:t>
            </a:r>
            <a:r>
              <a:rPr sz="1400" b="1" spc="-10" dirty="0">
                <a:solidFill>
                  <a:srgbClr val="FFC000"/>
                </a:solidFill>
                <a:latin typeface="맑은 고딕"/>
                <a:cs typeface="맑은 고딕"/>
              </a:rPr>
              <a:t>L</a:t>
            </a:r>
            <a:r>
              <a:rPr sz="1400" b="1" spc="-105" dirty="0">
                <a:solidFill>
                  <a:srgbClr val="FFC000"/>
                </a:solidFill>
                <a:latin typeface="맑은 고딕"/>
                <a:cs typeface="맑은 고딕"/>
              </a:rPr>
              <a:t> </a:t>
            </a:r>
            <a:r>
              <a:rPr sz="1400" b="1" spc="-85" dirty="0">
                <a:solidFill>
                  <a:srgbClr val="FFC000"/>
                </a:solidFill>
                <a:latin typeface="맑은 고딕"/>
                <a:cs typeface="맑은 고딕"/>
              </a:rPr>
              <a:t>프로세스</a:t>
            </a:r>
            <a:r>
              <a:rPr sz="1400" b="1" spc="-180" dirty="0">
                <a:solidFill>
                  <a:srgbClr val="FFC000"/>
                </a:solidFill>
                <a:latin typeface="맑은 고딕"/>
                <a:cs typeface="맑은 고딕"/>
              </a:rPr>
              <a:t> </a:t>
            </a:r>
            <a:r>
              <a:rPr sz="1200" b="1" spc="-75" dirty="0">
                <a:solidFill>
                  <a:srgbClr val="FFFFFF"/>
                </a:solidFill>
                <a:latin typeface="맑은 고딕"/>
                <a:cs typeface="맑은 고딕"/>
              </a:rPr>
              <a:t>지원</a:t>
            </a:r>
            <a:endParaRPr sz="1200" dirty="0">
              <a:latin typeface="맑은 고딕"/>
              <a:cs typeface="맑은 고딕"/>
            </a:endParaRPr>
          </a:p>
          <a:p>
            <a:pPr marL="184785" indent="-172720">
              <a:lnSpc>
                <a:spcPct val="100000"/>
              </a:lnSpc>
              <a:spcBef>
                <a:spcPts val="1200"/>
              </a:spcBef>
              <a:buClr>
                <a:srgbClr val="FFFFFF"/>
              </a:buClr>
              <a:buFont typeface="Courier New"/>
              <a:buChar char="o"/>
              <a:tabLst>
                <a:tab pos="185420" algn="l"/>
              </a:tabLst>
            </a:pPr>
            <a:r>
              <a:rPr sz="1400" b="1" spc="-55" dirty="0">
                <a:solidFill>
                  <a:srgbClr val="FFC000"/>
                </a:solidFill>
                <a:latin typeface="맑은 고딕"/>
                <a:cs typeface="맑은 고딕"/>
              </a:rPr>
              <a:t>P</a:t>
            </a:r>
            <a:r>
              <a:rPr sz="1400" b="1" spc="5" dirty="0">
                <a:solidFill>
                  <a:srgbClr val="FFC000"/>
                </a:solidFill>
                <a:latin typeface="맑은 고딕"/>
                <a:cs typeface="맑은 고딕"/>
              </a:rPr>
              <a:t>MM</a:t>
            </a:r>
            <a:r>
              <a:rPr sz="1400" b="1" spc="-40" dirty="0">
                <a:solidFill>
                  <a:srgbClr val="FFC000"/>
                </a:solidFill>
                <a:latin typeface="맑은 고딕"/>
                <a:cs typeface="맑은 고딕"/>
              </a:rPr>
              <a:t>L</a:t>
            </a:r>
            <a:r>
              <a:rPr sz="1400" b="1" spc="-105" dirty="0">
                <a:solidFill>
                  <a:srgbClr val="FFC000"/>
                </a:solidFill>
                <a:latin typeface="맑은 고딕"/>
                <a:cs typeface="맑은 고딕"/>
              </a:rPr>
              <a:t> </a:t>
            </a:r>
            <a:r>
              <a:rPr sz="1400" b="1" spc="-90" dirty="0">
                <a:solidFill>
                  <a:srgbClr val="FFC000"/>
                </a:solidFill>
                <a:latin typeface="맑은 고딕"/>
                <a:cs typeface="맑은 고딕"/>
              </a:rPr>
              <a:t>/</a:t>
            </a:r>
            <a:r>
              <a:rPr sz="1400" b="1" spc="-110" dirty="0">
                <a:solidFill>
                  <a:srgbClr val="FFC000"/>
                </a:solidFill>
                <a:latin typeface="맑은 고딕"/>
                <a:cs typeface="맑은 고딕"/>
              </a:rPr>
              <a:t> </a:t>
            </a:r>
            <a:r>
              <a:rPr sz="1400" b="1" spc="-175" dirty="0">
                <a:solidFill>
                  <a:srgbClr val="FFC000"/>
                </a:solidFill>
                <a:latin typeface="맑은 고딕"/>
                <a:cs typeface="맑은 고딕"/>
              </a:rPr>
              <a:t>T</a:t>
            </a:r>
            <a:r>
              <a:rPr sz="1400" b="1" spc="-25" dirty="0">
                <a:solidFill>
                  <a:srgbClr val="FFC000"/>
                </a:solidFill>
                <a:latin typeface="맑은 고딕"/>
                <a:cs typeface="맑은 고딕"/>
              </a:rPr>
              <a:t>en</a:t>
            </a:r>
            <a:r>
              <a:rPr sz="1400" b="1" spc="-15" dirty="0">
                <a:solidFill>
                  <a:srgbClr val="FFC000"/>
                </a:solidFill>
                <a:latin typeface="맑은 고딕"/>
                <a:cs typeface="맑은 고딕"/>
              </a:rPr>
              <a:t>s</a:t>
            </a:r>
            <a:r>
              <a:rPr sz="1400" b="1" spc="-40" dirty="0">
                <a:solidFill>
                  <a:srgbClr val="FFC000"/>
                </a:solidFill>
                <a:latin typeface="맑은 고딕"/>
                <a:cs typeface="맑은 고딕"/>
              </a:rPr>
              <a:t>o</a:t>
            </a:r>
            <a:r>
              <a:rPr sz="1400" b="1" spc="-30" dirty="0">
                <a:solidFill>
                  <a:srgbClr val="FFC000"/>
                </a:solidFill>
                <a:latin typeface="맑은 고딕"/>
                <a:cs typeface="맑은 고딕"/>
              </a:rPr>
              <a:t>r</a:t>
            </a:r>
            <a:r>
              <a:rPr sz="1400" b="1" spc="-5" dirty="0">
                <a:solidFill>
                  <a:srgbClr val="FFC000"/>
                </a:solidFill>
                <a:latin typeface="맑은 고딕"/>
                <a:cs typeface="맑은 고딕"/>
              </a:rPr>
              <a:t>Flow</a:t>
            </a:r>
            <a:r>
              <a:rPr sz="1400" b="1" spc="-140" dirty="0">
                <a:solidFill>
                  <a:srgbClr val="FFC000"/>
                </a:solidFill>
                <a:latin typeface="맑은 고딕"/>
                <a:cs typeface="맑은 고딕"/>
              </a:rPr>
              <a:t> </a:t>
            </a:r>
            <a:r>
              <a:rPr sz="1400" b="1" spc="5" dirty="0">
                <a:solidFill>
                  <a:srgbClr val="FFC000"/>
                </a:solidFill>
                <a:latin typeface="맑은 고딕"/>
                <a:cs typeface="맑은 고딕"/>
              </a:rPr>
              <a:t>M</a:t>
            </a:r>
            <a:r>
              <a:rPr sz="1400" b="1" spc="-20" dirty="0">
                <a:solidFill>
                  <a:srgbClr val="FFC000"/>
                </a:solidFill>
                <a:latin typeface="맑은 고딕"/>
                <a:cs typeface="맑은 고딕"/>
              </a:rPr>
              <a:t>ode</a:t>
            </a:r>
            <a:r>
              <a:rPr sz="1400" b="1" spc="-45" dirty="0">
                <a:solidFill>
                  <a:srgbClr val="FFC000"/>
                </a:solidFill>
                <a:latin typeface="맑은 고딕"/>
                <a:cs typeface="맑은 고딕"/>
              </a:rPr>
              <a:t>l</a:t>
            </a:r>
            <a:r>
              <a:rPr sz="1400" b="1" spc="-155" dirty="0">
                <a:solidFill>
                  <a:srgbClr val="FFC000"/>
                </a:solidFill>
                <a:latin typeface="맑은 고딕"/>
                <a:cs typeface="맑은 고딕"/>
              </a:rPr>
              <a:t> </a:t>
            </a:r>
            <a:r>
              <a:rPr sz="1200" b="1" spc="-75" dirty="0">
                <a:solidFill>
                  <a:srgbClr val="FFFFFF"/>
                </a:solidFill>
                <a:latin typeface="맑은 고딕"/>
                <a:cs typeface="맑은 고딕"/>
              </a:rPr>
              <a:t>에</a:t>
            </a:r>
            <a:r>
              <a:rPr sz="1200" b="1" spc="-9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-75" dirty="0">
                <a:solidFill>
                  <a:srgbClr val="FFFFFF"/>
                </a:solidFill>
                <a:latin typeface="맑은 고딕"/>
                <a:cs typeface="맑은 고딕"/>
              </a:rPr>
              <a:t>대해</a:t>
            </a:r>
            <a:endParaRPr sz="1200" dirty="0">
              <a:latin typeface="맑은 고딕"/>
              <a:cs typeface="맑은 고딕"/>
            </a:endParaRPr>
          </a:p>
          <a:p>
            <a:pPr marL="184785">
              <a:lnSpc>
                <a:spcPct val="100000"/>
              </a:lnSpc>
              <a:spcBef>
                <a:spcPts val="5"/>
              </a:spcBef>
            </a:pPr>
            <a:r>
              <a:rPr sz="1200" b="1" spc="-10" dirty="0">
                <a:solidFill>
                  <a:srgbClr val="FFFFFF"/>
                </a:solidFill>
                <a:latin typeface="맑은 고딕"/>
                <a:cs typeface="맑은 고딕"/>
              </a:rPr>
              <a:t>e</a:t>
            </a:r>
            <a:r>
              <a:rPr sz="1200" b="1" spc="-30" dirty="0">
                <a:solidFill>
                  <a:srgbClr val="FFFFFF"/>
                </a:solidFill>
                <a:latin typeface="맑은 고딕"/>
                <a:cs typeface="맑은 고딕"/>
              </a:rPr>
              <a:t>xp</a:t>
            </a:r>
            <a:r>
              <a:rPr sz="1200" b="1" spc="-20" dirty="0">
                <a:solidFill>
                  <a:srgbClr val="FFFFFF"/>
                </a:solidFill>
                <a:latin typeface="맑은 고딕"/>
                <a:cs typeface="맑은 고딕"/>
              </a:rPr>
              <a:t>o</a:t>
            </a:r>
            <a:r>
              <a:rPr sz="1200" b="1" spc="-45" dirty="0">
                <a:solidFill>
                  <a:srgbClr val="FFFFFF"/>
                </a:solidFill>
                <a:latin typeface="맑은 고딕"/>
                <a:cs typeface="맑은 고딕"/>
              </a:rPr>
              <a:t>r</a:t>
            </a:r>
            <a:r>
              <a:rPr sz="1200" b="1" spc="-30" dirty="0">
                <a:solidFill>
                  <a:srgbClr val="FFFFFF"/>
                </a:solidFill>
                <a:latin typeface="맑은 고딕"/>
                <a:cs typeface="맑은 고딕"/>
              </a:rPr>
              <a:t>t</a:t>
            </a:r>
            <a:r>
              <a:rPr sz="1200" b="1" spc="-10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-80" dirty="0">
                <a:solidFill>
                  <a:srgbClr val="FFFFFF"/>
                </a:solidFill>
                <a:latin typeface="맑은 고딕"/>
                <a:cs typeface="맑은 고딕"/>
              </a:rPr>
              <a:t>/</a:t>
            </a:r>
            <a:r>
              <a:rPr sz="1200" b="1" spc="-8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-30" dirty="0">
                <a:solidFill>
                  <a:srgbClr val="FFFFFF"/>
                </a:solidFill>
                <a:latin typeface="맑은 고딕"/>
                <a:cs typeface="맑은 고딕"/>
              </a:rPr>
              <a:t>imp</a:t>
            </a:r>
            <a:r>
              <a:rPr sz="1200" b="1" spc="-20" dirty="0">
                <a:solidFill>
                  <a:srgbClr val="FFFFFF"/>
                </a:solidFill>
                <a:latin typeface="맑은 고딕"/>
                <a:cs typeface="맑은 고딕"/>
              </a:rPr>
              <a:t>o</a:t>
            </a:r>
            <a:r>
              <a:rPr sz="1200" b="1" spc="-45" dirty="0">
                <a:solidFill>
                  <a:srgbClr val="FFFFFF"/>
                </a:solidFill>
                <a:latin typeface="맑은 고딕"/>
                <a:cs typeface="맑은 고딕"/>
              </a:rPr>
              <a:t>r</a:t>
            </a:r>
            <a:r>
              <a:rPr sz="1200" b="1" spc="-30" dirty="0">
                <a:solidFill>
                  <a:srgbClr val="FFFFFF"/>
                </a:solidFill>
                <a:latin typeface="맑은 고딕"/>
                <a:cs typeface="맑은 고딕"/>
              </a:rPr>
              <a:t>t</a:t>
            </a:r>
            <a:r>
              <a:rPr sz="1200" b="1" spc="-9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-75" dirty="0">
                <a:solidFill>
                  <a:srgbClr val="FFFFFF"/>
                </a:solidFill>
                <a:latin typeface="맑은 고딕"/>
                <a:cs typeface="맑은 고딕"/>
              </a:rPr>
              <a:t>기능</a:t>
            </a:r>
            <a:r>
              <a:rPr sz="1200" b="1" spc="-9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-75" dirty="0">
                <a:solidFill>
                  <a:srgbClr val="FFFFFF"/>
                </a:solidFill>
                <a:latin typeface="맑은 고딕"/>
                <a:cs typeface="맑은 고딕"/>
              </a:rPr>
              <a:t>지원</a:t>
            </a:r>
            <a:endParaRPr sz="1200" dirty="0">
              <a:latin typeface="맑은 고딕"/>
              <a:cs typeface="맑은 고딕"/>
            </a:endParaRPr>
          </a:p>
        </p:txBody>
      </p:sp>
      <p:sp>
        <p:nvSpPr>
          <p:cNvPr id="17" name="object 21"/>
          <p:cNvSpPr txBox="1"/>
          <p:nvPr/>
        </p:nvSpPr>
        <p:spPr>
          <a:xfrm>
            <a:off x="5406162" y="5585968"/>
            <a:ext cx="27978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ourier New"/>
                <a:cs typeface="Courier New"/>
              </a:rPr>
              <a:t>o</a:t>
            </a:r>
            <a:r>
              <a:rPr sz="1400" spc="-3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400" b="1" spc="5" dirty="0">
                <a:solidFill>
                  <a:srgbClr val="FFC000"/>
                </a:solidFill>
                <a:latin typeface="맑은 고딕"/>
                <a:cs typeface="맑은 고딕"/>
              </a:rPr>
              <a:t>Geos</a:t>
            </a:r>
            <a:r>
              <a:rPr sz="1400" b="1" spc="-30" dirty="0">
                <a:solidFill>
                  <a:srgbClr val="FFC000"/>
                </a:solidFill>
                <a:latin typeface="맑은 고딕"/>
                <a:cs typeface="맑은 고딕"/>
              </a:rPr>
              <a:t>pat</a:t>
            </a:r>
            <a:r>
              <a:rPr sz="1400" b="1" spc="-25" dirty="0">
                <a:solidFill>
                  <a:srgbClr val="FFC000"/>
                </a:solidFill>
                <a:latin typeface="맑은 고딕"/>
                <a:cs typeface="맑은 고딕"/>
              </a:rPr>
              <a:t>i</a:t>
            </a:r>
            <a:r>
              <a:rPr sz="1400" b="1" spc="-20" dirty="0">
                <a:solidFill>
                  <a:srgbClr val="FFC000"/>
                </a:solidFill>
                <a:latin typeface="맑은 고딕"/>
                <a:cs typeface="맑은 고딕"/>
              </a:rPr>
              <a:t>al</a:t>
            </a:r>
            <a:r>
              <a:rPr sz="1400" b="1" spc="-135" dirty="0">
                <a:solidFill>
                  <a:srgbClr val="FFC000"/>
                </a:solidFill>
                <a:latin typeface="맑은 고딕"/>
                <a:cs typeface="맑은 고딕"/>
              </a:rPr>
              <a:t> </a:t>
            </a:r>
            <a:r>
              <a:rPr sz="1400" b="1" spc="-90" dirty="0">
                <a:solidFill>
                  <a:srgbClr val="FFC000"/>
                </a:solidFill>
                <a:latin typeface="맑은 고딕"/>
                <a:cs typeface="맑은 고딕"/>
              </a:rPr>
              <a:t>/</a:t>
            </a:r>
            <a:r>
              <a:rPr sz="1400" b="1" spc="-110" dirty="0">
                <a:solidFill>
                  <a:srgbClr val="FFC000"/>
                </a:solidFill>
                <a:latin typeface="맑은 고딕"/>
                <a:cs typeface="맑은 고딕"/>
              </a:rPr>
              <a:t> </a:t>
            </a:r>
            <a:r>
              <a:rPr sz="1400" b="1" spc="-30" dirty="0">
                <a:solidFill>
                  <a:srgbClr val="FFC000"/>
                </a:solidFill>
                <a:latin typeface="맑은 고딕"/>
                <a:cs typeface="맑은 고딕"/>
              </a:rPr>
              <a:t>Full</a:t>
            </a:r>
            <a:r>
              <a:rPr sz="1400" b="1" spc="-114" dirty="0">
                <a:solidFill>
                  <a:srgbClr val="FFC000"/>
                </a:solidFill>
                <a:latin typeface="맑은 고딕"/>
                <a:cs typeface="맑은 고딕"/>
              </a:rPr>
              <a:t> </a:t>
            </a:r>
            <a:r>
              <a:rPr sz="1400" b="1" spc="-40" dirty="0">
                <a:solidFill>
                  <a:srgbClr val="FFC000"/>
                </a:solidFill>
                <a:latin typeface="맑은 고딕"/>
                <a:cs typeface="맑은 고딕"/>
              </a:rPr>
              <a:t>t</a:t>
            </a:r>
            <a:r>
              <a:rPr sz="1400" b="1" spc="-25" dirty="0">
                <a:solidFill>
                  <a:srgbClr val="FFC000"/>
                </a:solidFill>
                <a:latin typeface="맑은 고딕"/>
                <a:cs typeface="맑은 고딕"/>
              </a:rPr>
              <a:t>e</a:t>
            </a:r>
            <a:r>
              <a:rPr sz="1400" b="1" spc="-20" dirty="0">
                <a:solidFill>
                  <a:srgbClr val="FFC000"/>
                </a:solidFill>
                <a:latin typeface="맑은 고딕"/>
                <a:cs typeface="맑은 고딕"/>
              </a:rPr>
              <a:t>x</a:t>
            </a:r>
            <a:r>
              <a:rPr sz="1400" b="1" spc="-30" dirty="0">
                <a:solidFill>
                  <a:srgbClr val="FFC000"/>
                </a:solidFill>
                <a:latin typeface="맑은 고딕"/>
                <a:cs typeface="맑은 고딕"/>
              </a:rPr>
              <a:t>t</a:t>
            </a:r>
            <a:r>
              <a:rPr sz="1400" b="1" spc="-105" dirty="0">
                <a:solidFill>
                  <a:srgbClr val="FFC000"/>
                </a:solidFill>
                <a:latin typeface="맑은 고딕"/>
                <a:cs typeface="맑은 고딕"/>
              </a:rPr>
              <a:t> </a:t>
            </a:r>
            <a:r>
              <a:rPr sz="1400" b="1" spc="-50" dirty="0">
                <a:solidFill>
                  <a:srgbClr val="FFC000"/>
                </a:solidFill>
                <a:latin typeface="맑은 고딕"/>
                <a:cs typeface="맑은 고딕"/>
              </a:rPr>
              <a:t>s</a:t>
            </a:r>
            <a:r>
              <a:rPr sz="1400" b="1" dirty="0">
                <a:solidFill>
                  <a:srgbClr val="FFC000"/>
                </a:solidFill>
                <a:latin typeface="맑은 고딕"/>
                <a:cs typeface="맑은 고딕"/>
              </a:rPr>
              <a:t>ea</a:t>
            </a:r>
            <a:r>
              <a:rPr sz="1400" b="1" spc="-55" dirty="0">
                <a:solidFill>
                  <a:srgbClr val="FFC000"/>
                </a:solidFill>
                <a:latin typeface="맑은 고딕"/>
                <a:cs typeface="맑은 고딕"/>
              </a:rPr>
              <a:t>r</a:t>
            </a:r>
            <a:r>
              <a:rPr sz="1400" b="1" spc="-5" dirty="0">
                <a:solidFill>
                  <a:srgbClr val="FFC000"/>
                </a:solidFill>
                <a:latin typeface="맑은 고딕"/>
                <a:cs typeface="맑은 고딕"/>
              </a:rPr>
              <a:t>c</a:t>
            </a:r>
            <a:r>
              <a:rPr sz="1400" b="1" dirty="0">
                <a:solidFill>
                  <a:srgbClr val="FFC000"/>
                </a:solidFill>
                <a:latin typeface="맑은 고딕"/>
                <a:cs typeface="맑은 고딕"/>
              </a:rPr>
              <a:t>h</a:t>
            </a:r>
            <a:r>
              <a:rPr sz="1400" b="1" spc="-125" dirty="0">
                <a:solidFill>
                  <a:srgbClr val="FFC000"/>
                </a:solidFill>
                <a:latin typeface="맑은 고딕"/>
                <a:cs typeface="맑은 고딕"/>
              </a:rPr>
              <a:t> </a:t>
            </a:r>
            <a:r>
              <a:rPr sz="1200" b="1" spc="-60" dirty="0">
                <a:solidFill>
                  <a:srgbClr val="FFFFFF"/>
                </a:solidFill>
                <a:latin typeface="맑은 고딕"/>
                <a:cs typeface="맑은 고딕"/>
              </a:rPr>
              <a:t>등의  향상된</a:t>
            </a:r>
            <a:r>
              <a:rPr sz="1200" b="1" spc="-10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400" b="1" spc="-85" dirty="0">
                <a:solidFill>
                  <a:srgbClr val="FFC000"/>
                </a:solidFill>
                <a:latin typeface="맑은 고딕"/>
                <a:cs typeface="맑은 고딕"/>
              </a:rPr>
              <a:t>고급</a:t>
            </a:r>
            <a:r>
              <a:rPr sz="1400" b="1" spc="-120" dirty="0">
                <a:solidFill>
                  <a:srgbClr val="FFC000"/>
                </a:solidFill>
                <a:latin typeface="맑은 고딕"/>
                <a:cs typeface="맑은 고딕"/>
              </a:rPr>
              <a:t> </a:t>
            </a:r>
            <a:r>
              <a:rPr sz="1400" b="1" spc="-85" dirty="0">
                <a:solidFill>
                  <a:srgbClr val="FFC000"/>
                </a:solidFill>
                <a:latin typeface="맑은 고딕"/>
                <a:cs typeface="맑은 고딕"/>
              </a:rPr>
              <a:t>분석</a:t>
            </a:r>
            <a:r>
              <a:rPr sz="1400" b="1" spc="-120" dirty="0">
                <a:solidFill>
                  <a:srgbClr val="FFC000"/>
                </a:solidFill>
                <a:latin typeface="맑은 고딕"/>
                <a:cs typeface="맑은 고딕"/>
              </a:rPr>
              <a:t> </a:t>
            </a:r>
            <a:r>
              <a:rPr sz="1400" b="1" spc="-85" dirty="0">
                <a:solidFill>
                  <a:srgbClr val="FFC000"/>
                </a:solidFill>
                <a:latin typeface="맑은 고딕"/>
                <a:cs typeface="맑은 고딕"/>
              </a:rPr>
              <a:t>기능</a:t>
            </a:r>
            <a:r>
              <a:rPr sz="1400" b="1" spc="-170" dirty="0">
                <a:solidFill>
                  <a:srgbClr val="FFC000"/>
                </a:solidFill>
                <a:latin typeface="맑은 고딕"/>
                <a:cs typeface="맑은 고딕"/>
              </a:rPr>
              <a:t> </a:t>
            </a:r>
            <a:r>
              <a:rPr sz="1200" b="1" spc="-75" dirty="0">
                <a:solidFill>
                  <a:srgbClr val="FFFFFF"/>
                </a:solidFill>
                <a:latin typeface="맑은 고딕"/>
                <a:cs typeface="맑은 고딕"/>
              </a:rPr>
              <a:t>지원</a:t>
            </a:r>
            <a:endParaRPr sz="1200">
              <a:latin typeface="맑은 고딕"/>
              <a:cs typeface="맑은 고딕"/>
            </a:endParaRPr>
          </a:p>
        </p:txBody>
      </p:sp>
      <p:sp>
        <p:nvSpPr>
          <p:cNvPr id="18" name="object 15"/>
          <p:cNvSpPr txBox="1"/>
          <p:nvPr/>
        </p:nvSpPr>
        <p:spPr>
          <a:xfrm>
            <a:off x="9127045" y="3931367"/>
            <a:ext cx="2446020" cy="60642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84785" marR="5080" indent="-172720" algn="just">
              <a:lnSpc>
                <a:spcPct val="99600"/>
              </a:lnSpc>
              <a:spcBef>
                <a:spcPts val="10"/>
              </a:spcBef>
            </a:pPr>
            <a:r>
              <a:rPr sz="1500" spc="20" dirty="0">
                <a:solidFill>
                  <a:srgbClr val="FFFFFF"/>
                </a:solidFill>
                <a:latin typeface="Courier New"/>
                <a:cs typeface="Courier New"/>
              </a:rPr>
              <a:t>o</a:t>
            </a:r>
            <a:r>
              <a:rPr sz="1500" spc="-47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400" b="1" spc="-35" dirty="0">
                <a:solidFill>
                  <a:srgbClr val="FFC000"/>
                </a:solidFill>
                <a:latin typeface="맑은 고딕"/>
                <a:cs typeface="맑은 고딕"/>
              </a:rPr>
              <a:t>HDFS</a:t>
            </a:r>
            <a:r>
              <a:rPr sz="1400" b="1" spc="-130" dirty="0">
                <a:solidFill>
                  <a:srgbClr val="FFC000"/>
                </a:solidFill>
                <a:latin typeface="맑은 고딕"/>
                <a:cs typeface="맑은 고딕"/>
              </a:rPr>
              <a:t> </a:t>
            </a:r>
            <a:r>
              <a:rPr sz="1400" b="1" spc="-90" dirty="0">
                <a:solidFill>
                  <a:srgbClr val="FFC000"/>
                </a:solidFill>
                <a:latin typeface="맑은 고딕"/>
                <a:cs typeface="맑은 고딕"/>
              </a:rPr>
              <a:t>/</a:t>
            </a:r>
            <a:r>
              <a:rPr sz="1400" b="1" spc="-110" dirty="0">
                <a:solidFill>
                  <a:srgbClr val="FFC000"/>
                </a:solidFill>
                <a:latin typeface="맑은 고딕"/>
                <a:cs typeface="맑은 고딕"/>
              </a:rPr>
              <a:t> </a:t>
            </a:r>
            <a:r>
              <a:rPr sz="1400" b="1" spc="-10" dirty="0">
                <a:solidFill>
                  <a:srgbClr val="FFC000"/>
                </a:solidFill>
                <a:latin typeface="맑은 고딕"/>
                <a:cs typeface="맑은 고딕"/>
              </a:rPr>
              <a:t>Ob</a:t>
            </a:r>
            <a:r>
              <a:rPr sz="1400" b="1" spc="-15" dirty="0">
                <a:solidFill>
                  <a:srgbClr val="FFC000"/>
                </a:solidFill>
                <a:latin typeface="맑은 고딕"/>
                <a:cs typeface="맑은 고딕"/>
              </a:rPr>
              <a:t>j</a:t>
            </a:r>
            <a:r>
              <a:rPr sz="1400" b="1" spc="-5" dirty="0">
                <a:solidFill>
                  <a:srgbClr val="FFC000"/>
                </a:solidFill>
                <a:latin typeface="맑은 고딕"/>
                <a:cs typeface="맑은 고딕"/>
              </a:rPr>
              <a:t>e</a:t>
            </a:r>
            <a:r>
              <a:rPr sz="1400" b="1" dirty="0">
                <a:solidFill>
                  <a:srgbClr val="FFC000"/>
                </a:solidFill>
                <a:latin typeface="맑은 고딕"/>
                <a:cs typeface="맑은 고딕"/>
              </a:rPr>
              <a:t>c</a:t>
            </a:r>
            <a:r>
              <a:rPr sz="1400" b="1" spc="-30" dirty="0">
                <a:solidFill>
                  <a:srgbClr val="FFC000"/>
                </a:solidFill>
                <a:latin typeface="맑은 고딕"/>
                <a:cs typeface="맑은 고딕"/>
              </a:rPr>
              <a:t>t</a:t>
            </a:r>
            <a:r>
              <a:rPr sz="1400" b="1" spc="-130" dirty="0">
                <a:solidFill>
                  <a:srgbClr val="FFC000"/>
                </a:solidFill>
                <a:latin typeface="맑은 고딕"/>
                <a:cs typeface="맑은 고딕"/>
              </a:rPr>
              <a:t> </a:t>
            </a:r>
            <a:r>
              <a:rPr sz="1400" b="1" spc="-35" dirty="0">
                <a:solidFill>
                  <a:srgbClr val="FFC000"/>
                </a:solidFill>
                <a:latin typeface="맑은 고딕"/>
                <a:cs typeface="맑은 고딕"/>
              </a:rPr>
              <a:t>Stor</a:t>
            </a:r>
            <a:r>
              <a:rPr sz="1400" b="1" dirty="0">
                <a:solidFill>
                  <a:srgbClr val="FFC000"/>
                </a:solidFill>
                <a:latin typeface="맑은 고딕"/>
                <a:cs typeface="맑은 고딕"/>
              </a:rPr>
              <a:t>e</a:t>
            </a:r>
            <a:r>
              <a:rPr sz="1200" b="1" spc="-75" dirty="0">
                <a:solidFill>
                  <a:srgbClr val="FFFFFF"/>
                </a:solidFill>
                <a:latin typeface="맑은 고딕"/>
                <a:cs typeface="맑은 고딕"/>
              </a:rPr>
              <a:t>에 </a:t>
            </a:r>
            <a:r>
              <a:rPr sz="1200" b="1" spc="-65" dirty="0">
                <a:solidFill>
                  <a:srgbClr val="FFFFFF"/>
                </a:solidFill>
                <a:latin typeface="맑은 고딕"/>
                <a:cs typeface="맑은 고딕"/>
              </a:rPr>
              <a:t>저장된  다양한</a:t>
            </a:r>
            <a:r>
              <a:rPr sz="1200" b="1" spc="-10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-75" dirty="0">
                <a:solidFill>
                  <a:srgbClr val="FFFFFF"/>
                </a:solidFill>
                <a:latin typeface="맑은 고딕"/>
                <a:cs typeface="맑은 고딕"/>
              </a:rPr>
              <a:t>포맷</a:t>
            </a:r>
            <a:r>
              <a:rPr sz="1200" b="1" dirty="0">
                <a:solidFill>
                  <a:srgbClr val="FFFFFF"/>
                </a:solidFill>
                <a:latin typeface="맑은 고딕"/>
                <a:cs typeface="맑은 고딕"/>
              </a:rPr>
              <a:t>(</a:t>
            </a:r>
            <a:r>
              <a:rPr sz="1200" b="1" spc="-95" dirty="0">
                <a:solidFill>
                  <a:srgbClr val="FFFFFF"/>
                </a:solidFill>
                <a:latin typeface="맑은 고딕"/>
                <a:cs typeface="맑은 고딕"/>
              </a:rPr>
              <a:t>P</a:t>
            </a:r>
            <a:r>
              <a:rPr sz="1200" b="1" dirty="0">
                <a:solidFill>
                  <a:srgbClr val="FFFFFF"/>
                </a:solidFill>
                <a:latin typeface="맑은 고딕"/>
                <a:cs typeface="맑은 고딕"/>
              </a:rPr>
              <a:t>a</a:t>
            </a:r>
            <a:r>
              <a:rPr sz="1200" b="1" spc="-45" dirty="0">
                <a:solidFill>
                  <a:srgbClr val="FFFFFF"/>
                </a:solidFill>
                <a:latin typeface="맑은 고딕"/>
                <a:cs typeface="맑은 고딕"/>
              </a:rPr>
              <a:t>r</a:t>
            </a:r>
            <a:r>
              <a:rPr sz="1200" b="1" spc="-25" dirty="0">
                <a:solidFill>
                  <a:srgbClr val="FFFFFF"/>
                </a:solidFill>
                <a:latin typeface="맑은 고딕"/>
                <a:cs typeface="맑은 고딕"/>
              </a:rPr>
              <a:t>q</a:t>
            </a:r>
            <a:r>
              <a:rPr sz="1200" b="1" spc="-5" dirty="0">
                <a:solidFill>
                  <a:srgbClr val="FFFFFF"/>
                </a:solidFill>
                <a:latin typeface="맑은 고딕"/>
                <a:cs typeface="맑은 고딕"/>
              </a:rPr>
              <a:t>u</a:t>
            </a:r>
            <a:r>
              <a:rPr sz="1200" b="1" spc="-10" dirty="0">
                <a:solidFill>
                  <a:srgbClr val="FFFFFF"/>
                </a:solidFill>
                <a:latin typeface="맑은 고딕"/>
                <a:cs typeface="맑은 고딕"/>
              </a:rPr>
              <a:t>e</a:t>
            </a:r>
            <a:r>
              <a:rPr sz="1200" b="1" spc="-30" dirty="0">
                <a:solidFill>
                  <a:srgbClr val="FFFFFF"/>
                </a:solidFill>
                <a:latin typeface="맑은 고딕"/>
                <a:cs typeface="맑은 고딕"/>
              </a:rPr>
              <a:t>t</a:t>
            </a:r>
            <a:r>
              <a:rPr sz="1200" b="1" spc="-114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-80" dirty="0">
                <a:solidFill>
                  <a:srgbClr val="FFFFFF"/>
                </a:solidFill>
                <a:latin typeface="맑은 고딕"/>
                <a:cs typeface="맑은 고딕"/>
              </a:rPr>
              <a:t>/</a:t>
            </a:r>
            <a:r>
              <a:rPr sz="1200" b="1" spc="-9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dirty="0">
                <a:solidFill>
                  <a:srgbClr val="FFFFFF"/>
                </a:solidFill>
                <a:latin typeface="맑은 고딕"/>
                <a:cs typeface="맑은 고딕"/>
              </a:rPr>
              <a:t>ORC</a:t>
            </a:r>
            <a:r>
              <a:rPr sz="1200" b="1" spc="-6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-75" dirty="0">
                <a:solidFill>
                  <a:srgbClr val="FFFFFF"/>
                </a:solidFill>
                <a:latin typeface="맑은 고딕"/>
                <a:cs typeface="맑은 고딕"/>
              </a:rPr>
              <a:t>등</a:t>
            </a:r>
            <a:r>
              <a:rPr sz="1200" b="1" spc="5" dirty="0">
                <a:solidFill>
                  <a:srgbClr val="FFFFFF"/>
                </a:solidFill>
                <a:latin typeface="맑은 고딕"/>
                <a:cs typeface="맑은 고딕"/>
              </a:rPr>
              <a:t>)</a:t>
            </a:r>
            <a:r>
              <a:rPr sz="1200" b="1" spc="-9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-45" dirty="0">
                <a:solidFill>
                  <a:srgbClr val="FFFFFF"/>
                </a:solidFill>
                <a:latin typeface="맑은 고딕"/>
                <a:cs typeface="맑은 고딕"/>
              </a:rPr>
              <a:t>의  </a:t>
            </a:r>
            <a:r>
              <a:rPr sz="1200" b="1" spc="-75" dirty="0">
                <a:solidFill>
                  <a:srgbClr val="FFFFFF"/>
                </a:solidFill>
                <a:latin typeface="맑은 고딕"/>
                <a:cs typeface="맑은 고딕"/>
              </a:rPr>
              <a:t>데이터</a:t>
            </a:r>
            <a:r>
              <a:rPr sz="1200" b="1" spc="-70" dirty="0">
                <a:solidFill>
                  <a:srgbClr val="FFFFFF"/>
                </a:solidFill>
                <a:latin typeface="맑은 고딕"/>
                <a:cs typeface="맑은 고딕"/>
              </a:rPr>
              <a:t>를</a:t>
            </a:r>
            <a:r>
              <a:rPr sz="1200" b="1" spc="-10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-75" dirty="0">
                <a:solidFill>
                  <a:srgbClr val="FFFFFF"/>
                </a:solidFill>
                <a:latin typeface="맑은 고딕"/>
                <a:cs typeface="맑은 고딕"/>
              </a:rPr>
              <a:t>직</a:t>
            </a:r>
            <a:r>
              <a:rPr sz="1200" b="1" spc="-70" dirty="0">
                <a:solidFill>
                  <a:srgbClr val="FFFFFF"/>
                </a:solidFill>
                <a:latin typeface="맑은 고딕"/>
                <a:cs typeface="맑은 고딕"/>
              </a:rPr>
              <a:t>접</a:t>
            </a:r>
            <a:r>
              <a:rPr sz="1200" b="1" spc="-9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-70" dirty="0">
                <a:solidFill>
                  <a:srgbClr val="FFFFFF"/>
                </a:solidFill>
                <a:latin typeface="맑은 고딕"/>
                <a:cs typeface="맑은 고딕"/>
              </a:rPr>
              <a:t>조회</a:t>
            </a:r>
            <a:endParaRPr sz="1200" dirty="0">
              <a:latin typeface="맑은 고딕"/>
              <a:cs typeface="맑은 고딕"/>
            </a:endParaRPr>
          </a:p>
        </p:txBody>
      </p:sp>
      <p:sp>
        <p:nvSpPr>
          <p:cNvPr id="19" name="object 16"/>
          <p:cNvSpPr txBox="1"/>
          <p:nvPr/>
        </p:nvSpPr>
        <p:spPr>
          <a:xfrm>
            <a:off x="9127045" y="4702893"/>
            <a:ext cx="2574290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45"/>
              </a:lnSpc>
            </a:pPr>
            <a:r>
              <a:rPr sz="1300" spc="10" dirty="0">
                <a:solidFill>
                  <a:schemeClr val="bg1"/>
                </a:solidFill>
                <a:latin typeface="Courier New"/>
                <a:cs typeface="Courier New"/>
              </a:rPr>
              <a:t>o</a:t>
            </a:r>
            <a:r>
              <a:rPr sz="1300" spc="-22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FFFFFF"/>
                </a:solidFill>
                <a:latin typeface="맑은 고딕"/>
                <a:cs typeface="맑은 고딕"/>
              </a:rPr>
              <a:t>DW</a:t>
            </a:r>
            <a:r>
              <a:rPr sz="1200" b="1" spc="-8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-75" dirty="0">
                <a:solidFill>
                  <a:srgbClr val="FFFFFF"/>
                </a:solidFill>
                <a:latin typeface="맑은 고딕"/>
                <a:cs typeface="맑은 고딕"/>
              </a:rPr>
              <a:t>데이터와</a:t>
            </a:r>
            <a:r>
              <a:rPr sz="1200" b="1" spc="-10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맑은 고딕"/>
                <a:cs typeface="맑은 고딕"/>
              </a:rPr>
              <a:t>D</a:t>
            </a:r>
            <a:r>
              <a:rPr sz="1200" b="1" dirty="0">
                <a:solidFill>
                  <a:srgbClr val="FFFFFF"/>
                </a:solidFill>
                <a:latin typeface="맑은 고딕"/>
                <a:cs typeface="맑은 고딕"/>
              </a:rPr>
              <a:t>a</a:t>
            </a:r>
            <a:r>
              <a:rPr sz="1200" b="1" spc="-35" dirty="0">
                <a:solidFill>
                  <a:srgbClr val="FFFFFF"/>
                </a:solidFill>
                <a:latin typeface="맑은 고딕"/>
                <a:cs typeface="맑은 고딕"/>
              </a:rPr>
              <a:t>t</a:t>
            </a:r>
            <a:r>
              <a:rPr sz="1200" b="1" dirty="0">
                <a:solidFill>
                  <a:srgbClr val="FFFFFF"/>
                </a:solidFill>
                <a:latin typeface="맑은 고딕"/>
                <a:cs typeface="맑은 고딕"/>
              </a:rPr>
              <a:t>a</a:t>
            </a:r>
            <a:r>
              <a:rPr sz="1200" b="1" spc="-9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-40" dirty="0">
                <a:solidFill>
                  <a:srgbClr val="FFFFFF"/>
                </a:solidFill>
                <a:latin typeface="맑은 고딕"/>
                <a:cs typeface="맑은 고딕"/>
              </a:rPr>
              <a:t>L</a:t>
            </a:r>
            <a:r>
              <a:rPr sz="1200" b="1" dirty="0">
                <a:solidFill>
                  <a:srgbClr val="FFFFFF"/>
                </a:solidFill>
                <a:latin typeface="맑은 고딕"/>
                <a:cs typeface="맑은 고딕"/>
              </a:rPr>
              <a:t>a</a:t>
            </a:r>
            <a:r>
              <a:rPr sz="1200" b="1" spc="-25" dirty="0">
                <a:solidFill>
                  <a:srgbClr val="FFFFFF"/>
                </a:solidFill>
                <a:latin typeface="맑은 고딕"/>
                <a:cs typeface="맑은 고딕"/>
              </a:rPr>
              <a:t>k</a:t>
            </a:r>
            <a:r>
              <a:rPr sz="1200" b="1" spc="-15" dirty="0">
                <a:solidFill>
                  <a:srgbClr val="FFFFFF"/>
                </a:solidFill>
                <a:latin typeface="맑은 고딕"/>
                <a:cs typeface="맑은 고딕"/>
              </a:rPr>
              <a:t>e</a:t>
            </a:r>
            <a:r>
              <a:rPr sz="1200" b="1" spc="-75" dirty="0">
                <a:solidFill>
                  <a:srgbClr val="FFFFFF"/>
                </a:solidFill>
                <a:latin typeface="맑은 고딕"/>
                <a:cs typeface="맑은 고딕"/>
              </a:rPr>
              <a:t>에</a:t>
            </a:r>
            <a:r>
              <a:rPr sz="1200" b="1" spc="-11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-75" dirty="0">
                <a:solidFill>
                  <a:srgbClr val="FFFFFF"/>
                </a:solidFill>
                <a:latin typeface="맑은 고딕"/>
                <a:cs typeface="맑은 고딕"/>
              </a:rPr>
              <a:t>존재하는</a:t>
            </a:r>
            <a:endParaRPr sz="1200" dirty="0">
              <a:latin typeface="맑은 고딕"/>
              <a:cs typeface="맑은 고딕"/>
            </a:endParaRPr>
          </a:p>
          <a:p>
            <a:pPr marL="184785">
              <a:lnSpc>
                <a:spcPts val="1664"/>
              </a:lnSpc>
            </a:pPr>
            <a:r>
              <a:rPr sz="1400" b="1" spc="-85" dirty="0">
                <a:solidFill>
                  <a:srgbClr val="FFC000"/>
                </a:solidFill>
                <a:latin typeface="맑은 고딕"/>
                <a:cs typeface="맑은 고딕"/>
              </a:rPr>
              <a:t>데이터</a:t>
            </a:r>
            <a:r>
              <a:rPr sz="1400" b="1" spc="-135" dirty="0">
                <a:solidFill>
                  <a:srgbClr val="FFC000"/>
                </a:solidFill>
                <a:latin typeface="맑은 고딕"/>
                <a:cs typeface="맑은 고딕"/>
              </a:rPr>
              <a:t> </a:t>
            </a:r>
            <a:r>
              <a:rPr sz="1400" b="1" spc="-85" dirty="0">
                <a:solidFill>
                  <a:srgbClr val="FFC000"/>
                </a:solidFill>
                <a:latin typeface="맑은 고딕"/>
                <a:cs typeface="맑은 고딕"/>
              </a:rPr>
              <a:t>연계</a:t>
            </a:r>
            <a:r>
              <a:rPr sz="1400" b="1" spc="-120" dirty="0">
                <a:solidFill>
                  <a:srgbClr val="FFC000"/>
                </a:solidFill>
                <a:latin typeface="맑은 고딕"/>
                <a:cs typeface="맑은 고딕"/>
              </a:rPr>
              <a:t> </a:t>
            </a:r>
            <a:r>
              <a:rPr sz="1400" b="1" spc="-85" dirty="0">
                <a:solidFill>
                  <a:srgbClr val="FFC000"/>
                </a:solidFill>
                <a:latin typeface="맑은 고딕"/>
                <a:cs typeface="맑은 고딕"/>
              </a:rPr>
              <a:t>분</a:t>
            </a:r>
            <a:r>
              <a:rPr sz="1400" b="1" spc="-90" dirty="0">
                <a:solidFill>
                  <a:srgbClr val="FFC000"/>
                </a:solidFill>
                <a:latin typeface="맑은 고딕"/>
                <a:cs typeface="맑은 고딕"/>
              </a:rPr>
              <a:t>석</a:t>
            </a:r>
            <a:r>
              <a:rPr sz="1200" b="1" dirty="0">
                <a:solidFill>
                  <a:srgbClr val="FFFFFF"/>
                </a:solidFill>
                <a:latin typeface="맑은 고딕"/>
                <a:cs typeface="맑은 고딕"/>
              </a:rPr>
              <a:t>(</a:t>
            </a:r>
            <a:r>
              <a:rPr sz="1200" b="1" spc="-90" dirty="0">
                <a:solidFill>
                  <a:srgbClr val="FFFFFF"/>
                </a:solidFill>
                <a:latin typeface="맑은 고딕"/>
                <a:cs typeface="맑은 고딕"/>
              </a:rPr>
              <a:t>J</a:t>
            </a:r>
            <a:r>
              <a:rPr sz="1200" b="1" spc="-20" dirty="0">
                <a:solidFill>
                  <a:srgbClr val="FFFFFF"/>
                </a:solidFill>
                <a:latin typeface="맑은 고딕"/>
                <a:cs typeface="맑은 고딕"/>
              </a:rPr>
              <a:t>o</a:t>
            </a:r>
            <a:r>
              <a:rPr sz="1200" b="1" spc="-25" dirty="0">
                <a:solidFill>
                  <a:srgbClr val="FFFFFF"/>
                </a:solidFill>
                <a:latin typeface="맑은 고딕"/>
                <a:cs typeface="맑은 고딕"/>
              </a:rPr>
              <a:t>in</a:t>
            </a:r>
            <a:r>
              <a:rPr sz="1200" b="1" spc="-9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-75" dirty="0">
                <a:solidFill>
                  <a:srgbClr val="FFFFFF"/>
                </a:solidFill>
                <a:latin typeface="맑은 고딕"/>
                <a:cs typeface="맑은 고딕"/>
              </a:rPr>
              <a:t>처리</a:t>
            </a:r>
            <a:r>
              <a:rPr sz="1200" b="1" spc="5" dirty="0">
                <a:solidFill>
                  <a:srgbClr val="FFFFFF"/>
                </a:solidFill>
                <a:latin typeface="맑은 고딕"/>
                <a:cs typeface="맑은 고딕"/>
              </a:rPr>
              <a:t>)</a:t>
            </a:r>
            <a:r>
              <a:rPr sz="1200" b="1" spc="-9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-75" dirty="0">
                <a:solidFill>
                  <a:srgbClr val="FFFFFF"/>
                </a:solidFill>
                <a:latin typeface="맑은 고딕"/>
                <a:cs typeface="맑은 고딕"/>
              </a:rPr>
              <a:t>지원</a:t>
            </a:r>
            <a:endParaRPr sz="1200" dirty="0">
              <a:latin typeface="맑은 고딕"/>
              <a:cs typeface="맑은 고딕"/>
            </a:endParaRPr>
          </a:p>
        </p:txBody>
      </p:sp>
      <p:sp>
        <p:nvSpPr>
          <p:cNvPr id="20" name="object 17"/>
          <p:cNvSpPr txBox="1"/>
          <p:nvPr/>
        </p:nvSpPr>
        <p:spPr>
          <a:xfrm>
            <a:off x="9127045" y="5289632"/>
            <a:ext cx="2149475" cy="7880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84785" marR="5080" indent="-172720">
              <a:lnSpc>
                <a:spcPct val="99600"/>
              </a:lnSpc>
              <a:spcBef>
                <a:spcPts val="5"/>
              </a:spcBef>
            </a:pPr>
            <a:r>
              <a:rPr sz="1300" spc="10" dirty="0">
                <a:solidFill>
                  <a:schemeClr val="bg1"/>
                </a:solidFill>
                <a:latin typeface="Courier New"/>
                <a:cs typeface="Courier New"/>
              </a:rPr>
              <a:t>o</a:t>
            </a:r>
            <a:r>
              <a:rPr sz="1300" spc="-22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200" b="1" spc="25" dirty="0">
                <a:solidFill>
                  <a:srgbClr val="FFFFFF"/>
                </a:solidFill>
                <a:latin typeface="맑은 고딕"/>
                <a:cs typeface="맑은 고딕"/>
              </a:rPr>
              <a:t>A</a:t>
            </a:r>
            <a:r>
              <a:rPr sz="1200" b="1" spc="-40" dirty="0">
                <a:solidFill>
                  <a:srgbClr val="FFFFFF"/>
                </a:solidFill>
                <a:latin typeface="맑은 고딕"/>
                <a:cs typeface="맑은 고딕"/>
              </a:rPr>
              <a:t>R</a:t>
            </a:r>
            <a:r>
              <a:rPr sz="1200" b="1" spc="-45" dirty="0">
                <a:solidFill>
                  <a:srgbClr val="FFFFFF"/>
                </a:solidFill>
                <a:latin typeface="맑은 고딕"/>
                <a:cs typeface="맑은 고딕"/>
              </a:rPr>
              <a:t>R</a:t>
            </a:r>
            <a:r>
              <a:rPr sz="1200" b="1" spc="-105" dirty="0">
                <a:solidFill>
                  <a:srgbClr val="FFFFFF"/>
                </a:solidFill>
                <a:latin typeface="맑은 고딕"/>
                <a:cs typeface="맑은 고딕"/>
              </a:rPr>
              <a:t>A</a:t>
            </a:r>
            <a:r>
              <a:rPr sz="1200" b="1" spc="70" dirty="0">
                <a:solidFill>
                  <a:srgbClr val="FFFFFF"/>
                </a:solidFill>
                <a:latin typeface="맑은 고딕"/>
                <a:cs typeface="맑은 고딕"/>
              </a:rPr>
              <a:t>Y</a:t>
            </a:r>
            <a:r>
              <a:rPr sz="1200" b="1" spc="-8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-80" dirty="0">
                <a:solidFill>
                  <a:srgbClr val="FFFFFF"/>
                </a:solidFill>
                <a:latin typeface="맑은 고딕"/>
                <a:cs typeface="맑은 고딕"/>
              </a:rPr>
              <a:t>/</a:t>
            </a:r>
            <a:r>
              <a:rPr sz="1200" b="1" spc="-8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15" dirty="0">
                <a:solidFill>
                  <a:srgbClr val="FFFFFF"/>
                </a:solidFill>
                <a:latin typeface="맑은 고딕"/>
                <a:cs typeface="맑은 고딕"/>
              </a:rPr>
              <a:t>MA</a:t>
            </a:r>
            <a:r>
              <a:rPr sz="1200" b="1" spc="-50" dirty="0">
                <a:solidFill>
                  <a:srgbClr val="FFFFFF"/>
                </a:solidFill>
                <a:latin typeface="맑은 고딕"/>
                <a:cs typeface="맑은 고딕"/>
              </a:rPr>
              <a:t>P</a:t>
            </a:r>
            <a:r>
              <a:rPr sz="1200" b="1" spc="-9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-80" dirty="0">
                <a:solidFill>
                  <a:srgbClr val="FFFFFF"/>
                </a:solidFill>
                <a:latin typeface="맑은 고딕"/>
                <a:cs typeface="맑은 고딕"/>
              </a:rPr>
              <a:t>/</a:t>
            </a:r>
            <a:r>
              <a:rPr sz="1200" b="1" spc="-8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-30" dirty="0">
                <a:solidFill>
                  <a:srgbClr val="FFFFFF"/>
                </a:solidFill>
                <a:latin typeface="맑은 고딕"/>
                <a:cs typeface="맑은 고딕"/>
              </a:rPr>
              <a:t>S</a:t>
            </a:r>
            <a:r>
              <a:rPr sz="1200" b="1" spc="-45" dirty="0">
                <a:solidFill>
                  <a:srgbClr val="FFFFFF"/>
                </a:solidFill>
                <a:latin typeface="맑은 고딕"/>
                <a:cs typeface="맑은 고딕"/>
              </a:rPr>
              <a:t>T</a:t>
            </a:r>
            <a:r>
              <a:rPr sz="1200" b="1" spc="-15" dirty="0">
                <a:solidFill>
                  <a:srgbClr val="FFFFFF"/>
                </a:solidFill>
                <a:latin typeface="맑은 고딕"/>
                <a:cs typeface="맑은 고딕"/>
              </a:rPr>
              <a:t>RUCT</a:t>
            </a:r>
            <a:r>
              <a:rPr sz="1200" b="1" spc="-9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-60" dirty="0">
                <a:solidFill>
                  <a:srgbClr val="FFFFFF"/>
                </a:solidFill>
                <a:latin typeface="맑은 고딕"/>
                <a:cs typeface="맑은 고딕"/>
              </a:rPr>
              <a:t>등  오픈소스</a:t>
            </a:r>
            <a:r>
              <a:rPr sz="1200" b="1" spc="-10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-75" dirty="0">
                <a:solidFill>
                  <a:srgbClr val="FFFFFF"/>
                </a:solidFill>
                <a:latin typeface="맑은 고딕"/>
                <a:cs typeface="맑은 고딕"/>
              </a:rPr>
              <a:t>파일에서</a:t>
            </a:r>
            <a:r>
              <a:rPr sz="1200" b="1" spc="-10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-60" dirty="0">
                <a:solidFill>
                  <a:srgbClr val="FFFFFF"/>
                </a:solidFill>
                <a:latin typeface="맑은 고딕"/>
                <a:cs typeface="맑은 고딕"/>
              </a:rPr>
              <a:t>빈번하게  </a:t>
            </a:r>
            <a:r>
              <a:rPr sz="1200" b="1" spc="-75" dirty="0">
                <a:solidFill>
                  <a:srgbClr val="FFFFFF"/>
                </a:solidFill>
                <a:latin typeface="맑은 고딕"/>
                <a:cs typeface="맑은 고딕"/>
              </a:rPr>
              <a:t>활용되</a:t>
            </a:r>
            <a:r>
              <a:rPr sz="1200" b="1" spc="-70" dirty="0">
                <a:solidFill>
                  <a:srgbClr val="FFFFFF"/>
                </a:solidFill>
                <a:latin typeface="맑은 고딕"/>
                <a:cs typeface="맑은 고딕"/>
              </a:rPr>
              <a:t>는</a:t>
            </a:r>
            <a:r>
              <a:rPr sz="1200" b="1" spc="-105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400" b="1" spc="-15" dirty="0">
                <a:solidFill>
                  <a:srgbClr val="FFC000"/>
                </a:solidFill>
                <a:latin typeface="맑은 고딕"/>
                <a:cs typeface="맑은 고딕"/>
              </a:rPr>
              <a:t>Compl</a:t>
            </a:r>
            <a:r>
              <a:rPr sz="1400" b="1" spc="-20" dirty="0">
                <a:solidFill>
                  <a:srgbClr val="FFC000"/>
                </a:solidFill>
                <a:latin typeface="맑은 고딕"/>
                <a:cs typeface="맑은 고딕"/>
              </a:rPr>
              <a:t>ex</a:t>
            </a:r>
            <a:r>
              <a:rPr sz="1400" b="1" spc="-130" dirty="0">
                <a:solidFill>
                  <a:srgbClr val="FFC000"/>
                </a:solidFill>
                <a:latin typeface="맑은 고딕"/>
                <a:cs typeface="맑은 고딕"/>
              </a:rPr>
              <a:t> </a:t>
            </a:r>
            <a:r>
              <a:rPr sz="1400" b="1" spc="-135" dirty="0">
                <a:solidFill>
                  <a:srgbClr val="FFC000"/>
                </a:solidFill>
                <a:latin typeface="맑은 고딕"/>
                <a:cs typeface="맑은 고딕"/>
              </a:rPr>
              <a:t>T</a:t>
            </a:r>
            <a:r>
              <a:rPr sz="1400" b="1" spc="-105" dirty="0">
                <a:solidFill>
                  <a:srgbClr val="FFC000"/>
                </a:solidFill>
                <a:latin typeface="맑은 고딕"/>
                <a:cs typeface="맑은 고딕"/>
              </a:rPr>
              <a:t>y</a:t>
            </a:r>
            <a:r>
              <a:rPr sz="1400" b="1" spc="-15" dirty="0">
                <a:solidFill>
                  <a:srgbClr val="FFC000"/>
                </a:solidFill>
                <a:latin typeface="맑은 고딕"/>
                <a:cs typeface="맑은 고딕"/>
              </a:rPr>
              <a:t>pe</a:t>
            </a:r>
            <a:r>
              <a:rPr sz="1400" b="1" spc="-155" dirty="0">
                <a:solidFill>
                  <a:srgbClr val="FFC000"/>
                </a:solidFill>
                <a:latin typeface="맑은 고딕"/>
                <a:cs typeface="맑은 고딕"/>
              </a:rPr>
              <a:t> </a:t>
            </a:r>
            <a:r>
              <a:rPr sz="1200" b="1" spc="-40" dirty="0">
                <a:solidFill>
                  <a:srgbClr val="FFFFFF"/>
                </a:solidFill>
                <a:latin typeface="맑은 고딕"/>
                <a:cs typeface="맑은 고딕"/>
              </a:rPr>
              <a:t>을  </a:t>
            </a:r>
            <a:r>
              <a:rPr sz="1200" b="1" spc="-75" dirty="0">
                <a:solidFill>
                  <a:srgbClr val="FFFFFF"/>
                </a:solidFill>
                <a:latin typeface="맑은 고딕"/>
                <a:cs typeface="맑은 고딕"/>
              </a:rPr>
              <a:t>완벽하게</a:t>
            </a:r>
            <a:r>
              <a:rPr sz="1200" b="1" spc="-100" dirty="0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sz="1200" b="1" spc="-75" dirty="0">
                <a:solidFill>
                  <a:srgbClr val="FFFFFF"/>
                </a:solidFill>
                <a:latin typeface="맑은 고딕"/>
                <a:cs typeface="맑은 고딕"/>
              </a:rPr>
              <a:t>지원</a:t>
            </a:r>
            <a:endParaRPr sz="1200" dirty="0">
              <a:latin typeface="맑은 고딕"/>
              <a:cs typeface="맑은 고딕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10292190" y="6357302"/>
            <a:ext cx="278505" cy="274324"/>
          </a:xfrm>
        </p:spPr>
        <p:txBody>
          <a:bodyPr/>
          <a:lstStyle/>
          <a:p>
            <a:fld id="{AFA02C0B-84B5-4CD2-A6CE-C6BD7D6F9045}" type="slidenum">
              <a:rPr lang="ko-KR" altLang="en-US" smtClean="0">
                <a:solidFill>
                  <a:schemeClr val="tx1"/>
                </a:solidFill>
              </a:rPr>
              <a:t>3</a:t>
            </a:fld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1385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VERTICA 5</a:t>
            </a:r>
            <a:r>
              <a:rPr lang="ko-KR" altLang="en-US" dirty="0">
                <a:latin typeface="+mj-ea"/>
                <a:ea typeface="+mj-ea"/>
              </a:rPr>
              <a:t>대 기술 요소</a:t>
            </a:r>
          </a:p>
        </p:txBody>
      </p:sp>
      <p:graphicFrame>
        <p:nvGraphicFramePr>
          <p:cNvPr id="3" name="Table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9219996"/>
              </p:ext>
            </p:extLst>
          </p:nvPr>
        </p:nvGraphicFramePr>
        <p:xfrm>
          <a:off x="1233734" y="1807926"/>
          <a:ext cx="189454" cy="13109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945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230756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4069" marR="64069" marT="32034" marB="32034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30756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4069" marR="64069" marT="32034" marB="32034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30756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4069" marR="64069" marT="32034" marB="32034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30756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4069" marR="64069" marT="32034" marB="32034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30756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4069" marR="64069" marT="32034" marB="32034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Table 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283223"/>
              </p:ext>
            </p:extLst>
          </p:nvPr>
        </p:nvGraphicFramePr>
        <p:xfrm>
          <a:off x="1516178" y="1807926"/>
          <a:ext cx="189454" cy="1310940"/>
        </p:xfrm>
        <a:graphic>
          <a:graphicData uri="http://schemas.openxmlformats.org/drawingml/2006/table">
            <a:tbl>
              <a:tblPr bandRow="1">
                <a:tableStyleId>{93296810-A885-4BE3-A3E7-6D5BEEA58F35}</a:tableStyleId>
              </a:tblPr>
              <a:tblGrid>
                <a:gridCol w="18945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230756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4069" marR="64069" marT="32034" marB="32034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30756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4069" marR="64069" marT="32034" marB="32034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30756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4069" marR="64069" marT="32034" marB="32034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30756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4069" marR="64069" marT="32034" marB="32034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30756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4069" marR="64069" marT="32034" marB="32034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Table 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73232"/>
              </p:ext>
            </p:extLst>
          </p:nvPr>
        </p:nvGraphicFramePr>
        <p:xfrm>
          <a:off x="1798623" y="1807926"/>
          <a:ext cx="189454" cy="1310940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18945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230756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4069" marR="64069" marT="32034" marB="32034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30756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4069" marR="64069" marT="32034" marB="32034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30756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4069" marR="64069" marT="32034" marB="32034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30756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4069" marR="64069" marT="32034" marB="32034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30756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4069" marR="64069" marT="32034" marB="32034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Table 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1955076"/>
              </p:ext>
            </p:extLst>
          </p:nvPr>
        </p:nvGraphicFramePr>
        <p:xfrm>
          <a:off x="2081069" y="1807926"/>
          <a:ext cx="189454" cy="1310940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18945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230756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4069" marR="64069" marT="32034" marB="32034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30756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4069" marR="64069" marT="32034" marB="32034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30756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4069" marR="64069" marT="32034" marB="32034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30756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4069" marR="64069" marT="32034" marB="32034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30756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4069" marR="64069" marT="32034" marB="32034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Table 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517400"/>
              </p:ext>
            </p:extLst>
          </p:nvPr>
        </p:nvGraphicFramePr>
        <p:xfrm>
          <a:off x="2363204" y="1807732"/>
          <a:ext cx="188434" cy="1309220"/>
        </p:xfrm>
        <a:graphic>
          <a:graphicData uri="http://schemas.openxmlformats.org/drawingml/2006/table">
            <a:tbl>
              <a:tblPr bandRow="1">
                <a:tableStyleId>{93296810-A885-4BE3-A3E7-6D5BEEA58F35}</a:tableStyleId>
              </a:tblPr>
              <a:tblGrid>
                <a:gridCol w="18843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230453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3724" marR="63724" marT="31862" marB="31862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30453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3724" marR="63724" marT="31862" marB="31862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30453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3724" marR="63724" marT="31862" marB="31862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30453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3724" marR="63724" marT="31862" marB="31862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30453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3724" marR="63724" marT="31862" marB="31862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8" name="Straight Arrow Connector 96"/>
          <p:cNvCxnSpPr/>
          <p:nvPr/>
        </p:nvCxnSpPr>
        <p:spPr>
          <a:xfrm flipH="1">
            <a:off x="1324988" y="1888595"/>
            <a:ext cx="2" cy="1086974"/>
          </a:xfrm>
          <a:prstGeom prst="straightConnector1">
            <a:avLst/>
          </a:prstGeom>
          <a:ln w="1270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그룹 8"/>
          <p:cNvGrpSpPr/>
          <p:nvPr/>
        </p:nvGrpSpPr>
        <p:grpSpPr>
          <a:xfrm>
            <a:off x="9639755" y="1888397"/>
            <a:ext cx="1456918" cy="1144422"/>
            <a:chOff x="8060037" y="1837974"/>
            <a:chExt cx="1456918" cy="1305922"/>
          </a:xfrm>
        </p:grpSpPr>
        <p:sp>
          <p:nvSpPr>
            <p:cNvPr id="10" name="Rectangle 61"/>
            <p:cNvSpPr/>
            <p:nvPr/>
          </p:nvSpPr>
          <p:spPr>
            <a:xfrm>
              <a:off x="8131343" y="1837975"/>
              <a:ext cx="162152" cy="13059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7" dirty="0"/>
            </a:p>
          </p:txBody>
        </p:sp>
        <p:sp>
          <p:nvSpPr>
            <p:cNvPr id="11" name="Rectangle 62"/>
            <p:cNvSpPr/>
            <p:nvPr/>
          </p:nvSpPr>
          <p:spPr>
            <a:xfrm>
              <a:off x="8318832" y="1837975"/>
              <a:ext cx="162152" cy="130592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7" dirty="0"/>
            </a:p>
          </p:txBody>
        </p:sp>
        <p:sp>
          <p:nvSpPr>
            <p:cNvPr id="12" name="Rectangle 63"/>
            <p:cNvSpPr/>
            <p:nvPr/>
          </p:nvSpPr>
          <p:spPr>
            <a:xfrm>
              <a:off x="8506320" y="1837975"/>
              <a:ext cx="162152" cy="1305921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7" dirty="0"/>
            </a:p>
          </p:txBody>
        </p:sp>
        <p:sp>
          <p:nvSpPr>
            <p:cNvPr id="13" name="Rectangle 64"/>
            <p:cNvSpPr/>
            <p:nvPr/>
          </p:nvSpPr>
          <p:spPr>
            <a:xfrm>
              <a:off x="8901566" y="1837974"/>
              <a:ext cx="162152" cy="13059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7" dirty="0"/>
            </a:p>
          </p:txBody>
        </p:sp>
        <p:sp>
          <p:nvSpPr>
            <p:cNvPr id="14" name="Rectangle 65"/>
            <p:cNvSpPr/>
            <p:nvPr/>
          </p:nvSpPr>
          <p:spPr>
            <a:xfrm>
              <a:off x="9089054" y="1837974"/>
              <a:ext cx="162152" cy="130592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7" dirty="0"/>
            </a:p>
          </p:txBody>
        </p:sp>
        <p:sp>
          <p:nvSpPr>
            <p:cNvPr id="15" name="Rectangle 66"/>
            <p:cNvSpPr/>
            <p:nvPr/>
          </p:nvSpPr>
          <p:spPr>
            <a:xfrm>
              <a:off x="9276542" y="1837974"/>
              <a:ext cx="162152" cy="1305921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7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060037" y="1837975"/>
              <a:ext cx="303288" cy="351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573588">
                <a:spcAft>
                  <a:spcPts val="533"/>
                </a:spcAft>
                <a:buSzPct val="100000"/>
              </a:pPr>
              <a:r>
                <a:rPr lang="en-US" sz="1400" dirty="0"/>
                <a:t>A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254252" y="1837975"/>
              <a:ext cx="288862" cy="351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573588">
                <a:spcAft>
                  <a:spcPts val="533"/>
                </a:spcAft>
                <a:buSzPct val="100000"/>
              </a:pPr>
              <a:r>
                <a:rPr lang="en-US" sz="1400" dirty="0"/>
                <a:t>B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443446" y="1837975"/>
              <a:ext cx="312906" cy="351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573588">
                <a:spcAft>
                  <a:spcPts val="533"/>
                </a:spcAft>
                <a:buSzPct val="100000"/>
              </a:pPr>
              <a:r>
                <a:rPr lang="en-US" sz="1400" dirty="0"/>
                <a:t>D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830260" y="1837975"/>
              <a:ext cx="298480" cy="351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573588">
                <a:spcAft>
                  <a:spcPts val="533"/>
                </a:spcAft>
                <a:buSzPct val="100000"/>
              </a:pPr>
              <a:r>
                <a:rPr lang="en-US" sz="1400" dirty="0"/>
                <a:t>C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024472" y="1837975"/>
              <a:ext cx="277640" cy="351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573588">
                <a:spcAft>
                  <a:spcPts val="533"/>
                </a:spcAft>
                <a:buSzPct val="100000"/>
              </a:pPr>
              <a:r>
                <a:rPr lang="en-US" sz="1400" dirty="0"/>
                <a:t>E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213667" y="1837977"/>
              <a:ext cx="303288" cy="351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573588">
                <a:spcAft>
                  <a:spcPts val="533"/>
                </a:spcAft>
                <a:buSzPct val="100000"/>
              </a:pPr>
              <a:r>
                <a:rPr lang="en-US" sz="1400" dirty="0"/>
                <a:t>A</a:t>
              </a:r>
            </a:p>
          </p:txBody>
        </p:sp>
        <p:cxnSp>
          <p:nvCxnSpPr>
            <p:cNvPr id="22" name="Straight Arrow Connector 73"/>
            <p:cNvCxnSpPr/>
            <p:nvPr/>
          </p:nvCxnSpPr>
          <p:spPr>
            <a:xfrm flipH="1">
              <a:off x="8203826" y="2288428"/>
              <a:ext cx="929" cy="699205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74"/>
            <p:cNvCxnSpPr/>
            <p:nvPr/>
          </p:nvCxnSpPr>
          <p:spPr>
            <a:xfrm>
              <a:off x="8972531" y="2300039"/>
              <a:ext cx="0" cy="622255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75"/>
            <p:cNvCxnSpPr/>
            <p:nvPr/>
          </p:nvCxnSpPr>
          <p:spPr>
            <a:xfrm flipV="1">
              <a:off x="8396835" y="2304642"/>
              <a:ext cx="0" cy="622255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76"/>
          <p:cNvGrpSpPr>
            <a:grpSpLocks noChangeAspect="1"/>
          </p:cNvGrpSpPr>
          <p:nvPr/>
        </p:nvGrpSpPr>
        <p:grpSpPr>
          <a:xfrm>
            <a:off x="5432651" y="1946911"/>
            <a:ext cx="1225007" cy="1129548"/>
            <a:chOff x="1392799" y="8552193"/>
            <a:chExt cx="285312" cy="263081"/>
          </a:xfrm>
          <a:solidFill>
            <a:srgbClr val="0078EF"/>
          </a:solidFill>
        </p:grpSpPr>
        <p:sp>
          <p:nvSpPr>
            <p:cNvPr id="26" name="Freeform 119"/>
            <p:cNvSpPr>
              <a:spLocks noChangeArrowheads="1"/>
            </p:cNvSpPr>
            <p:nvPr/>
          </p:nvSpPr>
          <p:spPr bwMode="auto">
            <a:xfrm>
              <a:off x="1392799" y="8642980"/>
              <a:ext cx="83370" cy="83372"/>
            </a:xfrm>
            <a:custGeom>
              <a:avLst/>
              <a:gdLst>
                <a:gd name="T0" fmla="*/ 100 w 200"/>
                <a:gd name="T1" fmla="*/ 199 h 200"/>
                <a:gd name="T2" fmla="*/ 100 w 200"/>
                <a:gd name="T3" fmla="*/ 199 h 200"/>
                <a:gd name="T4" fmla="*/ 0 w 200"/>
                <a:gd name="T5" fmla="*/ 100 h 200"/>
                <a:gd name="T6" fmla="*/ 100 w 200"/>
                <a:gd name="T7" fmla="*/ 0 h 200"/>
                <a:gd name="T8" fmla="*/ 199 w 200"/>
                <a:gd name="T9" fmla="*/ 100 h 200"/>
                <a:gd name="T10" fmla="*/ 100 w 200"/>
                <a:gd name="T11" fmla="*/ 19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0" h="200">
                  <a:moveTo>
                    <a:pt x="100" y="199"/>
                  </a:moveTo>
                  <a:lnTo>
                    <a:pt x="100" y="199"/>
                  </a:lnTo>
                  <a:cubicBezTo>
                    <a:pt x="45" y="199"/>
                    <a:pt x="0" y="154"/>
                    <a:pt x="0" y="100"/>
                  </a:cubicBezTo>
                  <a:cubicBezTo>
                    <a:pt x="0" y="45"/>
                    <a:pt x="45" y="0"/>
                    <a:pt x="100" y="0"/>
                  </a:cubicBezTo>
                  <a:cubicBezTo>
                    <a:pt x="154" y="0"/>
                    <a:pt x="199" y="45"/>
                    <a:pt x="199" y="100"/>
                  </a:cubicBezTo>
                  <a:cubicBezTo>
                    <a:pt x="199" y="154"/>
                    <a:pt x="154" y="199"/>
                    <a:pt x="100" y="199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125"/>
            </a:p>
          </p:txBody>
        </p:sp>
        <p:sp>
          <p:nvSpPr>
            <p:cNvPr id="27" name="Freeform 120"/>
            <p:cNvSpPr>
              <a:spLocks noChangeArrowheads="1"/>
            </p:cNvSpPr>
            <p:nvPr/>
          </p:nvSpPr>
          <p:spPr bwMode="auto">
            <a:xfrm>
              <a:off x="1624383" y="8657801"/>
              <a:ext cx="53728" cy="55580"/>
            </a:xfrm>
            <a:custGeom>
              <a:avLst/>
              <a:gdLst>
                <a:gd name="T0" fmla="*/ 129 w 130"/>
                <a:gd name="T1" fmla="*/ 65 h 131"/>
                <a:gd name="T2" fmla="*/ 129 w 130"/>
                <a:gd name="T3" fmla="*/ 65 h 131"/>
                <a:gd name="T4" fmla="*/ 64 w 130"/>
                <a:gd name="T5" fmla="*/ 130 h 131"/>
                <a:gd name="T6" fmla="*/ 0 w 130"/>
                <a:gd name="T7" fmla="*/ 65 h 131"/>
                <a:gd name="T8" fmla="*/ 64 w 130"/>
                <a:gd name="T9" fmla="*/ 0 h 131"/>
                <a:gd name="T10" fmla="*/ 129 w 130"/>
                <a:gd name="T11" fmla="*/ 65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131">
                  <a:moveTo>
                    <a:pt x="129" y="65"/>
                  </a:moveTo>
                  <a:lnTo>
                    <a:pt x="129" y="65"/>
                  </a:lnTo>
                  <a:cubicBezTo>
                    <a:pt x="129" y="100"/>
                    <a:pt x="100" y="130"/>
                    <a:pt x="64" y="130"/>
                  </a:cubicBezTo>
                  <a:cubicBezTo>
                    <a:pt x="29" y="130"/>
                    <a:pt x="0" y="100"/>
                    <a:pt x="0" y="65"/>
                  </a:cubicBezTo>
                  <a:cubicBezTo>
                    <a:pt x="0" y="30"/>
                    <a:pt x="29" y="0"/>
                    <a:pt x="64" y="0"/>
                  </a:cubicBezTo>
                  <a:cubicBezTo>
                    <a:pt x="100" y="0"/>
                    <a:pt x="129" y="30"/>
                    <a:pt x="129" y="65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125"/>
            </a:p>
          </p:txBody>
        </p:sp>
        <p:sp>
          <p:nvSpPr>
            <p:cNvPr id="28" name="Freeform 121"/>
            <p:cNvSpPr>
              <a:spLocks noChangeArrowheads="1"/>
            </p:cNvSpPr>
            <p:nvPr/>
          </p:nvSpPr>
          <p:spPr bwMode="auto">
            <a:xfrm>
              <a:off x="1596595" y="8552193"/>
              <a:ext cx="53727" cy="55580"/>
            </a:xfrm>
            <a:custGeom>
              <a:avLst/>
              <a:gdLst>
                <a:gd name="T0" fmla="*/ 129 w 130"/>
                <a:gd name="T1" fmla="*/ 64 h 131"/>
                <a:gd name="T2" fmla="*/ 129 w 130"/>
                <a:gd name="T3" fmla="*/ 64 h 131"/>
                <a:gd name="T4" fmla="*/ 65 w 130"/>
                <a:gd name="T5" fmla="*/ 130 h 131"/>
                <a:gd name="T6" fmla="*/ 0 w 130"/>
                <a:gd name="T7" fmla="*/ 64 h 131"/>
                <a:gd name="T8" fmla="*/ 65 w 130"/>
                <a:gd name="T9" fmla="*/ 0 h 131"/>
                <a:gd name="T10" fmla="*/ 129 w 130"/>
                <a:gd name="T11" fmla="*/ 64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131">
                  <a:moveTo>
                    <a:pt x="129" y="64"/>
                  </a:moveTo>
                  <a:lnTo>
                    <a:pt x="129" y="64"/>
                  </a:lnTo>
                  <a:cubicBezTo>
                    <a:pt x="129" y="101"/>
                    <a:pt x="100" y="130"/>
                    <a:pt x="65" y="130"/>
                  </a:cubicBezTo>
                  <a:cubicBezTo>
                    <a:pt x="28" y="130"/>
                    <a:pt x="0" y="101"/>
                    <a:pt x="0" y="64"/>
                  </a:cubicBezTo>
                  <a:cubicBezTo>
                    <a:pt x="0" y="29"/>
                    <a:pt x="28" y="0"/>
                    <a:pt x="65" y="0"/>
                  </a:cubicBezTo>
                  <a:cubicBezTo>
                    <a:pt x="100" y="0"/>
                    <a:pt x="129" y="29"/>
                    <a:pt x="129" y="6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125"/>
            </a:p>
          </p:txBody>
        </p:sp>
        <p:sp>
          <p:nvSpPr>
            <p:cNvPr id="29" name="Freeform 122"/>
            <p:cNvSpPr>
              <a:spLocks noChangeArrowheads="1"/>
            </p:cNvSpPr>
            <p:nvPr/>
          </p:nvSpPr>
          <p:spPr bwMode="auto">
            <a:xfrm>
              <a:off x="1596596" y="8761546"/>
              <a:ext cx="53727" cy="53728"/>
            </a:xfrm>
            <a:custGeom>
              <a:avLst/>
              <a:gdLst>
                <a:gd name="T0" fmla="*/ 129 w 130"/>
                <a:gd name="T1" fmla="*/ 65 h 130"/>
                <a:gd name="T2" fmla="*/ 129 w 130"/>
                <a:gd name="T3" fmla="*/ 65 h 130"/>
                <a:gd name="T4" fmla="*/ 65 w 130"/>
                <a:gd name="T5" fmla="*/ 129 h 130"/>
                <a:gd name="T6" fmla="*/ 0 w 130"/>
                <a:gd name="T7" fmla="*/ 65 h 130"/>
                <a:gd name="T8" fmla="*/ 65 w 130"/>
                <a:gd name="T9" fmla="*/ 0 h 130"/>
                <a:gd name="T10" fmla="*/ 129 w 130"/>
                <a:gd name="T11" fmla="*/ 65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130">
                  <a:moveTo>
                    <a:pt x="129" y="65"/>
                  </a:moveTo>
                  <a:lnTo>
                    <a:pt x="129" y="65"/>
                  </a:lnTo>
                  <a:cubicBezTo>
                    <a:pt x="129" y="100"/>
                    <a:pt x="100" y="129"/>
                    <a:pt x="65" y="129"/>
                  </a:cubicBezTo>
                  <a:cubicBezTo>
                    <a:pt x="28" y="129"/>
                    <a:pt x="0" y="100"/>
                    <a:pt x="0" y="65"/>
                  </a:cubicBezTo>
                  <a:cubicBezTo>
                    <a:pt x="0" y="29"/>
                    <a:pt x="28" y="0"/>
                    <a:pt x="65" y="0"/>
                  </a:cubicBezTo>
                  <a:cubicBezTo>
                    <a:pt x="100" y="0"/>
                    <a:pt x="129" y="29"/>
                    <a:pt x="129" y="65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125"/>
            </a:p>
          </p:txBody>
        </p:sp>
        <p:sp>
          <p:nvSpPr>
            <p:cNvPr id="30" name="Freeform 123"/>
            <p:cNvSpPr>
              <a:spLocks noChangeArrowheads="1"/>
            </p:cNvSpPr>
            <p:nvPr/>
          </p:nvSpPr>
          <p:spPr bwMode="auto">
            <a:xfrm>
              <a:off x="1483582" y="8705968"/>
              <a:ext cx="101898" cy="62991"/>
            </a:xfrm>
            <a:custGeom>
              <a:avLst/>
              <a:gdLst>
                <a:gd name="T0" fmla="*/ 228 w 242"/>
                <a:gd name="T1" fmla="*/ 150 h 151"/>
                <a:gd name="T2" fmla="*/ 228 w 242"/>
                <a:gd name="T3" fmla="*/ 150 h 151"/>
                <a:gd name="T4" fmla="*/ 222 w 242"/>
                <a:gd name="T5" fmla="*/ 149 h 151"/>
                <a:gd name="T6" fmla="*/ 191 w 242"/>
                <a:gd name="T7" fmla="*/ 131 h 151"/>
                <a:gd name="T8" fmla="*/ 187 w 242"/>
                <a:gd name="T9" fmla="*/ 114 h 151"/>
                <a:gd name="T10" fmla="*/ 203 w 242"/>
                <a:gd name="T11" fmla="*/ 110 h 151"/>
                <a:gd name="T12" fmla="*/ 234 w 242"/>
                <a:gd name="T13" fmla="*/ 129 h 151"/>
                <a:gd name="T14" fmla="*/ 238 w 242"/>
                <a:gd name="T15" fmla="*/ 145 h 151"/>
                <a:gd name="T16" fmla="*/ 228 w 242"/>
                <a:gd name="T17" fmla="*/ 150 h 151"/>
                <a:gd name="T18" fmla="*/ 136 w 242"/>
                <a:gd name="T19" fmla="*/ 97 h 151"/>
                <a:gd name="T20" fmla="*/ 136 w 242"/>
                <a:gd name="T21" fmla="*/ 97 h 151"/>
                <a:gd name="T22" fmla="*/ 130 w 242"/>
                <a:gd name="T23" fmla="*/ 95 h 151"/>
                <a:gd name="T24" fmla="*/ 99 w 242"/>
                <a:gd name="T25" fmla="*/ 77 h 151"/>
                <a:gd name="T26" fmla="*/ 94 w 242"/>
                <a:gd name="T27" fmla="*/ 61 h 151"/>
                <a:gd name="T28" fmla="*/ 111 w 242"/>
                <a:gd name="T29" fmla="*/ 57 h 151"/>
                <a:gd name="T30" fmla="*/ 141 w 242"/>
                <a:gd name="T31" fmla="*/ 75 h 151"/>
                <a:gd name="T32" fmla="*/ 145 w 242"/>
                <a:gd name="T33" fmla="*/ 91 h 151"/>
                <a:gd name="T34" fmla="*/ 136 w 242"/>
                <a:gd name="T35" fmla="*/ 97 h 151"/>
                <a:gd name="T36" fmla="*/ 43 w 242"/>
                <a:gd name="T37" fmla="*/ 43 h 151"/>
                <a:gd name="T38" fmla="*/ 43 w 242"/>
                <a:gd name="T39" fmla="*/ 43 h 151"/>
                <a:gd name="T40" fmla="*/ 37 w 242"/>
                <a:gd name="T41" fmla="*/ 42 h 151"/>
                <a:gd name="T42" fmla="*/ 7 w 242"/>
                <a:gd name="T43" fmla="*/ 23 h 151"/>
                <a:gd name="T44" fmla="*/ 3 w 242"/>
                <a:gd name="T45" fmla="*/ 7 h 151"/>
                <a:gd name="T46" fmla="*/ 18 w 242"/>
                <a:gd name="T47" fmla="*/ 3 h 151"/>
                <a:gd name="T48" fmla="*/ 50 w 242"/>
                <a:gd name="T49" fmla="*/ 21 h 151"/>
                <a:gd name="T50" fmla="*/ 54 w 242"/>
                <a:gd name="T51" fmla="*/ 37 h 151"/>
                <a:gd name="T52" fmla="*/ 43 w 242"/>
                <a:gd name="T53" fmla="*/ 43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2" h="151">
                  <a:moveTo>
                    <a:pt x="228" y="150"/>
                  </a:moveTo>
                  <a:lnTo>
                    <a:pt x="228" y="150"/>
                  </a:lnTo>
                  <a:cubicBezTo>
                    <a:pt x="226" y="150"/>
                    <a:pt x="223" y="150"/>
                    <a:pt x="222" y="149"/>
                  </a:cubicBezTo>
                  <a:cubicBezTo>
                    <a:pt x="191" y="131"/>
                    <a:pt x="191" y="131"/>
                    <a:pt x="191" y="131"/>
                  </a:cubicBezTo>
                  <a:cubicBezTo>
                    <a:pt x="186" y="128"/>
                    <a:pt x="184" y="121"/>
                    <a:pt x="187" y="114"/>
                  </a:cubicBezTo>
                  <a:cubicBezTo>
                    <a:pt x="190" y="109"/>
                    <a:pt x="197" y="107"/>
                    <a:pt x="203" y="110"/>
                  </a:cubicBezTo>
                  <a:cubicBezTo>
                    <a:pt x="234" y="129"/>
                    <a:pt x="234" y="129"/>
                    <a:pt x="234" y="129"/>
                  </a:cubicBezTo>
                  <a:cubicBezTo>
                    <a:pt x="239" y="132"/>
                    <a:pt x="241" y="139"/>
                    <a:pt x="238" y="145"/>
                  </a:cubicBezTo>
                  <a:cubicBezTo>
                    <a:pt x="236" y="148"/>
                    <a:pt x="232" y="150"/>
                    <a:pt x="228" y="150"/>
                  </a:cubicBezTo>
                  <a:close/>
                  <a:moveTo>
                    <a:pt x="136" y="97"/>
                  </a:moveTo>
                  <a:lnTo>
                    <a:pt x="136" y="97"/>
                  </a:lnTo>
                  <a:cubicBezTo>
                    <a:pt x="134" y="97"/>
                    <a:pt x="132" y="96"/>
                    <a:pt x="130" y="95"/>
                  </a:cubicBezTo>
                  <a:cubicBezTo>
                    <a:pt x="99" y="77"/>
                    <a:pt x="99" y="77"/>
                    <a:pt x="99" y="77"/>
                  </a:cubicBezTo>
                  <a:cubicBezTo>
                    <a:pt x="93" y="74"/>
                    <a:pt x="91" y="67"/>
                    <a:pt x="94" y="61"/>
                  </a:cubicBezTo>
                  <a:cubicBezTo>
                    <a:pt x="97" y="55"/>
                    <a:pt x="105" y="54"/>
                    <a:pt x="111" y="57"/>
                  </a:cubicBezTo>
                  <a:cubicBezTo>
                    <a:pt x="141" y="75"/>
                    <a:pt x="141" y="75"/>
                    <a:pt x="141" y="75"/>
                  </a:cubicBezTo>
                  <a:cubicBezTo>
                    <a:pt x="147" y="78"/>
                    <a:pt x="149" y="85"/>
                    <a:pt x="145" y="91"/>
                  </a:cubicBezTo>
                  <a:cubicBezTo>
                    <a:pt x="143" y="95"/>
                    <a:pt x="139" y="97"/>
                    <a:pt x="136" y="97"/>
                  </a:cubicBezTo>
                  <a:close/>
                  <a:moveTo>
                    <a:pt x="43" y="43"/>
                  </a:moveTo>
                  <a:lnTo>
                    <a:pt x="43" y="43"/>
                  </a:lnTo>
                  <a:cubicBezTo>
                    <a:pt x="41" y="43"/>
                    <a:pt x="39" y="43"/>
                    <a:pt x="37" y="42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1" y="20"/>
                    <a:pt x="0" y="12"/>
                    <a:pt x="3" y="7"/>
                  </a:cubicBezTo>
                  <a:cubicBezTo>
                    <a:pt x="6" y="2"/>
                    <a:pt x="13" y="0"/>
                    <a:pt x="18" y="3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55" y="24"/>
                    <a:pt x="57" y="31"/>
                    <a:pt x="54" y="37"/>
                  </a:cubicBezTo>
                  <a:cubicBezTo>
                    <a:pt x="52" y="41"/>
                    <a:pt x="48" y="43"/>
                    <a:pt x="43" y="4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125"/>
            </a:p>
          </p:txBody>
        </p:sp>
        <p:sp>
          <p:nvSpPr>
            <p:cNvPr id="31" name="Freeform 124"/>
            <p:cNvSpPr>
              <a:spLocks noChangeArrowheads="1"/>
            </p:cNvSpPr>
            <p:nvPr/>
          </p:nvSpPr>
          <p:spPr bwMode="auto">
            <a:xfrm>
              <a:off x="1485437" y="8598519"/>
              <a:ext cx="103750" cy="61139"/>
            </a:xfrm>
            <a:custGeom>
              <a:avLst/>
              <a:gdLst>
                <a:gd name="T0" fmla="*/ 13 w 245"/>
                <a:gd name="T1" fmla="*/ 146 h 147"/>
                <a:gd name="T2" fmla="*/ 13 w 245"/>
                <a:gd name="T3" fmla="*/ 146 h 147"/>
                <a:gd name="T4" fmla="*/ 3 w 245"/>
                <a:gd name="T5" fmla="*/ 139 h 147"/>
                <a:gd name="T6" fmla="*/ 7 w 245"/>
                <a:gd name="T7" fmla="*/ 124 h 147"/>
                <a:gd name="T8" fmla="*/ 38 w 245"/>
                <a:gd name="T9" fmla="*/ 107 h 147"/>
                <a:gd name="T10" fmla="*/ 54 w 245"/>
                <a:gd name="T11" fmla="*/ 111 h 147"/>
                <a:gd name="T12" fmla="*/ 50 w 245"/>
                <a:gd name="T13" fmla="*/ 127 h 147"/>
                <a:gd name="T14" fmla="*/ 18 w 245"/>
                <a:gd name="T15" fmla="*/ 145 h 147"/>
                <a:gd name="T16" fmla="*/ 13 w 245"/>
                <a:gd name="T17" fmla="*/ 146 h 147"/>
                <a:gd name="T18" fmla="*/ 106 w 245"/>
                <a:gd name="T19" fmla="*/ 94 h 147"/>
                <a:gd name="T20" fmla="*/ 106 w 245"/>
                <a:gd name="T21" fmla="*/ 94 h 147"/>
                <a:gd name="T22" fmla="*/ 97 w 245"/>
                <a:gd name="T23" fmla="*/ 88 h 147"/>
                <a:gd name="T24" fmla="*/ 101 w 245"/>
                <a:gd name="T25" fmla="*/ 72 h 147"/>
                <a:gd name="T26" fmla="*/ 132 w 245"/>
                <a:gd name="T27" fmla="*/ 55 h 147"/>
                <a:gd name="T28" fmla="*/ 148 w 245"/>
                <a:gd name="T29" fmla="*/ 59 h 147"/>
                <a:gd name="T30" fmla="*/ 143 w 245"/>
                <a:gd name="T31" fmla="*/ 75 h 147"/>
                <a:gd name="T32" fmla="*/ 112 w 245"/>
                <a:gd name="T33" fmla="*/ 93 h 147"/>
                <a:gd name="T34" fmla="*/ 106 w 245"/>
                <a:gd name="T35" fmla="*/ 94 h 147"/>
                <a:gd name="T36" fmla="*/ 200 w 245"/>
                <a:gd name="T37" fmla="*/ 43 h 147"/>
                <a:gd name="T38" fmla="*/ 200 w 245"/>
                <a:gd name="T39" fmla="*/ 43 h 147"/>
                <a:gd name="T40" fmla="*/ 189 w 245"/>
                <a:gd name="T41" fmla="*/ 36 h 147"/>
                <a:gd name="T42" fmla="*/ 194 w 245"/>
                <a:gd name="T43" fmla="*/ 21 h 147"/>
                <a:gd name="T44" fmla="*/ 226 w 245"/>
                <a:gd name="T45" fmla="*/ 3 h 147"/>
                <a:gd name="T46" fmla="*/ 241 w 245"/>
                <a:gd name="T47" fmla="*/ 8 h 147"/>
                <a:gd name="T48" fmla="*/ 237 w 245"/>
                <a:gd name="T49" fmla="*/ 24 h 147"/>
                <a:gd name="T50" fmla="*/ 206 w 245"/>
                <a:gd name="T51" fmla="*/ 41 h 147"/>
                <a:gd name="T52" fmla="*/ 200 w 245"/>
                <a:gd name="T53" fmla="*/ 4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5" h="147">
                  <a:moveTo>
                    <a:pt x="13" y="146"/>
                  </a:moveTo>
                  <a:lnTo>
                    <a:pt x="13" y="146"/>
                  </a:lnTo>
                  <a:cubicBezTo>
                    <a:pt x="9" y="146"/>
                    <a:pt x="5" y="144"/>
                    <a:pt x="3" y="139"/>
                  </a:cubicBezTo>
                  <a:cubicBezTo>
                    <a:pt x="0" y="134"/>
                    <a:pt x="2" y="127"/>
                    <a:pt x="7" y="124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45" y="104"/>
                    <a:pt x="51" y="106"/>
                    <a:pt x="54" y="111"/>
                  </a:cubicBezTo>
                  <a:cubicBezTo>
                    <a:pt x="57" y="117"/>
                    <a:pt x="55" y="124"/>
                    <a:pt x="50" y="127"/>
                  </a:cubicBezTo>
                  <a:cubicBezTo>
                    <a:pt x="18" y="145"/>
                    <a:pt x="18" y="145"/>
                    <a:pt x="18" y="145"/>
                  </a:cubicBezTo>
                  <a:cubicBezTo>
                    <a:pt x="16" y="146"/>
                    <a:pt x="14" y="146"/>
                    <a:pt x="13" y="146"/>
                  </a:cubicBezTo>
                  <a:close/>
                  <a:moveTo>
                    <a:pt x="106" y="94"/>
                  </a:moveTo>
                  <a:lnTo>
                    <a:pt x="106" y="94"/>
                  </a:lnTo>
                  <a:cubicBezTo>
                    <a:pt x="102" y="94"/>
                    <a:pt x="99" y="92"/>
                    <a:pt x="97" y="88"/>
                  </a:cubicBezTo>
                  <a:cubicBezTo>
                    <a:pt x="93" y="82"/>
                    <a:pt x="96" y="75"/>
                    <a:pt x="101" y="72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7" y="52"/>
                    <a:pt x="144" y="54"/>
                    <a:pt x="148" y="59"/>
                  </a:cubicBezTo>
                  <a:cubicBezTo>
                    <a:pt x="151" y="66"/>
                    <a:pt x="149" y="72"/>
                    <a:pt x="143" y="75"/>
                  </a:cubicBezTo>
                  <a:cubicBezTo>
                    <a:pt x="112" y="93"/>
                    <a:pt x="112" y="93"/>
                    <a:pt x="112" y="93"/>
                  </a:cubicBezTo>
                  <a:cubicBezTo>
                    <a:pt x="110" y="94"/>
                    <a:pt x="108" y="94"/>
                    <a:pt x="106" y="94"/>
                  </a:cubicBezTo>
                  <a:close/>
                  <a:moveTo>
                    <a:pt x="200" y="43"/>
                  </a:moveTo>
                  <a:lnTo>
                    <a:pt x="200" y="43"/>
                  </a:lnTo>
                  <a:cubicBezTo>
                    <a:pt x="195" y="43"/>
                    <a:pt x="191" y="41"/>
                    <a:pt x="189" y="36"/>
                  </a:cubicBezTo>
                  <a:cubicBezTo>
                    <a:pt x="186" y="31"/>
                    <a:pt x="188" y="24"/>
                    <a:pt x="194" y="21"/>
                  </a:cubicBezTo>
                  <a:cubicBezTo>
                    <a:pt x="226" y="3"/>
                    <a:pt x="226" y="3"/>
                    <a:pt x="226" y="3"/>
                  </a:cubicBezTo>
                  <a:cubicBezTo>
                    <a:pt x="231" y="0"/>
                    <a:pt x="238" y="2"/>
                    <a:pt x="241" y="8"/>
                  </a:cubicBezTo>
                  <a:cubicBezTo>
                    <a:pt x="244" y="14"/>
                    <a:pt x="242" y="21"/>
                    <a:pt x="237" y="24"/>
                  </a:cubicBezTo>
                  <a:cubicBezTo>
                    <a:pt x="206" y="41"/>
                    <a:pt x="206" y="41"/>
                    <a:pt x="206" y="41"/>
                  </a:cubicBezTo>
                  <a:cubicBezTo>
                    <a:pt x="204" y="42"/>
                    <a:pt x="202" y="43"/>
                    <a:pt x="200" y="4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125"/>
            </a:p>
          </p:txBody>
        </p:sp>
        <p:sp>
          <p:nvSpPr>
            <p:cNvPr id="32" name="Freeform 125"/>
            <p:cNvSpPr>
              <a:spLocks noChangeArrowheads="1"/>
            </p:cNvSpPr>
            <p:nvPr/>
          </p:nvSpPr>
          <p:spPr bwMode="auto">
            <a:xfrm>
              <a:off x="1492848" y="8678154"/>
              <a:ext cx="114866" cy="11116"/>
            </a:xfrm>
            <a:custGeom>
              <a:avLst/>
              <a:gdLst>
                <a:gd name="T0" fmla="*/ 262 w 274"/>
                <a:gd name="T1" fmla="*/ 24 h 25"/>
                <a:gd name="T2" fmla="*/ 262 w 274"/>
                <a:gd name="T3" fmla="*/ 24 h 25"/>
                <a:gd name="T4" fmla="*/ 225 w 274"/>
                <a:gd name="T5" fmla="*/ 24 h 25"/>
                <a:gd name="T6" fmla="*/ 214 w 274"/>
                <a:gd name="T7" fmla="*/ 13 h 25"/>
                <a:gd name="T8" fmla="*/ 225 w 274"/>
                <a:gd name="T9" fmla="*/ 0 h 25"/>
                <a:gd name="T10" fmla="*/ 262 w 274"/>
                <a:gd name="T11" fmla="*/ 0 h 25"/>
                <a:gd name="T12" fmla="*/ 273 w 274"/>
                <a:gd name="T13" fmla="*/ 13 h 25"/>
                <a:gd name="T14" fmla="*/ 262 w 274"/>
                <a:gd name="T15" fmla="*/ 24 h 25"/>
                <a:gd name="T16" fmla="*/ 154 w 274"/>
                <a:gd name="T17" fmla="*/ 24 h 25"/>
                <a:gd name="T18" fmla="*/ 154 w 274"/>
                <a:gd name="T19" fmla="*/ 24 h 25"/>
                <a:gd name="T20" fmla="*/ 119 w 274"/>
                <a:gd name="T21" fmla="*/ 24 h 25"/>
                <a:gd name="T22" fmla="*/ 108 w 274"/>
                <a:gd name="T23" fmla="*/ 13 h 25"/>
                <a:gd name="T24" fmla="*/ 119 w 274"/>
                <a:gd name="T25" fmla="*/ 0 h 25"/>
                <a:gd name="T26" fmla="*/ 154 w 274"/>
                <a:gd name="T27" fmla="*/ 0 h 25"/>
                <a:gd name="T28" fmla="*/ 166 w 274"/>
                <a:gd name="T29" fmla="*/ 13 h 25"/>
                <a:gd name="T30" fmla="*/ 154 w 274"/>
                <a:gd name="T31" fmla="*/ 24 h 25"/>
                <a:gd name="T32" fmla="*/ 47 w 274"/>
                <a:gd name="T33" fmla="*/ 24 h 25"/>
                <a:gd name="T34" fmla="*/ 47 w 274"/>
                <a:gd name="T35" fmla="*/ 24 h 25"/>
                <a:gd name="T36" fmla="*/ 12 w 274"/>
                <a:gd name="T37" fmla="*/ 24 h 25"/>
                <a:gd name="T38" fmla="*/ 0 w 274"/>
                <a:gd name="T39" fmla="*/ 13 h 25"/>
                <a:gd name="T40" fmla="*/ 12 w 274"/>
                <a:gd name="T41" fmla="*/ 0 h 25"/>
                <a:gd name="T42" fmla="*/ 47 w 274"/>
                <a:gd name="T43" fmla="*/ 0 h 25"/>
                <a:gd name="T44" fmla="*/ 60 w 274"/>
                <a:gd name="T45" fmla="*/ 13 h 25"/>
                <a:gd name="T46" fmla="*/ 47 w 274"/>
                <a:gd name="T47" fmla="*/ 2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74" h="25">
                  <a:moveTo>
                    <a:pt x="262" y="24"/>
                  </a:moveTo>
                  <a:lnTo>
                    <a:pt x="262" y="24"/>
                  </a:lnTo>
                  <a:cubicBezTo>
                    <a:pt x="225" y="24"/>
                    <a:pt x="225" y="24"/>
                    <a:pt x="225" y="24"/>
                  </a:cubicBezTo>
                  <a:cubicBezTo>
                    <a:pt x="219" y="24"/>
                    <a:pt x="214" y="19"/>
                    <a:pt x="214" y="13"/>
                  </a:cubicBezTo>
                  <a:cubicBezTo>
                    <a:pt x="214" y="7"/>
                    <a:pt x="219" y="0"/>
                    <a:pt x="225" y="0"/>
                  </a:cubicBezTo>
                  <a:cubicBezTo>
                    <a:pt x="262" y="0"/>
                    <a:pt x="262" y="0"/>
                    <a:pt x="262" y="0"/>
                  </a:cubicBezTo>
                  <a:cubicBezTo>
                    <a:pt x="268" y="0"/>
                    <a:pt x="273" y="7"/>
                    <a:pt x="273" y="13"/>
                  </a:cubicBezTo>
                  <a:cubicBezTo>
                    <a:pt x="273" y="19"/>
                    <a:pt x="268" y="24"/>
                    <a:pt x="262" y="24"/>
                  </a:cubicBezTo>
                  <a:close/>
                  <a:moveTo>
                    <a:pt x="154" y="24"/>
                  </a:moveTo>
                  <a:lnTo>
                    <a:pt x="154" y="24"/>
                  </a:lnTo>
                  <a:cubicBezTo>
                    <a:pt x="119" y="24"/>
                    <a:pt x="119" y="24"/>
                    <a:pt x="119" y="24"/>
                  </a:cubicBezTo>
                  <a:cubicBezTo>
                    <a:pt x="113" y="24"/>
                    <a:pt x="108" y="19"/>
                    <a:pt x="108" y="13"/>
                  </a:cubicBezTo>
                  <a:cubicBezTo>
                    <a:pt x="108" y="7"/>
                    <a:pt x="113" y="0"/>
                    <a:pt x="119" y="0"/>
                  </a:cubicBezTo>
                  <a:cubicBezTo>
                    <a:pt x="154" y="0"/>
                    <a:pt x="154" y="0"/>
                    <a:pt x="154" y="0"/>
                  </a:cubicBezTo>
                  <a:cubicBezTo>
                    <a:pt x="161" y="0"/>
                    <a:pt x="166" y="7"/>
                    <a:pt x="166" y="13"/>
                  </a:cubicBezTo>
                  <a:cubicBezTo>
                    <a:pt x="166" y="19"/>
                    <a:pt x="161" y="24"/>
                    <a:pt x="154" y="24"/>
                  </a:cubicBezTo>
                  <a:close/>
                  <a:moveTo>
                    <a:pt x="47" y="24"/>
                  </a:moveTo>
                  <a:lnTo>
                    <a:pt x="47" y="24"/>
                  </a:lnTo>
                  <a:cubicBezTo>
                    <a:pt x="12" y="24"/>
                    <a:pt x="12" y="24"/>
                    <a:pt x="12" y="24"/>
                  </a:cubicBezTo>
                  <a:cubicBezTo>
                    <a:pt x="6" y="24"/>
                    <a:pt x="0" y="19"/>
                    <a:pt x="0" y="13"/>
                  </a:cubicBezTo>
                  <a:cubicBezTo>
                    <a:pt x="0" y="7"/>
                    <a:pt x="6" y="0"/>
                    <a:pt x="12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54" y="0"/>
                    <a:pt x="60" y="7"/>
                    <a:pt x="60" y="13"/>
                  </a:cubicBezTo>
                  <a:cubicBezTo>
                    <a:pt x="60" y="19"/>
                    <a:pt x="54" y="24"/>
                    <a:pt x="47" y="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125"/>
            </a:p>
          </p:txBody>
        </p:sp>
      </p:grpSp>
      <p:sp>
        <p:nvSpPr>
          <p:cNvPr id="33" name="Freeform 166"/>
          <p:cNvSpPr>
            <a:spLocks noChangeAspect="1" noChangeArrowheads="1"/>
          </p:cNvSpPr>
          <p:nvPr/>
        </p:nvSpPr>
        <p:spPr bwMode="auto">
          <a:xfrm>
            <a:off x="3507995" y="1859377"/>
            <a:ext cx="979593" cy="1269201"/>
          </a:xfrm>
          <a:custGeom>
            <a:avLst/>
            <a:gdLst>
              <a:gd name="T0" fmla="*/ 26342358 w 394"/>
              <a:gd name="T1" fmla="*/ 0 h 511"/>
              <a:gd name="T2" fmla="*/ 0 w 394"/>
              <a:gd name="T3" fmla="*/ 27520686 h 511"/>
              <a:gd name="T4" fmla="*/ 82025463 w 394"/>
              <a:gd name="T5" fmla="*/ 109653647 h 511"/>
              <a:gd name="T6" fmla="*/ 82025463 w 394"/>
              <a:gd name="T7" fmla="*/ 0 h 511"/>
              <a:gd name="T8" fmla="*/ 47972830 w 394"/>
              <a:gd name="T9" fmla="*/ 4515033 h 511"/>
              <a:gd name="T10" fmla="*/ 54183679 w 394"/>
              <a:gd name="T11" fmla="*/ 21715578 h 511"/>
              <a:gd name="T12" fmla="*/ 25271538 w 394"/>
              <a:gd name="T13" fmla="*/ 6450378 h 511"/>
              <a:gd name="T14" fmla="*/ 7709812 w 394"/>
              <a:gd name="T15" fmla="*/ 25370561 h 511"/>
              <a:gd name="T16" fmla="*/ 47544687 w 394"/>
              <a:gd name="T17" fmla="*/ 33541039 h 511"/>
              <a:gd name="T18" fmla="*/ 49472256 w 394"/>
              <a:gd name="T19" fmla="*/ 36335971 h 511"/>
              <a:gd name="T20" fmla="*/ 47544687 w 394"/>
              <a:gd name="T21" fmla="*/ 40851467 h 511"/>
              <a:gd name="T22" fmla="*/ 49472256 w 394"/>
              <a:gd name="T23" fmla="*/ 43646400 h 511"/>
              <a:gd name="T24" fmla="*/ 47544687 w 394"/>
              <a:gd name="T25" fmla="*/ 47946652 h 511"/>
              <a:gd name="T26" fmla="*/ 49472256 w 394"/>
              <a:gd name="T27" fmla="*/ 50741584 h 511"/>
              <a:gd name="T28" fmla="*/ 47544687 w 394"/>
              <a:gd name="T29" fmla="*/ 55256617 h 511"/>
              <a:gd name="T30" fmla="*/ 49472256 w 394"/>
              <a:gd name="T31" fmla="*/ 58052012 h 511"/>
              <a:gd name="T32" fmla="*/ 47544687 w 394"/>
              <a:gd name="T33" fmla="*/ 62567045 h 511"/>
              <a:gd name="T34" fmla="*/ 49472256 w 394"/>
              <a:gd name="T35" fmla="*/ 65361978 h 511"/>
              <a:gd name="T36" fmla="*/ 47544687 w 394"/>
              <a:gd name="T37" fmla="*/ 69662230 h 511"/>
              <a:gd name="T38" fmla="*/ 49472256 w 394"/>
              <a:gd name="T39" fmla="*/ 72457162 h 511"/>
              <a:gd name="T40" fmla="*/ 47544687 w 394"/>
              <a:gd name="T41" fmla="*/ 76972195 h 511"/>
              <a:gd name="T42" fmla="*/ 49472256 w 394"/>
              <a:gd name="T43" fmla="*/ 79767590 h 511"/>
              <a:gd name="T44" fmla="*/ 47544687 w 394"/>
              <a:gd name="T45" fmla="*/ 84282623 h 511"/>
              <a:gd name="T46" fmla="*/ 49472256 w 394"/>
              <a:gd name="T47" fmla="*/ 87077555 h 511"/>
              <a:gd name="T48" fmla="*/ 47544687 w 394"/>
              <a:gd name="T49" fmla="*/ 91593051 h 511"/>
              <a:gd name="T50" fmla="*/ 49472256 w 394"/>
              <a:gd name="T51" fmla="*/ 94387984 h 511"/>
              <a:gd name="T52" fmla="*/ 47544687 w 394"/>
              <a:gd name="T53" fmla="*/ 98688236 h 511"/>
              <a:gd name="T54" fmla="*/ 49472256 w 394"/>
              <a:gd name="T55" fmla="*/ 101483168 h 511"/>
              <a:gd name="T56" fmla="*/ 45831190 w 394"/>
              <a:gd name="T57" fmla="*/ 105138151 h 511"/>
              <a:gd name="T58" fmla="*/ 27841321 w 394"/>
              <a:gd name="T59" fmla="*/ 29886056 h 511"/>
              <a:gd name="T60" fmla="*/ 43689550 w 394"/>
              <a:gd name="T61" fmla="*/ 4515033 h 511"/>
              <a:gd name="T62" fmla="*/ 49472256 w 394"/>
              <a:gd name="T63" fmla="*/ 26230611 h 511"/>
              <a:gd name="T64" fmla="*/ 47544687 w 394"/>
              <a:gd name="T65" fmla="*/ 29026006 h 511"/>
              <a:gd name="T66" fmla="*/ 58895565 w 394"/>
              <a:gd name="T67" fmla="*/ 24080948 h 511"/>
              <a:gd name="T68" fmla="*/ 79455217 w 394"/>
              <a:gd name="T69" fmla="*/ 4515033 h 511"/>
              <a:gd name="T70" fmla="*/ 53327394 w 394"/>
              <a:gd name="T71" fmla="*/ 103848075 h 511"/>
              <a:gd name="T72" fmla="*/ 56967996 w 394"/>
              <a:gd name="T73" fmla="*/ 100193092 h 511"/>
              <a:gd name="T74" fmla="*/ 53327394 w 394"/>
              <a:gd name="T75" fmla="*/ 96538110 h 511"/>
              <a:gd name="T76" fmla="*/ 56967996 w 394"/>
              <a:gd name="T77" fmla="*/ 92883127 h 511"/>
              <a:gd name="T78" fmla="*/ 53327394 w 394"/>
              <a:gd name="T79" fmla="*/ 89227681 h 511"/>
              <a:gd name="T80" fmla="*/ 56967996 w 394"/>
              <a:gd name="T81" fmla="*/ 85572699 h 511"/>
              <a:gd name="T82" fmla="*/ 53327394 w 394"/>
              <a:gd name="T83" fmla="*/ 82132497 h 511"/>
              <a:gd name="T84" fmla="*/ 56967996 w 394"/>
              <a:gd name="T85" fmla="*/ 78477514 h 511"/>
              <a:gd name="T86" fmla="*/ 53327394 w 394"/>
              <a:gd name="T87" fmla="*/ 74822532 h 511"/>
              <a:gd name="T88" fmla="*/ 56967996 w 394"/>
              <a:gd name="T89" fmla="*/ 71167086 h 511"/>
              <a:gd name="T90" fmla="*/ 53327394 w 394"/>
              <a:gd name="T91" fmla="*/ 67512104 h 511"/>
              <a:gd name="T92" fmla="*/ 56967996 w 394"/>
              <a:gd name="T93" fmla="*/ 63857121 h 511"/>
              <a:gd name="T94" fmla="*/ 53327394 w 394"/>
              <a:gd name="T95" fmla="*/ 60201675 h 511"/>
              <a:gd name="T96" fmla="*/ 56967996 w 394"/>
              <a:gd name="T97" fmla="*/ 56761937 h 511"/>
              <a:gd name="T98" fmla="*/ 53327394 w 394"/>
              <a:gd name="T99" fmla="*/ 53106491 h 511"/>
              <a:gd name="T100" fmla="*/ 56967996 w 394"/>
              <a:gd name="T101" fmla="*/ 49451508 h 511"/>
              <a:gd name="T102" fmla="*/ 53327394 w 394"/>
              <a:gd name="T103" fmla="*/ 45796526 h 511"/>
              <a:gd name="T104" fmla="*/ 56967996 w 394"/>
              <a:gd name="T105" fmla="*/ 42141543 h 511"/>
              <a:gd name="T106" fmla="*/ 53327394 w 394"/>
              <a:gd name="T107" fmla="*/ 38486097 h 511"/>
              <a:gd name="T108" fmla="*/ 56967996 w 394"/>
              <a:gd name="T109" fmla="*/ 34831115 h 511"/>
              <a:gd name="T110" fmla="*/ 53327394 w 394"/>
              <a:gd name="T111" fmla="*/ 31390913 h 511"/>
              <a:gd name="T112" fmla="*/ 56967996 w 394"/>
              <a:gd name="T113" fmla="*/ 27735931 h 511"/>
              <a:gd name="T114" fmla="*/ 58895565 w 394"/>
              <a:gd name="T115" fmla="*/ 24080948 h 511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</a:gdLst>
            <a:ahLst/>
            <a:cxnLst>
              <a:cxn ang="T116">
                <a:pos x="T0" y="T1"/>
              </a:cxn>
              <a:cxn ang="T117">
                <a:pos x="T2" y="T3"/>
              </a:cxn>
              <a:cxn ang="T118">
                <a:pos x="T4" y="T5"/>
              </a:cxn>
              <a:cxn ang="T119">
                <a:pos x="T6" y="T7"/>
              </a:cxn>
              <a:cxn ang="T120">
                <a:pos x="T8" y="T9"/>
              </a:cxn>
              <a:cxn ang="T121">
                <a:pos x="T10" y="T11"/>
              </a:cxn>
              <a:cxn ang="T122">
                <a:pos x="T12" y="T13"/>
              </a:cxn>
              <a:cxn ang="T123">
                <a:pos x="T14" y="T15"/>
              </a:cxn>
              <a:cxn ang="T124">
                <a:pos x="T16" y="T17"/>
              </a:cxn>
              <a:cxn ang="T125">
                <a:pos x="T18" y="T19"/>
              </a:cxn>
              <a:cxn ang="T126">
                <a:pos x="T20" y="T21"/>
              </a:cxn>
              <a:cxn ang="T127">
                <a:pos x="T22" y="T23"/>
              </a:cxn>
              <a:cxn ang="T128">
                <a:pos x="T24" y="T25"/>
              </a:cxn>
              <a:cxn ang="T129">
                <a:pos x="T26" y="T27"/>
              </a:cxn>
              <a:cxn ang="T130">
                <a:pos x="T28" y="T29"/>
              </a:cxn>
              <a:cxn ang="T131">
                <a:pos x="T30" y="T31"/>
              </a:cxn>
              <a:cxn ang="T132">
                <a:pos x="T32" y="T33"/>
              </a:cxn>
              <a:cxn ang="T133">
                <a:pos x="T34" y="T35"/>
              </a:cxn>
              <a:cxn ang="T134">
                <a:pos x="T36" y="T37"/>
              </a:cxn>
              <a:cxn ang="T135">
                <a:pos x="T38" y="T39"/>
              </a:cxn>
              <a:cxn ang="T136">
                <a:pos x="T40" y="T41"/>
              </a:cxn>
              <a:cxn ang="T137">
                <a:pos x="T42" y="T43"/>
              </a:cxn>
              <a:cxn ang="T138">
                <a:pos x="T44" y="T45"/>
              </a:cxn>
              <a:cxn ang="T139">
                <a:pos x="T46" y="T47"/>
              </a:cxn>
              <a:cxn ang="T140">
                <a:pos x="T48" y="T49"/>
              </a:cxn>
              <a:cxn ang="T141">
                <a:pos x="T50" y="T51"/>
              </a:cxn>
              <a:cxn ang="T142">
                <a:pos x="T52" y="T53"/>
              </a:cxn>
              <a:cxn ang="T143">
                <a:pos x="T54" y="T55"/>
              </a:cxn>
              <a:cxn ang="T144">
                <a:pos x="T56" y="T57"/>
              </a:cxn>
              <a:cxn ang="T145">
                <a:pos x="T58" y="T59"/>
              </a:cxn>
              <a:cxn ang="T146">
                <a:pos x="T60" y="T61"/>
              </a:cxn>
              <a:cxn ang="T147">
                <a:pos x="T62" y="T63"/>
              </a:cxn>
              <a:cxn ang="T148">
                <a:pos x="T64" y="T65"/>
              </a:cxn>
              <a:cxn ang="T149">
                <a:pos x="T66" y="T67"/>
              </a:cxn>
              <a:cxn ang="T150">
                <a:pos x="T68" y="T69"/>
              </a:cxn>
              <a:cxn ang="T151">
                <a:pos x="T70" y="T71"/>
              </a:cxn>
              <a:cxn ang="T152">
                <a:pos x="T72" y="T73"/>
              </a:cxn>
              <a:cxn ang="T153">
                <a:pos x="T74" y="T75"/>
              </a:cxn>
              <a:cxn ang="T154">
                <a:pos x="T76" y="T77"/>
              </a:cxn>
              <a:cxn ang="T155">
                <a:pos x="T78" y="T79"/>
              </a:cxn>
              <a:cxn ang="T156">
                <a:pos x="T80" y="T81"/>
              </a:cxn>
              <a:cxn ang="T157">
                <a:pos x="T82" y="T83"/>
              </a:cxn>
              <a:cxn ang="T158">
                <a:pos x="T84" y="T85"/>
              </a:cxn>
              <a:cxn ang="T159">
                <a:pos x="T86" y="T87"/>
              </a:cxn>
              <a:cxn ang="T160">
                <a:pos x="T88" y="T89"/>
              </a:cxn>
              <a:cxn ang="T161">
                <a:pos x="T90" y="T91"/>
              </a:cxn>
              <a:cxn ang="T162">
                <a:pos x="T92" y="T93"/>
              </a:cxn>
              <a:cxn ang="T163">
                <a:pos x="T94" y="T95"/>
              </a:cxn>
              <a:cxn ang="T164">
                <a:pos x="T96" y="T97"/>
              </a:cxn>
              <a:cxn ang="T165">
                <a:pos x="T98" y="T99"/>
              </a:cxn>
              <a:cxn ang="T166">
                <a:pos x="T100" y="T101"/>
              </a:cxn>
              <a:cxn ang="T167">
                <a:pos x="T102" y="T103"/>
              </a:cxn>
              <a:cxn ang="T168">
                <a:pos x="T104" y="T105"/>
              </a:cxn>
              <a:cxn ang="T169">
                <a:pos x="T106" y="T107"/>
              </a:cxn>
              <a:cxn ang="T170">
                <a:pos x="T108" y="T109"/>
              </a:cxn>
              <a:cxn ang="T171">
                <a:pos x="T110" y="T111"/>
              </a:cxn>
              <a:cxn ang="T172">
                <a:pos x="T112" y="T113"/>
              </a:cxn>
              <a:cxn ang="T173">
                <a:pos x="T114" y="T115"/>
              </a:cxn>
            </a:cxnLst>
            <a:rect l="0" t="0" r="r" b="b"/>
            <a:pathLst>
              <a:path w="394" h="511">
                <a:moveTo>
                  <a:pt x="214" y="0"/>
                </a:moveTo>
                <a:lnTo>
                  <a:pt x="214" y="0"/>
                </a:lnTo>
                <a:cubicBezTo>
                  <a:pt x="123" y="0"/>
                  <a:pt x="123" y="0"/>
                  <a:pt x="123" y="0"/>
                </a:cubicBezTo>
                <a:cubicBezTo>
                  <a:pt x="120" y="0"/>
                  <a:pt x="117" y="1"/>
                  <a:pt x="116" y="4"/>
                </a:cubicBezTo>
                <a:cubicBezTo>
                  <a:pt x="3" y="121"/>
                  <a:pt x="3" y="121"/>
                  <a:pt x="3" y="121"/>
                </a:cubicBezTo>
                <a:cubicBezTo>
                  <a:pt x="2" y="124"/>
                  <a:pt x="0" y="126"/>
                  <a:pt x="0" y="128"/>
                </a:cubicBezTo>
                <a:cubicBezTo>
                  <a:pt x="0" y="499"/>
                  <a:pt x="0" y="499"/>
                  <a:pt x="0" y="499"/>
                </a:cubicBezTo>
                <a:cubicBezTo>
                  <a:pt x="0" y="506"/>
                  <a:pt x="6" y="510"/>
                  <a:pt x="12" y="510"/>
                </a:cubicBezTo>
                <a:cubicBezTo>
                  <a:pt x="383" y="510"/>
                  <a:pt x="383" y="510"/>
                  <a:pt x="383" y="510"/>
                </a:cubicBezTo>
                <a:cubicBezTo>
                  <a:pt x="388" y="510"/>
                  <a:pt x="393" y="506"/>
                  <a:pt x="393" y="499"/>
                </a:cubicBezTo>
                <a:cubicBezTo>
                  <a:pt x="393" y="11"/>
                  <a:pt x="393" y="11"/>
                  <a:pt x="393" y="11"/>
                </a:cubicBezTo>
                <a:cubicBezTo>
                  <a:pt x="393" y="6"/>
                  <a:pt x="388" y="0"/>
                  <a:pt x="383" y="0"/>
                </a:cubicBezTo>
                <a:cubicBezTo>
                  <a:pt x="265" y="0"/>
                  <a:pt x="265" y="0"/>
                  <a:pt x="265" y="0"/>
                </a:cubicBezTo>
                <a:lnTo>
                  <a:pt x="214" y="0"/>
                </a:lnTo>
                <a:close/>
                <a:moveTo>
                  <a:pt x="224" y="21"/>
                </a:moveTo>
                <a:lnTo>
                  <a:pt x="224" y="21"/>
                </a:lnTo>
                <a:cubicBezTo>
                  <a:pt x="253" y="21"/>
                  <a:pt x="253" y="21"/>
                  <a:pt x="253" y="21"/>
                </a:cubicBezTo>
                <a:cubicBezTo>
                  <a:pt x="253" y="101"/>
                  <a:pt x="253" y="101"/>
                  <a:pt x="253" y="101"/>
                </a:cubicBezTo>
                <a:cubicBezTo>
                  <a:pt x="224" y="101"/>
                  <a:pt x="224" y="101"/>
                  <a:pt x="224" y="101"/>
                </a:cubicBezTo>
                <a:lnTo>
                  <a:pt x="224" y="21"/>
                </a:lnTo>
                <a:close/>
                <a:moveTo>
                  <a:pt x="118" y="30"/>
                </a:moveTo>
                <a:lnTo>
                  <a:pt x="118" y="30"/>
                </a:lnTo>
                <a:cubicBezTo>
                  <a:pt x="118" y="118"/>
                  <a:pt x="118" y="118"/>
                  <a:pt x="118" y="118"/>
                </a:cubicBezTo>
                <a:cubicBezTo>
                  <a:pt x="36" y="118"/>
                  <a:pt x="36" y="118"/>
                  <a:pt x="36" y="118"/>
                </a:cubicBezTo>
                <a:lnTo>
                  <a:pt x="118" y="30"/>
                </a:lnTo>
                <a:close/>
                <a:moveTo>
                  <a:pt x="222" y="156"/>
                </a:moveTo>
                <a:lnTo>
                  <a:pt x="222" y="156"/>
                </a:lnTo>
                <a:cubicBezTo>
                  <a:pt x="231" y="156"/>
                  <a:pt x="231" y="156"/>
                  <a:pt x="231" y="156"/>
                </a:cubicBezTo>
                <a:cubicBezTo>
                  <a:pt x="229" y="158"/>
                  <a:pt x="228" y="160"/>
                  <a:pt x="228" y="162"/>
                </a:cubicBezTo>
                <a:cubicBezTo>
                  <a:pt x="228" y="165"/>
                  <a:pt x="229" y="168"/>
                  <a:pt x="231" y="169"/>
                </a:cubicBezTo>
                <a:cubicBezTo>
                  <a:pt x="222" y="169"/>
                  <a:pt x="222" y="169"/>
                  <a:pt x="222" y="169"/>
                </a:cubicBezTo>
                <a:cubicBezTo>
                  <a:pt x="216" y="169"/>
                  <a:pt x="211" y="173"/>
                  <a:pt x="211" y="179"/>
                </a:cubicBezTo>
                <a:cubicBezTo>
                  <a:pt x="211" y="185"/>
                  <a:pt x="216" y="190"/>
                  <a:pt x="222" y="190"/>
                </a:cubicBezTo>
                <a:cubicBezTo>
                  <a:pt x="231" y="190"/>
                  <a:pt x="231" y="190"/>
                  <a:pt x="231" y="190"/>
                </a:cubicBezTo>
                <a:cubicBezTo>
                  <a:pt x="229" y="192"/>
                  <a:pt x="228" y="193"/>
                  <a:pt x="228" y="196"/>
                </a:cubicBezTo>
                <a:cubicBezTo>
                  <a:pt x="228" y="199"/>
                  <a:pt x="229" y="200"/>
                  <a:pt x="231" y="203"/>
                </a:cubicBezTo>
                <a:cubicBezTo>
                  <a:pt x="222" y="203"/>
                  <a:pt x="222" y="203"/>
                  <a:pt x="222" y="203"/>
                </a:cubicBezTo>
                <a:cubicBezTo>
                  <a:pt x="216" y="203"/>
                  <a:pt x="211" y="207"/>
                  <a:pt x="211" y="213"/>
                </a:cubicBezTo>
                <a:cubicBezTo>
                  <a:pt x="211" y="219"/>
                  <a:pt x="216" y="223"/>
                  <a:pt x="222" y="223"/>
                </a:cubicBezTo>
                <a:cubicBezTo>
                  <a:pt x="231" y="223"/>
                  <a:pt x="231" y="223"/>
                  <a:pt x="231" y="223"/>
                </a:cubicBezTo>
                <a:cubicBezTo>
                  <a:pt x="229" y="226"/>
                  <a:pt x="228" y="227"/>
                  <a:pt x="228" y="230"/>
                </a:cubicBezTo>
                <a:cubicBezTo>
                  <a:pt x="228" y="233"/>
                  <a:pt x="229" y="234"/>
                  <a:pt x="231" y="236"/>
                </a:cubicBezTo>
                <a:cubicBezTo>
                  <a:pt x="222" y="236"/>
                  <a:pt x="222" y="236"/>
                  <a:pt x="222" y="236"/>
                </a:cubicBezTo>
                <a:cubicBezTo>
                  <a:pt x="216" y="236"/>
                  <a:pt x="211" y="241"/>
                  <a:pt x="211" y="247"/>
                </a:cubicBezTo>
                <a:cubicBezTo>
                  <a:pt x="211" y="253"/>
                  <a:pt x="216" y="257"/>
                  <a:pt x="222" y="257"/>
                </a:cubicBezTo>
                <a:cubicBezTo>
                  <a:pt x="231" y="257"/>
                  <a:pt x="231" y="257"/>
                  <a:pt x="231" y="257"/>
                </a:cubicBezTo>
                <a:cubicBezTo>
                  <a:pt x="229" y="259"/>
                  <a:pt x="228" y="261"/>
                  <a:pt x="228" y="264"/>
                </a:cubicBezTo>
                <a:cubicBezTo>
                  <a:pt x="228" y="266"/>
                  <a:pt x="229" y="268"/>
                  <a:pt x="231" y="270"/>
                </a:cubicBezTo>
                <a:cubicBezTo>
                  <a:pt x="222" y="270"/>
                  <a:pt x="222" y="270"/>
                  <a:pt x="222" y="270"/>
                </a:cubicBezTo>
                <a:cubicBezTo>
                  <a:pt x="216" y="270"/>
                  <a:pt x="211" y="274"/>
                  <a:pt x="211" y="280"/>
                </a:cubicBezTo>
                <a:cubicBezTo>
                  <a:pt x="211" y="285"/>
                  <a:pt x="216" y="291"/>
                  <a:pt x="222" y="291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29" y="293"/>
                  <a:pt x="228" y="294"/>
                  <a:pt x="228" y="297"/>
                </a:cubicBezTo>
                <a:cubicBezTo>
                  <a:pt x="228" y="300"/>
                  <a:pt x="229" y="301"/>
                  <a:pt x="231" y="304"/>
                </a:cubicBezTo>
                <a:cubicBezTo>
                  <a:pt x="222" y="304"/>
                  <a:pt x="222" y="304"/>
                  <a:pt x="222" y="304"/>
                </a:cubicBezTo>
                <a:cubicBezTo>
                  <a:pt x="216" y="304"/>
                  <a:pt x="211" y="308"/>
                  <a:pt x="211" y="314"/>
                </a:cubicBezTo>
                <a:cubicBezTo>
                  <a:pt x="211" y="320"/>
                  <a:pt x="216" y="324"/>
                  <a:pt x="222" y="324"/>
                </a:cubicBezTo>
                <a:cubicBezTo>
                  <a:pt x="231" y="324"/>
                  <a:pt x="231" y="324"/>
                  <a:pt x="231" y="324"/>
                </a:cubicBezTo>
                <a:cubicBezTo>
                  <a:pt x="229" y="327"/>
                  <a:pt x="228" y="328"/>
                  <a:pt x="228" y="331"/>
                </a:cubicBezTo>
                <a:cubicBezTo>
                  <a:pt x="228" y="334"/>
                  <a:pt x="229" y="335"/>
                  <a:pt x="231" y="337"/>
                </a:cubicBezTo>
                <a:cubicBezTo>
                  <a:pt x="222" y="337"/>
                  <a:pt x="222" y="337"/>
                  <a:pt x="222" y="337"/>
                </a:cubicBezTo>
                <a:cubicBezTo>
                  <a:pt x="216" y="337"/>
                  <a:pt x="211" y="342"/>
                  <a:pt x="211" y="348"/>
                </a:cubicBezTo>
                <a:cubicBezTo>
                  <a:pt x="211" y="354"/>
                  <a:pt x="216" y="358"/>
                  <a:pt x="222" y="358"/>
                </a:cubicBezTo>
                <a:cubicBezTo>
                  <a:pt x="231" y="358"/>
                  <a:pt x="231" y="358"/>
                  <a:pt x="231" y="358"/>
                </a:cubicBezTo>
                <a:cubicBezTo>
                  <a:pt x="229" y="359"/>
                  <a:pt x="228" y="362"/>
                  <a:pt x="228" y="365"/>
                </a:cubicBezTo>
                <a:cubicBezTo>
                  <a:pt x="228" y="367"/>
                  <a:pt x="229" y="369"/>
                  <a:pt x="231" y="371"/>
                </a:cubicBezTo>
                <a:cubicBezTo>
                  <a:pt x="222" y="371"/>
                  <a:pt x="222" y="371"/>
                  <a:pt x="222" y="371"/>
                </a:cubicBezTo>
                <a:cubicBezTo>
                  <a:pt x="216" y="371"/>
                  <a:pt x="211" y="375"/>
                  <a:pt x="211" y="382"/>
                </a:cubicBezTo>
                <a:cubicBezTo>
                  <a:pt x="211" y="388"/>
                  <a:pt x="216" y="392"/>
                  <a:pt x="222" y="392"/>
                </a:cubicBezTo>
                <a:cubicBezTo>
                  <a:pt x="231" y="392"/>
                  <a:pt x="231" y="392"/>
                  <a:pt x="231" y="392"/>
                </a:cubicBezTo>
                <a:cubicBezTo>
                  <a:pt x="229" y="393"/>
                  <a:pt x="228" y="396"/>
                  <a:pt x="228" y="398"/>
                </a:cubicBezTo>
                <a:cubicBezTo>
                  <a:pt x="228" y="401"/>
                  <a:pt x="229" y="403"/>
                  <a:pt x="231" y="405"/>
                </a:cubicBezTo>
                <a:cubicBezTo>
                  <a:pt x="222" y="405"/>
                  <a:pt x="222" y="405"/>
                  <a:pt x="222" y="405"/>
                </a:cubicBezTo>
                <a:cubicBezTo>
                  <a:pt x="216" y="405"/>
                  <a:pt x="211" y="409"/>
                  <a:pt x="211" y="415"/>
                </a:cubicBezTo>
                <a:cubicBezTo>
                  <a:pt x="211" y="420"/>
                  <a:pt x="216" y="426"/>
                  <a:pt x="222" y="426"/>
                </a:cubicBezTo>
                <a:cubicBezTo>
                  <a:pt x="231" y="426"/>
                  <a:pt x="231" y="426"/>
                  <a:pt x="231" y="426"/>
                </a:cubicBezTo>
                <a:cubicBezTo>
                  <a:pt x="229" y="428"/>
                  <a:pt x="228" y="429"/>
                  <a:pt x="228" y="432"/>
                </a:cubicBezTo>
                <a:cubicBezTo>
                  <a:pt x="228" y="435"/>
                  <a:pt x="229" y="436"/>
                  <a:pt x="231" y="439"/>
                </a:cubicBezTo>
                <a:cubicBezTo>
                  <a:pt x="222" y="439"/>
                  <a:pt x="222" y="439"/>
                  <a:pt x="222" y="439"/>
                </a:cubicBezTo>
                <a:cubicBezTo>
                  <a:pt x="216" y="439"/>
                  <a:pt x="211" y="443"/>
                  <a:pt x="211" y="449"/>
                </a:cubicBezTo>
                <a:cubicBezTo>
                  <a:pt x="211" y="455"/>
                  <a:pt x="216" y="459"/>
                  <a:pt x="222" y="459"/>
                </a:cubicBezTo>
                <a:cubicBezTo>
                  <a:pt x="231" y="459"/>
                  <a:pt x="231" y="459"/>
                  <a:pt x="231" y="459"/>
                </a:cubicBezTo>
                <a:cubicBezTo>
                  <a:pt x="229" y="462"/>
                  <a:pt x="228" y="463"/>
                  <a:pt x="228" y="466"/>
                </a:cubicBezTo>
                <a:cubicBezTo>
                  <a:pt x="228" y="469"/>
                  <a:pt x="229" y="470"/>
                  <a:pt x="231" y="472"/>
                </a:cubicBezTo>
                <a:cubicBezTo>
                  <a:pt x="222" y="472"/>
                  <a:pt x="222" y="472"/>
                  <a:pt x="222" y="472"/>
                </a:cubicBezTo>
                <a:cubicBezTo>
                  <a:pt x="216" y="472"/>
                  <a:pt x="211" y="477"/>
                  <a:pt x="211" y="483"/>
                </a:cubicBezTo>
                <a:cubicBezTo>
                  <a:pt x="211" y="484"/>
                  <a:pt x="212" y="487"/>
                  <a:pt x="214" y="489"/>
                </a:cubicBezTo>
                <a:cubicBezTo>
                  <a:pt x="22" y="489"/>
                  <a:pt x="22" y="489"/>
                  <a:pt x="22" y="489"/>
                </a:cubicBezTo>
                <a:cubicBezTo>
                  <a:pt x="22" y="139"/>
                  <a:pt x="22" y="139"/>
                  <a:pt x="22" y="139"/>
                </a:cubicBezTo>
                <a:cubicBezTo>
                  <a:pt x="130" y="139"/>
                  <a:pt x="130" y="139"/>
                  <a:pt x="130" y="139"/>
                </a:cubicBezTo>
                <a:cubicBezTo>
                  <a:pt x="135" y="139"/>
                  <a:pt x="140" y="135"/>
                  <a:pt x="140" y="129"/>
                </a:cubicBezTo>
                <a:cubicBezTo>
                  <a:pt x="140" y="21"/>
                  <a:pt x="140" y="21"/>
                  <a:pt x="140" y="21"/>
                </a:cubicBezTo>
                <a:cubicBezTo>
                  <a:pt x="204" y="21"/>
                  <a:pt x="204" y="21"/>
                  <a:pt x="204" y="21"/>
                </a:cubicBezTo>
                <a:cubicBezTo>
                  <a:pt x="204" y="112"/>
                  <a:pt x="204" y="112"/>
                  <a:pt x="204" y="112"/>
                </a:cubicBezTo>
                <a:cubicBezTo>
                  <a:pt x="204" y="118"/>
                  <a:pt x="208" y="122"/>
                  <a:pt x="214" y="122"/>
                </a:cubicBezTo>
                <a:cubicBezTo>
                  <a:pt x="231" y="122"/>
                  <a:pt x="231" y="122"/>
                  <a:pt x="231" y="122"/>
                </a:cubicBezTo>
                <a:cubicBezTo>
                  <a:pt x="229" y="125"/>
                  <a:pt x="228" y="126"/>
                  <a:pt x="228" y="129"/>
                </a:cubicBezTo>
                <a:cubicBezTo>
                  <a:pt x="228" y="131"/>
                  <a:pt x="229" y="133"/>
                  <a:pt x="231" y="135"/>
                </a:cubicBezTo>
                <a:cubicBezTo>
                  <a:pt x="222" y="135"/>
                  <a:pt x="222" y="135"/>
                  <a:pt x="222" y="135"/>
                </a:cubicBezTo>
                <a:cubicBezTo>
                  <a:pt x="216" y="135"/>
                  <a:pt x="211" y="139"/>
                  <a:pt x="211" y="146"/>
                </a:cubicBezTo>
                <a:cubicBezTo>
                  <a:pt x="211" y="152"/>
                  <a:pt x="216" y="156"/>
                  <a:pt x="222" y="156"/>
                </a:cubicBezTo>
                <a:close/>
                <a:moveTo>
                  <a:pt x="275" y="112"/>
                </a:moveTo>
                <a:lnTo>
                  <a:pt x="275" y="112"/>
                </a:lnTo>
                <a:cubicBezTo>
                  <a:pt x="275" y="21"/>
                  <a:pt x="275" y="21"/>
                  <a:pt x="275" y="21"/>
                </a:cubicBezTo>
                <a:cubicBezTo>
                  <a:pt x="371" y="21"/>
                  <a:pt x="371" y="21"/>
                  <a:pt x="371" y="21"/>
                </a:cubicBezTo>
                <a:cubicBezTo>
                  <a:pt x="371" y="489"/>
                  <a:pt x="371" y="489"/>
                  <a:pt x="371" y="489"/>
                </a:cubicBezTo>
                <a:cubicBezTo>
                  <a:pt x="246" y="489"/>
                  <a:pt x="246" y="489"/>
                  <a:pt x="246" y="489"/>
                </a:cubicBezTo>
                <a:cubicBezTo>
                  <a:pt x="248" y="487"/>
                  <a:pt x="249" y="484"/>
                  <a:pt x="249" y="483"/>
                </a:cubicBezTo>
                <a:cubicBezTo>
                  <a:pt x="249" y="480"/>
                  <a:pt x="248" y="477"/>
                  <a:pt x="246" y="476"/>
                </a:cubicBezTo>
                <a:cubicBezTo>
                  <a:pt x="256" y="476"/>
                  <a:pt x="256" y="476"/>
                  <a:pt x="256" y="476"/>
                </a:cubicBezTo>
                <a:cubicBezTo>
                  <a:pt x="262" y="476"/>
                  <a:pt x="266" y="472"/>
                  <a:pt x="266" y="466"/>
                </a:cubicBezTo>
                <a:cubicBezTo>
                  <a:pt x="266" y="460"/>
                  <a:pt x="262" y="455"/>
                  <a:pt x="256" y="455"/>
                </a:cubicBezTo>
                <a:cubicBezTo>
                  <a:pt x="246" y="455"/>
                  <a:pt x="246" y="455"/>
                  <a:pt x="246" y="455"/>
                </a:cubicBezTo>
                <a:cubicBezTo>
                  <a:pt x="248" y="453"/>
                  <a:pt x="249" y="452"/>
                  <a:pt x="249" y="449"/>
                </a:cubicBezTo>
                <a:cubicBezTo>
                  <a:pt x="249" y="446"/>
                  <a:pt x="248" y="445"/>
                  <a:pt x="246" y="442"/>
                </a:cubicBezTo>
                <a:cubicBezTo>
                  <a:pt x="256" y="442"/>
                  <a:pt x="256" y="442"/>
                  <a:pt x="256" y="442"/>
                </a:cubicBezTo>
                <a:cubicBezTo>
                  <a:pt x="262" y="442"/>
                  <a:pt x="266" y="438"/>
                  <a:pt x="266" y="432"/>
                </a:cubicBezTo>
                <a:cubicBezTo>
                  <a:pt x="266" y="426"/>
                  <a:pt x="262" y="422"/>
                  <a:pt x="256" y="422"/>
                </a:cubicBezTo>
                <a:cubicBezTo>
                  <a:pt x="246" y="422"/>
                  <a:pt x="246" y="422"/>
                  <a:pt x="246" y="422"/>
                </a:cubicBezTo>
                <a:cubicBezTo>
                  <a:pt x="248" y="419"/>
                  <a:pt x="249" y="418"/>
                  <a:pt x="249" y="415"/>
                </a:cubicBezTo>
                <a:cubicBezTo>
                  <a:pt x="249" y="412"/>
                  <a:pt x="248" y="411"/>
                  <a:pt x="246" y="409"/>
                </a:cubicBezTo>
                <a:cubicBezTo>
                  <a:pt x="256" y="409"/>
                  <a:pt x="256" y="409"/>
                  <a:pt x="256" y="409"/>
                </a:cubicBezTo>
                <a:cubicBezTo>
                  <a:pt x="262" y="409"/>
                  <a:pt x="266" y="403"/>
                  <a:pt x="266" y="398"/>
                </a:cubicBezTo>
                <a:cubicBezTo>
                  <a:pt x="266" y="392"/>
                  <a:pt x="262" y="388"/>
                  <a:pt x="256" y="388"/>
                </a:cubicBezTo>
                <a:cubicBezTo>
                  <a:pt x="246" y="388"/>
                  <a:pt x="246" y="388"/>
                  <a:pt x="246" y="388"/>
                </a:cubicBezTo>
                <a:cubicBezTo>
                  <a:pt x="248" y="386"/>
                  <a:pt x="249" y="384"/>
                  <a:pt x="249" y="382"/>
                </a:cubicBezTo>
                <a:cubicBezTo>
                  <a:pt x="249" y="379"/>
                  <a:pt x="248" y="376"/>
                  <a:pt x="246" y="375"/>
                </a:cubicBezTo>
                <a:cubicBezTo>
                  <a:pt x="256" y="375"/>
                  <a:pt x="256" y="375"/>
                  <a:pt x="256" y="375"/>
                </a:cubicBezTo>
                <a:cubicBezTo>
                  <a:pt x="262" y="375"/>
                  <a:pt x="266" y="371"/>
                  <a:pt x="266" y="365"/>
                </a:cubicBezTo>
                <a:cubicBezTo>
                  <a:pt x="266" y="359"/>
                  <a:pt x="262" y="354"/>
                  <a:pt x="256" y="354"/>
                </a:cubicBezTo>
                <a:cubicBezTo>
                  <a:pt x="246" y="354"/>
                  <a:pt x="246" y="354"/>
                  <a:pt x="246" y="354"/>
                </a:cubicBezTo>
                <a:cubicBezTo>
                  <a:pt x="248" y="352"/>
                  <a:pt x="249" y="351"/>
                  <a:pt x="249" y="348"/>
                </a:cubicBezTo>
                <a:cubicBezTo>
                  <a:pt x="249" y="345"/>
                  <a:pt x="248" y="344"/>
                  <a:pt x="246" y="341"/>
                </a:cubicBezTo>
                <a:cubicBezTo>
                  <a:pt x="256" y="341"/>
                  <a:pt x="256" y="341"/>
                  <a:pt x="256" y="341"/>
                </a:cubicBezTo>
                <a:cubicBezTo>
                  <a:pt x="262" y="341"/>
                  <a:pt x="266" y="337"/>
                  <a:pt x="266" y="331"/>
                </a:cubicBezTo>
                <a:cubicBezTo>
                  <a:pt x="266" y="325"/>
                  <a:pt x="262" y="321"/>
                  <a:pt x="256" y="321"/>
                </a:cubicBezTo>
                <a:cubicBezTo>
                  <a:pt x="246" y="321"/>
                  <a:pt x="246" y="321"/>
                  <a:pt x="246" y="321"/>
                </a:cubicBezTo>
                <a:cubicBezTo>
                  <a:pt x="248" y="318"/>
                  <a:pt x="249" y="317"/>
                  <a:pt x="249" y="314"/>
                </a:cubicBezTo>
                <a:cubicBezTo>
                  <a:pt x="249" y="311"/>
                  <a:pt x="248" y="310"/>
                  <a:pt x="246" y="308"/>
                </a:cubicBezTo>
                <a:cubicBezTo>
                  <a:pt x="256" y="308"/>
                  <a:pt x="256" y="308"/>
                  <a:pt x="256" y="308"/>
                </a:cubicBezTo>
                <a:cubicBezTo>
                  <a:pt x="262" y="308"/>
                  <a:pt x="266" y="303"/>
                  <a:pt x="266" y="297"/>
                </a:cubicBezTo>
                <a:cubicBezTo>
                  <a:pt x="266" y="291"/>
                  <a:pt x="262" y="287"/>
                  <a:pt x="256" y="287"/>
                </a:cubicBezTo>
                <a:cubicBezTo>
                  <a:pt x="246" y="287"/>
                  <a:pt x="246" y="287"/>
                  <a:pt x="246" y="287"/>
                </a:cubicBezTo>
                <a:cubicBezTo>
                  <a:pt x="248" y="285"/>
                  <a:pt x="249" y="283"/>
                  <a:pt x="249" y="280"/>
                </a:cubicBezTo>
                <a:cubicBezTo>
                  <a:pt x="249" y="278"/>
                  <a:pt x="248" y="276"/>
                  <a:pt x="246" y="274"/>
                </a:cubicBezTo>
                <a:cubicBezTo>
                  <a:pt x="256" y="274"/>
                  <a:pt x="256" y="274"/>
                  <a:pt x="256" y="274"/>
                </a:cubicBezTo>
                <a:cubicBezTo>
                  <a:pt x="262" y="274"/>
                  <a:pt x="266" y="270"/>
                  <a:pt x="266" y="264"/>
                </a:cubicBezTo>
                <a:cubicBezTo>
                  <a:pt x="266" y="257"/>
                  <a:pt x="262" y="253"/>
                  <a:pt x="256" y="253"/>
                </a:cubicBezTo>
                <a:cubicBezTo>
                  <a:pt x="246" y="253"/>
                  <a:pt x="246" y="253"/>
                  <a:pt x="246" y="253"/>
                </a:cubicBezTo>
                <a:cubicBezTo>
                  <a:pt x="248" y="251"/>
                  <a:pt x="249" y="249"/>
                  <a:pt x="249" y="247"/>
                </a:cubicBezTo>
                <a:cubicBezTo>
                  <a:pt x="249" y="244"/>
                  <a:pt x="248" y="241"/>
                  <a:pt x="246" y="240"/>
                </a:cubicBezTo>
                <a:cubicBezTo>
                  <a:pt x="256" y="240"/>
                  <a:pt x="256" y="240"/>
                  <a:pt x="256" y="240"/>
                </a:cubicBezTo>
                <a:cubicBezTo>
                  <a:pt x="262" y="240"/>
                  <a:pt x="266" y="236"/>
                  <a:pt x="266" y="230"/>
                </a:cubicBezTo>
                <a:cubicBezTo>
                  <a:pt x="266" y="224"/>
                  <a:pt x="262" y="219"/>
                  <a:pt x="256" y="219"/>
                </a:cubicBezTo>
                <a:cubicBezTo>
                  <a:pt x="246" y="219"/>
                  <a:pt x="246" y="219"/>
                  <a:pt x="246" y="219"/>
                </a:cubicBezTo>
                <a:cubicBezTo>
                  <a:pt x="248" y="217"/>
                  <a:pt x="249" y="216"/>
                  <a:pt x="249" y="213"/>
                </a:cubicBezTo>
                <a:cubicBezTo>
                  <a:pt x="249" y="210"/>
                  <a:pt x="248" y="209"/>
                  <a:pt x="246" y="207"/>
                </a:cubicBezTo>
                <a:cubicBezTo>
                  <a:pt x="256" y="207"/>
                  <a:pt x="256" y="207"/>
                  <a:pt x="256" y="207"/>
                </a:cubicBezTo>
                <a:cubicBezTo>
                  <a:pt x="262" y="207"/>
                  <a:pt x="266" y="202"/>
                  <a:pt x="266" y="196"/>
                </a:cubicBezTo>
                <a:cubicBezTo>
                  <a:pt x="266" y="190"/>
                  <a:pt x="262" y="186"/>
                  <a:pt x="256" y="186"/>
                </a:cubicBezTo>
                <a:cubicBezTo>
                  <a:pt x="246" y="186"/>
                  <a:pt x="246" y="186"/>
                  <a:pt x="246" y="186"/>
                </a:cubicBezTo>
                <a:cubicBezTo>
                  <a:pt x="248" y="183"/>
                  <a:pt x="249" y="182"/>
                  <a:pt x="249" y="179"/>
                </a:cubicBezTo>
                <a:cubicBezTo>
                  <a:pt x="249" y="177"/>
                  <a:pt x="248" y="175"/>
                  <a:pt x="246" y="173"/>
                </a:cubicBezTo>
                <a:cubicBezTo>
                  <a:pt x="256" y="173"/>
                  <a:pt x="256" y="173"/>
                  <a:pt x="256" y="173"/>
                </a:cubicBezTo>
                <a:cubicBezTo>
                  <a:pt x="262" y="173"/>
                  <a:pt x="266" y="168"/>
                  <a:pt x="266" y="162"/>
                </a:cubicBezTo>
                <a:cubicBezTo>
                  <a:pt x="266" y="156"/>
                  <a:pt x="262" y="152"/>
                  <a:pt x="256" y="152"/>
                </a:cubicBezTo>
                <a:cubicBezTo>
                  <a:pt x="246" y="152"/>
                  <a:pt x="246" y="152"/>
                  <a:pt x="246" y="152"/>
                </a:cubicBezTo>
                <a:cubicBezTo>
                  <a:pt x="248" y="151"/>
                  <a:pt x="249" y="148"/>
                  <a:pt x="249" y="146"/>
                </a:cubicBezTo>
                <a:cubicBezTo>
                  <a:pt x="249" y="143"/>
                  <a:pt x="248" y="141"/>
                  <a:pt x="246" y="139"/>
                </a:cubicBezTo>
                <a:cubicBezTo>
                  <a:pt x="256" y="139"/>
                  <a:pt x="256" y="139"/>
                  <a:pt x="256" y="139"/>
                </a:cubicBezTo>
                <a:cubicBezTo>
                  <a:pt x="262" y="139"/>
                  <a:pt x="266" y="135"/>
                  <a:pt x="266" y="129"/>
                </a:cubicBezTo>
                <a:cubicBezTo>
                  <a:pt x="266" y="126"/>
                  <a:pt x="265" y="125"/>
                  <a:pt x="263" y="122"/>
                </a:cubicBezTo>
                <a:cubicBezTo>
                  <a:pt x="265" y="122"/>
                  <a:pt x="265" y="122"/>
                  <a:pt x="265" y="122"/>
                </a:cubicBezTo>
                <a:cubicBezTo>
                  <a:pt x="270" y="122"/>
                  <a:pt x="275" y="118"/>
                  <a:pt x="275" y="11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none" anchor="ctr"/>
          <a:lstStyle/>
          <a:p>
            <a:endParaRPr lang="en-US" sz="750"/>
          </a:p>
        </p:txBody>
      </p:sp>
      <p:grpSp>
        <p:nvGrpSpPr>
          <p:cNvPr id="34" name="Group 1"/>
          <p:cNvGrpSpPr/>
          <p:nvPr/>
        </p:nvGrpSpPr>
        <p:grpSpPr>
          <a:xfrm rot="18900000">
            <a:off x="7490643" y="1749852"/>
            <a:ext cx="1531581" cy="1535334"/>
            <a:chOff x="7135913" y="1248233"/>
            <a:chExt cx="1851539" cy="1832399"/>
          </a:xfrm>
        </p:grpSpPr>
        <p:grpSp>
          <p:nvGrpSpPr>
            <p:cNvPr id="35" name="Group 107"/>
            <p:cNvGrpSpPr>
              <a:grpSpLocks noChangeAspect="1"/>
            </p:cNvGrpSpPr>
            <p:nvPr/>
          </p:nvGrpSpPr>
          <p:grpSpPr>
            <a:xfrm>
              <a:off x="7579370" y="1782286"/>
              <a:ext cx="1408082" cy="1298346"/>
              <a:chOff x="1392805" y="8552255"/>
              <a:chExt cx="285314" cy="263087"/>
            </a:xfrm>
            <a:solidFill>
              <a:srgbClr val="0078EF"/>
            </a:solidFill>
          </p:grpSpPr>
          <p:sp>
            <p:nvSpPr>
              <p:cNvPr id="44" name="Freeform 119"/>
              <p:cNvSpPr>
                <a:spLocks noChangeArrowheads="1"/>
              </p:cNvSpPr>
              <p:nvPr/>
            </p:nvSpPr>
            <p:spPr bwMode="auto">
              <a:xfrm>
                <a:off x="1392805" y="8643039"/>
                <a:ext cx="83370" cy="83372"/>
              </a:xfrm>
              <a:custGeom>
                <a:avLst/>
                <a:gdLst>
                  <a:gd name="T0" fmla="*/ 100 w 200"/>
                  <a:gd name="T1" fmla="*/ 199 h 200"/>
                  <a:gd name="T2" fmla="*/ 100 w 200"/>
                  <a:gd name="T3" fmla="*/ 199 h 200"/>
                  <a:gd name="T4" fmla="*/ 0 w 200"/>
                  <a:gd name="T5" fmla="*/ 100 h 200"/>
                  <a:gd name="T6" fmla="*/ 100 w 200"/>
                  <a:gd name="T7" fmla="*/ 0 h 200"/>
                  <a:gd name="T8" fmla="*/ 199 w 200"/>
                  <a:gd name="T9" fmla="*/ 100 h 200"/>
                  <a:gd name="T10" fmla="*/ 100 w 200"/>
                  <a:gd name="T11" fmla="*/ 199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00" h="200">
                    <a:moveTo>
                      <a:pt x="100" y="199"/>
                    </a:moveTo>
                    <a:lnTo>
                      <a:pt x="100" y="199"/>
                    </a:lnTo>
                    <a:cubicBezTo>
                      <a:pt x="45" y="199"/>
                      <a:pt x="0" y="154"/>
                      <a:pt x="0" y="100"/>
                    </a:cubicBezTo>
                    <a:cubicBezTo>
                      <a:pt x="0" y="45"/>
                      <a:pt x="45" y="0"/>
                      <a:pt x="100" y="0"/>
                    </a:cubicBezTo>
                    <a:cubicBezTo>
                      <a:pt x="154" y="0"/>
                      <a:pt x="199" y="45"/>
                      <a:pt x="199" y="100"/>
                    </a:cubicBezTo>
                    <a:cubicBezTo>
                      <a:pt x="199" y="154"/>
                      <a:pt x="154" y="199"/>
                      <a:pt x="100" y="199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125"/>
              </a:p>
            </p:txBody>
          </p:sp>
          <p:sp>
            <p:nvSpPr>
              <p:cNvPr id="45" name="Freeform 120"/>
              <p:cNvSpPr>
                <a:spLocks noChangeArrowheads="1"/>
              </p:cNvSpPr>
              <p:nvPr/>
            </p:nvSpPr>
            <p:spPr bwMode="auto">
              <a:xfrm>
                <a:off x="1624391" y="8657860"/>
                <a:ext cx="53728" cy="55580"/>
              </a:xfrm>
              <a:custGeom>
                <a:avLst/>
                <a:gdLst>
                  <a:gd name="T0" fmla="*/ 129 w 130"/>
                  <a:gd name="T1" fmla="*/ 65 h 131"/>
                  <a:gd name="T2" fmla="*/ 129 w 130"/>
                  <a:gd name="T3" fmla="*/ 65 h 131"/>
                  <a:gd name="T4" fmla="*/ 64 w 130"/>
                  <a:gd name="T5" fmla="*/ 130 h 131"/>
                  <a:gd name="T6" fmla="*/ 0 w 130"/>
                  <a:gd name="T7" fmla="*/ 65 h 131"/>
                  <a:gd name="T8" fmla="*/ 64 w 130"/>
                  <a:gd name="T9" fmla="*/ 0 h 131"/>
                  <a:gd name="T10" fmla="*/ 129 w 130"/>
                  <a:gd name="T11" fmla="*/ 65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0" h="131">
                    <a:moveTo>
                      <a:pt x="129" y="65"/>
                    </a:moveTo>
                    <a:lnTo>
                      <a:pt x="129" y="65"/>
                    </a:lnTo>
                    <a:cubicBezTo>
                      <a:pt x="129" y="100"/>
                      <a:pt x="100" y="130"/>
                      <a:pt x="64" y="130"/>
                    </a:cubicBezTo>
                    <a:cubicBezTo>
                      <a:pt x="29" y="130"/>
                      <a:pt x="0" y="100"/>
                      <a:pt x="0" y="65"/>
                    </a:cubicBezTo>
                    <a:cubicBezTo>
                      <a:pt x="0" y="30"/>
                      <a:pt x="29" y="0"/>
                      <a:pt x="64" y="0"/>
                    </a:cubicBezTo>
                    <a:cubicBezTo>
                      <a:pt x="100" y="0"/>
                      <a:pt x="129" y="30"/>
                      <a:pt x="129" y="65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125"/>
              </a:p>
            </p:txBody>
          </p:sp>
          <p:sp>
            <p:nvSpPr>
              <p:cNvPr id="46" name="Freeform 121"/>
              <p:cNvSpPr>
                <a:spLocks noChangeArrowheads="1"/>
              </p:cNvSpPr>
              <p:nvPr/>
            </p:nvSpPr>
            <p:spPr bwMode="auto">
              <a:xfrm>
                <a:off x="1596601" y="8552255"/>
                <a:ext cx="53727" cy="55580"/>
              </a:xfrm>
              <a:custGeom>
                <a:avLst/>
                <a:gdLst>
                  <a:gd name="T0" fmla="*/ 129 w 130"/>
                  <a:gd name="T1" fmla="*/ 64 h 131"/>
                  <a:gd name="T2" fmla="*/ 129 w 130"/>
                  <a:gd name="T3" fmla="*/ 64 h 131"/>
                  <a:gd name="T4" fmla="*/ 65 w 130"/>
                  <a:gd name="T5" fmla="*/ 130 h 131"/>
                  <a:gd name="T6" fmla="*/ 0 w 130"/>
                  <a:gd name="T7" fmla="*/ 64 h 131"/>
                  <a:gd name="T8" fmla="*/ 65 w 130"/>
                  <a:gd name="T9" fmla="*/ 0 h 131"/>
                  <a:gd name="T10" fmla="*/ 129 w 130"/>
                  <a:gd name="T11" fmla="*/ 6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0" h="131">
                    <a:moveTo>
                      <a:pt x="129" y="64"/>
                    </a:moveTo>
                    <a:lnTo>
                      <a:pt x="129" y="64"/>
                    </a:lnTo>
                    <a:cubicBezTo>
                      <a:pt x="129" y="101"/>
                      <a:pt x="100" y="130"/>
                      <a:pt x="65" y="130"/>
                    </a:cubicBezTo>
                    <a:cubicBezTo>
                      <a:pt x="28" y="130"/>
                      <a:pt x="0" y="101"/>
                      <a:pt x="0" y="64"/>
                    </a:cubicBezTo>
                    <a:cubicBezTo>
                      <a:pt x="0" y="29"/>
                      <a:pt x="28" y="0"/>
                      <a:pt x="65" y="0"/>
                    </a:cubicBezTo>
                    <a:cubicBezTo>
                      <a:pt x="100" y="0"/>
                      <a:pt x="129" y="29"/>
                      <a:pt x="129" y="64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125"/>
              </a:p>
            </p:txBody>
          </p:sp>
          <p:sp>
            <p:nvSpPr>
              <p:cNvPr id="47" name="Freeform 122"/>
              <p:cNvSpPr>
                <a:spLocks noChangeArrowheads="1"/>
              </p:cNvSpPr>
              <p:nvPr/>
            </p:nvSpPr>
            <p:spPr bwMode="auto">
              <a:xfrm>
                <a:off x="1596601" y="8761613"/>
                <a:ext cx="53727" cy="53729"/>
              </a:xfrm>
              <a:custGeom>
                <a:avLst/>
                <a:gdLst>
                  <a:gd name="T0" fmla="*/ 129 w 130"/>
                  <a:gd name="T1" fmla="*/ 65 h 130"/>
                  <a:gd name="T2" fmla="*/ 129 w 130"/>
                  <a:gd name="T3" fmla="*/ 65 h 130"/>
                  <a:gd name="T4" fmla="*/ 65 w 130"/>
                  <a:gd name="T5" fmla="*/ 129 h 130"/>
                  <a:gd name="T6" fmla="*/ 0 w 130"/>
                  <a:gd name="T7" fmla="*/ 65 h 130"/>
                  <a:gd name="T8" fmla="*/ 65 w 130"/>
                  <a:gd name="T9" fmla="*/ 0 h 130"/>
                  <a:gd name="T10" fmla="*/ 129 w 130"/>
                  <a:gd name="T11" fmla="*/ 65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0" h="130">
                    <a:moveTo>
                      <a:pt x="129" y="65"/>
                    </a:moveTo>
                    <a:lnTo>
                      <a:pt x="129" y="65"/>
                    </a:lnTo>
                    <a:cubicBezTo>
                      <a:pt x="129" y="100"/>
                      <a:pt x="100" y="129"/>
                      <a:pt x="65" y="129"/>
                    </a:cubicBezTo>
                    <a:cubicBezTo>
                      <a:pt x="28" y="129"/>
                      <a:pt x="0" y="100"/>
                      <a:pt x="0" y="65"/>
                    </a:cubicBezTo>
                    <a:cubicBezTo>
                      <a:pt x="0" y="29"/>
                      <a:pt x="28" y="0"/>
                      <a:pt x="65" y="0"/>
                    </a:cubicBezTo>
                    <a:cubicBezTo>
                      <a:pt x="100" y="0"/>
                      <a:pt x="129" y="29"/>
                      <a:pt x="129" y="65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125"/>
              </a:p>
            </p:txBody>
          </p:sp>
          <p:sp>
            <p:nvSpPr>
              <p:cNvPr id="48" name="Freeform 123"/>
              <p:cNvSpPr>
                <a:spLocks noChangeArrowheads="1"/>
              </p:cNvSpPr>
              <p:nvPr/>
            </p:nvSpPr>
            <p:spPr bwMode="auto">
              <a:xfrm>
                <a:off x="1483586" y="8706037"/>
                <a:ext cx="101898" cy="62992"/>
              </a:xfrm>
              <a:custGeom>
                <a:avLst/>
                <a:gdLst>
                  <a:gd name="T0" fmla="*/ 228 w 242"/>
                  <a:gd name="T1" fmla="*/ 150 h 151"/>
                  <a:gd name="T2" fmla="*/ 228 w 242"/>
                  <a:gd name="T3" fmla="*/ 150 h 151"/>
                  <a:gd name="T4" fmla="*/ 222 w 242"/>
                  <a:gd name="T5" fmla="*/ 149 h 151"/>
                  <a:gd name="T6" fmla="*/ 191 w 242"/>
                  <a:gd name="T7" fmla="*/ 131 h 151"/>
                  <a:gd name="T8" fmla="*/ 187 w 242"/>
                  <a:gd name="T9" fmla="*/ 114 h 151"/>
                  <a:gd name="T10" fmla="*/ 203 w 242"/>
                  <a:gd name="T11" fmla="*/ 110 h 151"/>
                  <a:gd name="T12" fmla="*/ 234 w 242"/>
                  <a:gd name="T13" fmla="*/ 129 h 151"/>
                  <a:gd name="T14" fmla="*/ 238 w 242"/>
                  <a:gd name="T15" fmla="*/ 145 h 151"/>
                  <a:gd name="T16" fmla="*/ 228 w 242"/>
                  <a:gd name="T17" fmla="*/ 150 h 151"/>
                  <a:gd name="T18" fmla="*/ 136 w 242"/>
                  <a:gd name="T19" fmla="*/ 97 h 151"/>
                  <a:gd name="T20" fmla="*/ 136 w 242"/>
                  <a:gd name="T21" fmla="*/ 97 h 151"/>
                  <a:gd name="T22" fmla="*/ 130 w 242"/>
                  <a:gd name="T23" fmla="*/ 95 h 151"/>
                  <a:gd name="T24" fmla="*/ 99 w 242"/>
                  <a:gd name="T25" fmla="*/ 77 h 151"/>
                  <a:gd name="T26" fmla="*/ 94 w 242"/>
                  <a:gd name="T27" fmla="*/ 61 h 151"/>
                  <a:gd name="T28" fmla="*/ 111 w 242"/>
                  <a:gd name="T29" fmla="*/ 57 h 151"/>
                  <a:gd name="T30" fmla="*/ 141 w 242"/>
                  <a:gd name="T31" fmla="*/ 75 h 151"/>
                  <a:gd name="T32" fmla="*/ 145 w 242"/>
                  <a:gd name="T33" fmla="*/ 91 h 151"/>
                  <a:gd name="T34" fmla="*/ 136 w 242"/>
                  <a:gd name="T35" fmla="*/ 97 h 151"/>
                  <a:gd name="T36" fmla="*/ 43 w 242"/>
                  <a:gd name="T37" fmla="*/ 43 h 151"/>
                  <a:gd name="T38" fmla="*/ 43 w 242"/>
                  <a:gd name="T39" fmla="*/ 43 h 151"/>
                  <a:gd name="T40" fmla="*/ 37 w 242"/>
                  <a:gd name="T41" fmla="*/ 42 h 151"/>
                  <a:gd name="T42" fmla="*/ 7 w 242"/>
                  <a:gd name="T43" fmla="*/ 23 h 151"/>
                  <a:gd name="T44" fmla="*/ 3 w 242"/>
                  <a:gd name="T45" fmla="*/ 7 h 151"/>
                  <a:gd name="T46" fmla="*/ 18 w 242"/>
                  <a:gd name="T47" fmla="*/ 3 h 151"/>
                  <a:gd name="T48" fmla="*/ 50 w 242"/>
                  <a:gd name="T49" fmla="*/ 21 h 151"/>
                  <a:gd name="T50" fmla="*/ 54 w 242"/>
                  <a:gd name="T51" fmla="*/ 37 h 151"/>
                  <a:gd name="T52" fmla="*/ 43 w 242"/>
                  <a:gd name="T53" fmla="*/ 43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42" h="151">
                    <a:moveTo>
                      <a:pt x="228" y="150"/>
                    </a:moveTo>
                    <a:lnTo>
                      <a:pt x="228" y="150"/>
                    </a:lnTo>
                    <a:cubicBezTo>
                      <a:pt x="226" y="150"/>
                      <a:pt x="223" y="150"/>
                      <a:pt x="222" y="149"/>
                    </a:cubicBezTo>
                    <a:cubicBezTo>
                      <a:pt x="191" y="131"/>
                      <a:pt x="191" y="131"/>
                      <a:pt x="191" y="131"/>
                    </a:cubicBezTo>
                    <a:cubicBezTo>
                      <a:pt x="186" y="128"/>
                      <a:pt x="184" y="121"/>
                      <a:pt x="187" y="114"/>
                    </a:cubicBezTo>
                    <a:cubicBezTo>
                      <a:pt x="190" y="109"/>
                      <a:pt x="197" y="107"/>
                      <a:pt x="203" y="110"/>
                    </a:cubicBezTo>
                    <a:cubicBezTo>
                      <a:pt x="234" y="129"/>
                      <a:pt x="234" y="129"/>
                      <a:pt x="234" y="129"/>
                    </a:cubicBezTo>
                    <a:cubicBezTo>
                      <a:pt x="239" y="132"/>
                      <a:pt x="241" y="139"/>
                      <a:pt x="238" y="145"/>
                    </a:cubicBezTo>
                    <a:cubicBezTo>
                      <a:pt x="236" y="148"/>
                      <a:pt x="232" y="150"/>
                      <a:pt x="228" y="150"/>
                    </a:cubicBezTo>
                    <a:close/>
                    <a:moveTo>
                      <a:pt x="136" y="97"/>
                    </a:moveTo>
                    <a:lnTo>
                      <a:pt x="136" y="97"/>
                    </a:lnTo>
                    <a:cubicBezTo>
                      <a:pt x="134" y="97"/>
                      <a:pt x="132" y="96"/>
                      <a:pt x="130" y="95"/>
                    </a:cubicBezTo>
                    <a:cubicBezTo>
                      <a:pt x="99" y="77"/>
                      <a:pt x="99" y="77"/>
                      <a:pt x="99" y="77"/>
                    </a:cubicBezTo>
                    <a:cubicBezTo>
                      <a:pt x="93" y="74"/>
                      <a:pt x="91" y="67"/>
                      <a:pt x="94" y="61"/>
                    </a:cubicBezTo>
                    <a:cubicBezTo>
                      <a:pt x="97" y="55"/>
                      <a:pt x="105" y="54"/>
                      <a:pt x="111" y="57"/>
                    </a:cubicBezTo>
                    <a:cubicBezTo>
                      <a:pt x="141" y="75"/>
                      <a:pt x="141" y="75"/>
                      <a:pt x="141" y="75"/>
                    </a:cubicBezTo>
                    <a:cubicBezTo>
                      <a:pt x="147" y="78"/>
                      <a:pt x="149" y="85"/>
                      <a:pt x="145" y="91"/>
                    </a:cubicBezTo>
                    <a:cubicBezTo>
                      <a:pt x="143" y="95"/>
                      <a:pt x="139" y="97"/>
                      <a:pt x="136" y="97"/>
                    </a:cubicBezTo>
                    <a:close/>
                    <a:moveTo>
                      <a:pt x="43" y="43"/>
                    </a:moveTo>
                    <a:lnTo>
                      <a:pt x="43" y="43"/>
                    </a:lnTo>
                    <a:cubicBezTo>
                      <a:pt x="41" y="43"/>
                      <a:pt x="39" y="43"/>
                      <a:pt x="37" y="42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1" y="20"/>
                      <a:pt x="0" y="12"/>
                      <a:pt x="3" y="7"/>
                    </a:cubicBezTo>
                    <a:cubicBezTo>
                      <a:pt x="6" y="2"/>
                      <a:pt x="13" y="0"/>
                      <a:pt x="18" y="3"/>
                    </a:cubicBezTo>
                    <a:cubicBezTo>
                      <a:pt x="50" y="21"/>
                      <a:pt x="50" y="21"/>
                      <a:pt x="50" y="21"/>
                    </a:cubicBezTo>
                    <a:cubicBezTo>
                      <a:pt x="55" y="24"/>
                      <a:pt x="57" y="31"/>
                      <a:pt x="54" y="37"/>
                    </a:cubicBezTo>
                    <a:cubicBezTo>
                      <a:pt x="52" y="41"/>
                      <a:pt x="48" y="43"/>
                      <a:pt x="43" y="4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125"/>
              </a:p>
            </p:txBody>
          </p:sp>
          <p:sp>
            <p:nvSpPr>
              <p:cNvPr id="49" name="Freeform 124"/>
              <p:cNvSpPr>
                <a:spLocks noChangeArrowheads="1"/>
              </p:cNvSpPr>
              <p:nvPr/>
            </p:nvSpPr>
            <p:spPr bwMode="auto">
              <a:xfrm>
                <a:off x="1485438" y="8598586"/>
                <a:ext cx="103750" cy="61140"/>
              </a:xfrm>
              <a:custGeom>
                <a:avLst/>
                <a:gdLst>
                  <a:gd name="T0" fmla="*/ 13 w 245"/>
                  <a:gd name="T1" fmla="*/ 146 h 147"/>
                  <a:gd name="T2" fmla="*/ 13 w 245"/>
                  <a:gd name="T3" fmla="*/ 146 h 147"/>
                  <a:gd name="T4" fmla="*/ 3 w 245"/>
                  <a:gd name="T5" fmla="*/ 139 h 147"/>
                  <a:gd name="T6" fmla="*/ 7 w 245"/>
                  <a:gd name="T7" fmla="*/ 124 h 147"/>
                  <a:gd name="T8" fmla="*/ 38 w 245"/>
                  <a:gd name="T9" fmla="*/ 107 h 147"/>
                  <a:gd name="T10" fmla="*/ 54 w 245"/>
                  <a:gd name="T11" fmla="*/ 111 h 147"/>
                  <a:gd name="T12" fmla="*/ 50 w 245"/>
                  <a:gd name="T13" fmla="*/ 127 h 147"/>
                  <a:gd name="T14" fmla="*/ 18 w 245"/>
                  <a:gd name="T15" fmla="*/ 145 h 147"/>
                  <a:gd name="T16" fmla="*/ 13 w 245"/>
                  <a:gd name="T17" fmla="*/ 146 h 147"/>
                  <a:gd name="T18" fmla="*/ 106 w 245"/>
                  <a:gd name="T19" fmla="*/ 94 h 147"/>
                  <a:gd name="T20" fmla="*/ 106 w 245"/>
                  <a:gd name="T21" fmla="*/ 94 h 147"/>
                  <a:gd name="T22" fmla="*/ 97 w 245"/>
                  <a:gd name="T23" fmla="*/ 88 h 147"/>
                  <a:gd name="T24" fmla="*/ 101 w 245"/>
                  <a:gd name="T25" fmla="*/ 72 h 147"/>
                  <a:gd name="T26" fmla="*/ 132 w 245"/>
                  <a:gd name="T27" fmla="*/ 55 h 147"/>
                  <a:gd name="T28" fmla="*/ 148 w 245"/>
                  <a:gd name="T29" fmla="*/ 59 h 147"/>
                  <a:gd name="T30" fmla="*/ 143 w 245"/>
                  <a:gd name="T31" fmla="*/ 75 h 147"/>
                  <a:gd name="T32" fmla="*/ 112 w 245"/>
                  <a:gd name="T33" fmla="*/ 93 h 147"/>
                  <a:gd name="T34" fmla="*/ 106 w 245"/>
                  <a:gd name="T35" fmla="*/ 94 h 147"/>
                  <a:gd name="T36" fmla="*/ 200 w 245"/>
                  <a:gd name="T37" fmla="*/ 43 h 147"/>
                  <a:gd name="T38" fmla="*/ 200 w 245"/>
                  <a:gd name="T39" fmla="*/ 43 h 147"/>
                  <a:gd name="T40" fmla="*/ 189 w 245"/>
                  <a:gd name="T41" fmla="*/ 36 h 147"/>
                  <a:gd name="T42" fmla="*/ 194 w 245"/>
                  <a:gd name="T43" fmla="*/ 21 h 147"/>
                  <a:gd name="T44" fmla="*/ 226 w 245"/>
                  <a:gd name="T45" fmla="*/ 3 h 147"/>
                  <a:gd name="T46" fmla="*/ 241 w 245"/>
                  <a:gd name="T47" fmla="*/ 8 h 147"/>
                  <a:gd name="T48" fmla="*/ 237 w 245"/>
                  <a:gd name="T49" fmla="*/ 24 h 147"/>
                  <a:gd name="T50" fmla="*/ 206 w 245"/>
                  <a:gd name="T51" fmla="*/ 41 h 147"/>
                  <a:gd name="T52" fmla="*/ 200 w 245"/>
                  <a:gd name="T53" fmla="*/ 43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45" h="147">
                    <a:moveTo>
                      <a:pt x="13" y="146"/>
                    </a:moveTo>
                    <a:lnTo>
                      <a:pt x="13" y="146"/>
                    </a:lnTo>
                    <a:cubicBezTo>
                      <a:pt x="9" y="146"/>
                      <a:pt x="5" y="144"/>
                      <a:pt x="3" y="139"/>
                    </a:cubicBezTo>
                    <a:cubicBezTo>
                      <a:pt x="0" y="134"/>
                      <a:pt x="2" y="127"/>
                      <a:pt x="7" y="124"/>
                    </a:cubicBezTo>
                    <a:cubicBezTo>
                      <a:pt x="38" y="107"/>
                      <a:pt x="38" y="107"/>
                      <a:pt x="38" y="107"/>
                    </a:cubicBezTo>
                    <a:cubicBezTo>
                      <a:pt x="45" y="104"/>
                      <a:pt x="51" y="106"/>
                      <a:pt x="54" y="111"/>
                    </a:cubicBezTo>
                    <a:cubicBezTo>
                      <a:pt x="57" y="117"/>
                      <a:pt x="55" y="124"/>
                      <a:pt x="50" y="127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6" y="146"/>
                      <a:pt x="14" y="146"/>
                      <a:pt x="13" y="146"/>
                    </a:cubicBezTo>
                    <a:close/>
                    <a:moveTo>
                      <a:pt x="106" y="94"/>
                    </a:moveTo>
                    <a:lnTo>
                      <a:pt x="106" y="94"/>
                    </a:lnTo>
                    <a:cubicBezTo>
                      <a:pt x="102" y="94"/>
                      <a:pt x="99" y="92"/>
                      <a:pt x="97" y="88"/>
                    </a:cubicBezTo>
                    <a:cubicBezTo>
                      <a:pt x="93" y="82"/>
                      <a:pt x="96" y="75"/>
                      <a:pt x="101" y="72"/>
                    </a:cubicBezTo>
                    <a:cubicBezTo>
                      <a:pt x="132" y="55"/>
                      <a:pt x="132" y="55"/>
                      <a:pt x="132" y="55"/>
                    </a:cubicBezTo>
                    <a:cubicBezTo>
                      <a:pt x="137" y="52"/>
                      <a:pt x="144" y="54"/>
                      <a:pt x="148" y="59"/>
                    </a:cubicBezTo>
                    <a:cubicBezTo>
                      <a:pt x="151" y="66"/>
                      <a:pt x="149" y="72"/>
                      <a:pt x="143" y="75"/>
                    </a:cubicBezTo>
                    <a:cubicBezTo>
                      <a:pt x="112" y="93"/>
                      <a:pt x="112" y="93"/>
                      <a:pt x="112" y="93"/>
                    </a:cubicBezTo>
                    <a:cubicBezTo>
                      <a:pt x="110" y="94"/>
                      <a:pt x="108" y="94"/>
                      <a:pt x="106" y="94"/>
                    </a:cubicBezTo>
                    <a:close/>
                    <a:moveTo>
                      <a:pt x="200" y="43"/>
                    </a:moveTo>
                    <a:lnTo>
                      <a:pt x="200" y="43"/>
                    </a:lnTo>
                    <a:cubicBezTo>
                      <a:pt x="195" y="43"/>
                      <a:pt x="191" y="41"/>
                      <a:pt x="189" y="36"/>
                    </a:cubicBezTo>
                    <a:cubicBezTo>
                      <a:pt x="186" y="31"/>
                      <a:pt x="188" y="24"/>
                      <a:pt x="194" y="21"/>
                    </a:cubicBezTo>
                    <a:cubicBezTo>
                      <a:pt x="226" y="3"/>
                      <a:pt x="226" y="3"/>
                      <a:pt x="226" y="3"/>
                    </a:cubicBezTo>
                    <a:cubicBezTo>
                      <a:pt x="231" y="0"/>
                      <a:pt x="238" y="2"/>
                      <a:pt x="241" y="8"/>
                    </a:cubicBezTo>
                    <a:cubicBezTo>
                      <a:pt x="244" y="14"/>
                      <a:pt x="242" y="21"/>
                      <a:pt x="237" y="24"/>
                    </a:cubicBezTo>
                    <a:cubicBezTo>
                      <a:pt x="206" y="41"/>
                      <a:pt x="206" y="41"/>
                      <a:pt x="206" y="41"/>
                    </a:cubicBezTo>
                    <a:cubicBezTo>
                      <a:pt x="204" y="42"/>
                      <a:pt x="202" y="43"/>
                      <a:pt x="200" y="4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125"/>
              </a:p>
            </p:txBody>
          </p:sp>
          <p:sp>
            <p:nvSpPr>
              <p:cNvPr id="50" name="Freeform 125"/>
              <p:cNvSpPr>
                <a:spLocks noChangeArrowheads="1"/>
              </p:cNvSpPr>
              <p:nvPr/>
            </p:nvSpPr>
            <p:spPr bwMode="auto">
              <a:xfrm>
                <a:off x="1492848" y="8678154"/>
                <a:ext cx="114866" cy="11116"/>
              </a:xfrm>
              <a:custGeom>
                <a:avLst/>
                <a:gdLst>
                  <a:gd name="T0" fmla="*/ 262 w 274"/>
                  <a:gd name="T1" fmla="*/ 24 h 25"/>
                  <a:gd name="T2" fmla="*/ 262 w 274"/>
                  <a:gd name="T3" fmla="*/ 24 h 25"/>
                  <a:gd name="T4" fmla="*/ 225 w 274"/>
                  <a:gd name="T5" fmla="*/ 24 h 25"/>
                  <a:gd name="T6" fmla="*/ 214 w 274"/>
                  <a:gd name="T7" fmla="*/ 13 h 25"/>
                  <a:gd name="T8" fmla="*/ 225 w 274"/>
                  <a:gd name="T9" fmla="*/ 0 h 25"/>
                  <a:gd name="T10" fmla="*/ 262 w 274"/>
                  <a:gd name="T11" fmla="*/ 0 h 25"/>
                  <a:gd name="T12" fmla="*/ 273 w 274"/>
                  <a:gd name="T13" fmla="*/ 13 h 25"/>
                  <a:gd name="T14" fmla="*/ 262 w 274"/>
                  <a:gd name="T15" fmla="*/ 24 h 25"/>
                  <a:gd name="T16" fmla="*/ 154 w 274"/>
                  <a:gd name="T17" fmla="*/ 24 h 25"/>
                  <a:gd name="T18" fmla="*/ 154 w 274"/>
                  <a:gd name="T19" fmla="*/ 24 h 25"/>
                  <a:gd name="T20" fmla="*/ 119 w 274"/>
                  <a:gd name="T21" fmla="*/ 24 h 25"/>
                  <a:gd name="T22" fmla="*/ 108 w 274"/>
                  <a:gd name="T23" fmla="*/ 13 h 25"/>
                  <a:gd name="T24" fmla="*/ 119 w 274"/>
                  <a:gd name="T25" fmla="*/ 0 h 25"/>
                  <a:gd name="T26" fmla="*/ 154 w 274"/>
                  <a:gd name="T27" fmla="*/ 0 h 25"/>
                  <a:gd name="T28" fmla="*/ 166 w 274"/>
                  <a:gd name="T29" fmla="*/ 13 h 25"/>
                  <a:gd name="T30" fmla="*/ 154 w 274"/>
                  <a:gd name="T31" fmla="*/ 24 h 25"/>
                  <a:gd name="T32" fmla="*/ 47 w 274"/>
                  <a:gd name="T33" fmla="*/ 24 h 25"/>
                  <a:gd name="T34" fmla="*/ 47 w 274"/>
                  <a:gd name="T35" fmla="*/ 24 h 25"/>
                  <a:gd name="T36" fmla="*/ 12 w 274"/>
                  <a:gd name="T37" fmla="*/ 24 h 25"/>
                  <a:gd name="T38" fmla="*/ 0 w 274"/>
                  <a:gd name="T39" fmla="*/ 13 h 25"/>
                  <a:gd name="T40" fmla="*/ 12 w 274"/>
                  <a:gd name="T41" fmla="*/ 0 h 25"/>
                  <a:gd name="T42" fmla="*/ 47 w 274"/>
                  <a:gd name="T43" fmla="*/ 0 h 25"/>
                  <a:gd name="T44" fmla="*/ 60 w 274"/>
                  <a:gd name="T45" fmla="*/ 13 h 25"/>
                  <a:gd name="T46" fmla="*/ 47 w 274"/>
                  <a:gd name="T47" fmla="*/ 2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74" h="25">
                    <a:moveTo>
                      <a:pt x="262" y="24"/>
                    </a:moveTo>
                    <a:lnTo>
                      <a:pt x="262" y="24"/>
                    </a:lnTo>
                    <a:cubicBezTo>
                      <a:pt x="225" y="24"/>
                      <a:pt x="225" y="24"/>
                      <a:pt x="225" y="24"/>
                    </a:cubicBezTo>
                    <a:cubicBezTo>
                      <a:pt x="219" y="24"/>
                      <a:pt x="214" y="19"/>
                      <a:pt x="214" y="13"/>
                    </a:cubicBezTo>
                    <a:cubicBezTo>
                      <a:pt x="214" y="7"/>
                      <a:pt x="219" y="0"/>
                      <a:pt x="225" y="0"/>
                    </a:cubicBezTo>
                    <a:cubicBezTo>
                      <a:pt x="262" y="0"/>
                      <a:pt x="262" y="0"/>
                      <a:pt x="262" y="0"/>
                    </a:cubicBezTo>
                    <a:cubicBezTo>
                      <a:pt x="268" y="0"/>
                      <a:pt x="273" y="7"/>
                      <a:pt x="273" y="13"/>
                    </a:cubicBezTo>
                    <a:cubicBezTo>
                      <a:pt x="273" y="19"/>
                      <a:pt x="268" y="24"/>
                      <a:pt x="262" y="24"/>
                    </a:cubicBezTo>
                    <a:close/>
                    <a:moveTo>
                      <a:pt x="154" y="24"/>
                    </a:moveTo>
                    <a:lnTo>
                      <a:pt x="154" y="24"/>
                    </a:lnTo>
                    <a:cubicBezTo>
                      <a:pt x="119" y="24"/>
                      <a:pt x="119" y="24"/>
                      <a:pt x="119" y="24"/>
                    </a:cubicBezTo>
                    <a:cubicBezTo>
                      <a:pt x="113" y="24"/>
                      <a:pt x="108" y="19"/>
                      <a:pt x="108" y="13"/>
                    </a:cubicBezTo>
                    <a:cubicBezTo>
                      <a:pt x="108" y="7"/>
                      <a:pt x="113" y="0"/>
                      <a:pt x="119" y="0"/>
                    </a:cubicBezTo>
                    <a:cubicBezTo>
                      <a:pt x="154" y="0"/>
                      <a:pt x="154" y="0"/>
                      <a:pt x="154" y="0"/>
                    </a:cubicBezTo>
                    <a:cubicBezTo>
                      <a:pt x="161" y="0"/>
                      <a:pt x="166" y="7"/>
                      <a:pt x="166" y="13"/>
                    </a:cubicBezTo>
                    <a:cubicBezTo>
                      <a:pt x="166" y="19"/>
                      <a:pt x="161" y="24"/>
                      <a:pt x="154" y="24"/>
                    </a:cubicBezTo>
                    <a:close/>
                    <a:moveTo>
                      <a:pt x="47" y="24"/>
                    </a:moveTo>
                    <a:lnTo>
                      <a:pt x="47" y="24"/>
                    </a:lnTo>
                    <a:cubicBezTo>
                      <a:pt x="12" y="24"/>
                      <a:pt x="12" y="24"/>
                      <a:pt x="12" y="24"/>
                    </a:cubicBezTo>
                    <a:cubicBezTo>
                      <a:pt x="6" y="24"/>
                      <a:pt x="0" y="19"/>
                      <a:pt x="0" y="13"/>
                    </a:cubicBezTo>
                    <a:cubicBezTo>
                      <a:pt x="0" y="7"/>
                      <a:pt x="6" y="0"/>
                      <a:pt x="12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54" y="0"/>
                      <a:pt x="60" y="7"/>
                      <a:pt x="60" y="13"/>
                    </a:cubicBezTo>
                    <a:cubicBezTo>
                      <a:pt x="60" y="19"/>
                      <a:pt x="54" y="24"/>
                      <a:pt x="47" y="2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125"/>
              </a:p>
            </p:txBody>
          </p:sp>
        </p:grpSp>
        <p:grpSp>
          <p:nvGrpSpPr>
            <p:cNvPr id="36" name="Group 115"/>
            <p:cNvGrpSpPr>
              <a:grpSpLocks noChangeAspect="1"/>
            </p:cNvGrpSpPr>
            <p:nvPr/>
          </p:nvGrpSpPr>
          <p:grpSpPr>
            <a:xfrm rot="16200000">
              <a:off x="7081047" y="1303099"/>
              <a:ext cx="1408079" cy="1298347"/>
              <a:chOff x="1392801" y="8552255"/>
              <a:chExt cx="285314" cy="263087"/>
            </a:xfrm>
            <a:solidFill>
              <a:srgbClr val="0078EF"/>
            </a:solidFill>
          </p:grpSpPr>
          <p:sp>
            <p:nvSpPr>
              <p:cNvPr id="37" name="Freeform 119"/>
              <p:cNvSpPr>
                <a:spLocks noChangeArrowheads="1"/>
              </p:cNvSpPr>
              <p:nvPr/>
            </p:nvSpPr>
            <p:spPr bwMode="auto">
              <a:xfrm>
                <a:off x="1392801" y="8643039"/>
                <a:ext cx="83370" cy="83372"/>
              </a:xfrm>
              <a:custGeom>
                <a:avLst/>
                <a:gdLst>
                  <a:gd name="T0" fmla="*/ 100 w 200"/>
                  <a:gd name="T1" fmla="*/ 199 h 200"/>
                  <a:gd name="T2" fmla="*/ 100 w 200"/>
                  <a:gd name="T3" fmla="*/ 199 h 200"/>
                  <a:gd name="T4" fmla="*/ 0 w 200"/>
                  <a:gd name="T5" fmla="*/ 100 h 200"/>
                  <a:gd name="T6" fmla="*/ 100 w 200"/>
                  <a:gd name="T7" fmla="*/ 0 h 200"/>
                  <a:gd name="T8" fmla="*/ 199 w 200"/>
                  <a:gd name="T9" fmla="*/ 100 h 200"/>
                  <a:gd name="T10" fmla="*/ 100 w 200"/>
                  <a:gd name="T11" fmla="*/ 199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00" h="200">
                    <a:moveTo>
                      <a:pt x="100" y="199"/>
                    </a:moveTo>
                    <a:lnTo>
                      <a:pt x="100" y="199"/>
                    </a:lnTo>
                    <a:cubicBezTo>
                      <a:pt x="45" y="199"/>
                      <a:pt x="0" y="154"/>
                      <a:pt x="0" y="100"/>
                    </a:cubicBezTo>
                    <a:cubicBezTo>
                      <a:pt x="0" y="45"/>
                      <a:pt x="45" y="0"/>
                      <a:pt x="100" y="0"/>
                    </a:cubicBezTo>
                    <a:cubicBezTo>
                      <a:pt x="154" y="0"/>
                      <a:pt x="199" y="45"/>
                      <a:pt x="199" y="100"/>
                    </a:cubicBezTo>
                    <a:cubicBezTo>
                      <a:pt x="199" y="154"/>
                      <a:pt x="154" y="199"/>
                      <a:pt x="100" y="199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125"/>
              </a:p>
            </p:txBody>
          </p:sp>
          <p:sp>
            <p:nvSpPr>
              <p:cNvPr id="38" name="Freeform 120"/>
              <p:cNvSpPr>
                <a:spLocks noChangeArrowheads="1"/>
              </p:cNvSpPr>
              <p:nvPr/>
            </p:nvSpPr>
            <p:spPr bwMode="auto">
              <a:xfrm>
                <a:off x="1624387" y="8657860"/>
                <a:ext cx="53728" cy="55580"/>
              </a:xfrm>
              <a:custGeom>
                <a:avLst/>
                <a:gdLst>
                  <a:gd name="T0" fmla="*/ 129 w 130"/>
                  <a:gd name="T1" fmla="*/ 65 h 131"/>
                  <a:gd name="T2" fmla="*/ 129 w 130"/>
                  <a:gd name="T3" fmla="*/ 65 h 131"/>
                  <a:gd name="T4" fmla="*/ 64 w 130"/>
                  <a:gd name="T5" fmla="*/ 130 h 131"/>
                  <a:gd name="T6" fmla="*/ 0 w 130"/>
                  <a:gd name="T7" fmla="*/ 65 h 131"/>
                  <a:gd name="T8" fmla="*/ 64 w 130"/>
                  <a:gd name="T9" fmla="*/ 0 h 131"/>
                  <a:gd name="T10" fmla="*/ 129 w 130"/>
                  <a:gd name="T11" fmla="*/ 65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0" h="131">
                    <a:moveTo>
                      <a:pt x="129" y="65"/>
                    </a:moveTo>
                    <a:lnTo>
                      <a:pt x="129" y="65"/>
                    </a:lnTo>
                    <a:cubicBezTo>
                      <a:pt x="129" y="100"/>
                      <a:pt x="100" y="130"/>
                      <a:pt x="64" y="130"/>
                    </a:cubicBezTo>
                    <a:cubicBezTo>
                      <a:pt x="29" y="130"/>
                      <a:pt x="0" y="100"/>
                      <a:pt x="0" y="65"/>
                    </a:cubicBezTo>
                    <a:cubicBezTo>
                      <a:pt x="0" y="30"/>
                      <a:pt x="29" y="0"/>
                      <a:pt x="64" y="0"/>
                    </a:cubicBezTo>
                    <a:cubicBezTo>
                      <a:pt x="100" y="0"/>
                      <a:pt x="129" y="30"/>
                      <a:pt x="129" y="65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125"/>
              </a:p>
            </p:txBody>
          </p:sp>
          <p:sp>
            <p:nvSpPr>
              <p:cNvPr id="39" name="Freeform 121"/>
              <p:cNvSpPr>
                <a:spLocks noChangeArrowheads="1"/>
              </p:cNvSpPr>
              <p:nvPr/>
            </p:nvSpPr>
            <p:spPr bwMode="auto">
              <a:xfrm>
                <a:off x="1596598" y="8552255"/>
                <a:ext cx="53727" cy="55580"/>
              </a:xfrm>
              <a:custGeom>
                <a:avLst/>
                <a:gdLst>
                  <a:gd name="T0" fmla="*/ 129 w 130"/>
                  <a:gd name="T1" fmla="*/ 64 h 131"/>
                  <a:gd name="T2" fmla="*/ 129 w 130"/>
                  <a:gd name="T3" fmla="*/ 64 h 131"/>
                  <a:gd name="T4" fmla="*/ 65 w 130"/>
                  <a:gd name="T5" fmla="*/ 130 h 131"/>
                  <a:gd name="T6" fmla="*/ 0 w 130"/>
                  <a:gd name="T7" fmla="*/ 64 h 131"/>
                  <a:gd name="T8" fmla="*/ 65 w 130"/>
                  <a:gd name="T9" fmla="*/ 0 h 131"/>
                  <a:gd name="T10" fmla="*/ 129 w 130"/>
                  <a:gd name="T11" fmla="*/ 6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0" h="131">
                    <a:moveTo>
                      <a:pt x="129" y="64"/>
                    </a:moveTo>
                    <a:lnTo>
                      <a:pt x="129" y="64"/>
                    </a:lnTo>
                    <a:cubicBezTo>
                      <a:pt x="129" y="101"/>
                      <a:pt x="100" y="130"/>
                      <a:pt x="65" y="130"/>
                    </a:cubicBezTo>
                    <a:cubicBezTo>
                      <a:pt x="28" y="130"/>
                      <a:pt x="0" y="101"/>
                      <a:pt x="0" y="64"/>
                    </a:cubicBezTo>
                    <a:cubicBezTo>
                      <a:pt x="0" y="29"/>
                      <a:pt x="28" y="0"/>
                      <a:pt x="65" y="0"/>
                    </a:cubicBezTo>
                    <a:cubicBezTo>
                      <a:pt x="100" y="0"/>
                      <a:pt x="129" y="29"/>
                      <a:pt x="129" y="64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125"/>
              </a:p>
            </p:txBody>
          </p:sp>
          <p:sp>
            <p:nvSpPr>
              <p:cNvPr id="40" name="Freeform 122"/>
              <p:cNvSpPr>
                <a:spLocks noChangeArrowheads="1"/>
              </p:cNvSpPr>
              <p:nvPr/>
            </p:nvSpPr>
            <p:spPr bwMode="auto">
              <a:xfrm>
                <a:off x="1596597" y="8761613"/>
                <a:ext cx="53727" cy="53729"/>
              </a:xfrm>
              <a:custGeom>
                <a:avLst/>
                <a:gdLst>
                  <a:gd name="T0" fmla="*/ 129 w 130"/>
                  <a:gd name="T1" fmla="*/ 65 h 130"/>
                  <a:gd name="T2" fmla="*/ 129 w 130"/>
                  <a:gd name="T3" fmla="*/ 65 h 130"/>
                  <a:gd name="T4" fmla="*/ 65 w 130"/>
                  <a:gd name="T5" fmla="*/ 129 h 130"/>
                  <a:gd name="T6" fmla="*/ 0 w 130"/>
                  <a:gd name="T7" fmla="*/ 65 h 130"/>
                  <a:gd name="T8" fmla="*/ 65 w 130"/>
                  <a:gd name="T9" fmla="*/ 0 h 130"/>
                  <a:gd name="T10" fmla="*/ 129 w 130"/>
                  <a:gd name="T11" fmla="*/ 65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0" h="130">
                    <a:moveTo>
                      <a:pt x="129" y="65"/>
                    </a:moveTo>
                    <a:lnTo>
                      <a:pt x="129" y="65"/>
                    </a:lnTo>
                    <a:cubicBezTo>
                      <a:pt x="129" y="100"/>
                      <a:pt x="100" y="129"/>
                      <a:pt x="65" y="129"/>
                    </a:cubicBezTo>
                    <a:cubicBezTo>
                      <a:pt x="28" y="129"/>
                      <a:pt x="0" y="100"/>
                      <a:pt x="0" y="65"/>
                    </a:cubicBezTo>
                    <a:cubicBezTo>
                      <a:pt x="0" y="29"/>
                      <a:pt x="28" y="0"/>
                      <a:pt x="65" y="0"/>
                    </a:cubicBezTo>
                    <a:cubicBezTo>
                      <a:pt x="100" y="0"/>
                      <a:pt x="129" y="29"/>
                      <a:pt x="129" y="65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125"/>
              </a:p>
            </p:txBody>
          </p:sp>
          <p:sp>
            <p:nvSpPr>
              <p:cNvPr id="41" name="Freeform 123"/>
              <p:cNvSpPr>
                <a:spLocks noChangeArrowheads="1"/>
              </p:cNvSpPr>
              <p:nvPr/>
            </p:nvSpPr>
            <p:spPr bwMode="auto">
              <a:xfrm>
                <a:off x="1483585" y="8706037"/>
                <a:ext cx="101898" cy="62992"/>
              </a:xfrm>
              <a:custGeom>
                <a:avLst/>
                <a:gdLst>
                  <a:gd name="T0" fmla="*/ 228 w 242"/>
                  <a:gd name="T1" fmla="*/ 150 h 151"/>
                  <a:gd name="T2" fmla="*/ 228 w 242"/>
                  <a:gd name="T3" fmla="*/ 150 h 151"/>
                  <a:gd name="T4" fmla="*/ 222 w 242"/>
                  <a:gd name="T5" fmla="*/ 149 h 151"/>
                  <a:gd name="T6" fmla="*/ 191 w 242"/>
                  <a:gd name="T7" fmla="*/ 131 h 151"/>
                  <a:gd name="T8" fmla="*/ 187 w 242"/>
                  <a:gd name="T9" fmla="*/ 114 h 151"/>
                  <a:gd name="T10" fmla="*/ 203 w 242"/>
                  <a:gd name="T11" fmla="*/ 110 h 151"/>
                  <a:gd name="T12" fmla="*/ 234 w 242"/>
                  <a:gd name="T13" fmla="*/ 129 h 151"/>
                  <a:gd name="T14" fmla="*/ 238 w 242"/>
                  <a:gd name="T15" fmla="*/ 145 h 151"/>
                  <a:gd name="T16" fmla="*/ 228 w 242"/>
                  <a:gd name="T17" fmla="*/ 150 h 151"/>
                  <a:gd name="T18" fmla="*/ 136 w 242"/>
                  <a:gd name="T19" fmla="*/ 97 h 151"/>
                  <a:gd name="T20" fmla="*/ 136 w 242"/>
                  <a:gd name="T21" fmla="*/ 97 h 151"/>
                  <a:gd name="T22" fmla="*/ 130 w 242"/>
                  <a:gd name="T23" fmla="*/ 95 h 151"/>
                  <a:gd name="T24" fmla="*/ 99 w 242"/>
                  <a:gd name="T25" fmla="*/ 77 h 151"/>
                  <a:gd name="T26" fmla="*/ 94 w 242"/>
                  <a:gd name="T27" fmla="*/ 61 h 151"/>
                  <a:gd name="T28" fmla="*/ 111 w 242"/>
                  <a:gd name="T29" fmla="*/ 57 h 151"/>
                  <a:gd name="T30" fmla="*/ 141 w 242"/>
                  <a:gd name="T31" fmla="*/ 75 h 151"/>
                  <a:gd name="T32" fmla="*/ 145 w 242"/>
                  <a:gd name="T33" fmla="*/ 91 h 151"/>
                  <a:gd name="T34" fmla="*/ 136 w 242"/>
                  <a:gd name="T35" fmla="*/ 97 h 151"/>
                  <a:gd name="T36" fmla="*/ 43 w 242"/>
                  <a:gd name="T37" fmla="*/ 43 h 151"/>
                  <a:gd name="T38" fmla="*/ 43 w 242"/>
                  <a:gd name="T39" fmla="*/ 43 h 151"/>
                  <a:gd name="T40" fmla="*/ 37 w 242"/>
                  <a:gd name="T41" fmla="*/ 42 h 151"/>
                  <a:gd name="T42" fmla="*/ 7 w 242"/>
                  <a:gd name="T43" fmla="*/ 23 h 151"/>
                  <a:gd name="T44" fmla="*/ 3 w 242"/>
                  <a:gd name="T45" fmla="*/ 7 h 151"/>
                  <a:gd name="T46" fmla="*/ 18 w 242"/>
                  <a:gd name="T47" fmla="*/ 3 h 151"/>
                  <a:gd name="T48" fmla="*/ 50 w 242"/>
                  <a:gd name="T49" fmla="*/ 21 h 151"/>
                  <a:gd name="T50" fmla="*/ 54 w 242"/>
                  <a:gd name="T51" fmla="*/ 37 h 151"/>
                  <a:gd name="T52" fmla="*/ 43 w 242"/>
                  <a:gd name="T53" fmla="*/ 43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42" h="151">
                    <a:moveTo>
                      <a:pt x="228" y="150"/>
                    </a:moveTo>
                    <a:lnTo>
                      <a:pt x="228" y="150"/>
                    </a:lnTo>
                    <a:cubicBezTo>
                      <a:pt x="226" y="150"/>
                      <a:pt x="223" y="150"/>
                      <a:pt x="222" y="149"/>
                    </a:cubicBezTo>
                    <a:cubicBezTo>
                      <a:pt x="191" y="131"/>
                      <a:pt x="191" y="131"/>
                      <a:pt x="191" y="131"/>
                    </a:cubicBezTo>
                    <a:cubicBezTo>
                      <a:pt x="186" y="128"/>
                      <a:pt x="184" y="121"/>
                      <a:pt x="187" y="114"/>
                    </a:cubicBezTo>
                    <a:cubicBezTo>
                      <a:pt x="190" y="109"/>
                      <a:pt x="197" y="107"/>
                      <a:pt x="203" y="110"/>
                    </a:cubicBezTo>
                    <a:cubicBezTo>
                      <a:pt x="234" y="129"/>
                      <a:pt x="234" y="129"/>
                      <a:pt x="234" y="129"/>
                    </a:cubicBezTo>
                    <a:cubicBezTo>
                      <a:pt x="239" y="132"/>
                      <a:pt x="241" y="139"/>
                      <a:pt x="238" y="145"/>
                    </a:cubicBezTo>
                    <a:cubicBezTo>
                      <a:pt x="236" y="148"/>
                      <a:pt x="232" y="150"/>
                      <a:pt x="228" y="150"/>
                    </a:cubicBezTo>
                    <a:close/>
                    <a:moveTo>
                      <a:pt x="136" y="97"/>
                    </a:moveTo>
                    <a:lnTo>
                      <a:pt x="136" y="97"/>
                    </a:lnTo>
                    <a:cubicBezTo>
                      <a:pt x="134" y="97"/>
                      <a:pt x="132" y="96"/>
                      <a:pt x="130" y="95"/>
                    </a:cubicBezTo>
                    <a:cubicBezTo>
                      <a:pt x="99" y="77"/>
                      <a:pt x="99" y="77"/>
                      <a:pt x="99" y="77"/>
                    </a:cubicBezTo>
                    <a:cubicBezTo>
                      <a:pt x="93" y="74"/>
                      <a:pt x="91" y="67"/>
                      <a:pt x="94" y="61"/>
                    </a:cubicBezTo>
                    <a:cubicBezTo>
                      <a:pt x="97" y="55"/>
                      <a:pt x="105" y="54"/>
                      <a:pt x="111" y="57"/>
                    </a:cubicBezTo>
                    <a:cubicBezTo>
                      <a:pt x="141" y="75"/>
                      <a:pt x="141" y="75"/>
                      <a:pt x="141" y="75"/>
                    </a:cubicBezTo>
                    <a:cubicBezTo>
                      <a:pt x="147" y="78"/>
                      <a:pt x="149" y="85"/>
                      <a:pt x="145" y="91"/>
                    </a:cubicBezTo>
                    <a:cubicBezTo>
                      <a:pt x="143" y="95"/>
                      <a:pt x="139" y="97"/>
                      <a:pt x="136" y="97"/>
                    </a:cubicBezTo>
                    <a:close/>
                    <a:moveTo>
                      <a:pt x="43" y="43"/>
                    </a:moveTo>
                    <a:lnTo>
                      <a:pt x="43" y="43"/>
                    </a:lnTo>
                    <a:cubicBezTo>
                      <a:pt x="41" y="43"/>
                      <a:pt x="39" y="43"/>
                      <a:pt x="37" y="42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1" y="20"/>
                      <a:pt x="0" y="12"/>
                      <a:pt x="3" y="7"/>
                    </a:cubicBezTo>
                    <a:cubicBezTo>
                      <a:pt x="6" y="2"/>
                      <a:pt x="13" y="0"/>
                      <a:pt x="18" y="3"/>
                    </a:cubicBezTo>
                    <a:cubicBezTo>
                      <a:pt x="50" y="21"/>
                      <a:pt x="50" y="21"/>
                      <a:pt x="50" y="21"/>
                    </a:cubicBezTo>
                    <a:cubicBezTo>
                      <a:pt x="55" y="24"/>
                      <a:pt x="57" y="31"/>
                      <a:pt x="54" y="37"/>
                    </a:cubicBezTo>
                    <a:cubicBezTo>
                      <a:pt x="52" y="41"/>
                      <a:pt x="48" y="43"/>
                      <a:pt x="43" y="4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125"/>
              </a:p>
            </p:txBody>
          </p:sp>
          <p:sp>
            <p:nvSpPr>
              <p:cNvPr id="42" name="Freeform 124"/>
              <p:cNvSpPr>
                <a:spLocks noChangeArrowheads="1"/>
              </p:cNvSpPr>
              <p:nvPr/>
            </p:nvSpPr>
            <p:spPr bwMode="auto">
              <a:xfrm>
                <a:off x="1485436" y="8598586"/>
                <a:ext cx="103750" cy="61140"/>
              </a:xfrm>
              <a:custGeom>
                <a:avLst/>
                <a:gdLst>
                  <a:gd name="T0" fmla="*/ 13 w 245"/>
                  <a:gd name="T1" fmla="*/ 146 h 147"/>
                  <a:gd name="T2" fmla="*/ 13 w 245"/>
                  <a:gd name="T3" fmla="*/ 146 h 147"/>
                  <a:gd name="T4" fmla="*/ 3 w 245"/>
                  <a:gd name="T5" fmla="*/ 139 h 147"/>
                  <a:gd name="T6" fmla="*/ 7 w 245"/>
                  <a:gd name="T7" fmla="*/ 124 h 147"/>
                  <a:gd name="T8" fmla="*/ 38 w 245"/>
                  <a:gd name="T9" fmla="*/ 107 h 147"/>
                  <a:gd name="T10" fmla="*/ 54 w 245"/>
                  <a:gd name="T11" fmla="*/ 111 h 147"/>
                  <a:gd name="T12" fmla="*/ 50 w 245"/>
                  <a:gd name="T13" fmla="*/ 127 h 147"/>
                  <a:gd name="T14" fmla="*/ 18 w 245"/>
                  <a:gd name="T15" fmla="*/ 145 h 147"/>
                  <a:gd name="T16" fmla="*/ 13 w 245"/>
                  <a:gd name="T17" fmla="*/ 146 h 147"/>
                  <a:gd name="T18" fmla="*/ 106 w 245"/>
                  <a:gd name="T19" fmla="*/ 94 h 147"/>
                  <a:gd name="T20" fmla="*/ 106 w 245"/>
                  <a:gd name="T21" fmla="*/ 94 h 147"/>
                  <a:gd name="T22" fmla="*/ 97 w 245"/>
                  <a:gd name="T23" fmla="*/ 88 h 147"/>
                  <a:gd name="T24" fmla="*/ 101 w 245"/>
                  <a:gd name="T25" fmla="*/ 72 h 147"/>
                  <a:gd name="T26" fmla="*/ 132 w 245"/>
                  <a:gd name="T27" fmla="*/ 55 h 147"/>
                  <a:gd name="T28" fmla="*/ 148 w 245"/>
                  <a:gd name="T29" fmla="*/ 59 h 147"/>
                  <a:gd name="T30" fmla="*/ 143 w 245"/>
                  <a:gd name="T31" fmla="*/ 75 h 147"/>
                  <a:gd name="T32" fmla="*/ 112 w 245"/>
                  <a:gd name="T33" fmla="*/ 93 h 147"/>
                  <a:gd name="T34" fmla="*/ 106 w 245"/>
                  <a:gd name="T35" fmla="*/ 94 h 147"/>
                  <a:gd name="T36" fmla="*/ 200 w 245"/>
                  <a:gd name="T37" fmla="*/ 43 h 147"/>
                  <a:gd name="T38" fmla="*/ 200 w 245"/>
                  <a:gd name="T39" fmla="*/ 43 h 147"/>
                  <a:gd name="T40" fmla="*/ 189 w 245"/>
                  <a:gd name="T41" fmla="*/ 36 h 147"/>
                  <a:gd name="T42" fmla="*/ 194 w 245"/>
                  <a:gd name="T43" fmla="*/ 21 h 147"/>
                  <a:gd name="T44" fmla="*/ 226 w 245"/>
                  <a:gd name="T45" fmla="*/ 3 h 147"/>
                  <a:gd name="T46" fmla="*/ 241 w 245"/>
                  <a:gd name="T47" fmla="*/ 8 h 147"/>
                  <a:gd name="T48" fmla="*/ 237 w 245"/>
                  <a:gd name="T49" fmla="*/ 24 h 147"/>
                  <a:gd name="T50" fmla="*/ 206 w 245"/>
                  <a:gd name="T51" fmla="*/ 41 h 147"/>
                  <a:gd name="T52" fmla="*/ 200 w 245"/>
                  <a:gd name="T53" fmla="*/ 43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45" h="147">
                    <a:moveTo>
                      <a:pt x="13" y="146"/>
                    </a:moveTo>
                    <a:lnTo>
                      <a:pt x="13" y="146"/>
                    </a:lnTo>
                    <a:cubicBezTo>
                      <a:pt x="9" y="146"/>
                      <a:pt x="5" y="144"/>
                      <a:pt x="3" y="139"/>
                    </a:cubicBezTo>
                    <a:cubicBezTo>
                      <a:pt x="0" y="134"/>
                      <a:pt x="2" y="127"/>
                      <a:pt x="7" y="124"/>
                    </a:cubicBezTo>
                    <a:cubicBezTo>
                      <a:pt x="38" y="107"/>
                      <a:pt x="38" y="107"/>
                      <a:pt x="38" y="107"/>
                    </a:cubicBezTo>
                    <a:cubicBezTo>
                      <a:pt x="45" y="104"/>
                      <a:pt x="51" y="106"/>
                      <a:pt x="54" y="111"/>
                    </a:cubicBezTo>
                    <a:cubicBezTo>
                      <a:pt x="57" y="117"/>
                      <a:pt x="55" y="124"/>
                      <a:pt x="50" y="127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6" y="146"/>
                      <a:pt x="14" y="146"/>
                      <a:pt x="13" y="146"/>
                    </a:cubicBezTo>
                    <a:close/>
                    <a:moveTo>
                      <a:pt x="106" y="94"/>
                    </a:moveTo>
                    <a:lnTo>
                      <a:pt x="106" y="94"/>
                    </a:lnTo>
                    <a:cubicBezTo>
                      <a:pt x="102" y="94"/>
                      <a:pt x="99" y="92"/>
                      <a:pt x="97" y="88"/>
                    </a:cubicBezTo>
                    <a:cubicBezTo>
                      <a:pt x="93" y="82"/>
                      <a:pt x="96" y="75"/>
                      <a:pt x="101" y="72"/>
                    </a:cubicBezTo>
                    <a:cubicBezTo>
                      <a:pt x="132" y="55"/>
                      <a:pt x="132" y="55"/>
                      <a:pt x="132" y="55"/>
                    </a:cubicBezTo>
                    <a:cubicBezTo>
                      <a:pt x="137" y="52"/>
                      <a:pt x="144" y="54"/>
                      <a:pt x="148" y="59"/>
                    </a:cubicBezTo>
                    <a:cubicBezTo>
                      <a:pt x="151" y="66"/>
                      <a:pt x="149" y="72"/>
                      <a:pt x="143" y="75"/>
                    </a:cubicBezTo>
                    <a:cubicBezTo>
                      <a:pt x="112" y="93"/>
                      <a:pt x="112" y="93"/>
                      <a:pt x="112" y="93"/>
                    </a:cubicBezTo>
                    <a:cubicBezTo>
                      <a:pt x="110" y="94"/>
                      <a:pt x="108" y="94"/>
                      <a:pt x="106" y="94"/>
                    </a:cubicBezTo>
                    <a:close/>
                    <a:moveTo>
                      <a:pt x="200" y="43"/>
                    </a:moveTo>
                    <a:lnTo>
                      <a:pt x="200" y="43"/>
                    </a:lnTo>
                    <a:cubicBezTo>
                      <a:pt x="195" y="43"/>
                      <a:pt x="191" y="41"/>
                      <a:pt x="189" y="36"/>
                    </a:cubicBezTo>
                    <a:cubicBezTo>
                      <a:pt x="186" y="31"/>
                      <a:pt x="188" y="24"/>
                      <a:pt x="194" y="21"/>
                    </a:cubicBezTo>
                    <a:cubicBezTo>
                      <a:pt x="226" y="3"/>
                      <a:pt x="226" y="3"/>
                      <a:pt x="226" y="3"/>
                    </a:cubicBezTo>
                    <a:cubicBezTo>
                      <a:pt x="231" y="0"/>
                      <a:pt x="238" y="2"/>
                      <a:pt x="241" y="8"/>
                    </a:cubicBezTo>
                    <a:cubicBezTo>
                      <a:pt x="244" y="14"/>
                      <a:pt x="242" y="21"/>
                      <a:pt x="237" y="24"/>
                    </a:cubicBezTo>
                    <a:cubicBezTo>
                      <a:pt x="206" y="41"/>
                      <a:pt x="206" y="41"/>
                      <a:pt x="206" y="41"/>
                    </a:cubicBezTo>
                    <a:cubicBezTo>
                      <a:pt x="204" y="42"/>
                      <a:pt x="202" y="43"/>
                      <a:pt x="200" y="4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125"/>
              </a:p>
            </p:txBody>
          </p:sp>
          <p:sp>
            <p:nvSpPr>
              <p:cNvPr id="43" name="Freeform 125"/>
              <p:cNvSpPr>
                <a:spLocks noChangeArrowheads="1"/>
              </p:cNvSpPr>
              <p:nvPr/>
            </p:nvSpPr>
            <p:spPr bwMode="auto">
              <a:xfrm>
                <a:off x="1492848" y="8678154"/>
                <a:ext cx="114866" cy="11116"/>
              </a:xfrm>
              <a:custGeom>
                <a:avLst/>
                <a:gdLst>
                  <a:gd name="T0" fmla="*/ 262 w 274"/>
                  <a:gd name="T1" fmla="*/ 24 h 25"/>
                  <a:gd name="T2" fmla="*/ 262 w 274"/>
                  <a:gd name="T3" fmla="*/ 24 h 25"/>
                  <a:gd name="T4" fmla="*/ 225 w 274"/>
                  <a:gd name="T5" fmla="*/ 24 h 25"/>
                  <a:gd name="T6" fmla="*/ 214 w 274"/>
                  <a:gd name="T7" fmla="*/ 13 h 25"/>
                  <a:gd name="T8" fmla="*/ 225 w 274"/>
                  <a:gd name="T9" fmla="*/ 0 h 25"/>
                  <a:gd name="T10" fmla="*/ 262 w 274"/>
                  <a:gd name="T11" fmla="*/ 0 h 25"/>
                  <a:gd name="T12" fmla="*/ 273 w 274"/>
                  <a:gd name="T13" fmla="*/ 13 h 25"/>
                  <a:gd name="T14" fmla="*/ 262 w 274"/>
                  <a:gd name="T15" fmla="*/ 24 h 25"/>
                  <a:gd name="T16" fmla="*/ 154 w 274"/>
                  <a:gd name="T17" fmla="*/ 24 h 25"/>
                  <a:gd name="T18" fmla="*/ 154 w 274"/>
                  <a:gd name="T19" fmla="*/ 24 h 25"/>
                  <a:gd name="T20" fmla="*/ 119 w 274"/>
                  <a:gd name="T21" fmla="*/ 24 h 25"/>
                  <a:gd name="T22" fmla="*/ 108 w 274"/>
                  <a:gd name="T23" fmla="*/ 13 h 25"/>
                  <a:gd name="T24" fmla="*/ 119 w 274"/>
                  <a:gd name="T25" fmla="*/ 0 h 25"/>
                  <a:gd name="T26" fmla="*/ 154 w 274"/>
                  <a:gd name="T27" fmla="*/ 0 h 25"/>
                  <a:gd name="T28" fmla="*/ 166 w 274"/>
                  <a:gd name="T29" fmla="*/ 13 h 25"/>
                  <a:gd name="T30" fmla="*/ 154 w 274"/>
                  <a:gd name="T31" fmla="*/ 24 h 25"/>
                  <a:gd name="T32" fmla="*/ 47 w 274"/>
                  <a:gd name="T33" fmla="*/ 24 h 25"/>
                  <a:gd name="T34" fmla="*/ 47 w 274"/>
                  <a:gd name="T35" fmla="*/ 24 h 25"/>
                  <a:gd name="T36" fmla="*/ 12 w 274"/>
                  <a:gd name="T37" fmla="*/ 24 h 25"/>
                  <a:gd name="T38" fmla="*/ 0 w 274"/>
                  <a:gd name="T39" fmla="*/ 13 h 25"/>
                  <a:gd name="T40" fmla="*/ 12 w 274"/>
                  <a:gd name="T41" fmla="*/ 0 h 25"/>
                  <a:gd name="T42" fmla="*/ 47 w 274"/>
                  <a:gd name="T43" fmla="*/ 0 h 25"/>
                  <a:gd name="T44" fmla="*/ 60 w 274"/>
                  <a:gd name="T45" fmla="*/ 13 h 25"/>
                  <a:gd name="T46" fmla="*/ 47 w 274"/>
                  <a:gd name="T47" fmla="*/ 2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74" h="25">
                    <a:moveTo>
                      <a:pt x="262" y="24"/>
                    </a:moveTo>
                    <a:lnTo>
                      <a:pt x="262" y="24"/>
                    </a:lnTo>
                    <a:cubicBezTo>
                      <a:pt x="225" y="24"/>
                      <a:pt x="225" y="24"/>
                      <a:pt x="225" y="24"/>
                    </a:cubicBezTo>
                    <a:cubicBezTo>
                      <a:pt x="219" y="24"/>
                      <a:pt x="214" y="19"/>
                      <a:pt x="214" y="13"/>
                    </a:cubicBezTo>
                    <a:cubicBezTo>
                      <a:pt x="214" y="7"/>
                      <a:pt x="219" y="0"/>
                      <a:pt x="225" y="0"/>
                    </a:cubicBezTo>
                    <a:cubicBezTo>
                      <a:pt x="262" y="0"/>
                      <a:pt x="262" y="0"/>
                      <a:pt x="262" y="0"/>
                    </a:cubicBezTo>
                    <a:cubicBezTo>
                      <a:pt x="268" y="0"/>
                      <a:pt x="273" y="7"/>
                      <a:pt x="273" y="13"/>
                    </a:cubicBezTo>
                    <a:cubicBezTo>
                      <a:pt x="273" y="19"/>
                      <a:pt x="268" y="24"/>
                      <a:pt x="262" y="24"/>
                    </a:cubicBezTo>
                    <a:close/>
                    <a:moveTo>
                      <a:pt x="154" y="24"/>
                    </a:moveTo>
                    <a:lnTo>
                      <a:pt x="154" y="24"/>
                    </a:lnTo>
                    <a:cubicBezTo>
                      <a:pt x="119" y="24"/>
                      <a:pt x="119" y="24"/>
                      <a:pt x="119" y="24"/>
                    </a:cubicBezTo>
                    <a:cubicBezTo>
                      <a:pt x="113" y="24"/>
                      <a:pt x="108" y="19"/>
                      <a:pt x="108" y="13"/>
                    </a:cubicBezTo>
                    <a:cubicBezTo>
                      <a:pt x="108" y="7"/>
                      <a:pt x="113" y="0"/>
                      <a:pt x="119" y="0"/>
                    </a:cubicBezTo>
                    <a:cubicBezTo>
                      <a:pt x="154" y="0"/>
                      <a:pt x="154" y="0"/>
                      <a:pt x="154" y="0"/>
                    </a:cubicBezTo>
                    <a:cubicBezTo>
                      <a:pt x="161" y="0"/>
                      <a:pt x="166" y="7"/>
                      <a:pt x="166" y="13"/>
                    </a:cubicBezTo>
                    <a:cubicBezTo>
                      <a:pt x="166" y="19"/>
                      <a:pt x="161" y="24"/>
                      <a:pt x="154" y="24"/>
                    </a:cubicBezTo>
                    <a:close/>
                    <a:moveTo>
                      <a:pt x="47" y="24"/>
                    </a:moveTo>
                    <a:lnTo>
                      <a:pt x="47" y="24"/>
                    </a:lnTo>
                    <a:cubicBezTo>
                      <a:pt x="12" y="24"/>
                      <a:pt x="12" y="24"/>
                      <a:pt x="12" y="24"/>
                    </a:cubicBezTo>
                    <a:cubicBezTo>
                      <a:pt x="6" y="24"/>
                      <a:pt x="0" y="19"/>
                      <a:pt x="0" y="13"/>
                    </a:cubicBezTo>
                    <a:cubicBezTo>
                      <a:pt x="0" y="7"/>
                      <a:pt x="6" y="0"/>
                      <a:pt x="12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54" y="0"/>
                      <a:pt x="60" y="7"/>
                      <a:pt x="60" y="13"/>
                    </a:cubicBezTo>
                    <a:cubicBezTo>
                      <a:pt x="60" y="19"/>
                      <a:pt x="54" y="24"/>
                      <a:pt x="47" y="2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125"/>
              </a:p>
            </p:txBody>
          </p:sp>
        </p:grpSp>
      </p:grpSp>
      <p:sp>
        <p:nvSpPr>
          <p:cNvPr id="51" name="Rectangle 86"/>
          <p:cNvSpPr/>
          <p:nvPr/>
        </p:nvSpPr>
        <p:spPr>
          <a:xfrm>
            <a:off x="911107" y="3526020"/>
            <a:ext cx="1945823" cy="658497"/>
          </a:xfrm>
          <a:prstGeom prst="rect">
            <a:avLst/>
          </a:prstGeom>
          <a:solidFill>
            <a:srgbClr val="0B3D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b="1" dirty="0">
                <a:latin typeface="SB 어그로 Medium" panose="02020603020101020101" pitchFamily="18" charset="-127"/>
                <a:ea typeface="SB 어그로 Medium" panose="02020603020101020101" pitchFamily="18" charset="-127"/>
              </a:rPr>
              <a:t>Native</a:t>
            </a:r>
          </a:p>
          <a:p>
            <a:pPr algn="ctr"/>
            <a:r>
              <a:rPr lang="en-US" sz="1200" b="1" dirty="0">
                <a:latin typeface="SB 어그로 Medium" panose="02020603020101020101" pitchFamily="18" charset="-127"/>
                <a:ea typeface="SB 어그로 Medium" panose="02020603020101020101" pitchFamily="18" charset="-127"/>
              </a:rPr>
              <a:t>Columnar Storage</a:t>
            </a:r>
          </a:p>
        </p:txBody>
      </p:sp>
      <p:sp>
        <p:nvSpPr>
          <p:cNvPr id="52" name="Rectangle 89"/>
          <p:cNvSpPr/>
          <p:nvPr/>
        </p:nvSpPr>
        <p:spPr>
          <a:xfrm>
            <a:off x="3014721" y="3526018"/>
            <a:ext cx="1945823" cy="658497"/>
          </a:xfrm>
          <a:prstGeom prst="rect">
            <a:avLst/>
          </a:prstGeom>
          <a:solidFill>
            <a:srgbClr val="0B3D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b="1" dirty="0">
                <a:latin typeface="SB 어그로 Medium" panose="02020603020101020101" pitchFamily="18" charset="-127"/>
                <a:ea typeface="SB 어그로 Medium" panose="02020603020101020101" pitchFamily="18" charset="-127"/>
              </a:rPr>
              <a:t>Compression</a:t>
            </a:r>
          </a:p>
          <a:p>
            <a:pPr algn="ctr"/>
            <a:r>
              <a:rPr lang="en-US" sz="1200" b="1" dirty="0">
                <a:latin typeface="SB 어그로 Medium" panose="02020603020101020101" pitchFamily="18" charset="-127"/>
                <a:ea typeface="SB 어그로 Medium" panose="02020603020101020101" pitchFamily="18" charset="-127"/>
              </a:rPr>
              <a:t>/Encoding</a:t>
            </a:r>
          </a:p>
        </p:txBody>
      </p:sp>
      <p:sp>
        <p:nvSpPr>
          <p:cNvPr id="53" name="Rectangle 99"/>
          <p:cNvSpPr/>
          <p:nvPr/>
        </p:nvSpPr>
        <p:spPr>
          <a:xfrm>
            <a:off x="5164990" y="3526019"/>
            <a:ext cx="1945823" cy="658497"/>
          </a:xfrm>
          <a:prstGeom prst="rect">
            <a:avLst/>
          </a:prstGeom>
          <a:solidFill>
            <a:srgbClr val="0B3D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b="1" dirty="0">
                <a:latin typeface="SB 어그로 Medium" panose="02020603020101020101" pitchFamily="18" charset="-127"/>
                <a:ea typeface="SB 어그로 Medium" panose="02020603020101020101" pitchFamily="18" charset="-127"/>
              </a:rPr>
              <a:t>MPP Scale-out</a:t>
            </a:r>
          </a:p>
        </p:txBody>
      </p:sp>
      <p:sp>
        <p:nvSpPr>
          <p:cNvPr id="54" name="Rectangle 102"/>
          <p:cNvSpPr/>
          <p:nvPr/>
        </p:nvSpPr>
        <p:spPr>
          <a:xfrm>
            <a:off x="7305928" y="3526019"/>
            <a:ext cx="1945823" cy="658497"/>
          </a:xfrm>
          <a:prstGeom prst="rect">
            <a:avLst/>
          </a:prstGeom>
          <a:solidFill>
            <a:srgbClr val="0B3D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b="1" dirty="0">
                <a:latin typeface="SB 어그로 Medium" panose="02020603020101020101" pitchFamily="18" charset="-127"/>
                <a:ea typeface="SB 어그로 Medium" panose="02020603020101020101" pitchFamily="18" charset="-127"/>
              </a:rPr>
              <a:t>Distributed Query  </a:t>
            </a:r>
          </a:p>
        </p:txBody>
      </p:sp>
      <p:sp>
        <p:nvSpPr>
          <p:cNvPr id="55" name="Rectangle 105"/>
          <p:cNvSpPr/>
          <p:nvPr/>
        </p:nvSpPr>
        <p:spPr>
          <a:xfrm>
            <a:off x="9409541" y="3526019"/>
            <a:ext cx="1945823" cy="658497"/>
          </a:xfrm>
          <a:prstGeom prst="rect">
            <a:avLst/>
          </a:prstGeom>
          <a:solidFill>
            <a:srgbClr val="0B3D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b="1" dirty="0">
                <a:latin typeface="SB 어그로 Medium" panose="02020603020101020101" pitchFamily="18" charset="-127"/>
                <a:ea typeface="SB 어그로 Medium" panose="02020603020101020101" pitchFamily="18" charset="-127"/>
              </a:rPr>
              <a:t>Projections</a:t>
            </a:r>
          </a:p>
        </p:txBody>
      </p:sp>
      <p:sp>
        <p:nvSpPr>
          <p:cNvPr id="62" name="object 10"/>
          <p:cNvSpPr txBox="1"/>
          <p:nvPr/>
        </p:nvSpPr>
        <p:spPr>
          <a:xfrm>
            <a:off x="1022400" y="4372065"/>
            <a:ext cx="1625909" cy="7884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0975" indent="-168275">
              <a:lnSpc>
                <a:spcPct val="12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ourier New"/>
                <a:cs typeface="Courier New"/>
              </a:rPr>
              <a:t>o</a:t>
            </a:r>
            <a:r>
              <a:rPr sz="1400" spc="-3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lang="ko-KR" altLang="en-US" sz="1400" b="1" spc="-70" dirty="0">
                <a:solidFill>
                  <a:srgbClr val="FFC000"/>
                </a:solidFill>
                <a:latin typeface="맑은 고딕"/>
                <a:cs typeface="맑은 고딕"/>
              </a:rPr>
              <a:t>필요한 컬럼만을 조회</a:t>
            </a:r>
            <a:r>
              <a:rPr lang="ko-KR" altLang="en-US" sz="1400" dirty="0">
                <a:solidFill>
                  <a:schemeClr val="bg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하여 빠른 쿼리 성능 보장</a:t>
            </a:r>
            <a:endParaRPr sz="1200" dirty="0">
              <a:latin typeface="맑은 고딕"/>
              <a:cs typeface="맑은 고딕"/>
            </a:endParaRPr>
          </a:p>
        </p:txBody>
      </p:sp>
      <p:sp>
        <p:nvSpPr>
          <p:cNvPr id="63" name="object 10"/>
          <p:cNvSpPr txBox="1"/>
          <p:nvPr/>
        </p:nvSpPr>
        <p:spPr>
          <a:xfrm>
            <a:off x="3184836" y="4372065"/>
            <a:ext cx="1413043" cy="7884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0975" indent="-168275">
              <a:lnSpc>
                <a:spcPct val="12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ourier New"/>
                <a:cs typeface="Courier New"/>
              </a:rPr>
              <a:t>o</a:t>
            </a:r>
            <a:r>
              <a:rPr sz="1400" spc="-3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lang="en-US" altLang="ko-KR" sz="1400" dirty="0">
                <a:solidFill>
                  <a:schemeClr val="bg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Disk </a:t>
            </a:r>
            <a:r>
              <a:rPr lang="en-US" altLang="ko-KR" sz="1400" b="1" spc="-70" dirty="0">
                <a:solidFill>
                  <a:srgbClr val="FFC000"/>
                </a:solidFill>
                <a:latin typeface="맑은 고딕"/>
                <a:cs typeface="맑은 고딕"/>
              </a:rPr>
              <a:t>I/O </a:t>
            </a:r>
            <a:r>
              <a:rPr lang="ko-KR" altLang="en-US" sz="1400" b="1" spc="-70" dirty="0">
                <a:solidFill>
                  <a:srgbClr val="FFC000"/>
                </a:solidFill>
                <a:latin typeface="맑은 고딕"/>
                <a:cs typeface="맑은 고딕"/>
              </a:rPr>
              <a:t>비용을 최소화</a:t>
            </a:r>
            <a:r>
              <a:rPr lang="ko-KR" altLang="en-US" sz="1400" dirty="0">
                <a:solidFill>
                  <a:schemeClr val="bg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하는</a:t>
            </a:r>
            <a:r>
              <a:rPr lang="ko-KR" altLang="en-US" sz="1400" b="1" spc="-70" dirty="0">
                <a:solidFill>
                  <a:srgbClr val="FFC000"/>
                </a:solidFill>
                <a:latin typeface="맑은 고딕"/>
                <a:cs typeface="맑은 고딕"/>
              </a:rPr>
              <a:t> </a:t>
            </a:r>
            <a:r>
              <a:rPr lang="ko-KR" altLang="en-US" sz="1400" dirty="0">
                <a:solidFill>
                  <a:schemeClr val="bg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동시에 성능을 가속화</a:t>
            </a:r>
            <a:endParaRPr lang="en-US" altLang="ko-KR" sz="1400" dirty="0">
              <a:solidFill>
                <a:schemeClr val="bg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64" name="object 10"/>
          <p:cNvSpPr txBox="1"/>
          <p:nvPr/>
        </p:nvSpPr>
        <p:spPr>
          <a:xfrm>
            <a:off x="5268085" y="4372065"/>
            <a:ext cx="1726623" cy="1686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0975" indent="-180975">
              <a:lnSpc>
                <a:spcPct val="120000"/>
              </a:lnSpc>
              <a:buClr>
                <a:srgbClr val="1668C1"/>
              </a:buClr>
            </a:pPr>
            <a:r>
              <a:rPr sz="1400" dirty="0">
                <a:solidFill>
                  <a:srgbClr val="FFFFFF"/>
                </a:solidFill>
                <a:latin typeface="Courier New"/>
                <a:cs typeface="Courier New"/>
              </a:rPr>
              <a:t>o</a:t>
            </a:r>
            <a:r>
              <a:rPr sz="1400" spc="-3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lang="en-US" altLang="ko-KR" sz="1400" dirty="0">
                <a:solidFill>
                  <a:schemeClr val="bg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Name node</a:t>
            </a:r>
            <a:r>
              <a:rPr lang="ko-KR" altLang="en-US" sz="1400" dirty="0">
                <a:solidFill>
                  <a:schemeClr val="bg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와 같은 </a:t>
            </a:r>
            <a:r>
              <a:rPr lang="en-US" altLang="ko-KR" sz="1400" b="1" spc="-70" dirty="0">
                <a:solidFill>
                  <a:srgbClr val="FFC000"/>
                </a:solidFill>
                <a:latin typeface="맑은 고딕"/>
                <a:cs typeface="맑은 고딕"/>
              </a:rPr>
              <a:t>Single point of failure</a:t>
            </a:r>
            <a:r>
              <a:rPr lang="ko-KR" altLang="en-US" sz="1400" b="1" spc="-70" dirty="0">
                <a:solidFill>
                  <a:srgbClr val="FFC000"/>
                </a:solidFill>
                <a:latin typeface="맑은 고딕"/>
                <a:cs typeface="맑은 고딕"/>
              </a:rPr>
              <a:t>를 제거</a:t>
            </a:r>
            <a:r>
              <a:rPr lang="ko-KR" altLang="en-US" sz="1400" dirty="0">
                <a:solidFill>
                  <a:schemeClr val="bg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한</a:t>
            </a:r>
            <a:r>
              <a:rPr lang="ko-KR" altLang="en-US" sz="1400" b="1" spc="-70" dirty="0">
                <a:solidFill>
                  <a:srgbClr val="FFC000"/>
                </a:solidFill>
                <a:latin typeface="맑은 고딕"/>
                <a:cs typeface="맑은 고딕"/>
              </a:rPr>
              <a:t> </a:t>
            </a:r>
            <a:r>
              <a:rPr lang="ko-KR" altLang="en-US" sz="1400" dirty="0">
                <a:solidFill>
                  <a:schemeClr val="bg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순수 </a:t>
            </a:r>
            <a:r>
              <a:rPr lang="en-US" altLang="ko-KR" sz="1400" dirty="0">
                <a:solidFill>
                  <a:schemeClr val="bg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MPP </a:t>
            </a:r>
            <a:r>
              <a:rPr lang="ko-KR" altLang="en-US" sz="1400" dirty="0">
                <a:solidFill>
                  <a:schemeClr val="bg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아키텍처</a:t>
            </a:r>
            <a:r>
              <a:rPr lang="en-US" altLang="ko-KR" sz="1400" dirty="0">
                <a:solidFill>
                  <a:schemeClr val="bg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/>
            </a:r>
            <a:br>
              <a:rPr lang="en-US" altLang="ko-KR" sz="1400" dirty="0">
                <a:solidFill>
                  <a:schemeClr val="bg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r>
              <a:rPr lang="en-US" altLang="ko-KR" sz="800" dirty="0">
                <a:solidFill>
                  <a:schemeClr val="bg1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(</a:t>
            </a:r>
            <a:r>
              <a:rPr lang="en-US" altLang="ko-KR" sz="8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Massively Parallel Processing)</a:t>
            </a:r>
            <a:endParaRPr lang="en-US" altLang="ko-KR" sz="800" dirty="0">
              <a:solidFill>
                <a:schemeClr val="bg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pPr marL="180975" indent="-180975">
              <a:lnSpc>
                <a:spcPct val="120000"/>
              </a:lnSpc>
              <a:buClr>
                <a:srgbClr val="1668C1"/>
              </a:buClr>
            </a:pPr>
            <a:r>
              <a:rPr lang="en-US" altLang="ko-KR" sz="1400" dirty="0">
                <a:solidFill>
                  <a:srgbClr val="FFFFFF"/>
                </a:solidFill>
                <a:latin typeface="Courier New"/>
                <a:cs typeface="Courier New"/>
              </a:rPr>
              <a:t>O </a:t>
            </a:r>
            <a:r>
              <a:rPr lang="en-US" altLang="ko-KR" sz="1400" dirty="0">
                <a:solidFill>
                  <a:schemeClr val="bg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Exabyte </a:t>
            </a:r>
            <a:r>
              <a:rPr lang="ko-KR" altLang="en-US" sz="1400" dirty="0">
                <a:solidFill>
                  <a:schemeClr val="bg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수준의 확장성 제공</a:t>
            </a:r>
            <a:endParaRPr lang="en-US" altLang="ko-KR" sz="1400" dirty="0">
              <a:solidFill>
                <a:schemeClr val="bg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65" name="object 10"/>
          <p:cNvSpPr txBox="1"/>
          <p:nvPr/>
        </p:nvSpPr>
        <p:spPr>
          <a:xfrm>
            <a:off x="7476953" y="4372065"/>
            <a:ext cx="1649794" cy="7884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0975" indent="-168275">
              <a:lnSpc>
                <a:spcPct val="12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ourier New"/>
                <a:cs typeface="Courier New"/>
              </a:rPr>
              <a:t>o</a:t>
            </a:r>
            <a:r>
              <a:rPr sz="1400" spc="-3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lang="ko-KR" altLang="en-US" sz="1400" dirty="0">
                <a:solidFill>
                  <a:schemeClr val="bg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특정 노드에 대한 종속성이 없는 </a:t>
            </a:r>
            <a:r>
              <a:rPr lang="ko-KR" altLang="en-US" sz="1400" b="1" spc="-70" dirty="0">
                <a:solidFill>
                  <a:srgbClr val="FFC000"/>
                </a:solidFill>
                <a:latin typeface="맑은 고딕"/>
                <a:cs typeface="맑은 고딕"/>
              </a:rPr>
              <a:t>분산 쿼리 수행</a:t>
            </a:r>
            <a:endParaRPr lang="en-US" altLang="ko-KR" sz="1400" b="1" spc="-70" dirty="0">
              <a:solidFill>
                <a:srgbClr val="FFC000"/>
              </a:solidFill>
              <a:latin typeface="맑은 고딕"/>
              <a:cs typeface="맑은 고딕"/>
            </a:endParaRPr>
          </a:p>
        </p:txBody>
      </p:sp>
      <p:sp>
        <p:nvSpPr>
          <p:cNvPr id="66" name="object 10"/>
          <p:cNvSpPr txBox="1"/>
          <p:nvPr/>
        </p:nvSpPr>
        <p:spPr>
          <a:xfrm>
            <a:off x="9601285" y="4372065"/>
            <a:ext cx="1649794" cy="10469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0975" indent="-168275">
              <a:lnSpc>
                <a:spcPct val="12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ourier New"/>
                <a:cs typeface="Courier New"/>
              </a:rPr>
              <a:t>o</a:t>
            </a:r>
            <a:r>
              <a:rPr sz="1400" spc="-3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lang="ko-KR" altLang="en-US" sz="1400" dirty="0">
                <a:solidFill>
                  <a:schemeClr val="bg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노드 장애 대처와 </a:t>
            </a:r>
            <a:r>
              <a:rPr lang="ko-KR" altLang="en-US" sz="1400" b="1" spc="-70" dirty="0">
                <a:solidFill>
                  <a:srgbClr val="FFC000"/>
                </a:solidFill>
                <a:latin typeface="맑은 고딕"/>
                <a:cs typeface="맑은 고딕"/>
              </a:rPr>
              <a:t>쿼리 성능을 담보</a:t>
            </a:r>
            <a:r>
              <a:rPr lang="ko-KR" altLang="en-US" sz="1400" dirty="0">
                <a:solidFill>
                  <a:schemeClr val="bg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하기</a:t>
            </a:r>
            <a:r>
              <a:rPr lang="ko-KR" altLang="en-US" sz="1400" b="1" spc="-70" dirty="0">
                <a:solidFill>
                  <a:srgbClr val="FFC000"/>
                </a:solidFill>
                <a:latin typeface="맑은 고딕"/>
                <a:cs typeface="맑은 고딕"/>
              </a:rPr>
              <a:t> </a:t>
            </a:r>
            <a:r>
              <a:rPr lang="ko-KR" altLang="en-US" sz="1400" dirty="0">
                <a:solidFill>
                  <a:schemeClr val="bg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위한 최적화 방안 제공</a:t>
            </a:r>
            <a:endParaRPr lang="en-US" altLang="ko-KR" sz="1400" dirty="0">
              <a:solidFill>
                <a:schemeClr val="bg2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56" name="슬라이드 번호 개체 틀 55"/>
          <p:cNvSpPr>
            <a:spLocks noGrp="1"/>
          </p:cNvSpPr>
          <p:nvPr>
            <p:ph type="sldNum" sz="quarter" idx="12"/>
          </p:nvPr>
        </p:nvSpPr>
        <p:spPr>
          <a:xfrm>
            <a:off x="10259271" y="6352211"/>
            <a:ext cx="336991" cy="301756"/>
          </a:xfrm>
        </p:spPr>
        <p:txBody>
          <a:bodyPr/>
          <a:lstStyle/>
          <a:p>
            <a:fld id="{AFA02C0B-84B5-4CD2-A6CE-C6BD7D6F9045}" type="slidenum">
              <a:rPr lang="ko-KR" altLang="en-US" smtClean="0">
                <a:solidFill>
                  <a:schemeClr val="tx1"/>
                </a:solidFill>
              </a:rPr>
              <a:t>4</a:t>
            </a:fld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8730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Vertica </a:t>
            </a:r>
            <a:r>
              <a:rPr lang="ko-KR" altLang="en-US" dirty="0">
                <a:latin typeface="+mj-ea"/>
                <a:ea typeface="+mj-ea"/>
              </a:rPr>
              <a:t>포트폴리오</a:t>
            </a:r>
          </a:p>
        </p:txBody>
      </p:sp>
      <p:grpSp>
        <p:nvGrpSpPr>
          <p:cNvPr id="28" name="그룹 27"/>
          <p:cNvGrpSpPr/>
          <p:nvPr/>
        </p:nvGrpSpPr>
        <p:grpSpPr>
          <a:xfrm>
            <a:off x="1213346" y="1609381"/>
            <a:ext cx="1324987" cy="1324987"/>
            <a:chOff x="1614196" y="2127340"/>
            <a:chExt cx="1324987" cy="1324987"/>
          </a:xfrm>
        </p:grpSpPr>
        <p:sp>
          <p:nvSpPr>
            <p:cNvPr id="27" name="타원 26"/>
            <p:cNvSpPr/>
            <p:nvPr/>
          </p:nvSpPr>
          <p:spPr>
            <a:xfrm>
              <a:off x="1614196" y="2127340"/>
              <a:ext cx="1324987" cy="132498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6" name="그림 25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881451" y="2327928"/>
              <a:ext cx="790476" cy="923810"/>
            </a:xfrm>
            <a:prstGeom prst="rect">
              <a:avLst/>
            </a:prstGeom>
          </p:spPr>
        </p:pic>
      </p:grpSp>
      <p:grpSp>
        <p:nvGrpSpPr>
          <p:cNvPr id="34" name="그룹 33"/>
          <p:cNvGrpSpPr/>
          <p:nvPr/>
        </p:nvGrpSpPr>
        <p:grpSpPr>
          <a:xfrm>
            <a:off x="1163470" y="3227526"/>
            <a:ext cx="1324987" cy="1324987"/>
            <a:chOff x="1598908" y="3243873"/>
            <a:chExt cx="1324987" cy="1324987"/>
          </a:xfrm>
        </p:grpSpPr>
        <p:sp>
          <p:nvSpPr>
            <p:cNvPr id="31" name="타원 30"/>
            <p:cNvSpPr/>
            <p:nvPr/>
          </p:nvSpPr>
          <p:spPr>
            <a:xfrm>
              <a:off x="1598908" y="3243873"/>
              <a:ext cx="1324987" cy="132498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9" name="그림 28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770925" y="3520651"/>
              <a:ext cx="980952" cy="771429"/>
            </a:xfrm>
            <a:prstGeom prst="rect">
              <a:avLst/>
            </a:prstGeom>
          </p:spPr>
        </p:pic>
      </p:grpSp>
      <p:grpSp>
        <p:nvGrpSpPr>
          <p:cNvPr id="36" name="그룹 35"/>
          <p:cNvGrpSpPr/>
          <p:nvPr/>
        </p:nvGrpSpPr>
        <p:grpSpPr>
          <a:xfrm>
            <a:off x="1163470" y="4820732"/>
            <a:ext cx="1324987" cy="1324987"/>
            <a:chOff x="1471390" y="4680767"/>
            <a:chExt cx="1324987" cy="1324987"/>
          </a:xfrm>
        </p:grpSpPr>
        <p:sp>
          <p:nvSpPr>
            <p:cNvPr id="33" name="타원 32"/>
            <p:cNvSpPr/>
            <p:nvPr/>
          </p:nvSpPr>
          <p:spPr>
            <a:xfrm>
              <a:off x="1471390" y="4680767"/>
              <a:ext cx="1324987" cy="132498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5" name="그림 34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548168" y="5052784"/>
              <a:ext cx="1171429" cy="580952"/>
            </a:xfrm>
            <a:prstGeom prst="rect">
              <a:avLst/>
            </a:prstGeom>
          </p:spPr>
        </p:pic>
      </p:grpSp>
      <p:sp>
        <p:nvSpPr>
          <p:cNvPr id="37" name="TextBox 36"/>
          <p:cNvSpPr txBox="1"/>
          <p:nvPr/>
        </p:nvSpPr>
        <p:spPr>
          <a:xfrm>
            <a:off x="2746381" y="1621341"/>
            <a:ext cx="4404428" cy="1209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73446">
              <a:lnSpc>
                <a:spcPct val="80000"/>
              </a:lnSpc>
              <a:spcAft>
                <a:spcPts val="600"/>
              </a:spcAft>
              <a:buSzPct val="100000"/>
            </a:pPr>
            <a:r>
              <a:rPr lang="en-US" sz="2000" b="1" dirty="0">
                <a:solidFill>
                  <a:schemeClr val="bg1"/>
                </a:solidFill>
                <a:cs typeface="HP Simplified" pitchFamily="34" charset="0"/>
              </a:rPr>
              <a:t>Vertica Enterprise On-Premise</a:t>
            </a:r>
          </a:p>
          <a:p>
            <a:pPr marL="182563" indent="-182563" defTabSz="573446">
              <a:lnSpc>
                <a:spcPct val="80000"/>
              </a:lnSpc>
              <a:spcAft>
                <a:spcPts val="600"/>
              </a:spcAft>
              <a:buSzPct val="100000"/>
              <a:buFont typeface="Arial" charset="0"/>
              <a:buChar char="•"/>
            </a:pPr>
            <a:r>
              <a:rPr lang="ko-KR" altLang="en-US" sz="1300" dirty="0" err="1">
                <a:solidFill>
                  <a:schemeClr val="bg1"/>
                </a:solidFill>
                <a:cs typeface="HP Simplified" pitchFamily="34" charset="0"/>
              </a:rPr>
              <a:t>컬럼</a:t>
            </a:r>
            <a:r>
              <a:rPr lang="ko-KR" altLang="en-US" sz="1300" dirty="0">
                <a:solidFill>
                  <a:schemeClr val="bg1"/>
                </a:solidFill>
                <a:cs typeface="HP Simplified" pitchFamily="34" charset="0"/>
              </a:rPr>
              <a:t> 처리 및 선진 압축 기법</a:t>
            </a:r>
            <a:endParaRPr lang="en-US" altLang="ko-KR" sz="1300" dirty="0">
              <a:solidFill>
                <a:schemeClr val="bg1"/>
              </a:solidFill>
              <a:cs typeface="HP Simplified" pitchFamily="34" charset="0"/>
            </a:endParaRPr>
          </a:p>
          <a:p>
            <a:pPr marL="182563" indent="-182563" defTabSz="573446">
              <a:lnSpc>
                <a:spcPct val="80000"/>
              </a:lnSpc>
              <a:spcAft>
                <a:spcPts val="600"/>
              </a:spcAft>
              <a:buSzPct val="100000"/>
              <a:buFont typeface="Arial" charset="0"/>
              <a:buChar char="•"/>
            </a:pPr>
            <a:r>
              <a:rPr lang="ko-KR" altLang="en-US" sz="1300" dirty="0">
                <a:solidFill>
                  <a:schemeClr val="bg1"/>
                </a:solidFill>
                <a:cs typeface="HP Simplified" pitchFamily="34" charset="0"/>
              </a:rPr>
              <a:t>최대 성능 및 확장성</a:t>
            </a:r>
            <a:endParaRPr lang="en-US" altLang="ko-KR" sz="1300" dirty="0">
              <a:solidFill>
                <a:schemeClr val="bg1"/>
              </a:solidFill>
              <a:cs typeface="HP Simplified" pitchFamily="34" charset="0"/>
            </a:endParaRPr>
          </a:p>
          <a:p>
            <a:pPr marL="182563" indent="-182563" defTabSz="573446">
              <a:lnSpc>
                <a:spcPct val="80000"/>
              </a:lnSpc>
              <a:spcAft>
                <a:spcPts val="600"/>
              </a:spcAft>
              <a:buSzPct val="100000"/>
              <a:buFont typeface="Arial" charset="0"/>
              <a:buChar char="•"/>
            </a:pPr>
            <a:r>
              <a:rPr lang="ko-KR" altLang="en-US" sz="1300" dirty="0">
                <a:solidFill>
                  <a:schemeClr val="bg1"/>
                </a:solidFill>
                <a:cs typeface="HP Simplified" pitchFamily="34" charset="0"/>
              </a:rPr>
              <a:t>다양한 선진 기법</a:t>
            </a:r>
            <a:r>
              <a:rPr lang="en-US" altLang="ko-KR" sz="1300" dirty="0">
                <a:solidFill>
                  <a:schemeClr val="bg1"/>
                </a:solidFill>
                <a:cs typeface="HP Simplified" pitchFamily="34" charset="0"/>
              </a:rPr>
              <a:t> </a:t>
            </a:r>
            <a:r>
              <a:rPr lang="ko-KR" altLang="en-US" sz="1300" dirty="0">
                <a:solidFill>
                  <a:schemeClr val="bg1"/>
                </a:solidFill>
                <a:cs typeface="HP Simplified" pitchFamily="34" charset="0"/>
              </a:rPr>
              <a:t>제공 </a:t>
            </a:r>
            <a:r>
              <a:rPr lang="en-US" altLang="ko-KR" sz="1300" dirty="0">
                <a:solidFill>
                  <a:schemeClr val="bg1"/>
                </a:solidFill>
                <a:cs typeface="HP Simplified" pitchFamily="34" charset="0"/>
              </a:rPr>
              <a:t/>
            </a:r>
            <a:br>
              <a:rPr lang="en-US" altLang="ko-KR" sz="1300" dirty="0">
                <a:solidFill>
                  <a:schemeClr val="bg1"/>
                </a:solidFill>
                <a:cs typeface="HP Simplified" pitchFamily="34" charset="0"/>
              </a:rPr>
            </a:br>
            <a:r>
              <a:rPr lang="en-US" altLang="ko-KR" sz="1300" dirty="0">
                <a:solidFill>
                  <a:schemeClr val="bg1"/>
                </a:solidFill>
                <a:cs typeface="HP Simplified" pitchFamily="34" charset="0"/>
              </a:rPr>
              <a:t>(Machine Learning, Pattern matching, </a:t>
            </a:r>
            <a:r>
              <a:rPr lang="en-US" sz="1300" dirty="0">
                <a:solidFill>
                  <a:schemeClr val="bg1"/>
                </a:solidFill>
                <a:cs typeface="HP Simplified" pitchFamily="34" charset="0"/>
              </a:rPr>
              <a:t>Flex Tables </a:t>
            </a:r>
            <a:r>
              <a:rPr lang="ko-KR" altLang="en-US" sz="1300" dirty="0">
                <a:solidFill>
                  <a:schemeClr val="bg1"/>
                </a:solidFill>
                <a:cs typeface="HP Simplified" pitchFamily="34" charset="0"/>
              </a:rPr>
              <a:t>등</a:t>
            </a:r>
            <a:r>
              <a:rPr lang="en-US" altLang="ko-KR" sz="1300" dirty="0">
                <a:solidFill>
                  <a:schemeClr val="bg1"/>
                </a:solidFill>
                <a:cs typeface="HP Simplified" pitchFamily="34" charset="0"/>
              </a:rPr>
              <a:t>)</a:t>
            </a:r>
            <a:endParaRPr lang="en-US" sz="1300" dirty="0">
              <a:solidFill>
                <a:schemeClr val="bg1"/>
              </a:solidFill>
              <a:cs typeface="HP Simplified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209604" y="1617044"/>
            <a:ext cx="3686930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73446">
              <a:lnSpc>
                <a:spcPct val="80000"/>
              </a:lnSpc>
              <a:spcAft>
                <a:spcPts val="600"/>
              </a:spcAft>
              <a:buSzPct val="100000"/>
            </a:pPr>
            <a:r>
              <a:rPr lang="ko-KR" altLang="en-US" sz="2000" b="1" dirty="0">
                <a:solidFill>
                  <a:schemeClr val="bg1"/>
                </a:solidFill>
                <a:cs typeface="HP Simplified" pitchFamily="34" charset="0"/>
              </a:rPr>
              <a:t>경쟁기술 </a:t>
            </a:r>
            <a:endParaRPr lang="en-US" altLang="ko-KR" sz="2000" b="1" dirty="0">
              <a:solidFill>
                <a:schemeClr val="bg1"/>
              </a:solidFill>
              <a:cs typeface="HP Simplified" pitchFamily="34" charset="0"/>
            </a:endParaRPr>
          </a:p>
          <a:p>
            <a:pPr marL="180975" indent="-180975" defTabSz="573446">
              <a:lnSpc>
                <a:spcPct val="80000"/>
              </a:lnSpc>
              <a:spcAft>
                <a:spcPts val="600"/>
              </a:spcAft>
              <a:buSzPct val="100000"/>
            </a:pPr>
            <a:r>
              <a:rPr lang="en-US" altLang="ko-KR" sz="2000" b="1" dirty="0">
                <a:solidFill>
                  <a:schemeClr val="bg1"/>
                </a:solidFill>
                <a:cs typeface="HP Simplified" pitchFamily="34" charset="0"/>
              </a:rPr>
              <a:t>: </a:t>
            </a:r>
            <a:r>
              <a:rPr lang="en-US" altLang="ko-KR" b="1" dirty="0">
                <a:solidFill>
                  <a:schemeClr val="bg1"/>
                </a:solidFill>
                <a:cs typeface="HP Simplified" pitchFamily="34" charset="0"/>
              </a:rPr>
              <a:t>Oracle </a:t>
            </a:r>
            <a:r>
              <a:rPr lang="en-US" altLang="ko-KR" b="1" dirty="0" err="1">
                <a:solidFill>
                  <a:schemeClr val="bg1"/>
                </a:solidFill>
                <a:cs typeface="HP Simplified" pitchFamily="34" charset="0"/>
              </a:rPr>
              <a:t>Exadata</a:t>
            </a:r>
            <a:r>
              <a:rPr lang="en-US" altLang="ko-KR" b="1" dirty="0">
                <a:solidFill>
                  <a:schemeClr val="bg1"/>
                </a:solidFill>
                <a:cs typeface="HP Simplified" pitchFamily="34" charset="0"/>
              </a:rPr>
              <a:t>, Teradata, </a:t>
            </a:r>
            <a:r>
              <a:rPr lang="en-US" altLang="ko-KR" b="1" dirty="0" err="1">
                <a:solidFill>
                  <a:schemeClr val="bg1"/>
                </a:solidFill>
                <a:cs typeface="HP Simplified" pitchFamily="34" charset="0"/>
              </a:rPr>
              <a:t>Greenplum</a:t>
            </a:r>
            <a:endParaRPr lang="en-US" sz="1400" dirty="0">
              <a:solidFill>
                <a:schemeClr val="bg2"/>
              </a:solidFill>
              <a:cs typeface="HP Simplified" pitchFamily="34" charset="0"/>
            </a:endParaRPr>
          </a:p>
        </p:txBody>
      </p:sp>
      <p:sp>
        <p:nvSpPr>
          <p:cNvPr id="39" name="Rectangle 53"/>
          <p:cNvSpPr/>
          <p:nvPr/>
        </p:nvSpPr>
        <p:spPr>
          <a:xfrm>
            <a:off x="2746381" y="3364339"/>
            <a:ext cx="4552307" cy="10907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573446">
              <a:lnSpc>
                <a:spcPct val="80000"/>
              </a:lnSpc>
              <a:spcAft>
                <a:spcPts val="600"/>
              </a:spcAft>
              <a:buSzPct val="100000"/>
            </a:pPr>
            <a:r>
              <a:rPr lang="en-US" sz="2000" b="1" dirty="0">
                <a:solidFill>
                  <a:prstClr val="white"/>
                </a:solidFill>
                <a:cs typeface="HP Simplified" pitchFamily="34" charset="0"/>
              </a:rPr>
              <a:t>Vertica Enterprise in the Clouds</a:t>
            </a:r>
          </a:p>
          <a:p>
            <a:pPr marL="182563" indent="-182563" defTabSz="573446">
              <a:lnSpc>
                <a:spcPct val="80000"/>
              </a:lnSpc>
              <a:spcAft>
                <a:spcPts val="600"/>
              </a:spcAft>
              <a:buSzPct val="100000"/>
              <a:buFont typeface="Arial" charset="0"/>
              <a:buChar char="•"/>
            </a:pPr>
            <a:r>
              <a:rPr lang="ko-KR" altLang="en-US" sz="1300" dirty="0" err="1">
                <a:solidFill>
                  <a:schemeClr val="bg1"/>
                </a:solidFill>
                <a:cs typeface="HP Simplified" pitchFamily="34" charset="0"/>
              </a:rPr>
              <a:t>클라우드</a:t>
            </a:r>
            <a:r>
              <a:rPr lang="ko-KR" altLang="en-US" sz="1300" dirty="0">
                <a:solidFill>
                  <a:schemeClr val="bg1"/>
                </a:solidFill>
                <a:cs typeface="HP Simplified" pitchFamily="34" charset="0"/>
              </a:rPr>
              <a:t> 플랫폼으로의 빠른 전개</a:t>
            </a:r>
            <a:endParaRPr lang="en-US" sz="1300" dirty="0">
              <a:solidFill>
                <a:schemeClr val="bg1"/>
              </a:solidFill>
              <a:cs typeface="HP Simplified" pitchFamily="34" charset="0"/>
            </a:endParaRPr>
          </a:p>
          <a:p>
            <a:pPr marL="182563" indent="-182563" defTabSz="573446">
              <a:lnSpc>
                <a:spcPct val="80000"/>
              </a:lnSpc>
              <a:spcAft>
                <a:spcPts val="600"/>
              </a:spcAft>
              <a:buSzPct val="100000"/>
              <a:buFont typeface="Arial" charset="0"/>
              <a:buChar char="•"/>
            </a:pPr>
            <a:r>
              <a:rPr lang="en-US" sz="1300" dirty="0">
                <a:solidFill>
                  <a:schemeClr val="bg1"/>
                </a:solidFill>
                <a:cs typeface="HP Simplified" pitchFamily="34" charset="0"/>
              </a:rPr>
              <a:t>AWS, Azure, Google, </a:t>
            </a:r>
            <a:r>
              <a:rPr lang="en-US" sz="1300" dirty="0" err="1">
                <a:solidFill>
                  <a:schemeClr val="bg1"/>
                </a:solidFill>
                <a:cs typeface="HP Simplified" pitchFamily="34" charset="0"/>
              </a:rPr>
              <a:t>Vmware</a:t>
            </a:r>
            <a:r>
              <a:rPr lang="en-US" sz="1300" dirty="0">
                <a:solidFill>
                  <a:schemeClr val="bg1"/>
                </a:solidFill>
                <a:cs typeface="HP Simplified" pitchFamily="34" charset="0"/>
              </a:rPr>
              <a:t> </a:t>
            </a:r>
            <a:r>
              <a:rPr lang="ko-KR" altLang="en-US" sz="1300" dirty="0">
                <a:solidFill>
                  <a:schemeClr val="bg1"/>
                </a:solidFill>
                <a:cs typeface="HP Simplified" pitchFamily="34" charset="0"/>
              </a:rPr>
              <a:t>지원</a:t>
            </a:r>
            <a:endParaRPr lang="en-US" sz="1300" dirty="0">
              <a:solidFill>
                <a:schemeClr val="bg1"/>
              </a:solidFill>
              <a:cs typeface="HP Simplified" pitchFamily="34" charset="0"/>
            </a:endParaRPr>
          </a:p>
          <a:p>
            <a:pPr marL="182563" indent="-182563" defTabSz="573446">
              <a:lnSpc>
                <a:spcPct val="80000"/>
              </a:lnSpc>
              <a:spcAft>
                <a:spcPts val="600"/>
              </a:spcAft>
              <a:buSzPct val="100000"/>
              <a:buFont typeface="Arial" charset="0"/>
              <a:buChar char="•"/>
            </a:pPr>
            <a:r>
              <a:rPr lang="ko-KR" altLang="en-US" sz="1300" dirty="0">
                <a:solidFill>
                  <a:schemeClr val="bg1"/>
                </a:solidFill>
                <a:cs typeface="HP Simplified" pitchFamily="34" charset="0"/>
              </a:rPr>
              <a:t>유연한 </a:t>
            </a:r>
            <a:r>
              <a:rPr lang="ko-KR" altLang="en-US" sz="1300" dirty="0" err="1">
                <a:solidFill>
                  <a:schemeClr val="bg1"/>
                </a:solidFill>
                <a:cs typeface="HP Simplified" pitchFamily="34" charset="0"/>
              </a:rPr>
              <a:t>클라우드</a:t>
            </a:r>
            <a:r>
              <a:rPr lang="ko-KR" altLang="en-US" sz="1300" dirty="0">
                <a:solidFill>
                  <a:schemeClr val="bg1"/>
                </a:solidFill>
                <a:cs typeface="HP Simplified" pitchFamily="34" charset="0"/>
              </a:rPr>
              <a:t> 기반 옵션 제공</a:t>
            </a:r>
            <a:endParaRPr lang="en-US" sz="1300" dirty="0">
              <a:solidFill>
                <a:schemeClr val="bg1"/>
              </a:solidFill>
              <a:cs typeface="HP Simplified" pitchFamily="34" charset="0"/>
            </a:endParaRPr>
          </a:p>
        </p:txBody>
      </p:sp>
      <p:sp>
        <p:nvSpPr>
          <p:cNvPr id="40" name="Rectangle 53"/>
          <p:cNvSpPr/>
          <p:nvPr/>
        </p:nvSpPr>
        <p:spPr>
          <a:xfrm>
            <a:off x="8209604" y="3364339"/>
            <a:ext cx="3808228" cy="66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573446">
              <a:lnSpc>
                <a:spcPct val="80000"/>
              </a:lnSpc>
              <a:spcAft>
                <a:spcPts val="600"/>
              </a:spcAft>
              <a:buSzPct val="100000"/>
            </a:pPr>
            <a:r>
              <a:rPr lang="ko-KR" altLang="en-US" sz="2000" b="1" dirty="0">
                <a:solidFill>
                  <a:prstClr val="white"/>
                </a:solidFill>
                <a:cs typeface="HP Simplified" pitchFamily="34" charset="0"/>
              </a:rPr>
              <a:t>경쟁기술</a:t>
            </a:r>
            <a:endParaRPr lang="en-US" altLang="ko-KR" sz="2000" b="1" dirty="0">
              <a:solidFill>
                <a:prstClr val="white"/>
              </a:solidFill>
              <a:cs typeface="HP Simplified" pitchFamily="34" charset="0"/>
            </a:endParaRPr>
          </a:p>
          <a:p>
            <a:pPr defTabSz="573446">
              <a:lnSpc>
                <a:spcPct val="80000"/>
              </a:lnSpc>
              <a:spcAft>
                <a:spcPts val="600"/>
              </a:spcAft>
              <a:buSzPct val="100000"/>
            </a:pPr>
            <a:r>
              <a:rPr lang="en-US" sz="2000" b="1" dirty="0">
                <a:solidFill>
                  <a:prstClr val="white"/>
                </a:solidFill>
                <a:cs typeface="HP Simplified" pitchFamily="34" charset="0"/>
              </a:rPr>
              <a:t>: </a:t>
            </a:r>
            <a:r>
              <a:rPr lang="en-US" b="1" dirty="0">
                <a:solidFill>
                  <a:prstClr val="white"/>
                </a:solidFill>
                <a:cs typeface="HP Simplified" pitchFamily="34" charset="0"/>
              </a:rPr>
              <a:t>Redshift, </a:t>
            </a:r>
            <a:r>
              <a:rPr lang="en-US" b="1" dirty="0" err="1">
                <a:solidFill>
                  <a:prstClr val="white"/>
                </a:solidFill>
                <a:cs typeface="HP Simplified" pitchFamily="34" charset="0"/>
              </a:rPr>
              <a:t>MEMSQL</a:t>
            </a:r>
            <a:r>
              <a:rPr lang="en-US" b="1" dirty="0">
                <a:solidFill>
                  <a:prstClr val="white"/>
                </a:solidFill>
                <a:cs typeface="HP Simplified" pitchFamily="34" charset="0"/>
              </a:rPr>
              <a:t>, Snowflake</a:t>
            </a:r>
            <a:endParaRPr lang="en-US" sz="1400" dirty="0">
              <a:solidFill>
                <a:schemeClr val="bg2"/>
              </a:solidFill>
              <a:cs typeface="HP Simplified" pitchFamily="34" charset="0"/>
            </a:endParaRPr>
          </a:p>
        </p:txBody>
      </p:sp>
      <p:sp>
        <p:nvSpPr>
          <p:cNvPr id="41" name="Rectangle 53">
            <a:extLst>
              <a:ext uri="{FF2B5EF4-FFF2-40B4-BE49-F238E27FC236}">
                <a16:creationId xmlns="" xmlns:a16="http://schemas.microsoft.com/office/drawing/2014/main" id="{722698C9-D74E-48C3-BA07-A3A2A840B36A}"/>
              </a:ext>
            </a:extLst>
          </p:cNvPr>
          <p:cNvSpPr/>
          <p:nvPr/>
        </p:nvSpPr>
        <p:spPr>
          <a:xfrm>
            <a:off x="2746380" y="4857506"/>
            <a:ext cx="5091333" cy="10890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573446">
              <a:lnSpc>
                <a:spcPct val="80000"/>
              </a:lnSpc>
              <a:spcAft>
                <a:spcPts val="600"/>
              </a:spcAft>
              <a:buSzPct val="100000"/>
            </a:pPr>
            <a:r>
              <a:rPr lang="en-US" sz="2000" b="1" dirty="0">
                <a:solidFill>
                  <a:prstClr val="white"/>
                </a:solidFill>
                <a:cs typeface="HP Simplified" pitchFamily="34" charset="0"/>
              </a:rPr>
              <a:t>Vertica Eon in the Clouds &amp; On-Premise</a:t>
            </a:r>
          </a:p>
          <a:p>
            <a:pPr marL="182563" indent="-182563" defTabSz="573446">
              <a:lnSpc>
                <a:spcPct val="80000"/>
              </a:lnSpc>
              <a:spcAft>
                <a:spcPts val="600"/>
              </a:spcAft>
              <a:buSzPct val="100000"/>
              <a:buFont typeface="Arial" charset="0"/>
              <a:buChar char="•"/>
            </a:pPr>
            <a:r>
              <a:rPr lang="en-US" sz="1300" dirty="0">
                <a:solidFill>
                  <a:schemeClr val="bg1"/>
                </a:solidFill>
                <a:cs typeface="HP Simplified" pitchFamily="34" charset="0"/>
              </a:rPr>
              <a:t>Computing Node </a:t>
            </a:r>
            <a:r>
              <a:rPr lang="ko-KR" altLang="en-US" sz="1300" dirty="0">
                <a:solidFill>
                  <a:schemeClr val="bg1"/>
                </a:solidFill>
                <a:cs typeface="HP Simplified" pitchFamily="34" charset="0"/>
              </a:rPr>
              <a:t>와 </a:t>
            </a:r>
            <a:r>
              <a:rPr lang="en-US" altLang="ko-KR" sz="1300" dirty="0">
                <a:solidFill>
                  <a:schemeClr val="bg1"/>
                </a:solidFill>
                <a:cs typeface="HP Simplified" pitchFamily="34" charset="0"/>
              </a:rPr>
              <a:t>Storage </a:t>
            </a:r>
            <a:r>
              <a:rPr lang="ko-KR" altLang="en-US" sz="1300" dirty="0">
                <a:solidFill>
                  <a:schemeClr val="bg1"/>
                </a:solidFill>
                <a:cs typeface="HP Simplified" pitchFamily="34" charset="0"/>
              </a:rPr>
              <a:t>분리</a:t>
            </a:r>
            <a:endParaRPr lang="en-US" altLang="ko-KR" sz="1300" dirty="0">
              <a:solidFill>
                <a:schemeClr val="bg1"/>
              </a:solidFill>
              <a:cs typeface="HP Simplified" pitchFamily="34" charset="0"/>
            </a:endParaRPr>
          </a:p>
          <a:p>
            <a:pPr marL="182563" indent="-182563" defTabSz="573446">
              <a:lnSpc>
                <a:spcPct val="80000"/>
              </a:lnSpc>
              <a:spcAft>
                <a:spcPts val="600"/>
              </a:spcAft>
              <a:buSzPct val="100000"/>
              <a:buFont typeface="Arial" charset="0"/>
              <a:buChar char="•"/>
            </a:pPr>
            <a:r>
              <a:rPr lang="en-US" sz="1300" dirty="0">
                <a:solidFill>
                  <a:schemeClr val="bg1"/>
                </a:solidFill>
                <a:cs typeface="HP Simplified" pitchFamily="34" charset="0"/>
              </a:rPr>
              <a:t>Object Storage </a:t>
            </a:r>
            <a:r>
              <a:rPr lang="ko-KR" altLang="en-US" sz="1300" dirty="0">
                <a:solidFill>
                  <a:schemeClr val="bg1"/>
                </a:solidFill>
                <a:cs typeface="HP Simplified" pitchFamily="34" charset="0"/>
              </a:rPr>
              <a:t>기반의 무한한 확장성</a:t>
            </a:r>
            <a:endParaRPr lang="en-US" altLang="ko-KR" sz="1300" dirty="0">
              <a:solidFill>
                <a:schemeClr val="bg1"/>
              </a:solidFill>
              <a:cs typeface="HP Simplified" pitchFamily="34" charset="0"/>
            </a:endParaRPr>
          </a:p>
          <a:p>
            <a:pPr marL="182563" indent="-182563" defTabSz="573446">
              <a:lnSpc>
                <a:spcPct val="80000"/>
              </a:lnSpc>
              <a:spcAft>
                <a:spcPts val="600"/>
              </a:spcAft>
              <a:buSzPct val="100000"/>
              <a:buFont typeface="Arial" charset="0"/>
              <a:buChar char="•"/>
            </a:pPr>
            <a:r>
              <a:rPr lang="en-US" sz="1300" dirty="0">
                <a:solidFill>
                  <a:schemeClr val="bg1"/>
                </a:solidFill>
                <a:cs typeface="HP Simplified" pitchFamily="34" charset="0"/>
              </a:rPr>
              <a:t>Workload</a:t>
            </a:r>
            <a:r>
              <a:rPr lang="ko-KR" altLang="en-US" sz="1300" dirty="0">
                <a:solidFill>
                  <a:schemeClr val="bg1"/>
                </a:solidFill>
                <a:cs typeface="HP Simplified" pitchFamily="34" charset="0"/>
              </a:rPr>
              <a:t>에 따른 유연한 증설 및 </a:t>
            </a:r>
            <a:r>
              <a:rPr lang="en-US" altLang="ko-KR" sz="1300" dirty="0">
                <a:solidFill>
                  <a:schemeClr val="bg1"/>
                </a:solidFill>
                <a:cs typeface="HP Simplified" pitchFamily="34" charset="0"/>
              </a:rPr>
              <a:t>Multi-Cluster </a:t>
            </a:r>
            <a:r>
              <a:rPr lang="ko-KR" altLang="en-US" sz="1300" dirty="0">
                <a:solidFill>
                  <a:schemeClr val="bg1"/>
                </a:solidFill>
                <a:cs typeface="HP Simplified" pitchFamily="34" charset="0"/>
              </a:rPr>
              <a:t>구성 지원</a:t>
            </a:r>
            <a:endParaRPr lang="en-US" sz="1300" dirty="0">
              <a:solidFill>
                <a:schemeClr val="bg1"/>
              </a:solidFill>
              <a:cs typeface="HP Simplified" pitchFamily="34" charset="0"/>
            </a:endParaRPr>
          </a:p>
        </p:txBody>
      </p:sp>
      <p:sp>
        <p:nvSpPr>
          <p:cNvPr id="42" name="Rectangle 53">
            <a:extLst>
              <a:ext uri="{FF2B5EF4-FFF2-40B4-BE49-F238E27FC236}">
                <a16:creationId xmlns="" xmlns:a16="http://schemas.microsoft.com/office/drawing/2014/main" id="{A1681F80-7DB0-45FA-87FB-B4CBF8C05622}"/>
              </a:ext>
            </a:extLst>
          </p:cNvPr>
          <p:cNvSpPr/>
          <p:nvPr/>
        </p:nvSpPr>
        <p:spPr>
          <a:xfrm>
            <a:off x="8209604" y="4857506"/>
            <a:ext cx="2847174" cy="66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573446">
              <a:lnSpc>
                <a:spcPct val="80000"/>
              </a:lnSpc>
              <a:spcAft>
                <a:spcPts val="600"/>
              </a:spcAft>
              <a:buSzPct val="100000"/>
            </a:pPr>
            <a:r>
              <a:rPr lang="ko-KR" altLang="en-US" sz="2000" b="1" dirty="0">
                <a:solidFill>
                  <a:prstClr val="white"/>
                </a:solidFill>
                <a:cs typeface="HP Simplified" pitchFamily="34" charset="0"/>
              </a:rPr>
              <a:t>경쟁기술</a:t>
            </a:r>
            <a:endParaRPr lang="en-US" altLang="ko-KR" sz="2000" b="1" dirty="0">
              <a:solidFill>
                <a:prstClr val="white"/>
              </a:solidFill>
              <a:cs typeface="HP Simplified" pitchFamily="34" charset="0"/>
            </a:endParaRPr>
          </a:p>
          <a:p>
            <a:pPr defTabSz="573446">
              <a:lnSpc>
                <a:spcPct val="80000"/>
              </a:lnSpc>
              <a:spcAft>
                <a:spcPts val="600"/>
              </a:spcAft>
              <a:buSzPct val="100000"/>
            </a:pPr>
            <a:r>
              <a:rPr lang="en-US" sz="2000" b="1" dirty="0">
                <a:solidFill>
                  <a:prstClr val="white"/>
                </a:solidFill>
                <a:cs typeface="HP Simplified" pitchFamily="34" charset="0"/>
              </a:rPr>
              <a:t>: </a:t>
            </a:r>
            <a:r>
              <a:rPr lang="ko-KR" altLang="en-US" b="1" dirty="0">
                <a:solidFill>
                  <a:prstClr val="white"/>
                </a:solidFill>
                <a:cs typeface="HP Simplified" pitchFamily="34" charset="0"/>
              </a:rPr>
              <a:t>없음</a:t>
            </a:r>
            <a:endParaRPr lang="en-US" sz="1400" dirty="0">
              <a:solidFill>
                <a:schemeClr val="bg2"/>
              </a:solidFill>
              <a:cs typeface="HP Simplified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10276389" y="6357300"/>
            <a:ext cx="306355" cy="274324"/>
          </a:xfrm>
        </p:spPr>
        <p:txBody>
          <a:bodyPr/>
          <a:lstStyle/>
          <a:p>
            <a:fld id="{AFA02C0B-84B5-4CD2-A6CE-C6BD7D6F9045}" type="slidenum">
              <a:rPr lang="ko-KR" altLang="en-US" smtClean="0">
                <a:solidFill>
                  <a:schemeClr val="tx1"/>
                </a:solidFill>
              </a:rPr>
              <a:t>5</a:t>
            </a:fld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4153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Public / Private Cloud support</a:t>
            </a:r>
            <a:endParaRPr lang="ko-KR" altLang="en-US" dirty="0">
              <a:latin typeface="+mj-ea"/>
              <a:ea typeface="+mj-ea"/>
            </a:endParaRPr>
          </a:p>
        </p:txBody>
      </p:sp>
      <p:pic>
        <p:nvPicPr>
          <p:cNvPr id="18" name="Picture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1776" y="1769780"/>
            <a:ext cx="2301719" cy="865445"/>
          </a:xfrm>
          <a:prstGeom prst="rect">
            <a:avLst/>
          </a:prstGeom>
        </p:spPr>
      </p:pic>
      <p:pic>
        <p:nvPicPr>
          <p:cNvPr id="19" name="Picture 3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100" y="1612878"/>
            <a:ext cx="1942142" cy="1109793"/>
          </a:xfrm>
          <a:prstGeom prst="rect">
            <a:avLst/>
          </a:prstGeom>
        </p:spPr>
      </p:pic>
      <p:pic>
        <p:nvPicPr>
          <p:cNvPr id="20" name="Picture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303" y="1686416"/>
            <a:ext cx="1937535" cy="124607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="" xmlns:a16="http://schemas.microsoft.com/office/drawing/2014/main" id="{F25A3B3A-32C8-4401-A476-E8CCEB3258D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7171" y="3062835"/>
            <a:ext cx="1555859" cy="1159667"/>
          </a:xfrm>
          <a:prstGeom prst="rect">
            <a:avLst/>
          </a:prstGeom>
        </p:spPr>
      </p:pic>
      <p:pic>
        <p:nvPicPr>
          <p:cNvPr id="22" name="Picture 4">
            <a:extLst>
              <a:ext uri="{FF2B5EF4-FFF2-40B4-BE49-F238E27FC236}">
                <a16:creationId xmlns="" xmlns:a16="http://schemas.microsoft.com/office/drawing/2014/main" id="{051FB3A4-C7F9-45D0-A73B-557A6E1C4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1411" y="3315552"/>
            <a:ext cx="2987714" cy="703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 descr="kt cloud 로고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2901" y="3315552"/>
            <a:ext cx="1955890" cy="478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 descr="네이버 클라우드 플렛폼(NCP) 시작하기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298" y="3019763"/>
            <a:ext cx="1649090" cy="1310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Rectangle 20"/>
          <p:cNvSpPr/>
          <p:nvPr/>
        </p:nvSpPr>
        <p:spPr>
          <a:xfrm>
            <a:off x="-7355" y="4714325"/>
            <a:ext cx="12199355" cy="1523825"/>
          </a:xfrm>
          <a:prstGeom prst="rect">
            <a:avLst/>
          </a:prstGeom>
          <a:solidFill>
            <a:schemeClr val="accent5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+mj-ea"/>
              <a:ea typeface="+mj-ea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895184" y="4855629"/>
            <a:ext cx="10401632" cy="1200329"/>
            <a:chOff x="1245324" y="4855629"/>
            <a:chExt cx="10401632" cy="1200329"/>
          </a:xfrm>
        </p:grpSpPr>
        <p:sp>
          <p:nvSpPr>
            <p:cNvPr id="32" name="Rectangle 23"/>
            <p:cNvSpPr/>
            <p:nvPr/>
          </p:nvSpPr>
          <p:spPr>
            <a:xfrm>
              <a:off x="1245324" y="4855629"/>
              <a:ext cx="4964975" cy="120032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ko-KR" altLang="en-US" sz="2400" dirty="0">
                  <a:solidFill>
                    <a:prstClr val="white"/>
                  </a:solidFill>
                  <a:latin typeface="+mj-ea"/>
                  <a:ea typeface="+mj-ea"/>
                  <a:cs typeface="Pretendard Variable SemiBold" panose="02000003000000020004" pitchFamily="2" charset="-127"/>
                </a:rPr>
                <a:t>주요 </a:t>
              </a:r>
              <a:r>
                <a:rPr lang="en-US" altLang="ko-KR" sz="2400" dirty="0">
                  <a:solidFill>
                    <a:prstClr val="white"/>
                  </a:solidFill>
                  <a:latin typeface="+mj-ea"/>
                  <a:ea typeface="+mj-ea"/>
                  <a:cs typeface="Pretendard Variable SemiBold" panose="02000003000000020004" pitchFamily="2" charset="-127"/>
                </a:rPr>
                <a:t>Public cloud marketplace</a:t>
              </a:r>
              <a:r>
                <a:rPr lang="ko-KR" altLang="en-US" sz="2400" dirty="0">
                  <a:solidFill>
                    <a:prstClr val="white"/>
                  </a:solidFill>
                  <a:latin typeface="+mj-ea"/>
                  <a:ea typeface="+mj-ea"/>
                  <a:cs typeface="Pretendard Variable SemiBold" panose="02000003000000020004" pitchFamily="2" charset="-127"/>
                </a:rPr>
                <a:t>에</a:t>
              </a:r>
              <a:endParaRPr lang="en-US" altLang="ko-KR" sz="2400" dirty="0">
                <a:solidFill>
                  <a:prstClr val="white"/>
                </a:solidFill>
                <a:latin typeface="+mj-ea"/>
                <a:ea typeface="+mj-ea"/>
                <a:cs typeface="Pretendard Variable SemiBold" panose="02000003000000020004" pitchFamily="2" charset="-127"/>
              </a:endParaRPr>
            </a:p>
            <a:p>
              <a:pPr algn="ctr"/>
              <a:r>
                <a:rPr lang="ko-KR" altLang="en-US" sz="2400" dirty="0">
                  <a:solidFill>
                    <a:prstClr val="white"/>
                  </a:solidFill>
                  <a:latin typeface="+mj-ea"/>
                  <a:ea typeface="+mj-ea"/>
                  <a:cs typeface="Pretendard Variable SemiBold" panose="02000003000000020004" pitchFamily="2" charset="-127"/>
                </a:rPr>
                <a:t>등록되어 수분내에 클러스터 프로비저닝 지원</a:t>
              </a:r>
              <a:endParaRPr lang="en-US" sz="2400" dirty="0">
                <a:solidFill>
                  <a:prstClr val="white"/>
                </a:solidFill>
                <a:latin typeface="+mj-ea"/>
                <a:ea typeface="+mj-ea"/>
                <a:cs typeface="Pretendard Variable SemiBold" panose="02000003000000020004" pitchFamily="2" charset="-127"/>
              </a:endParaRPr>
            </a:p>
          </p:txBody>
        </p:sp>
        <p:sp>
          <p:nvSpPr>
            <p:cNvPr id="43" name="Rectangle 24"/>
            <p:cNvSpPr/>
            <p:nvPr/>
          </p:nvSpPr>
          <p:spPr>
            <a:xfrm>
              <a:off x="6672064" y="4855629"/>
              <a:ext cx="4974892" cy="120032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altLang="ko-KR" sz="2400" dirty="0">
                  <a:solidFill>
                    <a:prstClr val="white"/>
                  </a:solidFill>
                  <a:latin typeface="+mj-ea"/>
                  <a:ea typeface="+mj-ea"/>
                  <a:cs typeface="Pretendard Variable SemiBold" panose="02000003000000020004" pitchFamily="2" charset="-127"/>
                </a:rPr>
                <a:t>Private cloud </a:t>
              </a:r>
              <a:r>
                <a:rPr lang="ko-KR" altLang="en-US" sz="2400" dirty="0">
                  <a:solidFill>
                    <a:prstClr val="white"/>
                  </a:solidFill>
                  <a:latin typeface="+mj-ea"/>
                  <a:ea typeface="+mj-ea"/>
                  <a:cs typeface="Pretendard Variable SemiBold" panose="02000003000000020004" pitchFamily="2" charset="-127"/>
                </a:rPr>
                <a:t>기반의</a:t>
              </a:r>
              <a:endParaRPr lang="en-US" altLang="ko-KR" sz="2400" dirty="0">
                <a:solidFill>
                  <a:prstClr val="white"/>
                </a:solidFill>
                <a:latin typeface="+mj-ea"/>
                <a:ea typeface="+mj-ea"/>
                <a:cs typeface="Pretendard Variable SemiBold" panose="02000003000000020004" pitchFamily="2" charset="-127"/>
              </a:endParaRPr>
            </a:p>
            <a:p>
              <a:pPr algn="ctr"/>
              <a:r>
                <a:rPr lang="en-US" altLang="ko-KR" sz="2400" dirty="0">
                  <a:solidFill>
                    <a:prstClr val="white"/>
                  </a:solidFill>
                  <a:latin typeface="+mj-ea"/>
                  <a:ea typeface="+mj-ea"/>
                  <a:cs typeface="Pretendard Variable SemiBold" panose="02000003000000020004" pitchFamily="2" charset="-127"/>
                </a:rPr>
                <a:t>Data warehouse </a:t>
              </a:r>
              <a:r>
                <a:rPr lang="ko-KR" altLang="en-US" sz="2400" dirty="0">
                  <a:solidFill>
                    <a:prstClr val="white"/>
                  </a:solidFill>
                  <a:latin typeface="+mj-ea"/>
                  <a:ea typeface="+mj-ea"/>
                  <a:cs typeface="Pretendard Variable SemiBold" panose="02000003000000020004" pitchFamily="2" charset="-127"/>
                </a:rPr>
                <a:t>구축을 위한 </a:t>
              </a:r>
              <a:r>
                <a:rPr lang="en-US" altLang="ko-KR" sz="2400" dirty="0">
                  <a:solidFill>
                    <a:prstClr val="white"/>
                  </a:solidFill>
                  <a:latin typeface="+mj-ea"/>
                  <a:ea typeface="+mj-ea"/>
                  <a:cs typeface="Pretendard Variable SemiBold" panose="02000003000000020004" pitchFamily="2" charset="-127"/>
                </a:rPr>
                <a:t>Kubernetes </a:t>
              </a:r>
              <a:r>
                <a:rPr lang="ko-KR" altLang="en-US" sz="2400" dirty="0">
                  <a:solidFill>
                    <a:prstClr val="white"/>
                  </a:solidFill>
                  <a:latin typeface="+mj-ea"/>
                  <a:ea typeface="+mj-ea"/>
                  <a:cs typeface="Pretendard Variable SemiBold" panose="02000003000000020004" pitchFamily="2" charset="-127"/>
                </a:rPr>
                <a:t>및 </a:t>
              </a:r>
              <a:r>
                <a:rPr lang="en-US" altLang="ko-KR" sz="2400" dirty="0" err="1">
                  <a:solidFill>
                    <a:prstClr val="white"/>
                  </a:solidFill>
                  <a:latin typeface="+mj-ea"/>
                  <a:ea typeface="+mj-ea"/>
                  <a:cs typeface="Pretendard Variable SemiBold" panose="02000003000000020004" pitchFamily="2" charset="-127"/>
                </a:rPr>
                <a:t>Vmware</a:t>
              </a:r>
              <a:r>
                <a:rPr lang="en-US" altLang="ko-KR" sz="2400" dirty="0">
                  <a:solidFill>
                    <a:prstClr val="white"/>
                  </a:solidFill>
                  <a:latin typeface="+mj-ea"/>
                  <a:ea typeface="+mj-ea"/>
                  <a:cs typeface="Pretendard Variable SemiBold" panose="02000003000000020004" pitchFamily="2" charset="-127"/>
                </a:rPr>
                <a:t> </a:t>
              </a:r>
              <a:r>
                <a:rPr lang="ko-KR" altLang="en-US" sz="2400" dirty="0">
                  <a:solidFill>
                    <a:prstClr val="white"/>
                  </a:solidFill>
                  <a:latin typeface="+mj-ea"/>
                  <a:ea typeface="+mj-ea"/>
                  <a:cs typeface="Pretendard Variable SemiBold" panose="02000003000000020004" pitchFamily="2" charset="-127"/>
                </a:rPr>
                <a:t>지원</a:t>
              </a:r>
              <a:endParaRPr lang="en-US" sz="2400" dirty="0">
                <a:solidFill>
                  <a:prstClr val="white"/>
                </a:solidFill>
                <a:latin typeface="+mj-ea"/>
                <a:ea typeface="+mj-ea"/>
                <a:cs typeface="Pretendard Variable SemiBold" panose="02000003000000020004" pitchFamily="2" charset="-127"/>
              </a:endParaRPr>
            </a:p>
          </p:txBody>
        </p:sp>
      </p:grp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10276381" y="6365926"/>
            <a:ext cx="306355" cy="274324"/>
          </a:xfrm>
        </p:spPr>
        <p:txBody>
          <a:bodyPr/>
          <a:lstStyle/>
          <a:p>
            <a:fld id="{AFA02C0B-84B5-4CD2-A6CE-C6BD7D6F9045}" type="slidenum">
              <a:rPr lang="ko-KR" altLang="en-US" b="1" smtClean="0">
                <a:solidFill>
                  <a:schemeClr val="tx1"/>
                </a:solidFill>
                <a:latin typeface="+mj-ea"/>
                <a:ea typeface="+mj-ea"/>
              </a:rPr>
              <a:t>6</a:t>
            </a:fld>
            <a:endParaRPr lang="ko-KR" altLang="en-US" b="1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445632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 txBox="1">
            <a:spLocks/>
          </p:cNvSpPr>
          <p:nvPr/>
        </p:nvSpPr>
        <p:spPr>
          <a:xfrm>
            <a:off x="974707" y="1679843"/>
            <a:ext cx="3940193" cy="138285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4400" dirty="0">
                <a:solidFill>
                  <a:prstClr val="white"/>
                </a:solidFill>
              </a:rPr>
              <a:t>Embracing an Open Source Architecture</a:t>
            </a:r>
          </a:p>
        </p:txBody>
      </p:sp>
      <p:sp>
        <p:nvSpPr>
          <p:cNvPr id="16" name="Text Placeholder 8"/>
          <p:cNvSpPr txBox="1">
            <a:spLocks/>
          </p:cNvSpPr>
          <p:nvPr/>
        </p:nvSpPr>
        <p:spPr>
          <a:xfrm>
            <a:off x="1233556" y="3510103"/>
            <a:ext cx="3170494" cy="10826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Apache Spark, Hadoop and Kafka Integration</a:t>
            </a:r>
          </a:p>
        </p:txBody>
      </p:sp>
      <p:grpSp>
        <p:nvGrpSpPr>
          <p:cNvPr id="71" name="그룹 70"/>
          <p:cNvGrpSpPr/>
          <p:nvPr/>
        </p:nvGrpSpPr>
        <p:grpSpPr>
          <a:xfrm>
            <a:off x="6544807" y="337982"/>
            <a:ext cx="2936190" cy="2951588"/>
            <a:chOff x="6358187" y="300658"/>
            <a:chExt cx="2936190" cy="2951588"/>
          </a:xfrm>
        </p:grpSpPr>
        <p:grpSp>
          <p:nvGrpSpPr>
            <p:cNvPr id="72" name="그룹 71"/>
            <p:cNvGrpSpPr/>
            <p:nvPr/>
          </p:nvGrpSpPr>
          <p:grpSpPr>
            <a:xfrm>
              <a:off x="6358187" y="300658"/>
              <a:ext cx="2936190" cy="2951588"/>
              <a:chOff x="6358187" y="300658"/>
              <a:chExt cx="2936190" cy="2951588"/>
            </a:xfrm>
          </p:grpSpPr>
          <p:grpSp>
            <p:nvGrpSpPr>
              <p:cNvPr id="82" name="Group 100"/>
              <p:cNvGrpSpPr/>
              <p:nvPr/>
            </p:nvGrpSpPr>
            <p:grpSpPr>
              <a:xfrm>
                <a:off x="6358187" y="300658"/>
                <a:ext cx="2936190" cy="2951588"/>
                <a:chOff x="1499369" y="391931"/>
                <a:chExt cx="4211193" cy="4233282"/>
              </a:xfrm>
            </p:grpSpPr>
            <p:grpSp>
              <p:nvGrpSpPr>
                <p:cNvPr id="84" name="Group 102"/>
                <p:cNvGrpSpPr/>
                <p:nvPr/>
              </p:nvGrpSpPr>
              <p:grpSpPr>
                <a:xfrm>
                  <a:off x="1505268" y="391931"/>
                  <a:ext cx="4205294" cy="4205282"/>
                  <a:chOff x="6391284" y="314733"/>
                  <a:chExt cx="2851323" cy="2851317"/>
                </a:xfrm>
              </p:grpSpPr>
              <p:sp>
                <p:nvSpPr>
                  <p:cNvPr id="86" name="Shape 276"/>
                  <p:cNvSpPr/>
                  <p:nvPr/>
                </p:nvSpPr>
                <p:spPr>
                  <a:xfrm>
                    <a:off x="6473958" y="380743"/>
                    <a:ext cx="2718649" cy="271864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19679" h="19679" extrusionOk="0">
                        <a:moveTo>
                          <a:pt x="16796" y="2882"/>
                        </a:moveTo>
                        <a:cubicBezTo>
                          <a:pt x="20639" y="6724"/>
                          <a:pt x="20639" y="12954"/>
                          <a:pt x="16796" y="16796"/>
                        </a:cubicBezTo>
                        <a:cubicBezTo>
                          <a:pt x="12954" y="20639"/>
                          <a:pt x="6724" y="20639"/>
                          <a:pt x="2882" y="16796"/>
                        </a:cubicBezTo>
                        <a:cubicBezTo>
                          <a:pt x="-961" y="12954"/>
                          <a:pt x="-961" y="6724"/>
                          <a:pt x="2882" y="2882"/>
                        </a:cubicBezTo>
                        <a:cubicBezTo>
                          <a:pt x="6724" y="-961"/>
                          <a:pt x="12954" y="-961"/>
                          <a:pt x="16796" y="2882"/>
                        </a:cubicBezTo>
                        <a:close/>
                      </a:path>
                    </a:pathLst>
                  </a:custGeom>
                  <a:solidFill>
                    <a:srgbClr val="1D3B78"/>
                  </a:solidFill>
                  <a:ln w="12700">
                    <a:noFill/>
                    <a:miter lim="400000"/>
                  </a:ln>
                  <a:effectLst>
                    <a:outerShdw blurRad="38100" dist="12700" dir="5400000" algn="ctr" rotWithShape="0">
                      <a:srgbClr val="000000">
                        <a:alpha val="30000"/>
                      </a:srgbClr>
                    </a:outerShdw>
                  </a:effectLst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lIns="0" tIns="0" rIns="0" bIns="0" anchor="ctr"/>
                  <a:lstStyle>
                    <a:lvl1pPr>
                      <a:defRPr sz="10700" b="1">
                        <a:solidFill>
                          <a:srgbClr val="FCFBFB"/>
                        </a:solidFill>
                        <a:latin typeface="helium"/>
                        <a:ea typeface="helium"/>
                        <a:cs typeface="helium"/>
                        <a:sym typeface="helium"/>
                      </a:defRPr>
                    </a:lvl1pPr>
                  </a:lstStyle>
                  <a:p>
                    <a:pPr lvl="0" algn="ctr">
                      <a:lnSpc>
                        <a:spcPct val="120000"/>
                      </a:lnSpc>
                      <a:defRPr sz="1800" b="0">
                        <a:solidFill>
                          <a:srgbClr val="000000"/>
                        </a:solidFill>
                      </a:defRPr>
                    </a:pPr>
                    <a:endParaRPr sz="29598" dirty="0">
                      <a:solidFill>
                        <a:srgbClr val="FFFFFF"/>
                      </a:solidFill>
                      <a:latin typeface="+mn-lt"/>
                      <a:cs typeface="et-line"/>
                    </a:endParaRPr>
                  </a:p>
                </p:txBody>
              </p:sp>
              <p:sp>
                <p:nvSpPr>
                  <p:cNvPr id="87" name="Block Arc 105"/>
                  <p:cNvSpPr/>
                  <p:nvPr/>
                </p:nvSpPr>
                <p:spPr>
                  <a:xfrm flipV="1">
                    <a:off x="6391284" y="314733"/>
                    <a:ext cx="2851322" cy="2851317"/>
                  </a:xfrm>
                  <a:prstGeom prst="blockArc">
                    <a:avLst>
                      <a:gd name="adj1" fmla="val 10800000"/>
                      <a:gd name="adj2" fmla="val 39393"/>
                      <a:gd name="adj3" fmla="val 9996"/>
                    </a:avLst>
                  </a:prstGeom>
                  <a:solidFill>
                    <a:srgbClr val="29CEFE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8" name="Freeform 107"/>
                  <p:cNvSpPr/>
                  <p:nvPr/>
                </p:nvSpPr>
                <p:spPr>
                  <a:xfrm rot="10800000">
                    <a:off x="6391285" y="321129"/>
                    <a:ext cx="2851322" cy="1605122"/>
                  </a:xfrm>
                  <a:custGeom>
                    <a:avLst/>
                    <a:gdLst>
                      <a:gd name="connsiteX0" fmla="*/ 1114019 w 2240876"/>
                      <a:gd name="connsiteY0" fmla="*/ 1261462 h 1261480"/>
                      <a:gd name="connsiteX1" fmla="*/ 552823 w 2240876"/>
                      <a:gd name="connsiteY1" fmla="*/ 1107062 h 1261480"/>
                      <a:gd name="connsiteX2" fmla="*/ 8293 w 2240876"/>
                      <a:gd name="connsiteY2" fmla="*/ 277274 h 1261480"/>
                      <a:gd name="connsiteX3" fmla="*/ 274 w 2240876"/>
                      <a:gd name="connsiteY3" fmla="*/ 131830 h 1261480"/>
                      <a:gd name="connsiteX4" fmla="*/ 0 w 2240876"/>
                      <a:gd name="connsiteY4" fmla="*/ 131830 h 1261480"/>
                      <a:gd name="connsiteX5" fmla="*/ 258 w 2240876"/>
                      <a:gd name="connsiteY5" fmla="*/ 131531 h 1261480"/>
                      <a:gd name="connsiteX6" fmla="*/ 74 w 2240876"/>
                      <a:gd name="connsiteY6" fmla="*/ 128203 h 1261480"/>
                      <a:gd name="connsiteX7" fmla="*/ 3089 w 2240876"/>
                      <a:gd name="connsiteY7" fmla="*/ 128238 h 1261480"/>
                      <a:gd name="connsiteX8" fmla="*/ 113361 w 2240876"/>
                      <a:gd name="connsiteY8" fmla="*/ 0 h 1261480"/>
                      <a:gd name="connsiteX9" fmla="*/ 226721 w 2240876"/>
                      <a:gd name="connsiteY9" fmla="*/ 131830 h 1261480"/>
                      <a:gd name="connsiteX10" fmla="*/ 224116 w 2240876"/>
                      <a:gd name="connsiteY10" fmla="*/ 131830 h 1261480"/>
                      <a:gd name="connsiteX11" fmla="*/ 230633 w 2240876"/>
                      <a:gd name="connsiteY11" fmla="*/ 250039 h 1261480"/>
                      <a:gd name="connsiteX12" fmla="*/ 666301 w 2240876"/>
                      <a:gd name="connsiteY12" fmla="*/ 913935 h 1261480"/>
                      <a:gd name="connsiteX13" fmla="*/ 1565690 w 2240876"/>
                      <a:gd name="connsiteY13" fmla="*/ 919088 h 1261480"/>
                      <a:gd name="connsiteX14" fmla="*/ 2016879 w 2240876"/>
                      <a:gd name="connsiteY14" fmla="*/ 141042 h 1261480"/>
                      <a:gd name="connsiteX15" fmla="*/ 2240876 w 2240876"/>
                      <a:gd name="connsiteY15" fmla="*/ 141042 h 1261480"/>
                      <a:gd name="connsiteX16" fmla="*/ 1676947 w 2240876"/>
                      <a:gd name="connsiteY16" fmla="*/ 1113503 h 1261480"/>
                      <a:gd name="connsiteX17" fmla="*/ 1114019 w 2240876"/>
                      <a:gd name="connsiteY17" fmla="*/ 1261462 h 12614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2240876" h="1261480">
                        <a:moveTo>
                          <a:pt x="1114019" y="1261462"/>
                        </a:moveTo>
                        <a:cubicBezTo>
                          <a:pt x="919888" y="1260350"/>
                          <a:pt x="726045" y="1208844"/>
                          <a:pt x="552823" y="1107062"/>
                        </a:cubicBezTo>
                        <a:cubicBezTo>
                          <a:pt x="249685" y="928944"/>
                          <a:pt x="50314" y="620719"/>
                          <a:pt x="8293" y="277274"/>
                        </a:cubicBezTo>
                        <a:lnTo>
                          <a:pt x="274" y="131830"/>
                        </a:lnTo>
                        <a:lnTo>
                          <a:pt x="0" y="131830"/>
                        </a:lnTo>
                        <a:lnTo>
                          <a:pt x="258" y="131531"/>
                        </a:lnTo>
                        <a:lnTo>
                          <a:pt x="74" y="128203"/>
                        </a:lnTo>
                        <a:lnTo>
                          <a:pt x="3089" y="128238"/>
                        </a:lnTo>
                        <a:lnTo>
                          <a:pt x="113361" y="0"/>
                        </a:lnTo>
                        <a:lnTo>
                          <a:pt x="226721" y="131830"/>
                        </a:lnTo>
                        <a:lnTo>
                          <a:pt x="224116" y="131830"/>
                        </a:lnTo>
                        <a:lnTo>
                          <a:pt x="230633" y="250039"/>
                        </a:lnTo>
                        <a:cubicBezTo>
                          <a:pt x="264254" y="524823"/>
                          <a:pt x="423765" y="771426"/>
                          <a:pt x="666301" y="913935"/>
                        </a:cubicBezTo>
                        <a:cubicBezTo>
                          <a:pt x="943484" y="1076803"/>
                          <a:pt x="1286659" y="1078769"/>
                          <a:pt x="1565690" y="919088"/>
                        </a:cubicBezTo>
                        <a:cubicBezTo>
                          <a:pt x="1844721" y="759407"/>
                          <a:pt x="2016879" y="462533"/>
                          <a:pt x="2016879" y="141042"/>
                        </a:cubicBezTo>
                        <a:lnTo>
                          <a:pt x="2240876" y="141042"/>
                        </a:lnTo>
                        <a:cubicBezTo>
                          <a:pt x="2240876" y="542865"/>
                          <a:pt x="2025701" y="913922"/>
                          <a:pt x="1676947" y="1113503"/>
                        </a:cubicBezTo>
                        <a:cubicBezTo>
                          <a:pt x="1502570" y="1213294"/>
                          <a:pt x="1308150" y="1262574"/>
                          <a:pt x="1114019" y="1261462"/>
                        </a:cubicBezTo>
                        <a:close/>
                      </a:path>
                    </a:pathLst>
                  </a:custGeom>
                  <a:solidFill>
                    <a:srgbClr val="0079EF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lvl="0">
                      <a:defRPr sz="3200">
                        <a:solidFill>
                          <a:srgbClr val="FFFFFF"/>
                        </a:solidFill>
                      </a:defRPr>
                    </a:pPr>
                    <a:endParaRPr sz="2800">
                      <a:latin typeface="Roboto Light" charset="0"/>
                      <a:ea typeface="Roboto Light" charset="0"/>
                      <a:cs typeface="Roboto Light" charset="0"/>
                    </a:endParaRPr>
                  </a:p>
                </p:txBody>
              </p:sp>
            </p:grpSp>
            <p:sp>
              <p:nvSpPr>
                <p:cNvPr id="85" name="Freeform 103"/>
                <p:cNvSpPr/>
                <p:nvPr/>
              </p:nvSpPr>
              <p:spPr>
                <a:xfrm>
                  <a:off x="1499369" y="2257889"/>
                  <a:ext cx="4139980" cy="2367324"/>
                </a:xfrm>
                <a:custGeom>
                  <a:avLst/>
                  <a:gdLst>
                    <a:gd name="connsiteX0" fmla="*/ 1114019 w 2240876"/>
                    <a:gd name="connsiteY0" fmla="*/ 1261462 h 1261480"/>
                    <a:gd name="connsiteX1" fmla="*/ 552823 w 2240876"/>
                    <a:gd name="connsiteY1" fmla="*/ 1107062 h 1261480"/>
                    <a:gd name="connsiteX2" fmla="*/ 8293 w 2240876"/>
                    <a:gd name="connsiteY2" fmla="*/ 277274 h 1261480"/>
                    <a:gd name="connsiteX3" fmla="*/ 274 w 2240876"/>
                    <a:gd name="connsiteY3" fmla="*/ 131830 h 1261480"/>
                    <a:gd name="connsiteX4" fmla="*/ 0 w 2240876"/>
                    <a:gd name="connsiteY4" fmla="*/ 131830 h 1261480"/>
                    <a:gd name="connsiteX5" fmla="*/ 258 w 2240876"/>
                    <a:gd name="connsiteY5" fmla="*/ 131531 h 1261480"/>
                    <a:gd name="connsiteX6" fmla="*/ 74 w 2240876"/>
                    <a:gd name="connsiteY6" fmla="*/ 128203 h 1261480"/>
                    <a:gd name="connsiteX7" fmla="*/ 3089 w 2240876"/>
                    <a:gd name="connsiteY7" fmla="*/ 128238 h 1261480"/>
                    <a:gd name="connsiteX8" fmla="*/ 113361 w 2240876"/>
                    <a:gd name="connsiteY8" fmla="*/ 0 h 1261480"/>
                    <a:gd name="connsiteX9" fmla="*/ 226721 w 2240876"/>
                    <a:gd name="connsiteY9" fmla="*/ 131830 h 1261480"/>
                    <a:gd name="connsiteX10" fmla="*/ 224116 w 2240876"/>
                    <a:gd name="connsiteY10" fmla="*/ 131830 h 1261480"/>
                    <a:gd name="connsiteX11" fmla="*/ 230633 w 2240876"/>
                    <a:gd name="connsiteY11" fmla="*/ 250039 h 1261480"/>
                    <a:gd name="connsiteX12" fmla="*/ 666301 w 2240876"/>
                    <a:gd name="connsiteY12" fmla="*/ 913935 h 1261480"/>
                    <a:gd name="connsiteX13" fmla="*/ 1565690 w 2240876"/>
                    <a:gd name="connsiteY13" fmla="*/ 919088 h 1261480"/>
                    <a:gd name="connsiteX14" fmla="*/ 2016879 w 2240876"/>
                    <a:gd name="connsiteY14" fmla="*/ 141042 h 1261480"/>
                    <a:gd name="connsiteX15" fmla="*/ 2240876 w 2240876"/>
                    <a:gd name="connsiteY15" fmla="*/ 141042 h 1261480"/>
                    <a:gd name="connsiteX16" fmla="*/ 1676947 w 2240876"/>
                    <a:gd name="connsiteY16" fmla="*/ 1113503 h 1261480"/>
                    <a:gd name="connsiteX17" fmla="*/ 1114019 w 2240876"/>
                    <a:gd name="connsiteY17" fmla="*/ 1261462 h 1261480"/>
                    <a:gd name="connsiteX0" fmla="*/ 1114019 w 2240876"/>
                    <a:gd name="connsiteY0" fmla="*/ 1261462 h 1261480"/>
                    <a:gd name="connsiteX1" fmla="*/ 552823 w 2240876"/>
                    <a:gd name="connsiteY1" fmla="*/ 1107062 h 1261480"/>
                    <a:gd name="connsiteX2" fmla="*/ 8293 w 2240876"/>
                    <a:gd name="connsiteY2" fmla="*/ 277274 h 1261480"/>
                    <a:gd name="connsiteX3" fmla="*/ 274 w 2240876"/>
                    <a:gd name="connsiteY3" fmla="*/ 131830 h 1261480"/>
                    <a:gd name="connsiteX4" fmla="*/ 0 w 2240876"/>
                    <a:gd name="connsiteY4" fmla="*/ 131830 h 1261480"/>
                    <a:gd name="connsiteX5" fmla="*/ 258 w 2240876"/>
                    <a:gd name="connsiteY5" fmla="*/ 131531 h 1261480"/>
                    <a:gd name="connsiteX6" fmla="*/ 74 w 2240876"/>
                    <a:gd name="connsiteY6" fmla="*/ 128203 h 1261480"/>
                    <a:gd name="connsiteX7" fmla="*/ 3089 w 2240876"/>
                    <a:gd name="connsiteY7" fmla="*/ 128238 h 1261480"/>
                    <a:gd name="connsiteX8" fmla="*/ 113361 w 2240876"/>
                    <a:gd name="connsiteY8" fmla="*/ 0 h 1261480"/>
                    <a:gd name="connsiteX9" fmla="*/ 226721 w 2240876"/>
                    <a:gd name="connsiteY9" fmla="*/ 131830 h 1261480"/>
                    <a:gd name="connsiteX10" fmla="*/ 224116 w 2240876"/>
                    <a:gd name="connsiteY10" fmla="*/ 131830 h 1261480"/>
                    <a:gd name="connsiteX11" fmla="*/ 230633 w 2240876"/>
                    <a:gd name="connsiteY11" fmla="*/ 250039 h 1261480"/>
                    <a:gd name="connsiteX12" fmla="*/ 666301 w 2240876"/>
                    <a:gd name="connsiteY12" fmla="*/ 913935 h 1261480"/>
                    <a:gd name="connsiteX13" fmla="*/ 1565690 w 2240876"/>
                    <a:gd name="connsiteY13" fmla="*/ 919088 h 1261480"/>
                    <a:gd name="connsiteX14" fmla="*/ 2240876 w 2240876"/>
                    <a:gd name="connsiteY14" fmla="*/ 141042 h 1261480"/>
                    <a:gd name="connsiteX15" fmla="*/ 1676947 w 2240876"/>
                    <a:gd name="connsiteY15" fmla="*/ 1113503 h 1261480"/>
                    <a:gd name="connsiteX16" fmla="*/ 1114019 w 2240876"/>
                    <a:gd name="connsiteY16" fmla="*/ 1261462 h 1261480"/>
                    <a:gd name="connsiteX0" fmla="*/ 1114019 w 2206072"/>
                    <a:gd name="connsiteY0" fmla="*/ 1261462 h 1261480"/>
                    <a:gd name="connsiteX1" fmla="*/ 552823 w 2206072"/>
                    <a:gd name="connsiteY1" fmla="*/ 1107062 h 1261480"/>
                    <a:gd name="connsiteX2" fmla="*/ 8293 w 2206072"/>
                    <a:gd name="connsiteY2" fmla="*/ 277274 h 1261480"/>
                    <a:gd name="connsiteX3" fmla="*/ 274 w 2206072"/>
                    <a:gd name="connsiteY3" fmla="*/ 131830 h 1261480"/>
                    <a:gd name="connsiteX4" fmla="*/ 0 w 2206072"/>
                    <a:gd name="connsiteY4" fmla="*/ 131830 h 1261480"/>
                    <a:gd name="connsiteX5" fmla="*/ 258 w 2206072"/>
                    <a:gd name="connsiteY5" fmla="*/ 131531 h 1261480"/>
                    <a:gd name="connsiteX6" fmla="*/ 74 w 2206072"/>
                    <a:gd name="connsiteY6" fmla="*/ 128203 h 1261480"/>
                    <a:gd name="connsiteX7" fmla="*/ 3089 w 2206072"/>
                    <a:gd name="connsiteY7" fmla="*/ 128238 h 1261480"/>
                    <a:gd name="connsiteX8" fmla="*/ 113361 w 2206072"/>
                    <a:gd name="connsiteY8" fmla="*/ 0 h 1261480"/>
                    <a:gd name="connsiteX9" fmla="*/ 226721 w 2206072"/>
                    <a:gd name="connsiteY9" fmla="*/ 131830 h 1261480"/>
                    <a:gd name="connsiteX10" fmla="*/ 224116 w 2206072"/>
                    <a:gd name="connsiteY10" fmla="*/ 131830 h 1261480"/>
                    <a:gd name="connsiteX11" fmla="*/ 230633 w 2206072"/>
                    <a:gd name="connsiteY11" fmla="*/ 250039 h 1261480"/>
                    <a:gd name="connsiteX12" fmla="*/ 666301 w 2206072"/>
                    <a:gd name="connsiteY12" fmla="*/ 913935 h 1261480"/>
                    <a:gd name="connsiteX13" fmla="*/ 1565690 w 2206072"/>
                    <a:gd name="connsiteY13" fmla="*/ 919088 h 1261480"/>
                    <a:gd name="connsiteX14" fmla="*/ 2206072 w 2206072"/>
                    <a:gd name="connsiteY14" fmla="*/ 221092 h 1261480"/>
                    <a:gd name="connsiteX15" fmla="*/ 1676947 w 2206072"/>
                    <a:gd name="connsiteY15" fmla="*/ 1113503 h 1261480"/>
                    <a:gd name="connsiteX16" fmla="*/ 1114019 w 2206072"/>
                    <a:gd name="connsiteY16" fmla="*/ 1261462 h 1261480"/>
                    <a:gd name="connsiteX0" fmla="*/ 1114019 w 2206072"/>
                    <a:gd name="connsiteY0" fmla="*/ 1261462 h 1261480"/>
                    <a:gd name="connsiteX1" fmla="*/ 552823 w 2206072"/>
                    <a:gd name="connsiteY1" fmla="*/ 1107062 h 1261480"/>
                    <a:gd name="connsiteX2" fmla="*/ 8293 w 2206072"/>
                    <a:gd name="connsiteY2" fmla="*/ 277274 h 1261480"/>
                    <a:gd name="connsiteX3" fmla="*/ 274 w 2206072"/>
                    <a:gd name="connsiteY3" fmla="*/ 131830 h 1261480"/>
                    <a:gd name="connsiteX4" fmla="*/ 0 w 2206072"/>
                    <a:gd name="connsiteY4" fmla="*/ 131830 h 1261480"/>
                    <a:gd name="connsiteX5" fmla="*/ 258 w 2206072"/>
                    <a:gd name="connsiteY5" fmla="*/ 131531 h 1261480"/>
                    <a:gd name="connsiteX6" fmla="*/ 74 w 2206072"/>
                    <a:gd name="connsiteY6" fmla="*/ 128203 h 1261480"/>
                    <a:gd name="connsiteX7" fmla="*/ 3089 w 2206072"/>
                    <a:gd name="connsiteY7" fmla="*/ 128238 h 1261480"/>
                    <a:gd name="connsiteX8" fmla="*/ 113361 w 2206072"/>
                    <a:gd name="connsiteY8" fmla="*/ 0 h 1261480"/>
                    <a:gd name="connsiteX9" fmla="*/ 226721 w 2206072"/>
                    <a:gd name="connsiteY9" fmla="*/ 131830 h 1261480"/>
                    <a:gd name="connsiteX10" fmla="*/ 224116 w 2206072"/>
                    <a:gd name="connsiteY10" fmla="*/ 131830 h 1261480"/>
                    <a:gd name="connsiteX11" fmla="*/ 230633 w 2206072"/>
                    <a:gd name="connsiteY11" fmla="*/ 250039 h 1261480"/>
                    <a:gd name="connsiteX12" fmla="*/ 666301 w 2206072"/>
                    <a:gd name="connsiteY12" fmla="*/ 913935 h 1261480"/>
                    <a:gd name="connsiteX13" fmla="*/ 1565690 w 2206072"/>
                    <a:gd name="connsiteY13" fmla="*/ 919088 h 1261480"/>
                    <a:gd name="connsiteX14" fmla="*/ 2206072 w 2206072"/>
                    <a:gd name="connsiteY14" fmla="*/ 221092 h 1261480"/>
                    <a:gd name="connsiteX15" fmla="*/ 1676947 w 2206072"/>
                    <a:gd name="connsiteY15" fmla="*/ 1113503 h 1261480"/>
                    <a:gd name="connsiteX16" fmla="*/ 1114019 w 2206072"/>
                    <a:gd name="connsiteY16" fmla="*/ 1261462 h 1261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206072" h="1261480">
                      <a:moveTo>
                        <a:pt x="1114019" y="1261462"/>
                      </a:moveTo>
                      <a:cubicBezTo>
                        <a:pt x="919888" y="1260350"/>
                        <a:pt x="726045" y="1208844"/>
                        <a:pt x="552823" y="1107062"/>
                      </a:cubicBezTo>
                      <a:cubicBezTo>
                        <a:pt x="249685" y="928944"/>
                        <a:pt x="50314" y="620719"/>
                        <a:pt x="8293" y="277274"/>
                      </a:cubicBezTo>
                      <a:lnTo>
                        <a:pt x="274" y="131830"/>
                      </a:lnTo>
                      <a:lnTo>
                        <a:pt x="0" y="131830"/>
                      </a:lnTo>
                      <a:lnTo>
                        <a:pt x="258" y="131531"/>
                      </a:lnTo>
                      <a:cubicBezTo>
                        <a:pt x="197" y="130422"/>
                        <a:pt x="135" y="129312"/>
                        <a:pt x="74" y="128203"/>
                      </a:cubicBezTo>
                      <a:lnTo>
                        <a:pt x="3089" y="128238"/>
                      </a:lnTo>
                      <a:lnTo>
                        <a:pt x="113361" y="0"/>
                      </a:lnTo>
                      <a:lnTo>
                        <a:pt x="226721" y="131830"/>
                      </a:lnTo>
                      <a:lnTo>
                        <a:pt x="224116" y="131830"/>
                      </a:lnTo>
                      <a:lnTo>
                        <a:pt x="230633" y="250039"/>
                      </a:lnTo>
                      <a:cubicBezTo>
                        <a:pt x="264254" y="524823"/>
                        <a:pt x="423765" y="771426"/>
                        <a:pt x="666301" y="913935"/>
                      </a:cubicBezTo>
                      <a:cubicBezTo>
                        <a:pt x="943484" y="1076803"/>
                        <a:pt x="1309062" y="1034562"/>
                        <a:pt x="1565690" y="919088"/>
                      </a:cubicBezTo>
                      <a:cubicBezTo>
                        <a:pt x="1822318" y="803614"/>
                        <a:pt x="2187529" y="188690"/>
                        <a:pt x="2206072" y="221092"/>
                      </a:cubicBezTo>
                      <a:cubicBezTo>
                        <a:pt x="2192150" y="605512"/>
                        <a:pt x="2025701" y="913922"/>
                        <a:pt x="1676947" y="1113503"/>
                      </a:cubicBezTo>
                      <a:cubicBezTo>
                        <a:pt x="1502570" y="1213294"/>
                        <a:pt x="1308150" y="1262574"/>
                        <a:pt x="1114019" y="1261462"/>
                      </a:cubicBezTo>
                      <a:close/>
                    </a:path>
                  </a:pathLst>
                </a:custGeom>
                <a:solidFill>
                  <a:srgbClr val="29CEFE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3200">
                      <a:solidFill>
                        <a:srgbClr val="FFFFFF"/>
                      </a:solidFill>
                    </a:defRPr>
                  </a:pPr>
                  <a:endParaRPr sz="2800">
                    <a:latin typeface="Roboto Light" charset="0"/>
                    <a:ea typeface="Roboto Light" charset="0"/>
                    <a:cs typeface="Roboto Light" charset="0"/>
                  </a:endParaRPr>
                </a:p>
              </p:txBody>
            </p:sp>
          </p:grpSp>
          <p:sp>
            <p:nvSpPr>
              <p:cNvPr id="83" name="TextBox 82"/>
              <p:cNvSpPr txBox="1"/>
              <p:nvPr/>
            </p:nvSpPr>
            <p:spPr>
              <a:xfrm>
                <a:off x="6694368" y="1268760"/>
                <a:ext cx="2243522" cy="5158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sz="3600" b="1" dirty="0">
                    <a:solidFill>
                      <a:schemeClr val="bg1"/>
                    </a:solidFill>
                  </a:rPr>
                  <a:t>Kafka</a:t>
                </a:r>
              </a:p>
            </p:txBody>
          </p:sp>
        </p:grpSp>
        <p:grpSp>
          <p:nvGrpSpPr>
            <p:cNvPr id="73" name="Group 89"/>
            <p:cNvGrpSpPr/>
            <p:nvPr/>
          </p:nvGrpSpPr>
          <p:grpSpPr>
            <a:xfrm>
              <a:off x="7086186" y="1772816"/>
              <a:ext cx="1581556" cy="417543"/>
              <a:chOff x="3667318" y="5907899"/>
              <a:chExt cx="2573071" cy="679310"/>
            </a:xfrm>
            <a:solidFill>
              <a:schemeClr val="bg1"/>
            </a:solidFill>
          </p:grpSpPr>
          <p:grpSp>
            <p:nvGrpSpPr>
              <p:cNvPr id="74" name="Group 90"/>
              <p:cNvGrpSpPr>
                <a:grpSpLocks noChangeAspect="1"/>
              </p:cNvGrpSpPr>
              <p:nvPr/>
            </p:nvGrpSpPr>
            <p:grpSpPr>
              <a:xfrm>
                <a:off x="3667318" y="5907899"/>
                <a:ext cx="679307" cy="679309"/>
                <a:chOff x="7484411" y="3818577"/>
                <a:chExt cx="240848" cy="240848"/>
              </a:xfrm>
              <a:grpFill/>
            </p:grpSpPr>
            <p:sp>
              <p:nvSpPr>
                <p:cNvPr id="80" name="Freeform 345"/>
                <p:cNvSpPr>
                  <a:spLocks noChangeArrowheads="1"/>
                </p:cNvSpPr>
                <p:nvPr/>
              </p:nvSpPr>
              <p:spPr bwMode="auto">
                <a:xfrm>
                  <a:off x="7484411" y="3818577"/>
                  <a:ext cx="240848" cy="240848"/>
                </a:xfrm>
                <a:custGeom>
                  <a:avLst/>
                  <a:gdLst>
                    <a:gd name="T0" fmla="*/ 57 w 574"/>
                    <a:gd name="T1" fmla="*/ 0 h 575"/>
                    <a:gd name="T2" fmla="*/ 57 w 574"/>
                    <a:gd name="T3" fmla="*/ 0 h 575"/>
                    <a:gd name="T4" fmla="*/ 46 w 574"/>
                    <a:gd name="T5" fmla="*/ 12 h 575"/>
                    <a:gd name="T6" fmla="*/ 46 w 574"/>
                    <a:gd name="T7" fmla="*/ 522 h 575"/>
                    <a:gd name="T8" fmla="*/ 11 w 574"/>
                    <a:gd name="T9" fmla="*/ 522 h 575"/>
                    <a:gd name="T10" fmla="*/ 0 w 574"/>
                    <a:gd name="T11" fmla="*/ 534 h 575"/>
                    <a:gd name="T12" fmla="*/ 11 w 574"/>
                    <a:gd name="T13" fmla="*/ 545 h 575"/>
                    <a:gd name="T14" fmla="*/ 46 w 574"/>
                    <a:gd name="T15" fmla="*/ 545 h 575"/>
                    <a:gd name="T16" fmla="*/ 46 w 574"/>
                    <a:gd name="T17" fmla="*/ 561 h 575"/>
                    <a:gd name="T18" fmla="*/ 57 w 574"/>
                    <a:gd name="T19" fmla="*/ 574 h 575"/>
                    <a:gd name="T20" fmla="*/ 69 w 574"/>
                    <a:gd name="T21" fmla="*/ 561 h 575"/>
                    <a:gd name="T22" fmla="*/ 69 w 574"/>
                    <a:gd name="T23" fmla="*/ 545 h 575"/>
                    <a:gd name="T24" fmla="*/ 561 w 574"/>
                    <a:gd name="T25" fmla="*/ 545 h 575"/>
                    <a:gd name="T26" fmla="*/ 573 w 574"/>
                    <a:gd name="T27" fmla="*/ 534 h 575"/>
                    <a:gd name="T28" fmla="*/ 561 w 574"/>
                    <a:gd name="T29" fmla="*/ 522 h 575"/>
                    <a:gd name="T30" fmla="*/ 490 w 574"/>
                    <a:gd name="T31" fmla="*/ 522 h 575"/>
                    <a:gd name="T32" fmla="*/ 490 w 574"/>
                    <a:gd name="T33" fmla="*/ 259 h 575"/>
                    <a:gd name="T34" fmla="*/ 479 w 574"/>
                    <a:gd name="T35" fmla="*/ 248 h 575"/>
                    <a:gd name="T36" fmla="*/ 467 w 574"/>
                    <a:gd name="T37" fmla="*/ 259 h 575"/>
                    <a:gd name="T38" fmla="*/ 467 w 574"/>
                    <a:gd name="T39" fmla="*/ 522 h 575"/>
                    <a:gd name="T40" fmla="*/ 380 w 574"/>
                    <a:gd name="T41" fmla="*/ 522 h 575"/>
                    <a:gd name="T42" fmla="*/ 380 w 574"/>
                    <a:gd name="T43" fmla="*/ 369 h 575"/>
                    <a:gd name="T44" fmla="*/ 369 w 574"/>
                    <a:gd name="T45" fmla="*/ 357 h 575"/>
                    <a:gd name="T46" fmla="*/ 357 w 574"/>
                    <a:gd name="T47" fmla="*/ 369 h 575"/>
                    <a:gd name="T48" fmla="*/ 357 w 574"/>
                    <a:gd name="T49" fmla="*/ 522 h 575"/>
                    <a:gd name="T50" fmla="*/ 271 w 574"/>
                    <a:gd name="T51" fmla="*/ 522 h 575"/>
                    <a:gd name="T52" fmla="*/ 271 w 574"/>
                    <a:gd name="T53" fmla="*/ 278 h 575"/>
                    <a:gd name="T54" fmla="*/ 259 w 574"/>
                    <a:gd name="T55" fmla="*/ 265 h 575"/>
                    <a:gd name="T56" fmla="*/ 247 w 574"/>
                    <a:gd name="T57" fmla="*/ 278 h 575"/>
                    <a:gd name="T58" fmla="*/ 247 w 574"/>
                    <a:gd name="T59" fmla="*/ 522 h 575"/>
                    <a:gd name="T60" fmla="*/ 160 w 574"/>
                    <a:gd name="T61" fmla="*/ 522 h 575"/>
                    <a:gd name="T62" fmla="*/ 160 w 574"/>
                    <a:gd name="T63" fmla="*/ 369 h 575"/>
                    <a:gd name="T64" fmla="*/ 149 w 574"/>
                    <a:gd name="T65" fmla="*/ 357 h 575"/>
                    <a:gd name="T66" fmla="*/ 137 w 574"/>
                    <a:gd name="T67" fmla="*/ 369 h 575"/>
                    <a:gd name="T68" fmla="*/ 137 w 574"/>
                    <a:gd name="T69" fmla="*/ 522 h 575"/>
                    <a:gd name="T70" fmla="*/ 69 w 574"/>
                    <a:gd name="T71" fmla="*/ 522 h 575"/>
                    <a:gd name="T72" fmla="*/ 69 w 574"/>
                    <a:gd name="T73" fmla="*/ 12 h 575"/>
                    <a:gd name="T74" fmla="*/ 57 w 574"/>
                    <a:gd name="T75" fmla="*/ 0 h 5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574" h="575">
                      <a:moveTo>
                        <a:pt x="57" y="0"/>
                      </a:moveTo>
                      <a:lnTo>
                        <a:pt x="57" y="0"/>
                      </a:lnTo>
                      <a:cubicBezTo>
                        <a:pt x="51" y="0"/>
                        <a:pt x="46" y="5"/>
                        <a:pt x="46" y="12"/>
                      </a:cubicBezTo>
                      <a:cubicBezTo>
                        <a:pt x="46" y="522"/>
                        <a:pt x="46" y="522"/>
                        <a:pt x="46" y="522"/>
                      </a:cubicBezTo>
                      <a:cubicBezTo>
                        <a:pt x="11" y="522"/>
                        <a:pt x="11" y="522"/>
                        <a:pt x="11" y="522"/>
                      </a:cubicBezTo>
                      <a:cubicBezTo>
                        <a:pt x="5" y="522"/>
                        <a:pt x="0" y="528"/>
                        <a:pt x="0" y="534"/>
                      </a:cubicBezTo>
                      <a:cubicBezTo>
                        <a:pt x="0" y="540"/>
                        <a:pt x="5" y="545"/>
                        <a:pt x="11" y="545"/>
                      </a:cubicBezTo>
                      <a:cubicBezTo>
                        <a:pt x="46" y="545"/>
                        <a:pt x="46" y="545"/>
                        <a:pt x="46" y="545"/>
                      </a:cubicBezTo>
                      <a:cubicBezTo>
                        <a:pt x="46" y="561"/>
                        <a:pt x="46" y="561"/>
                        <a:pt x="46" y="561"/>
                      </a:cubicBezTo>
                      <a:cubicBezTo>
                        <a:pt x="46" y="568"/>
                        <a:pt x="51" y="574"/>
                        <a:pt x="57" y="574"/>
                      </a:cubicBezTo>
                      <a:cubicBezTo>
                        <a:pt x="63" y="574"/>
                        <a:pt x="69" y="568"/>
                        <a:pt x="69" y="561"/>
                      </a:cubicBezTo>
                      <a:cubicBezTo>
                        <a:pt x="69" y="545"/>
                        <a:pt x="69" y="545"/>
                        <a:pt x="69" y="545"/>
                      </a:cubicBezTo>
                      <a:cubicBezTo>
                        <a:pt x="561" y="545"/>
                        <a:pt x="561" y="545"/>
                        <a:pt x="561" y="545"/>
                      </a:cubicBezTo>
                      <a:cubicBezTo>
                        <a:pt x="567" y="545"/>
                        <a:pt x="573" y="540"/>
                        <a:pt x="573" y="534"/>
                      </a:cubicBezTo>
                      <a:cubicBezTo>
                        <a:pt x="573" y="528"/>
                        <a:pt x="567" y="522"/>
                        <a:pt x="561" y="522"/>
                      </a:cubicBezTo>
                      <a:cubicBezTo>
                        <a:pt x="490" y="522"/>
                        <a:pt x="490" y="522"/>
                        <a:pt x="490" y="522"/>
                      </a:cubicBezTo>
                      <a:cubicBezTo>
                        <a:pt x="490" y="259"/>
                        <a:pt x="490" y="259"/>
                        <a:pt x="490" y="259"/>
                      </a:cubicBezTo>
                      <a:cubicBezTo>
                        <a:pt x="490" y="253"/>
                        <a:pt x="485" y="248"/>
                        <a:pt x="479" y="248"/>
                      </a:cubicBezTo>
                      <a:cubicBezTo>
                        <a:pt x="473" y="248"/>
                        <a:pt x="467" y="253"/>
                        <a:pt x="467" y="259"/>
                      </a:cubicBezTo>
                      <a:cubicBezTo>
                        <a:pt x="467" y="522"/>
                        <a:pt x="467" y="522"/>
                        <a:pt x="467" y="522"/>
                      </a:cubicBezTo>
                      <a:cubicBezTo>
                        <a:pt x="380" y="522"/>
                        <a:pt x="380" y="522"/>
                        <a:pt x="380" y="522"/>
                      </a:cubicBezTo>
                      <a:cubicBezTo>
                        <a:pt x="380" y="369"/>
                        <a:pt x="380" y="369"/>
                        <a:pt x="380" y="369"/>
                      </a:cubicBezTo>
                      <a:cubicBezTo>
                        <a:pt x="380" y="363"/>
                        <a:pt x="375" y="357"/>
                        <a:pt x="369" y="357"/>
                      </a:cubicBezTo>
                      <a:cubicBezTo>
                        <a:pt x="362" y="357"/>
                        <a:pt x="357" y="363"/>
                        <a:pt x="357" y="369"/>
                      </a:cubicBezTo>
                      <a:cubicBezTo>
                        <a:pt x="357" y="522"/>
                        <a:pt x="357" y="522"/>
                        <a:pt x="357" y="522"/>
                      </a:cubicBezTo>
                      <a:cubicBezTo>
                        <a:pt x="271" y="522"/>
                        <a:pt x="271" y="522"/>
                        <a:pt x="271" y="522"/>
                      </a:cubicBezTo>
                      <a:cubicBezTo>
                        <a:pt x="271" y="278"/>
                        <a:pt x="271" y="278"/>
                        <a:pt x="271" y="278"/>
                      </a:cubicBezTo>
                      <a:cubicBezTo>
                        <a:pt x="271" y="272"/>
                        <a:pt x="265" y="265"/>
                        <a:pt x="259" y="265"/>
                      </a:cubicBezTo>
                      <a:cubicBezTo>
                        <a:pt x="252" y="265"/>
                        <a:pt x="247" y="272"/>
                        <a:pt x="247" y="278"/>
                      </a:cubicBezTo>
                      <a:cubicBezTo>
                        <a:pt x="247" y="522"/>
                        <a:pt x="247" y="522"/>
                        <a:pt x="247" y="522"/>
                      </a:cubicBezTo>
                      <a:cubicBezTo>
                        <a:pt x="160" y="522"/>
                        <a:pt x="160" y="522"/>
                        <a:pt x="160" y="522"/>
                      </a:cubicBezTo>
                      <a:cubicBezTo>
                        <a:pt x="160" y="369"/>
                        <a:pt x="160" y="369"/>
                        <a:pt x="160" y="369"/>
                      </a:cubicBezTo>
                      <a:cubicBezTo>
                        <a:pt x="160" y="363"/>
                        <a:pt x="155" y="357"/>
                        <a:pt x="149" y="357"/>
                      </a:cubicBezTo>
                      <a:cubicBezTo>
                        <a:pt x="143" y="357"/>
                        <a:pt x="137" y="363"/>
                        <a:pt x="137" y="369"/>
                      </a:cubicBezTo>
                      <a:cubicBezTo>
                        <a:pt x="137" y="522"/>
                        <a:pt x="137" y="522"/>
                        <a:pt x="137" y="522"/>
                      </a:cubicBezTo>
                      <a:cubicBezTo>
                        <a:pt x="69" y="522"/>
                        <a:pt x="69" y="522"/>
                        <a:pt x="69" y="522"/>
                      </a:cubicBezTo>
                      <a:cubicBezTo>
                        <a:pt x="69" y="12"/>
                        <a:pt x="69" y="12"/>
                        <a:pt x="69" y="12"/>
                      </a:cubicBezTo>
                      <a:cubicBezTo>
                        <a:pt x="69" y="5"/>
                        <a:pt x="63" y="0"/>
                        <a:pt x="57" y="0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1" name="Freeform 346"/>
                <p:cNvSpPr>
                  <a:spLocks noChangeArrowheads="1"/>
                </p:cNvSpPr>
                <p:nvPr/>
              </p:nvSpPr>
              <p:spPr bwMode="auto">
                <a:xfrm>
                  <a:off x="7525170" y="3872305"/>
                  <a:ext cx="176005" cy="88929"/>
                </a:xfrm>
                <a:custGeom>
                  <a:avLst/>
                  <a:gdLst>
                    <a:gd name="T0" fmla="*/ 20 w 417"/>
                    <a:gd name="T1" fmla="*/ 207 h 211"/>
                    <a:gd name="T2" fmla="*/ 20 w 417"/>
                    <a:gd name="T3" fmla="*/ 207 h 211"/>
                    <a:gd name="T4" fmla="*/ 172 w 417"/>
                    <a:gd name="T5" fmla="*/ 78 h 211"/>
                    <a:gd name="T6" fmla="*/ 256 w 417"/>
                    <a:gd name="T7" fmla="*/ 161 h 211"/>
                    <a:gd name="T8" fmla="*/ 264 w 417"/>
                    <a:gd name="T9" fmla="*/ 166 h 211"/>
                    <a:gd name="T10" fmla="*/ 272 w 417"/>
                    <a:gd name="T11" fmla="*/ 161 h 211"/>
                    <a:gd name="T12" fmla="*/ 412 w 417"/>
                    <a:gd name="T13" fmla="*/ 21 h 211"/>
                    <a:gd name="T14" fmla="*/ 412 w 417"/>
                    <a:gd name="T15" fmla="*/ 5 h 211"/>
                    <a:gd name="T16" fmla="*/ 395 w 417"/>
                    <a:gd name="T17" fmla="*/ 5 h 211"/>
                    <a:gd name="T18" fmla="*/ 264 w 417"/>
                    <a:gd name="T19" fmla="*/ 137 h 211"/>
                    <a:gd name="T20" fmla="*/ 182 w 417"/>
                    <a:gd name="T21" fmla="*/ 54 h 211"/>
                    <a:gd name="T22" fmla="*/ 165 w 417"/>
                    <a:gd name="T23" fmla="*/ 54 h 211"/>
                    <a:gd name="T24" fmla="*/ 6 w 417"/>
                    <a:gd name="T25" fmla="*/ 190 h 211"/>
                    <a:gd name="T26" fmla="*/ 4 w 417"/>
                    <a:gd name="T27" fmla="*/ 206 h 211"/>
                    <a:gd name="T28" fmla="*/ 13 w 417"/>
                    <a:gd name="T29" fmla="*/ 210 h 211"/>
                    <a:gd name="T30" fmla="*/ 20 w 417"/>
                    <a:gd name="T31" fmla="*/ 207 h 2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417" h="211">
                      <a:moveTo>
                        <a:pt x="20" y="207"/>
                      </a:moveTo>
                      <a:lnTo>
                        <a:pt x="20" y="207"/>
                      </a:lnTo>
                      <a:cubicBezTo>
                        <a:pt x="172" y="78"/>
                        <a:pt x="172" y="78"/>
                        <a:pt x="172" y="78"/>
                      </a:cubicBezTo>
                      <a:cubicBezTo>
                        <a:pt x="256" y="161"/>
                        <a:pt x="256" y="161"/>
                        <a:pt x="256" y="161"/>
                      </a:cubicBezTo>
                      <a:cubicBezTo>
                        <a:pt x="258" y="165"/>
                        <a:pt x="261" y="166"/>
                        <a:pt x="264" y="166"/>
                      </a:cubicBezTo>
                      <a:cubicBezTo>
                        <a:pt x="267" y="166"/>
                        <a:pt x="270" y="165"/>
                        <a:pt x="272" y="161"/>
                      </a:cubicBezTo>
                      <a:cubicBezTo>
                        <a:pt x="412" y="21"/>
                        <a:pt x="412" y="21"/>
                        <a:pt x="412" y="21"/>
                      </a:cubicBezTo>
                      <a:cubicBezTo>
                        <a:pt x="416" y="17"/>
                        <a:pt x="416" y="9"/>
                        <a:pt x="412" y="5"/>
                      </a:cubicBezTo>
                      <a:cubicBezTo>
                        <a:pt x="407" y="0"/>
                        <a:pt x="399" y="0"/>
                        <a:pt x="395" y="5"/>
                      </a:cubicBezTo>
                      <a:cubicBezTo>
                        <a:pt x="264" y="137"/>
                        <a:pt x="264" y="137"/>
                        <a:pt x="264" y="137"/>
                      </a:cubicBezTo>
                      <a:cubicBezTo>
                        <a:pt x="182" y="54"/>
                        <a:pt x="182" y="54"/>
                        <a:pt x="182" y="54"/>
                      </a:cubicBezTo>
                      <a:cubicBezTo>
                        <a:pt x="178" y="50"/>
                        <a:pt x="170" y="50"/>
                        <a:pt x="165" y="54"/>
                      </a:cubicBezTo>
                      <a:cubicBezTo>
                        <a:pt x="6" y="190"/>
                        <a:pt x="6" y="190"/>
                        <a:pt x="6" y="190"/>
                      </a:cubicBezTo>
                      <a:cubicBezTo>
                        <a:pt x="1" y="194"/>
                        <a:pt x="0" y="201"/>
                        <a:pt x="4" y="206"/>
                      </a:cubicBezTo>
                      <a:cubicBezTo>
                        <a:pt x="6" y="208"/>
                        <a:pt x="10" y="210"/>
                        <a:pt x="13" y="210"/>
                      </a:cubicBezTo>
                      <a:cubicBezTo>
                        <a:pt x="15" y="210"/>
                        <a:pt x="18" y="209"/>
                        <a:pt x="20" y="207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75" name="Freeform 104"/>
              <p:cNvSpPr>
                <a:spLocks noChangeAspect="1" noChangeArrowheads="1"/>
              </p:cNvSpPr>
              <p:nvPr/>
            </p:nvSpPr>
            <p:spPr bwMode="auto">
              <a:xfrm>
                <a:off x="5542027" y="5976140"/>
                <a:ext cx="698362" cy="611069"/>
              </a:xfrm>
              <a:custGeom>
                <a:avLst/>
                <a:gdLst>
                  <a:gd name="T0" fmla="*/ 524 w 564"/>
                  <a:gd name="T1" fmla="*/ 0 h 494"/>
                  <a:gd name="T2" fmla="*/ 524 w 564"/>
                  <a:gd name="T3" fmla="*/ 0 h 494"/>
                  <a:gd name="T4" fmla="*/ 38 w 564"/>
                  <a:gd name="T5" fmla="*/ 0 h 494"/>
                  <a:gd name="T6" fmla="*/ 0 w 564"/>
                  <a:gd name="T7" fmla="*/ 39 h 494"/>
                  <a:gd name="T8" fmla="*/ 0 w 564"/>
                  <a:gd name="T9" fmla="*/ 359 h 494"/>
                  <a:gd name="T10" fmla="*/ 38 w 564"/>
                  <a:gd name="T11" fmla="*/ 398 h 494"/>
                  <a:gd name="T12" fmla="*/ 272 w 564"/>
                  <a:gd name="T13" fmla="*/ 398 h 494"/>
                  <a:gd name="T14" fmla="*/ 272 w 564"/>
                  <a:gd name="T15" fmla="*/ 474 h 494"/>
                  <a:gd name="T16" fmla="*/ 125 w 564"/>
                  <a:gd name="T17" fmla="*/ 474 h 494"/>
                  <a:gd name="T18" fmla="*/ 116 w 564"/>
                  <a:gd name="T19" fmla="*/ 485 h 494"/>
                  <a:gd name="T20" fmla="*/ 125 w 564"/>
                  <a:gd name="T21" fmla="*/ 493 h 494"/>
                  <a:gd name="T22" fmla="*/ 437 w 564"/>
                  <a:gd name="T23" fmla="*/ 493 h 494"/>
                  <a:gd name="T24" fmla="*/ 447 w 564"/>
                  <a:gd name="T25" fmla="*/ 485 h 494"/>
                  <a:gd name="T26" fmla="*/ 437 w 564"/>
                  <a:gd name="T27" fmla="*/ 474 h 494"/>
                  <a:gd name="T28" fmla="*/ 291 w 564"/>
                  <a:gd name="T29" fmla="*/ 474 h 494"/>
                  <a:gd name="T30" fmla="*/ 291 w 564"/>
                  <a:gd name="T31" fmla="*/ 398 h 494"/>
                  <a:gd name="T32" fmla="*/ 524 w 564"/>
                  <a:gd name="T33" fmla="*/ 398 h 494"/>
                  <a:gd name="T34" fmla="*/ 563 w 564"/>
                  <a:gd name="T35" fmla="*/ 359 h 494"/>
                  <a:gd name="T36" fmla="*/ 563 w 564"/>
                  <a:gd name="T37" fmla="*/ 39 h 494"/>
                  <a:gd name="T38" fmla="*/ 524 w 564"/>
                  <a:gd name="T39" fmla="*/ 0 h 494"/>
                  <a:gd name="T40" fmla="*/ 38 w 564"/>
                  <a:gd name="T41" fmla="*/ 19 h 494"/>
                  <a:gd name="T42" fmla="*/ 38 w 564"/>
                  <a:gd name="T43" fmla="*/ 19 h 494"/>
                  <a:gd name="T44" fmla="*/ 524 w 564"/>
                  <a:gd name="T45" fmla="*/ 19 h 494"/>
                  <a:gd name="T46" fmla="*/ 543 w 564"/>
                  <a:gd name="T47" fmla="*/ 39 h 494"/>
                  <a:gd name="T48" fmla="*/ 543 w 564"/>
                  <a:gd name="T49" fmla="*/ 307 h 494"/>
                  <a:gd name="T50" fmla="*/ 19 w 564"/>
                  <a:gd name="T51" fmla="*/ 307 h 494"/>
                  <a:gd name="T52" fmla="*/ 19 w 564"/>
                  <a:gd name="T53" fmla="*/ 39 h 494"/>
                  <a:gd name="T54" fmla="*/ 38 w 564"/>
                  <a:gd name="T55" fmla="*/ 1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564" h="494">
                    <a:moveTo>
                      <a:pt x="524" y="0"/>
                    </a:moveTo>
                    <a:lnTo>
                      <a:pt x="524" y="0"/>
                    </a:lnTo>
                    <a:cubicBezTo>
                      <a:pt x="38" y="0"/>
                      <a:pt x="38" y="0"/>
                      <a:pt x="38" y="0"/>
                    </a:cubicBezTo>
                    <a:cubicBezTo>
                      <a:pt x="17" y="0"/>
                      <a:pt x="0" y="18"/>
                      <a:pt x="0" y="39"/>
                    </a:cubicBezTo>
                    <a:cubicBezTo>
                      <a:pt x="0" y="359"/>
                      <a:pt x="0" y="359"/>
                      <a:pt x="0" y="359"/>
                    </a:cubicBezTo>
                    <a:cubicBezTo>
                      <a:pt x="0" y="380"/>
                      <a:pt x="17" y="398"/>
                      <a:pt x="38" y="398"/>
                    </a:cubicBezTo>
                    <a:cubicBezTo>
                      <a:pt x="272" y="398"/>
                      <a:pt x="272" y="398"/>
                      <a:pt x="272" y="398"/>
                    </a:cubicBezTo>
                    <a:cubicBezTo>
                      <a:pt x="272" y="474"/>
                      <a:pt x="272" y="474"/>
                      <a:pt x="272" y="474"/>
                    </a:cubicBezTo>
                    <a:cubicBezTo>
                      <a:pt x="125" y="474"/>
                      <a:pt x="125" y="474"/>
                      <a:pt x="125" y="474"/>
                    </a:cubicBezTo>
                    <a:cubicBezTo>
                      <a:pt x="120" y="474"/>
                      <a:pt x="116" y="479"/>
                      <a:pt x="116" y="485"/>
                    </a:cubicBezTo>
                    <a:cubicBezTo>
                      <a:pt x="116" y="489"/>
                      <a:pt x="120" y="493"/>
                      <a:pt x="125" y="493"/>
                    </a:cubicBezTo>
                    <a:cubicBezTo>
                      <a:pt x="437" y="493"/>
                      <a:pt x="437" y="493"/>
                      <a:pt x="437" y="493"/>
                    </a:cubicBezTo>
                    <a:cubicBezTo>
                      <a:pt x="442" y="493"/>
                      <a:pt x="447" y="489"/>
                      <a:pt x="447" y="485"/>
                    </a:cubicBezTo>
                    <a:cubicBezTo>
                      <a:pt x="447" y="479"/>
                      <a:pt x="442" y="474"/>
                      <a:pt x="437" y="474"/>
                    </a:cubicBezTo>
                    <a:cubicBezTo>
                      <a:pt x="291" y="474"/>
                      <a:pt x="291" y="474"/>
                      <a:pt x="291" y="474"/>
                    </a:cubicBezTo>
                    <a:cubicBezTo>
                      <a:pt x="291" y="398"/>
                      <a:pt x="291" y="398"/>
                      <a:pt x="291" y="398"/>
                    </a:cubicBezTo>
                    <a:cubicBezTo>
                      <a:pt x="524" y="398"/>
                      <a:pt x="524" y="398"/>
                      <a:pt x="524" y="398"/>
                    </a:cubicBezTo>
                    <a:cubicBezTo>
                      <a:pt x="546" y="398"/>
                      <a:pt x="563" y="380"/>
                      <a:pt x="563" y="359"/>
                    </a:cubicBezTo>
                    <a:cubicBezTo>
                      <a:pt x="563" y="39"/>
                      <a:pt x="563" y="39"/>
                      <a:pt x="563" y="39"/>
                    </a:cubicBezTo>
                    <a:cubicBezTo>
                      <a:pt x="563" y="18"/>
                      <a:pt x="546" y="0"/>
                      <a:pt x="524" y="0"/>
                    </a:cubicBezTo>
                    <a:close/>
                    <a:moveTo>
                      <a:pt x="38" y="19"/>
                    </a:moveTo>
                    <a:lnTo>
                      <a:pt x="38" y="19"/>
                    </a:lnTo>
                    <a:cubicBezTo>
                      <a:pt x="524" y="19"/>
                      <a:pt x="524" y="19"/>
                      <a:pt x="524" y="19"/>
                    </a:cubicBezTo>
                    <a:cubicBezTo>
                      <a:pt x="535" y="19"/>
                      <a:pt x="543" y="29"/>
                      <a:pt x="543" y="39"/>
                    </a:cubicBezTo>
                    <a:cubicBezTo>
                      <a:pt x="543" y="307"/>
                      <a:pt x="543" y="307"/>
                      <a:pt x="543" y="307"/>
                    </a:cubicBezTo>
                    <a:cubicBezTo>
                      <a:pt x="19" y="307"/>
                      <a:pt x="19" y="307"/>
                      <a:pt x="19" y="307"/>
                    </a:cubicBezTo>
                    <a:cubicBezTo>
                      <a:pt x="19" y="39"/>
                      <a:pt x="19" y="39"/>
                      <a:pt x="19" y="39"/>
                    </a:cubicBezTo>
                    <a:cubicBezTo>
                      <a:pt x="19" y="29"/>
                      <a:pt x="28" y="19"/>
                      <a:pt x="38" y="19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6" name="Freeform 206"/>
              <p:cNvSpPr>
                <a:spLocks noChangeAspect="1" noChangeArrowheads="1"/>
              </p:cNvSpPr>
              <p:nvPr/>
            </p:nvSpPr>
            <p:spPr bwMode="auto">
              <a:xfrm>
                <a:off x="4632596" y="6076369"/>
                <a:ext cx="580381" cy="480173"/>
              </a:xfrm>
              <a:custGeom>
                <a:avLst/>
                <a:gdLst>
                  <a:gd name="T0" fmla="*/ 600 w 612"/>
                  <a:gd name="T1" fmla="*/ 0 h 507"/>
                  <a:gd name="T2" fmla="*/ 600 w 612"/>
                  <a:gd name="T3" fmla="*/ 0 h 507"/>
                  <a:gd name="T4" fmla="*/ 453 w 612"/>
                  <a:gd name="T5" fmla="*/ 0 h 507"/>
                  <a:gd name="T6" fmla="*/ 440 w 612"/>
                  <a:gd name="T7" fmla="*/ 11 h 507"/>
                  <a:gd name="T8" fmla="*/ 440 w 612"/>
                  <a:gd name="T9" fmla="*/ 209 h 507"/>
                  <a:gd name="T10" fmla="*/ 316 w 612"/>
                  <a:gd name="T11" fmla="*/ 209 h 507"/>
                  <a:gd name="T12" fmla="*/ 316 w 612"/>
                  <a:gd name="T13" fmla="*/ 135 h 507"/>
                  <a:gd name="T14" fmla="*/ 305 w 612"/>
                  <a:gd name="T15" fmla="*/ 124 h 507"/>
                  <a:gd name="T16" fmla="*/ 158 w 612"/>
                  <a:gd name="T17" fmla="*/ 124 h 507"/>
                  <a:gd name="T18" fmla="*/ 147 w 612"/>
                  <a:gd name="T19" fmla="*/ 135 h 507"/>
                  <a:gd name="T20" fmla="*/ 147 w 612"/>
                  <a:gd name="T21" fmla="*/ 303 h 507"/>
                  <a:gd name="T22" fmla="*/ 11 w 612"/>
                  <a:gd name="T23" fmla="*/ 303 h 507"/>
                  <a:gd name="T24" fmla="*/ 0 w 612"/>
                  <a:gd name="T25" fmla="*/ 316 h 507"/>
                  <a:gd name="T26" fmla="*/ 0 w 612"/>
                  <a:gd name="T27" fmla="*/ 495 h 507"/>
                  <a:gd name="T28" fmla="*/ 11 w 612"/>
                  <a:gd name="T29" fmla="*/ 506 h 507"/>
                  <a:gd name="T30" fmla="*/ 158 w 612"/>
                  <a:gd name="T31" fmla="*/ 506 h 507"/>
                  <a:gd name="T32" fmla="*/ 305 w 612"/>
                  <a:gd name="T33" fmla="*/ 506 h 507"/>
                  <a:gd name="T34" fmla="*/ 452 w 612"/>
                  <a:gd name="T35" fmla="*/ 506 h 507"/>
                  <a:gd name="T36" fmla="*/ 452 w 612"/>
                  <a:gd name="T37" fmla="*/ 506 h 507"/>
                  <a:gd name="T38" fmla="*/ 453 w 612"/>
                  <a:gd name="T39" fmla="*/ 506 h 507"/>
                  <a:gd name="T40" fmla="*/ 600 w 612"/>
                  <a:gd name="T41" fmla="*/ 506 h 507"/>
                  <a:gd name="T42" fmla="*/ 611 w 612"/>
                  <a:gd name="T43" fmla="*/ 495 h 507"/>
                  <a:gd name="T44" fmla="*/ 611 w 612"/>
                  <a:gd name="T45" fmla="*/ 11 h 507"/>
                  <a:gd name="T46" fmla="*/ 600 w 612"/>
                  <a:gd name="T47" fmla="*/ 0 h 507"/>
                  <a:gd name="T48" fmla="*/ 147 w 612"/>
                  <a:gd name="T49" fmla="*/ 483 h 507"/>
                  <a:gd name="T50" fmla="*/ 147 w 612"/>
                  <a:gd name="T51" fmla="*/ 483 h 507"/>
                  <a:gd name="T52" fmla="*/ 23 w 612"/>
                  <a:gd name="T53" fmla="*/ 483 h 507"/>
                  <a:gd name="T54" fmla="*/ 23 w 612"/>
                  <a:gd name="T55" fmla="*/ 327 h 507"/>
                  <a:gd name="T56" fmla="*/ 147 w 612"/>
                  <a:gd name="T57" fmla="*/ 327 h 507"/>
                  <a:gd name="T58" fmla="*/ 147 w 612"/>
                  <a:gd name="T59" fmla="*/ 483 h 507"/>
                  <a:gd name="T60" fmla="*/ 294 w 612"/>
                  <a:gd name="T61" fmla="*/ 221 h 507"/>
                  <a:gd name="T62" fmla="*/ 294 w 612"/>
                  <a:gd name="T63" fmla="*/ 221 h 507"/>
                  <a:gd name="T64" fmla="*/ 294 w 612"/>
                  <a:gd name="T65" fmla="*/ 483 h 507"/>
                  <a:gd name="T66" fmla="*/ 170 w 612"/>
                  <a:gd name="T67" fmla="*/ 483 h 507"/>
                  <a:gd name="T68" fmla="*/ 170 w 612"/>
                  <a:gd name="T69" fmla="*/ 316 h 507"/>
                  <a:gd name="T70" fmla="*/ 170 w 612"/>
                  <a:gd name="T71" fmla="*/ 147 h 507"/>
                  <a:gd name="T72" fmla="*/ 294 w 612"/>
                  <a:gd name="T73" fmla="*/ 147 h 507"/>
                  <a:gd name="T74" fmla="*/ 294 w 612"/>
                  <a:gd name="T75" fmla="*/ 221 h 507"/>
                  <a:gd name="T76" fmla="*/ 440 w 612"/>
                  <a:gd name="T77" fmla="*/ 483 h 507"/>
                  <a:gd name="T78" fmla="*/ 440 w 612"/>
                  <a:gd name="T79" fmla="*/ 483 h 507"/>
                  <a:gd name="T80" fmla="*/ 316 w 612"/>
                  <a:gd name="T81" fmla="*/ 483 h 507"/>
                  <a:gd name="T82" fmla="*/ 316 w 612"/>
                  <a:gd name="T83" fmla="*/ 232 h 507"/>
                  <a:gd name="T84" fmla="*/ 440 w 612"/>
                  <a:gd name="T85" fmla="*/ 232 h 507"/>
                  <a:gd name="T86" fmla="*/ 440 w 612"/>
                  <a:gd name="T87" fmla="*/ 483 h 507"/>
                  <a:gd name="T88" fmla="*/ 587 w 612"/>
                  <a:gd name="T89" fmla="*/ 483 h 507"/>
                  <a:gd name="T90" fmla="*/ 587 w 612"/>
                  <a:gd name="T91" fmla="*/ 483 h 507"/>
                  <a:gd name="T92" fmla="*/ 464 w 612"/>
                  <a:gd name="T93" fmla="*/ 483 h 507"/>
                  <a:gd name="T94" fmla="*/ 464 w 612"/>
                  <a:gd name="T95" fmla="*/ 23 h 507"/>
                  <a:gd name="T96" fmla="*/ 587 w 612"/>
                  <a:gd name="T97" fmla="*/ 23 h 507"/>
                  <a:gd name="T98" fmla="*/ 587 w 612"/>
                  <a:gd name="T99" fmla="*/ 483 h 5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612" h="507">
                    <a:moveTo>
                      <a:pt x="600" y="0"/>
                    </a:moveTo>
                    <a:lnTo>
                      <a:pt x="600" y="0"/>
                    </a:lnTo>
                    <a:cubicBezTo>
                      <a:pt x="453" y="0"/>
                      <a:pt x="453" y="0"/>
                      <a:pt x="453" y="0"/>
                    </a:cubicBezTo>
                    <a:cubicBezTo>
                      <a:pt x="446" y="0"/>
                      <a:pt x="440" y="5"/>
                      <a:pt x="440" y="11"/>
                    </a:cubicBezTo>
                    <a:cubicBezTo>
                      <a:pt x="440" y="209"/>
                      <a:pt x="440" y="209"/>
                      <a:pt x="440" y="209"/>
                    </a:cubicBezTo>
                    <a:cubicBezTo>
                      <a:pt x="316" y="209"/>
                      <a:pt x="316" y="209"/>
                      <a:pt x="316" y="209"/>
                    </a:cubicBezTo>
                    <a:cubicBezTo>
                      <a:pt x="316" y="135"/>
                      <a:pt x="316" y="135"/>
                      <a:pt x="316" y="135"/>
                    </a:cubicBezTo>
                    <a:cubicBezTo>
                      <a:pt x="316" y="129"/>
                      <a:pt x="311" y="124"/>
                      <a:pt x="305" y="124"/>
                    </a:cubicBezTo>
                    <a:cubicBezTo>
                      <a:pt x="158" y="124"/>
                      <a:pt x="158" y="124"/>
                      <a:pt x="158" y="124"/>
                    </a:cubicBezTo>
                    <a:cubicBezTo>
                      <a:pt x="152" y="124"/>
                      <a:pt x="147" y="129"/>
                      <a:pt x="147" y="135"/>
                    </a:cubicBezTo>
                    <a:cubicBezTo>
                      <a:pt x="147" y="303"/>
                      <a:pt x="147" y="303"/>
                      <a:pt x="147" y="303"/>
                    </a:cubicBezTo>
                    <a:cubicBezTo>
                      <a:pt x="11" y="303"/>
                      <a:pt x="11" y="303"/>
                      <a:pt x="11" y="303"/>
                    </a:cubicBezTo>
                    <a:cubicBezTo>
                      <a:pt x="5" y="303"/>
                      <a:pt x="0" y="308"/>
                      <a:pt x="0" y="316"/>
                    </a:cubicBezTo>
                    <a:cubicBezTo>
                      <a:pt x="0" y="495"/>
                      <a:pt x="0" y="495"/>
                      <a:pt x="0" y="495"/>
                    </a:cubicBezTo>
                    <a:cubicBezTo>
                      <a:pt x="0" y="501"/>
                      <a:pt x="5" y="506"/>
                      <a:pt x="11" y="506"/>
                    </a:cubicBezTo>
                    <a:cubicBezTo>
                      <a:pt x="158" y="506"/>
                      <a:pt x="158" y="506"/>
                      <a:pt x="158" y="506"/>
                    </a:cubicBezTo>
                    <a:cubicBezTo>
                      <a:pt x="305" y="506"/>
                      <a:pt x="305" y="506"/>
                      <a:pt x="305" y="506"/>
                    </a:cubicBezTo>
                    <a:cubicBezTo>
                      <a:pt x="452" y="506"/>
                      <a:pt x="452" y="506"/>
                      <a:pt x="452" y="506"/>
                    </a:cubicBezTo>
                    <a:lnTo>
                      <a:pt x="452" y="506"/>
                    </a:lnTo>
                    <a:cubicBezTo>
                      <a:pt x="452" y="506"/>
                      <a:pt x="452" y="506"/>
                      <a:pt x="453" y="506"/>
                    </a:cubicBezTo>
                    <a:cubicBezTo>
                      <a:pt x="600" y="506"/>
                      <a:pt x="600" y="506"/>
                      <a:pt x="600" y="506"/>
                    </a:cubicBezTo>
                    <a:cubicBezTo>
                      <a:pt x="606" y="506"/>
                      <a:pt x="611" y="501"/>
                      <a:pt x="611" y="495"/>
                    </a:cubicBezTo>
                    <a:cubicBezTo>
                      <a:pt x="611" y="11"/>
                      <a:pt x="611" y="11"/>
                      <a:pt x="611" y="11"/>
                    </a:cubicBezTo>
                    <a:cubicBezTo>
                      <a:pt x="611" y="5"/>
                      <a:pt x="606" y="0"/>
                      <a:pt x="600" y="0"/>
                    </a:cubicBezTo>
                    <a:close/>
                    <a:moveTo>
                      <a:pt x="147" y="483"/>
                    </a:moveTo>
                    <a:lnTo>
                      <a:pt x="147" y="483"/>
                    </a:lnTo>
                    <a:cubicBezTo>
                      <a:pt x="23" y="483"/>
                      <a:pt x="23" y="483"/>
                      <a:pt x="23" y="483"/>
                    </a:cubicBezTo>
                    <a:cubicBezTo>
                      <a:pt x="23" y="327"/>
                      <a:pt x="23" y="327"/>
                      <a:pt x="23" y="327"/>
                    </a:cubicBezTo>
                    <a:cubicBezTo>
                      <a:pt x="147" y="327"/>
                      <a:pt x="147" y="327"/>
                      <a:pt x="147" y="327"/>
                    </a:cubicBezTo>
                    <a:lnTo>
                      <a:pt x="147" y="483"/>
                    </a:lnTo>
                    <a:close/>
                    <a:moveTo>
                      <a:pt x="294" y="221"/>
                    </a:moveTo>
                    <a:lnTo>
                      <a:pt x="294" y="221"/>
                    </a:lnTo>
                    <a:cubicBezTo>
                      <a:pt x="294" y="483"/>
                      <a:pt x="294" y="483"/>
                      <a:pt x="294" y="483"/>
                    </a:cubicBezTo>
                    <a:cubicBezTo>
                      <a:pt x="170" y="483"/>
                      <a:pt x="170" y="483"/>
                      <a:pt x="170" y="483"/>
                    </a:cubicBezTo>
                    <a:cubicBezTo>
                      <a:pt x="170" y="316"/>
                      <a:pt x="170" y="316"/>
                      <a:pt x="170" y="316"/>
                    </a:cubicBezTo>
                    <a:cubicBezTo>
                      <a:pt x="170" y="147"/>
                      <a:pt x="170" y="147"/>
                      <a:pt x="170" y="147"/>
                    </a:cubicBezTo>
                    <a:cubicBezTo>
                      <a:pt x="294" y="147"/>
                      <a:pt x="294" y="147"/>
                      <a:pt x="294" y="147"/>
                    </a:cubicBezTo>
                    <a:lnTo>
                      <a:pt x="294" y="221"/>
                    </a:lnTo>
                    <a:close/>
                    <a:moveTo>
                      <a:pt x="440" y="483"/>
                    </a:moveTo>
                    <a:lnTo>
                      <a:pt x="440" y="483"/>
                    </a:lnTo>
                    <a:cubicBezTo>
                      <a:pt x="316" y="483"/>
                      <a:pt x="316" y="483"/>
                      <a:pt x="316" y="483"/>
                    </a:cubicBezTo>
                    <a:cubicBezTo>
                      <a:pt x="316" y="232"/>
                      <a:pt x="316" y="232"/>
                      <a:pt x="316" y="232"/>
                    </a:cubicBezTo>
                    <a:cubicBezTo>
                      <a:pt x="440" y="232"/>
                      <a:pt x="440" y="232"/>
                      <a:pt x="440" y="232"/>
                    </a:cubicBezTo>
                    <a:lnTo>
                      <a:pt x="440" y="483"/>
                    </a:lnTo>
                    <a:close/>
                    <a:moveTo>
                      <a:pt x="587" y="483"/>
                    </a:moveTo>
                    <a:lnTo>
                      <a:pt x="587" y="483"/>
                    </a:lnTo>
                    <a:cubicBezTo>
                      <a:pt x="464" y="483"/>
                      <a:pt x="464" y="483"/>
                      <a:pt x="464" y="483"/>
                    </a:cubicBezTo>
                    <a:cubicBezTo>
                      <a:pt x="464" y="23"/>
                      <a:pt x="464" y="23"/>
                      <a:pt x="464" y="23"/>
                    </a:cubicBezTo>
                    <a:cubicBezTo>
                      <a:pt x="587" y="23"/>
                      <a:pt x="587" y="23"/>
                      <a:pt x="587" y="23"/>
                    </a:cubicBezTo>
                    <a:lnTo>
                      <a:pt x="587" y="483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77" name="Group 93"/>
              <p:cNvGrpSpPr/>
              <p:nvPr/>
            </p:nvGrpSpPr>
            <p:grpSpPr>
              <a:xfrm>
                <a:off x="5731741" y="6041079"/>
                <a:ext cx="279756" cy="279754"/>
                <a:chOff x="1400213" y="4754181"/>
                <a:chExt cx="279755" cy="279754"/>
              </a:xfrm>
              <a:grpFill/>
            </p:grpSpPr>
            <p:sp>
              <p:nvSpPr>
                <p:cNvPr id="78" name="Freeform 111"/>
                <p:cNvSpPr>
                  <a:spLocks noChangeArrowheads="1"/>
                </p:cNvSpPr>
                <p:nvPr/>
              </p:nvSpPr>
              <p:spPr bwMode="auto">
                <a:xfrm>
                  <a:off x="1400213" y="4754181"/>
                  <a:ext cx="279755" cy="279754"/>
                </a:xfrm>
                <a:custGeom>
                  <a:avLst/>
                  <a:gdLst>
                    <a:gd name="T0" fmla="*/ 324 w 666"/>
                    <a:gd name="T1" fmla="*/ 4 h 666"/>
                    <a:gd name="T2" fmla="*/ 324 w 666"/>
                    <a:gd name="T3" fmla="*/ 4 h 666"/>
                    <a:gd name="T4" fmla="*/ 316 w 666"/>
                    <a:gd name="T5" fmla="*/ 1 h 666"/>
                    <a:gd name="T6" fmla="*/ 0 w 666"/>
                    <a:gd name="T7" fmla="*/ 332 h 666"/>
                    <a:gd name="T8" fmla="*/ 333 w 666"/>
                    <a:gd name="T9" fmla="*/ 665 h 666"/>
                    <a:gd name="T10" fmla="*/ 665 w 666"/>
                    <a:gd name="T11" fmla="*/ 332 h 666"/>
                    <a:gd name="T12" fmla="*/ 560 w 666"/>
                    <a:gd name="T13" fmla="*/ 90 h 666"/>
                    <a:gd name="T14" fmla="*/ 543 w 666"/>
                    <a:gd name="T15" fmla="*/ 90 h 666"/>
                    <a:gd name="T16" fmla="*/ 329 w 666"/>
                    <a:gd name="T17" fmla="*/ 305 h 666"/>
                    <a:gd name="T18" fmla="*/ 329 w 666"/>
                    <a:gd name="T19" fmla="*/ 12 h 666"/>
                    <a:gd name="T20" fmla="*/ 324 w 666"/>
                    <a:gd name="T21" fmla="*/ 4 h 666"/>
                    <a:gd name="T22" fmla="*/ 551 w 666"/>
                    <a:gd name="T23" fmla="*/ 115 h 666"/>
                    <a:gd name="T24" fmla="*/ 551 w 666"/>
                    <a:gd name="T25" fmla="*/ 115 h 666"/>
                    <a:gd name="T26" fmla="*/ 641 w 666"/>
                    <a:gd name="T27" fmla="*/ 332 h 666"/>
                    <a:gd name="T28" fmla="*/ 333 w 666"/>
                    <a:gd name="T29" fmla="*/ 641 h 666"/>
                    <a:gd name="T30" fmla="*/ 23 w 666"/>
                    <a:gd name="T31" fmla="*/ 332 h 666"/>
                    <a:gd name="T32" fmla="*/ 305 w 666"/>
                    <a:gd name="T33" fmla="*/ 25 h 666"/>
                    <a:gd name="T34" fmla="*/ 305 w 666"/>
                    <a:gd name="T35" fmla="*/ 332 h 666"/>
                    <a:gd name="T36" fmla="*/ 312 w 666"/>
                    <a:gd name="T37" fmla="*/ 343 h 666"/>
                    <a:gd name="T38" fmla="*/ 325 w 666"/>
                    <a:gd name="T39" fmla="*/ 340 h 666"/>
                    <a:gd name="T40" fmla="*/ 551 w 666"/>
                    <a:gd name="T41" fmla="*/ 115 h 6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666" h="666">
                      <a:moveTo>
                        <a:pt x="324" y="4"/>
                      </a:moveTo>
                      <a:lnTo>
                        <a:pt x="324" y="4"/>
                      </a:lnTo>
                      <a:cubicBezTo>
                        <a:pt x="322" y="2"/>
                        <a:pt x="319" y="0"/>
                        <a:pt x="316" y="1"/>
                      </a:cubicBezTo>
                      <a:cubicBezTo>
                        <a:pt x="141" y="8"/>
                        <a:pt x="0" y="157"/>
                        <a:pt x="0" y="332"/>
                      </a:cubicBezTo>
                      <a:cubicBezTo>
                        <a:pt x="0" y="516"/>
                        <a:pt x="148" y="665"/>
                        <a:pt x="333" y="665"/>
                      </a:cubicBezTo>
                      <a:cubicBezTo>
                        <a:pt x="516" y="665"/>
                        <a:pt x="665" y="516"/>
                        <a:pt x="665" y="332"/>
                      </a:cubicBezTo>
                      <a:cubicBezTo>
                        <a:pt x="665" y="240"/>
                        <a:pt x="627" y="155"/>
                        <a:pt x="560" y="90"/>
                      </a:cubicBezTo>
                      <a:cubicBezTo>
                        <a:pt x="556" y="86"/>
                        <a:pt x="548" y="86"/>
                        <a:pt x="543" y="90"/>
                      </a:cubicBezTo>
                      <a:cubicBezTo>
                        <a:pt x="329" y="305"/>
                        <a:pt x="329" y="305"/>
                        <a:pt x="329" y="305"/>
                      </a:cubicBezTo>
                      <a:cubicBezTo>
                        <a:pt x="329" y="12"/>
                        <a:pt x="329" y="12"/>
                        <a:pt x="329" y="12"/>
                      </a:cubicBezTo>
                      <a:cubicBezTo>
                        <a:pt x="329" y="9"/>
                        <a:pt x="328" y="6"/>
                        <a:pt x="324" y="4"/>
                      </a:cubicBezTo>
                      <a:close/>
                      <a:moveTo>
                        <a:pt x="551" y="115"/>
                      </a:moveTo>
                      <a:lnTo>
                        <a:pt x="551" y="115"/>
                      </a:lnTo>
                      <a:cubicBezTo>
                        <a:pt x="610" y="174"/>
                        <a:pt x="641" y="251"/>
                        <a:pt x="641" y="332"/>
                      </a:cubicBezTo>
                      <a:cubicBezTo>
                        <a:pt x="641" y="503"/>
                        <a:pt x="502" y="641"/>
                        <a:pt x="333" y="641"/>
                      </a:cubicBezTo>
                      <a:cubicBezTo>
                        <a:pt x="162" y="641"/>
                        <a:pt x="23" y="503"/>
                        <a:pt x="23" y="332"/>
                      </a:cubicBezTo>
                      <a:cubicBezTo>
                        <a:pt x="23" y="174"/>
                        <a:pt x="148" y="38"/>
                        <a:pt x="305" y="25"/>
                      </a:cubicBezTo>
                      <a:cubicBezTo>
                        <a:pt x="305" y="332"/>
                        <a:pt x="305" y="332"/>
                        <a:pt x="305" y="332"/>
                      </a:cubicBezTo>
                      <a:cubicBezTo>
                        <a:pt x="305" y="337"/>
                        <a:pt x="308" y="341"/>
                        <a:pt x="312" y="343"/>
                      </a:cubicBezTo>
                      <a:cubicBezTo>
                        <a:pt x="317" y="345"/>
                        <a:pt x="321" y="344"/>
                        <a:pt x="325" y="340"/>
                      </a:cubicBezTo>
                      <a:lnTo>
                        <a:pt x="551" y="115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9" name="Freeform 112"/>
                <p:cNvSpPr>
                  <a:spLocks noChangeArrowheads="1"/>
                </p:cNvSpPr>
                <p:nvPr/>
              </p:nvSpPr>
              <p:spPr bwMode="auto">
                <a:xfrm>
                  <a:off x="1546575" y="4754181"/>
                  <a:ext cx="68549" cy="90781"/>
                </a:xfrm>
                <a:custGeom>
                  <a:avLst/>
                  <a:gdLst>
                    <a:gd name="T0" fmla="*/ 11 w 162"/>
                    <a:gd name="T1" fmla="*/ 213 h 214"/>
                    <a:gd name="T2" fmla="*/ 11 w 162"/>
                    <a:gd name="T3" fmla="*/ 213 h 214"/>
                    <a:gd name="T4" fmla="*/ 19 w 162"/>
                    <a:gd name="T5" fmla="*/ 209 h 214"/>
                    <a:gd name="T6" fmla="*/ 158 w 162"/>
                    <a:gd name="T7" fmla="*/ 72 h 214"/>
                    <a:gd name="T8" fmla="*/ 161 w 162"/>
                    <a:gd name="T9" fmla="*/ 62 h 214"/>
                    <a:gd name="T10" fmla="*/ 156 w 162"/>
                    <a:gd name="T11" fmla="*/ 54 h 214"/>
                    <a:gd name="T12" fmla="*/ 13 w 162"/>
                    <a:gd name="T13" fmla="*/ 1 h 214"/>
                    <a:gd name="T14" fmla="*/ 4 w 162"/>
                    <a:gd name="T15" fmla="*/ 3 h 214"/>
                    <a:gd name="T16" fmla="*/ 0 w 162"/>
                    <a:gd name="T17" fmla="*/ 12 h 214"/>
                    <a:gd name="T18" fmla="*/ 0 w 162"/>
                    <a:gd name="T19" fmla="*/ 201 h 214"/>
                    <a:gd name="T20" fmla="*/ 7 w 162"/>
                    <a:gd name="T21" fmla="*/ 212 h 214"/>
                    <a:gd name="T22" fmla="*/ 11 w 162"/>
                    <a:gd name="T23" fmla="*/ 213 h 214"/>
                    <a:gd name="T24" fmla="*/ 23 w 162"/>
                    <a:gd name="T25" fmla="*/ 26 h 214"/>
                    <a:gd name="T26" fmla="*/ 23 w 162"/>
                    <a:gd name="T27" fmla="*/ 26 h 214"/>
                    <a:gd name="T28" fmla="*/ 131 w 162"/>
                    <a:gd name="T29" fmla="*/ 65 h 214"/>
                    <a:gd name="T30" fmla="*/ 23 w 162"/>
                    <a:gd name="T31" fmla="*/ 173 h 214"/>
                    <a:gd name="T32" fmla="*/ 23 w 162"/>
                    <a:gd name="T33" fmla="*/ 26 h 2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62" h="214">
                      <a:moveTo>
                        <a:pt x="11" y="213"/>
                      </a:moveTo>
                      <a:lnTo>
                        <a:pt x="11" y="213"/>
                      </a:lnTo>
                      <a:cubicBezTo>
                        <a:pt x="14" y="213"/>
                        <a:pt x="17" y="212"/>
                        <a:pt x="19" y="209"/>
                      </a:cubicBezTo>
                      <a:cubicBezTo>
                        <a:pt x="158" y="72"/>
                        <a:pt x="158" y="72"/>
                        <a:pt x="158" y="72"/>
                      </a:cubicBezTo>
                      <a:cubicBezTo>
                        <a:pt x="160" y="70"/>
                        <a:pt x="161" y="65"/>
                        <a:pt x="161" y="62"/>
                      </a:cubicBezTo>
                      <a:cubicBezTo>
                        <a:pt x="161" y="59"/>
                        <a:pt x="159" y="56"/>
                        <a:pt x="156" y="54"/>
                      </a:cubicBezTo>
                      <a:cubicBezTo>
                        <a:pt x="115" y="27"/>
                        <a:pt x="64" y="7"/>
                        <a:pt x="13" y="1"/>
                      </a:cubicBezTo>
                      <a:cubicBezTo>
                        <a:pt x="10" y="0"/>
                        <a:pt x="7" y="1"/>
                        <a:pt x="4" y="3"/>
                      </a:cubicBezTo>
                      <a:cubicBezTo>
                        <a:pt x="2" y="6"/>
                        <a:pt x="0" y="9"/>
                        <a:pt x="0" y="12"/>
                      </a:cubicBezTo>
                      <a:cubicBezTo>
                        <a:pt x="0" y="201"/>
                        <a:pt x="0" y="201"/>
                        <a:pt x="0" y="201"/>
                      </a:cubicBezTo>
                      <a:cubicBezTo>
                        <a:pt x="0" y="206"/>
                        <a:pt x="3" y="210"/>
                        <a:pt x="7" y="212"/>
                      </a:cubicBezTo>
                      <a:cubicBezTo>
                        <a:pt x="9" y="212"/>
                        <a:pt x="10" y="213"/>
                        <a:pt x="11" y="213"/>
                      </a:cubicBezTo>
                      <a:close/>
                      <a:moveTo>
                        <a:pt x="23" y="26"/>
                      </a:moveTo>
                      <a:lnTo>
                        <a:pt x="23" y="26"/>
                      </a:lnTo>
                      <a:cubicBezTo>
                        <a:pt x="61" y="33"/>
                        <a:pt x="99" y="47"/>
                        <a:pt x="131" y="65"/>
                      </a:cubicBezTo>
                      <a:cubicBezTo>
                        <a:pt x="23" y="173"/>
                        <a:pt x="23" y="173"/>
                        <a:pt x="23" y="173"/>
                      </a:cubicBezTo>
                      <a:lnTo>
                        <a:pt x="23" y="2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</p:grpSp>
      </p:grpSp>
      <p:grpSp>
        <p:nvGrpSpPr>
          <p:cNvPr id="89" name="Group 3"/>
          <p:cNvGrpSpPr/>
          <p:nvPr/>
        </p:nvGrpSpPr>
        <p:grpSpPr>
          <a:xfrm>
            <a:off x="4476246" y="2996673"/>
            <a:ext cx="2851324" cy="2851317"/>
            <a:chOff x="4289626" y="2959349"/>
            <a:chExt cx="2851324" cy="2851317"/>
          </a:xfrm>
        </p:grpSpPr>
        <p:grpSp>
          <p:nvGrpSpPr>
            <p:cNvPr id="90" name="Group 115"/>
            <p:cNvGrpSpPr/>
            <p:nvPr/>
          </p:nvGrpSpPr>
          <p:grpSpPr>
            <a:xfrm>
              <a:off x="4289626" y="2959349"/>
              <a:ext cx="2851324" cy="2851317"/>
              <a:chOff x="6502832" y="2473098"/>
              <a:chExt cx="2216481" cy="2216479"/>
            </a:xfrm>
          </p:grpSpPr>
          <p:sp>
            <p:nvSpPr>
              <p:cNvPr id="96" name="Shape 276"/>
              <p:cNvSpPr/>
              <p:nvPr/>
            </p:nvSpPr>
            <p:spPr>
              <a:xfrm>
                <a:off x="6555898" y="2524411"/>
                <a:ext cx="2113346" cy="21133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184476"/>
              </a:solidFill>
              <a:ln w="12700">
                <a:miter lim="400000"/>
              </a:ln>
              <a:effectLst>
                <a:outerShdw blurRad="38100" dist="12700" dir="5400000" algn="ctr" rotWithShape="0">
                  <a:srgbClr val="000000">
                    <a:alpha val="30000"/>
                  </a:srgbClr>
                </a:outerShdw>
              </a:effectLst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lIns="0" tIns="0" rIns="0" bIns="0" anchor="ctr"/>
              <a:lstStyle/>
              <a:p>
                <a:pPr algn="ctr">
                  <a:lnSpc>
                    <a:spcPct val="120000"/>
                  </a:lnSpc>
                </a:pPr>
                <a:endParaRPr sz="5867" dirty="0">
                  <a:solidFill>
                    <a:srgbClr val="FFFFFF"/>
                  </a:solidFill>
                  <a:ea typeface="helium"/>
                  <a:cs typeface="et-line"/>
                </a:endParaRPr>
              </a:p>
            </p:txBody>
          </p:sp>
          <p:sp>
            <p:nvSpPr>
              <p:cNvPr id="97" name="Block Arc 117"/>
              <p:cNvSpPr/>
              <p:nvPr/>
            </p:nvSpPr>
            <p:spPr>
              <a:xfrm flipH="1">
                <a:off x="6502834" y="2473098"/>
                <a:ext cx="2216479" cy="2216479"/>
              </a:xfrm>
              <a:prstGeom prst="blockArc">
                <a:avLst>
                  <a:gd name="adj1" fmla="val 10800000"/>
                  <a:gd name="adj2" fmla="val 39393"/>
                  <a:gd name="adj3" fmla="val 9996"/>
                </a:avLst>
              </a:prstGeom>
              <a:solidFill>
                <a:srgbClr val="0079E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98" name="Freeform 118"/>
              <p:cNvSpPr/>
              <p:nvPr/>
            </p:nvSpPr>
            <p:spPr>
              <a:xfrm rot="10800000" flipH="1" flipV="1">
                <a:off x="6502832" y="3436861"/>
                <a:ext cx="2216479" cy="1247746"/>
              </a:xfrm>
              <a:custGeom>
                <a:avLst/>
                <a:gdLst>
                  <a:gd name="connsiteX0" fmla="*/ 1114019 w 2240876"/>
                  <a:gd name="connsiteY0" fmla="*/ 1261462 h 1261480"/>
                  <a:gd name="connsiteX1" fmla="*/ 552823 w 2240876"/>
                  <a:gd name="connsiteY1" fmla="*/ 1107062 h 1261480"/>
                  <a:gd name="connsiteX2" fmla="*/ 8293 w 2240876"/>
                  <a:gd name="connsiteY2" fmla="*/ 277274 h 1261480"/>
                  <a:gd name="connsiteX3" fmla="*/ 274 w 2240876"/>
                  <a:gd name="connsiteY3" fmla="*/ 131830 h 1261480"/>
                  <a:gd name="connsiteX4" fmla="*/ 0 w 2240876"/>
                  <a:gd name="connsiteY4" fmla="*/ 131830 h 1261480"/>
                  <a:gd name="connsiteX5" fmla="*/ 257 w 2240876"/>
                  <a:gd name="connsiteY5" fmla="*/ 131531 h 1261480"/>
                  <a:gd name="connsiteX6" fmla="*/ 74 w 2240876"/>
                  <a:gd name="connsiteY6" fmla="*/ 128203 h 1261480"/>
                  <a:gd name="connsiteX7" fmla="*/ 3089 w 2240876"/>
                  <a:gd name="connsiteY7" fmla="*/ 128238 h 1261480"/>
                  <a:gd name="connsiteX8" fmla="*/ 113360 w 2240876"/>
                  <a:gd name="connsiteY8" fmla="*/ 0 h 1261480"/>
                  <a:gd name="connsiteX9" fmla="*/ 226721 w 2240876"/>
                  <a:gd name="connsiteY9" fmla="*/ 131830 h 1261480"/>
                  <a:gd name="connsiteX10" fmla="*/ 224115 w 2240876"/>
                  <a:gd name="connsiteY10" fmla="*/ 131830 h 1261480"/>
                  <a:gd name="connsiteX11" fmla="*/ 230633 w 2240876"/>
                  <a:gd name="connsiteY11" fmla="*/ 250039 h 1261480"/>
                  <a:gd name="connsiteX12" fmla="*/ 666301 w 2240876"/>
                  <a:gd name="connsiteY12" fmla="*/ 913935 h 1261480"/>
                  <a:gd name="connsiteX13" fmla="*/ 1565690 w 2240876"/>
                  <a:gd name="connsiteY13" fmla="*/ 919088 h 1261480"/>
                  <a:gd name="connsiteX14" fmla="*/ 2016879 w 2240876"/>
                  <a:gd name="connsiteY14" fmla="*/ 141042 h 1261480"/>
                  <a:gd name="connsiteX15" fmla="*/ 2240876 w 2240876"/>
                  <a:gd name="connsiteY15" fmla="*/ 141042 h 1261480"/>
                  <a:gd name="connsiteX16" fmla="*/ 1676947 w 2240876"/>
                  <a:gd name="connsiteY16" fmla="*/ 1113503 h 1261480"/>
                  <a:gd name="connsiteX17" fmla="*/ 1114019 w 2240876"/>
                  <a:gd name="connsiteY17" fmla="*/ 1261462 h 1261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240876" h="1261480">
                    <a:moveTo>
                      <a:pt x="1114019" y="1261462"/>
                    </a:moveTo>
                    <a:cubicBezTo>
                      <a:pt x="919888" y="1260350"/>
                      <a:pt x="726045" y="1208844"/>
                      <a:pt x="552823" y="1107062"/>
                    </a:cubicBezTo>
                    <a:cubicBezTo>
                      <a:pt x="249685" y="928944"/>
                      <a:pt x="50314" y="620719"/>
                      <a:pt x="8293" y="277274"/>
                    </a:cubicBezTo>
                    <a:lnTo>
                      <a:pt x="274" y="131830"/>
                    </a:lnTo>
                    <a:lnTo>
                      <a:pt x="0" y="131830"/>
                    </a:lnTo>
                    <a:lnTo>
                      <a:pt x="257" y="131531"/>
                    </a:lnTo>
                    <a:lnTo>
                      <a:pt x="74" y="128203"/>
                    </a:lnTo>
                    <a:lnTo>
                      <a:pt x="3089" y="128238"/>
                    </a:lnTo>
                    <a:lnTo>
                      <a:pt x="113360" y="0"/>
                    </a:lnTo>
                    <a:lnTo>
                      <a:pt x="226721" y="131830"/>
                    </a:lnTo>
                    <a:lnTo>
                      <a:pt x="224115" y="131830"/>
                    </a:lnTo>
                    <a:lnTo>
                      <a:pt x="230633" y="250039"/>
                    </a:lnTo>
                    <a:cubicBezTo>
                      <a:pt x="264253" y="524823"/>
                      <a:pt x="423765" y="771426"/>
                      <a:pt x="666301" y="913935"/>
                    </a:cubicBezTo>
                    <a:cubicBezTo>
                      <a:pt x="943484" y="1076803"/>
                      <a:pt x="1286659" y="1078769"/>
                      <a:pt x="1565690" y="919088"/>
                    </a:cubicBezTo>
                    <a:cubicBezTo>
                      <a:pt x="1844721" y="759407"/>
                      <a:pt x="2016879" y="462533"/>
                      <a:pt x="2016879" y="141042"/>
                    </a:cubicBezTo>
                    <a:lnTo>
                      <a:pt x="2240876" y="141042"/>
                    </a:lnTo>
                    <a:cubicBezTo>
                      <a:pt x="2240876" y="542865"/>
                      <a:pt x="2025701" y="913922"/>
                      <a:pt x="1676947" y="1113503"/>
                    </a:cubicBezTo>
                    <a:cubicBezTo>
                      <a:pt x="1502570" y="1213294"/>
                      <a:pt x="1308150" y="1262574"/>
                      <a:pt x="1114019" y="1261462"/>
                    </a:cubicBezTo>
                    <a:close/>
                  </a:path>
                </a:pathLst>
              </a:custGeom>
              <a:solidFill>
                <a:srgbClr val="29CEFE"/>
              </a:solidFill>
              <a:ln w="12700" cap="flat">
                <a:noFill/>
                <a:miter lim="400000"/>
              </a:ln>
              <a:effectLst>
                <a:outerShdw blurRad="38100" dist="12700" dir="5400000" algn="ctr" rotWithShape="0">
                  <a:srgbClr val="000000">
                    <a:alpha val="30000"/>
                  </a:srgbClr>
                </a:outerShdw>
              </a:effectLst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3200">
                    <a:solidFill>
                      <a:srgbClr val="FFFFFF"/>
                    </a:solidFill>
                  </a:defRPr>
                </a:pPr>
                <a:endParaRPr sz="2800">
                  <a:latin typeface="Roboto Light" charset="0"/>
                  <a:ea typeface="Roboto Light" charset="0"/>
                  <a:cs typeface="Roboto Light" charset="0"/>
                </a:endParaRPr>
              </a:p>
            </p:txBody>
          </p:sp>
        </p:grpSp>
        <p:sp>
          <p:nvSpPr>
            <p:cNvPr id="91" name="TextBox 90"/>
            <p:cNvSpPr txBox="1"/>
            <p:nvPr/>
          </p:nvSpPr>
          <p:spPr>
            <a:xfrm>
              <a:off x="4511678" y="3948476"/>
              <a:ext cx="2243522" cy="51589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3600" b="1" dirty="0">
                  <a:solidFill>
                    <a:schemeClr val="bg1"/>
                  </a:solidFill>
                </a:rPr>
                <a:t>Spark</a:t>
              </a:r>
            </a:p>
          </p:txBody>
        </p:sp>
        <p:grpSp>
          <p:nvGrpSpPr>
            <p:cNvPr id="92" name="Group 9"/>
            <p:cNvGrpSpPr/>
            <p:nvPr/>
          </p:nvGrpSpPr>
          <p:grpSpPr>
            <a:xfrm>
              <a:off x="4929456" y="4480561"/>
              <a:ext cx="1407968" cy="378738"/>
              <a:chOff x="5035933" y="4481770"/>
              <a:chExt cx="1195013" cy="321455"/>
            </a:xfrm>
          </p:grpSpPr>
          <p:sp>
            <p:nvSpPr>
              <p:cNvPr id="93" name="Freeform 81"/>
              <p:cNvSpPr>
                <a:spLocks noChangeAspect="1" noEditPoints="1"/>
              </p:cNvSpPr>
              <p:nvPr/>
            </p:nvSpPr>
            <p:spPr bwMode="auto">
              <a:xfrm>
                <a:off x="5035933" y="4534444"/>
                <a:ext cx="308468" cy="259694"/>
              </a:xfrm>
              <a:custGeom>
                <a:avLst/>
                <a:gdLst>
                  <a:gd name="T0" fmla="*/ 234 w 234"/>
                  <a:gd name="T1" fmla="*/ 197 h 197"/>
                  <a:gd name="T2" fmla="*/ 49 w 234"/>
                  <a:gd name="T3" fmla="*/ 197 h 197"/>
                  <a:gd name="T4" fmla="*/ 49 w 234"/>
                  <a:gd name="T5" fmla="*/ 177 h 197"/>
                  <a:gd name="T6" fmla="*/ 215 w 234"/>
                  <a:gd name="T7" fmla="*/ 177 h 197"/>
                  <a:gd name="T8" fmla="*/ 215 w 234"/>
                  <a:gd name="T9" fmla="*/ 78 h 197"/>
                  <a:gd name="T10" fmla="*/ 49 w 234"/>
                  <a:gd name="T11" fmla="*/ 78 h 197"/>
                  <a:gd name="T12" fmla="*/ 49 w 234"/>
                  <a:gd name="T13" fmla="*/ 59 h 197"/>
                  <a:gd name="T14" fmla="*/ 234 w 234"/>
                  <a:gd name="T15" fmla="*/ 59 h 197"/>
                  <a:gd name="T16" fmla="*/ 234 w 234"/>
                  <a:gd name="T17" fmla="*/ 197 h 197"/>
                  <a:gd name="T18" fmla="*/ 185 w 234"/>
                  <a:gd name="T19" fmla="*/ 137 h 197"/>
                  <a:gd name="T20" fmla="*/ 0 w 234"/>
                  <a:gd name="T21" fmla="*/ 137 h 197"/>
                  <a:gd name="T22" fmla="*/ 0 w 234"/>
                  <a:gd name="T23" fmla="*/ 0 h 197"/>
                  <a:gd name="T24" fmla="*/ 185 w 234"/>
                  <a:gd name="T25" fmla="*/ 0 h 197"/>
                  <a:gd name="T26" fmla="*/ 185 w 234"/>
                  <a:gd name="T27" fmla="*/ 19 h 197"/>
                  <a:gd name="T28" fmla="*/ 20 w 234"/>
                  <a:gd name="T29" fmla="*/ 19 h 197"/>
                  <a:gd name="T30" fmla="*/ 20 w 234"/>
                  <a:gd name="T31" fmla="*/ 118 h 197"/>
                  <a:gd name="T32" fmla="*/ 185 w 234"/>
                  <a:gd name="T33" fmla="*/ 118 h 197"/>
                  <a:gd name="T34" fmla="*/ 185 w 234"/>
                  <a:gd name="T35" fmla="*/ 13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34" h="197">
                    <a:moveTo>
                      <a:pt x="234" y="197"/>
                    </a:moveTo>
                    <a:lnTo>
                      <a:pt x="49" y="197"/>
                    </a:lnTo>
                    <a:lnTo>
                      <a:pt x="49" y="177"/>
                    </a:lnTo>
                    <a:lnTo>
                      <a:pt x="215" y="177"/>
                    </a:lnTo>
                    <a:lnTo>
                      <a:pt x="215" y="78"/>
                    </a:lnTo>
                    <a:lnTo>
                      <a:pt x="49" y="78"/>
                    </a:lnTo>
                    <a:lnTo>
                      <a:pt x="49" y="59"/>
                    </a:lnTo>
                    <a:lnTo>
                      <a:pt x="234" y="59"/>
                    </a:lnTo>
                    <a:lnTo>
                      <a:pt x="234" y="197"/>
                    </a:lnTo>
                    <a:close/>
                    <a:moveTo>
                      <a:pt x="185" y="137"/>
                    </a:moveTo>
                    <a:lnTo>
                      <a:pt x="0" y="137"/>
                    </a:lnTo>
                    <a:lnTo>
                      <a:pt x="0" y="0"/>
                    </a:lnTo>
                    <a:lnTo>
                      <a:pt x="185" y="0"/>
                    </a:lnTo>
                    <a:lnTo>
                      <a:pt x="185" y="19"/>
                    </a:lnTo>
                    <a:lnTo>
                      <a:pt x="20" y="19"/>
                    </a:lnTo>
                    <a:lnTo>
                      <a:pt x="20" y="118"/>
                    </a:lnTo>
                    <a:lnTo>
                      <a:pt x="185" y="118"/>
                    </a:lnTo>
                    <a:lnTo>
                      <a:pt x="185" y="13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4" name="Freeform 73"/>
              <p:cNvSpPr>
                <a:spLocks noChangeAspect="1" noEditPoints="1"/>
              </p:cNvSpPr>
              <p:nvPr/>
            </p:nvSpPr>
            <p:spPr bwMode="auto">
              <a:xfrm>
                <a:off x="5470894" y="4534444"/>
                <a:ext cx="275919" cy="264832"/>
              </a:xfrm>
              <a:custGeom>
                <a:avLst/>
                <a:gdLst>
                  <a:gd name="T0" fmla="*/ 224 w 224"/>
                  <a:gd name="T1" fmla="*/ 215 h 215"/>
                  <a:gd name="T2" fmla="*/ 78 w 224"/>
                  <a:gd name="T3" fmla="*/ 215 h 215"/>
                  <a:gd name="T4" fmla="*/ 78 w 224"/>
                  <a:gd name="T5" fmla="*/ 136 h 215"/>
                  <a:gd name="T6" fmla="*/ 97 w 224"/>
                  <a:gd name="T7" fmla="*/ 136 h 215"/>
                  <a:gd name="T8" fmla="*/ 97 w 224"/>
                  <a:gd name="T9" fmla="*/ 195 h 215"/>
                  <a:gd name="T10" fmla="*/ 204 w 224"/>
                  <a:gd name="T11" fmla="*/ 195 h 215"/>
                  <a:gd name="T12" fmla="*/ 204 w 224"/>
                  <a:gd name="T13" fmla="*/ 19 h 215"/>
                  <a:gd name="T14" fmla="*/ 97 w 224"/>
                  <a:gd name="T15" fmla="*/ 19 h 215"/>
                  <a:gd name="T16" fmla="*/ 97 w 224"/>
                  <a:gd name="T17" fmla="*/ 78 h 215"/>
                  <a:gd name="T18" fmla="*/ 78 w 224"/>
                  <a:gd name="T19" fmla="*/ 78 h 215"/>
                  <a:gd name="T20" fmla="*/ 78 w 224"/>
                  <a:gd name="T21" fmla="*/ 0 h 215"/>
                  <a:gd name="T22" fmla="*/ 224 w 224"/>
                  <a:gd name="T23" fmla="*/ 0 h 215"/>
                  <a:gd name="T24" fmla="*/ 224 w 224"/>
                  <a:gd name="T25" fmla="*/ 215 h 215"/>
                  <a:gd name="T26" fmla="*/ 134 w 224"/>
                  <a:gd name="T27" fmla="*/ 163 h 215"/>
                  <a:gd name="T28" fmla="*/ 119 w 224"/>
                  <a:gd name="T29" fmla="*/ 149 h 215"/>
                  <a:gd name="T30" fmla="*/ 151 w 224"/>
                  <a:gd name="T31" fmla="*/ 117 h 215"/>
                  <a:gd name="T32" fmla="*/ 0 w 224"/>
                  <a:gd name="T33" fmla="*/ 117 h 215"/>
                  <a:gd name="T34" fmla="*/ 0 w 224"/>
                  <a:gd name="T35" fmla="*/ 97 h 215"/>
                  <a:gd name="T36" fmla="*/ 151 w 224"/>
                  <a:gd name="T37" fmla="*/ 97 h 215"/>
                  <a:gd name="T38" fmla="*/ 119 w 224"/>
                  <a:gd name="T39" fmla="*/ 65 h 215"/>
                  <a:gd name="T40" fmla="*/ 134 w 224"/>
                  <a:gd name="T41" fmla="*/ 51 h 215"/>
                  <a:gd name="T42" fmla="*/ 190 w 224"/>
                  <a:gd name="T43" fmla="*/ 107 h 215"/>
                  <a:gd name="T44" fmla="*/ 134 w 224"/>
                  <a:gd name="T45" fmla="*/ 163 h 2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24" h="215">
                    <a:moveTo>
                      <a:pt x="224" y="215"/>
                    </a:moveTo>
                    <a:lnTo>
                      <a:pt x="78" y="215"/>
                    </a:lnTo>
                    <a:lnTo>
                      <a:pt x="78" y="136"/>
                    </a:lnTo>
                    <a:lnTo>
                      <a:pt x="97" y="136"/>
                    </a:lnTo>
                    <a:lnTo>
                      <a:pt x="97" y="195"/>
                    </a:lnTo>
                    <a:lnTo>
                      <a:pt x="204" y="195"/>
                    </a:lnTo>
                    <a:lnTo>
                      <a:pt x="204" y="19"/>
                    </a:lnTo>
                    <a:lnTo>
                      <a:pt x="97" y="19"/>
                    </a:lnTo>
                    <a:lnTo>
                      <a:pt x="97" y="78"/>
                    </a:lnTo>
                    <a:lnTo>
                      <a:pt x="78" y="78"/>
                    </a:lnTo>
                    <a:lnTo>
                      <a:pt x="78" y="0"/>
                    </a:lnTo>
                    <a:lnTo>
                      <a:pt x="224" y="0"/>
                    </a:lnTo>
                    <a:lnTo>
                      <a:pt x="224" y="215"/>
                    </a:lnTo>
                    <a:close/>
                    <a:moveTo>
                      <a:pt x="134" y="163"/>
                    </a:moveTo>
                    <a:lnTo>
                      <a:pt x="119" y="149"/>
                    </a:lnTo>
                    <a:lnTo>
                      <a:pt x="151" y="117"/>
                    </a:lnTo>
                    <a:lnTo>
                      <a:pt x="0" y="117"/>
                    </a:lnTo>
                    <a:lnTo>
                      <a:pt x="0" y="97"/>
                    </a:lnTo>
                    <a:lnTo>
                      <a:pt x="151" y="97"/>
                    </a:lnTo>
                    <a:lnTo>
                      <a:pt x="119" y="65"/>
                    </a:lnTo>
                    <a:lnTo>
                      <a:pt x="134" y="51"/>
                    </a:lnTo>
                    <a:lnTo>
                      <a:pt x="190" y="107"/>
                    </a:lnTo>
                    <a:lnTo>
                      <a:pt x="134" y="163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5" name="Freeform 206"/>
              <p:cNvSpPr>
                <a:spLocks noChangeAspect="1" noChangeArrowheads="1"/>
              </p:cNvSpPr>
              <p:nvPr/>
            </p:nvSpPr>
            <p:spPr bwMode="auto">
              <a:xfrm>
                <a:off x="5842405" y="4481770"/>
                <a:ext cx="388541" cy="321455"/>
              </a:xfrm>
              <a:custGeom>
                <a:avLst/>
                <a:gdLst>
                  <a:gd name="T0" fmla="*/ 600 w 612"/>
                  <a:gd name="T1" fmla="*/ 0 h 507"/>
                  <a:gd name="T2" fmla="*/ 600 w 612"/>
                  <a:gd name="T3" fmla="*/ 0 h 507"/>
                  <a:gd name="T4" fmla="*/ 453 w 612"/>
                  <a:gd name="T5" fmla="*/ 0 h 507"/>
                  <a:gd name="T6" fmla="*/ 440 w 612"/>
                  <a:gd name="T7" fmla="*/ 11 h 507"/>
                  <a:gd name="T8" fmla="*/ 440 w 612"/>
                  <a:gd name="T9" fmla="*/ 209 h 507"/>
                  <a:gd name="T10" fmla="*/ 316 w 612"/>
                  <a:gd name="T11" fmla="*/ 209 h 507"/>
                  <a:gd name="T12" fmla="*/ 316 w 612"/>
                  <a:gd name="T13" fmla="*/ 135 h 507"/>
                  <a:gd name="T14" fmla="*/ 305 w 612"/>
                  <a:gd name="T15" fmla="*/ 124 h 507"/>
                  <a:gd name="T16" fmla="*/ 158 w 612"/>
                  <a:gd name="T17" fmla="*/ 124 h 507"/>
                  <a:gd name="T18" fmla="*/ 147 w 612"/>
                  <a:gd name="T19" fmla="*/ 135 h 507"/>
                  <a:gd name="T20" fmla="*/ 147 w 612"/>
                  <a:gd name="T21" fmla="*/ 303 h 507"/>
                  <a:gd name="T22" fmla="*/ 11 w 612"/>
                  <a:gd name="T23" fmla="*/ 303 h 507"/>
                  <a:gd name="T24" fmla="*/ 0 w 612"/>
                  <a:gd name="T25" fmla="*/ 316 h 507"/>
                  <a:gd name="T26" fmla="*/ 0 w 612"/>
                  <a:gd name="T27" fmla="*/ 495 h 507"/>
                  <a:gd name="T28" fmla="*/ 11 w 612"/>
                  <a:gd name="T29" fmla="*/ 506 h 507"/>
                  <a:gd name="T30" fmla="*/ 158 w 612"/>
                  <a:gd name="T31" fmla="*/ 506 h 507"/>
                  <a:gd name="T32" fmla="*/ 305 w 612"/>
                  <a:gd name="T33" fmla="*/ 506 h 507"/>
                  <a:gd name="T34" fmla="*/ 452 w 612"/>
                  <a:gd name="T35" fmla="*/ 506 h 507"/>
                  <a:gd name="T36" fmla="*/ 452 w 612"/>
                  <a:gd name="T37" fmla="*/ 506 h 507"/>
                  <a:gd name="T38" fmla="*/ 453 w 612"/>
                  <a:gd name="T39" fmla="*/ 506 h 507"/>
                  <a:gd name="T40" fmla="*/ 600 w 612"/>
                  <a:gd name="T41" fmla="*/ 506 h 507"/>
                  <a:gd name="T42" fmla="*/ 611 w 612"/>
                  <a:gd name="T43" fmla="*/ 495 h 507"/>
                  <a:gd name="T44" fmla="*/ 611 w 612"/>
                  <a:gd name="T45" fmla="*/ 11 h 507"/>
                  <a:gd name="T46" fmla="*/ 600 w 612"/>
                  <a:gd name="T47" fmla="*/ 0 h 507"/>
                  <a:gd name="T48" fmla="*/ 147 w 612"/>
                  <a:gd name="T49" fmla="*/ 483 h 507"/>
                  <a:gd name="T50" fmla="*/ 147 w 612"/>
                  <a:gd name="T51" fmla="*/ 483 h 507"/>
                  <a:gd name="T52" fmla="*/ 23 w 612"/>
                  <a:gd name="T53" fmla="*/ 483 h 507"/>
                  <a:gd name="T54" fmla="*/ 23 w 612"/>
                  <a:gd name="T55" fmla="*/ 327 h 507"/>
                  <a:gd name="T56" fmla="*/ 147 w 612"/>
                  <a:gd name="T57" fmla="*/ 327 h 507"/>
                  <a:gd name="T58" fmla="*/ 147 w 612"/>
                  <a:gd name="T59" fmla="*/ 483 h 507"/>
                  <a:gd name="T60" fmla="*/ 294 w 612"/>
                  <a:gd name="T61" fmla="*/ 221 h 507"/>
                  <a:gd name="T62" fmla="*/ 294 w 612"/>
                  <a:gd name="T63" fmla="*/ 221 h 507"/>
                  <a:gd name="T64" fmla="*/ 294 w 612"/>
                  <a:gd name="T65" fmla="*/ 483 h 507"/>
                  <a:gd name="T66" fmla="*/ 170 w 612"/>
                  <a:gd name="T67" fmla="*/ 483 h 507"/>
                  <a:gd name="T68" fmla="*/ 170 w 612"/>
                  <a:gd name="T69" fmla="*/ 316 h 507"/>
                  <a:gd name="T70" fmla="*/ 170 w 612"/>
                  <a:gd name="T71" fmla="*/ 147 h 507"/>
                  <a:gd name="T72" fmla="*/ 294 w 612"/>
                  <a:gd name="T73" fmla="*/ 147 h 507"/>
                  <a:gd name="T74" fmla="*/ 294 w 612"/>
                  <a:gd name="T75" fmla="*/ 221 h 507"/>
                  <a:gd name="T76" fmla="*/ 440 w 612"/>
                  <a:gd name="T77" fmla="*/ 483 h 507"/>
                  <a:gd name="T78" fmla="*/ 440 w 612"/>
                  <a:gd name="T79" fmla="*/ 483 h 507"/>
                  <a:gd name="T80" fmla="*/ 316 w 612"/>
                  <a:gd name="T81" fmla="*/ 483 h 507"/>
                  <a:gd name="T82" fmla="*/ 316 w 612"/>
                  <a:gd name="T83" fmla="*/ 232 h 507"/>
                  <a:gd name="T84" fmla="*/ 440 w 612"/>
                  <a:gd name="T85" fmla="*/ 232 h 507"/>
                  <a:gd name="T86" fmla="*/ 440 w 612"/>
                  <a:gd name="T87" fmla="*/ 483 h 507"/>
                  <a:gd name="T88" fmla="*/ 587 w 612"/>
                  <a:gd name="T89" fmla="*/ 483 h 507"/>
                  <a:gd name="T90" fmla="*/ 587 w 612"/>
                  <a:gd name="T91" fmla="*/ 483 h 507"/>
                  <a:gd name="T92" fmla="*/ 464 w 612"/>
                  <a:gd name="T93" fmla="*/ 483 h 507"/>
                  <a:gd name="T94" fmla="*/ 464 w 612"/>
                  <a:gd name="T95" fmla="*/ 23 h 507"/>
                  <a:gd name="T96" fmla="*/ 587 w 612"/>
                  <a:gd name="T97" fmla="*/ 23 h 507"/>
                  <a:gd name="T98" fmla="*/ 587 w 612"/>
                  <a:gd name="T99" fmla="*/ 483 h 5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612" h="507">
                    <a:moveTo>
                      <a:pt x="600" y="0"/>
                    </a:moveTo>
                    <a:lnTo>
                      <a:pt x="600" y="0"/>
                    </a:lnTo>
                    <a:cubicBezTo>
                      <a:pt x="453" y="0"/>
                      <a:pt x="453" y="0"/>
                      <a:pt x="453" y="0"/>
                    </a:cubicBezTo>
                    <a:cubicBezTo>
                      <a:pt x="446" y="0"/>
                      <a:pt x="440" y="5"/>
                      <a:pt x="440" y="11"/>
                    </a:cubicBezTo>
                    <a:cubicBezTo>
                      <a:pt x="440" y="209"/>
                      <a:pt x="440" y="209"/>
                      <a:pt x="440" y="209"/>
                    </a:cubicBezTo>
                    <a:cubicBezTo>
                      <a:pt x="316" y="209"/>
                      <a:pt x="316" y="209"/>
                      <a:pt x="316" y="209"/>
                    </a:cubicBezTo>
                    <a:cubicBezTo>
                      <a:pt x="316" y="135"/>
                      <a:pt x="316" y="135"/>
                      <a:pt x="316" y="135"/>
                    </a:cubicBezTo>
                    <a:cubicBezTo>
                      <a:pt x="316" y="129"/>
                      <a:pt x="311" y="124"/>
                      <a:pt x="305" y="124"/>
                    </a:cubicBezTo>
                    <a:cubicBezTo>
                      <a:pt x="158" y="124"/>
                      <a:pt x="158" y="124"/>
                      <a:pt x="158" y="124"/>
                    </a:cubicBezTo>
                    <a:cubicBezTo>
                      <a:pt x="152" y="124"/>
                      <a:pt x="147" y="129"/>
                      <a:pt x="147" y="135"/>
                    </a:cubicBezTo>
                    <a:cubicBezTo>
                      <a:pt x="147" y="303"/>
                      <a:pt x="147" y="303"/>
                      <a:pt x="147" y="303"/>
                    </a:cubicBezTo>
                    <a:cubicBezTo>
                      <a:pt x="11" y="303"/>
                      <a:pt x="11" y="303"/>
                      <a:pt x="11" y="303"/>
                    </a:cubicBezTo>
                    <a:cubicBezTo>
                      <a:pt x="5" y="303"/>
                      <a:pt x="0" y="308"/>
                      <a:pt x="0" y="316"/>
                    </a:cubicBezTo>
                    <a:cubicBezTo>
                      <a:pt x="0" y="495"/>
                      <a:pt x="0" y="495"/>
                      <a:pt x="0" y="495"/>
                    </a:cubicBezTo>
                    <a:cubicBezTo>
                      <a:pt x="0" y="501"/>
                      <a:pt x="5" y="506"/>
                      <a:pt x="11" y="506"/>
                    </a:cubicBezTo>
                    <a:cubicBezTo>
                      <a:pt x="158" y="506"/>
                      <a:pt x="158" y="506"/>
                      <a:pt x="158" y="506"/>
                    </a:cubicBezTo>
                    <a:cubicBezTo>
                      <a:pt x="305" y="506"/>
                      <a:pt x="305" y="506"/>
                      <a:pt x="305" y="506"/>
                    </a:cubicBezTo>
                    <a:cubicBezTo>
                      <a:pt x="452" y="506"/>
                      <a:pt x="452" y="506"/>
                      <a:pt x="452" y="506"/>
                    </a:cubicBezTo>
                    <a:lnTo>
                      <a:pt x="452" y="506"/>
                    </a:lnTo>
                    <a:cubicBezTo>
                      <a:pt x="452" y="506"/>
                      <a:pt x="452" y="506"/>
                      <a:pt x="453" y="506"/>
                    </a:cubicBezTo>
                    <a:cubicBezTo>
                      <a:pt x="600" y="506"/>
                      <a:pt x="600" y="506"/>
                      <a:pt x="600" y="506"/>
                    </a:cubicBezTo>
                    <a:cubicBezTo>
                      <a:pt x="606" y="506"/>
                      <a:pt x="611" y="501"/>
                      <a:pt x="611" y="495"/>
                    </a:cubicBezTo>
                    <a:cubicBezTo>
                      <a:pt x="611" y="11"/>
                      <a:pt x="611" y="11"/>
                      <a:pt x="611" y="11"/>
                    </a:cubicBezTo>
                    <a:cubicBezTo>
                      <a:pt x="611" y="5"/>
                      <a:pt x="606" y="0"/>
                      <a:pt x="600" y="0"/>
                    </a:cubicBezTo>
                    <a:close/>
                    <a:moveTo>
                      <a:pt x="147" y="483"/>
                    </a:moveTo>
                    <a:lnTo>
                      <a:pt x="147" y="483"/>
                    </a:lnTo>
                    <a:cubicBezTo>
                      <a:pt x="23" y="483"/>
                      <a:pt x="23" y="483"/>
                      <a:pt x="23" y="483"/>
                    </a:cubicBezTo>
                    <a:cubicBezTo>
                      <a:pt x="23" y="327"/>
                      <a:pt x="23" y="327"/>
                      <a:pt x="23" y="327"/>
                    </a:cubicBezTo>
                    <a:cubicBezTo>
                      <a:pt x="147" y="327"/>
                      <a:pt x="147" y="327"/>
                      <a:pt x="147" y="327"/>
                    </a:cubicBezTo>
                    <a:lnTo>
                      <a:pt x="147" y="483"/>
                    </a:lnTo>
                    <a:close/>
                    <a:moveTo>
                      <a:pt x="294" y="221"/>
                    </a:moveTo>
                    <a:lnTo>
                      <a:pt x="294" y="221"/>
                    </a:lnTo>
                    <a:cubicBezTo>
                      <a:pt x="294" y="483"/>
                      <a:pt x="294" y="483"/>
                      <a:pt x="294" y="483"/>
                    </a:cubicBezTo>
                    <a:cubicBezTo>
                      <a:pt x="170" y="483"/>
                      <a:pt x="170" y="483"/>
                      <a:pt x="170" y="483"/>
                    </a:cubicBezTo>
                    <a:cubicBezTo>
                      <a:pt x="170" y="316"/>
                      <a:pt x="170" y="316"/>
                      <a:pt x="170" y="316"/>
                    </a:cubicBezTo>
                    <a:cubicBezTo>
                      <a:pt x="170" y="147"/>
                      <a:pt x="170" y="147"/>
                      <a:pt x="170" y="147"/>
                    </a:cubicBezTo>
                    <a:cubicBezTo>
                      <a:pt x="294" y="147"/>
                      <a:pt x="294" y="147"/>
                      <a:pt x="294" y="147"/>
                    </a:cubicBezTo>
                    <a:lnTo>
                      <a:pt x="294" y="221"/>
                    </a:lnTo>
                    <a:close/>
                    <a:moveTo>
                      <a:pt x="440" y="483"/>
                    </a:moveTo>
                    <a:lnTo>
                      <a:pt x="440" y="483"/>
                    </a:lnTo>
                    <a:cubicBezTo>
                      <a:pt x="316" y="483"/>
                      <a:pt x="316" y="483"/>
                      <a:pt x="316" y="483"/>
                    </a:cubicBezTo>
                    <a:cubicBezTo>
                      <a:pt x="316" y="232"/>
                      <a:pt x="316" y="232"/>
                      <a:pt x="316" y="232"/>
                    </a:cubicBezTo>
                    <a:cubicBezTo>
                      <a:pt x="440" y="232"/>
                      <a:pt x="440" y="232"/>
                      <a:pt x="440" y="232"/>
                    </a:cubicBezTo>
                    <a:lnTo>
                      <a:pt x="440" y="483"/>
                    </a:lnTo>
                    <a:close/>
                    <a:moveTo>
                      <a:pt x="587" y="483"/>
                    </a:moveTo>
                    <a:lnTo>
                      <a:pt x="587" y="483"/>
                    </a:lnTo>
                    <a:cubicBezTo>
                      <a:pt x="464" y="483"/>
                      <a:pt x="464" y="483"/>
                      <a:pt x="464" y="483"/>
                    </a:cubicBezTo>
                    <a:cubicBezTo>
                      <a:pt x="464" y="23"/>
                      <a:pt x="464" y="23"/>
                      <a:pt x="464" y="23"/>
                    </a:cubicBezTo>
                    <a:cubicBezTo>
                      <a:pt x="587" y="23"/>
                      <a:pt x="587" y="23"/>
                      <a:pt x="587" y="23"/>
                    </a:cubicBezTo>
                    <a:lnTo>
                      <a:pt x="587" y="483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99" name="Group 1"/>
          <p:cNvGrpSpPr/>
          <p:nvPr/>
        </p:nvGrpSpPr>
        <p:grpSpPr>
          <a:xfrm>
            <a:off x="8799596" y="2980190"/>
            <a:ext cx="2851324" cy="2851317"/>
            <a:chOff x="8612976" y="2942866"/>
            <a:chExt cx="2851324" cy="2851317"/>
          </a:xfrm>
        </p:grpSpPr>
        <p:grpSp>
          <p:nvGrpSpPr>
            <p:cNvPr id="100" name="Group 4"/>
            <p:cNvGrpSpPr/>
            <p:nvPr/>
          </p:nvGrpSpPr>
          <p:grpSpPr>
            <a:xfrm>
              <a:off x="8612976" y="2942866"/>
              <a:ext cx="2851324" cy="2851317"/>
              <a:chOff x="6502830" y="2473100"/>
              <a:chExt cx="2216480" cy="2216479"/>
            </a:xfrm>
          </p:grpSpPr>
          <p:sp>
            <p:nvSpPr>
              <p:cNvPr id="107" name="Shape 276"/>
              <p:cNvSpPr/>
              <p:nvPr/>
            </p:nvSpPr>
            <p:spPr>
              <a:xfrm>
                <a:off x="6555899" y="2524412"/>
                <a:ext cx="2113346" cy="21133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184476"/>
              </a:solidFill>
              <a:ln w="12700">
                <a:miter lim="400000"/>
              </a:ln>
              <a:effectLst>
                <a:outerShdw blurRad="38100" dist="12700" dir="5400000" algn="ctr" rotWithShape="0">
                  <a:srgbClr val="000000">
                    <a:alpha val="30000"/>
                  </a:srgbClr>
                </a:outerShdw>
              </a:effectLst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lIns="0" tIns="0" rIns="0" bIns="0" anchor="ctr"/>
              <a:lstStyle/>
              <a:p>
                <a:pPr algn="ctr">
                  <a:lnSpc>
                    <a:spcPct val="120000"/>
                  </a:lnSpc>
                </a:pPr>
                <a:endParaRPr sz="5867" dirty="0">
                  <a:solidFill>
                    <a:srgbClr val="FFFFFF"/>
                  </a:solidFill>
                  <a:ea typeface="helium"/>
                  <a:cs typeface="et-line"/>
                </a:endParaRPr>
              </a:p>
            </p:txBody>
          </p:sp>
          <p:sp>
            <p:nvSpPr>
              <p:cNvPr id="108" name="Block Arc 98"/>
              <p:cNvSpPr/>
              <p:nvPr/>
            </p:nvSpPr>
            <p:spPr>
              <a:xfrm>
                <a:off x="6502830" y="2473100"/>
                <a:ext cx="2216479" cy="2216479"/>
              </a:xfrm>
              <a:prstGeom prst="blockArc">
                <a:avLst>
                  <a:gd name="adj1" fmla="val 10800000"/>
                  <a:gd name="adj2" fmla="val 39393"/>
                  <a:gd name="adj3" fmla="val 9996"/>
                </a:avLst>
              </a:prstGeom>
              <a:solidFill>
                <a:srgbClr val="0079E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109" name="Freeform 106"/>
              <p:cNvSpPr/>
              <p:nvPr/>
            </p:nvSpPr>
            <p:spPr>
              <a:xfrm rot="10800000" flipV="1">
                <a:off x="6502831" y="3436861"/>
                <a:ext cx="2216479" cy="1247746"/>
              </a:xfrm>
              <a:custGeom>
                <a:avLst/>
                <a:gdLst>
                  <a:gd name="connsiteX0" fmla="*/ 1114019 w 2240876"/>
                  <a:gd name="connsiteY0" fmla="*/ 1261462 h 1261480"/>
                  <a:gd name="connsiteX1" fmla="*/ 552823 w 2240876"/>
                  <a:gd name="connsiteY1" fmla="*/ 1107062 h 1261480"/>
                  <a:gd name="connsiteX2" fmla="*/ 8293 w 2240876"/>
                  <a:gd name="connsiteY2" fmla="*/ 277274 h 1261480"/>
                  <a:gd name="connsiteX3" fmla="*/ 274 w 2240876"/>
                  <a:gd name="connsiteY3" fmla="*/ 131830 h 1261480"/>
                  <a:gd name="connsiteX4" fmla="*/ 0 w 2240876"/>
                  <a:gd name="connsiteY4" fmla="*/ 131830 h 1261480"/>
                  <a:gd name="connsiteX5" fmla="*/ 257 w 2240876"/>
                  <a:gd name="connsiteY5" fmla="*/ 131531 h 1261480"/>
                  <a:gd name="connsiteX6" fmla="*/ 74 w 2240876"/>
                  <a:gd name="connsiteY6" fmla="*/ 128203 h 1261480"/>
                  <a:gd name="connsiteX7" fmla="*/ 3089 w 2240876"/>
                  <a:gd name="connsiteY7" fmla="*/ 128238 h 1261480"/>
                  <a:gd name="connsiteX8" fmla="*/ 113360 w 2240876"/>
                  <a:gd name="connsiteY8" fmla="*/ 0 h 1261480"/>
                  <a:gd name="connsiteX9" fmla="*/ 226721 w 2240876"/>
                  <a:gd name="connsiteY9" fmla="*/ 131830 h 1261480"/>
                  <a:gd name="connsiteX10" fmla="*/ 224115 w 2240876"/>
                  <a:gd name="connsiteY10" fmla="*/ 131830 h 1261480"/>
                  <a:gd name="connsiteX11" fmla="*/ 230633 w 2240876"/>
                  <a:gd name="connsiteY11" fmla="*/ 250039 h 1261480"/>
                  <a:gd name="connsiteX12" fmla="*/ 666301 w 2240876"/>
                  <a:gd name="connsiteY12" fmla="*/ 913935 h 1261480"/>
                  <a:gd name="connsiteX13" fmla="*/ 1565690 w 2240876"/>
                  <a:gd name="connsiteY13" fmla="*/ 919088 h 1261480"/>
                  <a:gd name="connsiteX14" fmla="*/ 2016879 w 2240876"/>
                  <a:gd name="connsiteY14" fmla="*/ 141042 h 1261480"/>
                  <a:gd name="connsiteX15" fmla="*/ 2240876 w 2240876"/>
                  <a:gd name="connsiteY15" fmla="*/ 141042 h 1261480"/>
                  <a:gd name="connsiteX16" fmla="*/ 1676947 w 2240876"/>
                  <a:gd name="connsiteY16" fmla="*/ 1113503 h 1261480"/>
                  <a:gd name="connsiteX17" fmla="*/ 1114019 w 2240876"/>
                  <a:gd name="connsiteY17" fmla="*/ 1261462 h 1261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240876" h="1261480">
                    <a:moveTo>
                      <a:pt x="1114019" y="1261462"/>
                    </a:moveTo>
                    <a:cubicBezTo>
                      <a:pt x="919888" y="1260350"/>
                      <a:pt x="726045" y="1208844"/>
                      <a:pt x="552823" y="1107062"/>
                    </a:cubicBezTo>
                    <a:cubicBezTo>
                      <a:pt x="249685" y="928944"/>
                      <a:pt x="50314" y="620719"/>
                      <a:pt x="8293" y="277274"/>
                    </a:cubicBezTo>
                    <a:lnTo>
                      <a:pt x="274" y="131830"/>
                    </a:lnTo>
                    <a:lnTo>
                      <a:pt x="0" y="131830"/>
                    </a:lnTo>
                    <a:lnTo>
                      <a:pt x="257" y="131531"/>
                    </a:lnTo>
                    <a:lnTo>
                      <a:pt x="74" y="128203"/>
                    </a:lnTo>
                    <a:lnTo>
                      <a:pt x="3089" y="128238"/>
                    </a:lnTo>
                    <a:lnTo>
                      <a:pt x="113360" y="0"/>
                    </a:lnTo>
                    <a:lnTo>
                      <a:pt x="226721" y="131830"/>
                    </a:lnTo>
                    <a:lnTo>
                      <a:pt x="224115" y="131830"/>
                    </a:lnTo>
                    <a:lnTo>
                      <a:pt x="230633" y="250039"/>
                    </a:lnTo>
                    <a:cubicBezTo>
                      <a:pt x="264253" y="524823"/>
                      <a:pt x="423765" y="771426"/>
                      <a:pt x="666301" y="913935"/>
                    </a:cubicBezTo>
                    <a:cubicBezTo>
                      <a:pt x="943484" y="1076803"/>
                      <a:pt x="1286659" y="1078769"/>
                      <a:pt x="1565690" y="919088"/>
                    </a:cubicBezTo>
                    <a:cubicBezTo>
                      <a:pt x="1844721" y="759407"/>
                      <a:pt x="2016879" y="462533"/>
                      <a:pt x="2016879" y="141042"/>
                    </a:cubicBezTo>
                    <a:lnTo>
                      <a:pt x="2240876" y="141042"/>
                    </a:lnTo>
                    <a:cubicBezTo>
                      <a:pt x="2240876" y="542865"/>
                      <a:pt x="2025701" y="913922"/>
                      <a:pt x="1676947" y="1113503"/>
                    </a:cubicBezTo>
                    <a:cubicBezTo>
                      <a:pt x="1502570" y="1213294"/>
                      <a:pt x="1308150" y="1262574"/>
                      <a:pt x="1114019" y="1261462"/>
                    </a:cubicBezTo>
                    <a:close/>
                  </a:path>
                </a:pathLst>
              </a:custGeom>
              <a:solidFill>
                <a:srgbClr val="29CEFE"/>
              </a:solidFill>
              <a:ln w="12700" cap="flat">
                <a:noFill/>
                <a:miter lim="400000"/>
              </a:ln>
              <a:effectLst>
                <a:outerShdw blurRad="38100" dist="12700" dir="5400000" algn="ctr" rotWithShape="0">
                  <a:srgbClr val="000000">
                    <a:alpha val="30000"/>
                  </a:srgbClr>
                </a:outerShdw>
              </a:effectLst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3200">
                    <a:solidFill>
                      <a:srgbClr val="FFFFFF"/>
                    </a:solidFill>
                  </a:defRPr>
                </a:pPr>
                <a:endParaRPr sz="2800">
                  <a:latin typeface="Roboto Light" charset="0"/>
                  <a:ea typeface="Roboto Light" charset="0"/>
                  <a:cs typeface="Roboto Light" charset="0"/>
                </a:endParaRPr>
              </a:p>
            </p:txBody>
          </p:sp>
        </p:grpSp>
        <p:sp>
          <p:nvSpPr>
            <p:cNvPr id="101" name="TextBox 100"/>
            <p:cNvSpPr txBox="1"/>
            <p:nvPr/>
          </p:nvSpPr>
          <p:spPr>
            <a:xfrm>
              <a:off x="8968119" y="3948476"/>
              <a:ext cx="2243522" cy="51589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3600" b="1" dirty="0">
                  <a:solidFill>
                    <a:schemeClr val="bg1"/>
                  </a:solidFill>
                </a:rPr>
                <a:t>Hadoop</a:t>
              </a:r>
            </a:p>
          </p:txBody>
        </p:sp>
        <p:grpSp>
          <p:nvGrpSpPr>
            <p:cNvPr id="102" name="Group 139"/>
            <p:cNvGrpSpPr>
              <a:grpSpLocks noChangeAspect="1"/>
            </p:cNvGrpSpPr>
            <p:nvPr/>
          </p:nvGrpSpPr>
          <p:grpSpPr>
            <a:xfrm>
              <a:off x="10153980" y="4521238"/>
              <a:ext cx="435514" cy="413318"/>
              <a:chOff x="2279826" y="3805164"/>
              <a:chExt cx="290806" cy="275986"/>
            </a:xfrm>
            <a:solidFill>
              <a:schemeClr val="bg1"/>
            </a:solidFill>
          </p:grpSpPr>
          <p:sp>
            <p:nvSpPr>
              <p:cNvPr id="104" name="Freeform 147"/>
              <p:cNvSpPr>
                <a:spLocks noChangeArrowheads="1"/>
              </p:cNvSpPr>
              <p:nvPr/>
            </p:nvSpPr>
            <p:spPr bwMode="auto">
              <a:xfrm>
                <a:off x="2342803" y="3849618"/>
                <a:ext cx="161147" cy="109283"/>
              </a:xfrm>
              <a:custGeom>
                <a:avLst/>
                <a:gdLst>
                  <a:gd name="T0" fmla="*/ 79 w 382"/>
                  <a:gd name="T1" fmla="*/ 215 h 262"/>
                  <a:gd name="T2" fmla="*/ 79 w 382"/>
                  <a:gd name="T3" fmla="*/ 215 h 262"/>
                  <a:gd name="T4" fmla="*/ 125 w 382"/>
                  <a:gd name="T5" fmla="*/ 225 h 262"/>
                  <a:gd name="T6" fmla="*/ 164 w 382"/>
                  <a:gd name="T7" fmla="*/ 218 h 262"/>
                  <a:gd name="T8" fmla="*/ 220 w 382"/>
                  <a:gd name="T9" fmla="*/ 172 h 262"/>
                  <a:gd name="T10" fmla="*/ 237 w 382"/>
                  <a:gd name="T11" fmla="*/ 181 h 262"/>
                  <a:gd name="T12" fmla="*/ 253 w 382"/>
                  <a:gd name="T13" fmla="*/ 214 h 262"/>
                  <a:gd name="T14" fmla="*/ 332 w 382"/>
                  <a:gd name="T15" fmla="*/ 257 h 262"/>
                  <a:gd name="T16" fmla="*/ 332 w 382"/>
                  <a:gd name="T17" fmla="*/ 257 h 262"/>
                  <a:gd name="T18" fmla="*/ 348 w 382"/>
                  <a:gd name="T19" fmla="*/ 261 h 262"/>
                  <a:gd name="T20" fmla="*/ 357 w 382"/>
                  <a:gd name="T21" fmla="*/ 259 h 262"/>
                  <a:gd name="T22" fmla="*/ 377 w 382"/>
                  <a:gd name="T23" fmla="*/ 244 h 262"/>
                  <a:gd name="T24" fmla="*/ 378 w 382"/>
                  <a:gd name="T25" fmla="*/ 217 h 262"/>
                  <a:gd name="T26" fmla="*/ 363 w 382"/>
                  <a:gd name="T27" fmla="*/ 200 h 262"/>
                  <a:gd name="T28" fmla="*/ 284 w 382"/>
                  <a:gd name="T29" fmla="*/ 156 h 262"/>
                  <a:gd name="T30" fmla="*/ 259 w 382"/>
                  <a:gd name="T31" fmla="*/ 154 h 262"/>
                  <a:gd name="T32" fmla="*/ 248 w 382"/>
                  <a:gd name="T33" fmla="*/ 160 h 262"/>
                  <a:gd name="T34" fmla="*/ 229 w 382"/>
                  <a:gd name="T35" fmla="*/ 151 h 262"/>
                  <a:gd name="T36" fmla="*/ 229 w 382"/>
                  <a:gd name="T37" fmla="*/ 75 h 262"/>
                  <a:gd name="T38" fmla="*/ 172 w 382"/>
                  <a:gd name="T39" fmla="*/ 13 h 262"/>
                  <a:gd name="T40" fmla="*/ 87 w 382"/>
                  <a:gd name="T41" fmla="*/ 10 h 262"/>
                  <a:gd name="T42" fmla="*/ 21 w 382"/>
                  <a:gd name="T43" fmla="*/ 153 h 262"/>
                  <a:gd name="T44" fmla="*/ 79 w 382"/>
                  <a:gd name="T45" fmla="*/ 215 h 262"/>
                  <a:gd name="T46" fmla="*/ 263 w 382"/>
                  <a:gd name="T47" fmla="*/ 181 h 262"/>
                  <a:gd name="T48" fmla="*/ 263 w 382"/>
                  <a:gd name="T49" fmla="*/ 181 h 262"/>
                  <a:gd name="T50" fmla="*/ 264 w 382"/>
                  <a:gd name="T51" fmla="*/ 178 h 262"/>
                  <a:gd name="T52" fmla="*/ 266 w 382"/>
                  <a:gd name="T53" fmla="*/ 176 h 262"/>
                  <a:gd name="T54" fmla="*/ 273 w 382"/>
                  <a:gd name="T55" fmla="*/ 177 h 262"/>
                  <a:gd name="T56" fmla="*/ 352 w 382"/>
                  <a:gd name="T57" fmla="*/ 220 h 262"/>
                  <a:gd name="T58" fmla="*/ 356 w 382"/>
                  <a:gd name="T59" fmla="*/ 225 h 262"/>
                  <a:gd name="T60" fmla="*/ 356 w 382"/>
                  <a:gd name="T61" fmla="*/ 233 h 262"/>
                  <a:gd name="T62" fmla="*/ 350 w 382"/>
                  <a:gd name="T63" fmla="*/ 237 h 262"/>
                  <a:gd name="T64" fmla="*/ 344 w 382"/>
                  <a:gd name="T65" fmla="*/ 236 h 262"/>
                  <a:gd name="T66" fmla="*/ 264 w 382"/>
                  <a:gd name="T67" fmla="*/ 194 h 262"/>
                  <a:gd name="T68" fmla="*/ 260 w 382"/>
                  <a:gd name="T69" fmla="*/ 184 h 262"/>
                  <a:gd name="T70" fmla="*/ 263 w 382"/>
                  <a:gd name="T71" fmla="*/ 181 h 262"/>
                  <a:gd name="T72" fmla="*/ 95 w 382"/>
                  <a:gd name="T73" fmla="*/ 32 h 262"/>
                  <a:gd name="T74" fmla="*/ 95 w 382"/>
                  <a:gd name="T75" fmla="*/ 32 h 262"/>
                  <a:gd name="T76" fmla="*/ 125 w 382"/>
                  <a:gd name="T77" fmla="*/ 26 h 262"/>
                  <a:gd name="T78" fmla="*/ 162 w 382"/>
                  <a:gd name="T79" fmla="*/ 34 h 262"/>
                  <a:gd name="T80" fmla="*/ 208 w 382"/>
                  <a:gd name="T81" fmla="*/ 83 h 262"/>
                  <a:gd name="T82" fmla="*/ 205 w 382"/>
                  <a:gd name="T83" fmla="*/ 151 h 262"/>
                  <a:gd name="T84" fmla="*/ 156 w 382"/>
                  <a:gd name="T85" fmla="*/ 197 h 262"/>
                  <a:gd name="T86" fmla="*/ 43 w 382"/>
                  <a:gd name="T87" fmla="*/ 145 h 262"/>
                  <a:gd name="T88" fmla="*/ 95 w 382"/>
                  <a:gd name="T89" fmla="*/ 32 h 2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382" h="262">
                    <a:moveTo>
                      <a:pt x="79" y="215"/>
                    </a:moveTo>
                    <a:lnTo>
                      <a:pt x="79" y="215"/>
                    </a:lnTo>
                    <a:cubicBezTo>
                      <a:pt x="94" y="222"/>
                      <a:pt x="110" y="225"/>
                      <a:pt x="125" y="225"/>
                    </a:cubicBezTo>
                    <a:cubicBezTo>
                      <a:pt x="139" y="225"/>
                      <a:pt x="151" y="223"/>
                      <a:pt x="164" y="218"/>
                    </a:cubicBezTo>
                    <a:cubicBezTo>
                      <a:pt x="189" y="209"/>
                      <a:pt x="208" y="193"/>
                      <a:pt x="220" y="172"/>
                    </a:cubicBezTo>
                    <a:cubicBezTo>
                      <a:pt x="237" y="181"/>
                      <a:pt x="237" y="181"/>
                      <a:pt x="237" y="181"/>
                    </a:cubicBezTo>
                    <a:cubicBezTo>
                      <a:pt x="235" y="194"/>
                      <a:pt x="241" y="207"/>
                      <a:pt x="253" y="214"/>
                    </a:cubicBezTo>
                    <a:cubicBezTo>
                      <a:pt x="332" y="257"/>
                      <a:pt x="332" y="257"/>
                      <a:pt x="332" y="257"/>
                    </a:cubicBezTo>
                    <a:lnTo>
                      <a:pt x="332" y="257"/>
                    </a:lnTo>
                    <a:cubicBezTo>
                      <a:pt x="338" y="259"/>
                      <a:pt x="343" y="261"/>
                      <a:pt x="348" y="261"/>
                    </a:cubicBezTo>
                    <a:cubicBezTo>
                      <a:pt x="351" y="261"/>
                      <a:pt x="354" y="260"/>
                      <a:pt x="357" y="259"/>
                    </a:cubicBezTo>
                    <a:cubicBezTo>
                      <a:pt x="366" y="257"/>
                      <a:pt x="373" y="251"/>
                      <a:pt x="377" y="244"/>
                    </a:cubicBezTo>
                    <a:cubicBezTo>
                      <a:pt x="381" y="235"/>
                      <a:pt x="381" y="226"/>
                      <a:pt x="378" y="217"/>
                    </a:cubicBezTo>
                    <a:cubicBezTo>
                      <a:pt x="375" y="209"/>
                      <a:pt x="370" y="203"/>
                      <a:pt x="363" y="200"/>
                    </a:cubicBezTo>
                    <a:cubicBezTo>
                      <a:pt x="284" y="156"/>
                      <a:pt x="284" y="156"/>
                      <a:pt x="284" y="156"/>
                    </a:cubicBezTo>
                    <a:cubicBezTo>
                      <a:pt x="276" y="152"/>
                      <a:pt x="267" y="152"/>
                      <a:pt x="259" y="154"/>
                    </a:cubicBezTo>
                    <a:cubicBezTo>
                      <a:pt x="254" y="155"/>
                      <a:pt x="251" y="157"/>
                      <a:pt x="248" y="160"/>
                    </a:cubicBezTo>
                    <a:cubicBezTo>
                      <a:pt x="229" y="151"/>
                      <a:pt x="229" y="151"/>
                      <a:pt x="229" y="151"/>
                    </a:cubicBezTo>
                    <a:cubicBezTo>
                      <a:pt x="238" y="127"/>
                      <a:pt x="239" y="101"/>
                      <a:pt x="229" y="75"/>
                    </a:cubicBezTo>
                    <a:cubicBezTo>
                      <a:pt x="219" y="48"/>
                      <a:pt x="198" y="26"/>
                      <a:pt x="172" y="13"/>
                    </a:cubicBezTo>
                    <a:cubicBezTo>
                      <a:pt x="145" y="1"/>
                      <a:pt x="115" y="0"/>
                      <a:pt x="87" y="10"/>
                    </a:cubicBezTo>
                    <a:cubicBezTo>
                      <a:pt x="29" y="31"/>
                      <a:pt x="0" y="96"/>
                      <a:pt x="21" y="153"/>
                    </a:cubicBezTo>
                    <a:cubicBezTo>
                      <a:pt x="32" y="181"/>
                      <a:pt x="52" y="203"/>
                      <a:pt x="79" y="215"/>
                    </a:cubicBezTo>
                    <a:close/>
                    <a:moveTo>
                      <a:pt x="263" y="181"/>
                    </a:moveTo>
                    <a:lnTo>
                      <a:pt x="263" y="181"/>
                    </a:lnTo>
                    <a:cubicBezTo>
                      <a:pt x="264" y="180"/>
                      <a:pt x="263" y="179"/>
                      <a:pt x="264" y="178"/>
                    </a:cubicBezTo>
                    <a:cubicBezTo>
                      <a:pt x="264" y="178"/>
                      <a:pt x="265" y="177"/>
                      <a:pt x="266" y="176"/>
                    </a:cubicBezTo>
                    <a:cubicBezTo>
                      <a:pt x="268" y="176"/>
                      <a:pt x="271" y="176"/>
                      <a:pt x="273" y="177"/>
                    </a:cubicBezTo>
                    <a:cubicBezTo>
                      <a:pt x="352" y="220"/>
                      <a:pt x="352" y="220"/>
                      <a:pt x="352" y="220"/>
                    </a:cubicBezTo>
                    <a:cubicBezTo>
                      <a:pt x="354" y="221"/>
                      <a:pt x="355" y="223"/>
                      <a:pt x="356" y="225"/>
                    </a:cubicBezTo>
                    <a:cubicBezTo>
                      <a:pt x="357" y="228"/>
                      <a:pt x="357" y="230"/>
                      <a:pt x="356" y="233"/>
                    </a:cubicBezTo>
                    <a:cubicBezTo>
                      <a:pt x="355" y="235"/>
                      <a:pt x="353" y="236"/>
                      <a:pt x="350" y="237"/>
                    </a:cubicBezTo>
                    <a:cubicBezTo>
                      <a:pt x="348" y="238"/>
                      <a:pt x="346" y="238"/>
                      <a:pt x="344" y="236"/>
                    </a:cubicBezTo>
                    <a:cubicBezTo>
                      <a:pt x="264" y="194"/>
                      <a:pt x="264" y="194"/>
                      <a:pt x="264" y="194"/>
                    </a:cubicBezTo>
                    <a:cubicBezTo>
                      <a:pt x="261" y="192"/>
                      <a:pt x="260" y="188"/>
                      <a:pt x="260" y="184"/>
                    </a:cubicBezTo>
                    <a:cubicBezTo>
                      <a:pt x="261" y="183"/>
                      <a:pt x="263" y="182"/>
                      <a:pt x="263" y="181"/>
                    </a:cubicBezTo>
                    <a:close/>
                    <a:moveTo>
                      <a:pt x="95" y="32"/>
                    </a:moveTo>
                    <a:lnTo>
                      <a:pt x="95" y="32"/>
                    </a:lnTo>
                    <a:cubicBezTo>
                      <a:pt x="104" y="28"/>
                      <a:pt x="115" y="26"/>
                      <a:pt x="125" y="26"/>
                    </a:cubicBezTo>
                    <a:cubicBezTo>
                      <a:pt x="138" y="26"/>
                      <a:pt x="150" y="29"/>
                      <a:pt x="162" y="34"/>
                    </a:cubicBezTo>
                    <a:cubicBezTo>
                      <a:pt x="184" y="44"/>
                      <a:pt x="199" y="61"/>
                      <a:pt x="208" y="83"/>
                    </a:cubicBezTo>
                    <a:cubicBezTo>
                      <a:pt x="216" y="105"/>
                      <a:pt x="215" y="129"/>
                      <a:pt x="205" y="151"/>
                    </a:cubicBezTo>
                    <a:cubicBezTo>
                      <a:pt x="196" y="172"/>
                      <a:pt x="178" y="188"/>
                      <a:pt x="156" y="197"/>
                    </a:cubicBezTo>
                    <a:cubicBezTo>
                      <a:pt x="111" y="213"/>
                      <a:pt x="61" y="190"/>
                      <a:pt x="43" y="145"/>
                    </a:cubicBezTo>
                    <a:cubicBezTo>
                      <a:pt x="26" y="100"/>
                      <a:pt x="49" y="49"/>
                      <a:pt x="95" y="32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588">
                  <a:solidFill>
                    <a:schemeClr val="bg1"/>
                  </a:solidFill>
                </a:endParaRPr>
              </a:p>
            </p:txBody>
          </p:sp>
          <p:sp>
            <p:nvSpPr>
              <p:cNvPr id="105" name="Freeform 148"/>
              <p:cNvSpPr>
                <a:spLocks noChangeArrowheads="1"/>
              </p:cNvSpPr>
              <p:nvPr/>
            </p:nvSpPr>
            <p:spPr bwMode="auto">
              <a:xfrm>
                <a:off x="2502097" y="4008913"/>
                <a:ext cx="35194" cy="35192"/>
              </a:xfrm>
              <a:custGeom>
                <a:avLst/>
                <a:gdLst>
                  <a:gd name="T0" fmla="*/ 41 w 83"/>
                  <a:gd name="T1" fmla="*/ 82 h 83"/>
                  <a:gd name="T2" fmla="*/ 41 w 83"/>
                  <a:gd name="T3" fmla="*/ 82 h 83"/>
                  <a:gd name="T4" fmla="*/ 82 w 83"/>
                  <a:gd name="T5" fmla="*/ 40 h 83"/>
                  <a:gd name="T6" fmla="*/ 41 w 83"/>
                  <a:gd name="T7" fmla="*/ 0 h 83"/>
                  <a:gd name="T8" fmla="*/ 0 w 83"/>
                  <a:gd name="T9" fmla="*/ 40 h 83"/>
                  <a:gd name="T10" fmla="*/ 41 w 83"/>
                  <a:gd name="T11" fmla="*/ 82 h 83"/>
                  <a:gd name="T12" fmla="*/ 41 w 83"/>
                  <a:gd name="T13" fmla="*/ 23 h 83"/>
                  <a:gd name="T14" fmla="*/ 41 w 83"/>
                  <a:gd name="T15" fmla="*/ 23 h 83"/>
                  <a:gd name="T16" fmla="*/ 59 w 83"/>
                  <a:gd name="T17" fmla="*/ 40 h 83"/>
                  <a:gd name="T18" fmla="*/ 41 w 83"/>
                  <a:gd name="T19" fmla="*/ 58 h 83"/>
                  <a:gd name="T20" fmla="*/ 23 w 83"/>
                  <a:gd name="T21" fmla="*/ 40 h 83"/>
                  <a:gd name="T22" fmla="*/ 41 w 83"/>
                  <a:gd name="T23" fmla="*/ 2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3" h="83">
                    <a:moveTo>
                      <a:pt x="41" y="82"/>
                    </a:moveTo>
                    <a:lnTo>
                      <a:pt x="41" y="82"/>
                    </a:lnTo>
                    <a:cubicBezTo>
                      <a:pt x="64" y="82"/>
                      <a:pt x="82" y="63"/>
                      <a:pt x="82" y="40"/>
                    </a:cubicBezTo>
                    <a:cubicBezTo>
                      <a:pt x="82" y="19"/>
                      <a:pt x="64" y="0"/>
                      <a:pt x="41" y="0"/>
                    </a:cubicBezTo>
                    <a:cubicBezTo>
                      <a:pt x="19" y="0"/>
                      <a:pt x="0" y="19"/>
                      <a:pt x="0" y="40"/>
                    </a:cubicBezTo>
                    <a:cubicBezTo>
                      <a:pt x="0" y="63"/>
                      <a:pt x="19" y="82"/>
                      <a:pt x="41" y="82"/>
                    </a:cubicBezTo>
                    <a:close/>
                    <a:moveTo>
                      <a:pt x="41" y="23"/>
                    </a:moveTo>
                    <a:lnTo>
                      <a:pt x="41" y="23"/>
                    </a:lnTo>
                    <a:cubicBezTo>
                      <a:pt x="50" y="23"/>
                      <a:pt x="59" y="31"/>
                      <a:pt x="59" y="40"/>
                    </a:cubicBezTo>
                    <a:cubicBezTo>
                      <a:pt x="59" y="51"/>
                      <a:pt x="50" y="58"/>
                      <a:pt x="41" y="58"/>
                    </a:cubicBezTo>
                    <a:cubicBezTo>
                      <a:pt x="32" y="58"/>
                      <a:pt x="23" y="51"/>
                      <a:pt x="23" y="40"/>
                    </a:cubicBezTo>
                    <a:cubicBezTo>
                      <a:pt x="23" y="31"/>
                      <a:pt x="32" y="23"/>
                      <a:pt x="41" y="23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588">
                  <a:solidFill>
                    <a:schemeClr val="bg1"/>
                  </a:solidFill>
                </a:endParaRPr>
              </a:p>
            </p:txBody>
          </p:sp>
          <p:sp>
            <p:nvSpPr>
              <p:cNvPr id="106" name="Freeform 149"/>
              <p:cNvSpPr>
                <a:spLocks noChangeArrowheads="1"/>
              </p:cNvSpPr>
              <p:nvPr/>
            </p:nvSpPr>
            <p:spPr bwMode="auto">
              <a:xfrm>
                <a:off x="2279826" y="3805164"/>
                <a:ext cx="290806" cy="275986"/>
              </a:xfrm>
              <a:custGeom>
                <a:avLst/>
                <a:gdLst>
                  <a:gd name="T0" fmla="*/ 28 w 693"/>
                  <a:gd name="T1" fmla="*/ 618 h 656"/>
                  <a:gd name="T2" fmla="*/ 121 w 693"/>
                  <a:gd name="T3" fmla="*/ 655 h 656"/>
                  <a:gd name="T4" fmla="*/ 596 w 693"/>
                  <a:gd name="T5" fmla="*/ 653 h 656"/>
                  <a:gd name="T6" fmla="*/ 611 w 693"/>
                  <a:gd name="T7" fmla="*/ 650 h 656"/>
                  <a:gd name="T8" fmla="*/ 625 w 693"/>
                  <a:gd name="T9" fmla="*/ 644 h 656"/>
                  <a:gd name="T10" fmla="*/ 641 w 693"/>
                  <a:gd name="T11" fmla="*/ 637 h 656"/>
                  <a:gd name="T12" fmla="*/ 656 w 693"/>
                  <a:gd name="T13" fmla="*/ 627 h 656"/>
                  <a:gd name="T14" fmla="*/ 666 w 693"/>
                  <a:gd name="T15" fmla="*/ 618 h 656"/>
                  <a:gd name="T16" fmla="*/ 674 w 693"/>
                  <a:gd name="T17" fmla="*/ 607 h 656"/>
                  <a:gd name="T18" fmla="*/ 689 w 693"/>
                  <a:gd name="T19" fmla="*/ 527 h 656"/>
                  <a:gd name="T20" fmla="*/ 689 w 693"/>
                  <a:gd name="T21" fmla="*/ 525 h 656"/>
                  <a:gd name="T22" fmla="*/ 634 w 693"/>
                  <a:gd name="T23" fmla="*/ 95 h 656"/>
                  <a:gd name="T24" fmla="*/ 167 w 693"/>
                  <a:gd name="T25" fmla="*/ 0 h 656"/>
                  <a:gd name="T26" fmla="*/ 5 w 693"/>
                  <a:gd name="T27" fmla="*/ 518 h 656"/>
                  <a:gd name="T28" fmla="*/ 4 w 693"/>
                  <a:gd name="T29" fmla="*/ 527 h 656"/>
                  <a:gd name="T30" fmla="*/ 28 w 693"/>
                  <a:gd name="T31" fmla="*/ 618 h 656"/>
                  <a:gd name="T32" fmla="*/ 82 w 693"/>
                  <a:gd name="T33" fmla="*/ 98 h 656"/>
                  <a:gd name="T34" fmla="*/ 526 w 693"/>
                  <a:gd name="T35" fmla="*/ 23 h 656"/>
                  <a:gd name="T36" fmla="*/ 658 w 693"/>
                  <a:gd name="T37" fmla="*/ 466 h 656"/>
                  <a:gd name="T38" fmla="*/ 121 w 693"/>
                  <a:gd name="T39" fmla="*/ 436 h 656"/>
                  <a:gd name="T40" fmla="*/ 82 w 693"/>
                  <a:gd name="T41" fmla="*/ 98 h 656"/>
                  <a:gd name="T42" fmla="*/ 28 w 693"/>
                  <a:gd name="T43" fmla="*/ 528 h 656"/>
                  <a:gd name="T44" fmla="*/ 572 w 693"/>
                  <a:gd name="T45" fmla="*/ 460 h 656"/>
                  <a:gd name="T46" fmla="*/ 651 w 693"/>
                  <a:gd name="T47" fmla="*/ 599 h 656"/>
                  <a:gd name="T48" fmla="*/ 641 w 693"/>
                  <a:gd name="T49" fmla="*/ 609 h 656"/>
                  <a:gd name="T50" fmla="*/ 628 w 693"/>
                  <a:gd name="T51" fmla="*/ 617 h 656"/>
                  <a:gd name="T52" fmla="*/ 616 w 693"/>
                  <a:gd name="T53" fmla="*/ 624 h 656"/>
                  <a:gd name="T54" fmla="*/ 602 w 693"/>
                  <a:gd name="T55" fmla="*/ 628 h 656"/>
                  <a:gd name="T56" fmla="*/ 591 w 693"/>
                  <a:gd name="T57" fmla="*/ 630 h 656"/>
                  <a:gd name="T58" fmla="*/ 581 w 693"/>
                  <a:gd name="T59" fmla="*/ 631 h 656"/>
                  <a:gd name="T60" fmla="*/ 572 w 693"/>
                  <a:gd name="T61" fmla="*/ 631 h 656"/>
                  <a:gd name="T62" fmla="*/ 44 w 693"/>
                  <a:gd name="T63" fmla="*/ 603 h 6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693" h="656">
                    <a:moveTo>
                      <a:pt x="28" y="618"/>
                    </a:moveTo>
                    <a:lnTo>
                      <a:pt x="28" y="618"/>
                    </a:lnTo>
                    <a:cubicBezTo>
                      <a:pt x="59" y="653"/>
                      <a:pt x="108" y="655"/>
                      <a:pt x="119" y="655"/>
                    </a:cubicBezTo>
                    <a:cubicBezTo>
                      <a:pt x="120" y="655"/>
                      <a:pt x="121" y="655"/>
                      <a:pt x="121" y="655"/>
                    </a:cubicBezTo>
                    <a:cubicBezTo>
                      <a:pt x="572" y="655"/>
                      <a:pt x="572" y="655"/>
                      <a:pt x="572" y="655"/>
                    </a:cubicBezTo>
                    <a:cubicBezTo>
                      <a:pt x="573" y="655"/>
                      <a:pt x="582" y="655"/>
                      <a:pt x="596" y="653"/>
                    </a:cubicBezTo>
                    <a:cubicBezTo>
                      <a:pt x="597" y="653"/>
                      <a:pt x="597" y="653"/>
                      <a:pt x="597" y="653"/>
                    </a:cubicBezTo>
                    <a:cubicBezTo>
                      <a:pt x="601" y="652"/>
                      <a:pt x="605" y="651"/>
                      <a:pt x="611" y="650"/>
                    </a:cubicBezTo>
                    <a:cubicBezTo>
                      <a:pt x="612" y="650"/>
                      <a:pt x="613" y="648"/>
                      <a:pt x="614" y="648"/>
                    </a:cubicBezTo>
                    <a:cubicBezTo>
                      <a:pt x="618" y="647"/>
                      <a:pt x="621" y="646"/>
                      <a:pt x="625" y="644"/>
                    </a:cubicBezTo>
                    <a:cubicBezTo>
                      <a:pt x="627" y="644"/>
                      <a:pt x="629" y="643"/>
                      <a:pt x="631" y="642"/>
                    </a:cubicBezTo>
                    <a:cubicBezTo>
                      <a:pt x="634" y="641"/>
                      <a:pt x="638" y="639"/>
                      <a:pt x="641" y="637"/>
                    </a:cubicBezTo>
                    <a:cubicBezTo>
                      <a:pt x="643" y="636"/>
                      <a:pt x="645" y="635"/>
                      <a:pt x="647" y="633"/>
                    </a:cubicBezTo>
                    <a:cubicBezTo>
                      <a:pt x="650" y="631"/>
                      <a:pt x="653" y="629"/>
                      <a:pt x="656" y="627"/>
                    </a:cubicBezTo>
                    <a:cubicBezTo>
                      <a:pt x="658" y="625"/>
                      <a:pt x="661" y="622"/>
                      <a:pt x="663" y="620"/>
                    </a:cubicBezTo>
                    <a:cubicBezTo>
                      <a:pt x="664" y="619"/>
                      <a:pt x="665" y="619"/>
                      <a:pt x="666" y="618"/>
                    </a:cubicBezTo>
                    <a:cubicBezTo>
                      <a:pt x="667" y="616"/>
                      <a:pt x="668" y="614"/>
                      <a:pt x="669" y="613"/>
                    </a:cubicBezTo>
                    <a:cubicBezTo>
                      <a:pt x="671" y="611"/>
                      <a:pt x="672" y="609"/>
                      <a:pt x="674" y="607"/>
                    </a:cubicBezTo>
                    <a:cubicBezTo>
                      <a:pt x="674" y="607"/>
                      <a:pt x="674" y="606"/>
                      <a:pt x="674" y="605"/>
                    </a:cubicBezTo>
                    <a:cubicBezTo>
                      <a:pt x="688" y="584"/>
                      <a:pt x="692" y="558"/>
                      <a:pt x="689" y="527"/>
                    </a:cubicBezTo>
                    <a:cubicBezTo>
                      <a:pt x="689" y="527"/>
                      <a:pt x="690" y="527"/>
                      <a:pt x="690" y="526"/>
                    </a:cubicBezTo>
                    <a:cubicBezTo>
                      <a:pt x="689" y="526"/>
                      <a:pt x="689" y="525"/>
                      <a:pt x="689" y="525"/>
                    </a:cubicBezTo>
                    <a:cubicBezTo>
                      <a:pt x="689" y="522"/>
                      <a:pt x="689" y="520"/>
                      <a:pt x="689" y="518"/>
                    </a:cubicBezTo>
                    <a:cubicBezTo>
                      <a:pt x="634" y="95"/>
                      <a:pt x="634" y="95"/>
                      <a:pt x="634" y="95"/>
                    </a:cubicBezTo>
                    <a:cubicBezTo>
                      <a:pt x="627" y="40"/>
                      <a:pt x="580" y="0"/>
                      <a:pt x="526" y="0"/>
                    </a:cubicBezTo>
                    <a:cubicBezTo>
                      <a:pt x="167" y="0"/>
                      <a:pt x="167" y="0"/>
                      <a:pt x="167" y="0"/>
                    </a:cubicBezTo>
                    <a:cubicBezTo>
                      <a:pt x="113" y="0"/>
                      <a:pt x="66" y="40"/>
                      <a:pt x="59" y="95"/>
                    </a:cubicBezTo>
                    <a:cubicBezTo>
                      <a:pt x="5" y="518"/>
                      <a:pt x="5" y="518"/>
                      <a:pt x="5" y="518"/>
                    </a:cubicBezTo>
                    <a:cubicBezTo>
                      <a:pt x="5" y="520"/>
                      <a:pt x="5" y="522"/>
                      <a:pt x="5" y="525"/>
                    </a:cubicBezTo>
                    <a:cubicBezTo>
                      <a:pt x="5" y="525"/>
                      <a:pt x="4" y="526"/>
                      <a:pt x="4" y="527"/>
                    </a:cubicBezTo>
                    <a:cubicBezTo>
                      <a:pt x="4" y="527"/>
                      <a:pt x="5" y="527"/>
                      <a:pt x="5" y="528"/>
                    </a:cubicBezTo>
                    <a:cubicBezTo>
                      <a:pt x="0" y="565"/>
                      <a:pt x="8" y="595"/>
                      <a:pt x="28" y="618"/>
                    </a:cubicBezTo>
                    <a:close/>
                    <a:moveTo>
                      <a:pt x="82" y="98"/>
                    </a:moveTo>
                    <a:lnTo>
                      <a:pt x="82" y="98"/>
                    </a:lnTo>
                    <a:cubicBezTo>
                      <a:pt x="88" y="55"/>
                      <a:pt x="124" y="23"/>
                      <a:pt x="167" y="23"/>
                    </a:cubicBezTo>
                    <a:cubicBezTo>
                      <a:pt x="526" y="23"/>
                      <a:pt x="526" y="23"/>
                      <a:pt x="526" y="23"/>
                    </a:cubicBezTo>
                    <a:cubicBezTo>
                      <a:pt x="569" y="23"/>
                      <a:pt x="605" y="55"/>
                      <a:pt x="612" y="98"/>
                    </a:cubicBezTo>
                    <a:cubicBezTo>
                      <a:pt x="658" y="466"/>
                      <a:pt x="658" y="466"/>
                      <a:pt x="658" y="466"/>
                    </a:cubicBezTo>
                    <a:cubicBezTo>
                      <a:pt x="631" y="442"/>
                      <a:pt x="595" y="436"/>
                      <a:pt x="572" y="436"/>
                    </a:cubicBezTo>
                    <a:cubicBezTo>
                      <a:pt x="121" y="436"/>
                      <a:pt x="121" y="436"/>
                      <a:pt x="121" y="436"/>
                    </a:cubicBezTo>
                    <a:cubicBezTo>
                      <a:pt x="98" y="436"/>
                      <a:pt x="62" y="442"/>
                      <a:pt x="35" y="466"/>
                    </a:cubicBezTo>
                    <a:lnTo>
                      <a:pt x="82" y="98"/>
                    </a:lnTo>
                    <a:close/>
                    <a:moveTo>
                      <a:pt x="28" y="528"/>
                    </a:moveTo>
                    <a:lnTo>
                      <a:pt x="28" y="528"/>
                    </a:lnTo>
                    <a:cubicBezTo>
                      <a:pt x="38" y="458"/>
                      <a:pt x="117" y="459"/>
                      <a:pt x="121" y="460"/>
                    </a:cubicBezTo>
                    <a:cubicBezTo>
                      <a:pt x="572" y="460"/>
                      <a:pt x="572" y="460"/>
                      <a:pt x="572" y="460"/>
                    </a:cubicBezTo>
                    <a:cubicBezTo>
                      <a:pt x="576" y="459"/>
                      <a:pt x="655" y="458"/>
                      <a:pt x="666" y="528"/>
                    </a:cubicBezTo>
                    <a:cubicBezTo>
                      <a:pt x="669" y="558"/>
                      <a:pt x="665" y="582"/>
                      <a:pt x="651" y="599"/>
                    </a:cubicBezTo>
                    <a:cubicBezTo>
                      <a:pt x="649" y="601"/>
                      <a:pt x="647" y="603"/>
                      <a:pt x="646" y="605"/>
                    </a:cubicBezTo>
                    <a:cubicBezTo>
                      <a:pt x="644" y="607"/>
                      <a:pt x="643" y="608"/>
                      <a:pt x="641" y="609"/>
                    </a:cubicBezTo>
                    <a:cubicBezTo>
                      <a:pt x="639" y="611"/>
                      <a:pt x="636" y="613"/>
                      <a:pt x="633" y="614"/>
                    </a:cubicBezTo>
                    <a:cubicBezTo>
                      <a:pt x="631" y="615"/>
                      <a:pt x="630" y="616"/>
                      <a:pt x="628" y="617"/>
                    </a:cubicBezTo>
                    <a:cubicBezTo>
                      <a:pt x="626" y="619"/>
                      <a:pt x="623" y="620"/>
                      <a:pt x="620" y="621"/>
                    </a:cubicBezTo>
                    <a:cubicBezTo>
                      <a:pt x="619" y="622"/>
                      <a:pt x="617" y="624"/>
                      <a:pt x="616" y="624"/>
                    </a:cubicBezTo>
                    <a:cubicBezTo>
                      <a:pt x="613" y="625"/>
                      <a:pt x="609" y="626"/>
                      <a:pt x="607" y="627"/>
                    </a:cubicBezTo>
                    <a:cubicBezTo>
                      <a:pt x="605" y="627"/>
                      <a:pt x="604" y="628"/>
                      <a:pt x="602" y="628"/>
                    </a:cubicBezTo>
                    <a:cubicBezTo>
                      <a:pt x="600" y="628"/>
                      <a:pt x="597" y="629"/>
                      <a:pt x="595" y="629"/>
                    </a:cubicBezTo>
                    <a:cubicBezTo>
                      <a:pt x="594" y="630"/>
                      <a:pt x="592" y="630"/>
                      <a:pt x="591" y="630"/>
                    </a:cubicBezTo>
                    <a:cubicBezTo>
                      <a:pt x="589" y="630"/>
                      <a:pt x="587" y="631"/>
                      <a:pt x="585" y="631"/>
                    </a:cubicBezTo>
                    <a:cubicBezTo>
                      <a:pt x="583" y="631"/>
                      <a:pt x="582" y="631"/>
                      <a:pt x="581" y="631"/>
                    </a:cubicBezTo>
                    <a:cubicBezTo>
                      <a:pt x="579" y="631"/>
                      <a:pt x="578" y="631"/>
                      <a:pt x="577" y="631"/>
                    </a:cubicBezTo>
                    <a:cubicBezTo>
                      <a:pt x="574" y="631"/>
                      <a:pt x="572" y="631"/>
                      <a:pt x="572" y="631"/>
                    </a:cubicBezTo>
                    <a:cubicBezTo>
                      <a:pt x="120" y="631"/>
                      <a:pt x="120" y="631"/>
                      <a:pt x="120" y="631"/>
                    </a:cubicBezTo>
                    <a:cubicBezTo>
                      <a:pt x="120" y="631"/>
                      <a:pt x="72" y="633"/>
                      <a:pt x="44" y="603"/>
                    </a:cubicBezTo>
                    <a:cubicBezTo>
                      <a:pt x="30" y="585"/>
                      <a:pt x="23" y="560"/>
                      <a:pt x="28" y="528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588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03" name="Picture 143"/>
            <p:cNvPicPr>
              <a:picLocks noChangeAspect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74218" y="4435193"/>
              <a:ext cx="570727" cy="570727"/>
            </a:xfrm>
            <a:prstGeom prst="rect">
              <a:avLst/>
            </a:prstGeom>
          </p:spPr>
        </p:pic>
      </p:grpSp>
      <p:grpSp>
        <p:nvGrpSpPr>
          <p:cNvPr id="110" name="그룹 109"/>
          <p:cNvGrpSpPr/>
          <p:nvPr/>
        </p:nvGrpSpPr>
        <p:grpSpPr>
          <a:xfrm>
            <a:off x="6576272" y="2322700"/>
            <a:ext cx="2861942" cy="2859391"/>
            <a:chOff x="6389652" y="2285376"/>
            <a:chExt cx="2861942" cy="2859391"/>
          </a:xfrm>
        </p:grpSpPr>
        <p:sp>
          <p:nvSpPr>
            <p:cNvPr id="111" name="Shape 276"/>
            <p:cNvSpPr/>
            <p:nvPr/>
          </p:nvSpPr>
          <p:spPr>
            <a:xfrm>
              <a:off x="6459549" y="2392172"/>
              <a:ext cx="2718649" cy="27186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1965BD"/>
            </a:solidFill>
            <a:ln w="12700">
              <a:miter lim="400000"/>
            </a:ln>
            <a:effectLst>
              <a:outerShdw blurRad="38100" dist="12700" dir="5400000" algn="ctr" rotWithShape="0">
                <a:srgbClr val="000000">
                  <a:alpha val="3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 anchor="ctr"/>
            <a:lstStyle/>
            <a:p>
              <a:pPr algn="ctr">
                <a:lnSpc>
                  <a:spcPct val="120000"/>
                </a:lnSpc>
              </a:pPr>
              <a:endParaRPr sz="5867" dirty="0">
                <a:solidFill>
                  <a:srgbClr val="FFFFFF"/>
                </a:solidFill>
                <a:ea typeface="helium"/>
                <a:cs typeface="et-line"/>
              </a:endParaRPr>
            </a:p>
          </p:txBody>
        </p:sp>
        <p:grpSp>
          <p:nvGrpSpPr>
            <p:cNvPr id="112" name="Group 55"/>
            <p:cNvGrpSpPr/>
            <p:nvPr/>
          </p:nvGrpSpPr>
          <p:grpSpPr>
            <a:xfrm>
              <a:off x="6389652" y="2285376"/>
              <a:ext cx="2861942" cy="2859391"/>
              <a:chOff x="6389652" y="2285376"/>
              <a:chExt cx="2861942" cy="2859391"/>
            </a:xfrm>
          </p:grpSpPr>
          <p:sp>
            <p:nvSpPr>
              <p:cNvPr id="114" name="Block Arc 56"/>
              <p:cNvSpPr/>
              <p:nvPr/>
            </p:nvSpPr>
            <p:spPr>
              <a:xfrm flipV="1">
                <a:off x="6392196" y="2285376"/>
                <a:ext cx="2859397" cy="2859391"/>
              </a:xfrm>
              <a:prstGeom prst="blockArc">
                <a:avLst>
                  <a:gd name="adj1" fmla="val 10800000"/>
                  <a:gd name="adj2" fmla="val 39393"/>
                  <a:gd name="adj3" fmla="val 9996"/>
                </a:avLst>
              </a:prstGeom>
              <a:solidFill>
                <a:srgbClr val="7C9CA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5" name="Freeform 57"/>
              <p:cNvSpPr/>
              <p:nvPr/>
            </p:nvSpPr>
            <p:spPr>
              <a:xfrm rot="10800000">
                <a:off x="6392197" y="2325775"/>
                <a:ext cx="2859397" cy="1609667"/>
              </a:xfrm>
              <a:custGeom>
                <a:avLst/>
                <a:gdLst>
                  <a:gd name="connsiteX0" fmla="*/ 1114019 w 2240876"/>
                  <a:gd name="connsiteY0" fmla="*/ 1261462 h 1261480"/>
                  <a:gd name="connsiteX1" fmla="*/ 552823 w 2240876"/>
                  <a:gd name="connsiteY1" fmla="*/ 1107062 h 1261480"/>
                  <a:gd name="connsiteX2" fmla="*/ 8293 w 2240876"/>
                  <a:gd name="connsiteY2" fmla="*/ 277274 h 1261480"/>
                  <a:gd name="connsiteX3" fmla="*/ 274 w 2240876"/>
                  <a:gd name="connsiteY3" fmla="*/ 131830 h 1261480"/>
                  <a:gd name="connsiteX4" fmla="*/ 0 w 2240876"/>
                  <a:gd name="connsiteY4" fmla="*/ 131830 h 1261480"/>
                  <a:gd name="connsiteX5" fmla="*/ 258 w 2240876"/>
                  <a:gd name="connsiteY5" fmla="*/ 131531 h 1261480"/>
                  <a:gd name="connsiteX6" fmla="*/ 74 w 2240876"/>
                  <a:gd name="connsiteY6" fmla="*/ 128203 h 1261480"/>
                  <a:gd name="connsiteX7" fmla="*/ 3089 w 2240876"/>
                  <a:gd name="connsiteY7" fmla="*/ 128238 h 1261480"/>
                  <a:gd name="connsiteX8" fmla="*/ 113361 w 2240876"/>
                  <a:gd name="connsiteY8" fmla="*/ 0 h 1261480"/>
                  <a:gd name="connsiteX9" fmla="*/ 226721 w 2240876"/>
                  <a:gd name="connsiteY9" fmla="*/ 131830 h 1261480"/>
                  <a:gd name="connsiteX10" fmla="*/ 224116 w 2240876"/>
                  <a:gd name="connsiteY10" fmla="*/ 131830 h 1261480"/>
                  <a:gd name="connsiteX11" fmla="*/ 230633 w 2240876"/>
                  <a:gd name="connsiteY11" fmla="*/ 250039 h 1261480"/>
                  <a:gd name="connsiteX12" fmla="*/ 666301 w 2240876"/>
                  <a:gd name="connsiteY12" fmla="*/ 913935 h 1261480"/>
                  <a:gd name="connsiteX13" fmla="*/ 1565690 w 2240876"/>
                  <a:gd name="connsiteY13" fmla="*/ 919088 h 1261480"/>
                  <a:gd name="connsiteX14" fmla="*/ 2016879 w 2240876"/>
                  <a:gd name="connsiteY14" fmla="*/ 141042 h 1261480"/>
                  <a:gd name="connsiteX15" fmla="*/ 2240876 w 2240876"/>
                  <a:gd name="connsiteY15" fmla="*/ 141042 h 1261480"/>
                  <a:gd name="connsiteX16" fmla="*/ 1676947 w 2240876"/>
                  <a:gd name="connsiteY16" fmla="*/ 1113503 h 1261480"/>
                  <a:gd name="connsiteX17" fmla="*/ 1114019 w 2240876"/>
                  <a:gd name="connsiteY17" fmla="*/ 1261462 h 1261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240876" h="1261480">
                    <a:moveTo>
                      <a:pt x="1114019" y="1261462"/>
                    </a:moveTo>
                    <a:cubicBezTo>
                      <a:pt x="919888" y="1260350"/>
                      <a:pt x="726045" y="1208844"/>
                      <a:pt x="552823" y="1107062"/>
                    </a:cubicBezTo>
                    <a:cubicBezTo>
                      <a:pt x="249685" y="928944"/>
                      <a:pt x="50314" y="620719"/>
                      <a:pt x="8293" y="277274"/>
                    </a:cubicBezTo>
                    <a:lnTo>
                      <a:pt x="274" y="131830"/>
                    </a:lnTo>
                    <a:lnTo>
                      <a:pt x="0" y="131830"/>
                    </a:lnTo>
                    <a:lnTo>
                      <a:pt x="258" y="131531"/>
                    </a:lnTo>
                    <a:lnTo>
                      <a:pt x="74" y="128203"/>
                    </a:lnTo>
                    <a:lnTo>
                      <a:pt x="3089" y="128238"/>
                    </a:lnTo>
                    <a:lnTo>
                      <a:pt x="113361" y="0"/>
                    </a:lnTo>
                    <a:lnTo>
                      <a:pt x="226721" y="131830"/>
                    </a:lnTo>
                    <a:lnTo>
                      <a:pt x="224116" y="131830"/>
                    </a:lnTo>
                    <a:lnTo>
                      <a:pt x="230633" y="250039"/>
                    </a:lnTo>
                    <a:cubicBezTo>
                      <a:pt x="264254" y="524823"/>
                      <a:pt x="423765" y="771426"/>
                      <a:pt x="666301" y="913935"/>
                    </a:cubicBezTo>
                    <a:cubicBezTo>
                      <a:pt x="943484" y="1076803"/>
                      <a:pt x="1286659" y="1078769"/>
                      <a:pt x="1565690" y="919088"/>
                    </a:cubicBezTo>
                    <a:cubicBezTo>
                      <a:pt x="1844721" y="759407"/>
                      <a:pt x="2016879" y="462533"/>
                      <a:pt x="2016879" y="141042"/>
                    </a:cubicBezTo>
                    <a:lnTo>
                      <a:pt x="2240876" y="141042"/>
                    </a:lnTo>
                    <a:cubicBezTo>
                      <a:pt x="2240876" y="542865"/>
                      <a:pt x="2025701" y="913922"/>
                      <a:pt x="1676947" y="1113503"/>
                    </a:cubicBezTo>
                    <a:cubicBezTo>
                      <a:pt x="1502570" y="1213294"/>
                      <a:pt x="1308150" y="1262574"/>
                      <a:pt x="1114019" y="1261462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3200">
                    <a:solidFill>
                      <a:srgbClr val="FFFFFF"/>
                    </a:solidFill>
                  </a:defRPr>
                </a:pPr>
                <a:endParaRPr sz="2800">
                  <a:latin typeface="Roboto Light" charset="0"/>
                  <a:ea typeface="Roboto Light" charset="0"/>
                  <a:cs typeface="Roboto Light" charset="0"/>
                </a:endParaRPr>
              </a:p>
            </p:txBody>
          </p:sp>
          <p:sp>
            <p:nvSpPr>
              <p:cNvPr id="116" name="Freeform 58"/>
              <p:cNvSpPr/>
              <p:nvPr/>
            </p:nvSpPr>
            <p:spPr>
              <a:xfrm>
                <a:off x="6389652" y="3510974"/>
                <a:ext cx="2852954" cy="1609665"/>
              </a:xfrm>
              <a:custGeom>
                <a:avLst/>
                <a:gdLst>
                  <a:gd name="connsiteX0" fmla="*/ 1114019 w 2240876"/>
                  <a:gd name="connsiteY0" fmla="*/ 1261462 h 1261480"/>
                  <a:gd name="connsiteX1" fmla="*/ 552823 w 2240876"/>
                  <a:gd name="connsiteY1" fmla="*/ 1107062 h 1261480"/>
                  <a:gd name="connsiteX2" fmla="*/ 8293 w 2240876"/>
                  <a:gd name="connsiteY2" fmla="*/ 277274 h 1261480"/>
                  <a:gd name="connsiteX3" fmla="*/ 274 w 2240876"/>
                  <a:gd name="connsiteY3" fmla="*/ 131830 h 1261480"/>
                  <a:gd name="connsiteX4" fmla="*/ 0 w 2240876"/>
                  <a:gd name="connsiteY4" fmla="*/ 131830 h 1261480"/>
                  <a:gd name="connsiteX5" fmla="*/ 258 w 2240876"/>
                  <a:gd name="connsiteY5" fmla="*/ 131531 h 1261480"/>
                  <a:gd name="connsiteX6" fmla="*/ 74 w 2240876"/>
                  <a:gd name="connsiteY6" fmla="*/ 128203 h 1261480"/>
                  <a:gd name="connsiteX7" fmla="*/ 3089 w 2240876"/>
                  <a:gd name="connsiteY7" fmla="*/ 128238 h 1261480"/>
                  <a:gd name="connsiteX8" fmla="*/ 113361 w 2240876"/>
                  <a:gd name="connsiteY8" fmla="*/ 0 h 1261480"/>
                  <a:gd name="connsiteX9" fmla="*/ 226721 w 2240876"/>
                  <a:gd name="connsiteY9" fmla="*/ 131830 h 1261480"/>
                  <a:gd name="connsiteX10" fmla="*/ 224116 w 2240876"/>
                  <a:gd name="connsiteY10" fmla="*/ 131830 h 1261480"/>
                  <a:gd name="connsiteX11" fmla="*/ 230633 w 2240876"/>
                  <a:gd name="connsiteY11" fmla="*/ 250039 h 1261480"/>
                  <a:gd name="connsiteX12" fmla="*/ 666301 w 2240876"/>
                  <a:gd name="connsiteY12" fmla="*/ 913935 h 1261480"/>
                  <a:gd name="connsiteX13" fmla="*/ 1565690 w 2240876"/>
                  <a:gd name="connsiteY13" fmla="*/ 919088 h 1261480"/>
                  <a:gd name="connsiteX14" fmla="*/ 2016879 w 2240876"/>
                  <a:gd name="connsiteY14" fmla="*/ 141042 h 1261480"/>
                  <a:gd name="connsiteX15" fmla="*/ 2240876 w 2240876"/>
                  <a:gd name="connsiteY15" fmla="*/ 141042 h 1261480"/>
                  <a:gd name="connsiteX16" fmla="*/ 1676947 w 2240876"/>
                  <a:gd name="connsiteY16" fmla="*/ 1113503 h 1261480"/>
                  <a:gd name="connsiteX17" fmla="*/ 1114019 w 2240876"/>
                  <a:gd name="connsiteY17" fmla="*/ 1261462 h 1261480"/>
                  <a:gd name="connsiteX0" fmla="*/ 1114019 w 2240876"/>
                  <a:gd name="connsiteY0" fmla="*/ 1261462 h 1261480"/>
                  <a:gd name="connsiteX1" fmla="*/ 552823 w 2240876"/>
                  <a:gd name="connsiteY1" fmla="*/ 1107062 h 1261480"/>
                  <a:gd name="connsiteX2" fmla="*/ 8293 w 2240876"/>
                  <a:gd name="connsiteY2" fmla="*/ 277274 h 1261480"/>
                  <a:gd name="connsiteX3" fmla="*/ 274 w 2240876"/>
                  <a:gd name="connsiteY3" fmla="*/ 131830 h 1261480"/>
                  <a:gd name="connsiteX4" fmla="*/ 0 w 2240876"/>
                  <a:gd name="connsiteY4" fmla="*/ 131830 h 1261480"/>
                  <a:gd name="connsiteX5" fmla="*/ 258 w 2240876"/>
                  <a:gd name="connsiteY5" fmla="*/ 131531 h 1261480"/>
                  <a:gd name="connsiteX6" fmla="*/ 74 w 2240876"/>
                  <a:gd name="connsiteY6" fmla="*/ 128203 h 1261480"/>
                  <a:gd name="connsiteX7" fmla="*/ 3089 w 2240876"/>
                  <a:gd name="connsiteY7" fmla="*/ 128238 h 1261480"/>
                  <a:gd name="connsiteX8" fmla="*/ 113361 w 2240876"/>
                  <a:gd name="connsiteY8" fmla="*/ 0 h 1261480"/>
                  <a:gd name="connsiteX9" fmla="*/ 226721 w 2240876"/>
                  <a:gd name="connsiteY9" fmla="*/ 131830 h 1261480"/>
                  <a:gd name="connsiteX10" fmla="*/ 224116 w 2240876"/>
                  <a:gd name="connsiteY10" fmla="*/ 131830 h 1261480"/>
                  <a:gd name="connsiteX11" fmla="*/ 230633 w 2240876"/>
                  <a:gd name="connsiteY11" fmla="*/ 250039 h 1261480"/>
                  <a:gd name="connsiteX12" fmla="*/ 666301 w 2240876"/>
                  <a:gd name="connsiteY12" fmla="*/ 913935 h 1261480"/>
                  <a:gd name="connsiteX13" fmla="*/ 1565690 w 2240876"/>
                  <a:gd name="connsiteY13" fmla="*/ 919088 h 1261480"/>
                  <a:gd name="connsiteX14" fmla="*/ 2240876 w 2240876"/>
                  <a:gd name="connsiteY14" fmla="*/ 141042 h 1261480"/>
                  <a:gd name="connsiteX15" fmla="*/ 1676947 w 2240876"/>
                  <a:gd name="connsiteY15" fmla="*/ 1113503 h 1261480"/>
                  <a:gd name="connsiteX16" fmla="*/ 1114019 w 2240876"/>
                  <a:gd name="connsiteY16" fmla="*/ 1261462 h 1261480"/>
                  <a:gd name="connsiteX0" fmla="*/ 1114019 w 2206072"/>
                  <a:gd name="connsiteY0" fmla="*/ 1261462 h 1261480"/>
                  <a:gd name="connsiteX1" fmla="*/ 552823 w 2206072"/>
                  <a:gd name="connsiteY1" fmla="*/ 1107062 h 1261480"/>
                  <a:gd name="connsiteX2" fmla="*/ 8293 w 2206072"/>
                  <a:gd name="connsiteY2" fmla="*/ 277274 h 1261480"/>
                  <a:gd name="connsiteX3" fmla="*/ 274 w 2206072"/>
                  <a:gd name="connsiteY3" fmla="*/ 131830 h 1261480"/>
                  <a:gd name="connsiteX4" fmla="*/ 0 w 2206072"/>
                  <a:gd name="connsiteY4" fmla="*/ 131830 h 1261480"/>
                  <a:gd name="connsiteX5" fmla="*/ 258 w 2206072"/>
                  <a:gd name="connsiteY5" fmla="*/ 131531 h 1261480"/>
                  <a:gd name="connsiteX6" fmla="*/ 74 w 2206072"/>
                  <a:gd name="connsiteY6" fmla="*/ 128203 h 1261480"/>
                  <a:gd name="connsiteX7" fmla="*/ 3089 w 2206072"/>
                  <a:gd name="connsiteY7" fmla="*/ 128238 h 1261480"/>
                  <a:gd name="connsiteX8" fmla="*/ 113361 w 2206072"/>
                  <a:gd name="connsiteY8" fmla="*/ 0 h 1261480"/>
                  <a:gd name="connsiteX9" fmla="*/ 226721 w 2206072"/>
                  <a:gd name="connsiteY9" fmla="*/ 131830 h 1261480"/>
                  <a:gd name="connsiteX10" fmla="*/ 224116 w 2206072"/>
                  <a:gd name="connsiteY10" fmla="*/ 131830 h 1261480"/>
                  <a:gd name="connsiteX11" fmla="*/ 230633 w 2206072"/>
                  <a:gd name="connsiteY11" fmla="*/ 250039 h 1261480"/>
                  <a:gd name="connsiteX12" fmla="*/ 666301 w 2206072"/>
                  <a:gd name="connsiteY12" fmla="*/ 913935 h 1261480"/>
                  <a:gd name="connsiteX13" fmla="*/ 1565690 w 2206072"/>
                  <a:gd name="connsiteY13" fmla="*/ 919088 h 1261480"/>
                  <a:gd name="connsiteX14" fmla="*/ 2206072 w 2206072"/>
                  <a:gd name="connsiteY14" fmla="*/ 221092 h 1261480"/>
                  <a:gd name="connsiteX15" fmla="*/ 1676947 w 2206072"/>
                  <a:gd name="connsiteY15" fmla="*/ 1113503 h 1261480"/>
                  <a:gd name="connsiteX16" fmla="*/ 1114019 w 2206072"/>
                  <a:gd name="connsiteY16" fmla="*/ 1261462 h 1261480"/>
                  <a:gd name="connsiteX0" fmla="*/ 1114019 w 2206072"/>
                  <a:gd name="connsiteY0" fmla="*/ 1261462 h 1261480"/>
                  <a:gd name="connsiteX1" fmla="*/ 552823 w 2206072"/>
                  <a:gd name="connsiteY1" fmla="*/ 1107062 h 1261480"/>
                  <a:gd name="connsiteX2" fmla="*/ 8293 w 2206072"/>
                  <a:gd name="connsiteY2" fmla="*/ 277274 h 1261480"/>
                  <a:gd name="connsiteX3" fmla="*/ 274 w 2206072"/>
                  <a:gd name="connsiteY3" fmla="*/ 131830 h 1261480"/>
                  <a:gd name="connsiteX4" fmla="*/ 0 w 2206072"/>
                  <a:gd name="connsiteY4" fmla="*/ 131830 h 1261480"/>
                  <a:gd name="connsiteX5" fmla="*/ 258 w 2206072"/>
                  <a:gd name="connsiteY5" fmla="*/ 131531 h 1261480"/>
                  <a:gd name="connsiteX6" fmla="*/ 74 w 2206072"/>
                  <a:gd name="connsiteY6" fmla="*/ 128203 h 1261480"/>
                  <a:gd name="connsiteX7" fmla="*/ 3089 w 2206072"/>
                  <a:gd name="connsiteY7" fmla="*/ 128238 h 1261480"/>
                  <a:gd name="connsiteX8" fmla="*/ 113361 w 2206072"/>
                  <a:gd name="connsiteY8" fmla="*/ 0 h 1261480"/>
                  <a:gd name="connsiteX9" fmla="*/ 226721 w 2206072"/>
                  <a:gd name="connsiteY9" fmla="*/ 131830 h 1261480"/>
                  <a:gd name="connsiteX10" fmla="*/ 224116 w 2206072"/>
                  <a:gd name="connsiteY10" fmla="*/ 131830 h 1261480"/>
                  <a:gd name="connsiteX11" fmla="*/ 230633 w 2206072"/>
                  <a:gd name="connsiteY11" fmla="*/ 250039 h 1261480"/>
                  <a:gd name="connsiteX12" fmla="*/ 666301 w 2206072"/>
                  <a:gd name="connsiteY12" fmla="*/ 913935 h 1261480"/>
                  <a:gd name="connsiteX13" fmla="*/ 1565690 w 2206072"/>
                  <a:gd name="connsiteY13" fmla="*/ 919088 h 1261480"/>
                  <a:gd name="connsiteX14" fmla="*/ 2206072 w 2206072"/>
                  <a:gd name="connsiteY14" fmla="*/ 221092 h 1261480"/>
                  <a:gd name="connsiteX15" fmla="*/ 1676947 w 2206072"/>
                  <a:gd name="connsiteY15" fmla="*/ 1113503 h 1261480"/>
                  <a:gd name="connsiteX16" fmla="*/ 1114019 w 2206072"/>
                  <a:gd name="connsiteY16" fmla="*/ 1261462 h 1261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206072" h="1261480">
                    <a:moveTo>
                      <a:pt x="1114019" y="1261462"/>
                    </a:moveTo>
                    <a:cubicBezTo>
                      <a:pt x="919888" y="1260350"/>
                      <a:pt x="726045" y="1208844"/>
                      <a:pt x="552823" y="1107062"/>
                    </a:cubicBezTo>
                    <a:cubicBezTo>
                      <a:pt x="249685" y="928944"/>
                      <a:pt x="50314" y="620719"/>
                      <a:pt x="8293" y="277274"/>
                    </a:cubicBezTo>
                    <a:lnTo>
                      <a:pt x="274" y="131830"/>
                    </a:lnTo>
                    <a:lnTo>
                      <a:pt x="0" y="131830"/>
                    </a:lnTo>
                    <a:lnTo>
                      <a:pt x="258" y="131531"/>
                    </a:lnTo>
                    <a:cubicBezTo>
                      <a:pt x="197" y="130422"/>
                      <a:pt x="135" y="129312"/>
                      <a:pt x="74" y="128203"/>
                    </a:cubicBezTo>
                    <a:lnTo>
                      <a:pt x="3089" y="128238"/>
                    </a:lnTo>
                    <a:lnTo>
                      <a:pt x="113361" y="0"/>
                    </a:lnTo>
                    <a:lnTo>
                      <a:pt x="226721" y="131830"/>
                    </a:lnTo>
                    <a:lnTo>
                      <a:pt x="224116" y="131830"/>
                    </a:lnTo>
                    <a:lnTo>
                      <a:pt x="230633" y="250039"/>
                    </a:lnTo>
                    <a:cubicBezTo>
                      <a:pt x="264254" y="524823"/>
                      <a:pt x="423765" y="771426"/>
                      <a:pt x="666301" y="913935"/>
                    </a:cubicBezTo>
                    <a:cubicBezTo>
                      <a:pt x="943484" y="1076803"/>
                      <a:pt x="1309062" y="1034562"/>
                      <a:pt x="1565690" y="919088"/>
                    </a:cubicBezTo>
                    <a:cubicBezTo>
                      <a:pt x="1822318" y="803614"/>
                      <a:pt x="2187529" y="188690"/>
                      <a:pt x="2206072" y="221092"/>
                    </a:cubicBezTo>
                    <a:cubicBezTo>
                      <a:pt x="2192150" y="605512"/>
                      <a:pt x="2025701" y="913922"/>
                      <a:pt x="1676947" y="1113503"/>
                    </a:cubicBezTo>
                    <a:cubicBezTo>
                      <a:pt x="1502570" y="1213294"/>
                      <a:pt x="1308150" y="1262574"/>
                      <a:pt x="1114019" y="1261462"/>
                    </a:cubicBezTo>
                    <a:close/>
                  </a:path>
                </a:pathLst>
              </a:custGeom>
              <a:solidFill>
                <a:srgbClr val="7C9CA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3200">
                    <a:solidFill>
                      <a:srgbClr val="FFFFFF"/>
                    </a:solidFill>
                  </a:defRPr>
                </a:pPr>
                <a:endParaRPr sz="2800">
                  <a:latin typeface="Roboto Light" charset="0"/>
                  <a:ea typeface="Roboto Light" charset="0"/>
                  <a:cs typeface="Roboto Light" charset="0"/>
                </a:endParaRPr>
              </a:p>
            </p:txBody>
          </p:sp>
        </p:grpSp>
        <p:pic>
          <p:nvPicPr>
            <p:cNvPr id="113" name="Picture 10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13000" y="3609791"/>
              <a:ext cx="1642131" cy="321500"/>
            </a:xfrm>
            <a:prstGeom prst="rect">
              <a:avLst/>
            </a:prstGeom>
          </p:spPr>
        </p:pic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10261067" y="6352210"/>
            <a:ext cx="336991" cy="301756"/>
          </a:xfrm>
        </p:spPr>
        <p:txBody>
          <a:bodyPr/>
          <a:lstStyle/>
          <a:p>
            <a:fld id="{AFA02C0B-84B5-4CD2-A6CE-C6BD7D6F9045}" type="slidenum">
              <a:rPr lang="ko-KR" altLang="en-US" smtClean="0">
                <a:solidFill>
                  <a:schemeClr val="tx1"/>
                </a:solidFill>
              </a:rPr>
              <a:t>7</a:t>
            </a:fld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2844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>
          <a:xfrm>
            <a:off x="1524000" y="2702045"/>
            <a:ext cx="9144001" cy="76076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ko-KR" sz="3800" dirty="0">
                <a:solidFill>
                  <a:schemeClr val="bg1"/>
                </a:solidFill>
                <a:latin typeface="+mj-ea"/>
              </a:rPr>
              <a:t>Technical Advantage</a:t>
            </a:r>
            <a:endParaRPr lang="ko-KR" altLang="en-US" sz="3800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3" name="제목 1"/>
          <p:cNvSpPr txBox="1">
            <a:spLocks/>
          </p:cNvSpPr>
          <p:nvPr/>
        </p:nvSpPr>
        <p:spPr>
          <a:xfrm>
            <a:off x="5631825" y="3839619"/>
            <a:ext cx="928350" cy="42943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ko-KR" sz="1600" dirty="0">
                <a:solidFill>
                  <a:schemeClr val="bg1"/>
                </a:solidFill>
                <a:latin typeface="SB 어그로 Bold" panose="02020603020101020101" pitchFamily="18" charset="-127"/>
                <a:ea typeface="SB 어그로 Bold" panose="02020603020101020101" pitchFamily="18" charset="-127"/>
              </a:rPr>
              <a:t>02</a:t>
            </a:r>
            <a:endParaRPr lang="ko-KR" altLang="en-US" sz="1600" dirty="0">
              <a:solidFill>
                <a:schemeClr val="bg1"/>
              </a:solidFill>
              <a:latin typeface="SB 어그로 Bold" panose="02020603020101020101" pitchFamily="18" charset="-127"/>
              <a:ea typeface="SB 어그로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7836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Vertica </a:t>
            </a:r>
            <a:r>
              <a:rPr lang="ko-KR" altLang="en-US" dirty="0">
                <a:latin typeface="+mn-ea"/>
                <a:ea typeface="+mn-ea"/>
              </a:rPr>
              <a:t>아키텍처 특징 </a:t>
            </a:r>
            <a:r>
              <a:rPr lang="en-US" altLang="ko-KR" sz="1400" dirty="0">
                <a:latin typeface="+mn-ea"/>
                <a:ea typeface="+mn-ea"/>
              </a:rPr>
              <a:t>&gt; </a:t>
            </a:r>
            <a:r>
              <a:rPr lang="en-US" altLang="ko-KR" sz="1400" dirty="0">
                <a:solidFill>
                  <a:srgbClr val="0083CE"/>
                </a:solidFill>
                <a:latin typeface="+mn-ea"/>
                <a:ea typeface="+mn-ea"/>
              </a:rPr>
              <a:t>Pure-MPP </a:t>
            </a:r>
            <a:r>
              <a:rPr lang="en-US" altLang="ko-KR" sz="1200" dirty="0">
                <a:solidFill>
                  <a:srgbClr val="0083CE"/>
                </a:solidFill>
                <a:latin typeface="+mn-ea"/>
                <a:ea typeface="+mn-ea"/>
              </a:rPr>
              <a:t>(Massively Parallel Processing)</a:t>
            </a:r>
            <a:endParaRPr lang="ko-KR" altLang="en-US" dirty="0">
              <a:solidFill>
                <a:srgbClr val="0083CE"/>
              </a:solidFill>
              <a:latin typeface="+mn-ea"/>
              <a:ea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15639" y="1413863"/>
            <a:ext cx="10891643" cy="9316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Vertica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는 별도의 마스터 노드를 분리하지 않고 모든 노드가 동일한 역할을 수행하는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pure-MPP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구조입니다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.</a:t>
            </a:r>
          </a:p>
          <a:p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또한 클러스터 구성이나 노드 구성에 특별한 하드웨어나 소프트웨어를 필요로 하지 않기 때문에 비용적인 강점이 있으며 복잡한 구성이 불필요하여 클러스터 구성 과정이 매우 간단하고 빠릅니다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.</a:t>
            </a: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Pretendard Variable Medium" panose="02000003000000020004" pitchFamily="2" charset="-127"/>
            </a:endParaRPr>
          </a:p>
        </p:txBody>
      </p:sp>
      <p:grpSp>
        <p:nvGrpSpPr>
          <p:cNvPr id="54" name="그룹 53"/>
          <p:cNvGrpSpPr/>
          <p:nvPr/>
        </p:nvGrpSpPr>
        <p:grpSpPr>
          <a:xfrm>
            <a:off x="1004702" y="2345516"/>
            <a:ext cx="4366941" cy="2183652"/>
            <a:chOff x="1088681" y="2547978"/>
            <a:chExt cx="4366941" cy="2183652"/>
          </a:xfrm>
        </p:grpSpPr>
        <p:grpSp>
          <p:nvGrpSpPr>
            <p:cNvPr id="53" name="그룹 52"/>
            <p:cNvGrpSpPr/>
            <p:nvPr/>
          </p:nvGrpSpPr>
          <p:grpSpPr>
            <a:xfrm>
              <a:off x="1088681" y="2986780"/>
              <a:ext cx="4366941" cy="1744850"/>
              <a:chOff x="1088681" y="2986780"/>
              <a:chExt cx="4366941" cy="1744850"/>
            </a:xfrm>
          </p:grpSpPr>
          <p:grpSp>
            <p:nvGrpSpPr>
              <p:cNvPr id="6" name="그룹 54"/>
              <p:cNvGrpSpPr/>
              <p:nvPr/>
            </p:nvGrpSpPr>
            <p:grpSpPr>
              <a:xfrm>
                <a:off x="2666944" y="2986780"/>
                <a:ext cx="1463020" cy="1704455"/>
                <a:chOff x="2763035" y="2506034"/>
                <a:chExt cx="1594245" cy="1723318"/>
              </a:xfrm>
            </p:grpSpPr>
            <p:sp>
              <p:nvSpPr>
                <p:cNvPr id="7" name="Rounded Rectangle 32"/>
                <p:cNvSpPr/>
                <p:nvPr/>
              </p:nvSpPr>
              <p:spPr>
                <a:xfrm>
                  <a:off x="2859399" y="3549755"/>
                  <a:ext cx="418641" cy="415092"/>
                </a:xfrm>
                <a:prstGeom prst="roundRect">
                  <a:avLst/>
                </a:prstGeom>
                <a:solidFill>
                  <a:srgbClr val="F47E65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>
                    <a:latin typeface="+mn-ea"/>
                  </a:endParaRPr>
                </a:p>
              </p:txBody>
            </p:sp>
            <p:sp>
              <p:nvSpPr>
                <p:cNvPr id="8" name="Rounded Rectangle 33"/>
                <p:cNvSpPr/>
                <p:nvPr/>
              </p:nvSpPr>
              <p:spPr>
                <a:xfrm>
                  <a:off x="3362503" y="3549755"/>
                  <a:ext cx="418641" cy="415092"/>
                </a:xfrm>
                <a:prstGeom prst="roundRect">
                  <a:avLst/>
                </a:prstGeom>
                <a:solidFill>
                  <a:srgbClr val="F47E65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>
                    <a:latin typeface="+mn-ea"/>
                  </a:endParaRPr>
                </a:p>
              </p:txBody>
            </p:sp>
            <p:sp>
              <p:nvSpPr>
                <p:cNvPr id="9" name="Rounded Rectangle 34"/>
                <p:cNvSpPr/>
                <p:nvPr/>
              </p:nvSpPr>
              <p:spPr>
                <a:xfrm>
                  <a:off x="3865607" y="3549755"/>
                  <a:ext cx="418641" cy="415092"/>
                </a:xfrm>
                <a:prstGeom prst="roundRect">
                  <a:avLst/>
                </a:prstGeom>
                <a:solidFill>
                  <a:srgbClr val="F47E65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>
                    <a:latin typeface="+mn-ea"/>
                  </a:endParaRPr>
                </a:p>
              </p:txBody>
            </p:sp>
            <p:cxnSp>
              <p:nvCxnSpPr>
                <p:cNvPr id="10" name="Straight Connector 35"/>
                <p:cNvCxnSpPr>
                  <a:endCxn id="7" idx="0"/>
                </p:cNvCxnSpPr>
                <p:nvPr/>
              </p:nvCxnSpPr>
              <p:spPr>
                <a:xfrm>
                  <a:off x="3068719" y="3406619"/>
                  <a:ext cx="1" cy="143136"/>
                </a:xfrm>
                <a:prstGeom prst="line">
                  <a:avLst/>
                </a:prstGeom>
                <a:ln w="28575" cmpd="sng">
                  <a:solidFill>
                    <a:srgbClr val="FF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Connector 36"/>
                <p:cNvCxnSpPr/>
                <p:nvPr/>
              </p:nvCxnSpPr>
              <p:spPr>
                <a:xfrm>
                  <a:off x="3571822" y="3406619"/>
                  <a:ext cx="0" cy="162043"/>
                </a:xfrm>
                <a:prstGeom prst="line">
                  <a:avLst/>
                </a:prstGeom>
                <a:ln w="28575" cmpd="sng">
                  <a:solidFill>
                    <a:srgbClr val="FF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37"/>
                <p:cNvCxnSpPr/>
                <p:nvPr/>
              </p:nvCxnSpPr>
              <p:spPr>
                <a:xfrm>
                  <a:off x="4074927" y="3406619"/>
                  <a:ext cx="0" cy="162043"/>
                </a:xfrm>
                <a:prstGeom prst="line">
                  <a:avLst/>
                </a:prstGeom>
                <a:ln w="28575" cmpd="sng">
                  <a:solidFill>
                    <a:srgbClr val="FF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" name="Rounded Rectangle 38"/>
                <p:cNvSpPr/>
                <p:nvPr/>
              </p:nvSpPr>
              <p:spPr>
                <a:xfrm>
                  <a:off x="3068720" y="2831866"/>
                  <a:ext cx="418641" cy="415092"/>
                </a:xfrm>
                <a:prstGeom prst="roundRect">
                  <a:avLst/>
                </a:prstGeom>
                <a:solidFill>
                  <a:srgbClr val="F47E65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>
                    <a:latin typeface="+mn-ea"/>
                  </a:endParaRPr>
                </a:p>
              </p:txBody>
            </p:sp>
            <p:cxnSp>
              <p:nvCxnSpPr>
                <p:cNvPr id="14" name="Straight Connector 39"/>
                <p:cNvCxnSpPr/>
                <p:nvPr/>
              </p:nvCxnSpPr>
              <p:spPr>
                <a:xfrm>
                  <a:off x="3278040" y="3246958"/>
                  <a:ext cx="1" cy="159661"/>
                </a:xfrm>
                <a:prstGeom prst="line">
                  <a:avLst/>
                </a:prstGeom>
                <a:ln w="28575" cmpd="sng">
                  <a:solidFill>
                    <a:srgbClr val="FF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40"/>
                <p:cNvCxnSpPr>
                  <a:stCxn id="16" idx="2"/>
                </p:cNvCxnSpPr>
                <p:nvPr/>
              </p:nvCxnSpPr>
              <p:spPr>
                <a:xfrm>
                  <a:off x="3823376" y="3246958"/>
                  <a:ext cx="3626" cy="159661"/>
                </a:xfrm>
                <a:prstGeom prst="line">
                  <a:avLst/>
                </a:prstGeom>
                <a:ln w="28575" cmpd="sng">
                  <a:solidFill>
                    <a:srgbClr val="FF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" name="Rounded Rectangle 41"/>
                <p:cNvSpPr/>
                <p:nvPr/>
              </p:nvSpPr>
              <p:spPr>
                <a:xfrm>
                  <a:off x="3614055" y="2831866"/>
                  <a:ext cx="418641" cy="415092"/>
                </a:xfrm>
                <a:prstGeom prst="roundRect">
                  <a:avLst/>
                </a:prstGeom>
                <a:solidFill>
                  <a:srgbClr val="F47E65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>
                    <a:latin typeface="+mn-ea"/>
                  </a:endParaRPr>
                </a:p>
              </p:txBody>
            </p:sp>
            <p:sp>
              <p:nvSpPr>
                <p:cNvPr id="17" name="TextBox 16"/>
                <p:cNvSpPr txBox="1"/>
                <p:nvPr/>
              </p:nvSpPr>
              <p:spPr>
                <a:xfrm>
                  <a:off x="3095658" y="2506034"/>
                  <a:ext cx="945359" cy="2645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430213">
                    <a:spcAft>
                      <a:spcPts val="400"/>
                    </a:spcAft>
                    <a:buSzPct val="100000"/>
                  </a:pPr>
                  <a:r>
                    <a:rPr lang="en-US" sz="1100" b="1" dirty="0">
                      <a:latin typeface="+mn-ea"/>
                      <a:cs typeface="HP Simplified" pitchFamily="34" charset="0"/>
                    </a:rPr>
                    <a:t>DB Server</a:t>
                  </a:r>
                </a:p>
              </p:txBody>
            </p:sp>
            <p:sp>
              <p:nvSpPr>
                <p:cNvPr id="18" name="TextBox 17"/>
                <p:cNvSpPr txBox="1"/>
                <p:nvPr/>
              </p:nvSpPr>
              <p:spPr>
                <a:xfrm>
                  <a:off x="3062564" y="3964847"/>
                  <a:ext cx="1294716" cy="2645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430213">
                    <a:spcAft>
                      <a:spcPts val="400"/>
                    </a:spcAft>
                    <a:buSzPct val="100000"/>
                  </a:pPr>
                  <a:r>
                    <a:rPr lang="en-US" sz="1100" b="1" dirty="0">
                      <a:latin typeface="+mn-ea"/>
                      <a:cs typeface="HP Simplified" pitchFamily="34" charset="0"/>
                    </a:rPr>
                    <a:t>Storage Server</a:t>
                  </a:r>
                </a:p>
              </p:txBody>
            </p:sp>
            <p:sp>
              <p:nvSpPr>
                <p:cNvPr id="19" name="Rounded Rectangle 44"/>
                <p:cNvSpPr/>
                <p:nvPr/>
              </p:nvSpPr>
              <p:spPr>
                <a:xfrm>
                  <a:off x="2763035" y="3333144"/>
                  <a:ext cx="1586536" cy="146950"/>
                </a:xfrm>
                <a:prstGeom prst="roundRect">
                  <a:avLst/>
                </a:prstGeom>
                <a:solidFill>
                  <a:srgbClr val="F05332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dirty="0" err="1">
                      <a:latin typeface="+mn-ea"/>
                    </a:rPr>
                    <a:t>InfiniBand</a:t>
                  </a:r>
                  <a:endParaRPr lang="en-US" sz="1000" dirty="0">
                    <a:latin typeface="+mn-ea"/>
                  </a:endParaRPr>
                </a:p>
              </p:txBody>
            </p:sp>
            <p:sp>
              <p:nvSpPr>
                <p:cNvPr id="20" name="Rounded Rectangle 45"/>
                <p:cNvSpPr/>
                <p:nvPr/>
              </p:nvSpPr>
              <p:spPr>
                <a:xfrm>
                  <a:off x="2905511" y="3591293"/>
                  <a:ext cx="301791" cy="121280"/>
                </a:xfrm>
                <a:prstGeom prst="roundRect">
                  <a:avLst/>
                </a:prstGeom>
                <a:solidFill>
                  <a:srgbClr val="FBD4C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1000" dirty="0">
                      <a:solidFill>
                        <a:srgbClr val="FF0000"/>
                      </a:solidFill>
                      <a:latin typeface="+mn-ea"/>
                    </a:rPr>
                    <a:t>SSD</a:t>
                  </a:r>
                </a:p>
              </p:txBody>
            </p:sp>
            <p:sp>
              <p:nvSpPr>
                <p:cNvPr id="21" name="Rounded Rectangle 46"/>
                <p:cNvSpPr/>
                <p:nvPr/>
              </p:nvSpPr>
              <p:spPr>
                <a:xfrm>
                  <a:off x="3420928" y="3591293"/>
                  <a:ext cx="301791" cy="121280"/>
                </a:xfrm>
                <a:prstGeom prst="roundRect">
                  <a:avLst/>
                </a:prstGeom>
                <a:solidFill>
                  <a:srgbClr val="FBD4C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1000" dirty="0">
                      <a:solidFill>
                        <a:srgbClr val="FF0000"/>
                      </a:solidFill>
                      <a:latin typeface="+mn-ea"/>
                    </a:rPr>
                    <a:t>SSD</a:t>
                  </a:r>
                </a:p>
              </p:txBody>
            </p:sp>
            <p:sp>
              <p:nvSpPr>
                <p:cNvPr id="22" name="Rounded Rectangle 47"/>
                <p:cNvSpPr/>
                <p:nvPr/>
              </p:nvSpPr>
              <p:spPr>
                <a:xfrm>
                  <a:off x="3924031" y="3591293"/>
                  <a:ext cx="301791" cy="121280"/>
                </a:xfrm>
                <a:prstGeom prst="roundRect">
                  <a:avLst/>
                </a:prstGeom>
                <a:solidFill>
                  <a:srgbClr val="FBD4C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1000" dirty="0">
                      <a:solidFill>
                        <a:srgbClr val="FF0000"/>
                      </a:solidFill>
                      <a:latin typeface="+mn-ea"/>
                    </a:rPr>
                    <a:t>SSD</a:t>
                  </a:r>
                </a:p>
              </p:txBody>
            </p:sp>
          </p:grpSp>
          <p:grpSp>
            <p:nvGrpSpPr>
              <p:cNvPr id="52" name="그룹 51"/>
              <p:cNvGrpSpPr/>
              <p:nvPr/>
            </p:nvGrpSpPr>
            <p:grpSpPr>
              <a:xfrm>
                <a:off x="1088681" y="2990108"/>
                <a:ext cx="1307567" cy="1741522"/>
                <a:chOff x="1088681" y="2990108"/>
                <a:chExt cx="1307567" cy="1741522"/>
              </a:xfrm>
            </p:grpSpPr>
            <p:sp>
              <p:nvSpPr>
                <p:cNvPr id="35" name="TextBox 34"/>
                <p:cNvSpPr txBox="1"/>
                <p:nvPr/>
              </p:nvSpPr>
              <p:spPr>
                <a:xfrm>
                  <a:off x="1237358" y="2990108"/>
                  <a:ext cx="1122423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430213">
                    <a:spcAft>
                      <a:spcPts val="400"/>
                    </a:spcAft>
                    <a:buSzPct val="100000"/>
                  </a:pPr>
                  <a:r>
                    <a:rPr lang="en-US" altLang="ko-KR" sz="1100" b="1" dirty="0">
                      <a:latin typeface="+mn-ea"/>
                      <a:cs typeface="HP Simplified" pitchFamily="34" charset="0"/>
                    </a:rPr>
                    <a:t>Master Server</a:t>
                  </a:r>
                  <a:endParaRPr lang="en-US" sz="1100" b="1" dirty="0">
                    <a:latin typeface="+mn-ea"/>
                    <a:cs typeface="HP Simplified" pitchFamily="34" charset="0"/>
                  </a:endParaRPr>
                </a:p>
              </p:txBody>
            </p:sp>
            <p:grpSp>
              <p:nvGrpSpPr>
                <p:cNvPr id="51" name="그룹 50"/>
                <p:cNvGrpSpPr/>
                <p:nvPr/>
              </p:nvGrpSpPr>
              <p:grpSpPr>
                <a:xfrm>
                  <a:off x="1088681" y="3332572"/>
                  <a:ext cx="1307567" cy="1120580"/>
                  <a:chOff x="1088681" y="3332572"/>
                  <a:chExt cx="1307567" cy="1120580"/>
                </a:xfrm>
              </p:grpSpPr>
              <p:sp>
                <p:nvSpPr>
                  <p:cNvPr id="24" name="Rounded Rectangle 19"/>
                  <p:cNvSpPr/>
                  <p:nvPr/>
                </p:nvSpPr>
                <p:spPr>
                  <a:xfrm>
                    <a:off x="1088681" y="4042603"/>
                    <a:ext cx="384182" cy="410549"/>
                  </a:xfrm>
                  <a:prstGeom prst="roundRect">
                    <a:avLst/>
                  </a:prstGeom>
                  <a:solidFill>
                    <a:srgbClr val="92D050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>
                      <a:latin typeface="+mn-ea"/>
                    </a:endParaRPr>
                  </a:p>
                </p:txBody>
              </p:sp>
              <p:sp>
                <p:nvSpPr>
                  <p:cNvPr id="25" name="Rounded Rectangle 20"/>
                  <p:cNvSpPr/>
                  <p:nvPr/>
                </p:nvSpPr>
                <p:spPr>
                  <a:xfrm>
                    <a:off x="1550374" y="4042603"/>
                    <a:ext cx="384182" cy="410549"/>
                  </a:xfrm>
                  <a:prstGeom prst="roundRect">
                    <a:avLst/>
                  </a:prstGeom>
                  <a:solidFill>
                    <a:srgbClr val="92D050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>
                      <a:latin typeface="+mn-ea"/>
                    </a:endParaRPr>
                  </a:p>
                </p:txBody>
              </p:sp>
              <p:sp>
                <p:nvSpPr>
                  <p:cNvPr id="26" name="Rounded Rectangle 21"/>
                  <p:cNvSpPr/>
                  <p:nvPr/>
                </p:nvSpPr>
                <p:spPr>
                  <a:xfrm>
                    <a:off x="2012066" y="4042603"/>
                    <a:ext cx="384182" cy="410549"/>
                  </a:xfrm>
                  <a:prstGeom prst="roundRect">
                    <a:avLst/>
                  </a:prstGeom>
                  <a:solidFill>
                    <a:srgbClr val="92D050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>
                      <a:latin typeface="+mn-ea"/>
                    </a:endParaRPr>
                  </a:p>
                </p:txBody>
              </p:sp>
              <p:cxnSp>
                <p:nvCxnSpPr>
                  <p:cNvPr id="27" name="Straight Connector 22"/>
                  <p:cNvCxnSpPr/>
                  <p:nvPr/>
                </p:nvCxnSpPr>
                <p:spPr>
                  <a:xfrm>
                    <a:off x="1088681" y="3901034"/>
                    <a:ext cx="1307567" cy="0"/>
                  </a:xfrm>
                  <a:prstGeom prst="line">
                    <a:avLst/>
                  </a:prstGeom>
                  <a:ln w="28575" cmpd="sng">
                    <a:solidFill>
                      <a:srgbClr val="92D050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Straight Connector 23"/>
                  <p:cNvCxnSpPr>
                    <a:endCxn id="24" idx="0"/>
                  </p:cNvCxnSpPr>
                  <p:nvPr/>
                </p:nvCxnSpPr>
                <p:spPr>
                  <a:xfrm>
                    <a:off x="1280772" y="3901034"/>
                    <a:ext cx="1" cy="141569"/>
                  </a:xfrm>
                  <a:prstGeom prst="line">
                    <a:avLst/>
                  </a:prstGeom>
                  <a:ln w="28575" cmpd="sng">
                    <a:solidFill>
                      <a:srgbClr val="92D050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Straight Connector 24"/>
                  <p:cNvCxnSpPr/>
                  <p:nvPr/>
                </p:nvCxnSpPr>
                <p:spPr>
                  <a:xfrm>
                    <a:off x="1742463" y="3901034"/>
                    <a:ext cx="0" cy="160269"/>
                  </a:xfrm>
                  <a:prstGeom prst="line">
                    <a:avLst/>
                  </a:prstGeom>
                  <a:ln w="28575" cmpd="sng">
                    <a:solidFill>
                      <a:srgbClr val="92D050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Straight Connector 25"/>
                  <p:cNvCxnSpPr/>
                  <p:nvPr/>
                </p:nvCxnSpPr>
                <p:spPr>
                  <a:xfrm>
                    <a:off x="2204157" y="3901034"/>
                    <a:ext cx="0" cy="160269"/>
                  </a:xfrm>
                  <a:prstGeom prst="line">
                    <a:avLst/>
                  </a:prstGeom>
                  <a:ln w="28575" cmpd="sng">
                    <a:solidFill>
                      <a:srgbClr val="92D050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1" name="Rounded Rectangle 26"/>
                  <p:cNvSpPr/>
                  <p:nvPr/>
                </p:nvSpPr>
                <p:spPr>
                  <a:xfrm>
                    <a:off x="1308765" y="3332572"/>
                    <a:ext cx="384182" cy="410549"/>
                  </a:xfrm>
                  <a:prstGeom prst="roundRect">
                    <a:avLst/>
                  </a:prstGeom>
                  <a:solidFill>
                    <a:srgbClr val="92D050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>
                      <a:latin typeface="+mn-ea"/>
                    </a:endParaRPr>
                  </a:p>
                </p:txBody>
              </p:sp>
              <p:cxnSp>
                <p:nvCxnSpPr>
                  <p:cNvPr id="32" name="Straight Connector 27"/>
                  <p:cNvCxnSpPr/>
                  <p:nvPr/>
                </p:nvCxnSpPr>
                <p:spPr>
                  <a:xfrm>
                    <a:off x="1500856" y="3743121"/>
                    <a:ext cx="1" cy="157913"/>
                  </a:xfrm>
                  <a:prstGeom prst="line">
                    <a:avLst/>
                  </a:prstGeom>
                  <a:ln w="28575" cmpd="sng">
                    <a:solidFill>
                      <a:srgbClr val="92D050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Straight Connector 28"/>
                  <p:cNvCxnSpPr>
                    <a:stCxn id="34" idx="2"/>
                  </p:cNvCxnSpPr>
                  <p:nvPr/>
                </p:nvCxnSpPr>
                <p:spPr>
                  <a:xfrm>
                    <a:off x="2001305" y="3743121"/>
                    <a:ext cx="3328" cy="157913"/>
                  </a:xfrm>
                  <a:prstGeom prst="line">
                    <a:avLst/>
                  </a:prstGeom>
                  <a:ln w="28575" cmpd="sng">
                    <a:solidFill>
                      <a:srgbClr val="92D050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4" name="Rounded Rectangle 29"/>
                  <p:cNvSpPr/>
                  <p:nvPr/>
                </p:nvSpPr>
                <p:spPr>
                  <a:xfrm>
                    <a:off x="1809213" y="3332572"/>
                    <a:ext cx="384182" cy="410549"/>
                  </a:xfrm>
                  <a:prstGeom prst="roundRect">
                    <a:avLst/>
                  </a:prstGeom>
                  <a:solidFill>
                    <a:srgbClr val="92D050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>
                      <a:latin typeface="+mn-ea"/>
                    </a:endParaRPr>
                  </a:p>
                </p:txBody>
              </p:sp>
              <p:cxnSp>
                <p:nvCxnSpPr>
                  <p:cNvPr id="36" name="Straight Arrow Connector 31"/>
                  <p:cNvCxnSpPr/>
                  <p:nvPr/>
                </p:nvCxnSpPr>
                <p:spPr>
                  <a:xfrm>
                    <a:off x="1500857" y="3537846"/>
                    <a:ext cx="539203" cy="0"/>
                  </a:xfrm>
                  <a:prstGeom prst="straightConnector1">
                    <a:avLst/>
                  </a:prstGeom>
                  <a:ln w="12700" cmpd="sng">
                    <a:solidFill>
                      <a:srgbClr val="003300"/>
                    </a:solidFill>
                    <a:headEnd type="arrow"/>
                    <a:tailEnd type="arrow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7" name="TextBox 36"/>
                <p:cNvSpPr txBox="1"/>
                <p:nvPr/>
              </p:nvSpPr>
              <p:spPr>
                <a:xfrm>
                  <a:off x="1339149" y="4470020"/>
                  <a:ext cx="914033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430213">
                    <a:spcAft>
                      <a:spcPts val="400"/>
                    </a:spcAft>
                    <a:buSzPct val="100000"/>
                  </a:pPr>
                  <a:r>
                    <a:rPr lang="en-US" altLang="ko-KR" sz="1100" b="1" dirty="0">
                      <a:latin typeface="+mn-ea"/>
                      <a:cs typeface="HP Simplified" pitchFamily="34" charset="0"/>
                    </a:rPr>
                    <a:t>Data Node</a:t>
                  </a:r>
                  <a:endParaRPr lang="en-US" sz="1100" b="1" dirty="0">
                    <a:latin typeface="+mn-ea"/>
                    <a:cs typeface="HP Simplified" pitchFamily="34" charset="0"/>
                  </a:endParaRPr>
                </a:p>
              </p:txBody>
            </p:sp>
          </p:grpSp>
          <p:grpSp>
            <p:nvGrpSpPr>
              <p:cNvPr id="38" name="그룹 125"/>
              <p:cNvGrpSpPr/>
              <p:nvPr/>
            </p:nvGrpSpPr>
            <p:grpSpPr>
              <a:xfrm>
                <a:off x="4393588" y="2986780"/>
                <a:ext cx="1062034" cy="1704455"/>
                <a:chOff x="3685766" y="2399156"/>
                <a:chExt cx="1062034" cy="1704455"/>
              </a:xfrm>
            </p:grpSpPr>
            <p:sp>
              <p:nvSpPr>
                <p:cNvPr id="39" name="Rounded Rectangle 33"/>
                <p:cNvSpPr/>
                <p:nvPr/>
              </p:nvSpPr>
              <p:spPr>
                <a:xfrm>
                  <a:off x="4001897" y="3431453"/>
                  <a:ext cx="384182" cy="410549"/>
                </a:xfrm>
                <a:prstGeom prst="roundRect">
                  <a:avLst/>
                </a:prstGeom>
                <a:solidFill>
                  <a:srgbClr val="104E9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>
                    <a:latin typeface="+mn-ea"/>
                  </a:endParaRPr>
                </a:p>
              </p:txBody>
            </p:sp>
            <p:sp>
              <p:nvSpPr>
                <p:cNvPr id="40" name="Rounded Rectangle 38"/>
                <p:cNvSpPr/>
                <p:nvPr/>
              </p:nvSpPr>
              <p:spPr>
                <a:xfrm>
                  <a:off x="3744171" y="2721422"/>
                  <a:ext cx="384182" cy="410549"/>
                </a:xfrm>
                <a:prstGeom prst="roundRect">
                  <a:avLst/>
                </a:prstGeom>
                <a:solidFill>
                  <a:srgbClr val="60A4E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>
                    <a:solidFill>
                      <a:schemeClr val="accent4">
                        <a:lumMod val="60000"/>
                        <a:lumOff val="40000"/>
                      </a:schemeClr>
                    </a:solidFill>
                    <a:latin typeface="+mn-ea"/>
                  </a:endParaRPr>
                </a:p>
              </p:txBody>
            </p:sp>
            <p:cxnSp>
              <p:nvCxnSpPr>
                <p:cNvPr id="41" name="Straight Connector 39"/>
                <p:cNvCxnSpPr>
                  <a:endCxn id="39" idx="0"/>
                </p:cNvCxnSpPr>
                <p:nvPr/>
              </p:nvCxnSpPr>
              <p:spPr>
                <a:xfrm>
                  <a:off x="3924386" y="3131970"/>
                  <a:ext cx="269602" cy="299483"/>
                </a:xfrm>
                <a:prstGeom prst="line">
                  <a:avLst/>
                </a:prstGeom>
                <a:ln w="28575" cmpd="sng">
                  <a:solidFill>
                    <a:schemeClr val="accent4">
                      <a:lumMod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0"/>
                <p:cNvCxnSpPr>
                  <a:stCxn id="43" idx="2"/>
                  <a:endCxn id="39" idx="0"/>
                </p:cNvCxnSpPr>
                <p:nvPr/>
              </p:nvCxnSpPr>
              <p:spPr>
                <a:xfrm flipH="1">
                  <a:off x="4193988" y="3131971"/>
                  <a:ext cx="242721" cy="299482"/>
                </a:xfrm>
                <a:prstGeom prst="line">
                  <a:avLst/>
                </a:prstGeom>
                <a:ln w="28575" cmpd="sng">
                  <a:solidFill>
                    <a:schemeClr val="accent4">
                      <a:lumMod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3" name="Rounded Rectangle 41"/>
                <p:cNvSpPr/>
                <p:nvPr/>
              </p:nvSpPr>
              <p:spPr>
                <a:xfrm>
                  <a:off x="4244618" y="2721422"/>
                  <a:ext cx="384182" cy="410549"/>
                </a:xfrm>
                <a:prstGeom prst="roundRect">
                  <a:avLst/>
                </a:prstGeom>
                <a:solidFill>
                  <a:srgbClr val="60A4E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>
                    <a:latin typeface="+mn-ea"/>
                  </a:endParaRPr>
                </a:p>
              </p:txBody>
            </p:sp>
            <p:sp>
              <p:nvSpPr>
                <p:cNvPr id="44" name="TextBox 43"/>
                <p:cNvSpPr txBox="1"/>
                <p:nvPr/>
              </p:nvSpPr>
              <p:spPr>
                <a:xfrm>
                  <a:off x="3685766" y="2399156"/>
                  <a:ext cx="45878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430213">
                    <a:spcAft>
                      <a:spcPts val="400"/>
                    </a:spcAft>
                    <a:buSzPct val="100000"/>
                  </a:pPr>
                  <a:r>
                    <a:rPr lang="en-US" sz="1100" b="1" dirty="0">
                      <a:latin typeface="+mn-ea"/>
                      <a:cs typeface="HP Simplified" pitchFamily="34" charset="0"/>
                    </a:rPr>
                    <a:t>R/W</a:t>
                  </a:r>
                </a:p>
              </p:txBody>
            </p:sp>
            <p:sp>
              <p:nvSpPr>
                <p:cNvPr id="45" name="TextBox 44"/>
                <p:cNvSpPr txBox="1"/>
                <p:nvPr/>
              </p:nvSpPr>
              <p:spPr>
                <a:xfrm>
                  <a:off x="3833521" y="3842001"/>
                  <a:ext cx="71045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430213">
                    <a:spcAft>
                      <a:spcPts val="400"/>
                    </a:spcAft>
                    <a:buSzPct val="100000"/>
                  </a:pPr>
                  <a:r>
                    <a:rPr lang="en-US" sz="1100" b="1" dirty="0">
                      <a:latin typeface="+mn-ea"/>
                      <a:cs typeface="HP Simplified" pitchFamily="34" charset="0"/>
                    </a:rPr>
                    <a:t>Storage</a:t>
                  </a:r>
                </a:p>
              </p:txBody>
            </p:sp>
            <p:sp>
              <p:nvSpPr>
                <p:cNvPr id="46" name="TextBox 45"/>
                <p:cNvSpPr txBox="1"/>
                <p:nvPr/>
              </p:nvSpPr>
              <p:spPr>
                <a:xfrm>
                  <a:off x="4160780" y="2399156"/>
                  <a:ext cx="58702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430213">
                    <a:spcAft>
                      <a:spcPts val="400"/>
                    </a:spcAft>
                    <a:buSzPct val="100000"/>
                  </a:pPr>
                  <a:r>
                    <a:rPr lang="en-US" sz="1100" b="1" dirty="0">
                      <a:latin typeface="+mn-ea"/>
                      <a:cs typeface="HP Simplified" pitchFamily="34" charset="0"/>
                    </a:rPr>
                    <a:t>READ</a:t>
                  </a:r>
                </a:p>
              </p:txBody>
            </p:sp>
          </p:grpSp>
        </p:grpSp>
        <p:sp>
          <p:nvSpPr>
            <p:cNvPr id="47" name="Rectangle 18"/>
            <p:cNvSpPr/>
            <p:nvPr/>
          </p:nvSpPr>
          <p:spPr>
            <a:xfrm>
              <a:off x="2415186" y="2547978"/>
              <a:ext cx="163378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430213">
                <a:spcAft>
                  <a:spcPts val="400"/>
                </a:spcAft>
                <a:buSzPct val="100000"/>
              </a:pPr>
              <a:r>
                <a:rPr lang="en-US" sz="1600" b="1" dirty="0">
                  <a:latin typeface="+mn-ea"/>
                  <a:cs typeface="HP Simplified" pitchFamily="34" charset="0"/>
                </a:rPr>
                <a:t>Other Systems</a:t>
              </a:r>
            </a:p>
          </p:txBody>
        </p:sp>
      </p:grpSp>
      <p:pic>
        <p:nvPicPr>
          <p:cNvPr id="55" name="Picture 2" descr="versus png에 대한 이미지 검색결과">
            <a:extLst>
              <a:ext uri="{FF2B5EF4-FFF2-40B4-BE49-F238E27FC236}">
                <a16:creationId xmlns="" xmlns:a16="http://schemas.microsoft.com/office/drawing/2014/main" id="{7CF353E0-AD86-40C8-A8CD-549B85952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4209" y="3021824"/>
            <a:ext cx="1170546" cy="1170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6" name="그룹 75"/>
          <p:cNvGrpSpPr/>
          <p:nvPr/>
        </p:nvGrpSpPr>
        <p:grpSpPr>
          <a:xfrm>
            <a:off x="7776097" y="2403141"/>
            <a:ext cx="3003035" cy="2270649"/>
            <a:chOff x="7767471" y="2605603"/>
            <a:chExt cx="3003035" cy="2270649"/>
          </a:xfrm>
        </p:grpSpPr>
        <p:grpSp>
          <p:nvGrpSpPr>
            <p:cNvPr id="75" name="그룹 74"/>
            <p:cNvGrpSpPr/>
            <p:nvPr/>
          </p:nvGrpSpPr>
          <p:grpSpPr>
            <a:xfrm>
              <a:off x="7767471" y="3263550"/>
              <a:ext cx="2566104" cy="649573"/>
              <a:chOff x="7767471" y="3263550"/>
              <a:chExt cx="2566104" cy="649573"/>
            </a:xfrm>
          </p:grpSpPr>
          <p:cxnSp>
            <p:nvCxnSpPr>
              <p:cNvPr id="61" name="Straight Connector 8"/>
              <p:cNvCxnSpPr/>
              <p:nvPr/>
            </p:nvCxnSpPr>
            <p:spPr>
              <a:xfrm>
                <a:off x="7767471" y="3263550"/>
                <a:ext cx="2566104" cy="0"/>
              </a:xfrm>
              <a:prstGeom prst="line">
                <a:avLst/>
              </a:prstGeom>
              <a:ln w="28575" cmpd="sng">
                <a:solidFill>
                  <a:srgbClr val="0079E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4" name="그룹 73"/>
              <p:cNvGrpSpPr/>
              <p:nvPr/>
            </p:nvGrpSpPr>
            <p:grpSpPr>
              <a:xfrm>
                <a:off x="7815960" y="3263550"/>
                <a:ext cx="418641" cy="649573"/>
                <a:chOff x="8086547" y="3263550"/>
                <a:chExt cx="418641" cy="649573"/>
              </a:xfrm>
            </p:grpSpPr>
            <p:sp>
              <p:nvSpPr>
                <p:cNvPr id="57" name="Rounded Rectangle 4"/>
                <p:cNvSpPr/>
                <p:nvPr/>
              </p:nvSpPr>
              <p:spPr>
                <a:xfrm>
                  <a:off x="8086547" y="3498031"/>
                  <a:ext cx="418641" cy="415092"/>
                </a:xfrm>
                <a:prstGeom prst="roundRect">
                  <a:avLst/>
                </a:prstGeom>
                <a:solidFill>
                  <a:srgbClr val="0079E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+mn-ea"/>
                  </a:endParaRPr>
                </a:p>
              </p:txBody>
            </p:sp>
            <p:cxnSp>
              <p:nvCxnSpPr>
                <p:cNvPr id="62" name="Straight Connector 9"/>
                <p:cNvCxnSpPr/>
                <p:nvPr/>
              </p:nvCxnSpPr>
              <p:spPr>
                <a:xfrm>
                  <a:off x="8295867" y="3263550"/>
                  <a:ext cx="0" cy="253388"/>
                </a:xfrm>
                <a:prstGeom prst="line">
                  <a:avLst/>
                </a:prstGeom>
                <a:ln w="28575" cmpd="sng">
                  <a:solidFill>
                    <a:srgbClr val="0079EF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3" name="그룹 72"/>
              <p:cNvGrpSpPr/>
              <p:nvPr/>
            </p:nvGrpSpPr>
            <p:grpSpPr>
              <a:xfrm>
                <a:off x="8493237" y="3263550"/>
                <a:ext cx="418641" cy="649573"/>
                <a:chOff x="8589651" y="3263550"/>
                <a:chExt cx="418641" cy="649573"/>
              </a:xfrm>
            </p:grpSpPr>
            <p:sp>
              <p:nvSpPr>
                <p:cNvPr id="58" name="Rounded Rectangle 5"/>
                <p:cNvSpPr/>
                <p:nvPr/>
              </p:nvSpPr>
              <p:spPr>
                <a:xfrm>
                  <a:off x="8589651" y="3498031"/>
                  <a:ext cx="418641" cy="415092"/>
                </a:xfrm>
                <a:prstGeom prst="roundRect">
                  <a:avLst/>
                </a:prstGeom>
                <a:solidFill>
                  <a:srgbClr val="0079E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+mn-ea"/>
                  </a:endParaRPr>
                </a:p>
              </p:txBody>
            </p:sp>
            <p:cxnSp>
              <p:nvCxnSpPr>
                <p:cNvPr id="63" name="Straight Connector 10"/>
                <p:cNvCxnSpPr/>
                <p:nvPr/>
              </p:nvCxnSpPr>
              <p:spPr>
                <a:xfrm>
                  <a:off x="8798970" y="3263550"/>
                  <a:ext cx="0" cy="253388"/>
                </a:xfrm>
                <a:prstGeom prst="line">
                  <a:avLst/>
                </a:prstGeom>
                <a:ln w="28575" cmpd="sng">
                  <a:solidFill>
                    <a:srgbClr val="0079EF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2" name="그룹 71"/>
              <p:cNvGrpSpPr/>
              <p:nvPr/>
            </p:nvGrpSpPr>
            <p:grpSpPr>
              <a:xfrm>
                <a:off x="9170514" y="3263550"/>
                <a:ext cx="418641" cy="649573"/>
                <a:chOff x="9092755" y="3263550"/>
                <a:chExt cx="418641" cy="649573"/>
              </a:xfrm>
            </p:grpSpPr>
            <p:sp>
              <p:nvSpPr>
                <p:cNvPr id="59" name="Rounded Rectangle 6"/>
                <p:cNvSpPr/>
                <p:nvPr/>
              </p:nvSpPr>
              <p:spPr>
                <a:xfrm>
                  <a:off x="9092755" y="3498031"/>
                  <a:ext cx="418641" cy="415092"/>
                </a:xfrm>
                <a:prstGeom prst="roundRect">
                  <a:avLst/>
                </a:prstGeom>
                <a:solidFill>
                  <a:srgbClr val="0079E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+mn-ea"/>
                  </a:endParaRPr>
                </a:p>
              </p:txBody>
            </p:sp>
            <p:cxnSp>
              <p:nvCxnSpPr>
                <p:cNvPr id="64" name="Straight Connector 11"/>
                <p:cNvCxnSpPr/>
                <p:nvPr/>
              </p:nvCxnSpPr>
              <p:spPr>
                <a:xfrm>
                  <a:off x="9302075" y="3263550"/>
                  <a:ext cx="0" cy="253388"/>
                </a:xfrm>
                <a:prstGeom prst="line">
                  <a:avLst/>
                </a:prstGeom>
                <a:ln w="28575" cmpd="sng">
                  <a:solidFill>
                    <a:srgbClr val="0079EF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1" name="그룹 70"/>
              <p:cNvGrpSpPr/>
              <p:nvPr/>
            </p:nvGrpSpPr>
            <p:grpSpPr>
              <a:xfrm>
                <a:off x="9847791" y="3263550"/>
                <a:ext cx="418641" cy="649573"/>
                <a:chOff x="9595858" y="3263550"/>
                <a:chExt cx="418641" cy="649573"/>
              </a:xfrm>
            </p:grpSpPr>
            <p:sp>
              <p:nvSpPr>
                <p:cNvPr id="60" name="Rounded Rectangle 7"/>
                <p:cNvSpPr/>
                <p:nvPr/>
              </p:nvSpPr>
              <p:spPr>
                <a:xfrm>
                  <a:off x="9595858" y="3498031"/>
                  <a:ext cx="418641" cy="415092"/>
                </a:xfrm>
                <a:prstGeom prst="roundRect">
                  <a:avLst/>
                </a:prstGeom>
                <a:solidFill>
                  <a:srgbClr val="0079E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+mn-ea"/>
                  </a:endParaRPr>
                </a:p>
              </p:txBody>
            </p:sp>
            <p:cxnSp>
              <p:nvCxnSpPr>
                <p:cNvPr id="65" name="Straight Connector 12"/>
                <p:cNvCxnSpPr/>
                <p:nvPr/>
              </p:nvCxnSpPr>
              <p:spPr>
                <a:xfrm>
                  <a:off x="9805178" y="3263550"/>
                  <a:ext cx="0" cy="253388"/>
                </a:xfrm>
                <a:prstGeom prst="line">
                  <a:avLst/>
                </a:prstGeom>
                <a:ln w="28575" cmpd="sng">
                  <a:solidFill>
                    <a:srgbClr val="0079EF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6" name="TextBox 65"/>
            <p:cNvSpPr txBox="1"/>
            <p:nvPr/>
          </p:nvSpPr>
          <p:spPr>
            <a:xfrm>
              <a:off x="8238483" y="2972991"/>
              <a:ext cx="148309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30213">
                <a:spcAft>
                  <a:spcPts val="400"/>
                </a:spcAft>
                <a:buSzPct val="100000"/>
              </a:pPr>
              <a:r>
                <a:rPr lang="en-US" altLang="ko-KR" sz="1100" b="1" dirty="0">
                  <a:latin typeface="+mn-ea"/>
                  <a:cs typeface="HP Simplified" pitchFamily="34" charset="0"/>
                </a:rPr>
                <a:t>10G Ethernet N/W </a:t>
              </a:r>
              <a:endParaRPr lang="en-US" sz="1100" b="1" dirty="0">
                <a:latin typeface="+mn-ea"/>
                <a:cs typeface="HP Simplified" pitchFamily="34" charset="0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7970741" y="3574932"/>
              <a:ext cx="2145870" cy="25200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noAutofit/>
            </a:bodyPr>
            <a:lstStyle/>
            <a:p>
              <a:pPr algn="ctr" defTabSz="430213">
                <a:spcAft>
                  <a:spcPts val="400"/>
                </a:spcAft>
                <a:buSzPct val="100000"/>
              </a:pPr>
              <a:r>
                <a:rPr lang="en-US" altLang="ko-KR" sz="1100" b="1" dirty="0">
                  <a:latin typeface="+mn-ea"/>
                  <a:cs typeface="HP Simplified" pitchFamily="34" charset="0"/>
                </a:rPr>
                <a:t>Commodity Servers</a:t>
              </a:r>
              <a:endParaRPr lang="en-US" sz="1100" b="1" dirty="0">
                <a:latin typeface="+mn-ea"/>
                <a:cs typeface="HP Simplified" pitchFamily="34" charset="0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7920204" y="4168366"/>
              <a:ext cx="285030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defTabSz="430213">
                <a:lnSpc>
                  <a:spcPts val="1200"/>
                </a:lnSpc>
                <a:buSzPct val="100000"/>
                <a:buFont typeface="Wingdings" pitchFamily="2" charset="2"/>
                <a:buChar char="§"/>
              </a:pPr>
              <a:r>
                <a:rPr lang="en-US" altLang="ko-KR" sz="1100" dirty="0">
                  <a:latin typeface="+mn-ea"/>
                  <a:cs typeface="HP Simplified" pitchFamily="34" charset="0"/>
                </a:rPr>
                <a:t>No specialized nodes</a:t>
              </a:r>
            </a:p>
            <a:p>
              <a:pPr marL="171450" indent="-171450" defTabSz="430213">
                <a:lnSpc>
                  <a:spcPts val="1200"/>
                </a:lnSpc>
                <a:buSzPct val="100000"/>
                <a:buFont typeface="Wingdings" pitchFamily="2" charset="2"/>
                <a:buChar char="§"/>
              </a:pPr>
              <a:r>
                <a:rPr lang="en-US" altLang="ko-KR" sz="1100" dirty="0">
                  <a:latin typeface="+mn-ea"/>
                  <a:cs typeface="HP Simplified" pitchFamily="34" charset="0"/>
                </a:rPr>
                <a:t>All nodes are peers</a:t>
              </a:r>
            </a:p>
            <a:p>
              <a:pPr marL="171450" indent="-171450" defTabSz="430213">
                <a:lnSpc>
                  <a:spcPts val="1200"/>
                </a:lnSpc>
                <a:buSzPct val="100000"/>
                <a:buFont typeface="Wingdings" pitchFamily="2" charset="2"/>
                <a:buChar char="§"/>
              </a:pPr>
              <a:r>
                <a:rPr lang="en-US" altLang="ko-KR" sz="1100" dirty="0">
                  <a:latin typeface="+mn-ea"/>
                  <a:cs typeface="HP Simplified" pitchFamily="34" charset="0"/>
                </a:rPr>
                <a:t>Query/Load to any node</a:t>
              </a:r>
            </a:p>
            <a:p>
              <a:pPr marL="171450" indent="-171450" defTabSz="430213">
                <a:lnSpc>
                  <a:spcPts val="1200"/>
                </a:lnSpc>
                <a:buSzPct val="100000"/>
                <a:buFont typeface="Wingdings" pitchFamily="2" charset="2"/>
                <a:buChar char="§"/>
              </a:pPr>
              <a:r>
                <a:rPr lang="en-US" altLang="ko-KR" sz="1100" dirty="0">
                  <a:latin typeface="+mn-ea"/>
                  <a:cs typeface="HP Simplified" pitchFamily="34" charset="0"/>
                </a:rPr>
                <a:t>Continuous/real-time load &amp; query</a:t>
              </a:r>
            </a:p>
          </p:txBody>
        </p:sp>
        <p:sp>
          <p:nvSpPr>
            <p:cNvPr id="69" name="Rectangle 17"/>
            <p:cNvSpPr/>
            <p:nvPr/>
          </p:nvSpPr>
          <p:spPr>
            <a:xfrm>
              <a:off x="8488904" y="2605603"/>
              <a:ext cx="108234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430213">
                <a:spcAft>
                  <a:spcPts val="400"/>
                </a:spcAft>
                <a:buSzPct val="100000"/>
              </a:pPr>
              <a:r>
                <a:rPr lang="en-US" sz="1600" b="1" dirty="0">
                  <a:latin typeface="+mn-ea"/>
                  <a:cs typeface="HP Simplified" pitchFamily="34" charset="0"/>
                </a:rPr>
                <a:t>VERTICA</a:t>
              </a:r>
            </a:p>
          </p:txBody>
        </p:sp>
      </p:grpSp>
      <p:graphicFrame>
        <p:nvGraphicFramePr>
          <p:cNvPr id="77" name="표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23299"/>
              </p:ext>
            </p:extLst>
          </p:nvPr>
        </p:nvGraphicFramePr>
        <p:xfrm>
          <a:off x="1510727" y="4717672"/>
          <a:ext cx="3351959" cy="1621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195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2184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81CD"/>
                          </a:solidFill>
                          <a:latin typeface="+mn-ea"/>
                          <a:ea typeface="+mn-ea"/>
                        </a:rPr>
                        <a:t>Other</a:t>
                      </a:r>
                      <a:r>
                        <a:rPr lang="en-US" altLang="ko-KR" sz="1400" baseline="0" dirty="0">
                          <a:solidFill>
                            <a:srgbClr val="0081CD"/>
                          </a:solidFill>
                          <a:latin typeface="+mn-ea"/>
                          <a:ea typeface="+mn-ea"/>
                        </a:rPr>
                        <a:t> System</a:t>
                      </a:r>
                      <a:endParaRPr lang="ko-KR" altLang="en-US" sz="1400" dirty="0">
                        <a:solidFill>
                          <a:srgbClr val="0081CD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7991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두 종류 이상의 서버</a:t>
                      </a:r>
                      <a:endParaRPr lang="ko-KR" altLang="en-US" sz="1100" b="0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5097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특별한 </a:t>
                      </a:r>
                      <a:r>
                        <a:rPr lang="en-US" altLang="ko-KR" sz="1100" dirty="0"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H/W </a:t>
                      </a:r>
                      <a:r>
                        <a:rPr lang="ko-KR" altLang="en-US" sz="1100" dirty="0"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사용으로 복잡도 증가</a:t>
                      </a:r>
                      <a:endParaRPr lang="en-US" sz="1100" b="0" dirty="0"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906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마스터 서버를 통한 작업 수행</a:t>
                      </a:r>
                      <a:endParaRPr lang="en-US" sz="1100" b="0" dirty="0"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27518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저가형 서버 사용</a:t>
                      </a:r>
                      <a:endParaRPr lang="en-US" sz="1100" b="0" dirty="0"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27518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dirty="0"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관리</a:t>
                      </a:r>
                      <a:r>
                        <a:rPr lang="en-US" altLang="ko-KR" sz="1100" dirty="0"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/</a:t>
                      </a:r>
                      <a:r>
                        <a:rPr lang="ko-KR" altLang="en-US" sz="1100" dirty="0"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운영에 다양한 고려사항 존재</a:t>
                      </a:r>
                      <a:endParaRPr lang="en-US" sz="1100" dirty="0"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4" name="표 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551060"/>
              </p:ext>
            </p:extLst>
          </p:nvPr>
        </p:nvGraphicFramePr>
        <p:xfrm>
          <a:off x="7635503" y="4712568"/>
          <a:ext cx="3721808" cy="1621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180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2184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0081CD"/>
                          </a:solidFill>
                          <a:latin typeface="+mn-ea"/>
                          <a:ea typeface="+mn-ea"/>
                        </a:rPr>
                        <a:t>VERTICA</a:t>
                      </a:r>
                      <a:endParaRPr lang="ko-KR" altLang="en-US" sz="1400" dirty="0">
                        <a:solidFill>
                          <a:srgbClr val="0081CD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7991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동일 스펙 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/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동일 구성의 서버</a:t>
                      </a:r>
                      <a:endParaRPr lang="en-US" altLang="ko-KR" sz="11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5097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단순한 구성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906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아무 서버에나 작업을 요청하면 전 노드가 병렬 수행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27518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시장의 신뢰도를 확보한 서버 사용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27518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관리 및 사용 용이성 확보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10271875" y="6362798"/>
            <a:ext cx="306355" cy="274324"/>
          </a:xfrm>
        </p:spPr>
        <p:txBody>
          <a:bodyPr/>
          <a:lstStyle/>
          <a:p>
            <a:fld id="{AFA02C0B-84B5-4CD2-A6CE-C6BD7D6F9045}" type="slidenum">
              <a:rPr lang="ko-KR" altLang="en-US" smtClean="0">
                <a:solidFill>
                  <a:schemeClr val="bg1"/>
                </a:solidFill>
                <a:latin typeface="+mn-ea"/>
                <a:ea typeface="+mn-ea"/>
              </a:rPr>
              <a:t>9</a:t>
            </a:fld>
            <a:endParaRPr lang="ko-KR" altLang="en-US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93979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Vertica </a:t>
            </a:r>
            <a:r>
              <a:rPr lang="ko-KR" altLang="en-US" dirty="0">
                <a:latin typeface="+mj-ea"/>
                <a:ea typeface="+mj-ea"/>
              </a:rPr>
              <a:t>아키텍처 특징 </a:t>
            </a:r>
            <a:r>
              <a:rPr lang="en-US" altLang="ko-KR" sz="1400" dirty="0">
                <a:latin typeface="+mj-ea"/>
                <a:ea typeface="+mj-ea"/>
              </a:rPr>
              <a:t>&gt; </a:t>
            </a:r>
            <a:r>
              <a:rPr lang="en-US" altLang="ko-KR" sz="1400" dirty="0">
                <a:solidFill>
                  <a:srgbClr val="0083CE"/>
                </a:solidFill>
                <a:latin typeface="+mj-ea"/>
                <a:ea typeface="+mj-ea"/>
              </a:rPr>
              <a:t>Native Columnar</a:t>
            </a:r>
            <a:endParaRPr lang="ko-KR" altLang="en-US" dirty="0">
              <a:solidFill>
                <a:srgbClr val="0083CE"/>
              </a:solidFill>
              <a:latin typeface="+mj-ea"/>
              <a:ea typeface="+mj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715639" y="1387082"/>
            <a:ext cx="10891643" cy="9316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대용량 데이터를 관리하는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DW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데이터베이스의 성능은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I/O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를 얼마나 줄일 수 있느냐에 달려 있습니다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. </a:t>
            </a:r>
          </a:p>
          <a:p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Vertica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의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Columnar DBMS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아키텍처는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Query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수행에 필요한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Column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만을 읽어 올 수 있도록 설계되었기 때문에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, Query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시 마다 모든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`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 열을 읽어와야 하는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row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기반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DBMS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와 비교하여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I/O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발생량을 획기적으로 감소시킬 수 있습니다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.</a:t>
            </a: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Pretendard Variable Medium" panose="02000003000000020004" pitchFamily="2" charset="-127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9392" y="2786194"/>
            <a:ext cx="5367083" cy="26240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내용 개체 틀 2"/>
          <p:cNvSpPr txBox="1">
            <a:spLocks/>
          </p:cNvSpPr>
          <p:nvPr/>
        </p:nvSpPr>
        <p:spPr bwMode="auto">
          <a:xfrm>
            <a:off x="6519155" y="2958162"/>
            <a:ext cx="5310568" cy="224676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lvl="1">
              <a:lnSpc>
                <a:spcPct val="200000"/>
              </a:lnSpc>
              <a:buClr>
                <a:schemeClr val="tx2"/>
              </a:buClr>
              <a:defRPr/>
            </a:pPr>
            <a:r>
              <a:rPr lang="ko-KR" altLang="en-US" sz="1100" b="1" kern="0" dirty="0">
                <a:solidFill>
                  <a:srgbClr val="0083CE"/>
                </a:solidFill>
                <a:latin typeface="+mn-ea"/>
                <a:cs typeface="Pretendard Variable SemiBold" panose="02000003000000020004" pitchFamily="2" charset="-127"/>
              </a:rPr>
              <a:t>◆</a:t>
            </a:r>
            <a:r>
              <a:rPr lang="ko-KR" altLang="en-US" sz="1400" b="1" kern="0" dirty="0">
                <a:latin typeface="+mn-ea"/>
                <a:cs typeface="Pretendard Variable SemiBold" panose="02000003000000020004" pitchFamily="2" charset="-127"/>
              </a:rPr>
              <a:t> 압축과 질의가 물리적인 </a:t>
            </a:r>
            <a:r>
              <a:rPr lang="en-US" altLang="ko-KR" sz="1400" b="1" kern="0" dirty="0">
                <a:latin typeface="+mn-ea"/>
                <a:cs typeface="Pretendard Variable SemiBold" panose="02000003000000020004" pitchFamily="2" charset="-127"/>
              </a:rPr>
              <a:t>I/O </a:t>
            </a:r>
            <a:r>
              <a:rPr lang="ko-KR" altLang="en-US" sz="1400" b="1" kern="0" dirty="0">
                <a:latin typeface="+mn-ea"/>
                <a:cs typeface="Pretendard Variable SemiBold" panose="02000003000000020004" pitchFamily="2" charset="-127"/>
              </a:rPr>
              <a:t>레벨부터 컬럼 단위로 처리</a:t>
            </a:r>
          </a:p>
          <a:p>
            <a:pPr marL="0" lvl="1">
              <a:lnSpc>
                <a:spcPct val="200000"/>
              </a:lnSpc>
              <a:buClr>
                <a:schemeClr val="tx2"/>
              </a:buClr>
              <a:defRPr/>
            </a:pPr>
            <a:r>
              <a:rPr lang="ko-KR" altLang="en-US" sz="1100" b="1" kern="0" dirty="0">
                <a:solidFill>
                  <a:srgbClr val="0083CE"/>
                </a:solidFill>
                <a:latin typeface="+mn-ea"/>
                <a:cs typeface="Pretendard Variable SemiBold" panose="02000003000000020004" pitchFamily="2" charset="-127"/>
              </a:rPr>
              <a:t>◆</a:t>
            </a:r>
            <a:r>
              <a:rPr lang="ko-KR" altLang="en-US" sz="1400" b="1" kern="0" dirty="0">
                <a:latin typeface="+mn-ea"/>
                <a:cs typeface="Pretendard Variable SemiBold" panose="02000003000000020004" pitchFamily="2" charset="-127"/>
              </a:rPr>
              <a:t> </a:t>
            </a:r>
            <a:r>
              <a:rPr lang="ko-KR" altLang="en-US" sz="1400" b="1" kern="0" dirty="0" err="1">
                <a:latin typeface="+mn-ea"/>
                <a:cs typeface="Pretendard Variable SemiBold" panose="02000003000000020004" pitchFamily="2" charset="-127"/>
              </a:rPr>
              <a:t>컬럼</a:t>
            </a:r>
            <a:r>
              <a:rPr lang="ko-KR" altLang="en-US" sz="1400" b="1" kern="0" dirty="0">
                <a:latin typeface="+mn-ea"/>
                <a:cs typeface="Pretendard Variable SemiBold" panose="02000003000000020004" pitchFamily="2" charset="-127"/>
              </a:rPr>
              <a:t> 기반 저장 기술에 맞는 쿼리 옵티마이저</a:t>
            </a:r>
          </a:p>
          <a:p>
            <a:pPr marL="0" lvl="1">
              <a:lnSpc>
                <a:spcPct val="200000"/>
              </a:lnSpc>
              <a:buClr>
                <a:schemeClr val="tx2"/>
              </a:buClr>
              <a:defRPr/>
            </a:pPr>
            <a:r>
              <a:rPr lang="ko-KR" altLang="en-US" sz="1100" b="1" kern="0" dirty="0">
                <a:solidFill>
                  <a:srgbClr val="0083CE"/>
                </a:solidFill>
                <a:latin typeface="+mn-ea"/>
                <a:cs typeface="Pretendard Variable SemiBold" panose="02000003000000020004" pitchFamily="2" charset="-127"/>
              </a:rPr>
              <a:t>◆</a:t>
            </a:r>
            <a:r>
              <a:rPr lang="ko-KR" altLang="en-US" sz="1400" b="1" kern="0" dirty="0">
                <a:latin typeface="+mn-ea"/>
                <a:cs typeface="Pretendard Variable SemiBold" panose="02000003000000020004" pitchFamily="2" charset="-127"/>
              </a:rPr>
              <a:t> </a:t>
            </a:r>
            <a:r>
              <a:rPr lang="ko-KR" altLang="en-US" sz="1400" b="1" kern="0" dirty="0" err="1">
                <a:latin typeface="+mn-ea"/>
                <a:cs typeface="Pretendard Variable SemiBold" panose="02000003000000020004" pitchFamily="2" charset="-127"/>
              </a:rPr>
              <a:t>컬럼</a:t>
            </a:r>
            <a:r>
              <a:rPr lang="ko-KR" altLang="en-US" sz="1400" b="1" kern="0" dirty="0">
                <a:latin typeface="+mn-ea"/>
                <a:cs typeface="Pretendard Variable SemiBold" panose="02000003000000020004" pitchFamily="2" charset="-127"/>
              </a:rPr>
              <a:t> 단위 저장</a:t>
            </a:r>
            <a:r>
              <a:rPr lang="en-US" altLang="ko-KR" sz="1400" b="1" kern="0" dirty="0">
                <a:latin typeface="+mn-ea"/>
                <a:cs typeface="Pretendard Variable SemiBold" panose="02000003000000020004" pitchFamily="2" charset="-127"/>
              </a:rPr>
              <a:t>, </a:t>
            </a:r>
            <a:r>
              <a:rPr lang="ko-KR" altLang="en-US" sz="1400" b="1" kern="0" dirty="0">
                <a:latin typeface="+mn-ea"/>
                <a:cs typeface="Pretendard Variable SemiBold" panose="02000003000000020004" pitchFamily="2" charset="-127"/>
              </a:rPr>
              <a:t>처리를 위한 별도의 옵션이나 절차가 불필요</a:t>
            </a:r>
          </a:p>
          <a:p>
            <a:pPr marL="0" lvl="1">
              <a:lnSpc>
                <a:spcPct val="200000"/>
              </a:lnSpc>
              <a:buClr>
                <a:schemeClr val="tx2"/>
              </a:buClr>
              <a:defRPr/>
            </a:pPr>
            <a:r>
              <a:rPr lang="ko-KR" altLang="en-US" sz="1100" b="1" kern="0" dirty="0">
                <a:solidFill>
                  <a:srgbClr val="0083CE"/>
                </a:solidFill>
                <a:latin typeface="+mn-ea"/>
                <a:cs typeface="Pretendard Variable SemiBold" panose="02000003000000020004" pitchFamily="2" charset="-127"/>
              </a:rPr>
              <a:t>◆</a:t>
            </a:r>
            <a:r>
              <a:rPr lang="ko-KR" altLang="en-US" sz="1400" b="1" kern="0" dirty="0">
                <a:latin typeface="+mn-ea"/>
                <a:cs typeface="Pretendard Variable SemiBold" panose="02000003000000020004" pitchFamily="2" charset="-127"/>
              </a:rPr>
              <a:t> </a:t>
            </a:r>
            <a:r>
              <a:rPr lang="ko-KR" altLang="en-US" sz="1400" b="1" kern="0" dirty="0" err="1">
                <a:latin typeface="+mn-ea"/>
                <a:cs typeface="Pretendard Variable SemiBold" panose="02000003000000020004" pitchFamily="2" charset="-127"/>
              </a:rPr>
              <a:t>컬럼</a:t>
            </a:r>
            <a:r>
              <a:rPr lang="ko-KR" altLang="en-US" sz="1400" b="1" kern="0" dirty="0">
                <a:latin typeface="+mn-ea"/>
                <a:cs typeface="Pretendard Variable SemiBold" panose="02000003000000020004" pitchFamily="2" charset="-127"/>
              </a:rPr>
              <a:t> 저장 구조에 최적화된 데이터 적재와 트랜잭션 처리</a:t>
            </a:r>
          </a:p>
          <a:p>
            <a:pPr marL="0" lvl="1">
              <a:lnSpc>
                <a:spcPct val="200000"/>
              </a:lnSpc>
              <a:buClr>
                <a:schemeClr val="tx2"/>
              </a:buClr>
              <a:defRPr/>
            </a:pPr>
            <a:r>
              <a:rPr lang="ko-KR" altLang="en-US" sz="1100" b="1" kern="0" dirty="0">
                <a:solidFill>
                  <a:srgbClr val="0083CE"/>
                </a:solidFill>
                <a:latin typeface="+mn-ea"/>
                <a:cs typeface="Pretendard Variable SemiBold" panose="02000003000000020004" pitchFamily="2" charset="-127"/>
              </a:rPr>
              <a:t>◆</a:t>
            </a:r>
            <a:r>
              <a:rPr lang="ko-KR" altLang="en-US" sz="1400" b="1" kern="0" dirty="0">
                <a:latin typeface="+mn-ea"/>
                <a:cs typeface="Pretendard Variable SemiBold" panose="02000003000000020004" pitchFamily="2" charset="-127"/>
              </a:rPr>
              <a:t> 적은 하드웨어 리소스로 다른 </a:t>
            </a:r>
            <a:r>
              <a:rPr lang="en-US" altLang="ko-KR" sz="1400" b="1" kern="0" dirty="0">
                <a:latin typeface="+mn-ea"/>
                <a:cs typeface="Pretendard Variable SemiBold" panose="02000003000000020004" pitchFamily="2" charset="-127"/>
              </a:rPr>
              <a:t>DBMS</a:t>
            </a:r>
            <a:r>
              <a:rPr lang="ko-KR" altLang="en-US" sz="1400" b="1" kern="0" dirty="0">
                <a:latin typeface="+mn-ea"/>
                <a:cs typeface="Pretendard Variable SemiBold" panose="02000003000000020004" pitchFamily="2" charset="-127"/>
              </a:rPr>
              <a:t>와 동일한 작업 수행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10285794" y="6362798"/>
            <a:ext cx="278505" cy="274324"/>
          </a:xfrm>
        </p:spPr>
        <p:txBody>
          <a:bodyPr/>
          <a:lstStyle/>
          <a:p>
            <a:fld id="{AFA02C0B-84B5-4CD2-A6CE-C6BD7D6F9045}" type="slidenum">
              <a:rPr lang="ko-KR" altLang="en-US" smtClean="0">
                <a:solidFill>
                  <a:schemeClr val="bg1"/>
                </a:solidFill>
              </a:rPr>
              <a:t>10</a:t>
            </a:fld>
            <a:endParaRPr lang="ko-KR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9576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Vertica </a:t>
            </a:r>
            <a:r>
              <a:rPr lang="ko-KR" altLang="en-US" dirty="0">
                <a:latin typeface="+mj-ea"/>
                <a:ea typeface="+mj-ea"/>
              </a:rPr>
              <a:t>아키텍처 특징 </a:t>
            </a:r>
            <a:r>
              <a:rPr lang="en-US" altLang="ko-KR" sz="1400" dirty="0">
                <a:latin typeface="+mj-ea"/>
                <a:ea typeface="+mj-ea"/>
              </a:rPr>
              <a:t>&gt; </a:t>
            </a:r>
            <a:r>
              <a:rPr lang="ko-KR" altLang="en-US" sz="1400" dirty="0">
                <a:solidFill>
                  <a:srgbClr val="0083CE"/>
                </a:solidFill>
                <a:latin typeface="+mj-ea"/>
                <a:ea typeface="+mj-ea"/>
              </a:rPr>
              <a:t>압축 및 인코딩으로 </a:t>
            </a:r>
            <a:r>
              <a:rPr lang="en-US" altLang="ko-KR" sz="1400" dirty="0">
                <a:solidFill>
                  <a:srgbClr val="0083CE"/>
                </a:solidFill>
                <a:latin typeface="+mj-ea"/>
                <a:ea typeface="+mj-ea"/>
              </a:rPr>
              <a:t>I/O </a:t>
            </a:r>
            <a:r>
              <a:rPr lang="ko-KR" altLang="en-US" sz="1400" dirty="0">
                <a:solidFill>
                  <a:srgbClr val="0083CE"/>
                </a:solidFill>
                <a:latin typeface="+mj-ea"/>
                <a:ea typeface="+mj-ea"/>
              </a:rPr>
              <a:t>최소화</a:t>
            </a:r>
            <a:endParaRPr lang="ko-KR" altLang="en-US" dirty="0">
              <a:solidFill>
                <a:srgbClr val="0083CE"/>
              </a:solidFill>
              <a:latin typeface="+mj-ea"/>
              <a:ea typeface="+mj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715639" y="1387082"/>
            <a:ext cx="10891643" cy="9316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서로 다른 데이터 타입이 혼재되어 있어 압축률이 좋지 않은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row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기반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DBMS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와는 달리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,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동일한 데이터 타입을 가지는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column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단위로 데이터를 저장하는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column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기반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DBMS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는 높은 압축률을 제공합니다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.</a:t>
            </a:r>
          </a:p>
          <a:p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Vertica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에 내장된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12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가지 데이터 인코딩 및 압축 알고리즘은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75%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이상의 압축률을 제공하여 스토리지 사용량을 효과적으로 절감할 수 있도록 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.</a:t>
            </a: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Pretendard Variable Medium" panose="02000003000000020004" pitchFamily="2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10289823" y="6362798"/>
            <a:ext cx="253186" cy="274324"/>
          </a:xfrm>
        </p:spPr>
        <p:txBody>
          <a:bodyPr/>
          <a:lstStyle/>
          <a:p>
            <a:fld id="{AFA02C0B-84B5-4CD2-A6CE-C6BD7D6F9045}" type="slidenum">
              <a:rPr lang="ko-KR" altLang="en-US" smtClean="0">
                <a:solidFill>
                  <a:schemeClr val="bg1"/>
                </a:solidFill>
              </a:rPr>
              <a:t>11</a:t>
            </a:fld>
            <a:endParaRPr lang="ko-KR" altLang="en-US">
              <a:solidFill>
                <a:schemeClr val="bg1"/>
              </a:solidFill>
            </a:endParaRPr>
          </a:p>
        </p:txBody>
      </p:sp>
      <p:pic>
        <p:nvPicPr>
          <p:cNvPr id="48" name="Picture 3">
            <a:extLst>
              <a:ext uri="{FF2B5EF4-FFF2-40B4-BE49-F238E27FC236}">
                <a16:creationId xmlns="" xmlns:a16="http://schemas.microsoft.com/office/drawing/2014/main" id="{66A3B4AB-C371-56F0-D6F0-70D95F3973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3492" y="4697079"/>
            <a:ext cx="1920090" cy="1686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9" name="Rectangle 80">
            <a:extLst>
              <a:ext uri="{FF2B5EF4-FFF2-40B4-BE49-F238E27FC236}">
                <a16:creationId xmlns="" xmlns:a16="http://schemas.microsoft.com/office/drawing/2014/main" id="{EE01EDB7-4C3C-BB93-D328-CDB567D4A82E}"/>
              </a:ext>
            </a:extLst>
          </p:cNvPr>
          <p:cNvSpPr/>
          <p:nvPr/>
        </p:nvSpPr>
        <p:spPr bwMode="auto">
          <a:xfrm>
            <a:off x="5362558" y="2900586"/>
            <a:ext cx="3809999" cy="2788076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ysClr val="window" lastClr="FFFFFF">
                <a:lumMod val="75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Calibri"/>
              <a:ea typeface="MS PGothic" pitchFamily="34" charset="-128"/>
              <a:cs typeface="Arial" charset="0"/>
            </a:endParaRPr>
          </a:p>
        </p:txBody>
      </p:sp>
      <p:grpSp>
        <p:nvGrpSpPr>
          <p:cNvPr id="50" name="Group 71">
            <a:extLst>
              <a:ext uri="{FF2B5EF4-FFF2-40B4-BE49-F238E27FC236}">
                <a16:creationId xmlns="" xmlns:a16="http://schemas.microsoft.com/office/drawing/2014/main" id="{F869192C-8AA0-2AA5-DEC7-6DC2A6D56F0B}"/>
              </a:ext>
            </a:extLst>
          </p:cNvPr>
          <p:cNvGrpSpPr>
            <a:grpSpLocks/>
          </p:cNvGrpSpPr>
          <p:nvPr/>
        </p:nvGrpSpPr>
        <p:grpSpPr bwMode="auto">
          <a:xfrm>
            <a:off x="7909232" y="3205386"/>
            <a:ext cx="1355172" cy="1262851"/>
            <a:chOff x="7917969" y="4368598"/>
            <a:chExt cx="1149166" cy="1120318"/>
          </a:xfrm>
        </p:grpSpPr>
        <p:graphicFrame>
          <p:nvGraphicFramePr>
            <p:cNvPr id="51" name="Diagram 89">
              <a:extLst>
                <a:ext uri="{FF2B5EF4-FFF2-40B4-BE49-F238E27FC236}">
                  <a16:creationId xmlns="" xmlns:a16="http://schemas.microsoft.com/office/drawing/2014/main" id="{087389DB-A016-DF6C-1F52-7BCCF7CA9E4A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544081735"/>
                </p:ext>
              </p:extLst>
            </p:nvPr>
          </p:nvGraphicFramePr>
          <p:xfrm>
            <a:off x="7917969" y="4388473"/>
            <a:ext cx="774847" cy="110044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sp>
          <p:nvSpPr>
            <p:cNvPr id="52" name="TextBox 10">
              <a:extLst>
                <a:ext uri="{FF2B5EF4-FFF2-40B4-BE49-F238E27FC236}">
                  <a16:creationId xmlns="" xmlns:a16="http://schemas.microsoft.com/office/drawing/2014/main" id="{2A2E301F-57AB-B9B8-A2AD-559ADDDABB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7186" y="4368598"/>
              <a:ext cx="679949" cy="5733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Calibri"/>
                </a:rPr>
                <a:t>Engine</a:t>
              </a:r>
            </a:p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Calibri"/>
                </a:rPr>
                <a:t>processes encoded blocks</a:t>
              </a:r>
            </a:p>
          </p:txBody>
        </p:sp>
      </p:grpSp>
      <p:sp>
        <p:nvSpPr>
          <p:cNvPr id="53" name="Cloud 92">
            <a:extLst>
              <a:ext uri="{FF2B5EF4-FFF2-40B4-BE49-F238E27FC236}">
                <a16:creationId xmlns="" xmlns:a16="http://schemas.microsoft.com/office/drawing/2014/main" id="{00021992-EA33-4E1B-9924-0858CAF4F348}"/>
              </a:ext>
            </a:extLst>
          </p:cNvPr>
          <p:cNvSpPr/>
          <p:nvPr/>
        </p:nvSpPr>
        <p:spPr bwMode="auto">
          <a:xfrm>
            <a:off x="6639598" y="3249549"/>
            <a:ext cx="1008960" cy="794039"/>
          </a:xfrm>
          <a:prstGeom prst="cloud">
            <a:avLst/>
          </a:prstGeom>
          <a:solidFill>
            <a:srgbClr val="0079EF"/>
          </a:solidFill>
          <a:ln w="9525" cap="flat" cmpd="sng" algn="ctr">
            <a:solidFill>
              <a:sysClr val="window" lastClr="FFFF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rPr>
              <a:t>    Uncompress</a:t>
            </a:r>
          </a:p>
        </p:txBody>
      </p:sp>
      <p:grpSp>
        <p:nvGrpSpPr>
          <p:cNvPr id="54" name="Group 72">
            <a:extLst>
              <a:ext uri="{FF2B5EF4-FFF2-40B4-BE49-F238E27FC236}">
                <a16:creationId xmlns="" xmlns:a16="http://schemas.microsoft.com/office/drawing/2014/main" id="{3BA9FCA8-0FA5-F5B2-3E86-B32120A47B97}"/>
              </a:ext>
            </a:extLst>
          </p:cNvPr>
          <p:cNvGrpSpPr>
            <a:grpSpLocks/>
          </p:cNvGrpSpPr>
          <p:nvPr/>
        </p:nvGrpSpPr>
        <p:grpSpPr bwMode="auto">
          <a:xfrm>
            <a:off x="6706130" y="4160029"/>
            <a:ext cx="1399628" cy="1424837"/>
            <a:chOff x="6898205" y="5215037"/>
            <a:chExt cx="1186951" cy="1264795"/>
          </a:xfrm>
        </p:grpSpPr>
        <p:graphicFrame>
          <p:nvGraphicFramePr>
            <p:cNvPr id="55" name="Diagram 95">
              <a:extLst>
                <a:ext uri="{FF2B5EF4-FFF2-40B4-BE49-F238E27FC236}">
                  <a16:creationId xmlns="" xmlns:a16="http://schemas.microsoft.com/office/drawing/2014/main" id="{42347F5C-749A-DB84-F3CB-30BF121A5C1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822239447"/>
                </p:ext>
              </p:extLst>
            </p:nvPr>
          </p:nvGraphicFramePr>
          <p:xfrm>
            <a:off x="7193726" y="5215037"/>
            <a:ext cx="808204" cy="1055158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8" r:lo="rId9" r:qs="rId10" r:cs="rId11"/>
            </a:graphicData>
          </a:graphic>
        </p:graphicFrame>
        <p:sp>
          <p:nvSpPr>
            <p:cNvPr id="56" name="TextBox 13">
              <a:extLst>
                <a:ext uri="{FF2B5EF4-FFF2-40B4-BE49-F238E27FC236}">
                  <a16:creationId xmlns="" xmlns:a16="http://schemas.microsoft.com/office/drawing/2014/main" id="{B5FAEB92-7397-6073-DF80-04274CC3FE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8205" y="6029042"/>
              <a:ext cx="1186951" cy="4507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Calibri"/>
                </a:rPr>
                <a:t>Materialization: </a:t>
              </a:r>
            </a:p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Calibri"/>
                </a:rPr>
                <a:t>full row result set is created</a:t>
              </a:r>
            </a:p>
          </p:txBody>
        </p:sp>
      </p:grpSp>
      <p:sp>
        <p:nvSpPr>
          <p:cNvPr id="57" name="Can 88">
            <a:extLst>
              <a:ext uri="{FF2B5EF4-FFF2-40B4-BE49-F238E27FC236}">
                <a16:creationId xmlns="" xmlns:a16="http://schemas.microsoft.com/office/drawing/2014/main" id="{9EC8DBC0-2D23-D8FA-7C80-FA160B6F6320}"/>
              </a:ext>
            </a:extLst>
          </p:cNvPr>
          <p:cNvSpPr/>
          <p:nvPr/>
        </p:nvSpPr>
        <p:spPr bwMode="auto">
          <a:xfrm>
            <a:off x="5514958" y="3317506"/>
            <a:ext cx="756877" cy="701042"/>
          </a:xfrm>
          <a:prstGeom prst="can">
            <a:avLst/>
          </a:prstGeom>
          <a:solidFill>
            <a:srgbClr val="0079EF"/>
          </a:solidFill>
          <a:ln w="6350">
            <a:solidFill>
              <a:sysClr val="window" lastClr="FFFFFF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MS PGothic"/>
              </a:rPr>
              <a:t>Data on Disk: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MS PGothic"/>
              </a:rPr>
              <a:t>Encoded +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MS PGothic"/>
              </a:rPr>
              <a:t>Compressed</a:t>
            </a:r>
          </a:p>
        </p:txBody>
      </p:sp>
      <p:grpSp>
        <p:nvGrpSpPr>
          <p:cNvPr id="58" name="Group 70">
            <a:extLst>
              <a:ext uri="{FF2B5EF4-FFF2-40B4-BE49-F238E27FC236}">
                <a16:creationId xmlns="" xmlns:a16="http://schemas.microsoft.com/office/drawing/2014/main" id="{FAF24AF9-FE6F-44CB-BEFD-344956883A2E}"/>
              </a:ext>
            </a:extLst>
          </p:cNvPr>
          <p:cNvGrpSpPr>
            <a:grpSpLocks/>
          </p:cNvGrpSpPr>
          <p:nvPr/>
        </p:nvGrpSpPr>
        <p:grpSpPr bwMode="auto">
          <a:xfrm>
            <a:off x="5606798" y="4672686"/>
            <a:ext cx="878652" cy="791179"/>
            <a:chOff x="5967449" y="5604812"/>
            <a:chExt cx="744538" cy="702958"/>
          </a:xfrm>
        </p:grpSpPr>
        <p:sp>
          <p:nvSpPr>
            <p:cNvPr id="59" name="TextBox 16">
              <a:extLst>
                <a:ext uri="{FF2B5EF4-FFF2-40B4-BE49-F238E27FC236}">
                  <a16:creationId xmlns="" xmlns:a16="http://schemas.microsoft.com/office/drawing/2014/main" id="{0B1EC941-7F9B-9807-764C-CAF0F6E06F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67449" y="6076726"/>
              <a:ext cx="744538" cy="2310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latinLnBrk="0" hangingPunct="0">
                <a:defRPr/>
              </a:pPr>
              <a:r>
                <a:rPr lang="en-US" sz="900" b="1" dirty="0">
                  <a:solidFill>
                    <a:srgbClr val="000000"/>
                  </a:solidFill>
                  <a:latin typeface="Calibri"/>
                  <a:ea typeface="MS PGothic"/>
                </a:rPr>
                <a:t>Results</a:t>
              </a:r>
            </a:p>
          </p:txBody>
        </p:sp>
        <p:pic>
          <p:nvPicPr>
            <p:cNvPr id="60" name="Picture 69" descr="spreadsheet_clipart.png">
              <a:extLst>
                <a:ext uri="{FF2B5EF4-FFF2-40B4-BE49-F238E27FC236}">
                  <a16:creationId xmlns="" xmlns:a16="http://schemas.microsoft.com/office/drawing/2014/main" id="{71FE3196-5001-80BA-E818-C4E45F21F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/>
            <a:srcRect/>
            <a:stretch>
              <a:fillRect/>
            </a:stretch>
          </p:blipFill>
          <p:spPr bwMode="auto">
            <a:xfrm>
              <a:off x="6096588" y="5604812"/>
              <a:ext cx="488786" cy="5091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61" name="Rectangle 81">
            <a:extLst>
              <a:ext uri="{FF2B5EF4-FFF2-40B4-BE49-F238E27FC236}">
                <a16:creationId xmlns="" xmlns:a16="http://schemas.microsoft.com/office/drawing/2014/main" id="{5F989A19-E9C3-E377-4BD3-0229624654E7}"/>
              </a:ext>
            </a:extLst>
          </p:cNvPr>
          <p:cNvSpPr/>
          <p:nvPr/>
        </p:nvSpPr>
        <p:spPr bwMode="auto">
          <a:xfrm>
            <a:off x="1243372" y="2945463"/>
            <a:ext cx="4038600" cy="2760477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ysClr val="window" lastClr="FFFFFF">
                <a:lumMod val="75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Calibri"/>
              <a:ea typeface="MS PGothic" pitchFamily="34" charset="-128"/>
              <a:cs typeface="Arial" charset="0"/>
            </a:endParaRPr>
          </a:p>
        </p:txBody>
      </p:sp>
      <p:grpSp>
        <p:nvGrpSpPr>
          <p:cNvPr id="62" name="Group 131">
            <a:extLst>
              <a:ext uri="{FF2B5EF4-FFF2-40B4-BE49-F238E27FC236}">
                <a16:creationId xmlns="" xmlns:a16="http://schemas.microsoft.com/office/drawing/2014/main" id="{F69E2D07-E515-62E8-D8F5-D9270043A111}"/>
              </a:ext>
            </a:extLst>
          </p:cNvPr>
          <p:cNvGrpSpPr>
            <a:grpSpLocks/>
          </p:cNvGrpSpPr>
          <p:nvPr/>
        </p:nvGrpSpPr>
        <p:grpSpPr bwMode="auto">
          <a:xfrm>
            <a:off x="1490745" y="2994064"/>
            <a:ext cx="3486426" cy="2667000"/>
            <a:chOff x="215558" y="3972794"/>
            <a:chExt cx="2948977" cy="2290193"/>
          </a:xfrm>
        </p:grpSpPr>
        <p:sp>
          <p:nvSpPr>
            <p:cNvPr id="63" name="AutoShape 7">
              <a:extLst>
                <a:ext uri="{FF2B5EF4-FFF2-40B4-BE49-F238E27FC236}">
                  <a16:creationId xmlns="" xmlns:a16="http://schemas.microsoft.com/office/drawing/2014/main" id="{439FDD44-CD36-B20B-8591-1AAAB1E9953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5558" y="3995029"/>
              <a:ext cx="2948977" cy="2267958"/>
            </a:xfrm>
            <a:prstGeom prst="can">
              <a:avLst>
                <a:gd name="adj" fmla="val 7472"/>
              </a:avLst>
            </a:prstGeom>
            <a:solidFill>
              <a:sysClr val="window" lastClr="FFFFFF"/>
            </a:solidFill>
            <a:ln w="3175">
              <a:solidFill>
                <a:srgbClr val="0079EF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MS PGothic"/>
              </a:endParaRPr>
            </a:p>
          </p:txBody>
        </p:sp>
        <p:sp>
          <p:nvSpPr>
            <p:cNvPr id="64" name="TextBox 20">
              <a:extLst>
                <a:ext uri="{FF2B5EF4-FFF2-40B4-BE49-F238E27FC236}">
                  <a16:creationId xmlns="" xmlns:a16="http://schemas.microsoft.com/office/drawing/2014/main" id="{05A96F0D-54CA-4181-F70A-138D3F44D649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80011" y="3972794"/>
              <a:ext cx="1056042" cy="1982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344C7E"/>
                  </a:solidFill>
                  <a:effectLst/>
                  <a:uLnTx/>
                  <a:uFillTx/>
                  <a:latin typeface="Calibri"/>
                  <a:ea typeface="MS PGothic"/>
                </a:rPr>
                <a:t> Transaction Date</a:t>
              </a:r>
            </a:p>
          </p:txBody>
        </p:sp>
        <p:sp>
          <p:nvSpPr>
            <p:cNvPr id="65" name="TextBox 20">
              <a:extLst>
                <a:ext uri="{FF2B5EF4-FFF2-40B4-BE49-F238E27FC236}">
                  <a16:creationId xmlns="" xmlns:a16="http://schemas.microsoft.com/office/drawing/2014/main" id="{B3568C94-16CE-9A24-9ABA-0BD6D8384AC1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295386" y="3972794"/>
              <a:ext cx="875985" cy="1982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344C7E"/>
                  </a:solidFill>
                  <a:effectLst/>
                  <a:uLnTx/>
                  <a:uFillTx/>
                  <a:latin typeface="Calibri"/>
                  <a:ea typeface="MS PGothic"/>
                </a:rPr>
                <a:t>Customer  ID </a:t>
              </a:r>
            </a:p>
          </p:txBody>
        </p:sp>
        <p:sp>
          <p:nvSpPr>
            <p:cNvPr id="66" name="TextBox 20">
              <a:extLst>
                <a:ext uri="{FF2B5EF4-FFF2-40B4-BE49-F238E27FC236}">
                  <a16:creationId xmlns="" xmlns:a16="http://schemas.microsoft.com/office/drawing/2014/main" id="{621694F4-F40B-683C-21B2-4CB2E65686A8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259369" y="3972794"/>
              <a:ext cx="727686" cy="1982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344C7E"/>
                  </a:solidFill>
                  <a:effectLst/>
                  <a:uLnTx/>
                  <a:uFillTx/>
                  <a:latin typeface="Calibri"/>
                  <a:ea typeface="MS PGothic"/>
                </a:rPr>
                <a:t>Trade</a:t>
              </a:r>
            </a:p>
          </p:txBody>
        </p:sp>
      </p:grpSp>
      <p:sp>
        <p:nvSpPr>
          <p:cNvPr id="67" name="AutoShape 8">
            <a:extLst>
              <a:ext uri="{FF2B5EF4-FFF2-40B4-BE49-F238E27FC236}">
                <a16:creationId xmlns="" xmlns:a16="http://schemas.microsoft.com/office/drawing/2014/main" id="{7A3C0EFE-1CC8-DCCB-5042-17C87C4814A8}"/>
              </a:ext>
            </a:extLst>
          </p:cNvPr>
          <p:cNvSpPr>
            <a:spLocks noChangeArrowheads="1"/>
          </p:cNvSpPr>
          <p:nvPr/>
        </p:nvSpPr>
        <p:spPr bwMode="gray">
          <a:xfrm>
            <a:off x="1814034" y="3240127"/>
            <a:ext cx="800937" cy="1676183"/>
          </a:xfrm>
          <a:prstGeom prst="roundRect">
            <a:avLst>
              <a:gd name="adj" fmla="val 16667"/>
            </a:avLst>
          </a:prstGeom>
          <a:solidFill>
            <a:srgbClr val="DAEBFA"/>
          </a:solidFill>
          <a:ln w="12700">
            <a:solidFill>
              <a:srgbClr val="A8BF8A"/>
            </a:solidFill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lang="en-US" sz="900" i="1" dirty="0">
                <a:solidFill>
                  <a:srgbClr val="000000"/>
                </a:solidFill>
                <a:latin typeface="Calibri"/>
                <a:ea typeface="MS PGothic"/>
              </a:rPr>
              <a:t>5/05/2012</a:t>
            </a:r>
          </a:p>
          <a:p>
            <a:pPr algn="ctr" eaLnBrk="0" latinLnBrk="0" hangingPunct="0">
              <a:defRPr/>
            </a:pPr>
            <a:r>
              <a:rPr lang="en-US" sz="900" i="1" dirty="0">
                <a:solidFill>
                  <a:srgbClr val="000000"/>
                </a:solidFill>
                <a:latin typeface="Calibri"/>
                <a:ea typeface="MS PGothic"/>
                <a:cs typeface="ＭＳ Ｐゴシック"/>
              </a:rPr>
              <a:t>5/05/2012</a:t>
            </a:r>
            <a:endParaRPr lang="en-US" sz="900" i="1" dirty="0">
              <a:solidFill>
                <a:srgbClr val="000000"/>
              </a:solidFill>
              <a:latin typeface="Calibri"/>
              <a:ea typeface="MS PGothic"/>
            </a:endParaRPr>
          </a:p>
          <a:p>
            <a:pPr algn="ctr" eaLnBrk="0" latinLnBrk="0" hangingPunct="0">
              <a:defRPr/>
            </a:pPr>
            <a:r>
              <a:rPr lang="en-US" sz="900" i="1" dirty="0">
                <a:solidFill>
                  <a:srgbClr val="000000"/>
                </a:solidFill>
                <a:latin typeface="Calibri"/>
                <a:ea typeface="MS PGothic"/>
                <a:cs typeface="ＭＳ Ｐゴシック"/>
              </a:rPr>
              <a:t>5/05/2012</a:t>
            </a:r>
            <a:endParaRPr lang="en-US" sz="900" i="1" dirty="0">
              <a:solidFill>
                <a:srgbClr val="000000"/>
              </a:solidFill>
              <a:latin typeface="Calibri"/>
              <a:ea typeface="MS PGothic"/>
            </a:endParaRPr>
          </a:p>
          <a:p>
            <a:pPr algn="ctr" eaLnBrk="0" latinLnBrk="0" hangingPunct="0">
              <a:defRPr/>
            </a:pPr>
            <a:r>
              <a:rPr lang="en-US" sz="900" i="1" dirty="0">
                <a:solidFill>
                  <a:srgbClr val="000000"/>
                </a:solidFill>
                <a:latin typeface="Calibri"/>
                <a:ea typeface="MS PGothic"/>
              </a:rPr>
              <a:t>5/05/2012</a:t>
            </a:r>
          </a:p>
          <a:p>
            <a:pPr algn="ctr" eaLnBrk="0" latinLnBrk="0" hangingPunct="0">
              <a:defRPr/>
            </a:pPr>
            <a:r>
              <a:rPr lang="en-US" sz="900" i="1" dirty="0">
                <a:solidFill>
                  <a:srgbClr val="000000"/>
                </a:solidFill>
                <a:latin typeface="Calibri"/>
                <a:ea typeface="MS PGothic"/>
              </a:rPr>
              <a:t>5/05/2012</a:t>
            </a:r>
          </a:p>
          <a:p>
            <a:pPr algn="ctr" eaLnBrk="0" latinLnBrk="0" hangingPunct="0">
              <a:defRPr/>
            </a:pPr>
            <a:r>
              <a:rPr lang="en-US" sz="900" i="1" dirty="0">
                <a:solidFill>
                  <a:srgbClr val="000000"/>
                </a:solidFill>
                <a:latin typeface="Calibri"/>
                <a:ea typeface="MS PGothic"/>
              </a:rPr>
              <a:t>5/05/2012</a:t>
            </a:r>
          </a:p>
          <a:p>
            <a:pPr algn="ctr" eaLnBrk="0" latinLnBrk="0" hangingPunct="0">
              <a:defRPr/>
            </a:pPr>
            <a:r>
              <a:rPr lang="en-US" sz="900" i="1" dirty="0">
                <a:solidFill>
                  <a:srgbClr val="000000"/>
                </a:solidFill>
                <a:latin typeface="Calibri"/>
                <a:ea typeface="MS PGothic"/>
              </a:rPr>
              <a:t>5/05/2012</a:t>
            </a:r>
          </a:p>
          <a:p>
            <a:pPr algn="ctr" eaLnBrk="0" latinLnBrk="0" hangingPunct="0">
              <a:defRPr/>
            </a:pPr>
            <a:r>
              <a:rPr lang="en-US" sz="900" i="1" dirty="0">
                <a:solidFill>
                  <a:srgbClr val="000000"/>
                </a:solidFill>
                <a:latin typeface="Calibri"/>
                <a:ea typeface="MS PGothic"/>
              </a:rPr>
              <a:t>5/05/2012</a:t>
            </a:r>
          </a:p>
          <a:p>
            <a:pPr algn="ctr" eaLnBrk="0" latinLnBrk="0" hangingPunct="0">
              <a:defRPr/>
            </a:pPr>
            <a:r>
              <a:rPr lang="en-US" sz="900" i="1" dirty="0">
                <a:solidFill>
                  <a:srgbClr val="000000"/>
                </a:solidFill>
                <a:latin typeface="Calibri"/>
                <a:ea typeface="MS PGothic"/>
              </a:rPr>
              <a:t>5/05/2012</a:t>
            </a:r>
          </a:p>
          <a:p>
            <a:pPr algn="ctr" eaLnBrk="0" latinLnBrk="0" hangingPunct="0">
              <a:defRPr/>
            </a:pPr>
            <a:r>
              <a:rPr lang="en-US" sz="900" i="1" dirty="0">
                <a:solidFill>
                  <a:srgbClr val="000000"/>
                </a:solidFill>
                <a:latin typeface="Calibri"/>
                <a:ea typeface="MS PGothic"/>
              </a:rPr>
              <a:t>5/05/2012</a:t>
            </a:r>
          </a:p>
          <a:p>
            <a:pPr algn="ctr" eaLnBrk="0" latinLnBrk="0" hangingPunct="0">
              <a:defRPr/>
            </a:pPr>
            <a:r>
              <a:rPr lang="en-US" sz="900" i="1" dirty="0">
                <a:solidFill>
                  <a:srgbClr val="000000"/>
                </a:solidFill>
                <a:latin typeface="Calibri"/>
                <a:ea typeface="MS PGothic"/>
              </a:rPr>
              <a:t>5/05/2012</a:t>
            </a:r>
          </a:p>
        </p:txBody>
      </p:sp>
      <p:sp>
        <p:nvSpPr>
          <p:cNvPr id="68" name="AutoShape 9">
            <a:extLst>
              <a:ext uri="{FF2B5EF4-FFF2-40B4-BE49-F238E27FC236}">
                <a16:creationId xmlns="" xmlns:a16="http://schemas.microsoft.com/office/drawing/2014/main" id="{1ECF6B23-9B9D-E8FD-302E-78C6FFF79F6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843571" y="3245068"/>
            <a:ext cx="834468" cy="1671242"/>
          </a:xfrm>
          <a:prstGeom prst="roundRect">
            <a:avLst>
              <a:gd name="adj" fmla="val 16667"/>
            </a:avLst>
          </a:prstGeom>
          <a:solidFill>
            <a:srgbClr val="DAEBFA"/>
          </a:solidFill>
          <a:ln w="12700">
            <a:solidFill>
              <a:srgbClr val="A8BF8A"/>
            </a:solidFill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lang="en-US" sz="900" i="1" dirty="0">
                <a:solidFill>
                  <a:srgbClr val="000000"/>
                </a:solidFill>
                <a:latin typeface="Calibri"/>
                <a:ea typeface="MS PGothic"/>
              </a:rPr>
              <a:t>0000001</a:t>
            </a:r>
          </a:p>
          <a:p>
            <a:pPr algn="ctr" eaLnBrk="0" latinLnBrk="0" hangingPunct="0">
              <a:defRPr/>
            </a:pPr>
            <a:r>
              <a:rPr lang="en-US" sz="900" i="1" dirty="0">
                <a:solidFill>
                  <a:srgbClr val="000000"/>
                </a:solidFill>
                <a:latin typeface="Calibri"/>
                <a:ea typeface="MS PGothic"/>
              </a:rPr>
              <a:t>0000001</a:t>
            </a:r>
          </a:p>
          <a:p>
            <a:pPr algn="ctr" eaLnBrk="0" latinLnBrk="0" hangingPunct="0">
              <a:defRPr/>
            </a:pPr>
            <a:r>
              <a:rPr lang="en-US" sz="900" i="1" dirty="0">
                <a:solidFill>
                  <a:srgbClr val="000000"/>
                </a:solidFill>
                <a:latin typeface="Calibri"/>
                <a:ea typeface="MS PGothic"/>
              </a:rPr>
              <a:t>0000003</a:t>
            </a:r>
          </a:p>
          <a:p>
            <a:pPr algn="ctr" eaLnBrk="0" latinLnBrk="0" hangingPunct="0">
              <a:defRPr/>
            </a:pPr>
            <a:r>
              <a:rPr lang="en-US" sz="900" i="1" dirty="0">
                <a:solidFill>
                  <a:srgbClr val="000000"/>
                </a:solidFill>
                <a:latin typeface="Calibri"/>
                <a:ea typeface="MS PGothic"/>
              </a:rPr>
              <a:t>0000003</a:t>
            </a:r>
          </a:p>
          <a:p>
            <a:pPr algn="ctr" eaLnBrk="0" latinLnBrk="0" hangingPunct="0">
              <a:defRPr/>
            </a:pPr>
            <a:r>
              <a:rPr lang="en-US" sz="900" i="1" dirty="0">
                <a:solidFill>
                  <a:srgbClr val="000000"/>
                </a:solidFill>
                <a:latin typeface="Calibri"/>
                <a:ea typeface="MS PGothic"/>
              </a:rPr>
              <a:t>0000005</a:t>
            </a:r>
          </a:p>
          <a:p>
            <a:pPr algn="ctr" eaLnBrk="0" latinLnBrk="0" hangingPunct="0">
              <a:defRPr/>
            </a:pPr>
            <a:r>
              <a:rPr lang="en-US" sz="900" i="1" dirty="0">
                <a:solidFill>
                  <a:srgbClr val="000000"/>
                </a:solidFill>
                <a:latin typeface="Calibri"/>
                <a:ea typeface="MS PGothic"/>
              </a:rPr>
              <a:t>0000011</a:t>
            </a:r>
          </a:p>
          <a:p>
            <a:pPr algn="ctr" eaLnBrk="0" latinLnBrk="0" hangingPunct="0">
              <a:defRPr/>
            </a:pPr>
            <a:r>
              <a:rPr lang="en-US" sz="900" i="1" dirty="0">
                <a:solidFill>
                  <a:srgbClr val="000000"/>
                </a:solidFill>
                <a:latin typeface="Calibri"/>
                <a:ea typeface="MS PGothic"/>
              </a:rPr>
              <a:t>0000011</a:t>
            </a:r>
          </a:p>
          <a:p>
            <a:pPr algn="ctr" eaLnBrk="0" latinLnBrk="0" hangingPunct="0">
              <a:defRPr/>
            </a:pPr>
            <a:r>
              <a:rPr lang="en-US" sz="900" i="1" dirty="0">
                <a:solidFill>
                  <a:srgbClr val="000000"/>
                </a:solidFill>
                <a:latin typeface="Calibri"/>
                <a:ea typeface="MS PGothic"/>
              </a:rPr>
              <a:t>0000020</a:t>
            </a:r>
          </a:p>
          <a:p>
            <a:pPr algn="ctr" eaLnBrk="0" latinLnBrk="0" hangingPunct="0">
              <a:defRPr/>
            </a:pPr>
            <a:r>
              <a:rPr lang="en-US" sz="900" i="1" dirty="0">
                <a:solidFill>
                  <a:srgbClr val="000000"/>
                </a:solidFill>
                <a:latin typeface="Calibri"/>
                <a:ea typeface="MS PGothic"/>
              </a:rPr>
              <a:t>0000026</a:t>
            </a:r>
          </a:p>
          <a:p>
            <a:pPr algn="ctr" eaLnBrk="0" latinLnBrk="0" hangingPunct="0">
              <a:defRPr/>
            </a:pPr>
            <a:r>
              <a:rPr lang="en-US" sz="900" i="1" dirty="0">
                <a:solidFill>
                  <a:srgbClr val="000000"/>
                </a:solidFill>
                <a:latin typeface="Calibri"/>
                <a:ea typeface="MS PGothic"/>
              </a:rPr>
              <a:t>0000050</a:t>
            </a:r>
          </a:p>
          <a:p>
            <a:pPr algn="ctr" eaLnBrk="0" latinLnBrk="0" hangingPunct="0">
              <a:defRPr/>
            </a:pPr>
            <a:r>
              <a:rPr lang="en-US" sz="900" i="1" dirty="0">
                <a:solidFill>
                  <a:srgbClr val="000000"/>
                </a:solidFill>
                <a:latin typeface="Calibri"/>
                <a:ea typeface="MS PGothic"/>
              </a:rPr>
              <a:t>0000051</a:t>
            </a:r>
          </a:p>
          <a:p>
            <a:pPr algn="ctr" eaLnBrk="0" latinLnBrk="0" hangingPunct="0">
              <a:defRPr/>
            </a:pPr>
            <a:r>
              <a:rPr lang="en-US" sz="900" i="1" dirty="0">
                <a:solidFill>
                  <a:srgbClr val="000000"/>
                </a:solidFill>
                <a:latin typeface="Calibri"/>
                <a:ea typeface="MS PGothic"/>
              </a:rPr>
              <a:t>0000052</a:t>
            </a:r>
          </a:p>
        </p:txBody>
      </p:sp>
      <p:sp>
        <p:nvSpPr>
          <p:cNvPr id="69" name="TextBox 23">
            <a:extLst>
              <a:ext uri="{FF2B5EF4-FFF2-40B4-BE49-F238E27FC236}">
                <a16:creationId xmlns="" xmlns:a16="http://schemas.microsoft.com/office/drawing/2014/main" id="{26BDD721-8431-B44D-F15F-E7C302D7C44E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643145" y="4941510"/>
            <a:ext cx="121723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latinLnBrk="0" hangingPunct="0">
              <a:defRPr/>
            </a:pPr>
            <a:r>
              <a:rPr lang="en-US" sz="800" i="1" dirty="0">
                <a:solidFill>
                  <a:srgbClr val="344C7E"/>
                </a:solidFill>
                <a:latin typeface="Calibri"/>
                <a:ea typeface="MS PGothic"/>
              </a:rPr>
              <a:t>Few values</a:t>
            </a:r>
          </a:p>
          <a:p>
            <a:pPr algn="ctr" eaLnBrk="0" latinLnBrk="0" hangingPunct="0">
              <a:defRPr/>
            </a:pPr>
            <a:r>
              <a:rPr lang="en-US" sz="800" i="1" dirty="0">
                <a:solidFill>
                  <a:srgbClr val="344C7E"/>
                </a:solidFill>
                <a:latin typeface="Calibri"/>
                <a:ea typeface="MS PGothic"/>
              </a:rPr>
              <a:t>sorted</a:t>
            </a:r>
          </a:p>
        </p:txBody>
      </p:sp>
      <p:grpSp>
        <p:nvGrpSpPr>
          <p:cNvPr id="70" name="Group 61">
            <a:extLst>
              <a:ext uri="{FF2B5EF4-FFF2-40B4-BE49-F238E27FC236}">
                <a16:creationId xmlns="" xmlns:a16="http://schemas.microsoft.com/office/drawing/2014/main" id="{3B954838-DA89-3FEF-DB7A-F6595587D513}"/>
              </a:ext>
            </a:extLst>
          </p:cNvPr>
          <p:cNvGrpSpPr>
            <a:grpSpLocks/>
          </p:cNvGrpSpPr>
          <p:nvPr/>
        </p:nvGrpSpPr>
        <p:grpSpPr bwMode="auto">
          <a:xfrm>
            <a:off x="1779671" y="3240110"/>
            <a:ext cx="930154" cy="2191641"/>
            <a:chOff x="336254" y="4285220"/>
            <a:chExt cx="841442" cy="1981886"/>
          </a:xfrm>
        </p:grpSpPr>
        <p:sp>
          <p:nvSpPr>
            <p:cNvPr id="71" name="AutoShape 8">
              <a:extLst>
                <a:ext uri="{FF2B5EF4-FFF2-40B4-BE49-F238E27FC236}">
                  <a16:creationId xmlns="" xmlns:a16="http://schemas.microsoft.com/office/drawing/2014/main" id="{EF3500FF-6E38-F165-3046-8A883EA2397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63961" y="4285220"/>
              <a:ext cx="728721" cy="294038"/>
            </a:xfrm>
            <a:prstGeom prst="roundRect">
              <a:avLst>
                <a:gd name="adj" fmla="val 23353"/>
              </a:avLst>
            </a:prstGeom>
            <a:solidFill>
              <a:srgbClr val="0079EF"/>
            </a:solidFill>
            <a:ln w="12700">
              <a:noFill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1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MS PGothic"/>
                </a:rPr>
                <a:t>5/05/2012, 16</a:t>
              </a:r>
            </a:p>
          </p:txBody>
        </p:sp>
        <p:sp>
          <p:nvSpPr>
            <p:cNvPr id="72" name="TextBox 23">
              <a:extLst>
                <a:ext uri="{FF2B5EF4-FFF2-40B4-BE49-F238E27FC236}">
                  <a16:creationId xmlns="" xmlns:a16="http://schemas.microsoft.com/office/drawing/2014/main" id="{02C0CF85-2F6B-B316-9E39-EC7054DEDFDB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336254" y="6127946"/>
              <a:ext cx="841442" cy="1391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b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231CA5">
                      <a:lumMod val="50000"/>
                    </a:srgbClr>
                  </a:solidFill>
                  <a:effectLst/>
                  <a:uLnTx/>
                  <a:uFillTx/>
                  <a:latin typeface="Calibri"/>
                  <a:ea typeface="MS PGothic"/>
                </a:rPr>
                <a:t>RLE</a:t>
              </a:r>
            </a:p>
          </p:txBody>
        </p:sp>
      </p:grpSp>
      <p:grpSp>
        <p:nvGrpSpPr>
          <p:cNvPr id="73" name="Group 64">
            <a:extLst>
              <a:ext uri="{FF2B5EF4-FFF2-40B4-BE49-F238E27FC236}">
                <a16:creationId xmlns="" xmlns:a16="http://schemas.microsoft.com/office/drawing/2014/main" id="{12497786-84E7-31EF-C6F5-B9F7741785AC}"/>
              </a:ext>
            </a:extLst>
          </p:cNvPr>
          <p:cNvGrpSpPr>
            <a:grpSpLocks/>
          </p:cNvGrpSpPr>
          <p:nvPr/>
        </p:nvGrpSpPr>
        <p:grpSpPr bwMode="auto">
          <a:xfrm>
            <a:off x="2827818" y="3240108"/>
            <a:ext cx="930154" cy="2193844"/>
            <a:chOff x="-552029" y="4097906"/>
            <a:chExt cx="841442" cy="1984123"/>
          </a:xfrm>
        </p:grpSpPr>
        <p:sp>
          <p:nvSpPr>
            <p:cNvPr id="74" name="AutoShape 9">
              <a:extLst>
                <a:ext uri="{FF2B5EF4-FFF2-40B4-BE49-F238E27FC236}">
                  <a16:creationId xmlns="" xmlns:a16="http://schemas.microsoft.com/office/drawing/2014/main" id="{689CD628-8314-2032-C6BE-A918E72BD42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-534402" y="4097906"/>
              <a:ext cx="754882" cy="1517924"/>
            </a:xfrm>
            <a:prstGeom prst="roundRect">
              <a:avLst>
                <a:gd name="adj" fmla="val 16667"/>
              </a:avLst>
            </a:prstGeom>
            <a:solidFill>
              <a:srgbClr val="0079EF"/>
            </a:solidFill>
            <a:ln w="12700">
              <a:solidFill>
                <a:srgbClr val="A8BF8A"/>
              </a:solidFill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1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MS PGothic"/>
                </a:rPr>
                <a:t>0000001</a:t>
              </a:r>
            </a:p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1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MS PGothic"/>
                </a:rPr>
                <a:t>0</a:t>
              </a:r>
            </a:p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1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MS PGothic"/>
                </a:rPr>
                <a:t>2</a:t>
              </a:r>
            </a:p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1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MS PGothic"/>
                </a:rPr>
                <a:t>2</a:t>
              </a:r>
            </a:p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1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MS PGothic"/>
                </a:rPr>
                <a:t>4</a:t>
              </a:r>
            </a:p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1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MS PGothic"/>
                </a:rPr>
                <a:t>10</a:t>
              </a:r>
            </a:p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1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MS PGothic"/>
                </a:rPr>
                <a:t>10</a:t>
              </a:r>
            </a:p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1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MS PGothic"/>
                </a:rPr>
                <a:t>19</a:t>
              </a:r>
            </a:p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1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MS PGothic"/>
                </a:rPr>
                <a:t>25</a:t>
              </a:r>
            </a:p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1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MS PGothic"/>
                </a:rPr>
                <a:t>49</a:t>
              </a:r>
            </a:p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1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MS PGothic"/>
                </a:rPr>
                <a:t>50</a:t>
              </a:r>
            </a:p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1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MS PGothic"/>
                </a:rPr>
                <a:t>51</a:t>
              </a:r>
            </a:p>
          </p:txBody>
        </p:sp>
        <p:sp>
          <p:nvSpPr>
            <p:cNvPr id="75" name="TextBox 23">
              <a:extLst>
                <a:ext uri="{FF2B5EF4-FFF2-40B4-BE49-F238E27FC236}">
                  <a16:creationId xmlns="" xmlns:a16="http://schemas.microsoft.com/office/drawing/2014/main" id="{60978356-B542-0844-B622-0D15F918A907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-552029" y="5942852"/>
              <a:ext cx="841442" cy="1391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b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231CA5">
                      <a:lumMod val="50000"/>
                    </a:srgbClr>
                  </a:solidFill>
                  <a:effectLst/>
                  <a:uLnTx/>
                  <a:uFillTx/>
                  <a:latin typeface="Calibri"/>
                  <a:ea typeface="MS PGothic"/>
                </a:rPr>
                <a:t>DeltaVal</a:t>
              </a:r>
            </a:p>
          </p:txBody>
        </p:sp>
      </p:grpSp>
      <p:sp>
        <p:nvSpPr>
          <p:cNvPr id="76" name="TextBox 23">
            <a:extLst>
              <a:ext uri="{FF2B5EF4-FFF2-40B4-BE49-F238E27FC236}">
                <a16:creationId xmlns="" xmlns:a16="http://schemas.microsoft.com/office/drawing/2014/main" id="{773A00F6-C1DE-6507-28B1-FA7CCD3D1393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848454" y="4941510"/>
            <a:ext cx="94243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latinLnBrk="0" hangingPunct="0">
              <a:defRPr/>
            </a:pPr>
            <a:r>
              <a:rPr lang="en-US" sz="800" i="1" dirty="0">
                <a:solidFill>
                  <a:srgbClr val="344C7E"/>
                </a:solidFill>
                <a:latin typeface="Calibri"/>
                <a:ea typeface="MS PGothic"/>
              </a:rPr>
              <a:t>Many values</a:t>
            </a:r>
          </a:p>
          <a:p>
            <a:pPr algn="ctr" eaLnBrk="0" latinLnBrk="0" hangingPunct="0">
              <a:defRPr/>
            </a:pPr>
            <a:r>
              <a:rPr lang="en-US" sz="800" i="1" dirty="0">
                <a:solidFill>
                  <a:srgbClr val="344C7E"/>
                </a:solidFill>
                <a:latin typeface="Calibri"/>
                <a:ea typeface="MS PGothic"/>
              </a:rPr>
              <a:t>integer</a:t>
            </a:r>
          </a:p>
        </p:txBody>
      </p:sp>
      <p:sp>
        <p:nvSpPr>
          <p:cNvPr id="77" name="TextBox 23">
            <a:extLst>
              <a:ext uri="{FF2B5EF4-FFF2-40B4-BE49-F238E27FC236}">
                <a16:creationId xmlns="" xmlns:a16="http://schemas.microsoft.com/office/drawing/2014/main" id="{FF9B6DB2-6BF3-51AB-EF12-5F6EF79FB7F9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843571" y="5508664"/>
            <a:ext cx="93015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b">
            <a:spAutoFit/>
          </a:bodyPr>
          <a:lstStyle/>
          <a:p>
            <a:pPr algn="ctr" eaLnBrk="0" latinLnBrk="0" hangingPunct="0">
              <a:defRPr/>
            </a:pPr>
            <a:r>
              <a:rPr lang="en-US" sz="800" b="1" dirty="0">
                <a:solidFill>
                  <a:srgbClr val="231CA5">
                    <a:lumMod val="50000"/>
                  </a:srgbClr>
                </a:solidFill>
                <a:latin typeface="Calibri"/>
                <a:ea typeface="MS PGothic"/>
              </a:rPr>
              <a:t>Many Others…</a:t>
            </a:r>
          </a:p>
        </p:txBody>
      </p:sp>
      <p:sp>
        <p:nvSpPr>
          <p:cNvPr id="78" name="AutoShape 8">
            <a:extLst>
              <a:ext uri="{FF2B5EF4-FFF2-40B4-BE49-F238E27FC236}">
                <a16:creationId xmlns="" xmlns:a16="http://schemas.microsoft.com/office/drawing/2014/main" id="{0E0CFBF6-379A-C9BA-A21A-0012B6E338D6}"/>
              </a:ext>
            </a:extLst>
          </p:cNvPr>
          <p:cNvSpPr>
            <a:spLocks noChangeArrowheads="1"/>
          </p:cNvSpPr>
          <p:nvPr/>
        </p:nvSpPr>
        <p:spPr bwMode="gray">
          <a:xfrm>
            <a:off x="3907040" y="3240108"/>
            <a:ext cx="860305" cy="1670354"/>
          </a:xfrm>
          <a:prstGeom prst="roundRect">
            <a:avLst>
              <a:gd name="adj" fmla="val 16667"/>
            </a:avLst>
          </a:prstGeom>
          <a:solidFill>
            <a:srgbClr val="DAEBFA"/>
          </a:solidFill>
          <a:ln w="12700">
            <a:solidFill>
              <a:srgbClr val="A8BF8A"/>
            </a:solidFill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lang="en-US" sz="900" i="1" dirty="0">
                <a:solidFill>
                  <a:srgbClr val="000000"/>
                </a:solidFill>
                <a:latin typeface="Calibri"/>
                <a:ea typeface="MS PGothic"/>
              </a:rPr>
              <a:t>100.25</a:t>
            </a:r>
          </a:p>
          <a:p>
            <a:pPr algn="ctr" eaLnBrk="0" latinLnBrk="0" hangingPunct="0">
              <a:defRPr/>
            </a:pPr>
            <a:r>
              <a:rPr lang="en-US" sz="900" i="1" dirty="0">
                <a:solidFill>
                  <a:srgbClr val="000000"/>
                </a:solidFill>
                <a:latin typeface="Calibri"/>
                <a:ea typeface="MS PGothic"/>
              </a:rPr>
              <a:t>302.43</a:t>
            </a:r>
          </a:p>
          <a:p>
            <a:pPr algn="ctr" eaLnBrk="0" latinLnBrk="0" hangingPunct="0">
              <a:defRPr/>
            </a:pPr>
            <a:r>
              <a:rPr lang="en-US" sz="900" i="1" dirty="0">
                <a:solidFill>
                  <a:srgbClr val="000000"/>
                </a:solidFill>
                <a:latin typeface="Calibri"/>
                <a:ea typeface="MS PGothic"/>
              </a:rPr>
              <a:t>991.23</a:t>
            </a:r>
          </a:p>
          <a:p>
            <a:pPr algn="ctr" eaLnBrk="0" latinLnBrk="0" hangingPunct="0">
              <a:defRPr/>
            </a:pPr>
            <a:r>
              <a:rPr lang="en-US" sz="900" i="1" dirty="0">
                <a:solidFill>
                  <a:srgbClr val="000000"/>
                </a:solidFill>
                <a:latin typeface="Calibri"/>
                <a:ea typeface="MS PGothic"/>
              </a:rPr>
              <a:t>73.45</a:t>
            </a:r>
          </a:p>
          <a:p>
            <a:pPr algn="ctr" eaLnBrk="0" latinLnBrk="0" hangingPunct="0">
              <a:defRPr/>
            </a:pPr>
            <a:r>
              <a:rPr lang="en-US" sz="900" i="1" dirty="0">
                <a:solidFill>
                  <a:srgbClr val="000000"/>
                </a:solidFill>
                <a:latin typeface="Calibri"/>
                <a:ea typeface="MS PGothic"/>
              </a:rPr>
              <a:t>134.09</a:t>
            </a:r>
          </a:p>
          <a:p>
            <a:pPr algn="ctr" eaLnBrk="0" latinLnBrk="0" hangingPunct="0">
              <a:defRPr/>
            </a:pPr>
            <a:r>
              <a:rPr lang="en-US" sz="900" i="1" dirty="0">
                <a:solidFill>
                  <a:srgbClr val="000000"/>
                </a:solidFill>
                <a:latin typeface="Calibri"/>
                <a:ea typeface="MS PGothic"/>
              </a:rPr>
              <a:t>843.11</a:t>
            </a:r>
          </a:p>
          <a:p>
            <a:pPr algn="ctr" eaLnBrk="0" latinLnBrk="0" hangingPunct="0">
              <a:defRPr/>
            </a:pPr>
            <a:r>
              <a:rPr lang="en-US" sz="900" i="1" dirty="0">
                <a:solidFill>
                  <a:srgbClr val="000000"/>
                </a:solidFill>
                <a:latin typeface="Calibri"/>
                <a:ea typeface="MS PGothic"/>
              </a:rPr>
              <a:t>208.13</a:t>
            </a:r>
          </a:p>
          <a:p>
            <a:pPr algn="ctr" eaLnBrk="0" latinLnBrk="0" hangingPunct="0">
              <a:defRPr/>
            </a:pPr>
            <a:r>
              <a:rPr lang="en-US" sz="900" i="1" dirty="0">
                <a:solidFill>
                  <a:srgbClr val="000000"/>
                </a:solidFill>
                <a:latin typeface="Calibri"/>
                <a:ea typeface="MS PGothic"/>
              </a:rPr>
              <a:t>114.29</a:t>
            </a:r>
          </a:p>
          <a:p>
            <a:pPr algn="ctr" eaLnBrk="0" latinLnBrk="0" hangingPunct="0">
              <a:defRPr/>
            </a:pPr>
            <a:r>
              <a:rPr lang="en-US" sz="900" i="1" dirty="0">
                <a:solidFill>
                  <a:srgbClr val="000000"/>
                </a:solidFill>
                <a:latin typeface="Calibri"/>
                <a:ea typeface="MS PGothic"/>
              </a:rPr>
              <a:t>83.07</a:t>
            </a:r>
          </a:p>
          <a:p>
            <a:pPr algn="ctr" eaLnBrk="0" latinLnBrk="0" hangingPunct="0">
              <a:defRPr/>
            </a:pPr>
            <a:r>
              <a:rPr lang="en-US" sz="900" i="1" dirty="0">
                <a:solidFill>
                  <a:srgbClr val="000000"/>
                </a:solidFill>
                <a:latin typeface="Calibri"/>
                <a:ea typeface="MS PGothic"/>
              </a:rPr>
              <a:t>43.98</a:t>
            </a:r>
          </a:p>
          <a:p>
            <a:pPr algn="ctr" eaLnBrk="0" latinLnBrk="0" hangingPunct="0">
              <a:defRPr/>
            </a:pPr>
            <a:r>
              <a:rPr lang="en-US" sz="900" i="1" dirty="0">
                <a:solidFill>
                  <a:srgbClr val="000000"/>
                </a:solidFill>
                <a:latin typeface="Calibri"/>
                <a:ea typeface="MS PGothic"/>
              </a:rPr>
              <a:t>229.76</a:t>
            </a:r>
          </a:p>
        </p:txBody>
      </p:sp>
      <p:sp>
        <p:nvSpPr>
          <p:cNvPr id="79" name="TextBox 23">
            <a:extLst>
              <a:ext uri="{FF2B5EF4-FFF2-40B4-BE49-F238E27FC236}">
                <a16:creationId xmlns="" xmlns:a16="http://schemas.microsoft.com/office/drawing/2014/main" id="{EF511D41-1E0D-4A84-DB24-BD1727D327D7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826661" y="4941510"/>
            <a:ext cx="94068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latinLnBrk="0" hangingPunct="0">
              <a:defRPr/>
            </a:pPr>
            <a:r>
              <a:rPr lang="en-US" sz="800" i="1" dirty="0">
                <a:solidFill>
                  <a:srgbClr val="344C7E"/>
                </a:solidFill>
                <a:latin typeface="Calibri"/>
                <a:ea typeface="MS PGothic"/>
              </a:rPr>
              <a:t>Many distinct values</a:t>
            </a:r>
          </a:p>
        </p:txBody>
      </p:sp>
      <p:grpSp>
        <p:nvGrpSpPr>
          <p:cNvPr id="80" name="Group 64">
            <a:extLst>
              <a:ext uri="{FF2B5EF4-FFF2-40B4-BE49-F238E27FC236}">
                <a16:creationId xmlns="" xmlns:a16="http://schemas.microsoft.com/office/drawing/2014/main" id="{F6C67F9F-DE5A-0474-66C2-FB47E2FFE1E6}"/>
              </a:ext>
            </a:extLst>
          </p:cNvPr>
          <p:cNvGrpSpPr>
            <a:grpSpLocks/>
          </p:cNvGrpSpPr>
          <p:nvPr/>
        </p:nvGrpSpPr>
        <p:grpSpPr bwMode="auto">
          <a:xfrm>
            <a:off x="3872115" y="3240130"/>
            <a:ext cx="930154" cy="2192335"/>
            <a:chOff x="1209774" y="4855472"/>
            <a:chExt cx="841375" cy="1983157"/>
          </a:xfrm>
        </p:grpSpPr>
        <p:sp>
          <p:nvSpPr>
            <p:cNvPr id="81" name="TextBox 23">
              <a:extLst>
                <a:ext uri="{FF2B5EF4-FFF2-40B4-BE49-F238E27FC236}">
                  <a16:creationId xmlns="" xmlns:a16="http://schemas.microsoft.com/office/drawing/2014/main" id="{208A24DE-0E93-40C3-069D-3EEE67CFC38E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209774" y="6699424"/>
              <a:ext cx="841375" cy="1392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b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231CA5">
                      <a:lumMod val="50000"/>
                    </a:srgbClr>
                  </a:solidFill>
                  <a:effectLst/>
                  <a:uLnTx/>
                  <a:uFillTx/>
                  <a:latin typeface="Calibri"/>
                  <a:ea typeface="MS PGothic"/>
                </a:rPr>
                <a:t>LZO</a:t>
              </a:r>
            </a:p>
          </p:txBody>
        </p:sp>
        <p:sp>
          <p:nvSpPr>
            <p:cNvPr id="82" name="AutoShape 8">
              <a:extLst>
                <a:ext uri="{FF2B5EF4-FFF2-40B4-BE49-F238E27FC236}">
                  <a16:creationId xmlns="" xmlns:a16="http://schemas.microsoft.com/office/drawing/2014/main" id="{5B43CFF5-2EF2-4741-3985-EF688BC4AE5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241366" y="4855472"/>
              <a:ext cx="778193" cy="533400"/>
            </a:xfrm>
            <a:prstGeom prst="roundRect">
              <a:avLst>
                <a:gd name="adj" fmla="val 16667"/>
              </a:avLst>
            </a:prstGeom>
            <a:solidFill>
              <a:srgbClr val="0079EF"/>
            </a:solidFill>
            <a:ln w="12700">
              <a:solidFill>
                <a:srgbClr val="A8BF8A"/>
              </a:solidFill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1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MS PGothic"/>
                </a:rPr>
                <a:t>ÞìÃp:±æ+©&gt;</a:t>
              </a:r>
            </a:p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1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MS PGothic"/>
                </a:rPr>
                <a:t>Hì&amp;ì¥YÛ¡×¥</a:t>
              </a:r>
            </a:p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1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MS PGothic"/>
                </a:rPr>
                <a:t>©éa½?50ÓJ</a:t>
              </a:r>
            </a:p>
          </p:txBody>
        </p:sp>
      </p:grpSp>
      <p:sp>
        <p:nvSpPr>
          <p:cNvPr id="83" name="Rectangle 11">
            <a:extLst>
              <a:ext uri="{FF2B5EF4-FFF2-40B4-BE49-F238E27FC236}">
                <a16:creationId xmlns="" xmlns:a16="http://schemas.microsoft.com/office/drawing/2014/main" id="{43ADF4C7-F0F1-C2A8-ED34-BFBF8AB3BE58}"/>
              </a:ext>
            </a:extLst>
          </p:cNvPr>
          <p:cNvSpPr>
            <a:spLocks noChangeArrowheads="1"/>
          </p:cNvSpPr>
          <p:nvPr/>
        </p:nvSpPr>
        <p:spPr bwMode="black">
          <a:xfrm>
            <a:off x="5362559" y="2613064"/>
            <a:ext cx="3810000" cy="332399"/>
          </a:xfrm>
          <a:prstGeom prst="rect">
            <a:avLst/>
          </a:prstGeom>
          <a:solidFill>
            <a:srgbClr val="0079EF"/>
          </a:solidFill>
          <a:ln w="12700" algn="ctr">
            <a:solidFill>
              <a:sysClr val="window" lastClr="FFFFFF">
                <a:lumMod val="75000"/>
              </a:sysClr>
            </a:solidFill>
            <a:miter lim="800000"/>
            <a:headEnd/>
            <a:tailEnd/>
          </a:ln>
          <a:effectLst/>
        </p:spPr>
        <p:txBody>
          <a:bodyPr wrap="square" tIns="82296" bIns="64008" anchor="b">
            <a:spAutoFit/>
          </a:bodyPr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ＭＳ Ｐゴシック"/>
                <a:cs typeface="Arial" charset="0"/>
              </a:rPr>
              <a:t>Compressed Processing and Late Materialization</a:t>
            </a:r>
          </a:p>
        </p:txBody>
      </p:sp>
      <p:sp>
        <p:nvSpPr>
          <p:cNvPr id="84" name="Rectangle 11">
            <a:extLst>
              <a:ext uri="{FF2B5EF4-FFF2-40B4-BE49-F238E27FC236}">
                <a16:creationId xmlns="" xmlns:a16="http://schemas.microsoft.com/office/drawing/2014/main" id="{179BD7DB-CC4C-CD87-7F8F-7EC25D5DBAB3}"/>
              </a:ext>
            </a:extLst>
          </p:cNvPr>
          <p:cNvSpPr>
            <a:spLocks noChangeArrowheads="1"/>
          </p:cNvSpPr>
          <p:nvPr/>
        </p:nvSpPr>
        <p:spPr bwMode="black">
          <a:xfrm>
            <a:off x="1243371" y="2613064"/>
            <a:ext cx="4038602" cy="332399"/>
          </a:xfrm>
          <a:prstGeom prst="rect">
            <a:avLst/>
          </a:prstGeom>
          <a:solidFill>
            <a:srgbClr val="0079EF"/>
          </a:solidFill>
          <a:ln w="12700" algn="ctr">
            <a:solidFill>
              <a:sysClr val="window" lastClr="FFFFFF">
                <a:lumMod val="75000"/>
              </a:sysClr>
            </a:solidFill>
            <a:miter lim="800000"/>
            <a:headEnd/>
            <a:tailEnd/>
          </a:ln>
          <a:effectLst/>
        </p:spPr>
        <p:txBody>
          <a:bodyPr wrap="square" tIns="82296" bIns="64008" anchor="b">
            <a:spAutoFit/>
          </a:bodyPr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ＭＳ Ｐゴシック"/>
                <a:cs typeface="Arial" charset="0"/>
              </a:rPr>
              <a:t>Encoding and Compression Mechanism</a:t>
            </a:r>
          </a:p>
        </p:txBody>
      </p:sp>
      <p:cxnSp>
        <p:nvCxnSpPr>
          <p:cNvPr id="85" name="Straight Arrow Connector 62">
            <a:extLst>
              <a:ext uri="{FF2B5EF4-FFF2-40B4-BE49-F238E27FC236}">
                <a16:creationId xmlns="" xmlns:a16="http://schemas.microsoft.com/office/drawing/2014/main" id="{253BB238-CFC6-27EB-46AC-E30211D57DE7}"/>
              </a:ext>
            </a:extLst>
          </p:cNvPr>
          <p:cNvCxnSpPr/>
          <p:nvPr/>
        </p:nvCxnSpPr>
        <p:spPr>
          <a:xfrm>
            <a:off x="6278925" y="3662587"/>
            <a:ext cx="302833" cy="0"/>
          </a:xfrm>
          <a:prstGeom prst="straightConnector1">
            <a:avLst/>
          </a:prstGeom>
          <a:noFill/>
          <a:ln w="22225" cap="flat" cmpd="sng" algn="ctr">
            <a:solidFill>
              <a:srgbClr val="231CA5">
                <a:lumMod val="75000"/>
              </a:srgbClr>
            </a:solidFill>
            <a:prstDash val="solid"/>
            <a:miter lim="800000"/>
            <a:tailEnd type="arrow" w="med" len="med"/>
          </a:ln>
          <a:effectLst/>
        </p:spPr>
      </p:cxnSp>
      <p:cxnSp>
        <p:nvCxnSpPr>
          <p:cNvPr id="86" name="Straight Arrow Connector 63">
            <a:extLst>
              <a:ext uri="{FF2B5EF4-FFF2-40B4-BE49-F238E27FC236}">
                <a16:creationId xmlns="" xmlns:a16="http://schemas.microsoft.com/office/drawing/2014/main" id="{E98E02DE-90C7-74E3-83D2-9FE8A218033A}"/>
              </a:ext>
            </a:extLst>
          </p:cNvPr>
          <p:cNvCxnSpPr/>
          <p:nvPr/>
        </p:nvCxnSpPr>
        <p:spPr>
          <a:xfrm>
            <a:off x="7648558" y="3662587"/>
            <a:ext cx="302833" cy="0"/>
          </a:xfrm>
          <a:prstGeom prst="straightConnector1">
            <a:avLst/>
          </a:prstGeom>
          <a:noFill/>
          <a:ln w="22225" cap="flat" cmpd="sng" algn="ctr">
            <a:solidFill>
              <a:srgbClr val="231CA5">
                <a:lumMod val="75000"/>
              </a:srgbClr>
            </a:solidFill>
            <a:prstDash val="solid"/>
            <a:miter lim="800000"/>
            <a:tailEnd type="arrow" w="med" len="med"/>
          </a:ln>
          <a:effectLst/>
        </p:spPr>
      </p:cxnSp>
      <p:cxnSp>
        <p:nvCxnSpPr>
          <p:cNvPr id="87" name="Straight Arrow Connector 66">
            <a:extLst>
              <a:ext uri="{FF2B5EF4-FFF2-40B4-BE49-F238E27FC236}">
                <a16:creationId xmlns="" xmlns:a16="http://schemas.microsoft.com/office/drawing/2014/main" id="{CD827D26-5BD2-84A8-F171-9763821DF849}"/>
              </a:ext>
            </a:extLst>
          </p:cNvPr>
          <p:cNvCxnSpPr/>
          <p:nvPr/>
        </p:nvCxnSpPr>
        <p:spPr>
          <a:xfrm flipH="1">
            <a:off x="6429358" y="4885616"/>
            <a:ext cx="457200" cy="1237"/>
          </a:xfrm>
          <a:prstGeom prst="straightConnector1">
            <a:avLst/>
          </a:prstGeom>
          <a:noFill/>
          <a:ln w="22225" cap="flat" cmpd="sng" algn="ctr">
            <a:solidFill>
              <a:srgbClr val="231CA5">
                <a:lumMod val="75000"/>
              </a:srgbClr>
            </a:solidFill>
            <a:prstDash val="solid"/>
            <a:miter lim="800000"/>
            <a:tailEnd type="arrow" w="med" len="med"/>
          </a:ln>
          <a:effectLst/>
        </p:spPr>
      </p:cxnSp>
      <p:cxnSp>
        <p:nvCxnSpPr>
          <p:cNvPr id="88" name="Elbow Connector 19">
            <a:extLst>
              <a:ext uri="{FF2B5EF4-FFF2-40B4-BE49-F238E27FC236}">
                <a16:creationId xmlns="" xmlns:a16="http://schemas.microsoft.com/office/drawing/2014/main" id="{0FB323C9-EF6D-B345-9EAD-57F61E0717CF}"/>
              </a:ext>
            </a:extLst>
          </p:cNvPr>
          <p:cNvCxnSpPr/>
          <p:nvPr/>
        </p:nvCxnSpPr>
        <p:spPr>
          <a:xfrm rot="5400000">
            <a:off x="8141944" y="4463365"/>
            <a:ext cx="461029" cy="381000"/>
          </a:xfrm>
          <a:prstGeom prst="bentConnector3">
            <a:avLst>
              <a:gd name="adj1" fmla="val 99888"/>
            </a:avLst>
          </a:prstGeom>
          <a:noFill/>
          <a:ln w="22225" cap="flat" cmpd="sng" algn="ctr">
            <a:solidFill>
              <a:srgbClr val="231CA5">
                <a:lumMod val="75000"/>
              </a:srgbClr>
            </a:solidFill>
            <a:prstDash val="solid"/>
            <a:miter lim="800000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1213275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68" grpId="0" animBg="1"/>
      <p:bldP spid="69" grpId="0"/>
      <p:bldP spid="76" grpId="0"/>
      <p:bldP spid="77" grpId="0"/>
      <p:bldP spid="78" grpId="0" animBg="1"/>
      <p:bldP spid="7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Vertica </a:t>
            </a:r>
            <a:r>
              <a:rPr lang="ko-KR" altLang="en-US" dirty="0">
                <a:latin typeface="+mj-ea"/>
                <a:ea typeface="+mj-ea"/>
              </a:rPr>
              <a:t>아키텍처 특징 </a:t>
            </a:r>
            <a:r>
              <a:rPr lang="en-US" altLang="ko-KR" sz="1400" dirty="0">
                <a:latin typeface="+mj-ea"/>
                <a:ea typeface="+mj-ea"/>
              </a:rPr>
              <a:t>&gt; </a:t>
            </a:r>
            <a:r>
              <a:rPr lang="ko-KR" altLang="en-US" sz="1400" dirty="0">
                <a:solidFill>
                  <a:srgbClr val="0083CE"/>
                </a:solidFill>
                <a:latin typeface="+mj-ea"/>
                <a:ea typeface="+mj-ea"/>
              </a:rPr>
              <a:t>데이터 이중화로 </a:t>
            </a:r>
            <a:r>
              <a:rPr lang="ko-KR" altLang="en-US" sz="1400" dirty="0" err="1">
                <a:solidFill>
                  <a:srgbClr val="0083CE"/>
                </a:solidFill>
                <a:latin typeface="+mj-ea"/>
                <a:ea typeface="+mj-ea"/>
              </a:rPr>
              <a:t>무중단</a:t>
            </a:r>
            <a:r>
              <a:rPr lang="ko-KR" altLang="en-US" sz="1400" dirty="0">
                <a:solidFill>
                  <a:srgbClr val="0083CE"/>
                </a:solidFill>
                <a:latin typeface="+mj-ea"/>
                <a:ea typeface="+mj-ea"/>
              </a:rPr>
              <a:t> 서비스 제공</a:t>
            </a:r>
            <a:endParaRPr lang="ko-KR" altLang="en-US" dirty="0">
              <a:solidFill>
                <a:srgbClr val="0083CE"/>
              </a:solidFill>
              <a:latin typeface="+mj-ea"/>
              <a:ea typeface="+mj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715639" y="1387082"/>
            <a:ext cx="10891643" cy="9316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Vertica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는 저장 데이터의 이중화 기능을 이용하여 성능 향상과 함께 노드 장애 시에도 중단 없는 서비스 가능합니다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.</a:t>
            </a:r>
          </a:p>
          <a:p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데이터베이스 용량 확장을 위한 노드 추가 시 또는 유지 보수를 위한 노드 제거 시에도 서비스 중단 없이 작업이 가능합니다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.</a:t>
            </a: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Pretendard Variable Medium" panose="02000003000000020004" pitchFamily="2" charset="-127"/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2232449" y="2171274"/>
            <a:ext cx="3892125" cy="1791126"/>
            <a:chOff x="1582460" y="2429887"/>
            <a:chExt cx="3622450" cy="1564865"/>
          </a:xfrm>
        </p:grpSpPr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82460" y="2429887"/>
              <a:ext cx="3622450" cy="13314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TextBox 8"/>
            <p:cNvSpPr txBox="1"/>
            <p:nvPr/>
          </p:nvSpPr>
          <p:spPr>
            <a:xfrm>
              <a:off x="2688848" y="3761355"/>
              <a:ext cx="1409675" cy="2333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30213">
                <a:lnSpc>
                  <a:spcPts val="1080"/>
                </a:lnSpc>
                <a:buSzPct val="100000"/>
              </a:pPr>
              <a:r>
                <a:rPr lang="ko-KR" altLang="en-US" sz="1000" b="1" i="1" dirty="0">
                  <a:latin typeface="+mj-lt"/>
                  <a:ea typeface="+mj-ea"/>
                  <a:cs typeface="HP Simplified" pitchFamily="34" charset="0"/>
                </a:rPr>
                <a:t>자동 데이터 이중화</a:t>
              </a:r>
              <a:endParaRPr lang="en-US" sz="1000" b="1" i="1" dirty="0">
                <a:latin typeface="+mj-lt"/>
                <a:ea typeface="+mj-ea"/>
                <a:cs typeface="HP Simplified" pitchFamily="34" charset="0"/>
              </a:endParaRPr>
            </a:p>
          </p:txBody>
        </p:sp>
      </p:grpSp>
      <p:grpSp>
        <p:nvGrpSpPr>
          <p:cNvPr id="5" name="그룹 4"/>
          <p:cNvGrpSpPr/>
          <p:nvPr/>
        </p:nvGrpSpPr>
        <p:grpSpPr>
          <a:xfrm>
            <a:off x="7083488" y="2748325"/>
            <a:ext cx="3564879" cy="2161006"/>
            <a:chOff x="6512931" y="2839464"/>
            <a:chExt cx="3351367" cy="1942620"/>
          </a:xfrm>
        </p:grpSpPr>
        <p:pic>
          <p:nvPicPr>
            <p:cNvPr id="8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2931" y="3585527"/>
              <a:ext cx="3351367" cy="11965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" name="Picture 5" descr="Icon&#10;&#10;Description automatically generated">
              <a:extLst>
                <a:ext uri="{FF2B5EF4-FFF2-40B4-BE49-F238E27FC236}">
                  <a16:creationId xmlns="" xmlns:a16="http://schemas.microsoft.com/office/drawing/2014/main" id="{158D5AC2-866B-464B-9F74-A21B35630A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31565" y="2839464"/>
              <a:ext cx="801360" cy="801360"/>
            </a:xfrm>
            <a:prstGeom prst="rect">
              <a:avLst/>
            </a:prstGeom>
          </p:spPr>
        </p:pic>
      </p:grpSp>
      <p:sp>
        <p:nvSpPr>
          <p:cNvPr id="12" name="내용 개체 틀 2"/>
          <p:cNvSpPr txBox="1">
            <a:spLocks/>
          </p:cNvSpPr>
          <p:nvPr/>
        </p:nvSpPr>
        <p:spPr bwMode="auto">
          <a:xfrm>
            <a:off x="1215343" y="4757675"/>
            <a:ext cx="8550449" cy="146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177800" lvl="1">
              <a:lnSpc>
                <a:spcPct val="130000"/>
              </a:lnSpc>
              <a:buClr>
                <a:schemeClr val="accent1">
                  <a:lumMod val="60000"/>
                  <a:lumOff val="40000"/>
                </a:schemeClr>
              </a:buClr>
              <a:defRPr/>
            </a:pPr>
            <a:r>
              <a:rPr lang="ko-KR" altLang="en-US" sz="1000" b="1" kern="0" dirty="0">
                <a:solidFill>
                  <a:srgbClr val="0083CE"/>
                </a:solidFill>
                <a:latin typeface="+mj-ea"/>
                <a:ea typeface="+mj-ea"/>
                <a:cs typeface="Pretendard Variable SemiBold" panose="02000003000000020004" pitchFamily="2" charset="-127"/>
              </a:rPr>
              <a:t>◆</a:t>
            </a:r>
            <a:r>
              <a:rPr lang="ko-KR" altLang="en-US" sz="1400" b="1" kern="0" dirty="0">
                <a:solidFill>
                  <a:srgbClr val="0083CE"/>
                </a:solidFill>
                <a:latin typeface="+mj-ea"/>
                <a:ea typeface="+mj-ea"/>
                <a:cs typeface="Pretendard Variable SemiBold" panose="02000003000000020004" pitchFamily="2" charset="-127"/>
              </a:rPr>
              <a:t>  </a:t>
            </a:r>
            <a:r>
              <a:rPr lang="en-US" altLang="ko-KR" sz="1400" b="1" kern="0" dirty="0">
                <a:latin typeface="+mj-ea"/>
                <a:ea typeface="+mj-ea"/>
                <a:cs typeface="Pretendard Variable SemiBold" panose="02000003000000020004" pitchFamily="2" charset="-127"/>
              </a:rPr>
              <a:t>RAID </a:t>
            </a:r>
            <a:r>
              <a:rPr lang="ko-KR" altLang="en-US" sz="1400" b="1" kern="0" dirty="0">
                <a:latin typeface="+mj-ea"/>
                <a:ea typeface="+mj-ea"/>
                <a:cs typeface="Pretendard Variable SemiBold" panose="02000003000000020004" pitchFamily="2" charset="-127"/>
              </a:rPr>
              <a:t>기능과 유사한 데이터 이중화에 의한 노드 장애 무중단 지원</a:t>
            </a:r>
            <a:endParaRPr lang="en-US" altLang="ko-KR" sz="1400" b="1" kern="0" dirty="0">
              <a:latin typeface="+mj-ea"/>
              <a:ea typeface="+mj-ea"/>
              <a:cs typeface="Pretendard Variable SemiBold" panose="02000003000000020004" pitchFamily="2" charset="-127"/>
            </a:endParaRPr>
          </a:p>
          <a:p>
            <a:pPr marL="177800" lvl="1">
              <a:lnSpc>
                <a:spcPct val="130000"/>
              </a:lnSpc>
              <a:buClr>
                <a:schemeClr val="accent1">
                  <a:lumMod val="60000"/>
                  <a:lumOff val="40000"/>
                </a:schemeClr>
              </a:buClr>
              <a:defRPr/>
            </a:pPr>
            <a:r>
              <a:rPr lang="ko-KR" altLang="en-US" sz="1000" b="1" kern="0" dirty="0">
                <a:solidFill>
                  <a:srgbClr val="0083CE"/>
                </a:solidFill>
                <a:latin typeface="+mj-ea"/>
                <a:ea typeface="+mj-ea"/>
                <a:cs typeface="Pretendard Variable SemiBold" panose="02000003000000020004" pitchFamily="2" charset="-127"/>
              </a:rPr>
              <a:t>◆</a:t>
            </a:r>
            <a:r>
              <a:rPr lang="ko-KR" altLang="en-US" sz="1400" b="1" kern="0" dirty="0">
                <a:solidFill>
                  <a:srgbClr val="0083CE"/>
                </a:solidFill>
                <a:latin typeface="+mj-ea"/>
                <a:ea typeface="+mj-ea"/>
                <a:cs typeface="Pretendard Variable SemiBold" panose="02000003000000020004" pitchFamily="2" charset="-127"/>
              </a:rPr>
              <a:t>  </a:t>
            </a:r>
            <a:r>
              <a:rPr lang="ko-KR" altLang="en-US" sz="1400" b="1" kern="0" dirty="0">
                <a:latin typeface="+mj-ea"/>
                <a:ea typeface="+mj-ea"/>
                <a:cs typeface="Pretendard Variable SemiBold" panose="02000003000000020004" pitchFamily="2" charset="-127"/>
              </a:rPr>
              <a:t>데이터 베이스 확장을 위한 노드 증설 시에도 서비스 무중단</a:t>
            </a:r>
          </a:p>
          <a:p>
            <a:pPr marL="177800" lvl="1">
              <a:lnSpc>
                <a:spcPct val="130000"/>
              </a:lnSpc>
              <a:buClr>
                <a:schemeClr val="accent1">
                  <a:lumMod val="60000"/>
                  <a:lumOff val="40000"/>
                </a:schemeClr>
              </a:buClr>
              <a:defRPr/>
            </a:pPr>
            <a:r>
              <a:rPr lang="ko-KR" altLang="en-US" sz="1000" b="1" kern="0" dirty="0">
                <a:solidFill>
                  <a:srgbClr val="0083CE"/>
                </a:solidFill>
                <a:latin typeface="+mj-ea"/>
                <a:ea typeface="+mj-ea"/>
                <a:cs typeface="Pretendard Variable SemiBold" panose="02000003000000020004" pitchFamily="2" charset="-127"/>
              </a:rPr>
              <a:t>◆</a:t>
            </a:r>
            <a:r>
              <a:rPr lang="ko-KR" altLang="en-US" sz="1400" b="1" kern="0" dirty="0">
                <a:solidFill>
                  <a:srgbClr val="0083CE"/>
                </a:solidFill>
                <a:latin typeface="+mj-ea"/>
                <a:ea typeface="+mj-ea"/>
                <a:cs typeface="Pretendard Variable SemiBold" panose="02000003000000020004" pitchFamily="2" charset="-127"/>
              </a:rPr>
              <a:t>  </a:t>
            </a:r>
            <a:r>
              <a:rPr lang="en-US" altLang="ko-KR" sz="1400" b="1" kern="0" dirty="0">
                <a:latin typeface="+mj-ea"/>
                <a:ea typeface="+mj-ea"/>
                <a:cs typeface="Pretendard Variable SemiBold" panose="02000003000000020004" pitchFamily="2" charset="-127"/>
              </a:rPr>
              <a:t>H/W </a:t>
            </a:r>
            <a:r>
              <a:rPr lang="ko-KR" altLang="en-US" sz="1400" b="1" kern="0" dirty="0">
                <a:latin typeface="+mj-ea"/>
                <a:ea typeface="+mj-ea"/>
                <a:cs typeface="Pretendard Variable SemiBold" panose="02000003000000020004" pitchFamily="2" charset="-127"/>
              </a:rPr>
              <a:t>유지 보수를 위한 노드 제거 시에도 서비스 무중단 </a:t>
            </a:r>
            <a:r>
              <a:rPr lang="en-US" altLang="ko-KR" sz="1400" b="1" kern="0" dirty="0">
                <a:latin typeface="+mj-ea"/>
                <a:ea typeface="+mj-ea"/>
                <a:cs typeface="Pretendard Variable SemiBold" panose="02000003000000020004" pitchFamily="2" charset="-127"/>
              </a:rPr>
              <a:t>– (CPU/Memory/</a:t>
            </a:r>
            <a:r>
              <a:rPr lang="ko-KR" altLang="en-US" sz="1400" b="1" kern="0" dirty="0">
                <a:latin typeface="+mj-ea"/>
                <a:ea typeface="+mj-ea"/>
                <a:cs typeface="Pretendard Variable SemiBold" panose="02000003000000020004" pitchFamily="2" charset="-127"/>
              </a:rPr>
              <a:t>스토리지</a:t>
            </a:r>
            <a:r>
              <a:rPr lang="en-US" altLang="ko-KR" sz="1400" b="1" kern="0" dirty="0">
                <a:latin typeface="+mj-ea"/>
                <a:ea typeface="+mj-ea"/>
                <a:cs typeface="Pretendard Variable SemiBold" panose="02000003000000020004" pitchFamily="2" charset="-127"/>
              </a:rPr>
              <a:t>/OS </a:t>
            </a:r>
            <a:r>
              <a:rPr lang="ko-KR" altLang="en-US" sz="1400" b="1" kern="0" dirty="0">
                <a:latin typeface="+mj-ea"/>
                <a:ea typeface="+mj-ea"/>
                <a:cs typeface="Pretendard Variable SemiBold" panose="02000003000000020004" pitchFamily="2" charset="-127"/>
              </a:rPr>
              <a:t>등</a:t>
            </a:r>
            <a:r>
              <a:rPr lang="en-US" altLang="ko-KR" sz="1400" b="1" kern="0" dirty="0">
                <a:latin typeface="+mj-ea"/>
                <a:ea typeface="+mj-ea"/>
                <a:cs typeface="Pretendard Variable SemiBold" panose="02000003000000020004" pitchFamily="2" charset="-127"/>
              </a:rPr>
              <a:t>)</a:t>
            </a:r>
          </a:p>
          <a:p>
            <a:pPr marL="177800" lvl="1">
              <a:lnSpc>
                <a:spcPct val="130000"/>
              </a:lnSpc>
              <a:buClr>
                <a:schemeClr val="accent1">
                  <a:lumMod val="60000"/>
                  <a:lumOff val="40000"/>
                </a:schemeClr>
              </a:buClr>
              <a:defRPr/>
            </a:pPr>
            <a:r>
              <a:rPr lang="ko-KR" altLang="en-US" sz="1000" b="1" kern="0" dirty="0">
                <a:solidFill>
                  <a:srgbClr val="0083CE"/>
                </a:solidFill>
                <a:latin typeface="+mj-ea"/>
                <a:ea typeface="+mj-ea"/>
                <a:cs typeface="Pretendard Variable SemiBold" panose="02000003000000020004" pitchFamily="2" charset="-127"/>
              </a:rPr>
              <a:t>◆</a:t>
            </a:r>
            <a:r>
              <a:rPr lang="ko-KR" altLang="en-US" sz="1400" b="1" kern="0" dirty="0">
                <a:solidFill>
                  <a:srgbClr val="0083CE"/>
                </a:solidFill>
                <a:latin typeface="+mj-ea"/>
                <a:ea typeface="+mj-ea"/>
                <a:cs typeface="Pretendard Variable SemiBold" panose="02000003000000020004" pitchFamily="2" charset="-127"/>
              </a:rPr>
              <a:t>  </a:t>
            </a:r>
            <a:r>
              <a:rPr lang="ko-KR" altLang="en-US" sz="1400" b="1" kern="0" dirty="0">
                <a:latin typeface="+mj-ea"/>
                <a:ea typeface="+mj-ea"/>
                <a:cs typeface="Pretendard Variable SemiBold" panose="02000003000000020004" pitchFamily="2" charset="-127"/>
              </a:rPr>
              <a:t>스토리지 장애 시에도 해당 노드 무중단 </a:t>
            </a:r>
            <a:r>
              <a:rPr lang="en-US" altLang="ko-KR" sz="1400" b="1" kern="0" dirty="0">
                <a:latin typeface="+mj-ea"/>
                <a:ea typeface="+mj-ea"/>
                <a:cs typeface="Pretendard Variable SemiBold" panose="02000003000000020004" pitchFamily="2" charset="-127"/>
              </a:rPr>
              <a:t>(RAID </a:t>
            </a:r>
            <a:r>
              <a:rPr lang="ko-KR" altLang="en-US" sz="1400" b="1" kern="0" dirty="0">
                <a:latin typeface="+mj-ea"/>
                <a:ea typeface="+mj-ea"/>
                <a:cs typeface="Pretendard Variable SemiBold" panose="02000003000000020004" pitchFamily="2" charset="-127"/>
              </a:rPr>
              <a:t>적용</a:t>
            </a:r>
            <a:r>
              <a:rPr lang="en-US" altLang="ko-KR" sz="1400" b="1" kern="0" dirty="0">
                <a:latin typeface="+mj-ea"/>
                <a:ea typeface="+mj-ea"/>
                <a:cs typeface="Pretendard Variable SemiBold" panose="02000003000000020004" pitchFamily="2" charset="-127"/>
              </a:rPr>
              <a:t>)</a:t>
            </a:r>
          </a:p>
          <a:p>
            <a:pPr marL="177800" lvl="1">
              <a:lnSpc>
                <a:spcPct val="130000"/>
              </a:lnSpc>
              <a:buClr>
                <a:schemeClr val="accent1">
                  <a:lumMod val="60000"/>
                  <a:lumOff val="40000"/>
                </a:schemeClr>
              </a:buClr>
              <a:defRPr/>
            </a:pPr>
            <a:r>
              <a:rPr lang="ko-KR" altLang="en-US" sz="1000" b="1" kern="0" dirty="0">
                <a:solidFill>
                  <a:srgbClr val="0083CE"/>
                </a:solidFill>
                <a:latin typeface="+mj-ea"/>
                <a:ea typeface="+mj-ea"/>
                <a:cs typeface="Pretendard Variable SemiBold" panose="02000003000000020004" pitchFamily="2" charset="-127"/>
              </a:rPr>
              <a:t>◆</a:t>
            </a:r>
            <a:r>
              <a:rPr lang="ko-KR" altLang="en-US" sz="1400" b="1" kern="0" dirty="0">
                <a:solidFill>
                  <a:srgbClr val="0083CE"/>
                </a:solidFill>
                <a:latin typeface="+mj-ea"/>
                <a:ea typeface="+mj-ea"/>
                <a:cs typeface="Pretendard Variable SemiBold" panose="02000003000000020004" pitchFamily="2" charset="-127"/>
              </a:rPr>
              <a:t>  </a:t>
            </a:r>
            <a:r>
              <a:rPr lang="ko-KR" altLang="en-US" sz="1400" b="1" kern="0" dirty="0">
                <a:latin typeface="+mj-ea"/>
                <a:ea typeface="+mj-ea"/>
                <a:cs typeface="Pretendard Variable SemiBold" panose="02000003000000020004" pitchFamily="2" charset="-127"/>
              </a:rPr>
              <a:t>시스템 장애 복구시 자동으로 클러스터 내의 다른 서버로 부터 데이터 동기화 수행</a:t>
            </a:r>
          </a:p>
        </p:txBody>
      </p:sp>
      <p:sp>
        <p:nvSpPr>
          <p:cNvPr id="13" name="굽은 화살표 12"/>
          <p:cNvSpPr/>
          <p:nvPr/>
        </p:nvSpPr>
        <p:spPr>
          <a:xfrm rot="10800000" flipH="1">
            <a:off x="5589164" y="3756550"/>
            <a:ext cx="1402186" cy="751473"/>
          </a:xfrm>
          <a:prstGeom prst="bentArrow">
            <a:avLst>
              <a:gd name="adj1" fmla="val 25000"/>
              <a:gd name="adj2" fmla="val 23733"/>
              <a:gd name="adj3" fmla="val 25000"/>
              <a:gd name="adj4" fmla="val 43750"/>
            </a:avLst>
          </a:prstGeom>
          <a:solidFill>
            <a:schemeClr val="bg1">
              <a:lumMod val="95000"/>
            </a:schemeClr>
          </a:solidFill>
          <a:ln w="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10263245" y="6362796"/>
            <a:ext cx="306355" cy="274324"/>
          </a:xfrm>
        </p:spPr>
        <p:txBody>
          <a:bodyPr/>
          <a:lstStyle/>
          <a:p>
            <a:fld id="{AFA02C0B-84B5-4CD2-A6CE-C6BD7D6F9045}" type="slidenum">
              <a:rPr lang="ko-KR" altLang="en-US" smtClean="0">
                <a:solidFill>
                  <a:schemeClr val="bg1"/>
                </a:solidFill>
              </a:rPr>
              <a:t>12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6643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Vertica </a:t>
            </a:r>
            <a:r>
              <a:rPr lang="ko-KR" altLang="en-US" dirty="0">
                <a:latin typeface="+mj-ea"/>
                <a:ea typeface="+mj-ea"/>
              </a:rPr>
              <a:t>아키텍처 특징 </a:t>
            </a:r>
            <a:r>
              <a:rPr lang="en-US" altLang="ko-KR" sz="1400" dirty="0">
                <a:latin typeface="+mj-ea"/>
                <a:ea typeface="+mj-ea"/>
              </a:rPr>
              <a:t>&gt; </a:t>
            </a:r>
            <a:r>
              <a:rPr lang="en-US" altLang="ko-KR" sz="1400" dirty="0">
                <a:solidFill>
                  <a:srgbClr val="0083CE"/>
                </a:solidFill>
                <a:latin typeface="+mj-ea"/>
                <a:ea typeface="+mj-ea"/>
              </a:rPr>
              <a:t>Scale-out</a:t>
            </a:r>
            <a:endParaRPr lang="ko-KR" altLang="en-US" dirty="0">
              <a:solidFill>
                <a:srgbClr val="0083CE"/>
              </a:solidFill>
              <a:latin typeface="+mj-ea"/>
              <a:ea typeface="+mj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715639" y="1387082"/>
            <a:ext cx="10891643" cy="9316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데이터 및 사용자 증가 시 노드 단위의 증설을 통해 성능을 향상시키고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,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온라인 데이터 재분배 과정으로 데이터베이스 다운타임 없이 확장 가능합니다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.</a:t>
            </a: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Pretendard Variable Medium" panose="02000003000000020004" pitchFamily="2" charset="-127"/>
            </a:endParaRPr>
          </a:p>
        </p:txBody>
      </p:sp>
      <p:pic>
        <p:nvPicPr>
          <p:cNvPr id="13" name="Picture 197">
            <a:extLst>
              <a:ext uri="{FF2B5EF4-FFF2-40B4-BE49-F238E27FC236}">
                <a16:creationId xmlns="" xmlns:a16="http://schemas.microsoft.com/office/drawing/2014/main" id="{00BF60DE-7D00-41B0-BCDB-606E7E188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690" y="2613356"/>
            <a:ext cx="5419298" cy="3101309"/>
          </a:xfrm>
          <a:prstGeom prst="rect">
            <a:avLst/>
          </a:prstGeom>
        </p:spPr>
      </p:pic>
      <p:sp>
        <p:nvSpPr>
          <p:cNvPr id="14" name="내용 개체 틀 2">
            <a:extLst>
              <a:ext uri="{FF2B5EF4-FFF2-40B4-BE49-F238E27FC236}">
                <a16:creationId xmlns="" xmlns:a16="http://schemas.microsoft.com/office/drawing/2014/main" id="{4C0BCA58-7401-47F0-8C5C-08212F25C9AF}"/>
              </a:ext>
            </a:extLst>
          </p:cNvPr>
          <p:cNvSpPr txBox="1">
            <a:spLocks/>
          </p:cNvSpPr>
          <p:nvPr/>
        </p:nvSpPr>
        <p:spPr bwMode="auto">
          <a:xfrm>
            <a:off x="6161460" y="3612946"/>
            <a:ext cx="5445822" cy="1252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lvl="1">
              <a:lnSpc>
                <a:spcPct val="130000"/>
              </a:lnSpc>
              <a:buClr>
                <a:schemeClr val="accent1">
                  <a:lumMod val="60000"/>
                  <a:lumOff val="40000"/>
                </a:schemeClr>
              </a:buClr>
              <a:defRPr/>
            </a:pPr>
            <a:r>
              <a:rPr lang="ko-KR" altLang="en-US" sz="1600" b="1" dirty="0">
                <a:solidFill>
                  <a:srgbClr val="0083CE"/>
                </a:solidFill>
                <a:latin typeface="+mn-ea"/>
                <a:cs typeface="Pretendard Variable SemiBold" panose="02000003000000020004" pitchFamily="2" charset="-127"/>
              </a:rPr>
              <a:t>고객 투자</a:t>
            </a:r>
            <a:r>
              <a:rPr lang="ko-KR" altLang="en-US" sz="1600" b="1" kern="0" dirty="0">
                <a:solidFill>
                  <a:schemeClr val="accent1"/>
                </a:solidFill>
                <a:latin typeface="+mn-ea"/>
                <a:cs typeface="Pretendard Variable SemiBold" panose="02000003000000020004" pitchFamily="2" charset="-127"/>
              </a:rPr>
              <a:t> </a:t>
            </a:r>
            <a:r>
              <a:rPr lang="ko-KR" altLang="en-US" sz="1600" b="1" dirty="0">
                <a:solidFill>
                  <a:srgbClr val="0083CE"/>
                </a:solidFill>
                <a:latin typeface="+mn-ea"/>
                <a:cs typeface="Pretendard Variable SemiBold" panose="02000003000000020004" pitchFamily="2" charset="-127"/>
              </a:rPr>
              <a:t>보호</a:t>
            </a:r>
            <a:endParaRPr lang="en-US" altLang="ko-KR" sz="1400" b="1" dirty="0">
              <a:solidFill>
                <a:srgbClr val="0083CE"/>
              </a:solidFill>
              <a:latin typeface="+mn-ea"/>
              <a:cs typeface="Pretendard Variable SemiBold" panose="02000003000000020004" pitchFamily="2" charset="-127"/>
            </a:endParaRPr>
          </a:p>
          <a:p>
            <a:pPr marL="266700" lvl="1" indent="-180975">
              <a:lnSpc>
                <a:spcPct val="130000"/>
              </a:lnSpc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§"/>
              <a:defRPr/>
            </a:pPr>
            <a:r>
              <a:rPr lang="ko-KR" altLang="en-US" sz="1400" b="1" i="1" kern="0" dirty="0">
                <a:latin typeface="+mn-ea"/>
                <a:cs typeface="Pretendard Variable SemiBold" panose="02000003000000020004" pitchFamily="2" charset="-127"/>
              </a:rPr>
              <a:t>노드 단위 하드웨어 증설로 비용 최적화</a:t>
            </a:r>
            <a:endParaRPr lang="en-US" altLang="ko-KR" sz="1400" b="1" i="1" kern="0" dirty="0">
              <a:latin typeface="+mn-ea"/>
              <a:cs typeface="Pretendard Variable SemiBold" panose="02000003000000020004" pitchFamily="2" charset="-127"/>
            </a:endParaRPr>
          </a:p>
          <a:p>
            <a:pPr marL="266700" lvl="1" indent="-180975">
              <a:lnSpc>
                <a:spcPct val="130000"/>
              </a:lnSpc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§"/>
              <a:defRPr/>
            </a:pPr>
            <a:r>
              <a:rPr lang="ko-KR" altLang="en-US" sz="1400" b="1" i="1" kern="0" dirty="0">
                <a:latin typeface="+mn-ea"/>
                <a:cs typeface="Pretendard Variable SemiBold" panose="02000003000000020004" pitchFamily="2" charset="-127"/>
              </a:rPr>
              <a:t>하드웨어 사양에 관계없이 </a:t>
            </a:r>
            <a:r>
              <a:rPr lang="en-US" altLang="ko-KR" sz="1400" b="1" i="1" kern="0" dirty="0">
                <a:latin typeface="+mn-ea"/>
                <a:cs typeface="Pretendard Variable SemiBold" panose="02000003000000020004" pitchFamily="2" charset="-127"/>
              </a:rPr>
              <a:t>1TB </a:t>
            </a:r>
            <a:r>
              <a:rPr lang="ko-KR" altLang="en-US" sz="1400" b="1" i="1" kern="0" dirty="0">
                <a:latin typeface="+mn-ea"/>
                <a:cs typeface="Pretendard Variable SemiBold" panose="02000003000000020004" pitchFamily="2" charset="-127"/>
              </a:rPr>
              <a:t>단위로 </a:t>
            </a:r>
            <a:r>
              <a:rPr lang="en-US" altLang="ko-KR" sz="1400" b="1" i="1" kern="0" dirty="0">
                <a:latin typeface="+mn-ea"/>
                <a:cs typeface="Pretendard Variable SemiBold" panose="02000003000000020004" pitchFamily="2" charset="-127"/>
              </a:rPr>
              <a:t>DB </a:t>
            </a:r>
            <a:r>
              <a:rPr lang="ko-KR" altLang="en-US" sz="1400" b="1" i="1" kern="0" dirty="0">
                <a:latin typeface="+mn-ea"/>
                <a:cs typeface="Pretendard Variable SemiBold" panose="02000003000000020004" pitchFamily="2" charset="-127"/>
              </a:rPr>
              <a:t>라이선스 증설</a:t>
            </a:r>
            <a:endParaRPr lang="en-US" altLang="ko-KR" sz="1400" b="1" i="1" kern="0" dirty="0">
              <a:latin typeface="+mn-ea"/>
              <a:cs typeface="Pretendard Variable SemiBold" panose="02000003000000020004" pitchFamily="2" charset="-127"/>
            </a:endParaRPr>
          </a:p>
          <a:p>
            <a:pPr marL="266700" lvl="1" indent="-180975">
              <a:lnSpc>
                <a:spcPct val="130000"/>
              </a:lnSpc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§"/>
              <a:defRPr/>
            </a:pPr>
            <a:r>
              <a:rPr lang="en-US" altLang="ko-KR" sz="1400" b="1" i="1" kern="0" dirty="0">
                <a:latin typeface="+mn-ea"/>
                <a:cs typeface="Pretendard Variable SemiBold" panose="02000003000000020004" pitchFamily="2" charset="-127"/>
              </a:rPr>
              <a:t>On-Premise vs Cloud, VM</a:t>
            </a:r>
            <a:r>
              <a:rPr lang="ko-KR" altLang="en-US" sz="1400" b="1" i="1" kern="0" dirty="0">
                <a:latin typeface="+mn-ea"/>
                <a:cs typeface="Pretendard Variable SemiBold" panose="02000003000000020004" pitchFamily="2" charset="-127"/>
              </a:rPr>
              <a:t>  전환 시 라이선스 </a:t>
            </a:r>
            <a:r>
              <a:rPr lang="en-US" altLang="ko-KR" sz="1400" b="1" i="1" kern="0" dirty="0">
                <a:latin typeface="+mn-ea"/>
                <a:cs typeface="Pretendard Variable SemiBold" panose="02000003000000020004" pitchFamily="2" charset="-127"/>
              </a:rPr>
              <a:t>Re-Use </a:t>
            </a:r>
            <a:r>
              <a:rPr lang="ko-KR" altLang="en-US" sz="1400" b="1" i="1" kern="0" dirty="0">
                <a:latin typeface="+mn-ea"/>
                <a:cs typeface="Pretendard Variable SemiBold" panose="02000003000000020004" pitchFamily="2" charset="-127"/>
              </a:rPr>
              <a:t>가능</a:t>
            </a:r>
            <a:endParaRPr lang="en-US" altLang="ko-KR" sz="1400" b="1" i="1" kern="0" dirty="0">
              <a:latin typeface="+mn-ea"/>
              <a:cs typeface="Pretendard Variable SemiBold" panose="02000003000000020004" pitchFamily="2" charset="-127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10271872" y="6362796"/>
            <a:ext cx="306355" cy="274324"/>
          </a:xfrm>
        </p:spPr>
        <p:txBody>
          <a:bodyPr/>
          <a:lstStyle/>
          <a:p>
            <a:fld id="{AFA02C0B-84B5-4CD2-A6CE-C6BD7D6F9045}" type="slidenum">
              <a:rPr lang="ko-KR" altLang="en-US" smtClean="0">
                <a:solidFill>
                  <a:schemeClr val="bg1"/>
                </a:solidFill>
              </a:rPr>
              <a:t>13</a:t>
            </a:fld>
            <a:endParaRPr lang="ko-KR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0169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Vertica </a:t>
            </a:r>
            <a:r>
              <a:rPr lang="ko-KR" altLang="en-US" dirty="0">
                <a:latin typeface="+mj-ea"/>
                <a:ea typeface="+mj-ea"/>
              </a:rPr>
              <a:t>아키텍처 특징 </a:t>
            </a:r>
            <a:r>
              <a:rPr lang="en-US" altLang="ko-KR" sz="1400" dirty="0">
                <a:latin typeface="+mj-ea"/>
                <a:ea typeface="+mj-ea"/>
              </a:rPr>
              <a:t>&gt; </a:t>
            </a:r>
            <a:r>
              <a:rPr lang="ko-KR" altLang="en-US" sz="1400" dirty="0">
                <a:solidFill>
                  <a:srgbClr val="0083CE"/>
                </a:solidFill>
                <a:latin typeface="+mj-ea"/>
                <a:ea typeface="+mj-ea"/>
              </a:rPr>
              <a:t>대용량 백업 </a:t>
            </a:r>
            <a:r>
              <a:rPr lang="en-US" altLang="ko-KR" sz="1400" dirty="0">
                <a:solidFill>
                  <a:srgbClr val="0083CE"/>
                </a:solidFill>
                <a:latin typeface="+mj-ea"/>
                <a:ea typeface="+mj-ea"/>
              </a:rPr>
              <a:t>/ </a:t>
            </a:r>
            <a:r>
              <a:rPr lang="ko-KR" altLang="en-US" sz="1400" dirty="0">
                <a:solidFill>
                  <a:srgbClr val="0083CE"/>
                </a:solidFill>
                <a:latin typeface="+mj-ea"/>
                <a:ea typeface="+mj-ea"/>
              </a:rPr>
              <a:t>복구 아키텍처</a:t>
            </a:r>
            <a:endParaRPr lang="ko-KR" altLang="en-US" dirty="0">
              <a:solidFill>
                <a:srgbClr val="0083CE"/>
              </a:solidFill>
              <a:latin typeface="+mj-ea"/>
              <a:ea typeface="+mj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715639" y="1387082"/>
            <a:ext cx="11035707" cy="9316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Write-Once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아키텍처이기 때문에 매우 단순하고 빠른 백업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/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복구 기능을 자체적으로 제공합니다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.</a:t>
            </a:r>
          </a:p>
          <a:p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이전 시점으로 복구 요청 시 버티카는 전체 백업과 그 이후 발생한 모든 증분 백업을 다시 복구하는 과정을 거치지 않고 유실된 데이터에 해당하는 영역에 대해서만 복구하는 아키텍처를 가지고 있습니다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.</a:t>
            </a:r>
          </a:p>
          <a:p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또한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,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전체 </a:t>
            </a: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백업본에서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 특정 스키마 및 객체만 복구할 수 있는 기능이 포함됩니다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.</a:t>
            </a: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Pretendard Variable Medium" panose="02000003000000020004" pitchFamily="2" charset="-127"/>
            </a:endParaRPr>
          </a:p>
        </p:txBody>
      </p:sp>
      <p:sp>
        <p:nvSpPr>
          <p:cNvPr id="6" name="Rectangle 9">
            <a:extLst>
              <a:ext uri="{FF2B5EF4-FFF2-40B4-BE49-F238E27FC236}">
                <a16:creationId xmlns="" xmlns:a16="http://schemas.microsoft.com/office/drawing/2014/main" id="{228DFE34-4D69-437C-AB34-52517B1EA8AC}"/>
              </a:ext>
            </a:extLst>
          </p:cNvPr>
          <p:cNvSpPr/>
          <p:nvPr/>
        </p:nvSpPr>
        <p:spPr>
          <a:xfrm>
            <a:off x="1013246" y="2673464"/>
            <a:ext cx="4904234" cy="279191"/>
          </a:xfrm>
          <a:prstGeom prst="rect">
            <a:avLst/>
          </a:prstGeom>
          <a:solidFill>
            <a:srgbClr val="0083CE"/>
          </a:solidFill>
          <a:ln>
            <a:solidFill>
              <a:srgbClr val="0079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Backup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="" xmlns:a16="http://schemas.microsoft.com/office/drawing/2014/main" id="{06062339-B7D3-4F79-98AE-E4F23A8EA19A}"/>
              </a:ext>
            </a:extLst>
          </p:cNvPr>
          <p:cNvSpPr/>
          <p:nvPr/>
        </p:nvSpPr>
        <p:spPr>
          <a:xfrm>
            <a:off x="6192071" y="2673464"/>
            <a:ext cx="4904234" cy="279191"/>
          </a:xfrm>
          <a:prstGeom prst="rect">
            <a:avLst/>
          </a:prstGeom>
          <a:solidFill>
            <a:srgbClr val="0083CE"/>
          </a:solidFill>
          <a:ln>
            <a:solidFill>
              <a:srgbClr val="0079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Recovery</a:t>
            </a:r>
          </a:p>
        </p:txBody>
      </p:sp>
      <p:pic>
        <p:nvPicPr>
          <p:cNvPr id="9" name="그림 4">
            <a:extLst>
              <a:ext uri="{FF2B5EF4-FFF2-40B4-BE49-F238E27FC236}">
                <a16:creationId xmlns="" xmlns:a16="http://schemas.microsoft.com/office/drawing/2014/main" id="{ED0AA6FC-D06A-4608-B4EF-CBF840219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420" y="3146239"/>
            <a:ext cx="3907640" cy="2032995"/>
          </a:xfrm>
          <a:prstGeom prst="rect">
            <a:avLst/>
          </a:prstGeom>
        </p:spPr>
      </p:pic>
      <p:pic>
        <p:nvPicPr>
          <p:cNvPr id="10" name="그림 1">
            <a:extLst>
              <a:ext uri="{FF2B5EF4-FFF2-40B4-BE49-F238E27FC236}">
                <a16:creationId xmlns="" xmlns:a16="http://schemas.microsoft.com/office/drawing/2014/main" id="{4E4560A6-2F2B-4C0A-AC34-71B60F8EA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9138" y="3060105"/>
            <a:ext cx="5148144" cy="34731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3CDBCF7C-249E-4396-AEDB-C602607E95A1}"/>
              </a:ext>
            </a:extLst>
          </p:cNvPr>
          <p:cNvSpPr txBox="1"/>
          <p:nvPr/>
        </p:nvSpPr>
        <p:spPr>
          <a:xfrm>
            <a:off x="1165534" y="5559438"/>
            <a:ext cx="4599657" cy="646331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1200" b="1" dirty="0">
                <a:solidFill>
                  <a:schemeClr val="bg1">
                    <a:lumMod val="50000"/>
                  </a:schemeClr>
                </a:solidFill>
                <a:latin typeface="+mn-lt"/>
                <a:ea typeface="Roboto Light" charset="0"/>
                <a:cs typeface="Roboto Light" charset="0"/>
              </a:rPr>
              <a:t>No table lock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1200" b="1" dirty="0">
                <a:solidFill>
                  <a:schemeClr val="bg1">
                    <a:lumMod val="50000"/>
                  </a:schemeClr>
                </a:solidFill>
                <a:latin typeface="+mn-lt"/>
                <a:ea typeface="Roboto Light" charset="0"/>
                <a:cs typeface="Roboto Light" charset="0"/>
              </a:rPr>
              <a:t>Backup destination :</a:t>
            </a:r>
            <a:br>
              <a:rPr lang="en-GB" sz="1200" b="1" dirty="0">
                <a:solidFill>
                  <a:schemeClr val="bg1">
                    <a:lumMod val="50000"/>
                  </a:schemeClr>
                </a:solidFill>
                <a:latin typeface="+mn-lt"/>
                <a:ea typeface="Roboto Light" charset="0"/>
                <a:cs typeface="Roboto Light" charset="0"/>
              </a:rPr>
            </a:br>
            <a:r>
              <a:rPr lang="en-GB" sz="1200" b="1" dirty="0">
                <a:solidFill>
                  <a:schemeClr val="bg1">
                    <a:lumMod val="50000"/>
                  </a:schemeClr>
                </a:solidFill>
                <a:latin typeface="+mn-lt"/>
                <a:ea typeface="Roboto Light" charset="0"/>
                <a:cs typeface="Roboto Light" charset="0"/>
              </a:rPr>
              <a:t>Local storage / Object Storage / NFS  / Other Vertica Cluster(DR)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10282810" y="6364110"/>
            <a:ext cx="278505" cy="274324"/>
          </a:xfrm>
        </p:spPr>
        <p:txBody>
          <a:bodyPr/>
          <a:lstStyle/>
          <a:p>
            <a:fld id="{AFA02C0B-84B5-4CD2-A6CE-C6BD7D6F9045}" type="slidenum">
              <a:rPr lang="ko-KR" altLang="en-US" smtClean="0">
                <a:solidFill>
                  <a:schemeClr val="bg1"/>
                </a:solidFill>
              </a:rPr>
              <a:t>14</a:t>
            </a:fld>
            <a:endParaRPr lang="ko-KR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13027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10B4596-8658-8879-B0AC-85D4834A1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E07C3DF4-ECA9-9E8F-D831-6ADF48091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편리한 관리</a:t>
            </a:r>
            <a:endParaRPr lang="ko-KR" altLang="en-US" dirty="0">
              <a:solidFill>
                <a:srgbClr val="0083CE"/>
              </a:solidFill>
              <a:latin typeface="+mj-ea"/>
              <a:ea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="" xmlns:a16="http://schemas.microsoft.com/office/drawing/2014/main" id="{6EBF8E3C-FFBC-2656-CF7A-4D6DAE716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82810" y="6364110"/>
            <a:ext cx="278505" cy="274324"/>
          </a:xfrm>
        </p:spPr>
        <p:txBody>
          <a:bodyPr/>
          <a:lstStyle/>
          <a:p>
            <a:fld id="{AFA02C0B-84B5-4CD2-A6CE-C6BD7D6F9045}" type="slidenum">
              <a:rPr lang="ko-KR" altLang="en-US" smtClean="0">
                <a:solidFill>
                  <a:schemeClr val="bg1"/>
                </a:solidFill>
              </a:rPr>
              <a:t>15</a:t>
            </a:fld>
            <a:endParaRPr lang="ko-KR" altLang="en-US">
              <a:solidFill>
                <a:schemeClr val="bg1"/>
              </a:solidFill>
            </a:endParaRPr>
          </a:p>
        </p:txBody>
      </p:sp>
      <p:grpSp>
        <p:nvGrpSpPr>
          <p:cNvPr id="46" name="Group 16">
            <a:extLst>
              <a:ext uri="{FF2B5EF4-FFF2-40B4-BE49-F238E27FC236}">
                <a16:creationId xmlns="" xmlns:a16="http://schemas.microsoft.com/office/drawing/2014/main" id="{0E02B788-6059-DA07-4D25-12F6EB2EA835}"/>
              </a:ext>
            </a:extLst>
          </p:cNvPr>
          <p:cNvGrpSpPr/>
          <p:nvPr/>
        </p:nvGrpSpPr>
        <p:grpSpPr>
          <a:xfrm>
            <a:off x="1199456" y="1363035"/>
            <a:ext cx="4913559" cy="2446133"/>
            <a:chOff x="450761" y="1167509"/>
            <a:chExt cx="4913559" cy="2569940"/>
          </a:xfrm>
        </p:grpSpPr>
        <p:sp>
          <p:nvSpPr>
            <p:cNvPr id="47" name="Rectangle 23">
              <a:extLst>
                <a:ext uri="{FF2B5EF4-FFF2-40B4-BE49-F238E27FC236}">
                  <a16:creationId xmlns="" xmlns:a16="http://schemas.microsoft.com/office/drawing/2014/main" id="{6C3A4D3C-9394-C4A9-C328-9E2E3619D8A6}"/>
                </a:ext>
              </a:extLst>
            </p:cNvPr>
            <p:cNvSpPr/>
            <p:nvPr/>
          </p:nvSpPr>
          <p:spPr>
            <a:xfrm>
              <a:off x="980604" y="1302598"/>
              <a:ext cx="4180150" cy="648949"/>
            </a:xfrm>
            <a:prstGeom prst="rect">
              <a:avLst/>
            </a:prstGeom>
          </p:spPr>
          <p:txBody>
            <a:bodyPr wrap="square" lIns="0" tIns="0" rIns="91440" bIns="0" anchor="t">
              <a:noAutofit/>
            </a:bodyPr>
            <a:lstStyle/>
            <a:p>
              <a:pPr marL="0" marR="0" lvl="0" indent="0" algn="just" defTabSz="43021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212E35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Calibri"/>
                  <a:cs typeface="HP Simplified" pitchFamily="34" charset="0"/>
                </a:rPr>
                <a:t>사용자별로 시스템 자원을 동적으로 할당하여 비즈니스 요구사항에 따른 다양한 우선순위 조정이 가능한 </a:t>
              </a: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212E35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Calibri"/>
                  <a:cs typeface="HP Simplified" pitchFamily="34" charset="0"/>
                </a:rPr>
                <a:t>Workload </a:t>
              </a:r>
              <a:r>
                <a: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212E35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Calibri"/>
                  <a:cs typeface="HP Simplified" pitchFamily="34" charset="0"/>
                </a:rPr>
                <a:t>관리 기능</a:t>
              </a: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212E35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Calibri"/>
                  <a:cs typeface="HP Simplified" pitchFamily="34" charset="0"/>
                </a:rPr>
                <a:t> </a:t>
              </a:r>
              <a:r>
                <a: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212E35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Calibri"/>
                  <a:cs typeface="HP Simplified" pitchFamily="34" charset="0"/>
                </a:rPr>
                <a:t>제공</a:t>
              </a:r>
              <a:endPara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212E35">
                    <a:lumMod val="95000"/>
                    <a:lumOff val="5000"/>
                  </a:srgbClr>
                </a:solidFill>
                <a:effectLst/>
                <a:uLnTx/>
                <a:uFillTx/>
                <a:latin typeface="Calibri"/>
                <a:cs typeface="HP Simplified" pitchFamily="34" charset="0"/>
              </a:endParaRPr>
            </a:p>
          </p:txBody>
        </p:sp>
        <p:sp>
          <p:nvSpPr>
            <p:cNvPr id="48" name="Round Same Side Corner Rectangle 12">
              <a:extLst>
                <a:ext uri="{FF2B5EF4-FFF2-40B4-BE49-F238E27FC236}">
                  <a16:creationId xmlns="" xmlns:a16="http://schemas.microsoft.com/office/drawing/2014/main" id="{CA71CE4D-730D-B1AE-48DE-F720DCAC9B1C}"/>
                </a:ext>
              </a:extLst>
            </p:cNvPr>
            <p:cNvSpPr/>
            <p:nvPr/>
          </p:nvSpPr>
          <p:spPr>
            <a:xfrm rot="5400000" flipH="1">
              <a:off x="1772429" y="118132"/>
              <a:ext cx="2513273" cy="4670509"/>
            </a:xfrm>
            <a:prstGeom prst="round2SameRect">
              <a:avLst>
                <a:gd name="adj1" fmla="val 5985"/>
                <a:gd name="adj2" fmla="val 0"/>
              </a:avLst>
            </a:prstGeom>
            <a:noFill/>
            <a:ln w="381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9" name="Round Same Side Corner Rectangle 2">
              <a:extLst>
                <a:ext uri="{FF2B5EF4-FFF2-40B4-BE49-F238E27FC236}">
                  <a16:creationId xmlns="" xmlns:a16="http://schemas.microsoft.com/office/drawing/2014/main" id="{6EB9BE10-BD54-1943-AA80-D494B19F5A22}"/>
                </a:ext>
              </a:extLst>
            </p:cNvPr>
            <p:cNvSpPr/>
            <p:nvPr/>
          </p:nvSpPr>
          <p:spPr>
            <a:xfrm rot="16200000">
              <a:off x="-647025" y="2265295"/>
              <a:ext cx="2569940" cy="374368"/>
            </a:xfrm>
            <a:prstGeom prst="round2SameRect">
              <a:avLst/>
            </a:prstGeom>
            <a:gradFill flip="none" rotWithShape="1">
              <a:gsLst>
                <a:gs pos="0">
                  <a:srgbClr val="C6179D">
                    <a:lumMod val="75000"/>
                  </a:srgbClr>
                </a:gs>
                <a:gs pos="50000">
                  <a:srgbClr val="1668C1">
                    <a:lumMod val="50000"/>
                  </a:srgbClr>
                </a:gs>
                <a:gs pos="100000">
                  <a:srgbClr val="C6179D">
                    <a:lumMod val="50000"/>
                  </a:srgbClr>
                </a:gs>
              </a:gsLst>
              <a:lin ang="8100000" scaled="1"/>
              <a:tileRect/>
            </a:gradFill>
            <a:ln w="19050" cap="flat" cmpd="sng" algn="ctr">
              <a:noFill/>
              <a:prstDash val="solid"/>
              <a:miter lim="800000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워크로드 관리</a:t>
              </a:r>
            </a:p>
          </p:txBody>
        </p:sp>
        <p:pic>
          <p:nvPicPr>
            <p:cNvPr id="50" name="Picture 5">
              <a:extLst>
                <a:ext uri="{FF2B5EF4-FFF2-40B4-BE49-F238E27FC236}">
                  <a16:creationId xmlns="" xmlns:a16="http://schemas.microsoft.com/office/drawing/2014/main" id="{586B3E38-E26D-A634-29E3-75F143C981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2574" y="1959597"/>
              <a:ext cx="4258180" cy="1625481"/>
            </a:xfrm>
            <a:prstGeom prst="rect">
              <a:avLst/>
            </a:prstGeom>
          </p:spPr>
        </p:pic>
      </p:grpSp>
      <p:grpSp>
        <p:nvGrpSpPr>
          <p:cNvPr id="51" name="Group 17">
            <a:extLst>
              <a:ext uri="{FF2B5EF4-FFF2-40B4-BE49-F238E27FC236}">
                <a16:creationId xmlns="" xmlns:a16="http://schemas.microsoft.com/office/drawing/2014/main" id="{C1471DA7-B95D-0919-28D8-D36F593F1868}"/>
              </a:ext>
            </a:extLst>
          </p:cNvPr>
          <p:cNvGrpSpPr/>
          <p:nvPr/>
        </p:nvGrpSpPr>
        <p:grpSpPr>
          <a:xfrm>
            <a:off x="1199456" y="3877799"/>
            <a:ext cx="5036723" cy="2435273"/>
            <a:chOff x="450761" y="3806079"/>
            <a:chExt cx="5036723" cy="2569940"/>
          </a:xfrm>
        </p:grpSpPr>
        <p:sp>
          <p:nvSpPr>
            <p:cNvPr id="52" name="Round Same Side Corner Rectangle 91">
              <a:extLst>
                <a:ext uri="{FF2B5EF4-FFF2-40B4-BE49-F238E27FC236}">
                  <a16:creationId xmlns="" xmlns:a16="http://schemas.microsoft.com/office/drawing/2014/main" id="{11C38772-0CCF-B4AC-BF81-7DFB883A41A8}"/>
                </a:ext>
              </a:extLst>
            </p:cNvPr>
            <p:cNvSpPr/>
            <p:nvPr/>
          </p:nvSpPr>
          <p:spPr>
            <a:xfrm rot="5400000" flipH="1">
              <a:off x="1772429" y="2756702"/>
              <a:ext cx="2513273" cy="4670509"/>
            </a:xfrm>
            <a:prstGeom prst="round2SameRect">
              <a:avLst>
                <a:gd name="adj1" fmla="val 5985"/>
                <a:gd name="adj2" fmla="val 0"/>
              </a:avLst>
            </a:prstGeom>
            <a:noFill/>
            <a:ln w="381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3" name="Round Same Side Corner Rectangle 92">
              <a:extLst>
                <a:ext uri="{FF2B5EF4-FFF2-40B4-BE49-F238E27FC236}">
                  <a16:creationId xmlns="" xmlns:a16="http://schemas.microsoft.com/office/drawing/2014/main" id="{536F4D6F-CF70-6A13-D694-2233CDDD38A7}"/>
                </a:ext>
              </a:extLst>
            </p:cNvPr>
            <p:cNvSpPr/>
            <p:nvPr/>
          </p:nvSpPr>
          <p:spPr>
            <a:xfrm rot="16200000">
              <a:off x="-647025" y="4903865"/>
              <a:ext cx="2569940" cy="374368"/>
            </a:xfrm>
            <a:prstGeom prst="round2SameRect">
              <a:avLst/>
            </a:prstGeom>
            <a:gradFill flip="none" rotWithShape="1">
              <a:gsLst>
                <a:gs pos="0">
                  <a:srgbClr val="C6179D">
                    <a:lumMod val="75000"/>
                  </a:srgbClr>
                </a:gs>
                <a:gs pos="50000">
                  <a:srgbClr val="1668C1">
                    <a:lumMod val="50000"/>
                  </a:srgbClr>
                </a:gs>
                <a:gs pos="100000">
                  <a:srgbClr val="C6179D">
                    <a:lumMod val="50000"/>
                  </a:srgbClr>
                </a:gs>
              </a:gsLst>
              <a:lin ang="8100000" scaled="1"/>
              <a:tileRect/>
            </a:gradFill>
            <a:ln w="19050" cap="flat" cmpd="sng" algn="ctr">
              <a:noFill/>
              <a:prstDash val="solid"/>
              <a:miter lim="800000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백업 및 복구</a:t>
              </a:r>
            </a:p>
          </p:txBody>
        </p:sp>
        <p:sp>
          <p:nvSpPr>
            <p:cNvPr id="54" name="Rectangle 93">
              <a:extLst>
                <a:ext uri="{FF2B5EF4-FFF2-40B4-BE49-F238E27FC236}">
                  <a16:creationId xmlns="" xmlns:a16="http://schemas.microsoft.com/office/drawing/2014/main" id="{4AF24713-D3E3-2C8A-DB53-4F906B7DFF3B}"/>
                </a:ext>
              </a:extLst>
            </p:cNvPr>
            <p:cNvSpPr/>
            <p:nvPr/>
          </p:nvSpPr>
          <p:spPr>
            <a:xfrm>
              <a:off x="938207" y="5792440"/>
              <a:ext cx="4222547" cy="549351"/>
            </a:xfrm>
            <a:prstGeom prst="rect">
              <a:avLst/>
            </a:prstGeom>
          </p:spPr>
          <p:txBody>
            <a:bodyPr wrap="square" lIns="0" tIns="0" rIns="91440" bIns="0" anchor="t">
              <a:noAutofit/>
            </a:bodyPr>
            <a:lstStyle/>
            <a:p>
              <a:pPr marL="0" marR="0" lvl="0" indent="0" algn="just" defTabSz="43021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212E35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Calibri"/>
                  <a:cs typeface="HP Simplified" pitchFamily="34" charset="0"/>
                </a:rPr>
                <a:t>별도 비용 없이 백업 이미지를 </a:t>
              </a: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212E35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Calibri"/>
                  <a:cs typeface="HP Simplified" pitchFamily="34" charset="0"/>
                </a:rPr>
                <a:t>Vertica Cluster</a:t>
              </a:r>
              <a:r>
                <a: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212E35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Calibri"/>
                  <a:cs typeface="HP Simplified" pitchFamily="34" charset="0"/>
                </a:rPr>
                <a:t>내에 저장하는 효율적인 백업 방식이며 유실된 데이터에 해당하는 영역에 대해서만 복구하는 현실적인 복구 방안 제공 </a:t>
              </a:r>
              <a:endPara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212E35">
                    <a:lumMod val="95000"/>
                    <a:lumOff val="5000"/>
                  </a:srgbClr>
                </a:solidFill>
                <a:effectLst/>
                <a:uLnTx/>
                <a:uFillTx/>
                <a:latin typeface="Calibri"/>
                <a:cs typeface="HP Simplified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="" xmlns:a16="http://schemas.microsoft.com/office/drawing/2014/main" id="{3EE891AB-E4BE-F8BE-3E61-68042501E79E}"/>
                </a:ext>
              </a:extLst>
            </p:cNvPr>
            <p:cNvSpPr txBox="1"/>
            <p:nvPr/>
          </p:nvSpPr>
          <p:spPr>
            <a:xfrm>
              <a:off x="837664" y="3940037"/>
              <a:ext cx="910663" cy="5155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430213" eaLnBrk="1" fontAlgn="auto" latinLnBrk="0" hangingPunct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altLang="ko-KR" sz="900" b="1" i="1" u="none" strike="noStrike" kern="0" cap="none" spc="0" normalizeH="0" baseline="0" noProof="0" dirty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Calibri"/>
                  <a:cs typeface="HP Simplified" pitchFamily="34" charset="0"/>
                </a:rPr>
                <a:t>Online</a:t>
              </a:r>
            </a:p>
            <a:p>
              <a:pPr marL="0" marR="0" lvl="0" indent="0" defTabSz="430213" eaLnBrk="1" fontAlgn="auto" latinLnBrk="0" hangingPunct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altLang="ko-KR" sz="900" b="1" i="1" u="none" strike="noStrike" kern="0" cap="none" spc="0" normalizeH="0" baseline="0" noProof="0" dirty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Calibri"/>
                  <a:cs typeface="HP Simplified" pitchFamily="34" charset="0"/>
                </a:rPr>
                <a:t>Incremental</a:t>
              </a:r>
            </a:p>
            <a:p>
              <a:pPr marL="0" marR="0" lvl="0" indent="0" defTabSz="430213" eaLnBrk="1" fontAlgn="auto" latinLnBrk="0" hangingPunct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altLang="ko-KR" sz="900" b="1" i="1" u="none" strike="noStrike" kern="0" cap="none" spc="0" normalizeH="0" baseline="0" noProof="0" dirty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Calibri"/>
                  <a:cs typeface="HP Simplified" pitchFamily="34" charset="0"/>
                </a:rPr>
                <a:t>Backup</a:t>
              </a:r>
            </a:p>
          </p:txBody>
        </p:sp>
        <p:sp>
          <p:nvSpPr>
            <p:cNvPr id="56" name="내용 개체 틀 2">
              <a:extLst>
                <a:ext uri="{FF2B5EF4-FFF2-40B4-BE49-F238E27FC236}">
                  <a16:creationId xmlns="" xmlns:a16="http://schemas.microsoft.com/office/drawing/2014/main" id="{6FD21CBE-1196-8EB2-3372-FAC53FD45D11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4099181" y="4455389"/>
              <a:ext cx="1388303" cy="5909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85725" marR="0" lvl="1" indent="-85725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6179D">
                    <a:lumMod val="60000"/>
                    <a:lumOff val="40000"/>
                  </a:srgbClr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ko-KR" altLang="en-US" sz="900" b="1" i="1" u="none" strike="noStrike" kern="0" cap="none" spc="0" normalizeH="0" baseline="0" noProof="0" dirty="0">
                  <a:ln>
                    <a:noFill/>
                  </a:ln>
                  <a:solidFill>
                    <a:srgbClr val="C6179D">
                      <a:lumMod val="50000"/>
                    </a:srgbClr>
                  </a:solidFill>
                  <a:effectLst/>
                  <a:uLnTx/>
                  <a:uFillTx/>
                  <a:latin typeface="Calibri"/>
                </a:rPr>
                <a:t>복구시간 단축</a:t>
              </a:r>
            </a:p>
            <a:p>
              <a:pPr marL="85725" marR="0" lvl="1" indent="-85725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6179D">
                    <a:lumMod val="60000"/>
                    <a:lumOff val="40000"/>
                  </a:srgbClr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ko-KR" altLang="en-US" sz="900" b="1" i="1" u="none" strike="noStrike" kern="0" cap="none" spc="0" normalizeH="0" baseline="0" noProof="0" dirty="0">
                  <a:ln>
                    <a:noFill/>
                  </a:ln>
                  <a:solidFill>
                    <a:srgbClr val="C6179D">
                      <a:lumMod val="50000"/>
                    </a:srgbClr>
                  </a:solidFill>
                  <a:effectLst/>
                  <a:uLnTx/>
                  <a:uFillTx/>
                  <a:latin typeface="Calibri"/>
                </a:rPr>
                <a:t>최소의 데이터 복구</a:t>
              </a:r>
            </a:p>
            <a:p>
              <a:pPr marL="85725" marR="0" lvl="1" indent="-85725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6179D">
                    <a:lumMod val="60000"/>
                    <a:lumOff val="40000"/>
                  </a:srgbClr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ko-KR" altLang="en-US" sz="900" b="1" i="1" u="none" strike="noStrike" kern="0" cap="none" spc="0" normalizeH="0" baseline="0" noProof="0" dirty="0">
                  <a:ln>
                    <a:noFill/>
                  </a:ln>
                  <a:solidFill>
                    <a:srgbClr val="C6179D">
                      <a:lumMod val="50000"/>
                    </a:srgbClr>
                  </a:solidFill>
                  <a:effectLst/>
                  <a:uLnTx/>
                  <a:uFillTx/>
                  <a:latin typeface="Calibri"/>
                </a:rPr>
                <a:t>복구 과정 단순화</a:t>
              </a:r>
            </a:p>
          </p:txBody>
        </p:sp>
        <p:pic>
          <p:nvPicPr>
            <p:cNvPr id="57" name="Picture 10">
              <a:extLst>
                <a:ext uri="{FF2B5EF4-FFF2-40B4-BE49-F238E27FC236}">
                  <a16:creationId xmlns="" xmlns:a16="http://schemas.microsoft.com/office/drawing/2014/main" id="{ABDC927B-E600-7FC3-599C-7C5D9BB676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75981" y="4162615"/>
              <a:ext cx="2839844" cy="1477532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="" xmlns:a16="http://schemas.microsoft.com/office/drawing/2014/main" id="{7B5B44E0-9ACC-C862-1D97-A3C3893372CA}"/>
                </a:ext>
              </a:extLst>
            </p:cNvPr>
            <p:cNvSpPr txBox="1"/>
            <p:nvPr/>
          </p:nvSpPr>
          <p:spPr>
            <a:xfrm>
              <a:off x="4094338" y="4295457"/>
              <a:ext cx="910663" cy="2333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430213" eaLnBrk="1" fontAlgn="auto" latinLnBrk="0" hangingPunct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altLang="ko-KR" sz="900" b="1" i="1" u="none" strike="noStrike" kern="0" cap="none" spc="0" normalizeH="0" baseline="0" noProof="0" dirty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Calibri"/>
                  <a:cs typeface="HP Simplified" pitchFamily="34" charset="0"/>
                </a:rPr>
                <a:t>Restore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="" xmlns:a16="http://schemas.microsoft.com/office/drawing/2014/main" id="{76D8FBEE-D4E4-5142-C58B-3AF4F1E262A0}"/>
                </a:ext>
              </a:extLst>
            </p:cNvPr>
            <p:cNvSpPr txBox="1"/>
            <p:nvPr/>
          </p:nvSpPr>
          <p:spPr>
            <a:xfrm>
              <a:off x="827379" y="5138107"/>
              <a:ext cx="1148586" cy="3744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30213" eaLnBrk="1" fontAlgn="auto" latinLnBrk="0" hangingPunct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altLang="ko-KR" sz="900" b="1" i="1" u="none" strike="noStrike" kern="0" cap="none" spc="0" normalizeH="0" baseline="0" noProof="0" dirty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Calibri"/>
                  <a:cs typeface="HP Simplified" pitchFamily="34" charset="0"/>
                </a:rPr>
                <a:t>Optional</a:t>
              </a:r>
            </a:p>
            <a:p>
              <a:pPr marL="0" marR="0" lvl="0" indent="0" algn="r" defTabSz="430213" eaLnBrk="1" fontAlgn="auto" latinLnBrk="0" hangingPunct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altLang="ko-KR" sz="900" b="1" i="1" u="none" strike="noStrike" kern="0" cap="none" spc="0" normalizeH="0" baseline="0" noProof="0" dirty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Calibri"/>
                  <a:cs typeface="HP Simplified" pitchFamily="34" charset="0"/>
                </a:rPr>
                <a:t>3</a:t>
              </a:r>
              <a:r>
                <a:rPr kumimoji="0" lang="en-US" altLang="ko-KR" sz="900" b="1" i="1" u="none" strike="noStrike" kern="0" cap="none" spc="0" normalizeH="0" baseline="30000" noProof="0" dirty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Calibri"/>
                  <a:cs typeface="HP Simplified" pitchFamily="34" charset="0"/>
                </a:rPr>
                <a:t>rd</a:t>
              </a:r>
              <a:r>
                <a:rPr kumimoji="0" lang="en-US" altLang="ko-KR" sz="900" b="1" i="1" u="none" strike="noStrike" kern="0" cap="none" spc="0" normalizeH="0" baseline="0" noProof="0" dirty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Calibri"/>
                  <a:cs typeface="HP Simplified" pitchFamily="34" charset="0"/>
                </a:rPr>
                <a:t> party backup</a:t>
              </a:r>
            </a:p>
          </p:txBody>
        </p:sp>
      </p:grpSp>
      <p:grpSp>
        <p:nvGrpSpPr>
          <p:cNvPr id="60" name="Group 18">
            <a:extLst>
              <a:ext uri="{FF2B5EF4-FFF2-40B4-BE49-F238E27FC236}">
                <a16:creationId xmlns="" xmlns:a16="http://schemas.microsoft.com/office/drawing/2014/main" id="{725A9D82-9728-A05B-B495-A270706FE03E}"/>
              </a:ext>
            </a:extLst>
          </p:cNvPr>
          <p:cNvGrpSpPr/>
          <p:nvPr/>
        </p:nvGrpSpPr>
        <p:grpSpPr>
          <a:xfrm>
            <a:off x="6223663" y="1390867"/>
            <a:ext cx="4874207" cy="2434482"/>
            <a:chOff x="5474968" y="1183689"/>
            <a:chExt cx="4874207" cy="2569940"/>
          </a:xfrm>
        </p:grpSpPr>
        <p:sp>
          <p:nvSpPr>
            <p:cNvPr id="61" name="Rectangle 124">
              <a:extLst>
                <a:ext uri="{FF2B5EF4-FFF2-40B4-BE49-F238E27FC236}">
                  <a16:creationId xmlns="" xmlns:a16="http://schemas.microsoft.com/office/drawing/2014/main" id="{17741ABB-8EDB-31C0-B4EC-F5CA6EA19712}"/>
                </a:ext>
              </a:extLst>
            </p:cNvPr>
            <p:cNvSpPr/>
            <p:nvPr/>
          </p:nvSpPr>
          <p:spPr>
            <a:xfrm>
              <a:off x="5631529" y="1291316"/>
              <a:ext cx="4223707" cy="648949"/>
            </a:xfrm>
            <a:prstGeom prst="rect">
              <a:avLst/>
            </a:prstGeom>
          </p:spPr>
          <p:txBody>
            <a:bodyPr wrap="square" lIns="0" tIns="0" rIns="91440" bIns="0" anchor="t">
              <a:noAutofit/>
            </a:bodyPr>
            <a:lstStyle/>
            <a:p>
              <a:pPr marL="0" marR="0" lvl="0" indent="0" algn="just" defTabSz="43021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212E35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Calibri"/>
                  <a:cs typeface="HP Simplified" pitchFamily="34" charset="0"/>
                </a:rPr>
                <a:t>rolling upgrade</a:t>
              </a:r>
              <a:r>
                <a: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212E35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Calibri"/>
                  <a:cs typeface="HP Simplified" pitchFamily="34" charset="0"/>
                </a:rPr>
                <a:t>를 통해 서비스 중단 없이 온라인으로 </a:t>
              </a: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212E35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Calibri"/>
                  <a:cs typeface="HP Simplified" pitchFamily="34" charset="0"/>
                </a:rPr>
                <a:t>H/W, O/S</a:t>
              </a:r>
              <a:r>
                <a: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212E35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Calibri"/>
                  <a:cs typeface="HP Simplified" pitchFamily="34" charset="0"/>
                </a:rPr>
                <a:t>의 </a:t>
              </a: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212E35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Calibri"/>
                  <a:cs typeface="HP Simplified" pitchFamily="34" charset="0"/>
                </a:rPr>
                <a:t>Patch</a:t>
              </a:r>
              <a:r>
                <a: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212E35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Calibri"/>
                  <a:cs typeface="HP Simplified" pitchFamily="34" charset="0"/>
                </a:rPr>
                <a:t>및 업그레이드 작업 가능</a:t>
              </a: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212E35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Calibri"/>
                  <a:cs typeface="HP Simplified" pitchFamily="34" charset="0"/>
                </a:rPr>
                <a:t>.  Vertica</a:t>
              </a:r>
              <a:r>
                <a: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212E35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Calibri"/>
                  <a:cs typeface="HP Simplified" pitchFamily="34" charset="0"/>
                </a:rPr>
                <a:t>의 경우 한 대의 서버에서 모든 설치</a:t>
              </a: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212E35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Calibri"/>
                  <a:cs typeface="HP Simplified" pitchFamily="34" charset="0"/>
                </a:rPr>
                <a:t>, </a:t>
              </a:r>
              <a:r>
                <a: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212E35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Calibri"/>
                  <a:cs typeface="HP Simplified" pitchFamily="34" charset="0"/>
                </a:rPr>
                <a:t>업그레이드</a:t>
              </a: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212E35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Calibri"/>
                  <a:cs typeface="HP Simplified" pitchFamily="34" charset="0"/>
                </a:rPr>
                <a:t>, </a:t>
              </a:r>
              <a:r>
                <a: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212E35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Calibri"/>
                  <a:cs typeface="HP Simplified" pitchFamily="34" charset="0"/>
                </a:rPr>
                <a:t>장애 로그 수집 가능</a:t>
              </a: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212E35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Calibri"/>
                  <a:cs typeface="HP Simplified" pitchFamily="34" charset="0"/>
                </a:rPr>
                <a:t>.</a:t>
              </a:r>
            </a:p>
          </p:txBody>
        </p:sp>
        <p:sp>
          <p:nvSpPr>
            <p:cNvPr id="62" name="Round Same Side Corner Rectangle 125">
              <a:extLst>
                <a:ext uri="{FF2B5EF4-FFF2-40B4-BE49-F238E27FC236}">
                  <a16:creationId xmlns="" xmlns:a16="http://schemas.microsoft.com/office/drawing/2014/main" id="{519CA91E-4C43-47D0-77B8-BDCA4B450649}"/>
                </a:ext>
              </a:extLst>
            </p:cNvPr>
            <p:cNvSpPr/>
            <p:nvPr/>
          </p:nvSpPr>
          <p:spPr>
            <a:xfrm rot="16200000">
              <a:off x="6553586" y="125753"/>
              <a:ext cx="2513273" cy="4670509"/>
            </a:xfrm>
            <a:prstGeom prst="round2SameRect">
              <a:avLst>
                <a:gd name="adj1" fmla="val 5985"/>
                <a:gd name="adj2" fmla="val 0"/>
              </a:avLst>
            </a:prstGeom>
            <a:noFill/>
            <a:ln w="381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3" name="Round Same Side Corner Rectangle 126">
              <a:extLst>
                <a:ext uri="{FF2B5EF4-FFF2-40B4-BE49-F238E27FC236}">
                  <a16:creationId xmlns="" xmlns:a16="http://schemas.microsoft.com/office/drawing/2014/main" id="{6048C87D-640C-C9C1-9DFE-550B3013D99A}"/>
                </a:ext>
              </a:extLst>
            </p:cNvPr>
            <p:cNvSpPr/>
            <p:nvPr/>
          </p:nvSpPr>
          <p:spPr>
            <a:xfrm rot="5400000" flipH="1">
              <a:off x="8877021" y="2281475"/>
              <a:ext cx="2569940" cy="374368"/>
            </a:xfrm>
            <a:prstGeom prst="round2SameRect">
              <a:avLst/>
            </a:prstGeom>
            <a:gradFill flip="none" rotWithShape="1">
              <a:gsLst>
                <a:gs pos="0">
                  <a:srgbClr val="C6179D">
                    <a:lumMod val="75000"/>
                  </a:srgbClr>
                </a:gs>
                <a:gs pos="50000">
                  <a:srgbClr val="1668C1">
                    <a:lumMod val="50000"/>
                  </a:srgbClr>
                </a:gs>
                <a:gs pos="100000">
                  <a:srgbClr val="C6179D">
                    <a:lumMod val="50000"/>
                  </a:srgbClr>
                </a:gs>
              </a:gsLst>
              <a:lin ang="8100000" scaled="1"/>
              <a:tileRect/>
            </a:gradFill>
            <a:ln w="19050" cap="flat" cmpd="sng" algn="ctr">
              <a:noFill/>
              <a:prstDash val="solid"/>
              <a:miter lim="800000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유지보수 관리</a:t>
              </a:r>
            </a:p>
          </p:txBody>
        </p:sp>
        <p:pic>
          <p:nvPicPr>
            <p:cNvPr id="64" name="Picture 11">
              <a:extLst>
                <a:ext uri="{FF2B5EF4-FFF2-40B4-BE49-F238E27FC236}">
                  <a16:creationId xmlns="" xmlns:a16="http://schemas.microsoft.com/office/drawing/2014/main" id="{B0775FA5-977A-D170-6210-162B19FF19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66319" y="2147224"/>
              <a:ext cx="1545897" cy="1411002"/>
            </a:xfrm>
            <a:prstGeom prst="rect">
              <a:avLst/>
            </a:prstGeom>
          </p:spPr>
        </p:pic>
        <p:sp>
          <p:nvSpPr>
            <p:cNvPr id="65" name="TextBox 64">
              <a:extLst>
                <a:ext uri="{FF2B5EF4-FFF2-40B4-BE49-F238E27FC236}">
                  <a16:creationId xmlns="" xmlns:a16="http://schemas.microsoft.com/office/drawing/2014/main" id="{38272B32-2982-39B9-5FB9-4A435AC11047}"/>
                </a:ext>
              </a:extLst>
            </p:cNvPr>
            <p:cNvSpPr txBox="1"/>
            <p:nvPr/>
          </p:nvSpPr>
          <p:spPr>
            <a:xfrm>
              <a:off x="6019975" y="2035082"/>
              <a:ext cx="1336153" cy="2333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430213" eaLnBrk="1" fontAlgn="auto" latinLnBrk="0" hangingPunct="1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altLang="ko-KR" sz="900" b="1" i="1" u="none" strike="noStrike" kern="0" cap="none" spc="0" normalizeH="0" baseline="0" noProof="0" dirty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Calibri"/>
                  <a:cs typeface="HP Simplified" pitchFamily="34" charset="0"/>
                </a:rPr>
                <a:t>Rolling upgrade</a:t>
              </a:r>
            </a:p>
          </p:txBody>
        </p:sp>
        <p:pic>
          <p:nvPicPr>
            <p:cNvPr id="66" name="Picture 13">
              <a:extLst>
                <a:ext uri="{FF2B5EF4-FFF2-40B4-BE49-F238E27FC236}">
                  <a16:creationId xmlns="" xmlns:a16="http://schemas.microsoft.com/office/drawing/2014/main" id="{B56FA1A6-F532-44E9-DEEA-5926266464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38157" y="2187398"/>
              <a:ext cx="2439322" cy="1230157"/>
            </a:xfrm>
            <a:prstGeom prst="rect">
              <a:avLst/>
            </a:prstGeom>
          </p:spPr>
        </p:pic>
      </p:grpSp>
      <p:grpSp>
        <p:nvGrpSpPr>
          <p:cNvPr id="67" name="Group 20">
            <a:extLst>
              <a:ext uri="{FF2B5EF4-FFF2-40B4-BE49-F238E27FC236}">
                <a16:creationId xmlns="" xmlns:a16="http://schemas.microsoft.com/office/drawing/2014/main" id="{D037CB30-6A26-D318-3F48-9892D3E2DEF4}"/>
              </a:ext>
            </a:extLst>
          </p:cNvPr>
          <p:cNvGrpSpPr/>
          <p:nvPr/>
        </p:nvGrpSpPr>
        <p:grpSpPr>
          <a:xfrm>
            <a:off x="6236179" y="3883108"/>
            <a:ext cx="4874207" cy="2429965"/>
            <a:chOff x="5487484" y="3811388"/>
            <a:chExt cx="4874207" cy="2569940"/>
          </a:xfrm>
        </p:grpSpPr>
        <p:sp>
          <p:nvSpPr>
            <p:cNvPr id="68" name="Round Same Side Corner Rectangle 202">
              <a:extLst>
                <a:ext uri="{FF2B5EF4-FFF2-40B4-BE49-F238E27FC236}">
                  <a16:creationId xmlns="" xmlns:a16="http://schemas.microsoft.com/office/drawing/2014/main" id="{B5CF647C-EC01-FC48-87CD-CB39B2108BE7}"/>
                </a:ext>
              </a:extLst>
            </p:cNvPr>
            <p:cNvSpPr/>
            <p:nvPr/>
          </p:nvSpPr>
          <p:spPr>
            <a:xfrm rot="16200000">
              <a:off x="6566102" y="2753452"/>
              <a:ext cx="2513273" cy="4670509"/>
            </a:xfrm>
            <a:prstGeom prst="round2SameRect">
              <a:avLst>
                <a:gd name="adj1" fmla="val 5985"/>
                <a:gd name="adj2" fmla="val 0"/>
              </a:avLst>
            </a:prstGeom>
            <a:noFill/>
            <a:ln w="381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9" name="Round Same Side Corner Rectangle 203">
              <a:extLst>
                <a:ext uri="{FF2B5EF4-FFF2-40B4-BE49-F238E27FC236}">
                  <a16:creationId xmlns="" xmlns:a16="http://schemas.microsoft.com/office/drawing/2014/main" id="{92EF0C14-E5FA-C6B2-7A91-1DBBEDC125F6}"/>
                </a:ext>
              </a:extLst>
            </p:cNvPr>
            <p:cNvSpPr/>
            <p:nvPr/>
          </p:nvSpPr>
          <p:spPr>
            <a:xfrm rot="5400000" flipH="1">
              <a:off x="8889537" y="4909174"/>
              <a:ext cx="2569940" cy="374368"/>
            </a:xfrm>
            <a:prstGeom prst="round2SameRect">
              <a:avLst/>
            </a:prstGeom>
            <a:gradFill flip="none" rotWithShape="1">
              <a:gsLst>
                <a:gs pos="0">
                  <a:srgbClr val="C6179D">
                    <a:lumMod val="75000"/>
                  </a:srgbClr>
                </a:gs>
                <a:gs pos="50000">
                  <a:srgbClr val="1668C1">
                    <a:lumMod val="50000"/>
                  </a:srgbClr>
                </a:gs>
                <a:gs pos="100000">
                  <a:srgbClr val="C6179D">
                    <a:lumMod val="50000"/>
                  </a:srgbClr>
                </a:gs>
              </a:gsLst>
              <a:lin ang="8100000" scaled="1"/>
              <a:tileRect/>
            </a:gradFill>
            <a:ln w="19050" cap="flat" cmpd="sng" algn="ctr">
              <a:noFill/>
              <a:prstDash val="solid"/>
              <a:miter lim="800000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모니터링</a:t>
              </a:r>
            </a:p>
          </p:txBody>
        </p:sp>
        <p:grpSp>
          <p:nvGrpSpPr>
            <p:cNvPr id="70" name="Group 15">
              <a:extLst>
                <a:ext uri="{FF2B5EF4-FFF2-40B4-BE49-F238E27FC236}">
                  <a16:creationId xmlns="" xmlns:a16="http://schemas.microsoft.com/office/drawing/2014/main" id="{D9D40084-213C-CFA3-B341-079E368CCA5E}"/>
                </a:ext>
              </a:extLst>
            </p:cNvPr>
            <p:cNvGrpSpPr/>
            <p:nvPr/>
          </p:nvGrpSpPr>
          <p:grpSpPr>
            <a:xfrm>
              <a:off x="5688178" y="4238038"/>
              <a:ext cx="2769201" cy="1416865"/>
              <a:chOff x="4677757" y="4013679"/>
              <a:chExt cx="2769201" cy="1416865"/>
            </a:xfrm>
          </p:grpSpPr>
          <p:pic>
            <p:nvPicPr>
              <p:cNvPr id="77" name="Picture 5">
                <a:extLst>
                  <a:ext uri="{FF2B5EF4-FFF2-40B4-BE49-F238E27FC236}">
                    <a16:creationId xmlns="" xmlns:a16="http://schemas.microsoft.com/office/drawing/2014/main" id="{56FBD2C2-A9B4-DEDD-9107-593D67291B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sharpenSoften amount="64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677757" y="4013679"/>
                <a:ext cx="1766058" cy="1015422"/>
              </a:xfrm>
              <a:prstGeom prst="rect">
                <a:avLst/>
              </a:prstGeom>
              <a:ln>
                <a:solidFill>
                  <a:srgbClr val="C6179D"/>
                </a:solidFill>
              </a:ln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scene3d>
                <a:camera prst="isometricOffAxis1Right"/>
                <a:lightRig rig="threePt" dir="t"/>
              </a:scene3d>
            </p:spPr>
          </p:pic>
          <p:pic>
            <p:nvPicPr>
              <p:cNvPr id="78" name="Picture 8">
                <a:extLst>
                  <a:ext uri="{FF2B5EF4-FFF2-40B4-BE49-F238E27FC236}">
                    <a16:creationId xmlns="" xmlns:a16="http://schemas.microsoft.com/office/drawing/2014/main" id="{D5996DCA-4B6B-FD63-1B6C-917E5A6D70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5047597" y="4170059"/>
                <a:ext cx="2304637" cy="934199"/>
              </a:xfrm>
              <a:prstGeom prst="rect">
                <a:avLst/>
              </a:prstGeom>
              <a:ln>
                <a:solidFill>
                  <a:srgbClr val="C6179D"/>
                </a:solidFill>
              </a:ln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scene3d>
                <a:camera prst="isometricOffAxis1Right"/>
                <a:lightRig rig="threePt" dir="t"/>
              </a:scene3d>
            </p:spPr>
          </p:pic>
          <p:pic>
            <p:nvPicPr>
              <p:cNvPr id="79" name="Picture 13">
                <a:extLst>
                  <a:ext uri="{FF2B5EF4-FFF2-40B4-BE49-F238E27FC236}">
                    <a16:creationId xmlns="" xmlns:a16="http://schemas.microsoft.com/office/drawing/2014/main" id="{872EF6E5-62E3-2818-5B8A-B8AD0477C1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5530808" y="4250184"/>
                <a:ext cx="1916150" cy="1180360"/>
              </a:xfrm>
              <a:prstGeom prst="rect">
                <a:avLst/>
              </a:prstGeom>
              <a:ln>
                <a:solidFill>
                  <a:srgbClr val="C6179D"/>
                </a:solidFill>
              </a:ln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scene3d>
                <a:camera prst="isometricOffAxis1Right"/>
                <a:lightRig rig="threePt" dir="t"/>
              </a:scene3d>
            </p:spPr>
          </p:pic>
        </p:grpSp>
        <p:pic>
          <p:nvPicPr>
            <p:cNvPr id="71" name="Picture 17">
              <a:extLst>
                <a:ext uri="{FF2B5EF4-FFF2-40B4-BE49-F238E27FC236}">
                  <a16:creationId xmlns="" xmlns:a16="http://schemas.microsoft.com/office/drawing/2014/main" id="{4B991FE5-5B7E-3350-5530-6D464A9122E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655977" y="5269323"/>
              <a:ext cx="1363108" cy="819313"/>
            </a:xfrm>
            <a:prstGeom prst="rect">
              <a:avLst/>
            </a:prstGeom>
            <a:ln>
              <a:solidFill>
                <a:srgbClr val="C6179D"/>
              </a:solidFill>
            </a:ln>
          </p:spPr>
        </p:pic>
        <p:grpSp>
          <p:nvGrpSpPr>
            <p:cNvPr id="72" name="Group 2">
              <a:extLst>
                <a:ext uri="{FF2B5EF4-FFF2-40B4-BE49-F238E27FC236}">
                  <a16:creationId xmlns="" xmlns:a16="http://schemas.microsoft.com/office/drawing/2014/main" id="{0005A0A2-8A93-EDF2-F9AC-73B4DDA3A52E}"/>
                </a:ext>
              </a:extLst>
            </p:cNvPr>
            <p:cNvGrpSpPr/>
            <p:nvPr/>
          </p:nvGrpSpPr>
          <p:grpSpPr>
            <a:xfrm>
              <a:off x="5723639" y="4931382"/>
              <a:ext cx="3716736" cy="1309970"/>
              <a:chOff x="7006590" y="361339"/>
              <a:chExt cx="10979696" cy="4252520"/>
            </a:xfrm>
          </p:grpSpPr>
          <p:pic>
            <p:nvPicPr>
              <p:cNvPr id="75" name="Picture 4">
                <a:extLst>
                  <a:ext uri="{FF2B5EF4-FFF2-40B4-BE49-F238E27FC236}">
                    <a16:creationId xmlns="" xmlns:a16="http://schemas.microsoft.com/office/drawing/2014/main" id="{53332288-00DA-532E-3653-D52D9440D23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236651" y="361339"/>
                <a:ext cx="6749635" cy="42525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innerShdw blurRad="38100">
                  <a:prstClr val="black"/>
                </a:inn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</p:pic>
          <p:sp>
            <p:nvSpPr>
              <p:cNvPr id="76" name="TextBox 75">
                <a:extLst>
                  <a:ext uri="{FF2B5EF4-FFF2-40B4-BE49-F238E27FC236}">
                    <a16:creationId xmlns="" xmlns:a16="http://schemas.microsoft.com/office/drawing/2014/main" id="{9B86DA23-1EF8-8D8D-A355-BA8A39B8D6FC}"/>
                  </a:ext>
                </a:extLst>
              </p:cNvPr>
              <p:cNvSpPr txBox="1"/>
              <p:nvPr/>
            </p:nvSpPr>
            <p:spPr>
              <a:xfrm>
                <a:off x="7006590" y="1380565"/>
                <a:ext cx="1245373" cy="899214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Calibri"/>
                  </a:rPr>
                  <a:t>mcadmin</a:t>
                </a:r>
              </a:p>
            </p:txBody>
          </p:sp>
        </p:grpSp>
        <p:pic>
          <p:nvPicPr>
            <p:cNvPr id="73" name="Picture 4" descr="D:\Vertica\customer\hanaSK\BMT_capture\management_console4.jpg">
              <a:extLst>
                <a:ext uri="{FF2B5EF4-FFF2-40B4-BE49-F238E27FC236}">
                  <a16:creationId xmlns="" xmlns:a16="http://schemas.microsoft.com/office/drawing/2014/main" id="{31F192AB-815E-20AC-21FC-42399B5435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/>
            <a:srcRect/>
            <a:stretch>
              <a:fillRect/>
            </a:stretch>
          </p:blipFill>
          <p:spPr bwMode="auto">
            <a:xfrm>
              <a:off x="7710331" y="4015870"/>
              <a:ext cx="1427627" cy="1070648"/>
            </a:xfrm>
            <a:prstGeom prst="rect">
              <a:avLst/>
            </a:prstGeom>
            <a:noFill/>
          </p:spPr>
        </p:pic>
        <p:pic>
          <p:nvPicPr>
            <p:cNvPr id="74" name="Picture 5" descr="D:\Vertica\customer\hanaSK\BMT_capture\system_monitoring_S22_2.jpg">
              <a:extLst>
                <a:ext uri="{FF2B5EF4-FFF2-40B4-BE49-F238E27FC236}">
                  <a16:creationId xmlns="" xmlns:a16="http://schemas.microsoft.com/office/drawing/2014/main" id="{9F3DDA2A-5487-02C2-08C2-FCE972F6FD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/>
            <a:srcRect/>
            <a:stretch>
              <a:fillRect/>
            </a:stretch>
          </p:blipFill>
          <p:spPr bwMode="auto">
            <a:xfrm>
              <a:off x="8669646" y="4317334"/>
              <a:ext cx="1150734" cy="808282"/>
            </a:xfrm>
            <a:prstGeom prst="rect">
              <a:avLst/>
            </a:prstGeom>
            <a:noFill/>
          </p:spPr>
        </p:pic>
      </p:grpSp>
      <p:sp>
        <p:nvSpPr>
          <p:cNvPr id="80" name="Rectangle 4">
            <a:extLst>
              <a:ext uri="{FF2B5EF4-FFF2-40B4-BE49-F238E27FC236}">
                <a16:creationId xmlns="" xmlns:a16="http://schemas.microsoft.com/office/drawing/2014/main" id="{C378F6BC-3224-BCB2-CD21-4FB6AA8EEA1A}"/>
              </a:ext>
            </a:extLst>
          </p:cNvPr>
          <p:cNvSpPr/>
          <p:nvPr/>
        </p:nvSpPr>
        <p:spPr>
          <a:xfrm>
            <a:off x="4139407" y="3572729"/>
            <a:ext cx="4044825" cy="615553"/>
          </a:xfrm>
          <a:prstGeom prst="rect">
            <a:avLst/>
          </a:prstGeom>
          <a:solidFill>
            <a:sysClr val="window" lastClr="FFFFFF"/>
          </a:solidFill>
        </p:spPr>
        <p:txBody>
          <a:bodyPr wrap="none" lIns="91440" tIns="0" rIns="91440" bIns="0">
            <a:spAutoFit/>
            <a:scene3d>
              <a:camera prst="orthographicFront"/>
              <a:lightRig rig="threePt" dir="t"/>
            </a:scene3d>
            <a:sp3d extrusionH="57150">
              <a:bevelT w="82550" h="38100" prst="coolSlant"/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1" i="0" u="none" strike="noStrike" kern="0" cap="none" spc="0" normalizeH="0" baseline="0" noProof="0" dirty="0">
                <a:ln w="12700">
                  <a:noFill/>
                  <a:prstDash val="solid"/>
                </a:ln>
                <a:gradFill flip="none" rotWithShape="1">
                  <a:gsLst>
                    <a:gs pos="0">
                      <a:srgbClr val="C6179D">
                        <a:shade val="30000"/>
                        <a:satMod val="115000"/>
                      </a:srgbClr>
                    </a:gs>
                    <a:gs pos="50000">
                      <a:srgbClr val="C6179D">
                        <a:shade val="67500"/>
                        <a:satMod val="115000"/>
                      </a:srgbClr>
                    </a:gs>
                    <a:gs pos="100000">
                      <a:srgbClr val="C6179D">
                        <a:shade val="100000"/>
                        <a:satMod val="115000"/>
                      </a:srgbClr>
                    </a:gs>
                  </a:gsLst>
                  <a:lin ang="2700000" scaled="1"/>
                  <a:tileRect/>
                </a:gradFill>
                <a:effectLst>
                  <a:glow rad="63500">
                    <a:srgbClr val="C6179D">
                      <a:lumMod val="50000"/>
                      <a:alpha val="40000"/>
                    </a:srgbClr>
                  </a:glow>
                  <a:outerShdw dist="38100" dir="2640000" algn="bl" rotWithShape="0">
                    <a:srgbClr val="0079EF">
                      <a:lumMod val="75000"/>
                    </a:srgbClr>
                  </a:outerShdw>
                </a:effectLst>
                <a:uLnTx/>
                <a:uFillTx/>
                <a:latin typeface="Calibri"/>
              </a:rPr>
              <a:t>Easy Maintenance</a:t>
            </a:r>
          </a:p>
        </p:txBody>
      </p:sp>
    </p:spTree>
    <p:extLst>
      <p:ext uri="{BB962C8B-B14F-4D97-AF65-F5344CB8AC3E}">
        <p14:creationId xmlns:p14="http://schemas.microsoft.com/office/powerpoint/2010/main" val="2811879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31B38C0-EF92-7AB4-3C1C-9974EE49D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9FE20AC4-1F41-AA79-4165-2FBF09070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개발 용이성</a:t>
            </a:r>
            <a:endParaRPr lang="ko-KR" altLang="en-US" dirty="0">
              <a:solidFill>
                <a:srgbClr val="0083CE"/>
              </a:solidFill>
              <a:latin typeface="+mj-ea"/>
              <a:ea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="" xmlns:a16="http://schemas.microsoft.com/office/drawing/2014/main" id="{8393B341-A07A-17F1-A3B9-BE4180AEE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82810" y="6364110"/>
            <a:ext cx="278505" cy="274324"/>
          </a:xfrm>
        </p:spPr>
        <p:txBody>
          <a:bodyPr/>
          <a:lstStyle/>
          <a:p>
            <a:fld id="{AFA02C0B-84B5-4CD2-A6CE-C6BD7D6F9045}" type="slidenum">
              <a:rPr lang="ko-KR" altLang="en-US" smtClean="0">
                <a:solidFill>
                  <a:schemeClr val="bg1"/>
                </a:solidFill>
              </a:rPr>
              <a:t>16</a:t>
            </a:fld>
            <a:endParaRPr lang="ko-KR" altLang="en-US">
              <a:solidFill>
                <a:schemeClr val="bg1"/>
              </a:solidFill>
            </a:endParaRPr>
          </a:p>
        </p:txBody>
      </p:sp>
      <p:grpSp>
        <p:nvGrpSpPr>
          <p:cNvPr id="31" name="Group 19">
            <a:extLst>
              <a:ext uri="{FF2B5EF4-FFF2-40B4-BE49-F238E27FC236}">
                <a16:creationId xmlns="" xmlns:a16="http://schemas.microsoft.com/office/drawing/2014/main" id="{3F34E56A-D642-D9EB-DB2F-33CEB11590B4}"/>
              </a:ext>
            </a:extLst>
          </p:cNvPr>
          <p:cNvGrpSpPr/>
          <p:nvPr/>
        </p:nvGrpSpPr>
        <p:grpSpPr>
          <a:xfrm>
            <a:off x="1199456" y="1354070"/>
            <a:ext cx="4913559" cy="2446133"/>
            <a:chOff x="450761" y="1167509"/>
            <a:chExt cx="4913559" cy="2569940"/>
          </a:xfrm>
        </p:grpSpPr>
        <p:sp>
          <p:nvSpPr>
            <p:cNvPr id="32" name="Rectangle 23">
              <a:extLst>
                <a:ext uri="{FF2B5EF4-FFF2-40B4-BE49-F238E27FC236}">
                  <a16:creationId xmlns="" xmlns:a16="http://schemas.microsoft.com/office/drawing/2014/main" id="{878B2D9C-E457-A0E6-443F-FB4B24A7B6B3}"/>
                </a:ext>
              </a:extLst>
            </p:cNvPr>
            <p:cNvSpPr/>
            <p:nvPr/>
          </p:nvSpPr>
          <p:spPr>
            <a:xfrm>
              <a:off x="980604" y="1302598"/>
              <a:ext cx="4180150" cy="648949"/>
            </a:xfrm>
            <a:prstGeom prst="rect">
              <a:avLst/>
            </a:prstGeom>
          </p:spPr>
          <p:txBody>
            <a:bodyPr wrap="square" lIns="0" tIns="0" rIns="91440" bIns="0" anchor="t">
              <a:noAutofit/>
            </a:bodyPr>
            <a:lstStyle/>
            <a:p>
              <a:pPr marL="0" marR="0" lvl="0" indent="0" algn="just" defTabSz="43021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212E35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Calibri"/>
                  <a:cs typeface="HP Simplified" pitchFamily="34" charset="0"/>
                </a:rPr>
                <a:t>ODBC/JDBC/ADO.net </a:t>
              </a:r>
              <a:r>
                <a: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212E35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Calibri"/>
                  <a:cs typeface="HP Simplified" pitchFamily="34" charset="0"/>
                </a:rPr>
                <a:t>등 표준 인터페이스를 사용하기 때문에 </a:t>
              </a: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212E35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Calibri"/>
                  <a:cs typeface="HP Simplified" pitchFamily="34" charset="0"/>
                </a:rPr>
                <a:t>ETL, BI, OLAP, CDC </a:t>
              </a:r>
              <a:r>
                <a: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212E35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Calibri"/>
                  <a:cs typeface="HP Simplified" pitchFamily="34" charset="0"/>
                </a:rPr>
                <a:t>등 다양한 툴과의 손쉬운 연동 가능</a:t>
              </a:r>
              <a:endPara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212E35">
                    <a:lumMod val="95000"/>
                    <a:lumOff val="5000"/>
                  </a:srgbClr>
                </a:solidFill>
                <a:effectLst/>
                <a:uLnTx/>
                <a:uFillTx/>
                <a:latin typeface="Calibri"/>
                <a:cs typeface="HP Simplified" pitchFamily="34" charset="0"/>
              </a:endParaRPr>
            </a:p>
          </p:txBody>
        </p:sp>
        <p:sp>
          <p:nvSpPr>
            <p:cNvPr id="33" name="Round Same Side Corner Rectangle 12">
              <a:extLst>
                <a:ext uri="{FF2B5EF4-FFF2-40B4-BE49-F238E27FC236}">
                  <a16:creationId xmlns="" xmlns:a16="http://schemas.microsoft.com/office/drawing/2014/main" id="{38C3D207-832A-63C9-AFBA-84B8C3EAEDD5}"/>
                </a:ext>
              </a:extLst>
            </p:cNvPr>
            <p:cNvSpPr/>
            <p:nvPr/>
          </p:nvSpPr>
          <p:spPr>
            <a:xfrm rot="5400000" flipH="1">
              <a:off x="1772429" y="118132"/>
              <a:ext cx="2513273" cy="4670509"/>
            </a:xfrm>
            <a:prstGeom prst="round2SameRect">
              <a:avLst>
                <a:gd name="adj1" fmla="val 5985"/>
                <a:gd name="adj2" fmla="val 0"/>
              </a:avLst>
            </a:prstGeom>
            <a:noFill/>
            <a:ln w="381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4" name="Round Same Side Corner Rectangle 2">
              <a:extLst>
                <a:ext uri="{FF2B5EF4-FFF2-40B4-BE49-F238E27FC236}">
                  <a16:creationId xmlns="" xmlns:a16="http://schemas.microsoft.com/office/drawing/2014/main" id="{C52F927A-BF7F-3869-DEE8-A4795D4657C2}"/>
                </a:ext>
              </a:extLst>
            </p:cNvPr>
            <p:cNvSpPr/>
            <p:nvPr/>
          </p:nvSpPr>
          <p:spPr>
            <a:xfrm rot="16200000">
              <a:off x="-647025" y="2265295"/>
              <a:ext cx="2569940" cy="374368"/>
            </a:xfrm>
            <a:prstGeom prst="round2SameRect">
              <a:avLst/>
            </a:prstGeom>
            <a:gradFill flip="none" rotWithShape="1">
              <a:gsLst>
                <a:gs pos="0">
                  <a:srgbClr val="C6179D">
                    <a:lumMod val="75000"/>
                  </a:srgbClr>
                </a:gs>
                <a:gs pos="50000">
                  <a:srgbClr val="1668C1">
                    <a:lumMod val="50000"/>
                  </a:srgbClr>
                </a:gs>
                <a:gs pos="100000">
                  <a:srgbClr val="C6179D">
                    <a:lumMod val="50000"/>
                  </a:srgbClr>
                </a:gs>
              </a:gsLst>
              <a:lin ang="8100000" scaled="1"/>
              <a:tileRect/>
            </a:gradFill>
            <a:ln w="19050" cap="flat" cmpd="sng" algn="ctr">
              <a:noFill/>
              <a:prstDash val="solid"/>
              <a:miter lim="800000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OLAP/ETL </a:t>
              </a: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표준 연계</a:t>
              </a:r>
            </a:p>
          </p:txBody>
        </p:sp>
        <p:pic>
          <p:nvPicPr>
            <p:cNvPr id="35" name="Picture 6">
              <a:extLst>
                <a:ext uri="{FF2B5EF4-FFF2-40B4-BE49-F238E27FC236}">
                  <a16:creationId xmlns="" xmlns:a16="http://schemas.microsoft.com/office/drawing/2014/main" id="{875DE692-1064-7167-F7EC-B00A6B665D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21012" y="1684184"/>
              <a:ext cx="3939742" cy="1828106"/>
            </a:xfrm>
            <a:prstGeom prst="rect">
              <a:avLst/>
            </a:prstGeom>
          </p:spPr>
        </p:pic>
      </p:grpSp>
      <p:grpSp>
        <p:nvGrpSpPr>
          <p:cNvPr id="41" name="Group 22">
            <a:extLst>
              <a:ext uri="{FF2B5EF4-FFF2-40B4-BE49-F238E27FC236}">
                <a16:creationId xmlns="" xmlns:a16="http://schemas.microsoft.com/office/drawing/2014/main" id="{CEA29D4E-7ADA-A7C6-9F23-3C09B648504A}"/>
              </a:ext>
            </a:extLst>
          </p:cNvPr>
          <p:cNvGrpSpPr/>
          <p:nvPr/>
        </p:nvGrpSpPr>
        <p:grpSpPr>
          <a:xfrm>
            <a:off x="6223663" y="1371006"/>
            <a:ext cx="4874207" cy="2445378"/>
            <a:chOff x="5474968" y="1183689"/>
            <a:chExt cx="4874207" cy="2569940"/>
          </a:xfrm>
        </p:grpSpPr>
        <p:sp>
          <p:nvSpPr>
            <p:cNvPr id="42" name="Rectangle 124">
              <a:extLst>
                <a:ext uri="{FF2B5EF4-FFF2-40B4-BE49-F238E27FC236}">
                  <a16:creationId xmlns="" xmlns:a16="http://schemas.microsoft.com/office/drawing/2014/main" id="{90CBEED4-F107-8785-C506-EDDCD6BC3B59}"/>
                </a:ext>
              </a:extLst>
            </p:cNvPr>
            <p:cNvSpPr/>
            <p:nvPr/>
          </p:nvSpPr>
          <p:spPr>
            <a:xfrm>
              <a:off x="5631529" y="1291316"/>
              <a:ext cx="4223707" cy="648949"/>
            </a:xfrm>
            <a:prstGeom prst="rect">
              <a:avLst/>
            </a:prstGeom>
          </p:spPr>
          <p:txBody>
            <a:bodyPr wrap="square" lIns="0" tIns="0" rIns="91440" bIns="0" anchor="t">
              <a:noAutofit/>
            </a:bodyPr>
            <a:lstStyle/>
            <a:p>
              <a:pPr marL="0" marR="0" lvl="0" indent="0" algn="just" defTabSz="43021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212E35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Calibri"/>
                  <a:cs typeface="HP Simplified" pitchFamily="34" charset="0"/>
                </a:rPr>
                <a:t>Machine Learning </a:t>
              </a:r>
              <a:r>
                <a: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212E35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Calibri"/>
                  <a:cs typeface="HP Simplified" pitchFamily="34" charset="0"/>
                </a:rPr>
                <a:t>알고리즘을 </a:t>
              </a:r>
              <a:r>
                <a:rPr kumimoji="0" lang="ko-KR" altLang="en-US" sz="1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212E35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Calibri"/>
                  <a:cs typeface="HP Simplified" pitchFamily="34" charset="0"/>
                </a:rPr>
                <a:t>버티카</a:t>
              </a:r>
              <a:r>
                <a: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212E35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Calibri"/>
                  <a:cs typeface="HP Simplified" pitchFamily="34" charset="0"/>
                </a:rPr>
                <a:t> </a:t>
              </a: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212E35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Calibri"/>
                  <a:cs typeface="HP Simplified" pitchFamily="34" charset="0"/>
                </a:rPr>
                <a:t>SQL </a:t>
              </a:r>
              <a:r>
                <a: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212E35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Calibri"/>
                  <a:cs typeface="HP Simplified" pitchFamily="34" charset="0"/>
                </a:rPr>
                <a:t>로 구현하여 손쉽게 사용</a:t>
              </a:r>
              <a:endPara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212E35">
                    <a:lumMod val="95000"/>
                    <a:lumOff val="5000"/>
                  </a:srgbClr>
                </a:solidFill>
                <a:effectLst/>
                <a:uLnTx/>
                <a:uFillTx/>
                <a:latin typeface="Calibri"/>
                <a:cs typeface="HP Simplified" pitchFamily="34" charset="0"/>
              </a:endParaRPr>
            </a:p>
          </p:txBody>
        </p:sp>
        <p:sp>
          <p:nvSpPr>
            <p:cNvPr id="43" name="Round Same Side Corner Rectangle 125">
              <a:extLst>
                <a:ext uri="{FF2B5EF4-FFF2-40B4-BE49-F238E27FC236}">
                  <a16:creationId xmlns="" xmlns:a16="http://schemas.microsoft.com/office/drawing/2014/main" id="{BDB83C3F-6650-D74A-BDA7-74F4736C5A1C}"/>
                </a:ext>
              </a:extLst>
            </p:cNvPr>
            <p:cNvSpPr/>
            <p:nvPr/>
          </p:nvSpPr>
          <p:spPr>
            <a:xfrm rot="16200000">
              <a:off x="6557770" y="129936"/>
              <a:ext cx="2504906" cy="4670509"/>
            </a:xfrm>
            <a:prstGeom prst="round2SameRect">
              <a:avLst>
                <a:gd name="adj1" fmla="val 5985"/>
                <a:gd name="adj2" fmla="val 0"/>
              </a:avLst>
            </a:prstGeom>
            <a:noFill/>
            <a:ln w="381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4" name="Round Same Side Corner Rectangle 126">
              <a:extLst>
                <a:ext uri="{FF2B5EF4-FFF2-40B4-BE49-F238E27FC236}">
                  <a16:creationId xmlns="" xmlns:a16="http://schemas.microsoft.com/office/drawing/2014/main" id="{A659A76D-9563-7F23-7613-C4DB9B385E46}"/>
                </a:ext>
              </a:extLst>
            </p:cNvPr>
            <p:cNvSpPr/>
            <p:nvPr/>
          </p:nvSpPr>
          <p:spPr>
            <a:xfrm rot="5400000" flipH="1">
              <a:off x="8877021" y="2281475"/>
              <a:ext cx="2569940" cy="374368"/>
            </a:xfrm>
            <a:prstGeom prst="round2SameRect">
              <a:avLst/>
            </a:prstGeom>
            <a:gradFill flip="none" rotWithShape="1">
              <a:gsLst>
                <a:gs pos="0">
                  <a:srgbClr val="C6179D">
                    <a:lumMod val="75000"/>
                  </a:srgbClr>
                </a:gs>
                <a:gs pos="50000">
                  <a:srgbClr val="1668C1">
                    <a:lumMod val="50000"/>
                  </a:srgbClr>
                </a:gs>
                <a:gs pos="100000">
                  <a:srgbClr val="C6179D">
                    <a:lumMod val="50000"/>
                  </a:srgbClr>
                </a:gs>
              </a:gsLst>
              <a:lin ang="8100000" scaled="1"/>
              <a:tileRect/>
            </a:gradFill>
            <a:ln w="19050" cap="flat" cmpd="sng" algn="ctr">
              <a:noFill/>
              <a:prstDash val="solid"/>
              <a:miter lim="800000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In-</a:t>
              </a:r>
              <a:r>
                <a:rPr kumimoji="0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Dataase</a:t>
              </a: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마이닝</a:t>
              </a:r>
            </a:p>
          </p:txBody>
        </p:sp>
      </p:grpSp>
      <p:grpSp>
        <p:nvGrpSpPr>
          <p:cNvPr id="45" name="Group 24">
            <a:extLst>
              <a:ext uri="{FF2B5EF4-FFF2-40B4-BE49-F238E27FC236}">
                <a16:creationId xmlns="" xmlns:a16="http://schemas.microsoft.com/office/drawing/2014/main" id="{B1AAB803-D940-CB52-8029-8184B4E69CB7}"/>
              </a:ext>
            </a:extLst>
          </p:cNvPr>
          <p:cNvGrpSpPr/>
          <p:nvPr/>
        </p:nvGrpSpPr>
        <p:grpSpPr>
          <a:xfrm>
            <a:off x="6236179" y="3874143"/>
            <a:ext cx="4874207" cy="2402248"/>
            <a:chOff x="5487484" y="3811388"/>
            <a:chExt cx="4874207" cy="2569940"/>
          </a:xfrm>
        </p:grpSpPr>
        <p:sp>
          <p:nvSpPr>
            <p:cNvPr id="81" name="Round Same Side Corner Rectangle 202">
              <a:extLst>
                <a:ext uri="{FF2B5EF4-FFF2-40B4-BE49-F238E27FC236}">
                  <a16:creationId xmlns="" xmlns:a16="http://schemas.microsoft.com/office/drawing/2014/main" id="{C40149DB-4D35-1A8C-9838-2221E446622B}"/>
                </a:ext>
              </a:extLst>
            </p:cNvPr>
            <p:cNvSpPr/>
            <p:nvPr/>
          </p:nvSpPr>
          <p:spPr>
            <a:xfrm rot="16200000">
              <a:off x="6566102" y="2753452"/>
              <a:ext cx="2513273" cy="4670509"/>
            </a:xfrm>
            <a:prstGeom prst="round2SameRect">
              <a:avLst>
                <a:gd name="adj1" fmla="val 5985"/>
                <a:gd name="adj2" fmla="val 0"/>
              </a:avLst>
            </a:prstGeom>
            <a:noFill/>
            <a:ln w="381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2" name="Round Same Side Corner Rectangle 203">
              <a:extLst>
                <a:ext uri="{FF2B5EF4-FFF2-40B4-BE49-F238E27FC236}">
                  <a16:creationId xmlns="" xmlns:a16="http://schemas.microsoft.com/office/drawing/2014/main" id="{56257827-47D3-FCD1-0611-69FC46FBDDDC}"/>
                </a:ext>
              </a:extLst>
            </p:cNvPr>
            <p:cNvSpPr/>
            <p:nvPr/>
          </p:nvSpPr>
          <p:spPr>
            <a:xfrm rot="5400000" flipH="1">
              <a:off x="8889537" y="4909174"/>
              <a:ext cx="2569940" cy="374368"/>
            </a:xfrm>
            <a:prstGeom prst="round2SameRect">
              <a:avLst/>
            </a:prstGeom>
            <a:gradFill flip="none" rotWithShape="1">
              <a:gsLst>
                <a:gs pos="0">
                  <a:srgbClr val="C6179D">
                    <a:lumMod val="75000"/>
                  </a:srgbClr>
                </a:gs>
                <a:gs pos="50000">
                  <a:srgbClr val="1668C1">
                    <a:lumMod val="50000"/>
                  </a:srgbClr>
                </a:gs>
                <a:gs pos="100000">
                  <a:srgbClr val="C6179D">
                    <a:lumMod val="50000"/>
                  </a:srgbClr>
                </a:gs>
              </a:gsLst>
              <a:lin ang="8100000" scaled="1"/>
              <a:tileRect/>
            </a:gradFill>
            <a:ln w="19050" cap="flat" cmpd="sng" algn="ctr">
              <a:noFill/>
              <a:prstDash val="solid"/>
              <a:miter lim="800000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고급 분석 함수 지원</a:t>
              </a:r>
            </a:p>
          </p:txBody>
        </p:sp>
        <p:sp>
          <p:nvSpPr>
            <p:cNvPr id="83" name="Rectangle 351">
              <a:extLst>
                <a:ext uri="{FF2B5EF4-FFF2-40B4-BE49-F238E27FC236}">
                  <a16:creationId xmlns="" xmlns:a16="http://schemas.microsoft.com/office/drawing/2014/main" id="{CDF3EF91-A6CF-80B8-57DF-32E02DA41908}"/>
                </a:ext>
              </a:extLst>
            </p:cNvPr>
            <p:cNvSpPr/>
            <p:nvPr/>
          </p:nvSpPr>
          <p:spPr>
            <a:xfrm>
              <a:off x="5657721" y="5900721"/>
              <a:ext cx="4235579" cy="397432"/>
            </a:xfrm>
            <a:prstGeom prst="rect">
              <a:avLst/>
            </a:prstGeom>
          </p:spPr>
          <p:txBody>
            <a:bodyPr wrap="square" lIns="0" tIns="0" rIns="91440" bIns="0" anchor="t">
              <a:noAutofit/>
            </a:bodyPr>
            <a:lstStyle/>
            <a:p>
              <a:pPr marL="0" marR="0" lvl="0" indent="0" algn="just" defTabSz="43021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212E35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Calibri"/>
                  <a:cs typeface="HP Simplified" pitchFamily="34" charset="0"/>
                </a:rPr>
                <a:t>Big Data </a:t>
              </a:r>
              <a:r>
                <a: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212E35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Calibri"/>
                  <a:cs typeface="HP Simplified" pitchFamily="34" charset="0"/>
                </a:rPr>
                <a:t>플랫폼에서 보다 향상된 분석을 할 수 있도록 </a:t>
              </a: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212E35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Calibri"/>
                  <a:cs typeface="HP Simplified" pitchFamily="34" charset="0"/>
                </a:rPr>
                <a:t>Vertica</a:t>
              </a:r>
              <a:r>
                <a: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212E35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Calibri"/>
                  <a:cs typeface="HP Simplified" pitchFamily="34" charset="0"/>
                </a:rPr>
                <a:t>에 내장된 표준 함수로 지원</a:t>
              </a:r>
              <a:endPara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212E35">
                    <a:lumMod val="95000"/>
                    <a:lumOff val="5000"/>
                  </a:srgbClr>
                </a:solidFill>
                <a:effectLst/>
                <a:uLnTx/>
                <a:uFillTx/>
                <a:latin typeface="Calibri"/>
                <a:cs typeface="HP Simplified" pitchFamily="34" charset="0"/>
              </a:endParaRPr>
            </a:p>
          </p:txBody>
        </p:sp>
        <p:sp>
          <p:nvSpPr>
            <p:cNvPr id="84" name="Rectangle 352">
              <a:extLst>
                <a:ext uri="{FF2B5EF4-FFF2-40B4-BE49-F238E27FC236}">
                  <a16:creationId xmlns="" xmlns:a16="http://schemas.microsoft.com/office/drawing/2014/main" id="{19EB6BA0-8308-5D82-74D8-5B7E39BB6068}"/>
                </a:ext>
              </a:extLst>
            </p:cNvPr>
            <p:cNvSpPr/>
            <p:nvPr/>
          </p:nvSpPr>
          <p:spPr>
            <a:xfrm>
              <a:off x="6718278" y="4217879"/>
              <a:ext cx="1724703" cy="276999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 w="10541" cmpd="sng">
                    <a:solidFill>
                      <a:srgbClr val="C6179D">
                        <a:shade val="88000"/>
                        <a:satMod val="110000"/>
                      </a:srgbClr>
                    </a:solidFill>
                    <a:prstDash val="solid"/>
                  </a:ln>
                  <a:gradFill>
                    <a:gsLst>
                      <a:gs pos="0">
                        <a:srgbClr val="C6179D">
                          <a:tint val="40000"/>
                          <a:satMod val="250000"/>
                        </a:srgbClr>
                      </a:gs>
                      <a:gs pos="9000">
                        <a:srgbClr val="C6179D">
                          <a:tint val="52000"/>
                          <a:satMod val="300000"/>
                        </a:srgbClr>
                      </a:gs>
                      <a:gs pos="50000">
                        <a:srgbClr val="C6179D">
                          <a:shade val="20000"/>
                          <a:satMod val="300000"/>
                        </a:srgbClr>
                      </a:gs>
                      <a:gs pos="79000">
                        <a:srgbClr val="C6179D">
                          <a:tint val="52000"/>
                          <a:satMod val="300000"/>
                        </a:srgbClr>
                      </a:gs>
                      <a:gs pos="100000">
                        <a:srgbClr val="C6179D">
                          <a:tint val="40000"/>
                          <a:satMod val="250000"/>
                        </a:srgbClr>
                      </a:gs>
                    </a:gsLst>
                    <a:lin ang="5400000"/>
                  </a:gra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SQL Analytics Extensions</a:t>
              </a:r>
            </a:p>
          </p:txBody>
        </p:sp>
        <p:sp>
          <p:nvSpPr>
            <p:cNvPr id="85" name="Rectangle 353">
              <a:extLst>
                <a:ext uri="{FF2B5EF4-FFF2-40B4-BE49-F238E27FC236}">
                  <a16:creationId xmlns="" xmlns:a16="http://schemas.microsoft.com/office/drawing/2014/main" id="{52EA292A-6572-69E7-4D85-88F121AE4167}"/>
                </a:ext>
              </a:extLst>
            </p:cNvPr>
            <p:cNvSpPr/>
            <p:nvPr/>
          </p:nvSpPr>
          <p:spPr>
            <a:xfrm>
              <a:off x="6725148" y="4482600"/>
              <a:ext cx="2517354" cy="11695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09538" marR="0" lvl="1" indent="-109538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•"/>
                <a:tabLst/>
                <a:defRPr/>
              </a:pP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79EF">
                      <a:lumMod val="40000"/>
                      <a:lumOff val="60000"/>
                    </a:srgbClr>
                  </a:solidFill>
                  <a:effectLst/>
                  <a:uLnTx/>
                  <a:uFillTx/>
                  <a:latin typeface="Calibri"/>
                </a:rPr>
                <a:t>Time series gap filing and interpolation</a:t>
              </a:r>
            </a:p>
            <a:p>
              <a:pPr marL="109538" marR="0" lvl="1" indent="-109538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•"/>
                <a:tabLst/>
                <a:defRPr/>
              </a:pP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79EF">
                      <a:lumMod val="40000"/>
                      <a:lumOff val="60000"/>
                    </a:srgbClr>
                  </a:solidFill>
                  <a:effectLst/>
                  <a:uLnTx/>
                  <a:uFillTx/>
                  <a:latin typeface="Calibri"/>
                </a:rPr>
                <a:t>Event-based window functions</a:t>
              </a:r>
            </a:p>
            <a:p>
              <a:pPr marL="109538" marR="0" lvl="1" indent="-109538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•"/>
                <a:tabLst/>
                <a:defRPr/>
              </a:pP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Pattern matching</a:t>
              </a:r>
            </a:p>
            <a:p>
              <a:pPr marL="109538" marR="0" lvl="1" indent="-109538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•"/>
                <a:tabLst/>
                <a:defRPr/>
              </a:pP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79EF">
                      <a:lumMod val="40000"/>
                      <a:lumOff val="60000"/>
                    </a:srgbClr>
                  </a:solidFill>
                  <a:effectLst/>
                  <a:uLnTx/>
                  <a:uFillTx/>
                  <a:latin typeface="Calibri"/>
                </a:rPr>
                <a:t>Event series join</a:t>
              </a:r>
            </a:p>
            <a:p>
              <a:pPr marL="109538" marR="0" lvl="1" indent="-109538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•"/>
                <a:tabLst/>
                <a:defRPr/>
              </a:pP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79EF">
                      <a:lumMod val="40000"/>
                      <a:lumOff val="60000"/>
                    </a:srgbClr>
                  </a:solidFill>
                  <a:effectLst/>
                  <a:uLnTx/>
                  <a:uFillTx/>
                  <a:latin typeface="Calibri"/>
                </a:rPr>
                <a:t>Statistical functions</a:t>
              </a:r>
            </a:p>
            <a:p>
              <a:pPr marL="109538" marR="0" lvl="1" indent="-109538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•"/>
                <a:tabLst/>
                <a:defRPr/>
              </a:pP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79EF">
                      <a:lumMod val="40000"/>
                      <a:lumOff val="60000"/>
                    </a:srgbClr>
                  </a:solidFill>
                  <a:effectLst/>
                  <a:uLnTx/>
                  <a:uFillTx/>
                  <a:latin typeface="Calibri"/>
                </a:rPr>
                <a:t>Geospatial functions</a:t>
              </a:r>
            </a:p>
            <a:p>
              <a:pPr marL="109538" marR="0" lvl="1" indent="-109538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•"/>
                <a:tabLst/>
                <a:defRPr/>
              </a:pP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79EF">
                      <a:lumMod val="40000"/>
                      <a:lumOff val="60000"/>
                    </a:srgbClr>
                  </a:solidFill>
                  <a:effectLst/>
                  <a:uLnTx/>
                  <a:uFillTx/>
                  <a:latin typeface="Calibri"/>
                </a:rPr>
                <a:t>Windowing Functions</a:t>
              </a:r>
            </a:p>
          </p:txBody>
        </p:sp>
      </p:grpSp>
      <p:pic>
        <p:nvPicPr>
          <p:cNvPr id="87" name="Picture 2">
            <a:extLst>
              <a:ext uri="{FF2B5EF4-FFF2-40B4-BE49-F238E27FC236}">
                <a16:creationId xmlns="" xmlns:a16="http://schemas.microsoft.com/office/drawing/2014/main" id="{F88A1CE9-7E74-9021-876D-F76955942D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6416" y="1652272"/>
            <a:ext cx="1300786" cy="953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8" name="Picture 3">
            <a:extLst>
              <a:ext uri="{FF2B5EF4-FFF2-40B4-BE49-F238E27FC236}">
                <a16:creationId xmlns="" xmlns:a16="http://schemas.microsoft.com/office/drawing/2014/main" id="{79B4DA43-25A4-571D-3730-B394839A2F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3106" y="2605520"/>
            <a:ext cx="1107157" cy="839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9" name="Picture 9">
            <a:extLst>
              <a:ext uri="{FF2B5EF4-FFF2-40B4-BE49-F238E27FC236}">
                <a16:creationId xmlns="" xmlns:a16="http://schemas.microsoft.com/office/drawing/2014/main" id="{06305AB1-0588-589D-C9DC-D44BC9B4C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0866" y="1652272"/>
            <a:ext cx="1136254" cy="9256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0" name="Picture 10">
            <a:extLst>
              <a:ext uri="{FF2B5EF4-FFF2-40B4-BE49-F238E27FC236}">
                <a16:creationId xmlns="" xmlns:a16="http://schemas.microsoft.com/office/drawing/2014/main" id="{24A4752F-29AC-E442-25CB-D9DFC97910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5280" y="1652272"/>
            <a:ext cx="1135921" cy="925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1" name="Picture 11">
            <a:extLst>
              <a:ext uri="{FF2B5EF4-FFF2-40B4-BE49-F238E27FC236}">
                <a16:creationId xmlns="" xmlns:a16="http://schemas.microsoft.com/office/drawing/2014/main" id="{C8AD9993-2D76-D312-B1D2-B7945FEEE7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9833" y="2567228"/>
            <a:ext cx="1135921" cy="925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94" name="그룹 93">
            <a:extLst>
              <a:ext uri="{FF2B5EF4-FFF2-40B4-BE49-F238E27FC236}">
                <a16:creationId xmlns="" xmlns:a16="http://schemas.microsoft.com/office/drawing/2014/main" id="{A5A9F843-DE27-CEC8-C5FE-6D1BEC0E6B81}"/>
              </a:ext>
            </a:extLst>
          </p:cNvPr>
          <p:cNvGrpSpPr/>
          <p:nvPr/>
        </p:nvGrpSpPr>
        <p:grpSpPr>
          <a:xfrm>
            <a:off x="1199457" y="3868835"/>
            <a:ext cx="4913558" cy="2407557"/>
            <a:chOff x="1199457" y="3868835"/>
            <a:chExt cx="4913558" cy="2407557"/>
          </a:xfrm>
        </p:grpSpPr>
        <p:grpSp>
          <p:nvGrpSpPr>
            <p:cNvPr id="36" name="Group 21">
              <a:extLst>
                <a:ext uri="{FF2B5EF4-FFF2-40B4-BE49-F238E27FC236}">
                  <a16:creationId xmlns="" xmlns:a16="http://schemas.microsoft.com/office/drawing/2014/main" id="{2FACC9E1-E9F1-0BCD-177F-B208D96AE812}"/>
                </a:ext>
              </a:extLst>
            </p:cNvPr>
            <p:cNvGrpSpPr/>
            <p:nvPr/>
          </p:nvGrpSpPr>
          <p:grpSpPr>
            <a:xfrm>
              <a:off x="1199457" y="3868835"/>
              <a:ext cx="4913558" cy="2407557"/>
              <a:chOff x="450762" y="3806078"/>
              <a:chExt cx="4913558" cy="2569939"/>
            </a:xfrm>
          </p:grpSpPr>
          <p:sp>
            <p:nvSpPr>
              <p:cNvPr id="37" name="Round Same Side Corner Rectangle 91">
                <a:extLst>
                  <a:ext uri="{FF2B5EF4-FFF2-40B4-BE49-F238E27FC236}">
                    <a16:creationId xmlns="" xmlns:a16="http://schemas.microsoft.com/office/drawing/2014/main" id="{731BE539-3664-9BFE-BA37-FDE1503C2646}"/>
                  </a:ext>
                </a:extLst>
              </p:cNvPr>
              <p:cNvSpPr/>
              <p:nvPr/>
            </p:nvSpPr>
            <p:spPr>
              <a:xfrm rot="5400000" flipH="1">
                <a:off x="1772429" y="2756699"/>
                <a:ext cx="2513273" cy="4670509"/>
              </a:xfrm>
              <a:prstGeom prst="round2SameRect">
                <a:avLst>
                  <a:gd name="adj1" fmla="val 5985"/>
                  <a:gd name="adj2" fmla="val 0"/>
                </a:avLst>
              </a:prstGeom>
              <a:noFill/>
              <a:ln w="38100" cap="flat" cmpd="sng" algn="ctr">
                <a:solidFill>
                  <a:srgbClr val="00B0F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8" name="Round Same Side Corner Rectangle 92">
                <a:extLst>
                  <a:ext uri="{FF2B5EF4-FFF2-40B4-BE49-F238E27FC236}">
                    <a16:creationId xmlns="" xmlns:a16="http://schemas.microsoft.com/office/drawing/2014/main" id="{89C6B93C-0375-B178-BDB9-152B4754E46E}"/>
                  </a:ext>
                </a:extLst>
              </p:cNvPr>
              <p:cNvSpPr/>
              <p:nvPr/>
            </p:nvSpPr>
            <p:spPr>
              <a:xfrm rot="16200000">
                <a:off x="-647024" y="4903864"/>
                <a:ext cx="2569939" cy="374368"/>
              </a:xfrm>
              <a:prstGeom prst="round2SameRect">
                <a:avLst/>
              </a:prstGeom>
              <a:gradFill flip="none" rotWithShape="1">
                <a:gsLst>
                  <a:gs pos="0">
                    <a:srgbClr val="C6179D">
                      <a:lumMod val="75000"/>
                    </a:srgbClr>
                  </a:gs>
                  <a:gs pos="50000">
                    <a:srgbClr val="1668C1">
                      <a:lumMod val="50000"/>
                    </a:srgbClr>
                  </a:gs>
                  <a:gs pos="100000">
                    <a:srgbClr val="C6179D">
                      <a:lumMod val="50000"/>
                    </a:srgbClr>
                  </a:gs>
                </a:gsLst>
                <a:lin ang="8100000" scaled="1"/>
                <a:tileRect/>
              </a:gradFill>
              <a:ln w="19050" cap="flat" cmpd="sng" algn="ctr">
                <a:noFill/>
                <a:prstDash val="solid"/>
                <a:miter lim="800000"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Calibri"/>
                    <a:ea typeface="맑은 고딕" panose="020B0503020000020004" pitchFamily="50" charset="-127"/>
                    <a:cs typeface="+mn-cs"/>
                  </a:rPr>
                  <a:t>Projection </a:t>
                </a:r>
                <a:r>
                  <a:rPr kumimoji="0" lang="ko-KR" alt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Calibri"/>
                    <a:ea typeface="맑은 고딕" panose="020B0503020000020004" pitchFamily="50" charset="-127"/>
                    <a:cs typeface="+mn-cs"/>
                  </a:rPr>
                  <a:t>최적화 도구</a:t>
                </a:r>
              </a:p>
            </p:txBody>
          </p:sp>
          <p:sp>
            <p:nvSpPr>
              <p:cNvPr id="39" name="Rectangle 93">
                <a:extLst>
                  <a:ext uri="{FF2B5EF4-FFF2-40B4-BE49-F238E27FC236}">
                    <a16:creationId xmlns="" xmlns:a16="http://schemas.microsoft.com/office/drawing/2014/main" id="{7546E2DE-0A25-784C-0C51-D13B8F2E3E72}"/>
                  </a:ext>
                </a:extLst>
              </p:cNvPr>
              <p:cNvSpPr/>
              <p:nvPr/>
            </p:nvSpPr>
            <p:spPr>
              <a:xfrm>
                <a:off x="959405" y="5900720"/>
                <a:ext cx="3982879" cy="397432"/>
              </a:xfrm>
              <a:prstGeom prst="rect">
                <a:avLst/>
              </a:prstGeom>
            </p:spPr>
            <p:txBody>
              <a:bodyPr wrap="square" lIns="0" tIns="0" rIns="91440" bIns="0" anchor="t">
                <a:noAutofit/>
              </a:bodyPr>
              <a:lstStyle/>
              <a:p>
                <a:pPr marL="0" marR="0" lvl="0" indent="0" algn="just" defTabSz="43021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400"/>
                  </a:spcAft>
                  <a:buClrTx/>
                  <a:buSzPct val="100000"/>
                  <a:buFontTx/>
                  <a:buNone/>
                  <a:tabLst/>
                  <a:defRPr/>
                </a:pPr>
                <a:r>
                  <a:rPr kumimoji="0" lang="ko-KR" altLang="en-US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212E35">
                        <a:lumMod val="95000"/>
                        <a:lumOff val="5000"/>
                      </a:srgbClr>
                    </a:solidFill>
                    <a:effectLst/>
                    <a:uLnTx/>
                    <a:uFillTx/>
                    <a:latin typeface="Calibri"/>
                    <a:cs typeface="HP Simplified" pitchFamily="34" charset="0"/>
                  </a:rPr>
                  <a:t>최적화된 물리적 구조를 자동으로 생성하는 쿼리 튜닝 툴 </a:t>
                </a:r>
                <a:r>
                  <a:rPr kumimoji="0" lang="en-US" altLang="ko-KR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212E35">
                        <a:lumMod val="95000"/>
                        <a:lumOff val="5000"/>
                      </a:srgbClr>
                    </a:solidFill>
                    <a:effectLst/>
                    <a:uLnTx/>
                    <a:uFillTx/>
                    <a:latin typeface="Calibri"/>
                    <a:cs typeface="HP Simplified" pitchFamily="34" charset="0"/>
                  </a:rPr>
                  <a:t/>
                </a:r>
                <a:br>
                  <a:rPr kumimoji="0" lang="en-US" altLang="ko-KR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212E35">
                        <a:lumMod val="95000"/>
                        <a:lumOff val="5000"/>
                      </a:srgbClr>
                    </a:solidFill>
                    <a:effectLst/>
                    <a:uLnTx/>
                    <a:uFillTx/>
                    <a:latin typeface="Calibri"/>
                    <a:cs typeface="HP Simplified" pitchFamily="34" charset="0"/>
                  </a:rPr>
                </a:br>
                <a:r>
                  <a:rPr kumimoji="0" lang="en-US" altLang="ko-KR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212E35">
                        <a:lumMod val="95000"/>
                        <a:lumOff val="5000"/>
                      </a:srgbClr>
                    </a:solidFill>
                    <a:effectLst/>
                    <a:uLnTx/>
                    <a:uFillTx/>
                    <a:latin typeface="Calibri"/>
                    <a:cs typeface="HP Simplified" pitchFamily="34" charset="0"/>
                  </a:rPr>
                  <a:t>(Database Designer™)</a:t>
                </a:r>
                <a:r>
                  <a:rPr kumimoji="0" lang="ko-KR" altLang="en-US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212E35">
                        <a:lumMod val="95000"/>
                        <a:lumOff val="5000"/>
                      </a:srgbClr>
                    </a:solidFill>
                    <a:effectLst/>
                    <a:uLnTx/>
                    <a:uFillTx/>
                    <a:latin typeface="Calibri"/>
                    <a:cs typeface="HP Simplified" pitchFamily="34" charset="0"/>
                  </a:rPr>
                  <a:t> 제공</a:t>
                </a:r>
                <a:endPara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212E35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Calibri"/>
                  <a:cs typeface="HP Simplified" pitchFamily="34" charset="0"/>
                </a:endParaRPr>
              </a:p>
            </p:txBody>
          </p:sp>
          <p:pic>
            <p:nvPicPr>
              <p:cNvPr id="40" name="Picture 9">
                <a:extLst>
                  <a:ext uri="{FF2B5EF4-FFF2-40B4-BE49-F238E27FC236}">
                    <a16:creationId xmlns="" xmlns:a16="http://schemas.microsoft.com/office/drawing/2014/main" id="{8AAE81E2-7984-31E3-4AEC-7AC129A01D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34123" y="4158666"/>
                <a:ext cx="4190845" cy="1647373"/>
              </a:xfrm>
              <a:prstGeom prst="rect">
                <a:avLst/>
              </a:prstGeom>
            </p:spPr>
          </p:pic>
        </p:grpSp>
        <p:sp>
          <p:nvSpPr>
            <p:cNvPr id="93" name="직사각형 92">
              <a:extLst>
                <a:ext uri="{FF2B5EF4-FFF2-40B4-BE49-F238E27FC236}">
                  <a16:creationId xmlns="" xmlns:a16="http://schemas.microsoft.com/office/drawing/2014/main" id="{766C7D86-213A-FB89-3BF2-51F10D2F933F}"/>
                </a:ext>
              </a:extLst>
            </p:cNvPr>
            <p:cNvSpPr/>
            <p:nvPr/>
          </p:nvSpPr>
          <p:spPr>
            <a:xfrm>
              <a:off x="1969707" y="5405718"/>
              <a:ext cx="943822" cy="1330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</p:grpSp>
      <p:pic>
        <p:nvPicPr>
          <p:cNvPr id="92" name="Picture 2">
            <a:extLst>
              <a:ext uri="{FF2B5EF4-FFF2-40B4-BE49-F238E27FC236}">
                <a16:creationId xmlns="" xmlns:a16="http://schemas.microsoft.com/office/drawing/2014/main" id="{A045E65B-A942-2B08-E5D9-7B8F58638C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5324" y="2605520"/>
            <a:ext cx="1311132" cy="932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Rectangle 4">
            <a:extLst>
              <a:ext uri="{FF2B5EF4-FFF2-40B4-BE49-F238E27FC236}">
                <a16:creationId xmlns="" xmlns:a16="http://schemas.microsoft.com/office/drawing/2014/main" id="{0D29F9F2-0275-EE9C-A925-817903AE75F6}"/>
              </a:ext>
            </a:extLst>
          </p:cNvPr>
          <p:cNvSpPr/>
          <p:nvPr/>
        </p:nvSpPr>
        <p:spPr>
          <a:xfrm>
            <a:off x="3481752" y="3563764"/>
            <a:ext cx="5313506" cy="615553"/>
          </a:xfrm>
          <a:prstGeom prst="rect">
            <a:avLst/>
          </a:prstGeom>
          <a:solidFill>
            <a:sysClr val="window" lastClr="FFFFFF"/>
          </a:solidFill>
        </p:spPr>
        <p:txBody>
          <a:bodyPr wrap="none" lIns="91440" tIns="0" rIns="91440" bIns="0">
            <a:spAutoFit/>
            <a:scene3d>
              <a:camera prst="orthographicFront"/>
              <a:lightRig rig="threePt" dir="t"/>
            </a:scene3d>
            <a:sp3d extrusionH="57150">
              <a:bevelT w="82550" h="38100" prst="coolSlant"/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1" i="0" u="none" strike="noStrike" kern="0" cap="none" spc="0" normalizeH="0" baseline="0" noProof="0" dirty="0">
                <a:ln w="12700">
                  <a:noFill/>
                  <a:prstDash val="solid"/>
                </a:ln>
                <a:gradFill flip="none" rotWithShape="1">
                  <a:gsLst>
                    <a:gs pos="0">
                      <a:srgbClr val="C6179D">
                        <a:shade val="30000"/>
                        <a:satMod val="115000"/>
                      </a:srgbClr>
                    </a:gs>
                    <a:gs pos="50000">
                      <a:srgbClr val="C6179D">
                        <a:shade val="67500"/>
                        <a:satMod val="115000"/>
                      </a:srgbClr>
                    </a:gs>
                    <a:gs pos="100000">
                      <a:srgbClr val="C6179D">
                        <a:shade val="100000"/>
                        <a:satMod val="115000"/>
                      </a:srgbClr>
                    </a:gs>
                  </a:gsLst>
                  <a:lin ang="2700000" scaled="1"/>
                  <a:tileRect/>
                </a:gradFill>
                <a:effectLst>
                  <a:glow rad="63500">
                    <a:srgbClr val="C6179D">
                      <a:lumMod val="50000"/>
                      <a:alpha val="40000"/>
                    </a:srgbClr>
                  </a:glow>
                  <a:outerShdw dist="38100" dir="2640000" algn="bl" rotWithShape="0">
                    <a:srgbClr val="0079EF">
                      <a:lumMod val="75000"/>
                    </a:srgbClr>
                  </a:outerShdw>
                </a:effectLst>
                <a:uLnTx/>
                <a:uFillTx/>
                <a:latin typeface="Calibri"/>
              </a:rPr>
              <a:t>Simplified Development</a:t>
            </a:r>
          </a:p>
        </p:txBody>
      </p:sp>
    </p:spTree>
    <p:extLst>
      <p:ext uri="{BB962C8B-B14F-4D97-AF65-F5344CB8AC3E}">
        <p14:creationId xmlns:p14="http://schemas.microsoft.com/office/powerpoint/2010/main" val="3617785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3FB33E6-DCEC-7F5B-F097-4CB84E4CB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A7F0273C-B361-4BC4-C526-9FBEFDF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표준 인터페이스 지원</a:t>
            </a:r>
            <a:endParaRPr lang="ko-KR" altLang="en-US" dirty="0">
              <a:solidFill>
                <a:srgbClr val="0083CE"/>
              </a:solidFill>
              <a:latin typeface="+mj-ea"/>
              <a:ea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="" xmlns:a16="http://schemas.microsoft.com/office/drawing/2014/main" id="{D32254EC-3215-D7AF-51BF-A86226C0E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82810" y="6364110"/>
            <a:ext cx="278505" cy="274324"/>
          </a:xfrm>
        </p:spPr>
        <p:txBody>
          <a:bodyPr/>
          <a:lstStyle/>
          <a:p>
            <a:fld id="{AFA02C0B-84B5-4CD2-A6CE-C6BD7D6F9045}" type="slidenum">
              <a:rPr lang="ko-KR" altLang="en-US" smtClean="0">
                <a:solidFill>
                  <a:schemeClr val="bg1"/>
                </a:solidFill>
              </a:rPr>
              <a:t>17</a:t>
            </a:fld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="" xmlns:a16="http://schemas.microsoft.com/office/drawing/2014/main" id="{07E3E8D6-AF30-8A69-54E0-54CAD754B107}"/>
              </a:ext>
            </a:extLst>
          </p:cNvPr>
          <p:cNvSpPr/>
          <p:nvPr/>
        </p:nvSpPr>
        <p:spPr>
          <a:xfrm>
            <a:off x="715639" y="1387082"/>
            <a:ext cx="11035707" cy="9316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JDBC/ODBC/ADO.NET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표준 인터페이스를 통해 다양한 솔루션들과 쉽게 연결될 수 있습니다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.</a:t>
            </a: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Pretendard Variable Medium" panose="02000003000000020004" pitchFamily="2" charset="-127"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="" xmlns:a16="http://schemas.microsoft.com/office/drawing/2014/main" id="{25F07C67-5339-0BFD-6FC1-3BF2A87EE87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99"/>
          <a:stretch/>
        </p:blipFill>
        <p:spPr>
          <a:xfrm>
            <a:off x="1703512" y="1912155"/>
            <a:ext cx="8784976" cy="4361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5958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>
          <a:xfrm>
            <a:off x="1524000" y="2702045"/>
            <a:ext cx="9144001" cy="76076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ko-KR" sz="3800" dirty="0">
                <a:solidFill>
                  <a:schemeClr val="bg1"/>
                </a:solidFill>
                <a:latin typeface="+mj-ea"/>
              </a:rPr>
              <a:t>Vertica Eon Mode</a:t>
            </a:r>
            <a:endParaRPr lang="ko-KR" altLang="en-US" sz="3800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3" name="제목 1"/>
          <p:cNvSpPr txBox="1">
            <a:spLocks/>
          </p:cNvSpPr>
          <p:nvPr/>
        </p:nvSpPr>
        <p:spPr>
          <a:xfrm>
            <a:off x="5631825" y="3839619"/>
            <a:ext cx="928350" cy="42943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ko-KR" sz="1600" dirty="0">
                <a:solidFill>
                  <a:schemeClr val="bg1"/>
                </a:solidFill>
                <a:latin typeface="SB 어그로 Bold" panose="02020603020101020101" pitchFamily="18" charset="-127"/>
                <a:ea typeface="SB 어그로 Bold" panose="02020603020101020101" pitchFamily="18" charset="-127"/>
              </a:rPr>
              <a:t>03</a:t>
            </a:r>
            <a:endParaRPr lang="ko-KR" altLang="en-US" sz="1600" dirty="0">
              <a:solidFill>
                <a:schemeClr val="bg1"/>
              </a:solidFill>
              <a:latin typeface="SB 어그로 Bold" panose="02020603020101020101" pitchFamily="18" charset="-127"/>
              <a:ea typeface="SB 어그로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22826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Enterprise Mode vs. Eon Mode</a:t>
            </a:r>
            <a:endParaRPr lang="ko-KR" altLang="en-US" dirty="0">
              <a:solidFill>
                <a:srgbClr val="0083CE"/>
              </a:solidFill>
              <a:latin typeface="+mj-ea"/>
              <a:ea typeface="+mj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715639" y="1387083"/>
            <a:ext cx="10891643" cy="6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[ Enterprise Mode ] Computing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과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Storage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가 결합된 </a:t>
            </a: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아키텍쳐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Pretendard Variable Medium" panose="02000003000000020004" pitchFamily="2" charset="-127"/>
            </a:endParaRPr>
          </a:p>
          <a:p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[ Eon Mode ]         Object Storage(S3 compatible)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를 활용한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Computing / Storage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분리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 </a:t>
            </a: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아키텍쳐</a:t>
            </a: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Pretendard Variable Medium" panose="02000003000000020004" pitchFamily="2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1380559" y="5420827"/>
            <a:ext cx="4346110" cy="9983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30000"/>
              </a:lnSpc>
            </a:pPr>
            <a:r>
              <a:rPr lang="ko-KR" altLang="en-US" sz="1400" dirty="0">
                <a:solidFill>
                  <a:srgbClr val="0083CE"/>
                </a:solidFill>
                <a:latin typeface="+mn-ea"/>
                <a:cs typeface="Pretendard Variable SemiBold" panose="02000003000000020004" pitchFamily="2" charset="-127"/>
              </a:rPr>
              <a:t>컴퓨팅 엔진과 스토리지 영역이 강하게 결합되어</a:t>
            </a:r>
            <a:endParaRPr lang="en-US" altLang="ko-KR" sz="1400" dirty="0">
              <a:solidFill>
                <a:srgbClr val="0083CE"/>
              </a:solidFill>
              <a:latin typeface="+mn-ea"/>
              <a:cs typeface="Pretendard Variable SemiBold" panose="02000003000000020004" pitchFamily="2" charset="-127"/>
            </a:endParaRPr>
          </a:p>
          <a:p>
            <a:pPr algn="ctr">
              <a:lnSpc>
                <a:spcPct val="130000"/>
              </a:lnSpc>
            </a:pPr>
            <a:r>
              <a:rPr lang="ko-KR" altLang="en-US" sz="1400" dirty="0">
                <a:solidFill>
                  <a:srgbClr val="0083CE"/>
                </a:solidFill>
                <a:latin typeface="+mn-ea"/>
                <a:cs typeface="Pretendard Variable SemiBold" panose="02000003000000020004" pitchFamily="2" charset="-127"/>
              </a:rPr>
              <a:t>예측 가능한 워크로드를 원하는 기대 시간 내에 </a:t>
            </a:r>
            <a:endParaRPr lang="en-US" altLang="ko-KR" sz="1400" dirty="0">
              <a:solidFill>
                <a:srgbClr val="0083CE"/>
              </a:solidFill>
              <a:latin typeface="+mn-ea"/>
              <a:cs typeface="Pretendard Variable SemiBold" panose="02000003000000020004" pitchFamily="2" charset="-127"/>
            </a:endParaRPr>
          </a:p>
          <a:p>
            <a:pPr algn="ctr">
              <a:lnSpc>
                <a:spcPct val="130000"/>
              </a:lnSpc>
            </a:pPr>
            <a:r>
              <a:rPr lang="ko-KR" altLang="en-US" sz="1400" dirty="0">
                <a:solidFill>
                  <a:srgbClr val="0083CE"/>
                </a:solidFill>
                <a:latin typeface="+mn-ea"/>
                <a:cs typeface="Pretendard Variable SemiBold" panose="02000003000000020004" pitchFamily="2" charset="-127"/>
              </a:rPr>
              <a:t>빠르게 처리하기 위한 아키텍처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6627111" y="5420827"/>
            <a:ext cx="3933005" cy="9983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30000"/>
              </a:lnSpc>
            </a:pPr>
            <a:r>
              <a:rPr lang="ko-KR" altLang="en-US" sz="1400" dirty="0">
                <a:solidFill>
                  <a:srgbClr val="0083CE"/>
                </a:solidFill>
                <a:latin typeface="+mn-ea"/>
                <a:cs typeface="Pretendard Variable SemiBold" panose="02000003000000020004" pitchFamily="2" charset="-127"/>
              </a:rPr>
              <a:t>클라우드 이코노믹스의 종적 워크로드 요구 사항에 대응하는 아키텍처로 컴퓨팅 리소스만</a:t>
            </a:r>
            <a:endParaRPr lang="en-US" altLang="ko-KR" sz="1400" dirty="0">
              <a:solidFill>
                <a:srgbClr val="0083CE"/>
              </a:solidFill>
              <a:latin typeface="+mn-ea"/>
              <a:cs typeface="Pretendard Variable SemiBold" panose="02000003000000020004" pitchFamily="2" charset="-127"/>
            </a:endParaRPr>
          </a:p>
          <a:p>
            <a:pPr algn="ctr">
              <a:lnSpc>
                <a:spcPct val="130000"/>
              </a:lnSpc>
            </a:pPr>
            <a:r>
              <a:rPr lang="ko-KR" altLang="en-US" sz="1400" dirty="0">
                <a:solidFill>
                  <a:srgbClr val="0083CE"/>
                </a:solidFill>
                <a:latin typeface="+mn-ea"/>
                <a:cs typeface="Pretendard Variable SemiBold" panose="02000003000000020004" pitchFamily="2" charset="-127"/>
              </a:rPr>
              <a:t>독립적으로 확장 가능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0277171" y="6362795"/>
            <a:ext cx="278505" cy="274324"/>
          </a:xfrm>
        </p:spPr>
        <p:txBody>
          <a:bodyPr/>
          <a:lstStyle/>
          <a:p>
            <a:fld id="{AFA02C0B-84B5-4CD2-A6CE-C6BD7D6F9045}" type="slidenum">
              <a:rPr lang="ko-KR" altLang="en-US" smtClean="0">
                <a:solidFill>
                  <a:schemeClr val="bg1"/>
                </a:solidFill>
              </a:rPr>
              <a:t>19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="" xmlns:a16="http://schemas.microsoft.com/office/drawing/2014/main" id="{3C1CC649-F21A-3D2F-D8C3-1C66A97983DC}"/>
              </a:ext>
            </a:extLst>
          </p:cNvPr>
          <p:cNvGrpSpPr/>
          <p:nvPr/>
        </p:nvGrpSpPr>
        <p:grpSpPr>
          <a:xfrm>
            <a:off x="735775" y="2275590"/>
            <a:ext cx="2817839" cy="1743387"/>
            <a:chOff x="1351589" y="2124278"/>
            <a:chExt cx="4404050" cy="2633540"/>
          </a:xfrm>
        </p:grpSpPr>
        <p:pic>
          <p:nvPicPr>
            <p:cNvPr id="9" name="그림 8">
              <a:extLst>
                <a:ext uri="{FF2B5EF4-FFF2-40B4-BE49-F238E27FC236}">
                  <a16:creationId xmlns="" xmlns:a16="http://schemas.microsoft.com/office/drawing/2014/main" id="{E4F7D6A8-276E-058C-7B25-AFCA7B37E3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434567" y="2634008"/>
              <a:ext cx="4238095" cy="2123810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="" xmlns:a16="http://schemas.microsoft.com/office/drawing/2014/main" id="{BD298B54-C1E5-17D8-A2D4-F6A401FD4B55}"/>
                </a:ext>
              </a:extLst>
            </p:cNvPr>
            <p:cNvSpPr/>
            <p:nvPr/>
          </p:nvSpPr>
          <p:spPr>
            <a:xfrm>
              <a:off x="1351589" y="2124278"/>
              <a:ext cx="4404050" cy="457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00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Enterprise Mode</a:t>
              </a:r>
              <a:endParaRPr lang="ko-KR" altLang="en-US" b="1" dirty="0">
                <a:solidFill>
                  <a:srgbClr val="0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="" xmlns:a16="http://schemas.microsoft.com/office/drawing/2014/main" id="{99EB0DA3-365C-9AF3-6E8B-AE5AD7A6B85B}"/>
              </a:ext>
            </a:extLst>
          </p:cNvPr>
          <p:cNvGrpSpPr/>
          <p:nvPr/>
        </p:nvGrpSpPr>
        <p:grpSpPr>
          <a:xfrm>
            <a:off x="6218594" y="2390490"/>
            <a:ext cx="2981012" cy="2077019"/>
            <a:chOff x="6391589" y="2124278"/>
            <a:chExt cx="4404050" cy="3137918"/>
          </a:xfrm>
        </p:grpSpPr>
        <p:pic>
          <p:nvPicPr>
            <p:cNvPr id="12" name="그림 11">
              <a:extLst>
                <a:ext uri="{FF2B5EF4-FFF2-40B4-BE49-F238E27FC236}">
                  <a16:creationId xmlns="" xmlns:a16="http://schemas.microsoft.com/office/drawing/2014/main" id="{5110ADDA-4670-42A0-4682-BEBA1AD778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598376" y="2528863"/>
              <a:ext cx="3990476" cy="2733333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="" xmlns:a16="http://schemas.microsoft.com/office/drawing/2014/main" id="{941B9396-36F7-281C-6182-BD80EB699098}"/>
                </a:ext>
              </a:extLst>
            </p:cNvPr>
            <p:cNvSpPr/>
            <p:nvPr/>
          </p:nvSpPr>
          <p:spPr>
            <a:xfrm>
              <a:off x="6391589" y="2124278"/>
              <a:ext cx="4404050" cy="457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00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rPr>
                <a:t>Eon Mode</a:t>
              </a:r>
              <a:endParaRPr lang="ko-KR" altLang="en-US" b="1" dirty="0">
                <a:solidFill>
                  <a:srgbClr val="0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endParaRPr>
            </a:p>
          </p:txBody>
        </p:sp>
      </p:grpSp>
      <p:pic>
        <p:nvPicPr>
          <p:cNvPr id="17" name="그림 16">
            <a:extLst>
              <a:ext uri="{FF2B5EF4-FFF2-40B4-BE49-F238E27FC236}">
                <a16:creationId xmlns="" xmlns:a16="http://schemas.microsoft.com/office/drawing/2014/main" id="{C197F6C5-3D89-51C3-F5F0-0B91FE164D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0523" y="3755903"/>
            <a:ext cx="2584928" cy="1298561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="" xmlns:a16="http://schemas.microsoft.com/office/drawing/2014/main" id="{BD9B7F4A-5C63-B855-1EF0-81661444FC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8916" y="2613028"/>
            <a:ext cx="2847079" cy="2731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4264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15639" y="1387082"/>
            <a:ext cx="10891643" cy="9316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동시성이나 사용자가 많아지면 바로 노드 증설을 수행할 수 있으며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,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영구 데이터는 오브젝트 </a:t>
            </a: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스토리지에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 저장되므로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Data Rebalance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가 필요치 않습니다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.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또한 특정 노드에 장애가 발생하더라도 영구 데이터는 이미 오브젝트 </a:t>
            </a: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스토리지에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 반영되어 있으므로 장애 노드 기동이나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,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노드 대체 시에도 신속하게 서비스에 참여 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.</a:t>
            </a:r>
          </a:p>
          <a:p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장애 시간동안 발생한 트랜잭션을 동기화하는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recovery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시간이 거의 발생하지 않습니다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.</a:t>
            </a: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Pretendard Variable Medium" panose="02000003000000020004" pitchFamily="2" charset="-127"/>
            </a:endParaRPr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Scalability</a:t>
            </a:r>
            <a:r>
              <a:rPr lang="en-US" altLang="ko-KR" sz="1400" dirty="0">
                <a:latin typeface="+mj-ea"/>
                <a:ea typeface="+mj-ea"/>
              </a:rPr>
              <a:t> &gt; </a:t>
            </a:r>
            <a:r>
              <a:rPr lang="en-US" altLang="ko-KR" sz="1400" dirty="0">
                <a:solidFill>
                  <a:srgbClr val="0083CE"/>
                </a:solidFill>
                <a:latin typeface="+mj-ea"/>
                <a:ea typeface="+mj-ea"/>
              </a:rPr>
              <a:t>Rebalancing Time &amp; Recovery Time </a:t>
            </a:r>
            <a:r>
              <a:rPr lang="ko-KR" altLang="en-US" sz="1400" dirty="0">
                <a:solidFill>
                  <a:srgbClr val="0083CE"/>
                </a:solidFill>
                <a:latin typeface="+mj-ea"/>
                <a:ea typeface="+mj-ea"/>
              </a:rPr>
              <a:t>불필요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10277171" y="6374354"/>
            <a:ext cx="278505" cy="249385"/>
          </a:xfrm>
        </p:spPr>
        <p:txBody>
          <a:bodyPr/>
          <a:lstStyle/>
          <a:p>
            <a:fld id="{AFA02C0B-84B5-4CD2-A6CE-C6BD7D6F9045}" type="slidenum">
              <a:rPr lang="ko-KR" altLang="en-US" smtClean="0">
                <a:solidFill>
                  <a:schemeClr val="bg1"/>
                </a:solidFill>
              </a:rPr>
              <a:t>20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97" name="그림 96">
            <a:extLst>
              <a:ext uri="{FF2B5EF4-FFF2-40B4-BE49-F238E27FC236}">
                <a16:creationId xmlns="" xmlns:a16="http://schemas.microsoft.com/office/drawing/2014/main" id="{2693E401-CFBB-70D4-7973-07C502898E3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47146" y="4841832"/>
            <a:ext cx="1497708" cy="1490293"/>
          </a:xfrm>
          <a:prstGeom prst="rect">
            <a:avLst/>
          </a:prstGeom>
        </p:spPr>
      </p:pic>
      <p:sp>
        <p:nvSpPr>
          <p:cNvPr id="98" name="TextBox 97">
            <a:extLst>
              <a:ext uri="{FF2B5EF4-FFF2-40B4-BE49-F238E27FC236}">
                <a16:creationId xmlns="" xmlns:a16="http://schemas.microsoft.com/office/drawing/2014/main" id="{DCB62AD6-E7F0-1DC3-2B5D-E9B38AA282AA}"/>
              </a:ext>
            </a:extLst>
          </p:cNvPr>
          <p:cNvSpPr txBox="1"/>
          <p:nvPr/>
        </p:nvSpPr>
        <p:spPr>
          <a:xfrm>
            <a:off x="8348636" y="4281592"/>
            <a:ext cx="2339731" cy="353937"/>
          </a:xfrm>
          <a:prstGeom prst="rect">
            <a:avLst/>
          </a:prstGeom>
        </p:spPr>
        <p:txBody>
          <a:bodyPr vert="horz" wrap="none" lIns="45714" tIns="22857" rIns="45714" bIns="22857" rtlCol="0" anchor="t" anchorCtr="0">
            <a:spAutoFit/>
          </a:bodyPr>
          <a:lstStyle/>
          <a:p>
            <a:pPr algn="ctr" defTabSz="1088421"/>
            <a:r>
              <a:rPr lang="en-US" sz="2000" b="1" dirty="0">
                <a:solidFill>
                  <a:srgbClr val="212E35"/>
                </a:solidFill>
                <a:latin typeface="Century Gothic" panose="020B0502020202020204" pitchFamily="34" charset="0"/>
                <a:ea typeface="Roboto Light" charset="0"/>
                <a:cs typeface="Roboto Light" charset="0"/>
              </a:rPr>
              <a:t>No </a:t>
            </a:r>
            <a:r>
              <a:rPr lang="en-US" altLang="ko-KR" sz="2000" b="1" dirty="0">
                <a:solidFill>
                  <a:srgbClr val="212E35"/>
                </a:solidFill>
                <a:latin typeface="Century Gothic" panose="020B0502020202020204" pitchFamily="34" charset="0"/>
                <a:ea typeface="Roboto Light" charset="0"/>
                <a:cs typeface="Roboto Light" charset="0"/>
              </a:rPr>
              <a:t>Recovery Time</a:t>
            </a:r>
            <a:endParaRPr lang="en-US" sz="2000" b="1" dirty="0">
              <a:solidFill>
                <a:srgbClr val="212E35"/>
              </a:solidFill>
              <a:latin typeface="Century Gothic" panose="020B0502020202020204" pitchFamily="34" charset="0"/>
              <a:ea typeface="Roboto Light" charset="0"/>
              <a:cs typeface="Roboto Light" charset="0"/>
            </a:endParaRPr>
          </a:p>
        </p:txBody>
      </p:sp>
      <p:sp>
        <p:nvSpPr>
          <p:cNvPr id="99" name="Rounded Rectangle 89">
            <a:extLst>
              <a:ext uri="{FF2B5EF4-FFF2-40B4-BE49-F238E27FC236}">
                <a16:creationId xmlns="" xmlns:a16="http://schemas.microsoft.com/office/drawing/2014/main" id="{45A4DAC8-153C-6F9B-2735-D3F613C97930}"/>
              </a:ext>
            </a:extLst>
          </p:cNvPr>
          <p:cNvSpPr/>
          <p:nvPr/>
        </p:nvSpPr>
        <p:spPr bwMode="ltGray">
          <a:xfrm>
            <a:off x="1565145" y="2817140"/>
            <a:ext cx="607933" cy="788506"/>
          </a:xfrm>
          <a:prstGeom prst="roundRect">
            <a:avLst>
              <a:gd name="adj" fmla="val 7669"/>
            </a:avLst>
          </a:prstGeom>
          <a:solidFill>
            <a:srgbClr val="0079EF"/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Compute</a:t>
            </a:r>
          </a:p>
          <a:p>
            <a:pPr marL="0" marR="0" lvl="0" indent="0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Node</a:t>
            </a:r>
          </a:p>
          <a:p>
            <a:pPr marL="0" marR="0" lvl="0" indent="0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" name="Rounded Rectangle 95">
            <a:extLst>
              <a:ext uri="{FF2B5EF4-FFF2-40B4-BE49-F238E27FC236}">
                <a16:creationId xmlns="" xmlns:a16="http://schemas.microsoft.com/office/drawing/2014/main" id="{E4C61949-84B5-F10B-0F05-748188CBB565}"/>
              </a:ext>
            </a:extLst>
          </p:cNvPr>
          <p:cNvSpPr/>
          <p:nvPr/>
        </p:nvSpPr>
        <p:spPr bwMode="ltGray">
          <a:xfrm>
            <a:off x="2238053" y="2823465"/>
            <a:ext cx="607933" cy="788506"/>
          </a:xfrm>
          <a:prstGeom prst="roundRect">
            <a:avLst>
              <a:gd name="adj" fmla="val 7669"/>
            </a:avLst>
          </a:prstGeom>
          <a:solidFill>
            <a:srgbClr val="0079EF"/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Compute</a:t>
            </a:r>
          </a:p>
          <a:p>
            <a:pPr marL="0" marR="0" lvl="0" indent="0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Node</a:t>
            </a:r>
          </a:p>
          <a:p>
            <a:pPr marL="0" marR="0" lvl="0" indent="0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" name="Rounded Rectangle 100">
            <a:extLst>
              <a:ext uri="{FF2B5EF4-FFF2-40B4-BE49-F238E27FC236}">
                <a16:creationId xmlns="" xmlns:a16="http://schemas.microsoft.com/office/drawing/2014/main" id="{98998BDC-BC7E-C5B2-4662-83797D071CE5}"/>
              </a:ext>
            </a:extLst>
          </p:cNvPr>
          <p:cNvSpPr/>
          <p:nvPr/>
        </p:nvSpPr>
        <p:spPr bwMode="ltGray">
          <a:xfrm>
            <a:off x="2946079" y="2820644"/>
            <a:ext cx="607933" cy="788506"/>
          </a:xfrm>
          <a:prstGeom prst="roundRect">
            <a:avLst>
              <a:gd name="adj" fmla="val 7669"/>
            </a:avLst>
          </a:prstGeom>
          <a:solidFill>
            <a:srgbClr val="0079EF"/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Compute</a:t>
            </a:r>
          </a:p>
          <a:p>
            <a:pPr marL="0" marR="0" lvl="0" indent="0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Node</a:t>
            </a:r>
          </a:p>
          <a:p>
            <a:pPr marL="0" marR="0" lvl="0" indent="0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2" name="Rounded Rectangle 107">
            <a:extLst>
              <a:ext uri="{FF2B5EF4-FFF2-40B4-BE49-F238E27FC236}">
                <a16:creationId xmlns="" xmlns:a16="http://schemas.microsoft.com/office/drawing/2014/main" id="{C103797E-A632-E921-6750-FB2251E3A60C}"/>
              </a:ext>
            </a:extLst>
          </p:cNvPr>
          <p:cNvSpPr/>
          <p:nvPr/>
        </p:nvSpPr>
        <p:spPr bwMode="ltGray">
          <a:xfrm>
            <a:off x="880144" y="2817140"/>
            <a:ext cx="607933" cy="788506"/>
          </a:xfrm>
          <a:prstGeom prst="roundRect">
            <a:avLst>
              <a:gd name="adj" fmla="val 7669"/>
            </a:avLst>
          </a:prstGeom>
          <a:solidFill>
            <a:srgbClr val="0079EF"/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Compute</a:t>
            </a:r>
          </a:p>
          <a:p>
            <a:pPr marL="0" marR="0" lvl="0" indent="0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Node</a:t>
            </a:r>
          </a:p>
        </p:txBody>
      </p:sp>
      <p:sp>
        <p:nvSpPr>
          <p:cNvPr id="103" name="Rounded Rectangle 124">
            <a:extLst>
              <a:ext uri="{FF2B5EF4-FFF2-40B4-BE49-F238E27FC236}">
                <a16:creationId xmlns="" xmlns:a16="http://schemas.microsoft.com/office/drawing/2014/main" id="{42407487-7C6D-6BD8-079C-CE636188A037}"/>
              </a:ext>
            </a:extLst>
          </p:cNvPr>
          <p:cNvSpPr/>
          <p:nvPr/>
        </p:nvSpPr>
        <p:spPr bwMode="ltGray">
          <a:xfrm>
            <a:off x="5545752" y="2817140"/>
            <a:ext cx="607933" cy="788506"/>
          </a:xfrm>
          <a:prstGeom prst="roundRect">
            <a:avLst>
              <a:gd name="adj" fmla="val 7669"/>
            </a:avLst>
          </a:prstGeom>
          <a:solidFill>
            <a:srgbClr val="0079EF"/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Compute</a:t>
            </a:r>
          </a:p>
          <a:p>
            <a:pPr marL="0" marR="0" lvl="0" indent="0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Node</a:t>
            </a:r>
          </a:p>
          <a:p>
            <a:pPr marL="0" marR="0" lvl="0" indent="0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" name="Rounded Rectangle 130">
            <a:extLst>
              <a:ext uri="{FF2B5EF4-FFF2-40B4-BE49-F238E27FC236}">
                <a16:creationId xmlns="" xmlns:a16="http://schemas.microsoft.com/office/drawing/2014/main" id="{92DB4F1A-22FE-F0CA-0D59-CC2CF5F69CE2}"/>
              </a:ext>
            </a:extLst>
          </p:cNvPr>
          <p:cNvSpPr/>
          <p:nvPr/>
        </p:nvSpPr>
        <p:spPr bwMode="ltGray">
          <a:xfrm>
            <a:off x="6218660" y="2823465"/>
            <a:ext cx="607933" cy="788506"/>
          </a:xfrm>
          <a:prstGeom prst="roundRect">
            <a:avLst>
              <a:gd name="adj" fmla="val 7669"/>
            </a:avLst>
          </a:prstGeom>
          <a:solidFill>
            <a:srgbClr val="0079EF"/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Compute</a:t>
            </a:r>
          </a:p>
          <a:p>
            <a:pPr marL="0" marR="0" lvl="0" indent="0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Node</a:t>
            </a:r>
          </a:p>
          <a:p>
            <a:pPr marL="0" marR="0" lvl="0" indent="0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" name="Rounded Rectangle 135">
            <a:extLst>
              <a:ext uri="{FF2B5EF4-FFF2-40B4-BE49-F238E27FC236}">
                <a16:creationId xmlns="" xmlns:a16="http://schemas.microsoft.com/office/drawing/2014/main" id="{B2A82E51-63D7-9A47-8BC0-83F2F5FDC6E4}"/>
              </a:ext>
            </a:extLst>
          </p:cNvPr>
          <p:cNvSpPr/>
          <p:nvPr/>
        </p:nvSpPr>
        <p:spPr bwMode="ltGray">
          <a:xfrm>
            <a:off x="6926685" y="2820644"/>
            <a:ext cx="607933" cy="788506"/>
          </a:xfrm>
          <a:prstGeom prst="roundRect">
            <a:avLst>
              <a:gd name="adj" fmla="val 7669"/>
            </a:avLst>
          </a:prstGeom>
          <a:solidFill>
            <a:srgbClr val="0079EF"/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Compute</a:t>
            </a:r>
          </a:p>
          <a:p>
            <a:pPr marL="0" marR="0" lvl="0" indent="0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Node</a:t>
            </a:r>
          </a:p>
          <a:p>
            <a:pPr marL="0" marR="0" lvl="0" indent="0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6" name="Rounded Rectangle 138">
            <a:extLst>
              <a:ext uri="{FF2B5EF4-FFF2-40B4-BE49-F238E27FC236}">
                <a16:creationId xmlns="" xmlns:a16="http://schemas.microsoft.com/office/drawing/2014/main" id="{5254216A-A2F6-4969-2435-2F244BA4E33D}"/>
              </a:ext>
            </a:extLst>
          </p:cNvPr>
          <p:cNvSpPr/>
          <p:nvPr/>
        </p:nvSpPr>
        <p:spPr bwMode="ltGray">
          <a:xfrm>
            <a:off x="4860750" y="2817140"/>
            <a:ext cx="607933" cy="788506"/>
          </a:xfrm>
          <a:prstGeom prst="roundRect">
            <a:avLst>
              <a:gd name="adj" fmla="val 7669"/>
            </a:avLst>
          </a:prstGeom>
          <a:solidFill>
            <a:srgbClr val="0079EF"/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Compute</a:t>
            </a:r>
          </a:p>
          <a:p>
            <a:pPr marL="0" marR="0" lvl="0" indent="0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Node</a:t>
            </a:r>
          </a:p>
          <a:p>
            <a:pPr marL="0" marR="0" lvl="0" indent="0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7" name="Flowchart: Magnetic Disk 90">
            <a:extLst>
              <a:ext uri="{FF2B5EF4-FFF2-40B4-BE49-F238E27FC236}">
                <a16:creationId xmlns="" xmlns:a16="http://schemas.microsoft.com/office/drawing/2014/main" id="{AB905DBA-A43C-61FA-D4DB-36BBDFEAA252}"/>
              </a:ext>
            </a:extLst>
          </p:cNvPr>
          <p:cNvSpPr/>
          <p:nvPr/>
        </p:nvSpPr>
        <p:spPr bwMode="ltGray">
          <a:xfrm>
            <a:off x="1701617" y="3346317"/>
            <a:ext cx="361073" cy="414978"/>
          </a:xfrm>
          <a:prstGeom prst="flowChartMagneticDisk">
            <a:avLst/>
          </a:prstGeom>
          <a:solidFill>
            <a:srgbClr val="0079EF">
              <a:lumMod val="40000"/>
              <a:lumOff val="60000"/>
            </a:srgbClr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8" name="Flowchart: Magnetic Disk 96">
            <a:extLst>
              <a:ext uri="{FF2B5EF4-FFF2-40B4-BE49-F238E27FC236}">
                <a16:creationId xmlns="" xmlns:a16="http://schemas.microsoft.com/office/drawing/2014/main" id="{EB20ACC8-6444-5FAB-7922-1AD86D463DB2}"/>
              </a:ext>
            </a:extLst>
          </p:cNvPr>
          <p:cNvSpPr/>
          <p:nvPr/>
        </p:nvSpPr>
        <p:spPr bwMode="ltGray">
          <a:xfrm>
            <a:off x="2364835" y="3346317"/>
            <a:ext cx="355894" cy="414978"/>
          </a:xfrm>
          <a:prstGeom prst="flowChartMagneticDisk">
            <a:avLst/>
          </a:prstGeom>
          <a:solidFill>
            <a:srgbClr val="0079EF">
              <a:lumMod val="40000"/>
              <a:lumOff val="60000"/>
            </a:srgbClr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9" name="Flowchart: Magnetic Disk 101">
            <a:extLst>
              <a:ext uri="{FF2B5EF4-FFF2-40B4-BE49-F238E27FC236}">
                <a16:creationId xmlns="" xmlns:a16="http://schemas.microsoft.com/office/drawing/2014/main" id="{C6150650-F375-0709-FE18-1B4B9F084354}"/>
              </a:ext>
            </a:extLst>
          </p:cNvPr>
          <p:cNvSpPr/>
          <p:nvPr/>
        </p:nvSpPr>
        <p:spPr bwMode="ltGray">
          <a:xfrm>
            <a:off x="3088587" y="3346317"/>
            <a:ext cx="329785" cy="414978"/>
          </a:xfrm>
          <a:prstGeom prst="flowChartMagneticDisk">
            <a:avLst/>
          </a:prstGeom>
          <a:solidFill>
            <a:srgbClr val="0079EF">
              <a:lumMod val="40000"/>
              <a:lumOff val="60000"/>
            </a:srgbClr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0" name="Straight Arrow Connector 103">
            <a:extLst>
              <a:ext uri="{FF2B5EF4-FFF2-40B4-BE49-F238E27FC236}">
                <a16:creationId xmlns="" xmlns:a16="http://schemas.microsoft.com/office/drawing/2014/main" id="{FBB6E944-8D61-2621-48CC-74ADE1FF9FA6}"/>
              </a:ext>
            </a:extLst>
          </p:cNvPr>
          <p:cNvCxnSpPr>
            <a:cxnSpLocks/>
            <a:stCxn id="108" idx="3"/>
          </p:cNvCxnSpPr>
          <p:nvPr/>
        </p:nvCxnSpPr>
        <p:spPr>
          <a:xfrm>
            <a:off x="2542782" y="3761295"/>
            <a:ext cx="3546534" cy="1080537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headEnd type="triangle"/>
            <a:tailEnd type="triangle"/>
          </a:ln>
          <a:effectLst/>
        </p:spPr>
      </p:cxnSp>
      <p:cxnSp>
        <p:nvCxnSpPr>
          <p:cNvPr id="111" name="Straight Arrow Connector 104">
            <a:extLst>
              <a:ext uri="{FF2B5EF4-FFF2-40B4-BE49-F238E27FC236}">
                <a16:creationId xmlns="" xmlns:a16="http://schemas.microsoft.com/office/drawing/2014/main" id="{EA072C9A-90CA-B046-7FC4-686D0155F1D2}"/>
              </a:ext>
            </a:extLst>
          </p:cNvPr>
          <p:cNvCxnSpPr>
            <a:cxnSpLocks/>
            <a:stCxn id="107" idx="3"/>
            <a:endCxn id="97" idx="0"/>
          </p:cNvCxnSpPr>
          <p:nvPr/>
        </p:nvCxnSpPr>
        <p:spPr>
          <a:xfrm>
            <a:off x="1882154" y="3761295"/>
            <a:ext cx="4213846" cy="1080537"/>
          </a:xfrm>
          <a:prstGeom prst="straightConnector1">
            <a:avLst/>
          </a:prstGeom>
          <a:noFill/>
          <a:ln w="12700" cap="flat" cmpd="sng" algn="ctr">
            <a:solidFill>
              <a:srgbClr val="00CC00"/>
            </a:solidFill>
            <a:prstDash val="solid"/>
            <a:miter lim="800000"/>
            <a:headEnd type="triangle"/>
            <a:tailEnd type="triangle"/>
          </a:ln>
          <a:effectLst/>
        </p:spPr>
      </p:cxnSp>
      <p:cxnSp>
        <p:nvCxnSpPr>
          <p:cNvPr id="112" name="Straight Arrow Connector 105">
            <a:extLst>
              <a:ext uri="{FF2B5EF4-FFF2-40B4-BE49-F238E27FC236}">
                <a16:creationId xmlns="" xmlns:a16="http://schemas.microsoft.com/office/drawing/2014/main" id="{399C14CD-F36B-FCF3-73C0-78E638B030A2}"/>
              </a:ext>
            </a:extLst>
          </p:cNvPr>
          <p:cNvCxnSpPr>
            <a:cxnSpLocks/>
            <a:stCxn id="109" idx="3"/>
            <a:endCxn id="97" idx="0"/>
          </p:cNvCxnSpPr>
          <p:nvPr/>
        </p:nvCxnSpPr>
        <p:spPr>
          <a:xfrm>
            <a:off x="3253480" y="3761295"/>
            <a:ext cx="2842520" cy="1080537"/>
          </a:xfrm>
          <a:prstGeom prst="straightConnector1">
            <a:avLst/>
          </a:prstGeom>
          <a:noFill/>
          <a:ln w="12700" cap="flat" cmpd="sng" algn="ctr">
            <a:solidFill>
              <a:srgbClr val="0000FF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113" name="Flowchart: Magnetic Disk 108">
            <a:extLst>
              <a:ext uri="{FF2B5EF4-FFF2-40B4-BE49-F238E27FC236}">
                <a16:creationId xmlns="" xmlns:a16="http://schemas.microsoft.com/office/drawing/2014/main" id="{583C3101-A5E0-DC05-2330-47B3A73E962A}"/>
              </a:ext>
            </a:extLst>
          </p:cNvPr>
          <p:cNvSpPr/>
          <p:nvPr/>
        </p:nvSpPr>
        <p:spPr bwMode="ltGray">
          <a:xfrm>
            <a:off x="1016615" y="3346317"/>
            <a:ext cx="361073" cy="414978"/>
          </a:xfrm>
          <a:prstGeom prst="flowChartMagneticDisk">
            <a:avLst/>
          </a:prstGeom>
          <a:solidFill>
            <a:srgbClr val="0079EF">
              <a:lumMod val="40000"/>
              <a:lumOff val="60000"/>
            </a:srgbClr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4" name="Straight Arrow Connector 110">
            <a:extLst>
              <a:ext uri="{FF2B5EF4-FFF2-40B4-BE49-F238E27FC236}">
                <a16:creationId xmlns="" xmlns:a16="http://schemas.microsoft.com/office/drawing/2014/main" id="{E3760698-C9AE-AE04-BAA4-71389CF4B84B}"/>
              </a:ext>
            </a:extLst>
          </p:cNvPr>
          <p:cNvCxnSpPr>
            <a:cxnSpLocks/>
            <a:stCxn id="113" idx="3"/>
            <a:endCxn id="97" idx="0"/>
          </p:cNvCxnSpPr>
          <p:nvPr/>
        </p:nvCxnSpPr>
        <p:spPr>
          <a:xfrm>
            <a:off x="1197152" y="3761295"/>
            <a:ext cx="4898848" cy="1080537"/>
          </a:xfrm>
          <a:prstGeom prst="straightConnector1">
            <a:avLst/>
          </a:prstGeom>
          <a:noFill/>
          <a:ln w="12700" cap="flat" cmpd="sng" algn="ctr">
            <a:solidFill>
              <a:srgbClr val="FFC000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115" name="Freeform 119">
            <a:extLst>
              <a:ext uri="{FF2B5EF4-FFF2-40B4-BE49-F238E27FC236}">
                <a16:creationId xmlns="" xmlns:a16="http://schemas.microsoft.com/office/drawing/2014/main" id="{16937F9C-9E9F-FC72-80C0-17A5D72F45CD}"/>
              </a:ext>
            </a:extLst>
          </p:cNvPr>
          <p:cNvSpPr/>
          <p:nvPr/>
        </p:nvSpPr>
        <p:spPr bwMode="ltGray">
          <a:xfrm rot="16200000">
            <a:off x="2460848" y="3480444"/>
            <a:ext cx="173888" cy="176189"/>
          </a:xfrm>
          <a:custGeom>
            <a:avLst/>
            <a:gdLst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826852 w 2611663"/>
              <a:gd name="connsiteY2" fmla="*/ 2607013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2639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7468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11952"/>
              <a:gd name="connsiteX1" fmla="*/ 0 w 2597286"/>
              <a:gd name="connsiteY1" fmla="*/ 2607013 h 2611952"/>
              <a:gd name="connsiteX2" fmla="*/ 1224580 w 2597286"/>
              <a:gd name="connsiteY2" fmla="*/ 2611953 h 2611952"/>
              <a:gd name="connsiteX3" fmla="*/ 2592356 w 2597286"/>
              <a:gd name="connsiteY3" fmla="*/ 1258167 h 2611952"/>
              <a:gd name="connsiteX4" fmla="*/ 2597286 w 2597286"/>
              <a:gd name="connsiteY4" fmla="*/ 0 h 2611952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6 w 2597286"/>
              <a:gd name="connsiteY2" fmla="*/ 1258167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83020 w 2597286"/>
              <a:gd name="connsiteY2" fmla="*/ 2603480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7 w 2597286"/>
              <a:gd name="connsiteY2" fmla="*/ 2603480 h 2607014"/>
              <a:gd name="connsiteX3" fmla="*/ 2597286 w 2597286"/>
              <a:gd name="connsiteY3" fmla="*/ 0 h 2607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7286" h="2607014">
                <a:moveTo>
                  <a:pt x="2597286" y="0"/>
                </a:moveTo>
                <a:cubicBezTo>
                  <a:pt x="1138136" y="22698"/>
                  <a:pt x="0" y="1183532"/>
                  <a:pt x="0" y="2607013"/>
                </a:cubicBezTo>
                <a:lnTo>
                  <a:pt x="2592357" y="2603480"/>
                </a:lnTo>
                <a:cubicBezTo>
                  <a:pt x="2594000" y="2184091"/>
                  <a:pt x="2595643" y="419389"/>
                  <a:pt x="2597286" y="0"/>
                </a:cubicBezTo>
                <a:close/>
              </a:path>
            </a:pathLst>
          </a:custGeom>
          <a:solidFill>
            <a:srgbClr val="FF0000"/>
          </a:solidFill>
          <a:ln w="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6" name="Freeform 120">
            <a:extLst>
              <a:ext uri="{FF2B5EF4-FFF2-40B4-BE49-F238E27FC236}">
                <a16:creationId xmlns="" xmlns:a16="http://schemas.microsoft.com/office/drawing/2014/main" id="{6688DD14-E335-59F8-E205-667DECEEA494}"/>
              </a:ext>
            </a:extLst>
          </p:cNvPr>
          <p:cNvSpPr/>
          <p:nvPr/>
        </p:nvSpPr>
        <p:spPr bwMode="ltGray">
          <a:xfrm rot="10800000">
            <a:off x="3181303" y="3486537"/>
            <a:ext cx="173888" cy="176189"/>
          </a:xfrm>
          <a:custGeom>
            <a:avLst/>
            <a:gdLst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826852 w 2611663"/>
              <a:gd name="connsiteY2" fmla="*/ 2607013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2639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7468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11952"/>
              <a:gd name="connsiteX1" fmla="*/ 0 w 2597286"/>
              <a:gd name="connsiteY1" fmla="*/ 2607013 h 2611952"/>
              <a:gd name="connsiteX2" fmla="*/ 1224580 w 2597286"/>
              <a:gd name="connsiteY2" fmla="*/ 2611953 h 2611952"/>
              <a:gd name="connsiteX3" fmla="*/ 2592356 w 2597286"/>
              <a:gd name="connsiteY3" fmla="*/ 1258167 h 2611952"/>
              <a:gd name="connsiteX4" fmla="*/ 2597286 w 2597286"/>
              <a:gd name="connsiteY4" fmla="*/ 0 h 2611952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6 w 2597286"/>
              <a:gd name="connsiteY2" fmla="*/ 1258167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83020 w 2597286"/>
              <a:gd name="connsiteY2" fmla="*/ 2603480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7 w 2597286"/>
              <a:gd name="connsiteY2" fmla="*/ 2603480 h 2607014"/>
              <a:gd name="connsiteX3" fmla="*/ 2597286 w 2597286"/>
              <a:gd name="connsiteY3" fmla="*/ 0 h 2607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7286" h="2607014">
                <a:moveTo>
                  <a:pt x="2597286" y="0"/>
                </a:moveTo>
                <a:cubicBezTo>
                  <a:pt x="1138136" y="22698"/>
                  <a:pt x="0" y="1183532"/>
                  <a:pt x="0" y="2607013"/>
                </a:cubicBezTo>
                <a:lnTo>
                  <a:pt x="2592357" y="2603480"/>
                </a:lnTo>
                <a:cubicBezTo>
                  <a:pt x="2594000" y="2184091"/>
                  <a:pt x="2595643" y="419389"/>
                  <a:pt x="2597286" y="0"/>
                </a:cubicBezTo>
                <a:close/>
              </a:path>
            </a:pathLst>
          </a:custGeom>
          <a:solidFill>
            <a:srgbClr val="0000FF"/>
          </a:solidFill>
          <a:ln w="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7" name="Freeform 121">
            <a:extLst>
              <a:ext uri="{FF2B5EF4-FFF2-40B4-BE49-F238E27FC236}">
                <a16:creationId xmlns="" xmlns:a16="http://schemas.microsoft.com/office/drawing/2014/main" id="{179C3C44-309F-54E9-37F8-3BD7B6C51BFC}"/>
              </a:ext>
            </a:extLst>
          </p:cNvPr>
          <p:cNvSpPr/>
          <p:nvPr/>
        </p:nvSpPr>
        <p:spPr bwMode="ltGray">
          <a:xfrm>
            <a:off x="1080909" y="3486538"/>
            <a:ext cx="173888" cy="176189"/>
          </a:xfrm>
          <a:custGeom>
            <a:avLst/>
            <a:gdLst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826852 w 2611663"/>
              <a:gd name="connsiteY2" fmla="*/ 2607013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2639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7468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11952"/>
              <a:gd name="connsiteX1" fmla="*/ 0 w 2597286"/>
              <a:gd name="connsiteY1" fmla="*/ 2607013 h 2611952"/>
              <a:gd name="connsiteX2" fmla="*/ 1224580 w 2597286"/>
              <a:gd name="connsiteY2" fmla="*/ 2611953 h 2611952"/>
              <a:gd name="connsiteX3" fmla="*/ 2592356 w 2597286"/>
              <a:gd name="connsiteY3" fmla="*/ 1258167 h 2611952"/>
              <a:gd name="connsiteX4" fmla="*/ 2597286 w 2597286"/>
              <a:gd name="connsiteY4" fmla="*/ 0 h 2611952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6 w 2597286"/>
              <a:gd name="connsiteY2" fmla="*/ 1258167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83020 w 2597286"/>
              <a:gd name="connsiteY2" fmla="*/ 2603480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7 w 2597286"/>
              <a:gd name="connsiteY2" fmla="*/ 2603480 h 2607014"/>
              <a:gd name="connsiteX3" fmla="*/ 2597286 w 2597286"/>
              <a:gd name="connsiteY3" fmla="*/ 0 h 2607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7286" h="2607014">
                <a:moveTo>
                  <a:pt x="2597286" y="0"/>
                </a:moveTo>
                <a:cubicBezTo>
                  <a:pt x="1138136" y="22698"/>
                  <a:pt x="0" y="1183532"/>
                  <a:pt x="0" y="2607013"/>
                </a:cubicBezTo>
                <a:lnTo>
                  <a:pt x="2592357" y="2603480"/>
                </a:lnTo>
                <a:cubicBezTo>
                  <a:pt x="2594000" y="2184091"/>
                  <a:pt x="2595643" y="419389"/>
                  <a:pt x="2597286" y="0"/>
                </a:cubicBezTo>
                <a:close/>
              </a:path>
            </a:pathLst>
          </a:custGeom>
          <a:solidFill>
            <a:srgbClr val="FFC000"/>
          </a:solidFill>
          <a:ln w="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8" name="Freeform 122">
            <a:extLst>
              <a:ext uri="{FF2B5EF4-FFF2-40B4-BE49-F238E27FC236}">
                <a16:creationId xmlns="" xmlns:a16="http://schemas.microsoft.com/office/drawing/2014/main" id="{BB0BF3AB-745C-C987-522E-222CB8FADF8C}"/>
              </a:ext>
            </a:extLst>
          </p:cNvPr>
          <p:cNvSpPr/>
          <p:nvPr/>
        </p:nvSpPr>
        <p:spPr bwMode="ltGray">
          <a:xfrm rot="5400000">
            <a:off x="1816041" y="3480444"/>
            <a:ext cx="173888" cy="176189"/>
          </a:xfrm>
          <a:custGeom>
            <a:avLst/>
            <a:gdLst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826852 w 2611663"/>
              <a:gd name="connsiteY2" fmla="*/ 2607013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2639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7468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11952"/>
              <a:gd name="connsiteX1" fmla="*/ 0 w 2597286"/>
              <a:gd name="connsiteY1" fmla="*/ 2607013 h 2611952"/>
              <a:gd name="connsiteX2" fmla="*/ 1224580 w 2597286"/>
              <a:gd name="connsiteY2" fmla="*/ 2611953 h 2611952"/>
              <a:gd name="connsiteX3" fmla="*/ 2592356 w 2597286"/>
              <a:gd name="connsiteY3" fmla="*/ 1258167 h 2611952"/>
              <a:gd name="connsiteX4" fmla="*/ 2597286 w 2597286"/>
              <a:gd name="connsiteY4" fmla="*/ 0 h 2611952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6 w 2597286"/>
              <a:gd name="connsiteY2" fmla="*/ 1258167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83020 w 2597286"/>
              <a:gd name="connsiteY2" fmla="*/ 2603480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7 w 2597286"/>
              <a:gd name="connsiteY2" fmla="*/ 2603480 h 2607014"/>
              <a:gd name="connsiteX3" fmla="*/ 2597286 w 2597286"/>
              <a:gd name="connsiteY3" fmla="*/ 0 h 2607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7286" h="2607014">
                <a:moveTo>
                  <a:pt x="2597286" y="0"/>
                </a:moveTo>
                <a:cubicBezTo>
                  <a:pt x="1138136" y="22698"/>
                  <a:pt x="0" y="1183532"/>
                  <a:pt x="0" y="2607013"/>
                </a:cubicBezTo>
                <a:lnTo>
                  <a:pt x="2592357" y="2603480"/>
                </a:lnTo>
                <a:cubicBezTo>
                  <a:pt x="2594000" y="2184091"/>
                  <a:pt x="2595643" y="419389"/>
                  <a:pt x="2597286" y="0"/>
                </a:cubicBezTo>
                <a:close/>
              </a:path>
            </a:pathLst>
          </a:custGeom>
          <a:solidFill>
            <a:srgbClr val="00CC00"/>
          </a:solidFill>
          <a:ln w="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9" name="Flowchart: Magnetic Disk 125">
            <a:extLst>
              <a:ext uri="{FF2B5EF4-FFF2-40B4-BE49-F238E27FC236}">
                <a16:creationId xmlns="" xmlns:a16="http://schemas.microsoft.com/office/drawing/2014/main" id="{8FD5F61E-15FF-0AEB-0C79-439BF1F40A97}"/>
              </a:ext>
            </a:extLst>
          </p:cNvPr>
          <p:cNvSpPr/>
          <p:nvPr/>
        </p:nvSpPr>
        <p:spPr bwMode="ltGray">
          <a:xfrm>
            <a:off x="5681790" y="3346317"/>
            <a:ext cx="361073" cy="414978"/>
          </a:xfrm>
          <a:prstGeom prst="flowChartMagneticDisk">
            <a:avLst/>
          </a:prstGeom>
          <a:solidFill>
            <a:srgbClr val="0079EF">
              <a:lumMod val="40000"/>
              <a:lumOff val="60000"/>
            </a:srgbClr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0" name="Flowchart: Magnetic Disk 131">
            <a:extLst>
              <a:ext uri="{FF2B5EF4-FFF2-40B4-BE49-F238E27FC236}">
                <a16:creationId xmlns="" xmlns:a16="http://schemas.microsoft.com/office/drawing/2014/main" id="{80469076-8B50-0D40-C802-43E117747C44}"/>
              </a:ext>
            </a:extLst>
          </p:cNvPr>
          <p:cNvSpPr/>
          <p:nvPr/>
        </p:nvSpPr>
        <p:spPr bwMode="ltGray">
          <a:xfrm>
            <a:off x="6345008" y="3346317"/>
            <a:ext cx="355894" cy="414978"/>
          </a:xfrm>
          <a:prstGeom prst="flowChartMagneticDisk">
            <a:avLst/>
          </a:prstGeom>
          <a:solidFill>
            <a:srgbClr val="0079EF">
              <a:lumMod val="40000"/>
              <a:lumOff val="60000"/>
            </a:srgbClr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1" name="Flowchart: Magnetic Disk 136">
            <a:extLst>
              <a:ext uri="{FF2B5EF4-FFF2-40B4-BE49-F238E27FC236}">
                <a16:creationId xmlns="" xmlns:a16="http://schemas.microsoft.com/office/drawing/2014/main" id="{B5DB4C46-EE0A-5584-9187-4DBD77C0A6D6}"/>
              </a:ext>
            </a:extLst>
          </p:cNvPr>
          <p:cNvSpPr/>
          <p:nvPr/>
        </p:nvSpPr>
        <p:spPr bwMode="ltGray">
          <a:xfrm>
            <a:off x="7068761" y="3346317"/>
            <a:ext cx="329785" cy="414978"/>
          </a:xfrm>
          <a:prstGeom prst="flowChartMagneticDisk">
            <a:avLst/>
          </a:prstGeom>
          <a:solidFill>
            <a:srgbClr val="0079EF">
              <a:lumMod val="40000"/>
              <a:lumOff val="60000"/>
            </a:srgbClr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" name="Flowchart: Magnetic Disk 139">
            <a:extLst>
              <a:ext uri="{FF2B5EF4-FFF2-40B4-BE49-F238E27FC236}">
                <a16:creationId xmlns="" xmlns:a16="http://schemas.microsoft.com/office/drawing/2014/main" id="{C67BDE86-01E7-E439-DD47-AE0DFB678B00}"/>
              </a:ext>
            </a:extLst>
          </p:cNvPr>
          <p:cNvSpPr/>
          <p:nvPr/>
        </p:nvSpPr>
        <p:spPr bwMode="ltGray">
          <a:xfrm>
            <a:off x="4996789" y="3346317"/>
            <a:ext cx="361073" cy="414978"/>
          </a:xfrm>
          <a:prstGeom prst="flowChartMagneticDisk">
            <a:avLst/>
          </a:prstGeom>
          <a:solidFill>
            <a:srgbClr val="0079EF">
              <a:lumMod val="40000"/>
              <a:lumOff val="60000"/>
            </a:srgbClr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" name="Freeform 141">
            <a:extLst>
              <a:ext uri="{FF2B5EF4-FFF2-40B4-BE49-F238E27FC236}">
                <a16:creationId xmlns="" xmlns:a16="http://schemas.microsoft.com/office/drawing/2014/main" id="{9DF0E4B8-5BAA-7ACC-5AC5-FAB715EB7AE7}"/>
              </a:ext>
            </a:extLst>
          </p:cNvPr>
          <p:cNvSpPr/>
          <p:nvPr/>
        </p:nvSpPr>
        <p:spPr bwMode="ltGray">
          <a:xfrm rot="16200000">
            <a:off x="6441022" y="3480444"/>
            <a:ext cx="173888" cy="176189"/>
          </a:xfrm>
          <a:custGeom>
            <a:avLst/>
            <a:gdLst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826852 w 2611663"/>
              <a:gd name="connsiteY2" fmla="*/ 2607013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2639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7468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11952"/>
              <a:gd name="connsiteX1" fmla="*/ 0 w 2597286"/>
              <a:gd name="connsiteY1" fmla="*/ 2607013 h 2611952"/>
              <a:gd name="connsiteX2" fmla="*/ 1224580 w 2597286"/>
              <a:gd name="connsiteY2" fmla="*/ 2611953 h 2611952"/>
              <a:gd name="connsiteX3" fmla="*/ 2592356 w 2597286"/>
              <a:gd name="connsiteY3" fmla="*/ 1258167 h 2611952"/>
              <a:gd name="connsiteX4" fmla="*/ 2597286 w 2597286"/>
              <a:gd name="connsiteY4" fmla="*/ 0 h 2611952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6 w 2597286"/>
              <a:gd name="connsiteY2" fmla="*/ 1258167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83020 w 2597286"/>
              <a:gd name="connsiteY2" fmla="*/ 2603480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7 w 2597286"/>
              <a:gd name="connsiteY2" fmla="*/ 2603480 h 2607014"/>
              <a:gd name="connsiteX3" fmla="*/ 2597286 w 2597286"/>
              <a:gd name="connsiteY3" fmla="*/ 0 h 2607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7286" h="2607014">
                <a:moveTo>
                  <a:pt x="2597286" y="0"/>
                </a:moveTo>
                <a:cubicBezTo>
                  <a:pt x="1138136" y="22698"/>
                  <a:pt x="0" y="1183532"/>
                  <a:pt x="0" y="2607013"/>
                </a:cubicBezTo>
                <a:lnTo>
                  <a:pt x="2592357" y="2603480"/>
                </a:lnTo>
                <a:cubicBezTo>
                  <a:pt x="2594000" y="2184091"/>
                  <a:pt x="2595643" y="419389"/>
                  <a:pt x="2597286" y="0"/>
                </a:cubicBezTo>
                <a:close/>
              </a:path>
            </a:pathLst>
          </a:custGeom>
          <a:solidFill>
            <a:srgbClr val="FF0000"/>
          </a:solidFill>
          <a:ln w="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" name="Freeform 142">
            <a:extLst>
              <a:ext uri="{FF2B5EF4-FFF2-40B4-BE49-F238E27FC236}">
                <a16:creationId xmlns="" xmlns:a16="http://schemas.microsoft.com/office/drawing/2014/main" id="{0D5FF5D0-963C-B06E-7B89-DF602786456A}"/>
              </a:ext>
            </a:extLst>
          </p:cNvPr>
          <p:cNvSpPr/>
          <p:nvPr/>
        </p:nvSpPr>
        <p:spPr bwMode="ltGray">
          <a:xfrm rot="10800000">
            <a:off x="7161477" y="3486537"/>
            <a:ext cx="173888" cy="176189"/>
          </a:xfrm>
          <a:custGeom>
            <a:avLst/>
            <a:gdLst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826852 w 2611663"/>
              <a:gd name="connsiteY2" fmla="*/ 2607013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2639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7468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11952"/>
              <a:gd name="connsiteX1" fmla="*/ 0 w 2597286"/>
              <a:gd name="connsiteY1" fmla="*/ 2607013 h 2611952"/>
              <a:gd name="connsiteX2" fmla="*/ 1224580 w 2597286"/>
              <a:gd name="connsiteY2" fmla="*/ 2611953 h 2611952"/>
              <a:gd name="connsiteX3" fmla="*/ 2592356 w 2597286"/>
              <a:gd name="connsiteY3" fmla="*/ 1258167 h 2611952"/>
              <a:gd name="connsiteX4" fmla="*/ 2597286 w 2597286"/>
              <a:gd name="connsiteY4" fmla="*/ 0 h 2611952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6 w 2597286"/>
              <a:gd name="connsiteY2" fmla="*/ 1258167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83020 w 2597286"/>
              <a:gd name="connsiteY2" fmla="*/ 2603480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7 w 2597286"/>
              <a:gd name="connsiteY2" fmla="*/ 2603480 h 2607014"/>
              <a:gd name="connsiteX3" fmla="*/ 2597286 w 2597286"/>
              <a:gd name="connsiteY3" fmla="*/ 0 h 2607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7286" h="2607014">
                <a:moveTo>
                  <a:pt x="2597286" y="0"/>
                </a:moveTo>
                <a:cubicBezTo>
                  <a:pt x="1138136" y="22698"/>
                  <a:pt x="0" y="1183532"/>
                  <a:pt x="0" y="2607013"/>
                </a:cubicBezTo>
                <a:lnTo>
                  <a:pt x="2592357" y="2603480"/>
                </a:lnTo>
                <a:cubicBezTo>
                  <a:pt x="2594000" y="2184091"/>
                  <a:pt x="2595643" y="419389"/>
                  <a:pt x="2597286" y="0"/>
                </a:cubicBezTo>
                <a:close/>
              </a:path>
            </a:pathLst>
          </a:custGeom>
          <a:solidFill>
            <a:srgbClr val="0000FF"/>
          </a:solidFill>
          <a:ln w="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5" name="Freeform 143">
            <a:extLst>
              <a:ext uri="{FF2B5EF4-FFF2-40B4-BE49-F238E27FC236}">
                <a16:creationId xmlns="" xmlns:a16="http://schemas.microsoft.com/office/drawing/2014/main" id="{FA8B84C9-706A-6666-5677-8A3B1F7216CB}"/>
              </a:ext>
            </a:extLst>
          </p:cNvPr>
          <p:cNvSpPr/>
          <p:nvPr/>
        </p:nvSpPr>
        <p:spPr bwMode="ltGray">
          <a:xfrm>
            <a:off x="5061082" y="3486538"/>
            <a:ext cx="173888" cy="176189"/>
          </a:xfrm>
          <a:custGeom>
            <a:avLst/>
            <a:gdLst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826852 w 2611663"/>
              <a:gd name="connsiteY2" fmla="*/ 2607013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2639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7468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11952"/>
              <a:gd name="connsiteX1" fmla="*/ 0 w 2597286"/>
              <a:gd name="connsiteY1" fmla="*/ 2607013 h 2611952"/>
              <a:gd name="connsiteX2" fmla="*/ 1224580 w 2597286"/>
              <a:gd name="connsiteY2" fmla="*/ 2611953 h 2611952"/>
              <a:gd name="connsiteX3" fmla="*/ 2592356 w 2597286"/>
              <a:gd name="connsiteY3" fmla="*/ 1258167 h 2611952"/>
              <a:gd name="connsiteX4" fmla="*/ 2597286 w 2597286"/>
              <a:gd name="connsiteY4" fmla="*/ 0 h 2611952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6 w 2597286"/>
              <a:gd name="connsiteY2" fmla="*/ 1258167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83020 w 2597286"/>
              <a:gd name="connsiteY2" fmla="*/ 2603480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7 w 2597286"/>
              <a:gd name="connsiteY2" fmla="*/ 2603480 h 2607014"/>
              <a:gd name="connsiteX3" fmla="*/ 2597286 w 2597286"/>
              <a:gd name="connsiteY3" fmla="*/ 0 h 2607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7286" h="2607014">
                <a:moveTo>
                  <a:pt x="2597286" y="0"/>
                </a:moveTo>
                <a:cubicBezTo>
                  <a:pt x="1138136" y="22698"/>
                  <a:pt x="0" y="1183532"/>
                  <a:pt x="0" y="2607013"/>
                </a:cubicBezTo>
                <a:lnTo>
                  <a:pt x="2592357" y="2603480"/>
                </a:lnTo>
                <a:cubicBezTo>
                  <a:pt x="2594000" y="2184091"/>
                  <a:pt x="2595643" y="419389"/>
                  <a:pt x="2597286" y="0"/>
                </a:cubicBezTo>
                <a:close/>
              </a:path>
            </a:pathLst>
          </a:custGeom>
          <a:solidFill>
            <a:srgbClr val="FFC000"/>
          </a:solidFill>
          <a:ln w="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6" name="Freeform 144">
            <a:extLst>
              <a:ext uri="{FF2B5EF4-FFF2-40B4-BE49-F238E27FC236}">
                <a16:creationId xmlns="" xmlns:a16="http://schemas.microsoft.com/office/drawing/2014/main" id="{43AED926-1F7B-26CA-8C77-2B25D22EF0BA}"/>
              </a:ext>
            </a:extLst>
          </p:cNvPr>
          <p:cNvSpPr/>
          <p:nvPr/>
        </p:nvSpPr>
        <p:spPr bwMode="ltGray">
          <a:xfrm rot="5400000">
            <a:off x="5796215" y="3480444"/>
            <a:ext cx="173888" cy="176189"/>
          </a:xfrm>
          <a:custGeom>
            <a:avLst/>
            <a:gdLst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826852 w 2611663"/>
              <a:gd name="connsiteY2" fmla="*/ 2607013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2639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7468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11952"/>
              <a:gd name="connsiteX1" fmla="*/ 0 w 2597286"/>
              <a:gd name="connsiteY1" fmla="*/ 2607013 h 2611952"/>
              <a:gd name="connsiteX2" fmla="*/ 1224580 w 2597286"/>
              <a:gd name="connsiteY2" fmla="*/ 2611953 h 2611952"/>
              <a:gd name="connsiteX3" fmla="*/ 2592356 w 2597286"/>
              <a:gd name="connsiteY3" fmla="*/ 1258167 h 2611952"/>
              <a:gd name="connsiteX4" fmla="*/ 2597286 w 2597286"/>
              <a:gd name="connsiteY4" fmla="*/ 0 h 2611952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6 w 2597286"/>
              <a:gd name="connsiteY2" fmla="*/ 1258167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83020 w 2597286"/>
              <a:gd name="connsiteY2" fmla="*/ 2603480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7 w 2597286"/>
              <a:gd name="connsiteY2" fmla="*/ 2603480 h 2607014"/>
              <a:gd name="connsiteX3" fmla="*/ 2597286 w 2597286"/>
              <a:gd name="connsiteY3" fmla="*/ 0 h 2607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7286" h="2607014">
                <a:moveTo>
                  <a:pt x="2597286" y="0"/>
                </a:moveTo>
                <a:cubicBezTo>
                  <a:pt x="1138136" y="22698"/>
                  <a:pt x="0" y="1183532"/>
                  <a:pt x="0" y="2607013"/>
                </a:cubicBezTo>
                <a:lnTo>
                  <a:pt x="2592357" y="2603480"/>
                </a:lnTo>
                <a:cubicBezTo>
                  <a:pt x="2594000" y="2184091"/>
                  <a:pt x="2595643" y="419389"/>
                  <a:pt x="2597286" y="0"/>
                </a:cubicBezTo>
                <a:close/>
              </a:path>
            </a:pathLst>
          </a:custGeom>
          <a:solidFill>
            <a:srgbClr val="00CC00"/>
          </a:solidFill>
          <a:ln w="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7" name="Straight Arrow Connector 145">
            <a:extLst>
              <a:ext uri="{FF2B5EF4-FFF2-40B4-BE49-F238E27FC236}">
                <a16:creationId xmlns="" xmlns:a16="http://schemas.microsoft.com/office/drawing/2014/main" id="{163B40FB-D616-B399-85BA-2A4EAEE631FE}"/>
              </a:ext>
            </a:extLst>
          </p:cNvPr>
          <p:cNvCxnSpPr>
            <a:cxnSpLocks/>
            <a:stCxn id="122" idx="3"/>
            <a:endCxn id="97" idx="0"/>
          </p:cNvCxnSpPr>
          <p:nvPr/>
        </p:nvCxnSpPr>
        <p:spPr>
          <a:xfrm>
            <a:off x="5177326" y="3761295"/>
            <a:ext cx="918674" cy="1080537"/>
          </a:xfrm>
          <a:prstGeom prst="straightConnector1">
            <a:avLst/>
          </a:prstGeom>
          <a:noFill/>
          <a:ln w="12700" cap="flat" cmpd="sng" algn="ctr">
            <a:solidFill>
              <a:srgbClr val="FFC000"/>
            </a:solidFill>
            <a:prstDash val="solid"/>
            <a:miter lim="800000"/>
            <a:headEnd type="triangle"/>
            <a:tailEnd type="triangle"/>
          </a:ln>
          <a:effectLst/>
        </p:spPr>
      </p:cxnSp>
      <p:cxnSp>
        <p:nvCxnSpPr>
          <p:cNvPr id="128" name="Straight Arrow Connector 146">
            <a:extLst>
              <a:ext uri="{FF2B5EF4-FFF2-40B4-BE49-F238E27FC236}">
                <a16:creationId xmlns="" xmlns:a16="http://schemas.microsoft.com/office/drawing/2014/main" id="{48DC0B31-3E3C-39B9-5408-C1B37BB70CA4}"/>
              </a:ext>
            </a:extLst>
          </p:cNvPr>
          <p:cNvCxnSpPr>
            <a:cxnSpLocks/>
            <a:stCxn id="119" idx="3"/>
            <a:endCxn id="97" idx="0"/>
          </p:cNvCxnSpPr>
          <p:nvPr/>
        </p:nvCxnSpPr>
        <p:spPr>
          <a:xfrm>
            <a:off x="5862327" y="3761295"/>
            <a:ext cx="233673" cy="1080537"/>
          </a:xfrm>
          <a:prstGeom prst="straightConnector1">
            <a:avLst/>
          </a:prstGeom>
          <a:noFill/>
          <a:ln w="12700" cap="flat" cmpd="sng" algn="ctr">
            <a:solidFill>
              <a:srgbClr val="00CC00"/>
            </a:solidFill>
            <a:prstDash val="solid"/>
            <a:miter lim="800000"/>
            <a:headEnd type="triangle"/>
            <a:tailEnd type="triangle"/>
          </a:ln>
          <a:effectLst/>
        </p:spPr>
      </p:cxnSp>
      <p:cxnSp>
        <p:nvCxnSpPr>
          <p:cNvPr id="129" name="Straight Arrow Connector 147">
            <a:extLst>
              <a:ext uri="{FF2B5EF4-FFF2-40B4-BE49-F238E27FC236}">
                <a16:creationId xmlns="" xmlns:a16="http://schemas.microsoft.com/office/drawing/2014/main" id="{BEE9737B-552C-7910-80F9-4DBA950BC7E2}"/>
              </a:ext>
            </a:extLst>
          </p:cNvPr>
          <p:cNvCxnSpPr>
            <a:cxnSpLocks/>
            <a:stCxn id="120" idx="3"/>
            <a:endCxn id="97" idx="0"/>
          </p:cNvCxnSpPr>
          <p:nvPr/>
        </p:nvCxnSpPr>
        <p:spPr>
          <a:xfrm flipH="1">
            <a:off x="6096000" y="3761295"/>
            <a:ext cx="426955" cy="1080537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headEnd type="triangle"/>
            <a:tailEnd type="triangle"/>
          </a:ln>
          <a:effectLst/>
        </p:spPr>
      </p:cxnSp>
      <p:cxnSp>
        <p:nvCxnSpPr>
          <p:cNvPr id="130" name="Straight Arrow Connector 148">
            <a:extLst>
              <a:ext uri="{FF2B5EF4-FFF2-40B4-BE49-F238E27FC236}">
                <a16:creationId xmlns="" xmlns:a16="http://schemas.microsoft.com/office/drawing/2014/main" id="{8ACB253A-1544-6F95-268C-58359D8B6DF0}"/>
              </a:ext>
            </a:extLst>
          </p:cNvPr>
          <p:cNvCxnSpPr>
            <a:cxnSpLocks/>
            <a:stCxn id="121" idx="3"/>
            <a:endCxn id="97" idx="0"/>
          </p:cNvCxnSpPr>
          <p:nvPr/>
        </p:nvCxnSpPr>
        <p:spPr>
          <a:xfrm flipH="1">
            <a:off x="6096000" y="3761295"/>
            <a:ext cx="1137654" cy="1080537"/>
          </a:xfrm>
          <a:prstGeom prst="straightConnector1">
            <a:avLst/>
          </a:prstGeom>
          <a:noFill/>
          <a:ln w="12700" cap="flat" cmpd="sng" algn="ctr">
            <a:solidFill>
              <a:srgbClr val="0000FF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131" name="TextBox 130">
            <a:extLst>
              <a:ext uri="{FF2B5EF4-FFF2-40B4-BE49-F238E27FC236}">
                <a16:creationId xmlns="" xmlns:a16="http://schemas.microsoft.com/office/drawing/2014/main" id="{660E0137-9186-15B2-F7E4-004AB00747BB}"/>
              </a:ext>
            </a:extLst>
          </p:cNvPr>
          <p:cNvSpPr txBox="1"/>
          <p:nvPr/>
        </p:nvSpPr>
        <p:spPr>
          <a:xfrm>
            <a:off x="4066498" y="2970027"/>
            <a:ext cx="400097" cy="661714"/>
          </a:xfrm>
          <a:prstGeom prst="rect">
            <a:avLst/>
          </a:prstGeom>
          <a:noFill/>
        </p:spPr>
        <p:txBody>
          <a:bodyPr vert="horz" wrap="none" lIns="45714" tIns="22857" rIns="45714" bIns="22857" rtlCol="0" anchor="t" anchorCtr="0">
            <a:spAutoFit/>
          </a:bodyPr>
          <a:lstStyle/>
          <a:p>
            <a:pPr algn="ctr" defTabSz="1088421" latinLnBrk="0"/>
            <a:r>
              <a:rPr lang="en-US" sz="4000" b="1" dirty="0">
                <a:solidFill>
                  <a:srgbClr val="212E35"/>
                </a:solidFill>
                <a:latin typeface="Century Gothic" panose="020B0502020202020204" pitchFamily="34" charset="0"/>
                <a:ea typeface="Roboto Light" charset="0"/>
                <a:cs typeface="Roboto Light" charset="0"/>
              </a:rPr>
              <a:t>+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="" xmlns:a16="http://schemas.microsoft.com/office/drawing/2014/main" id="{D1C910D3-24BA-6C12-1FF2-1047FDD2BD16}"/>
              </a:ext>
            </a:extLst>
          </p:cNvPr>
          <p:cNvSpPr txBox="1"/>
          <p:nvPr/>
        </p:nvSpPr>
        <p:spPr>
          <a:xfrm>
            <a:off x="4802252" y="3965772"/>
            <a:ext cx="2770939" cy="353937"/>
          </a:xfrm>
          <a:prstGeom prst="rect">
            <a:avLst/>
          </a:prstGeom>
        </p:spPr>
        <p:txBody>
          <a:bodyPr vert="horz" wrap="none" lIns="45714" tIns="22857" rIns="45714" bIns="22857" rtlCol="0" anchor="t" anchorCtr="0">
            <a:spAutoFit/>
          </a:bodyPr>
          <a:lstStyle/>
          <a:p>
            <a:pPr algn="ctr" defTabSz="1088421" latinLnBrk="0"/>
            <a:r>
              <a:rPr lang="en-US" sz="2000" b="1" dirty="0">
                <a:solidFill>
                  <a:srgbClr val="212E35"/>
                </a:solidFill>
                <a:latin typeface="Century Gothic" panose="020B0502020202020204" pitchFamily="34" charset="0"/>
                <a:ea typeface="Roboto Light" charset="0"/>
                <a:cs typeface="Roboto Light" charset="0"/>
              </a:rPr>
              <a:t>No Data Rebalancing</a:t>
            </a:r>
          </a:p>
        </p:txBody>
      </p:sp>
      <p:sp>
        <p:nvSpPr>
          <p:cNvPr id="133" name="Rectangle: Rounded Corners 58">
            <a:extLst>
              <a:ext uri="{FF2B5EF4-FFF2-40B4-BE49-F238E27FC236}">
                <a16:creationId xmlns="" xmlns:a16="http://schemas.microsoft.com/office/drawing/2014/main" id="{9D6FE351-72AF-5E75-3DB8-EF677E463B0E}"/>
              </a:ext>
            </a:extLst>
          </p:cNvPr>
          <p:cNvSpPr/>
          <p:nvPr/>
        </p:nvSpPr>
        <p:spPr>
          <a:xfrm>
            <a:off x="653877" y="2754003"/>
            <a:ext cx="7056512" cy="1089100"/>
          </a:xfrm>
          <a:prstGeom prst="roundRect">
            <a:avLst>
              <a:gd name="adj" fmla="val 9621"/>
            </a:avLst>
          </a:prstGeom>
          <a:noFill/>
          <a:ln w="12700" cap="flat" cmpd="sng" algn="ctr">
            <a:solidFill>
              <a:srgbClr val="0079EF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4" name="failed_node">
            <a:extLst>
              <a:ext uri="{FF2B5EF4-FFF2-40B4-BE49-F238E27FC236}">
                <a16:creationId xmlns="" xmlns:a16="http://schemas.microsoft.com/office/drawing/2014/main" id="{007B9A10-CF3E-0805-027A-F46FF4F0AD08}"/>
              </a:ext>
            </a:extLst>
          </p:cNvPr>
          <p:cNvSpPr/>
          <p:nvPr/>
        </p:nvSpPr>
        <p:spPr bwMode="ltGray">
          <a:xfrm>
            <a:off x="10293871" y="2843235"/>
            <a:ext cx="607933" cy="788506"/>
          </a:xfrm>
          <a:prstGeom prst="roundRect">
            <a:avLst>
              <a:gd name="adj" fmla="val 7669"/>
            </a:avLst>
          </a:prstGeom>
          <a:solidFill>
            <a:srgbClr val="0079EF"/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Compute</a:t>
            </a:r>
          </a:p>
          <a:p>
            <a:pPr marL="0" marR="0" lvl="0" indent="0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Node</a:t>
            </a:r>
          </a:p>
          <a:p>
            <a:pPr marL="0" marR="0" lvl="0" indent="0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5" name="Rounded Rectangle 89">
            <a:extLst>
              <a:ext uri="{FF2B5EF4-FFF2-40B4-BE49-F238E27FC236}">
                <a16:creationId xmlns="" xmlns:a16="http://schemas.microsoft.com/office/drawing/2014/main" id="{26C8B915-C4A5-1495-9216-B788C8D07D35}"/>
              </a:ext>
            </a:extLst>
          </p:cNvPr>
          <p:cNvSpPr/>
          <p:nvPr/>
        </p:nvSpPr>
        <p:spPr bwMode="ltGray">
          <a:xfrm>
            <a:off x="8912937" y="2839731"/>
            <a:ext cx="607933" cy="788506"/>
          </a:xfrm>
          <a:prstGeom prst="roundRect">
            <a:avLst>
              <a:gd name="adj" fmla="val 7669"/>
            </a:avLst>
          </a:prstGeom>
          <a:solidFill>
            <a:srgbClr val="0079EF"/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Compute</a:t>
            </a:r>
          </a:p>
          <a:p>
            <a:pPr marL="0" marR="0" lvl="0" indent="0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Node</a:t>
            </a:r>
          </a:p>
          <a:p>
            <a:pPr marL="0" marR="0" lvl="0" indent="0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6" name="Flowchart: Magnetic Disk 90">
            <a:extLst>
              <a:ext uri="{FF2B5EF4-FFF2-40B4-BE49-F238E27FC236}">
                <a16:creationId xmlns="" xmlns:a16="http://schemas.microsoft.com/office/drawing/2014/main" id="{2C2F64A7-C574-89C5-A02F-528206C8CAFA}"/>
              </a:ext>
            </a:extLst>
          </p:cNvPr>
          <p:cNvSpPr/>
          <p:nvPr/>
        </p:nvSpPr>
        <p:spPr bwMode="ltGray">
          <a:xfrm>
            <a:off x="9049409" y="3368908"/>
            <a:ext cx="361073" cy="414978"/>
          </a:xfrm>
          <a:prstGeom prst="flowChartMagneticDisk">
            <a:avLst/>
          </a:prstGeom>
          <a:solidFill>
            <a:srgbClr val="0079EF">
              <a:lumMod val="40000"/>
              <a:lumOff val="60000"/>
            </a:srgbClr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7" name="Rounded Rectangle 95">
            <a:extLst>
              <a:ext uri="{FF2B5EF4-FFF2-40B4-BE49-F238E27FC236}">
                <a16:creationId xmlns="" xmlns:a16="http://schemas.microsoft.com/office/drawing/2014/main" id="{6FA1ED05-53F8-7106-7E56-BAAD826A3B2A}"/>
              </a:ext>
            </a:extLst>
          </p:cNvPr>
          <p:cNvSpPr/>
          <p:nvPr/>
        </p:nvSpPr>
        <p:spPr bwMode="ltGray">
          <a:xfrm>
            <a:off x="9585845" y="2846056"/>
            <a:ext cx="607933" cy="788506"/>
          </a:xfrm>
          <a:prstGeom prst="roundRect">
            <a:avLst>
              <a:gd name="adj" fmla="val 7669"/>
            </a:avLst>
          </a:prstGeom>
          <a:solidFill>
            <a:srgbClr val="0079EF"/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Compute</a:t>
            </a:r>
          </a:p>
          <a:p>
            <a:pPr marL="0" marR="0" lvl="0" indent="0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Node</a:t>
            </a:r>
          </a:p>
          <a:p>
            <a:pPr marL="0" marR="0" lvl="0" indent="0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8" name="Flowchart: Magnetic Disk 96">
            <a:extLst>
              <a:ext uri="{FF2B5EF4-FFF2-40B4-BE49-F238E27FC236}">
                <a16:creationId xmlns="" xmlns:a16="http://schemas.microsoft.com/office/drawing/2014/main" id="{E39F50BD-4E93-9FFB-2CA7-263D642BF106}"/>
              </a:ext>
            </a:extLst>
          </p:cNvPr>
          <p:cNvSpPr/>
          <p:nvPr/>
        </p:nvSpPr>
        <p:spPr bwMode="ltGray">
          <a:xfrm>
            <a:off x="9712627" y="3368908"/>
            <a:ext cx="355894" cy="414978"/>
          </a:xfrm>
          <a:prstGeom prst="flowChartMagneticDisk">
            <a:avLst/>
          </a:prstGeom>
          <a:solidFill>
            <a:srgbClr val="0079EF">
              <a:lumMod val="40000"/>
              <a:lumOff val="60000"/>
            </a:srgbClr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9" name="Straight Arrow Connector 103">
            <a:extLst>
              <a:ext uri="{FF2B5EF4-FFF2-40B4-BE49-F238E27FC236}">
                <a16:creationId xmlns="" xmlns:a16="http://schemas.microsoft.com/office/drawing/2014/main" id="{803E1CFF-BB27-E607-90FB-9C2E6ED8BF48}"/>
              </a:ext>
            </a:extLst>
          </p:cNvPr>
          <p:cNvCxnSpPr>
            <a:cxnSpLocks/>
            <a:stCxn id="138" idx="3"/>
            <a:endCxn id="97" idx="0"/>
          </p:cNvCxnSpPr>
          <p:nvPr/>
        </p:nvCxnSpPr>
        <p:spPr>
          <a:xfrm flipH="1">
            <a:off x="6096000" y="3783886"/>
            <a:ext cx="3794574" cy="1057946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headEnd type="triangle"/>
            <a:tailEnd type="triangle"/>
          </a:ln>
          <a:effectLst/>
        </p:spPr>
      </p:cxnSp>
      <p:cxnSp>
        <p:nvCxnSpPr>
          <p:cNvPr id="140" name="Straight Arrow Connector 104">
            <a:extLst>
              <a:ext uri="{FF2B5EF4-FFF2-40B4-BE49-F238E27FC236}">
                <a16:creationId xmlns="" xmlns:a16="http://schemas.microsoft.com/office/drawing/2014/main" id="{2266F1C9-A6B4-27BE-E550-56F8B5C2B55F}"/>
              </a:ext>
            </a:extLst>
          </p:cNvPr>
          <p:cNvCxnSpPr>
            <a:cxnSpLocks/>
            <a:stCxn id="136" idx="3"/>
            <a:endCxn id="97" idx="0"/>
          </p:cNvCxnSpPr>
          <p:nvPr/>
        </p:nvCxnSpPr>
        <p:spPr>
          <a:xfrm flipH="1">
            <a:off x="6096000" y="3783886"/>
            <a:ext cx="3133946" cy="1057946"/>
          </a:xfrm>
          <a:prstGeom prst="straightConnector1">
            <a:avLst/>
          </a:prstGeom>
          <a:noFill/>
          <a:ln w="12700" cap="flat" cmpd="sng" algn="ctr">
            <a:solidFill>
              <a:srgbClr val="00CC00"/>
            </a:solidFill>
            <a:prstDash val="solid"/>
            <a:miter lim="800000"/>
            <a:headEnd type="triangle"/>
            <a:tailEnd type="triangle"/>
          </a:ln>
          <a:effectLst/>
        </p:spPr>
      </p:cxnSp>
      <p:cxnSp>
        <p:nvCxnSpPr>
          <p:cNvPr id="141" name="Straight Arrow Connector 105">
            <a:extLst>
              <a:ext uri="{FF2B5EF4-FFF2-40B4-BE49-F238E27FC236}">
                <a16:creationId xmlns="" xmlns:a16="http://schemas.microsoft.com/office/drawing/2014/main" id="{0CA40D6F-CCC6-D772-841E-5DEC6E7C9CB2}"/>
              </a:ext>
            </a:extLst>
          </p:cNvPr>
          <p:cNvCxnSpPr>
            <a:cxnSpLocks/>
            <a:stCxn id="152" idx="3"/>
            <a:endCxn id="97" idx="0"/>
          </p:cNvCxnSpPr>
          <p:nvPr/>
        </p:nvCxnSpPr>
        <p:spPr>
          <a:xfrm flipH="1">
            <a:off x="6096000" y="3783886"/>
            <a:ext cx="4505272" cy="1057946"/>
          </a:xfrm>
          <a:prstGeom prst="straightConnector1">
            <a:avLst/>
          </a:prstGeom>
          <a:noFill/>
          <a:ln w="12700" cap="flat" cmpd="sng" algn="ctr">
            <a:solidFill>
              <a:srgbClr val="0000FF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142" name="Rounded Rectangle 107">
            <a:extLst>
              <a:ext uri="{FF2B5EF4-FFF2-40B4-BE49-F238E27FC236}">
                <a16:creationId xmlns="" xmlns:a16="http://schemas.microsoft.com/office/drawing/2014/main" id="{EC28AF48-4F50-A182-1ACE-75D9E40F24BF}"/>
              </a:ext>
            </a:extLst>
          </p:cNvPr>
          <p:cNvSpPr/>
          <p:nvPr/>
        </p:nvSpPr>
        <p:spPr bwMode="ltGray">
          <a:xfrm>
            <a:off x="8227936" y="2839731"/>
            <a:ext cx="607933" cy="788506"/>
          </a:xfrm>
          <a:prstGeom prst="roundRect">
            <a:avLst>
              <a:gd name="adj" fmla="val 7669"/>
            </a:avLst>
          </a:prstGeom>
          <a:solidFill>
            <a:srgbClr val="0079EF"/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Compute</a:t>
            </a:r>
          </a:p>
          <a:p>
            <a:pPr marL="0" marR="0" lvl="0" indent="0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Node</a:t>
            </a:r>
          </a:p>
        </p:txBody>
      </p:sp>
      <p:sp>
        <p:nvSpPr>
          <p:cNvPr id="143" name="Flowchart: Magnetic Disk 108">
            <a:extLst>
              <a:ext uri="{FF2B5EF4-FFF2-40B4-BE49-F238E27FC236}">
                <a16:creationId xmlns="" xmlns:a16="http://schemas.microsoft.com/office/drawing/2014/main" id="{37CCE50F-3C40-658A-FC49-C6AF1B6EB909}"/>
              </a:ext>
            </a:extLst>
          </p:cNvPr>
          <p:cNvSpPr/>
          <p:nvPr/>
        </p:nvSpPr>
        <p:spPr bwMode="ltGray">
          <a:xfrm>
            <a:off x="8364407" y="3368908"/>
            <a:ext cx="361073" cy="414978"/>
          </a:xfrm>
          <a:prstGeom prst="flowChartMagneticDisk">
            <a:avLst/>
          </a:prstGeom>
          <a:solidFill>
            <a:srgbClr val="0079EF">
              <a:lumMod val="40000"/>
              <a:lumOff val="60000"/>
            </a:srgbClr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44" name="Straight Arrow Connector 110">
            <a:extLst>
              <a:ext uri="{FF2B5EF4-FFF2-40B4-BE49-F238E27FC236}">
                <a16:creationId xmlns="" xmlns:a16="http://schemas.microsoft.com/office/drawing/2014/main" id="{32FCC900-7ABD-FC06-C108-9A66CE50DD96}"/>
              </a:ext>
            </a:extLst>
          </p:cNvPr>
          <p:cNvCxnSpPr>
            <a:cxnSpLocks/>
            <a:stCxn id="143" idx="3"/>
          </p:cNvCxnSpPr>
          <p:nvPr/>
        </p:nvCxnSpPr>
        <p:spPr>
          <a:xfrm flipH="1">
            <a:off x="5936600" y="3783886"/>
            <a:ext cx="2608344" cy="1119040"/>
          </a:xfrm>
          <a:prstGeom prst="straightConnector1">
            <a:avLst/>
          </a:prstGeom>
          <a:noFill/>
          <a:ln w="12700" cap="flat" cmpd="sng" algn="ctr">
            <a:solidFill>
              <a:srgbClr val="FFC000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145" name="Freeform 119">
            <a:extLst>
              <a:ext uri="{FF2B5EF4-FFF2-40B4-BE49-F238E27FC236}">
                <a16:creationId xmlns="" xmlns:a16="http://schemas.microsoft.com/office/drawing/2014/main" id="{54C2BA67-12DD-B584-8999-F255D8A2DD9E}"/>
              </a:ext>
            </a:extLst>
          </p:cNvPr>
          <p:cNvSpPr/>
          <p:nvPr/>
        </p:nvSpPr>
        <p:spPr bwMode="ltGray">
          <a:xfrm rot="16200000">
            <a:off x="9808640" y="3503035"/>
            <a:ext cx="173888" cy="176189"/>
          </a:xfrm>
          <a:custGeom>
            <a:avLst/>
            <a:gdLst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826852 w 2611663"/>
              <a:gd name="connsiteY2" fmla="*/ 2607013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2639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7468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11952"/>
              <a:gd name="connsiteX1" fmla="*/ 0 w 2597286"/>
              <a:gd name="connsiteY1" fmla="*/ 2607013 h 2611952"/>
              <a:gd name="connsiteX2" fmla="*/ 1224580 w 2597286"/>
              <a:gd name="connsiteY2" fmla="*/ 2611953 h 2611952"/>
              <a:gd name="connsiteX3" fmla="*/ 2592356 w 2597286"/>
              <a:gd name="connsiteY3" fmla="*/ 1258167 h 2611952"/>
              <a:gd name="connsiteX4" fmla="*/ 2597286 w 2597286"/>
              <a:gd name="connsiteY4" fmla="*/ 0 h 2611952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6 w 2597286"/>
              <a:gd name="connsiteY2" fmla="*/ 1258167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83020 w 2597286"/>
              <a:gd name="connsiteY2" fmla="*/ 2603480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7 w 2597286"/>
              <a:gd name="connsiteY2" fmla="*/ 2603480 h 2607014"/>
              <a:gd name="connsiteX3" fmla="*/ 2597286 w 2597286"/>
              <a:gd name="connsiteY3" fmla="*/ 0 h 2607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7286" h="2607014">
                <a:moveTo>
                  <a:pt x="2597286" y="0"/>
                </a:moveTo>
                <a:cubicBezTo>
                  <a:pt x="1138136" y="22698"/>
                  <a:pt x="0" y="1183532"/>
                  <a:pt x="0" y="2607013"/>
                </a:cubicBezTo>
                <a:lnTo>
                  <a:pt x="2592357" y="2603480"/>
                </a:lnTo>
                <a:cubicBezTo>
                  <a:pt x="2594000" y="2184091"/>
                  <a:pt x="2595643" y="419389"/>
                  <a:pt x="2597286" y="0"/>
                </a:cubicBezTo>
                <a:close/>
              </a:path>
            </a:pathLst>
          </a:custGeom>
          <a:solidFill>
            <a:srgbClr val="FF0000"/>
          </a:solidFill>
          <a:ln w="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6" name="Freeform 121">
            <a:extLst>
              <a:ext uri="{FF2B5EF4-FFF2-40B4-BE49-F238E27FC236}">
                <a16:creationId xmlns="" xmlns:a16="http://schemas.microsoft.com/office/drawing/2014/main" id="{6AF4F186-16B1-5160-3963-7E1033CD94A8}"/>
              </a:ext>
            </a:extLst>
          </p:cNvPr>
          <p:cNvSpPr/>
          <p:nvPr/>
        </p:nvSpPr>
        <p:spPr bwMode="ltGray">
          <a:xfrm>
            <a:off x="8428701" y="3509129"/>
            <a:ext cx="173888" cy="176189"/>
          </a:xfrm>
          <a:custGeom>
            <a:avLst/>
            <a:gdLst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826852 w 2611663"/>
              <a:gd name="connsiteY2" fmla="*/ 2607013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2639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7468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11952"/>
              <a:gd name="connsiteX1" fmla="*/ 0 w 2597286"/>
              <a:gd name="connsiteY1" fmla="*/ 2607013 h 2611952"/>
              <a:gd name="connsiteX2" fmla="*/ 1224580 w 2597286"/>
              <a:gd name="connsiteY2" fmla="*/ 2611953 h 2611952"/>
              <a:gd name="connsiteX3" fmla="*/ 2592356 w 2597286"/>
              <a:gd name="connsiteY3" fmla="*/ 1258167 h 2611952"/>
              <a:gd name="connsiteX4" fmla="*/ 2597286 w 2597286"/>
              <a:gd name="connsiteY4" fmla="*/ 0 h 2611952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6 w 2597286"/>
              <a:gd name="connsiteY2" fmla="*/ 1258167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83020 w 2597286"/>
              <a:gd name="connsiteY2" fmla="*/ 2603480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7 w 2597286"/>
              <a:gd name="connsiteY2" fmla="*/ 2603480 h 2607014"/>
              <a:gd name="connsiteX3" fmla="*/ 2597286 w 2597286"/>
              <a:gd name="connsiteY3" fmla="*/ 0 h 2607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7286" h="2607014">
                <a:moveTo>
                  <a:pt x="2597286" y="0"/>
                </a:moveTo>
                <a:cubicBezTo>
                  <a:pt x="1138136" y="22698"/>
                  <a:pt x="0" y="1183532"/>
                  <a:pt x="0" y="2607013"/>
                </a:cubicBezTo>
                <a:lnTo>
                  <a:pt x="2592357" y="2603480"/>
                </a:lnTo>
                <a:cubicBezTo>
                  <a:pt x="2594000" y="2184091"/>
                  <a:pt x="2595643" y="419389"/>
                  <a:pt x="2597286" y="0"/>
                </a:cubicBezTo>
                <a:close/>
              </a:path>
            </a:pathLst>
          </a:custGeom>
          <a:solidFill>
            <a:srgbClr val="FFC000"/>
          </a:solidFill>
          <a:ln w="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7" name="Freeform 122">
            <a:extLst>
              <a:ext uri="{FF2B5EF4-FFF2-40B4-BE49-F238E27FC236}">
                <a16:creationId xmlns="" xmlns:a16="http://schemas.microsoft.com/office/drawing/2014/main" id="{2E977620-2631-BAA4-7A1F-289CBE42A05D}"/>
              </a:ext>
            </a:extLst>
          </p:cNvPr>
          <p:cNvSpPr/>
          <p:nvPr/>
        </p:nvSpPr>
        <p:spPr bwMode="ltGray">
          <a:xfrm rot="5400000">
            <a:off x="9163833" y="3503035"/>
            <a:ext cx="173888" cy="176189"/>
          </a:xfrm>
          <a:custGeom>
            <a:avLst/>
            <a:gdLst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826852 w 2611663"/>
              <a:gd name="connsiteY2" fmla="*/ 2607013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2639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7468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11952"/>
              <a:gd name="connsiteX1" fmla="*/ 0 w 2597286"/>
              <a:gd name="connsiteY1" fmla="*/ 2607013 h 2611952"/>
              <a:gd name="connsiteX2" fmla="*/ 1224580 w 2597286"/>
              <a:gd name="connsiteY2" fmla="*/ 2611953 h 2611952"/>
              <a:gd name="connsiteX3" fmla="*/ 2592356 w 2597286"/>
              <a:gd name="connsiteY3" fmla="*/ 1258167 h 2611952"/>
              <a:gd name="connsiteX4" fmla="*/ 2597286 w 2597286"/>
              <a:gd name="connsiteY4" fmla="*/ 0 h 2611952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6 w 2597286"/>
              <a:gd name="connsiteY2" fmla="*/ 1258167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83020 w 2597286"/>
              <a:gd name="connsiteY2" fmla="*/ 2603480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7 w 2597286"/>
              <a:gd name="connsiteY2" fmla="*/ 2603480 h 2607014"/>
              <a:gd name="connsiteX3" fmla="*/ 2597286 w 2597286"/>
              <a:gd name="connsiteY3" fmla="*/ 0 h 2607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7286" h="2607014">
                <a:moveTo>
                  <a:pt x="2597286" y="0"/>
                </a:moveTo>
                <a:cubicBezTo>
                  <a:pt x="1138136" y="22698"/>
                  <a:pt x="0" y="1183532"/>
                  <a:pt x="0" y="2607013"/>
                </a:cubicBezTo>
                <a:lnTo>
                  <a:pt x="2592357" y="2603480"/>
                </a:lnTo>
                <a:cubicBezTo>
                  <a:pt x="2594000" y="2184091"/>
                  <a:pt x="2595643" y="419389"/>
                  <a:pt x="2597286" y="0"/>
                </a:cubicBezTo>
                <a:close/>
              </a:path>
            </a:pathLst>
          </a:custGeom>
          <a:solidFill>
            <a:srgbClr val="00CC00"/>
          </a:solidFill>
          <a:ln w="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8" name="Rectangle: Rounded Corners 3">
            <a:extLst>
              <a:ext uri="{FF2B5EF4-FFF2-40B4-BE49-F238E27FC236}">
                <a16:creationId xmlns="" xmlns:a16="http://schemas.microsoft.com/office/drawing/2014/main" id="{08A4B190-4A11-1E90-88E9-233F239E1F27}"/>
              </a:ext>
            </a:extLst>
          </p:cNvPr>
          <p:cNvSpPr/>
          <p:nvPr/>
        </p:nvSpPr>
        <p:spPr>
          <a:xfrm>
            <a:off x="8047246" y="2776594"/>
            <a:ext cx="3022910" cy="1089100"/>
          </a:xfrm>
          <a:prstGeom prst="roundRect">
            <a:avLst>
              <a:gd name="adj" fmla="val 9621"/>
            </a:avLst>
          </a:prstGeom>
          <a:noFill/>
          <a:ln w="12700" cap="flat" cmpd="sng" algn="ctr">
            <a:solidFill>
              <a:srgbClr val="0079EF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49" name="Group 4">
            <a:extLst>
              <a:ext uri="{FF2B5EF4-FFF2-40B4-BE49-F238E27FC236}">
                <a16:creationId xmlns="" xmlns:a16="http://schemas.microsoft.com/office/drawing/2014/main" id="{0FD40DF9-3B17-7467-AFD9-9EE286C2B9D8}"/>
              </a:ext>
            </a:extLst>
          </p:cNvPr>
          <p:cNvGrpSpPr/>
          <p:nvPr/>
        </p:nvGrpSpPr>
        <p:grpSpPr>
          <a:xfrm>
            <a:off x="10293871" y="2843235"/>
            <a:ext cx="607933" cy="788506"/>
            <a:chOff x="5842188" y="2127489"/>
            <a:chExt cx="607933" cy="788506"/>
          </a:xfrm>
          <a:solidFill>
            <a:srgbClr val="0079EF"/>
          </a:solidFill>
        </p:grpSpPr>
        <p:sp>
          <p:nvSpPr>
            <p:cNvPr id="150" name="Rounded Rectangle 100">
              <a:extLst>
                <a:ext uri="{FF2B5EF4-FFF2-40B4-BE49-F238E27FC236}">
                  <a16:creationId xmlns="" xmlns:a16="http://schemas.microsoft.com/office/drawing/2014/main" id="{967FF09A-83D8-13B0-B877-3A323FC07587}"/>
                </a:ext>
              </a:extLst>
            </p:cNvPr>
            <p:cNvSpPr/>
            <p:nvPr/>
          </p:nvSpPr>
          <p:spPr bwMode="ltGray">
            <a:xfrm>
              <a:off x="5842188" y="2127489"/>
              <a:ext cx="607933" cy="788506"/>
            </a:xfrm>
            <a:prstGeom prst="roundRect">
              <a:avLst>
                <a:gd name="adj" fmla="val 7669"/>
              </a:avLst>
            </a:prstGeom>
            <a:grpFill/>
            <a:ln w="1905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t" anchorCtr="0"/>
            <a:lstStyle/>
            <a:p>
              <a:pPr marL="0" marR="0" lvl="0" indent="0" defTabSz="914217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51" name="Picture 2">
              <a:extLst>
                <a:ext uri="{FF2B5EF4-FFF2-40B4-BE49-F238E27FC236}">
                  <a16:creationId xmlns="" xmlns:a16="http://schemas.microsoft.com/office/drawing/2014/main" id="{447005B7-1D3F-2352-063C-480667EC4D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biLevel thresh="25000"/>
            </a:blip>
            <a:stretch>
              <a:fillRect/>
            </a:stretch>
          </p:blipFill>
          <p:spPr>
            <a:xfrm>
              <a:off x="5952712" y="2247999"/>
              <a:ext cx="377985" cy="396275"/>
            </a:xfrm>
            <a:prstGeom prst="rect">
              <a:avLst/>
            </a:prstGeom>
            <a:grpFill/>
          </p:spPr>
        </p:pic>
      </p:grpSp>
      <p:sp>
        <p:nvSpPr>
          <p:cNvPr id="152" name="Flowchart: Magnetic Disk 101">
            <a:extLst>
              <a:ext uri="{FF2B5EF4-FFF2-40B4-BE49-F238E27FC236}">
                <a16:creationId xmlns="" xmlns:a16="http://schemas.microsoft.com/office/drawing/2014/main" id="{B3570ED9-0F66-41C0-5EBB-A0B3F34C66A7}"/>
              </a:ext>
            </a:extLst>
          </p:cNvPr>
          <p:cNvSpPr/>
          <p:nvPr/>
        </p:nvSpPr>
        <p:spPr bwMode="ltGray">
          <a:xfrm>
            <a:off x="10436379" y="3368908"/>
            <a:ext cx="329785" cy="414978"/>
          </a:xfrm>
          <a:prstGeom prst="flowChartMagneticDisk">
            <a:avLst/>
          </a:prstGeom>
          <a:solidFill>
            <a:srgbClr val="0079EF">
              <a:lumMod val="40000"/>
              <a:lumOff val="60000"/>
            </a:srgbClr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" name="Freeform 120">
            <a:extLst>
              <a:ext uri="{FF2B5EF4-FFF2-40B4-BE49-F238E27FC236}">
                <a16:creationId xmlns="" xmlns:a16="http://schemas.microsoft.com/office/drawing/2014/main" id="{2A783ECA-1281-E533-ED92-AED0B8D0AD96}"/>
              </a:ext>
            </a:extLst>
          </p:cNvPr>
          <p:cNvSpPr/>
          <p:nvPr/>
        </p:nvSpPr>
        <p:spPr bwMode="ltGray">
          <a:xfrm rot="10800000">
            <a:off x="10529095" y="3509128"/>
            <a:ext cx="173888" cy="176189"/>
          </a:xfrm>
          <a:custGeom>
            <a:avLst/>
            <a:gdLst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826852 w 2611663"/>
              <a:gd name="connsiteY2" fmla="*/ 2607013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2639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7468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11952"/>
              <a:gd name="connsiteX1" fmla="*/ 0 w 2597286"/>
              <a:gd name="connsiteY1" fmla="*/ 2607013 h 2611952"/>
              <a:gd name="connsiteX2" fmla="*/ 1224580 w 2597286"/>
              <a:gd name="connsiteY2" fmla="*/ 2611953 h 2611952"/>
              <a:gd name="connsiteX3" fmla="*/ 2592356 w 2597286"/>
              <a:gd name="connsiteY3" fmla="*/ 1258167 h 2611952"/>
              <a:gd name="connsiteX4" fmla="*/ 2597286 w 2597286"/>
              <a:gd name="connsiteY4" fmla="*/ 0 h 2611952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6 w 2597286"/>
              <a:gd name="connsiteY2" fmla="*/ 1258167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83020 w 2597286"/>
              <a:gd name="connsiteY2" fmla="*/ 2603480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7 w 2597286"/>
              <a:gd name="connsiteY2" fmla="*/ 2603480 h 2607014"/>
              <a:gd name="connsiteX3" fmla="*/ 2597286 w 2597286"/>
              <a:gd name="connsiteY3" fmla="*/ 0 h 2607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7286" h="2607014">
                <a:moveTo>
                  <a:pt x="2597286" y="0"/>
                </a:moveTo>
                <a:cubicBezTo>
                  <a:pt x="1138136" y="22698"/>
                  <a:pt x="0" y="1183532"/>
                  <a:pt x="0" y="2607013"/>
                </a:cubicBezTo>
                <a:lnTo>
                  <a:pt x="2592357" y="2603480"/>
                </a:lnTo>
                <a:cubicBezTo>
                  <a:pt x="2594000" y="2184091"/>
                  <a:pt x="2595643" y="419389"/>
                  <a:pt x="2597286" y="0"/>
                </a:cubicBezTo>
                <a:close/>
              </a:path>
            </a:pathLst>
          </a:custGeom>
          <a:solidFill>
            <a:srgbClr val="0000FF"/>
          </a:solidFill>
          <a:ln w="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4" name="파랑">
            <a:extLst>
              <a:ext uri="{FF2B5EF4-FFF2-40B4-BE49-F238E27FC236}">
                <a16:creationId xmlns="" xmlns:a16="http://schemas.microsoft.com/office/drawing/2014/main" id="{42E0606A-134A-64B1-B093-407F02D9D38A}"/>
              </a:ext>
            </a:extLst>
          </p:cNvPr>
          <p:cNvSpPr/>
          <p:nvPr/>
        </p:nvSpPr>
        <p:spPr bwMode="ltGray">
          <a:xfrm rot="10800000">
            <a:off x="8613337" y="3681313"/>
            <a:ext cx="173888" cy="176189"/>
          </a:xfrm>
          <a:custGeom>
            <a:avLst/>
            <a:gdLst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826852 w 2597286"/>
              <a:gd name="connsiteY2" fmla="*/ 2607013 h 2607013"/>
              <a:gd name="connsiteX3" fmla="*/ 2597286 w 2597286"/>
              <a:gd name="connsiteY3" fmla="*/ 826851 h 2607013"/>
              <a:gd name="connsiteX4" fmla="*/ 2597286 w 2597286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826852 w 2611663"/>
              <a:gd name="connsiteY2" fmla="*/ 2607013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611663"/>
              <a:gd name="connsiteY0" fmla="*/ 0 h 2607013"/>
              <a:gd name="connsiteX1" fmla="*/ 0 w 2611663"/>
              <a:gd name="connsiteY1" fmla="*/ 2607013 h 2607013"/>
              <a:gd name="connsiteX2" fmla="*/ 1229406 w 2611663"/>
              <a:gd name="connsiteY2" fmla="*/ 2592639 h 2607013"/>
              <a:gd name="connsiteX3" fmla="*/ 2611663 w 2611663"/>
              <a:gd name="connsiteY3" fmla="*/ 1258163 h 2607013"/>
              <a:gd name="connsiteX4" fmla="*/ 2597286 w 2611663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2639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07013"/>
              <a:gd name="connsiteX1" fmla="*/ 0 w 2597286"/>
              <a:gd name="connsiteY1" fmla="*/ 2607013 h 2607013"/>
              <a:gd name="connsiteX2" fmla="*/ 1229406 w 2597286"/>
              <a:gd name="connsiteY2" fmla="*/ 2597468 h 2607013"/>
              <a:gd name="connsiteX3" fmla="*/ 2592356 w 2597286"/>
              <a:gd name="connsiteY3" fmla="*/ 1258167 h 2607013"/>
              <a:gd name="connsiteX4" fmla="*/ 2597286 w 2597286"/>
              <a:gd name="connsiteY4" fmla="*/ 0 h 2607013"/>
              <a:gd name="connsiteX0" fmla="*/ 2597286 w 2597286"/>
              <a:gd name="connsiteY0" fmla="*/ 0 h 2611952"/>
              <a:gd name="connsiteX1" fmla="*/ 0 w 2597286"/>
              <a:gd name="connsiteY1" fmla="*/ 2607013 h 2611952"/>
              <a:gd name="connsiteX2" fmla="*/ 1224580 w 2597286"/>
              <a:gd name="connsiteY2" fmla="*/ 2611953 h 2611952"/>
              <a:gd name="connsiteX3" fmla="*/ 2592356 w 2597286"/>
              <a:gd name="connsiteY3" fmla="*/ 1258167 h 2611952"/>
              <a:gd name="connsiteX4" fmla="*/ 2597286 w 2597286"/>
              <a:gd name="connsiteY4" fmla="*/ 0 h 2611952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6 w 2597286"/>
              <a:gd name="connsiteY2" fmla="*/ 1258167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83020 w 2597286"/>
              <a:gd name="connsiteY2" fmla="*/ 2603480 h 2607014"/>
              <a:gd name="connsiteX3" fmla="*/ 2597286 w 2597286"/>
              <a:gd name="connsiteY3" fmla="*/ 0 h 2607014"/>
              <a:gd name="connsiteX0" fmla="*/ 2597286 w 2597286"/>
              <a:gd name="connsiteY0" fmla="*/ 0 h 2607014"/>
              <a:gd name="connsiteX1" fmla="*/ 0 w 2597286"/>
              <a:gd name="connsiteY1" fmla="*/ 2607013 h 2607014"/>
              <a:gd name="connsiteX2" fmla="*/ 2592357 w 2597286"/>
              <a:gd name="connsiteY2" fmla="*/ 2603480 h 2607014"/>
              <a:gd name="connsiteX3" fmla="*/ 2597286 w 2597286"/>
              <a:gd name="connsiteY3" fmla="*/ 0 h 2607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7286" h="2607014">
                <a:moveTo>
                  <a:pt x="2597286" y="0"/>
                </a:moveTo>
                <a:cubicBezTo>
                  <a:pt x="1138136" y="22698"/>
                  <a:pt x="0" y="1183532"/>
                  <a:pt x="0" y="2607013"/>
                </a:cubicBezTo>
                <a:lnTo>
                  <a:pt x="2592357" y="2603480"/>
                </a:lnTo>
                <a:cubicBezTo>
                  <a:pt x="2594000" y="2184091"/>
                  <a:pt x="2595643" y="419389"/>
                  <a:pt x="2597286" y="0"/>
                </a:cubicBezTo>
                <a:close/>
              </a:path>
            </a:pathLst>
          </a:custGeom>
          <a:solidFill>
            <a:srgbClr val="0000FF"/>
          </a:solidFill>
          <a:ln w="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9875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2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2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  <p:bldP spid="103" grpId="0" animBg="1"/>
      <p:bldP spid="104" grpId="0" animBg="1"/>
      <p:bldP spid="105" grpId="0" animBg="1"/>
      <p:bldP spid="106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31" grpId="0"/>
      <p:bldP spid="132" grpId="0"/>
      <p:bldP spid="153" grpId="0" animBg="1"/>
      <p:bldP spid="153" grpId="1" animBg="1"/>
      <p:bldP spid="154" grpId="0" animBg="1"/>
      <p:bldP spid="154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15639" y="1387082"/>
            <a:ext cx="10891643" cy="9316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추가적으로 요구되는 업무의 특징이 기존의 업무와 다른 성격을 갖고 있거나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, workload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격리가 필요한 경우 서브클러스터를 추가 구성할 수 있습니다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. 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서브클러스터간 노드수나 노드 규격이 동일할 필요가 없어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workload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에 따라 최적의 컴퓨팅 자원을 적용할 수 있습니다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.</a:t>
            </a: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Pretendard Variable Medium" panose="02000003000000020004" pitchFamily="2" charset="-127"/>
            </a:endParaRPr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Scalability</a:t>
            </a:r>
            <a:r>
              <a:rPr lang="en-US" altLang="ko-KR" sz="1400" dirty="0">
                <a:latin typeface="+mj-ea"/>
                <a:ea typeface="+mj-ea"/>
              </a:rPr>
              <a:t> &gt; </a:t>
            </a:r>
            <a:r>
              <a:rPr lang="ko-KR" altLang="en-US" sz="1400" dirty="0">
                <a:solidFill>
                  <a:srgbClr val="0083CE"/>
                </a:solidFill>
                <a:latin typeface="+mj-ea"/>
                <a:ea typeface="+mj-ea"/>
              </a:rPr>
              <a:t>서브클러스터를 통한 워크로드 분리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83131" y="2745992"/>
            <a:ext cx="704762" cy="1085714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70266" y="2745992"/>
            <a:ext cx="723810" cy="1085714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76449" y="2745992"/>
            <a:ext cx="733333" cy="107619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92156" y="2736468"/>
            <a:ext cx="723810" cy="1066667"/>
          </a:xfrm>
          <a:prstGeom prst="rect">
            <a:avLst/>
          </a:prstGeom>
        </p:spPr>
      </p:pic>
      <p:sp>
        <p:nvSpPr>
          <p:cNvPr id="30" name="Rectangle: Rounded Corners 58">
            <a:extLst>
              <a:ext uri="{FF2B5EF4-FFF2-40B4-BE49-F238E27FC236}">
                <a16:creationId xmlns="" xmlns:a16="http://schemas.microsoft.com/office/drawing/2014/main" id="{6741902B-778F-4B8F-A39A-26DE238214D8}"/>
              </a:ext>
            </a:extLst>
          </p:cNvPr>
          <p:cNvSpPr/>
          <p:nvPr/>
        </p:nvSpPr>
        <p:spPr>
          <a:xfrm>
            <a:off x="1947749" y="2699368"/>
            <a:ext cx="2904633" cy="1198010"/>
          </a:xfrm>
          <a:prstGeom prst="roundRect">
            <a:avLst>
              <a:gd name="adj" fmla="val 4948"/>
            </a:avLst>
          </a:prstGeom>
          <a:noFill/>
          <a:ln>
            <a:solidFill>
              <a:srgbClr val="61B2E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0" name="그림 39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54061" y="4770991"/>
            <a:ext cx="1728319" cy="1719762"/>
          </a:xfrm>
          <a:prstGeom prst="rect">
            <a:avLst/>
          </a:prstGeom>
        </p:spPr>
      </p:pic>
      <p:cxnSp>
        <p:nvCxnSpPr>
          <p:cNvPr id="44" name="Straight Arrow Connector 110"/>
          <p:cNvCxnSpPr>
            <a:cxnSpLocks/>
            <a:stCxn id="7" idx="2"/>
            <a:endCxn id="40" idx="0"/>
          </p:cNvCxnSpPr>
          <p:nvPr/>
        </p:nvCxnSpPr>
        <p:spPr>
          <a:xfrm>
            <a:off x="2335512" y="3831706"/>
            <a:ext cx="2982709" cy="939285"/>
          </a:xfrm>
          <a:prstGeom prst="straightConnector1">
            <a:avLst/>
          </a:prstGeom>
          <a:ln w="1270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110"/>
          <p:cNvCxnSpPr>
            <a:cxnSpLocks/>
            <a:stCxn id="9" idx="2"/>
            <a:endCxn id="40" idx="0"/>
          </p:cNvCxnSpPr>
          <p:nvPr/>
        </p:nvCxnSpPr>
        <p:spPr>
          <a:xfrm>
            <a:off x="3032171" y="3831706"/>
            <a:ext cx="2286050" cy="939285"/>
          </a:xfrm>
          <a:prstGeom prst="straightConnector1">
            <a:avLst/>
          </a:prstGeom>
          <a:ln w="1270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110"/>
          <p:cNvCxnSpPr>
            <a:cxnSpLocks/>
            <a:stCxn id="10" idx="2"/>
            <a:endCxn id="40" idx="0"/>
          </p:cNvCxnSpPr>
          <p:nvPr/>
        </p:nvCxnSpPr>
        <p:spPr>
          <a:xfrm>
            <a:off x="3743116" y="3822182"/>
            <a:ext cx="1575105" cy="948809"/>
          </a:xfrm>
          <a:prstGeom prst="straightConnector1">
            <a:avLst/>
          </a:prstGeom>
          <a:ln w="1270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110"/>
          <p:cNvCxnSpPr>
            <a:cxnSpLocks/>
            <a:stCxn id="11" idx="2"/>
            <a:endCxn id="40" idx="0"/>
          </p:cNvCxnSpPr>
          <p:nvPr/>
        </p:nvCxnSpPr>
        <p:spPr>
          <a:xfrm>
            <a:off x="4454061" y="3803135"/>
            <a:ext cx="864160" cy="967856"/>
          </a:xfrm>
          <a:prstGeom prst="straightConnector1">
            <a:avLst/>
          </a:prstGeom>
          <a:ln w="1270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04DC5A35-9A84-40CE-B504-B0FBCB92F3AE}"/>
              </a:ext>
            </a:extLst>
          </p:cNvPr>
          <p:cNvSpPr txBox="1"/>
          <p:nvPr/>
        </p:nvSpPr>
        <p:spPr>
          <a:xfrm>
            <a:off x="2576955" y="2371744"/>
            <a:ext cx="1646221" cy="318100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/>
            <a:r>
              <a:rPr lang="en-GB" sz="1467" b="1" dirty="0">
                <a:solidFill>
                  <a:schemeClr val="tx2"/>
                </a:solidFill>
                <a:latin typeface="+mn-lt"/>
                <a:ea typeface="Roboto Light" charset="0"/>
                <a:cs typeface="Roboto Light" charset="0"/>
              </a:rPr>
              <a:t>Primary subcluster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="" xmlns:a16="http://schemas.microsoft.com/office/drawing/2014/main" id="{05FC0091-99C3-4B1C-869B-37E147E20D1E}"/>
              </a:ext>
            </a:extLst>
          </p:cNvPr>
          <p:cNvSpPr txBox="1"/>
          <p:nvPr/>
        </p:nvSpPr>
        <p:spPr>
          <a:xfrm>
            <a:off x="7919687" y="2403318"/>
            <a:ext cx="1844096" cy="318100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/>
            <a:r>
              <a:rPr lang="en-GB" sz="1467" b="1" dirty="0">
                <a:solidFill>
                  <a:schemeClr val="tx2"/>
                </a:solidFill>
                <a:ea typeface="Roboto Light" charset="0"/>
                <a:cs typeface="Roboto Light" charset="0"/>
              </a:rPr>
              <a:t>S</a:t>
            </a:r>
            <a:r>
              <a:rPr lang="en-GB" sz="1467" b="1" dirty="0">
                <a:solidFill>
                  <a:schemeClr val="tx2"/>
                </a:solidFill>
                <a:latin typeface="+mn-lt"/>
                <a:ea typeface="Roboto Light" charset="0"/>
                <a:cs typeface="Roboto Light" charset="0"/>
              </a:rPr>
              <a:t>econdary subcluster</a:t>
            </a:r>
          </a:p>
        </p:txBody>
      </p:sp>
      <p:sp>
        <p:nvSpPr>
          <p:cNvPr id="57" name="Rectangle: Rounded Corners 58">
            <a:extLst>
              <a:ext uri="{FF2B5EF4-FFF2-40B4-BE49-F238E27FC236}">
                <a16:creationId xmlns="" xmlns:a16="http://schemas.microsoft.com/office/drawing/2014/main" id="{6741902B-778F-4B8F-A39A-26DE238214D8}"/>
              </a:ext>
            </a:extLst>
          </p:cNvPr>
          <p:cNvSpPr/>
          <p:nvPr/>
        </p:nvSpPr>
        <p:spPr>
          <a:xfrm>
            <a:off x="7436073" y="2699367"/>
            <a:ext cx="2946456" cy="2283369"/>
          </a:xfrm>
          <a:prstGeom prst="roundRect">
            <a:avLst>
              <a:gd name="adj" fmla="val 3083"/>
            </a:avLst>
          </a:prstGeom>
          <a:noFill/>
          <a:ln>
            <a:solidFill>
              <a:srgbClr val="61B2E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8" name="Straight Arrow Connector 110"/>
          <p:cNvCxnSpPr>
            <a:cxnSpLocks/>
            <a:endCxn id="40" idx="3"/>
          </p:cNvCxnSpPr>
          <p:nvPr/>
        </p:nvCxnSpPr>
        <p:spPr>
          <a:xfrm flipH="1">
            <a:off x="6182380" y="4963691"/>
            <a:ext cx="1618013" cy="667181"/>
          </a:xfrm>
          <a:prstGeom prst="straightConnector1">
            <a:avLst/>
          </a:prstGeom>
          <a:ln w="1270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110"/>
          <p:cNvCxnSpPr>
            <a:cxnSpLocks/>
            <a:endCxn id="40" idx="3"/>
          </p:cNvCxnSpPr>
          <p:nvPr/>
        </p:nvCxnSpPr>
        <p:spPr>
          <a:xfrm flipH="1">
            <a:off x="6182380" y="4973213"/>
            <a:ext cx="2345801" cy="657659"/>
          </a:xfrm>
          <a:prstGeom prst="straightConnector1">
            <a:avLst/>
          </a:prstGeom>
          <a:ln w="1270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110"/>
          <p:cNvCxnSpPr>
            <a:cxnSpLocks/>
            <a:stCxn id="55" idx="2"/>
            <a:endCxn id="40" idx="3"/>
          </p:cNvCxnSpPr>
          <p:nvPr/>
        </p:nvCxnSpPr>
        <p:spPr>
          <a:xfrm flipH="1">
            <a:off x="6182380" y="4963690"/>
            <a:ext cx="3085835" cy="667182"/>
          </a:xfrm>
          <a:prstGeom prst="straightConnector1">
            <a:avLst/>
          </a:prstGeom>
          <a:ln w="1270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110"/>
          <p:cNvCxnSpPr>
            <a:cxnSpLocks/>
            <a:stCxn id="56" idx="2"/>
            <a:endCxn id="40" idx="3"/>
          </p:cNvCxnSpPr>
          <p:nvPr/>
        </p:nvCxnSpPr>
        <p:spPr>
          <a:xfrm flipH="1">
            <a:off x="6182380" y="4973213"/>
            <a:ext cx="3824344" cy="657659"/>
          </a:xfrm>
          <a:prstGeom prst="straightConnector1">
            <a:avLst/>
          </a:prstGeom>
          <a:ln w="1270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110"/>
          <p:cNvCxnSpPr>
            <a:cxnSpLocks/>
            <a:stCxn id="17" idx="2"/>
            <a:endCxn id="40" idx="3"/>
          </p:cNvCxnSpPr>
          <p:nvPr/>
        </p:nvCxnSpPr>
        <p:spPr>
          <a:xfrm flipH="1">
            <a:off x="6182380" y="3822182"/>
            <a:ext cx="3824344" cy="1808690"/>
          </a:xfrm>
          <a:prstGeom prst="straightConnector1">
            <a:avLst/>
          </a:prstGeom>
          <a:ln w="1270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110"/>
          <p:cNvCxnSpPr>
            <a:cxnSpLocks/>
            <a:stCxn id="16" idx="2"/>
            <a:endCxn id="40" idx="3"/>
          </p:cNvCxnSpPr>
          <p:nvPr/>
        </p:nvCxnSpPr>
        <p:spPr>
          <a:xfrm flipH="1">
            <a:off x="6182380" y="3812659"/>
            <a:ext cx="3085835" cy="1818213"/>
          </a:xfrm>
          <a:prstGeom prst="straightConnector1">
            <a:avLst/>
          </a:prstGeom>
          <a:ln w="1270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110"/>
          <p:cNvCxnSpPr>
            <a:cxnSpLocks/>
            <a:stCxn id="15" idx="2"/>
            <a:endCxn id="40" idx="3"/>
          </p:cNvCxnSpPr>
          <p:nvPr/>
        </p:nvCxnSpPr>
        <p:spPr>
          <a:xfrm flipH="1">
            <a:off x="6182380" y="3822182"/>
            <a:ext cx="2347327" cy="1808690"/>
          </a:xfrm>
          <a:prstGeom prst="straightConnector1">
            <a:avLst/>
          </a:prstGeom>
          <a:ln w="1270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110"/>
          <p:cNvCxnSpPr>
            <a:cxnSpLocks/>
            <a:stCxn id="14" idx="2"/>
            <a:endCxn id="40" idx="3"/>
          </p:cNvCxnSpPr>
          <p:nvPr/>
        </p:nvCxnSpPr>
        <p:spPr>
          <a:xfrm flipH="1">
            <a:off x="6182380" y="3831706"/>
            <a:ext cx="1623105" cy="1799166"/>
          </a:xfrm>
          <a:prstGeom prst="straightConnector1">
            <a:avLst/>
          </a:prstGeom>
          <a:ln w="1270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그룹 18"/>
          <p:cNvGrpSpPr/>
          <p:nvPr/>
        </p:nvGrpSpPr>
        <p:grpSpPr>
          <a:xfrm>
            <a:off x="7462628" y="2745992"/>
            <a:ext cx="2901239" cy="2236745"/>
            <a:chOff x="7576830" y="4043136"/>
            <a:chExt cx="2901239" cy="2236745"/>
          </a:xfrm>
        </p:grpSpPr>
        <p:grpSp>
          <p:nvGrpSpPr>
            <p:cNvPr id="18" name="그룹 17"/>
            <p:cNvGrpSpPr/>
            <p:nvPr/>
          </p:nvGrpSpPr>
          <p:grpSpPr>
            <a:xfrm>
              <a:off x="7576830" y="4043136"/>
              <a:ext cx="2901239" cy="1085714"/>
              <a:chOff x="7576830" y="4108453"/>
              <a:chExt cx="2901239" cy="1085714"/>
            </a:xfrm>
          </p:grpSpPr>
          <p:pic>
            <p:nvPicPr>
              <p:cNvPr id="14" name="그림 13"/>
              <p:cNvPicPr>
                <a:picLocks noChangeAspect="1"/>
              </p:cNvPicPr>
              <p:nvPr/>
            </p:nvPicPr>
            <p:blipFill>
              <a:blip r:embed="rId7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7576830" y="4108453"/>
                <a:ext cx="685714" cy="1085714"/>
              </a:xfrm>
              <a:prstGeom prst="rect">
                <a:avLst/>
              </a:prstGeom>
            </p:spPr>
          </p:pic>
          <p:pic>
            <p:nvPicPr>
              <p:cNvPr id="15" name="그림 14"/>
              <p:cNvPicPr>
                <a:picLocks noChangeAspect="1"/>
              </p:cNvPicPr>
              <p:nvPr/>
            </p:nvPicPr>
            <p:blipFill>
              <a:blip r:embed="rId8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8286766" y="4108453"/>
                <a:ext cx="714286" cy="1076190"/>
              </a:xfrm>
              <a:prstGeom prst="rect">
                <a:avLst/>
              </a:prstGeom>
            </p:spPr>
          </p:pic>
          <p:pic>
            <p:nvPicPr>
              <p:cNvPr id="16" name="그림 15"/>
              <p:cNvPicPr>
                <a:picLocks noChangeAspect="1"/>
              </p:cNvPicPr>
              <p:nvPr/>
            </p:nvPicPr>
            <p:blipFill>
              <a:blip r:embed="rId9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9025274" y="4108453"/>
                <a:ext cx="714286" cy="1066667"/>
              </a:xfrm>
              <a:prstGeom prst="rect">
                <a:avLst/>
              </a:prstGeom>
            </p:spPr>
          </p:pic>
          <p:pic>
            <p:nvPicPr>
              <p:cNvPr id="17" name="그림 16"/>
              <p:cNvPicPr>
                <a:picLocks noChangeAspect="1"/>
              </p:cNvPicPr>
              <p:nvPr/>
            </p:nvPicPr>
            <p:blipFill>
              <a:blip r:embed="rId10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9763783" y="4108453"/>
                <a:ext cx="714286" cy="1076190"/>
              </a:xfrm>
              <a:prstGeom prst="rect">
                <a:avLst/>
              </a:prstGeom>
            </p:spPr>
          </p:pic>
        </p:grpSp>
        <p:grpSp>
          <p:nvGrpSpPr>
            <p:cNvPr id="50" name="그룹 49"/>
            <p:cNvGrpSpPr/>
            <p:nvPr/>
          </p:nvGrpSpPr>
          <p:grpSpPr>
            <a:xfrm>
              <a:off x="7576830" y="5194167"/>
              <a:ext cx="2901239" cy="1085714"/>
              <a:chOff x="7576830" y="4108453"/>
              <a:chExt cx="2901239" cy="1085714"/>
            </a:xfrm>
          </p:grpSpPr>
          <p:pic>
            <p:nvPicPr>
              <p:cNvPr id="52" name="그림 51"/>
              <p:cNvPicPr>
                <a:picLocks noChangeAspect="1"/>
              </p:cNvPicPr>
              <p:nvPr/>
            </p:nvPicPr>
            <p:blipFill>
              <a:blip r:embed="rId7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7576830" y="4108453"/>
                <a:ext cx="685714" cy="1085714"/>
              </a:xfrm>
              <a:prstGeom prst="rect">
                <a:avLst/>
              </a:prstGeom>
            </p:spPr>
          </p:pic>
          <p:pic>
            <p:nvPicPr>
              <p:cNvPr id="53" name="그림 52"/>
              <p:cNvPicPr>
                <a:picLocks noChangeAspect="1"/>
              </p:cNvPicPr>
              <p:nvPr/>
            </p:nvPicPr>
            <p:blipFill>
              <a:blip r:embed="rId8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8286766" y="4108453"/>
                <a:ext cx="714286" cy="1076190"/>
              </a:xfrm>
              <a:prstGeom prst="rect">
                <a:avLst/>
              </a:prstGeom>
            </p:spPr>
          </p:pic>
          <p:pic>
            <p:nvPicPr>
              <p:cNvPr id="55" name="그림 54"/>
              <p:cNvPicPr>
                <a:picLocks noChangeAspect="1"/>
              </p:cNvPicPr>
              <p:nvPr/>
            </p:nvPicPr>
            <p:blipFill>
              <a:blip r:embed="rId9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9025274" y="4108453"/>
                <a:ext cx="714286" cy="1066667"/>
              </a:xfrm>
              <a:prstGeom prst="rect">
                <a:avLst/>
              </a:prstGeom>
            </p:spPr>
          </p:pic>
          <p:pic>
            <p:nvPicPr>
              <p:cNvPr id="56" name="그림 55"/>
              <p:cNvPicPr>
                <a:picLocks noChangeAspect="1"/>
              </p:cNvPicPr>
              <p:nvPr/>
            </p:nvPicPr>
            <p:blipFill>
              <a:blip r:embed="rId10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9763783" y="4108453"/>
                <a:ext cx="714286" cy="1076190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10263856" y="6370842"/>
            <a:ext cx="306355" cy="274324"/>
          </a:xfrm>
        </p:spPr>
        <p:txBody>
          <a:bodyPr/>
          <a:lstStyle/>
          <a:p>
            <a:fld id="{AFA02C0B-84B5-4CD2-A6CE-C6BD7D6F9045}" type="slidenum">
              <a:rPr lang="ko-KR" altLang="en-US" smtClean="0">
                <a:solidFill>
                  <a:schemeClr val="bg1"/>
                </a:solidFill>
              </a:rPr>
              <a:t>21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02567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Scalability</a:t>
            </a:r>
            <a:r>
              <a:rPr lang="en-US" altLang="ko-KR" sz="1400" dirty="0">
                <a:latin typeface="+mj-ea"/>
                <a:ea typeface="+mj-ea"/>
              </a:rPr>
              <a:t> &gt; </a:t>
            </a:r>
            <a:r>
              <a:rPr lang="ko-KR" altLang="en-US" sz="1400" dirty="0">
                <a:solidFill>
                  <a:srgbClr val="0083CE"/>
                </a:solidFill>
                <a:latin typeface="+mj-ea"/>
                <a:ea typeface="+mj-ea"/>
              </a:rPr>
              <a:t>서브클러스터를 활용한 워크로드 분리 활용 예</a:t>
            </a:r>
          </a:p>
        </p:txBody>
      </p:sp>
      <p:pic>
        <p:nvPicPr>
          <p:cNvPr id="40" name="그림 39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75155" y="3731991"/>
            <a:ext cx="1377572" cy="1370752"/>
          </a:xfrm>
          <a:prstGeom prst="rect">
            <a:avLst/>
          </a:prstGeom>
        </p:spPr>
      </p:pic>
      <p:grpSp>
        <p:nvGrpSpPr>
          <p:cNvPr id="22" name="그룹 21"/>
          <p:cNvGrpSpPr/>
          <p:nvPr/>
        </p:nvGrpSpPr>
        <p:grpSpPr>
          <a:xfrm>
            <a:off x="1175709" y="4861699"/>
            <a:ext cx="2909724" cy="1149920"/>
            <a:chOff x="691892" y="3785974"/>
            <a:chExt cx="2909724" cy="1149920"/>
          </a:xfrm>
        </p:grpSpPr>
        <p:pic>
          <p:nvPicPr>
            <p:cNvPr id="12" name="그림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6540" y="3880409"/>
              <a:ext cx="677000" cy="977034"/>
            </a:xfrm>
            <a:prstGeom prst="rect">
              <a:avLst/>
            </a:prstGeom>
          </p:spPr>
        </p:pic>
        <p:pic>
          <p:nvPicPr>
            <p:cNvPr id="47" name="그림 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65488" y="3880409"/>
              <a:ext cx="677000" cy="977034"/>
            </a:xfrm>
            <a:prstGeom prst="rect">
              <a:avLst/>
            </a:prstGeom>
          </p:spPr>
        </p:pic>
        <p:pic>
          <p:nvPicPr>
            <p:cNvPr id="49" name="그림 4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64436" y="3880409"/>
              <a:ext cx="677000" cy="977034"/>
            </a:xfrm>
            <a:prstGeom prst="rect">
              <a:avLst/>
            </a:prstGeom>
          </p:spPr>
        </p:pic>
        <p:pic>
          <p:nvPicPr>
            <p:cNvPr id="59" name="그림 5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63384" y="3880409"/>
              <a:ext cx="677000" cy="977034"/>
            </a:xfrm>
            <a:prstGeom prst="rect">
              <a:avLst/>
            </a:prstGeom>
          </p:spPr>
        </p:pic>
        <p:sp>
          <p:nvSpPr>
            <p:cNvPr id="60" name="Rectangle: Rounded Corners 58">
              <a:extLst>
                <a:ext uri="{FF2B5EF4-FFF2-40B4-BE49-F238E27FC236}">
                  <a16:creationId xmlns="" xmlns:a16="http://schemas.microsoft.com/office/drawing/2014/main" id="{6741902B-778F-4B8F-A39A-26DE238214D8}"/>
                </a:ext>
              </a:extLst>
            </p:cNvPr>
            <p:cNvSpPr/>
            <p:nvPr/>
          </p:nvSpPr>
          <p:spPr>
            <a:xfrm>
              <a:off x="691892" y="3785974"/>
              <a:ext cx="2909724" cy="1149920"/>
            </a:xfrm>
            <a:prstGeom prst="roundRect">
              <a:avLst>
                <a:gd name="adj" fmla="val 4948"/>
              </a:avLst>
            </a:prstGeom>
            <a:noFill/>
            <a:ln>
              <a:solidFill>
                <a:srgbClr val="61B2E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1" name="그룹 20"/>
          <p:cNvGrpSpPr/>
          <p:nvPr/>
        </p:nvGrpSpPr>
        <p:grpSpPr>
          <a:xfrm>
            <a:off x="3015939" y="1774087"/>
            <a:ext cx="2138988" cy="1149920"/>
            <a:chOff x="4028547" y="1904768"/>
            <a:chExt cx="2138988" cy="1149920"/>
          </a:xfrm>
        </p:grpSpPr>
        <p:pic>
          <p:nvPicPr>
            <p:cNvPr id="20" name="그림 19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096802" y="1989871"/>
              <a:ext cx="677195" cy="977316"/>
            </a:xfrm>
            <a:prstGeom prst="rect">
              <a:avLst/>
            </a:prstGeom>
          </p:spPr>
        </p:pic>
        <p:pic>
          <p:nvPicPr>
            <p:cNvPr id="74" name="그림 73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759559" y="1989871"/>
              <a:ext cx="677195" cy="977316"/>
            </a:xfrm>
            <a:prstGeom prst="rect">
              <a:avLst/>
            </a:prstGeom>
          </p:spPr>
        </p:pic>
        <p:pic>
          <p:nvPicPr>
            <p:cNvPr id="75" name="그림 74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422316" y="1989871"/>
              <a:ext cx="677195" cy="977316"/>
            </a:xfrm>
            <a:prstGeom prst="rect">
              <a:avLst/>
            </a:prstGeom>
          </p:spPr>
        </p:pic>
        <p:sp>
          <p:nvSpPr>
            <p:cNvPr id="76" name="Rectangle: Rounded Corners 58">
              <a:extLst>
                <a:ext uri="{FF2B5EF4-FFF2-40B4-BE49-F238E27FC236}">
                  <a16:creationId xmlns="" xmlns:a16="http://schemas.microsoft.com/office/drawing/2014/main" id="{6741902B-778F-4B8F-A39A-26DE238214D8}"/>
                </a:ext>
              </a:extLst>
            </p:cNvPr>
            <p:cNvSpPr/>
            <p:nvPr/>
          </p:nvSpPr>
          <p:spPr>
            <a:xfrm>
              <a:off x="4028547" y="1904768"/>
              <a:ext cx="2138988" cy="1149920"/>
            </a:xfrm>
            <a:prstGeom prst="roundRect">
              <a:avLst>
                <a:gd name="adj" fmla="val 4948"/>
              </a:avLst>
            </a:prstGeom>
            <a:noFill/>
            <a:ln>
              <a:solidFill>
                <a:srgbClr val="61B2E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5" name="그룹 24"/>
          <p:cNvGrpSpPr/>
          <p:nvPr/>
        </p:nvGrpSpPr>
        <p:grpSpPr>
          <a:xfrm>
            <a:off x="6424168" y="1764756"/>
            <a:ext cx="2811849" cy="1149920"/>
            <a:chOff x="5812971" y="2107928"/>
            <a:chExt cx="2811849" cy="1149920"/>
          </a:xfrm>
        </p:grpSpPr>
        <p:pic>
          <p:nvPicPr>
            <p:cNvPr id="23" name="그림 22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879965" y="2203702"/>
              <a:ext cx="676999" cy="977034"/>
            </a:xfrm>
            <a:prstGeom prst="rect">
              <a:avLst/>
            </a:prstGeom>
          </p:spPr>
        </p:pic>
        <p:pic>
          <p:nvPicPr>
            <p:cNvPr id="77" name="그림 76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549270" y="2203702"/>
              <a:ext cx="676999" cy="977034"/>
            </a:xfrm>
            <a:prstGeom prst="rect">
              <a:avLst/>
            </a:prstGeom>
          </p:spPr>
        </p:pic>
        <p:pic>
          <p:nvPicPr>
            <p:cNvPr id="79" name="그림 78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218575" y="2203702"/>
              <a:ext cx="676999" cy="977034"/>
            </a:xfrm>
            <a:prstGeom prst="rect">
              <a:avLst/>
            </a:prstGeom>
          </p:spPr>
        </p:pic>
        <p:pic>
          <p:nvPicPr>
            <p:cNvPr id="80" name="그림 79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887881" y="2203702"/>
              <a:ext cx="676999" cy="977034"/>
            </a:xfrm>
            <a:prstGeom prst="rect">
              <a:avLst/>
            </a:prstGeom>
          </p:spPr>
        </p:pic>
        <p:sp>
          <p:nvSpPr>
            <p:cNvPr id="82" name="Rectangle: Rounded Corners 58">
              <a:extLst>
                <a:ext uri="{FF2B5EF4-FFF2-40B4-BE49-F238E27FC236}">
                  <a16:creationId xmlns="" xmlns:a16="http://schemas.microsoft.com/office/drawing/2014/main" id="{6741902B-778F-4B8F-A39A-26DE238214D8}"/>
                </a:ext>
              </a:extLst>
            </p:cNvPr>
            <p:cNvSpPr/>
            <p:nvPr/>
          </p:nvSpPr>
          <p:spPr>
            <a:xfrm>
              <a:off x="5812971" y="2107928"/>
              <a:ext cx="2811849" cy="1149920"/>
            </a:xfrm>
            <a:prstGeom prst="roundRect">
              <a:avLst>
                <a:gd name="adj" fmla="val 4948"/>
              </a:avLst>
            </a:prstGeom>
            <a:noFill/>
            <a:ln>
              <a:solidFill>
                <a:srgbClr val="61B2E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8" name="그룹 27"/>
          <p:cNvGrpSpPr/>
          <p:nvPr/>
        </p:nvGrpSpPr>
        <p:grpSpPr>
          <a:xfrm>
            <a:off x="8312466" y="4038065"/>
            <a:ext cx="2701544" cy="1973554"/>
            <a:chOff x="8534760" y="1911955"/>
            <a:chExt cx="2701544" cy="1973554"/>
          </a:xfrm>
        </p:grpSpPr>
        <p:grpSp>
          <p:nvGrpSpPr>
            <p:cNvPr id="27" name="그룹 26"/>
            <p:cNvGrpSpPr/>
            <p:nvPr/>
          </p:nvGrpSpPr>
          <p:grpSpPr>
            <a:xfrm>
              <a:off x="8534760" y="1911955"/>
              <a:ext cx="2701544" cy="986777"/>
              <a:chOff x="8534760" y="1911955"/>
              <a:chExt cx="2701544" cy="986777"/>
            </a:xfrm>
          </p:grpSpPr>
          <p:pic>
            <p:nvPicPr>
              <p:cNvPr id="26" name="그림 25"/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8534760" y="1911955"/>
                <a:ext cx="689177" cy="986777"/>
              </a:xfrm>
              <a:prstGeom prst="rect">
                <a:avLst/>
              </a:prstGeom>
            </p:spPr>
          </p:pic>
          <p:pic>
            <p:nvPicPr>
              <p:cNvPr id="83" name="그림 82"/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9205549" y="1911955"/>
                <a:ext cx="689177" cy="986777"/>
              </a:xfrm>
              <a:prstGeom prst="rect">
                <a:avLst/>
              </a:prstGeom>
            </p:spPr>
          </p:pic>
          <p:pic>
            <p:nvPicPr>
              <p:cNvPr id="84" name="그림 83"/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9876338" y="1911955"/>
                <a:ext cx="689177" cy="986777"/>
              </a:xfrm>
              <a:prstGeom prst="rect">
                <a:avLst/>
              </a:prstGeom>
            </p:spPr>
          </p:pic>
          <p:pic>
            <p:nvPicPr>
              <p:cNvPr id="85" name="그림 84"/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0547127" y="1911955"/>
                <a:ext cx="689177" cy="986777"/>
              </a:xfrm>
              <a:prstGeom prst="rect">
                <a:avLst/>
              </a:prstGeom>
            </p:spPr>
          </p:pic>
        </p:grpSp>
        <p:grpSp>
          <p:nvGrpSpPr>
            <p:cNvPr id="91" name="그룹 90"/>
            <p:cNvGrpSpPr/>
            <p:nvPr/>
          </p:nvGrpSpPr>
          <p:grpSpPr>
            <a:xfrm>
              <a:off x="8534760" y="2898732"/>
              <a:ext cx="2701544" cy="986777"/>
              <a:chOff x="8534760" y="1911955"/>
              <a:chExt cx="2701544" cy="986777"/>
            </a:xfrm>
          </p:grpSpPr>
          <p:pic>
            <p:nvPicPr>
              <p:cNvPr id="92" name="그림 91"/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8534760" y="1911955"/>
                <a:ext cx="689177" cy="986777"/>
              </a:xfrm>
              <a:prstGeom prst="rect">
                <a:avLst/>
              </a:prstGeom>
            </p:spPr>
          </p:pic>
          <p:pic>
            <p:nvPicPr>
              <p:cNvPr id="93" name="그림 92"/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9205549" y="1911955"/>
                <a:ext cx="689177" cy="986777"/>
              </a:xfrm>
              <a:prstGeom prst="rect">
                <a:avLst/>
              </a:prstGeom>
            </p:spPr>
          </p:pic>
          <p:pic>
            <p:nvPicPr>
              <p:cNvPr id="94" name="그림 93"/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9876338" y="1911955"/>
                <a:ext cx="689177" cy="986777"/>
              </a:xfrm>
              <a:prstGeom prst="rect">
                <a:avLst/>
              </a:prstGeom>
            </p:spPr>
          </p:pic>
          <p:pic>
            <p:nvPicPr>
              <p:cNvPr id="95" name="그림 94"/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0547127" y="1911955"/>
                <a:ext cx="689177" cy="986777"/>
              </a:xfrm>
              <a:prstGeom prst="rect">
                <a:avLst/>
              </a:prstGeom>
            </p:spPr>
          </p:pic>
        </p:grpSp>
      </p:grpSp>
      <p:cxnSp>
        <p:nvCxnSpPr>
          <p:cNvPr id="96" name="Straight Arrow Connector 110"/>
          <p:cNvCxnSpPr>
            <a:cxnSpLocks/>
            <a:stCxn id="20" idx="2"/>
            <a:endCxn id="40" idx="0"/>
          </p:cNvCxnSpPr>
          <p:nvPr/>
        </p:nvCxnSpPr>
        <p:spPr>
          <a:xfrm>
            <a:off x="3422792" y="2836506"/>
            <a:ext cx="2541149" cy="895485"/>
          </a:xfrm>
          <a:prstGeom prst="straightConnector1">
            <a:avLst/>
          </a:prstGeom>
          <a:ln w="1270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110"/>
          <p:cNvCxnSpPr>
            <a:cxnSpLocks/>
            <a:stCxn id="74" idx="2"/>
            <a:endCxn id="40" idx="0"/>
          </p:cNvCxnSpPr>
          <p:nvPr/>
        </p:nvCxnSpPr>
        <p:spPr>
          <a:xfrm>
            <a:off x="4085549" y="2836506"/>
            <a:ext cx="1878392" cy="895485"/>
          </a:xfrm>
          <a:prstGeom prst="straightConnector1">
            <a:avLst/>
          </a:prstGeom>
          <a:ln w="1270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110"/>
          <p:cNvCxnSpPr>
            <a:cxnSpLocks/>
            <a:stCxn id="75" idx="2"/>
            <a:endCxn id="40" idx="0"/>
          </p:cNvCxnSpPr>
          <p:nvPr/>
        </p:nvCxnSpPr>
        <p:spPr>
          <a:xfrm>
            <a:off x="4748306" y="2836506"/>
            <a:ext cx="1215635" cy="895485"/>
          </a:xfrm>
          <a:prstGeom prst="straightConnector1">
            <a:avLst/>
          </a:prstGeom>
          <a:ln w="1270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110"/>
          <p:cNvCxnSpPr>
            <a:cxnSpLocks/>
            <a:stCxn id="23" idx="2"/>
            <a:endCxn id="40" idx="0"/>
          </p:cNvCxnSpPr>
          <p:nvPr/>
        </p:nvCxnSpPr>
        <p:spPr>
          <a:xfrm flipH="1">
            <a:off x="5963941" y="2837564"/>
            <a:ext cx="865721" cy="894427"/>
          </a:xfrm>
          <a:prstGeom prst="straightConnector1">
            <a:avLst/>
          </a:prstGeom>
          <a:ln w="12700">
            <a:solidFill>
              <a:srgbClr val="B4C7E7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110"/>
          <p:cNvCxnSpPr>
            <a:cxnSpLocks/>
            <a:stCxn id="77" idx="2"/>
            <a:endCxn id="40" idx="0"/>
          </p:cNvCxnSpPr>
          <p:nvPr/>
        </p:nvCxnSpPr>
        <p:spPr>
          <a:xfrm flipH="1">
            <a:off x="5963941" y="2837564"/>
            <a:ext cx="1535026" cy="894427"/>
          </a:xfrm>
          <a:prstGeom prst="straightConnector1">
            <a:avLst/>
          </a:prstGeom>
          <a:ln w="12700">
            <a:solidFill>
              <a:srgbClr val="B4C7E7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10"/>
          <p:cNvCxnSpPr>
            <a:cxnSpLocks/>
            <a:stCxn id="79" idx="2"/>
            <a:endCxn id="40" idx="0"/>
          </p:cNvCxnSpPr>
          <p:nvPr/>
        </p:nvCxnSpPr>
        <p:spPr>
          <a:xfrm flipH="1">
            <a:off x="5963941" y="2837564"/>
            <a:ext cx="2204331" cy="894427"/>
          </a:xfrm>
          <a:prstGeom prst="straightConnector1">
            <a:avLst/>
          </a:prstGeom>
          <a:ln w="12700">
            <a:solidFill>
              <a:srgbClr val="B4C7E7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10"/>
          <p:cNvCxnSpPr>
            <a:cxnSpLocks/>
            <a:stCxn id="80" idx="2"/>
            <a:endCxn id="40" idx="0"/>
          </p:cNvCxnSpPr>
          <p:nvPr/>
        </p:nvCxnSpPr>
        <p:spPr>
          <a:xfrm flipH="1">
            <a:off x="5963941" y="2837564"/>
            <a:ext cx="2873637" cy="894427"/>
          </a:xfrm>
          <a:prstGeom prst="straightConnector1">
            <a:avLst/>
          </a:prstGeom>
          <a:ln w="12700">
            <a:solidFill>
              <a:srgbClr val="B4C7E7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꺾인 연결선 112"/>
          <p:cNvCxnSpPr>
            <a:stCxn id="59" idx="0"/>
            <a:endCxn id="40" idx="1"/>
          </p:cNvCxnSpPr>
          <p:nvPr/>
        </p:nvCxnSpPr>
        <p:spPr>
          <a:xfrm rot="5400000" flipH="1" flipV="1">
            <a:off x="4211045" y="3892024"/>
            <a:ext cx="538767" cy="1589454"/>
          </a:xfrm>
          <a:prstGeom prst="bentConnector2">
            <a:avLst/>
          </a:prstGeom>
          <a:ln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꺾인 연결선 113"/>
          <p:cNvCxnSpPr>
            <a:stCxn id="49" idx="0"/>
            <a:endCxn id="40" idx="1"/>
          </p:cNvCxnSpPr>
          <p:nvPr/>
        </p:nvCxnSpPr>
        <p:spPr>
          <a:xfrm rot="5400000" flipH="1" flipV="1">
            <a:off x="3861571" y="3542550"/>
            <a:ext cx="538767" cy="2288402"/>
          </a:xfrm>
          <a:prstGeom prst="bentConnector2">
            <a:avLst/>
          </a:prstGeom>
          <a:ln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꺾인 연결선 116"/>
          <p:cNvCxnSpPr>
            <a:stCxn id="47" idx="0"/>
            <a:endCxn id="40" idx="1"/>
          </p:cNvCxnSpPr>
          <p:nvPr/>
        </p:nvCxnSpPr>
        <p:spPr>
          <a:xfrm rot="5400000" flipH="1" flipV="1">
            <a:off x="3512097" y="3193076"/>
            <a:ext cx="538767" cy="2987350"/>
          </a:xfrm>
          <a:prstGeom prst="bentConnector2">
            <a:avLst/>
          </a:prstGeom>
          <a:ln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꺾인 연결선 119"/>
          <p:cNvCxnSpPr>
            <a:stCxn id="12" idx="0"/>
            <a:endCxn id="40" idx="1"/>
          </p:cNvCxnSpPr>
          <p:nvPr/>
        </p:nvCxnSpPr>
        <p:spPr>
          <a:xfrm rot="5400000" flipH="1" flipV="1">
            <a:off x="3162623" y="2843602"/>
            <a:ext cx="538767" cy="3686298"/>
          </a:xfrm>
          <a:prstGeom prst="bentConnector2">
            <a:avLst/>
          </a:prstGeom>
          <a:ln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꺾인 연결선 122"/>
          <p:cNvCxnSpPr>
            <a:stCxn id="26" idx="0"/>
            <a:endCxn id="40" idx="3"/>
          </p:cNvCxnSpPr>
          <p:nvPr/>
        </p:nvCxnSpPr>
        <p:spPr>
          <a:xfrm rot="16200000" flipH="1" flipV="1">
            <a:off x="7465240" y="3225552"/>
            <a:ext cx="379302" cy="2004328"/>
          </a:xfrm>
          <a:prstGeom prst="bentConnector4">
            <a:avLst>
              <a:gd name="adj1" fmla="val -60269"/>
              <a:gd name="adj2" fmla="val 58596"/>
            </a:avLst>
          </a:prstGeom>
          <a:ln>
            <a:solidFill>
              <a:srgbClr val="0081CD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꺾인 연결선 125"/>
          <p:cNvCxnSpPr>
            <a:stCxn id="83" idx="0"/>
            <a:endCxn id="40" idx="3"/>
          </p:cNvCxnSpPr>
          <p:nvPr/>
        </p:nvCxnSpPr>
        <p:spPr>
          <a:xfrm rot="16200000" flipH="1" flipV="1">
            <a:off x="7800635" y="2890157"/>
            <a:ext cx="379302" cy="2675117"/>
          </a:xfrm>
          <a:prstGeom prst="bentConnector4">
            <a:avLst>
              <a:gd name="adj1" fmla="val -60269"/>
              <a:gd name="adj2" fmla="val 68998"/>
            </a:avLst>
          </a:prstGeom>
          <a:ln>
            <a:solidFill>
              <a:srgbClr val="0081CD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꺾인 연결선 131"/>
          <p:cNvCxnSpPr>
            <a:stCxn id="84" idx="0"/>
            <a:endCxn id="40" idx="3"/>
          </p:cNvCxnSpPr>
          <p:nvPr/>
        </p:nvCxnSpPr>
        <p:spPr>
          <a:xfrm rot="16200000" flipH="1" flipV="1">
            <a:off x="8136029" y="2554763"/>
            <a:ext cx="379302" cy="3345906"/>
          </a:xfrm>
          <a:prstGeom prst="bentConnector4">
            <a:avLst>
              <a:gd name="adj1" fmla="val -60269"/>
              <a:gd name="adj2" fmla="val 75506"/>
            </a:avLst>
          </a:prstGeom>
          <a:ln>
            <a:solidFill>
              <a:srgbClr val="0081CD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꺾인 연결선 134"/>
          <p:cNvCxnSpPr>
            <a:stCxn id="85" idx="0"/>
            <a:endCxn id="40" idx="3"/>
          </p:cNvCxnSpPr>
          <p:nvPr/>
        </p:nvCxnSpPr>
        <p:spPr>
          <a:xfrm rot="16200000" flipH="1" flipV="1">
            <a:off x="8471424" y="2219368"/>
            <a:ext cx="379302" cy="4016695"/>
          </a:xfrm>
          <a:prstGeom prst="bentConnector4">
            <a:avLst>
              <a:gd name="adj1" fmla="val -60269"/>
              <a:gd name="adj2" fmla="val 79377"/>
            </a:avLst>
          </a:prstGeom>
          <a:ln>
            <a:solidFill>
              <a:srgbClr val="0081CD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꺾인 연결선 139"/>
          <p:cNvCxnSpPr>
            <a:stCxn id="92" idx="2"/>
            <a:endCxn id="40" idx="3"/>
          </p:cNvCxnSpPr>
          <p:nvPr/>
        </p:nvCxnSpPr>
        <p:spPr>
          <a:xfrm rot="5400000" flipH="1">
            <a:off x="6857765" y="4212329"/>
            <a:ext cx="1594252" cy="2004328"/>
          </a:xfrm>
          <a:prstGeom prst="bentConnector4">
            <a:avLst>
              <a:gd name="adj1" fmla="val -14339"/>
              <a:gd name="adj2" fmla="val 58596"/>
            </a:avLst>
          </a:prstGeom>
          <a:ln>
            <a:solidFill>
              <a:srgbClr val="0081CD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꺾인 연결선 143"/>
          <p:cNvCxnSpPr>
            <a:stCxn id="93" idx="2"/>
            <a:endCxn id="40" idx="3"/>
          </p:cNvCxnSpPr>
          <p:nvPr/>
        </p:nvCxnSpPr>
        <p:spPr>
          <a:xfrm rot="5400000" flipH="1">
            <a:off x="7193160" y="3876935"/>
            <a:ext cx="1594252" cy="2675117"/>
          </a:xfrm>
          <a:prstGeom prst="bentConnector4">
            <a:avLst>
              <a:gd name="adj1" fmla="val -14339"/>
              <a:gd name="adj2" fmla="val 69346"/>
            </a:avLst>
          </a:prstGeom>
          <a:ln>
            <a:solidFill>
              <a:srgbClr val="0081CD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꺾인 연결선 146"/>
          <p:cNvCxnSpPr>
            <a:stCxn id="94" idx="2"/>
            <a:endCxn id="40" idx="3"/>
          </p:cNvCxnSpPr>
          <p:nvPr/>
        </p:nvCxnSpPr>
        <p:spPr>
          <a:xfrm rot="5400000" flipH="1">
            <a:off x="7528554" y="3541540"/>
            <a:ext cx="1594252" cy="3345906"/>
          </a:xfrm>
          <a:prstGeom prst="bentConnector4">
            <a:avLst>
              <a:gd name="adj1" fmla="val -14339"/>
              <a:gd name="adj2" fmla="val 75228"/>
            </a:avLst>
          </a:prstGeom>
          <a:ln>
            <a:solidFill>
              <a:srgbClr val="0081CD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꺾인 연결선 149"/>
          <p:cNvCxnSpPr>
            <a:stCxn id="95" idx="2"/>
            <a:endCxn id="40" idx="3"/>
          </p:cNvCxnSpPr>
          <p:nvPr/>
        </p:nvCxnSpPr>
        <p:spPr>
          <a:xfrm rot="5400000" flipH="1">
            <a:off x="7863949" y="3206146"/>
            <a:ext cx="1594252" cy="4016695"/>
          </a:xfrm>
          <a:prstGeom prst="bentConnector4">
            <a:avLst>
              <a:gd name="adj1" fmla="val -14339"/>
              <a:gd name="adj2" fmla="val 79377"/>
            </a:avLst>
          </a:prstGeom>
          <a:ln>
            <a:solidFill>
              <a:srgbClr val="0081CD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="" xmlns:a16="http://schemas.microsoft.com/office/drawing/2014/main" id="{04DC5A35-9A84-40CE-B504-B0FBCB92F3AE}"/>
              </a:ext>
            </a:extLst>
          </p:cNvPr>
          <p:cNvSpPr txBox="1"/>
          <p:nvPr/>
        </p:nvSpPr>
        <p:spPr>
          <a:xfrm>
            <a:off x="1779915" y="6022075"/>
            <a:ext cx="1607428" cy="318100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/>
            <a:r>
              <a:rPr lang="en-GB" sz="1467" b="1" dirty="0">
                <a:solidFill>
                  <a:schemeClr val="tx2"/>
                </a:solidFill>
                <a:ea typeface="Roboto Light" charset="0"/>
                <a:cs typeface="Roboto Light" charset="0"/>
              </a:rPr>
              <a:t>Data Load (ETL)</a:t>
            </a:r>
            <a:endParaRPr lang="en-GB" sz="1467" b="1" dirty="0">
              <a:solidFill>
                <a:schemeClr val="tx2"/>
              </a:solidFill>
              <a:latin typeface="+mn-lt"/>
              <a:ea typeface="Roboto Light" charset="0"/>
              <a:cs typeface="Roboto Light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="" xmlns:a16="http://schemas.microsoft.com/office/drawing/2014/main" id="{04DC5A35-9A84-40CE-B504-B0FBCB92F3AE}"/>
              </a:ext>
            </a:extLst>
          </p:cNvPr>
          <p:cNvSpPr txBox="1"/>
          <p:nvPr/>
        </p:nvSpPr>
        <p:spPr>
          <a:xfrm>
            <a:off x="3526788" y="1450760"/>
            <a:ext cx="1154611" cy="318100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/>
            <a:r>
              <a:rPr lang="en-GB" sz="1467" b="1" dirty="0">
                <a:solidFill>
                  <a:schemeClr val="tx2"/>
                </a:solidFill>
                <a:ea typeface="Roboto Light" charset="0"/>
                <a:cs typeface="Roboto Light" charset="0"/>
              </a:rPr>
              <a:t>Dashboard</a:t>
            </a:r>
            <a:endParaRPr lang="en-GB" sz="1467" b="1" dirty="0">
              <a:solidFill>
                <a:schemeClr val="tx2"/>
              </a:solidFill>
              <a:latin typeface="+mn-lt"/>
              <a:ea typeface="Roboto Light" charset="0"/>
              <a:cs typeface="Roboto Light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="" xmlns:a16="http://schemas.microsoft.com/office/drawing/2014/main" id="{04DC5A35-9A84-40CE-B504-B0FBCB92F3AE}"/>
              </a:ext>
            </a:extLst>
          </p:cNvPr>
          <p:cNvSpPr txBox="1"/>
          <p:nvPr/>
        </p:nvSpPr>
        <p:spPr>
          <a:xfrm>
            <a:off x="6820622" y="1446394"/>
            <a:ext cx="1997022" cy="318100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/>
            <a:r>
              <a:rPr lang="en-GB" sz="1467" b="1" dirty="0">
                <a:solidFill>
                  <a:schemeClr val="tx2"/>
                </a:solidFill>
                <a:ea typeface="Roboto Light" charset="0"/>
                <a:cs typeface="Roboto Light" charset="0"/>
              </a:rPr>
              <a:t>Application Support</a:t>
            </a:r>
            <a:endParaRPr lang="en-GB" sz="1467" b="1" dirty="0">
              <a:solidFill>
                <a:schemeClr val="tx2"/>
              </a:solidFill>
              <a:latin typeface="+mn-lt"/>
              <a:ea typeface="Roboto Light" charset="0"/>
              <a:cs typeface="Roboto Light" charset="0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="" xmlns:a16="http://schemas.microsoft.com/office/drawing/2014/main" id="{04DC5A35-9A84-40CE-B504-B0FBCB92F3AE}"/>
              </a:ext>
            </a:extLst>
          </p:cNvPr>
          <p:cNvSpPr txBox="1"/>
          <p:nvPr/>
        </p:nvSpPr>
        <p:spPr>
          <a:xfrm>
            <a:off x="8873423" y="3476006"/>
            <a:ext cx="1558825" cy="318100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/>
            <a:r>
              <a:rPr lang="en-GB" sz="1467" b="1" dirty="0">
                <a:solidFill>
                  <a:schemeClr val="tx2"/>
                </a:solidFill>
                <a:ea typeface="Roboto Light" charset="0"/>
                <a:cs typeface="Roboto Light" charset="0"/>
              </a:rPr>
              <a:t>Analytics &amp; ML</a:t>
            </a:r>
            <a:endParaRPr lang="en-GB" sz="1467" b="1" dirty="0">
              <a:solidFill>
                <a:schemeClr val="tx2"/>
              </a:solidFill>
              <a:latin typeface="+mn-lt"/>
              <a:ea typeface="Roboto Light" charset="0"/>
              <a:cs typeface="Roboto Light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10270441" y="6359456"/>
            <a:ext cx="306355" cy="274324"/>
          </a:xfrm>
        </p:spPr>
        <p:txBody>
          <a:bodyPr/>
          <a:lstStyle/>
          <a:p>
            <a:fld id="{AFA02C0B-84B5-4CD2-A6CE-C6BD7D6F9045}" type="slidenum">
              <a:rPr lang="ko-KR" altLang="en-US" smtClean="0">
                <a:solidFill>
                  <a:schemeClr val="bg1"/>
                </a:solidFill>
              </a:rPr>
              <a:t>22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98249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>
          <a:xfrm>
            <a:off x="1524000" y="2702045"/>
            <a:ext cx="9144001" cy="76076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ko-KR" sz="3800" dirty="0">
                <a:solidFill>
                  <a:schemeClr val="bg1"/>
                </a:solidFill>
                <a:latin typeface="+mj-ea"/>
              </a:rPr>
              <a:t>Vertica Eon Mode </a:t>
            </a:r>
            <a:r>
              <a:rPr lang="ko-KR" altLang="en-US" sz="3800" dirty="0">
                <a:solidFill>
                  <a:schemeClr val="bg1"/>
                </a:solidFill>
                <a:latin typeface="+mj-ea"/>
              </a:rPr>
              <a:t>특장점</a:t>
            </a:r>
          </a:p>
        </p:txBody>
      </p:sp>
      <p:sp>
        <p:nvSpPr>
          <p:cNvPr id="3" name="제목 1"/>
          <p:cNvSpPr txBox="1">
            <a:spLocks/>
          </p:cNvSpPr>
          <p:nvPr/>
        </p:nvSpPr>
        <p:spPr>
          <a:xfrm>
            <a:off x="5631825" y="3839619"/>
            <a:ext cx="928350" cy="42943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ko-KR" sz="1600" dirty="0">
                <a:solidFill>
                  <a:schemeClr val="bg1"/>
                </a:solidFill>
                <a:latin typeface="SB 어그로 Bold" panose="02020603020101020101" pitchFamily="18" charset="-127"/>
                <a:ea typeface="SB 어그로 Bold" panose="02020603020101020101" pitchFamily="18" charset="-127"/>
              </a:rPr>
              <a:t>04</a:t>
            </a:r>
            <a:endParaRPr lang="ko-KR" altLang="en-US" sz="1600" dirty="0">
              <a:solidFill>
                <a:schemeClr val="bg1"/>
              </a:solidFill>
              <a:latin typeface="SB 어그로 Bold" panose="02020603020101020101" pitchFamily="18" charset="-127"/>
              <a:ea typeface="SB 어그로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80747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유연한 컴퓨팅 확장</a:t>
            </a:r>
            <a:endParaRPr lang="ko-KR" altLang="en-US" sz="1400" dirty="0">
              <a:solidFill>
                <a:srgbClr val="0083CE"/>
              </a:solidFill>
              <a:latin typeface="+mj-ea"/>
              <a:ea typeface="+mj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715639" y="1387082"/>
            <a:ext cx="10891643" cy="9316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Vertica Eon Mode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는 </a:t>
            </a:r>
            <a:r>
              <a:rPr lang="ko-KR" altLang="en-US" sz="1600" b="1" dirty="0">
                <a:solidFill>
                  <a:srgbClr val="0083CE"/>
                </a:solidFill>
                <a:latin typeface="+mn-ea"/>
                <a:cs typeface="Pretendard Variable Medium" panose="02000003000000020004" pitchFamily="2" charset="-127"/>
              </a:rPr>
              <a:t>성능</a:t>
            </a:r>
            <a:r>
              <a:rPr lang="ko-KR" altLang="en-US" sz="1600" dirty="0">
                <a:solidFill>
                  <a:srgbClr val="5C5C5C"/>
                </a:solidFill>
                <a:latin typeface="+mn-ea"/>
                <a:cs typeface="Pretendard Variable Medium" panose="02000003000000020004" pitchFamily="2" charset="-127"/>
              </a:rPr>
              <a:t>과</a:t>
            </a:r>
            <a:r>
              <a:rPr lang="ko-KR" altLang="en-US" sz="1600" b="1" dirty="0">
                <a:solidFill>
                  <a:srgbClr val="0083CE"/>
                </a:solidFill>
                <a:latin typeface="+mn-ea"/>
                <a:cs typeface="Pretendard Variable Medium" panose="02000003000000020004" pitchFamily="2" charset="-127"/>
              </a:rPr>
              <a:t> 동시성을 각각 확장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할 수 있는 방안을 제공합니다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.</a:t>
            </a:r>
          </a:p>
          <a:p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성능 향상을 위한 </a:t>
            </a:r>
            <a:r>
              <a:rPr lang="ko-KR" altLang="en-US" sz="1600" b="1" dirty="0">
                <a:solidFill>
                  <a:srgbClr val="0083CE"/>
                </a:solidFill>
                <a:latin typeface="+mn-ea"/>
                <a:cs typeface="Pretendard Variable Medium" panose="02000003000000020004" pitchFamily="2" charset="-127"/>
              </a:rPr>
              <a:t>클러스터 내 노드 증설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과 동시성 확장이나 워크로드 격리를 위한 </a:t>
            </a:r>
            <a:r>
              <a:rPr lang="ko-KR" altLang="en-US" sz="1600" b="1" dirty="0">
                <a:solidFill>
                  <a:srgbClr val="0083CE"/>
                </a:solidFill>
                <a:latin typeface="+mn-ea"/>
                <a:cs typeface="Pretendard Variable Medium" panose="02000003000000020004" pitchFamily="2" charset="-127"/>
              </a:rPr>
              <a:t>멀티 클러스터 기능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을 통해 확장 요건에 맞는 방안을 선택적으로 제공합니다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.</a:t>
            </a: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Pretendard Variable Medium" panose="02000003000000020004" pitchFamily="2" charset="-127"/>
            </a:endParaRPr>
          </a:p>
        </p:txBody>
      </p:sp>
      <p:grpSp>
        <p:nvGrpSpPr>
          <p:cNvPr id="62" name="그룹 61">
            <a:extLst>
              <a:ext uri="{FF2B5EF4-FFF2-40B4-BE49-F238E27FC236}">
                <a16:creationId xmlns="" xmlns:a16="http://schemas.microsoft.com/office/drawing/2014/main" id="{B98A0E8B-2695-0614-7C47-51C156520513}"/>
              </a:ext>
            </a:extLst>
          </p:cNvPr>
          <p:cNvGrpSpPr/>
          <p:nvPr/>
        </p:nvGrpSpPr>
        <p:grpSpPr>
          <a:xfrm>
            <a:off x="2081496" y="2512639"/>
            <a:ext cx="3240000" cy="3794855"/>
            <a:chOff x="2023488" y="1635561"/>
            <a:chExt cx="3515666" cy="3794855"/>
          </a:xfrm>
        </p:grpSpPr>
        <p:sp>
          <p:nvSpPr>
            <p:cNvPr id="63" name="직사각형 62">
              <a:extLst>
                <a:ext uri="{FF2B5EF4-FFF2-40B4-BE49-F238E27FC236}">
                  <a16:creationId xmlns="" xmlns:a16="http://schemas.microsoft.com/office/drawing/2014/main" id="{762D5328-4678-CDFF-C72F-0AFCDA3B1856}"/>
                </a:ext>
              </a:extLst>
            </p:cNvPr>
            <p:cNvSpPr/>
            <p:nvPr/>
          </p:nvSpPr>
          <p:spPr>
            <a:xfrm>
              <a:off x="2023488" y="1635561"/>
              <a:ext cx="3515666" cy="3794855"/>
            </a:xfrm>
            <a:prstGeom prst="rect">
              <a:avLst/>
            </a:prstGeom>
            <a:solidFill>
              <a:srgbClr val="1668C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GB" sz="1500" b="1" dirty="0">
                <a:solidFill>
                  <a:schemeClr val="bg1"/>
                </a:solidFill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="" xmlns:a16="http://schemas.microsoft.com/office/drawing/2014/main" id="{F5B9933B-070E-ADEC-1B0B-E1860A27762E}"/>
                </a:ext>
              </a:extLst>
            </p:cNvPr>
            <p:cNvSpPr txBox="1"/>
            <p:nvPr/>
          </p:nvSpPr>
          <p:spPr>
            <a:xfrm>
              <a:off x="2370738" y="1819275"/>
              <a:ext cx="2813591" cy="553998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spAutoFit/>
            </a:bodyPr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  <a:ea typeface="나눔고딕" pitchFamily="2" charset="-127"/>
                  <a:cs typeface="Roboto Light" charset="0"/>
                </a:rPr>
                <a:t>성능 확장</a:t>
              </a:r>
              <a:endParaRPr lang="en-GB" altLang="ko-KR" b="1" dirty="0">
                <a:solidFill>
                  <a:schemeClr val="bg1"/>
                </a:solidFill>
                <a:ea typeface="나눔고딕" pitchFamily="2" charset="-127"/>
                <a:cs typeface="Roboto Light" charset="0"/>
              </a:endParaRPr>
            </a:p>
            <a:p>
              <a:pPr algn="ctr"/>
              <a:r>
                <a:rPr lang="ko-KR" altLang="en-US" sz="1200" b="1" dirty="0">
                  <a:solidFill>
                    <a:schemeClr val="bg1"/>
                  </a:solidFill>
                  <a:ea typeface="나눔고딕" pitchFamily="2" charset="-127"/>
                  <a:cs typeface="Roboto Light" charset="0"/>
                </a:rPr>
                <a:t>클러스터 내 노드를 확장하여 성능을 확장</a:t>
              </a:r>
              <a:endParaRPr lang="en-GB" sz="1200" b="1" dirty="0">
                <a:solidFill>
                  <a:schemeClr val="bg1"/>
                </a:solidFill>
                <a:ea typeface="나눔고딕" pitchFamily="2" charset="-127"/>
                <a:cs typeface="Roboto Light" charset="0"/>
              </a:endParaRPr>
            </a:p>
          </p:txBody>
        </p:sp>
      </p:grpSp>
      <p:pic>
        <p:nvPicPr>
          <p:cNvPr id="65" name="그림 64">
            <a:extLst>
              <a:ext uri="{FF2B5EF4-FFF2-40B4-BE49-F238E27FC236}">
                <a16:creationId xmlns="" xmlns:a16="http://schemas.microsoft.com/office/drawing/2014/main" id="{FF917AFC-AB18-4701-B4B1-C21DD1DF9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213" y="3886411"/>
            <a:ext cx="3212660" cy="1658952"/>
          </a:xfrm>
          <a:prstGeom prst="rect">
            <a:avLst/>
          </a:prstGeom>
        </p:spPr>
      </p:pic>
      <p:pic>
        <p:nvPicPr>
          <p:cNvPr id="66" name="그림 65">
            <a:extLst>
              <a:ext uri="{FF2B5EF4-FFF2-40B4-BE49-F238E27FC236}">
                <a16:creationId xmlns="" xmlns:a16="http://schemas.microsoft.com/office/drawing/2014/main" id="{0F419CCA-8A7E-61D3-A861-0204F9A49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8248" y="3926553"/>
            <a:ext cx="2223656" cy="1157634"/>
          </a:xfrm>
          <a:prstGeom prst="rect">
            <a:avLst/>
          </a:prstGeom>
        </p:spPr>
      </p:pic>
      <p:sp>
        <p:nvSpPr>
          <p:cNvPr id="67" name="화살표: 위쪽 3">
            <a:extLst>
              <a:ext uri="{FF2B5EF4-FFF2-40B4-BE49-F238E27FC236}">
                <a16:creationId xmlns="" xmlns:a16="http://schemas.microsoft.com/office/drawing/2014/main" id="{571272AF-5328-32FB-EF6D-7FAEA297DEDC}"/>
              </a:ext>
            </a:extLst>
          </p:cNvPr>
          <p:cNvSpPr/>
          <p:nvPr/>
        </p:nvSpPr>
        <p:spPr>
          <a:xfrm>
            <a:off x="2090826" y="5363247"/>
            <a:ext cx="726840" cy="940063"/>
          </a:xfrm>
          <a:prstGeom prst="upArrow">
            <a:avLst/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sz="1500" b="1" dirty="0">
              <a:solidFill>
                <a:schemeClr val="bg1"/>
              </a:solidFill>
            </a:endParaRPr>
          </a:p>
        </p:txBody>
      </p:sp>
      <p:grpSp>
        <p:nvGrpSpPr>
          <p:cNvPr id="68" name="그룹 67">
            <a:extLst>
              <a:ext uri="{FF2B5EF4-FFF2-40B4-BE49-F238E27FC236}">
                <a16:creationId xmlns="" xmlns:a16="http://schemas.microsoft.com/office/drawing/2014/main" id="{29C41E77-4844-BC8A-D340-969DD07EE166}"/>
              </a:ext>
            </a:extLst>
          </p:cNvPr>
          <p:cNvGrpSpPr/>
          <p:nvPr/>
        </p:nvGrpSpPr>
        <p:grpSpPr>
          <a:xfrm>
            <a:off x="5341213" y="3063310"/>
            <a:ext cx="5609863" cy="3240000"/>
            <a:chOff x="5537746" y="3180363"/>
            <a:chExt cx="5609863" cy="3515666"/>
          </a:xfrm>
        </p:grpSpPr>
        <p:sp>
          <p:nvSpPr>
            <p:cNvPr id="69" name="직사각형 68">
              <a:extLst>
                <a:ext uri="{FF2B5EF4-FFF2-40B4-BE49-F238E27FC236}">
                  <a16:creationId xmlns="" xmlns:a16="http://schemas.microsoft.com/office/drawing/2014/main" id="{1A144000-B73E-DF1A-6627-FF1582930E39}"/>
                </a:ext>
              </a:extLst>
            </p:cNvPr>
            <p:cNvSpPr/>
            <p:nvPr/>
          </p:nvSpPr>
          <p:spPr>
            <a:xfrm rot="5400000">
              <a:off x="6584845" y="2133264"/>
              <a:ext cx="3515666" cy="5609863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GB" sz="1500" b="1" dirty="0">
                <a:solidFill>
                  <a:schemeClr val="bg1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="" xmlns:a16="http://schemas.microsoft.com/office/drawing/2014/main" id="{7DD1C072-AE28-73B5-F3E9-1D2F21EF6DAD}"/>
                </a:ext>
              </a:extLst>
            </p:cNvPr>
            <p:cNvSpPr txBox="1"/>
            <p:nvPr/>
          </p:nvSpPr>
          <p:spPr>
            <a:xfrm>
              <a:off x="6452761" y="3381512"/>
              <a:ext cx="3823483" cy="553998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spAutoFit/>
            </a:bodyPr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  <a:ea typeface="나눔고딕" pitchFamily="2" charset="-127"/>
                  <a:cs typeface="Roboto Light" charset="0"/>
                </a:rPr>
                <a:t>동시성 확장</a:t>
              </a:r>
              <a:endParaRPr lang="en-GB" altLang="ko-KR" b="1" dirty="0">
                <a:solidFill>
                  <a:schemeClr val="bg1"/>
                </a:solidFill>
                <a:ea typeface="나눔고딕" pitchFamily="2" charset="-127"/>
                <a:cs typeface="Roboto Light" charset="0"/>
              </a:endParaRPr>
            </a:p>
            <a:p>
              <a:pPr algn="ctr"/>
              <a:r>
                <a:rPr lang="ko-KR" altLang="en-US" sz="1200" b="1" dirty="0">
                  <a:solidFill>
                    <a:schemeClr val="bg1"/>
                  </a:solidFill>
                  <a:ea typeface="나눔고딕" pitchFamily="2" charset="-127"/>
                  <a:cs typeface="Roboto Light" charset="0"/>
                </a:rPr>
                <a:t>클러스터를 추가하여 동시성을 확장하고 워크로드를 격리</a:t>
              </a:r>
              <a:endParaRPr lang="en-GB" sz="1200" b="1" dirty="0">
                <a:solidFill>
                  <a:schemeClr val="bg1"/>
                </a:solidFill>
                <a:ea typeface="나눔고딕" pitchFamily="2" charset="-127"/>
                <a:cs typeface="Roboto Light" charset="0"/>
              </a:endParaRPr>
            </a:p>
          </p:txBody>
        </p:sp>
      </p:grpSp>
      <p:pic>
        <p:nvPicPr>
          <p:cNvPr id="71" name="그림 70">
            <a:extLst>
              <a:ext uri="{FF2B5EF4-FFF2-40B4-BE49-F238E27FC236}">
                <a16:creationId xmlns="" xmlns:a16="http://schemas.microsoft.com/office/drawing/2014/main" id="{74E9D90C-3943-1654-F62C-F8FA454D47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2937" y="4082735"/>
            <a:ext cx="1770524" cy="2083583"/>
          </a:xfrm>
          <a:prstGeom prst="rect">
            <a:avLst/>
          </a:prstGeom>
        </p:spPr>
      </p:pic>
      <p:pic>
        <p:nvPicPr>
          <p:cNvPr id="72" name="그림 71">
            <a:extLst>
              <a:ext uri="{FF2B5EF4-FFF2-40B4-BE49-F238E27FC236}">
                <a16:creationId xmlns="" xmlns:a16="http://schemas.microsoft.com/office/drawing/2014/main" id="{20DE35C2-2463-5661-0AB4-F0E322431B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8262" y="3917767"/>
            <a:ext cx="3571489" cy="1789794"/>
          </a:xfrm>
          <a:prstGeom prst="rect">
            <a:avLst/>
          </a:prstGeom>
        </p:spPr>
      </p:pic>
      <p:sp>
        <p:nvSpPr>
          <p:cNvPr id="73" name="더하기 기호 63">
            <a:extLst>
              <a:ext uri="{FF2B5EF4-FFF2-40B4-BE49-F238E27FC236}">
                <a16:creationId xmlns="" xmlns:a16="http://schemas.microsoft.com/office/drawing/2014/main" id="{52196FC6-5459-5A96-18C7-12C9D0BED49B}"/>
              </a:ext>
            </a:extLst>
          </p:cNvPr>
          <p:cNvSpPr/>
          <p:nvPr/>
        </p:nvSpPr>
        <p:spPr>
          <a:xfrm>
            <a:off x="7904322" y="4320059"/>
            <a:ext cx="231173" cy="231173"/>
          </a:xfrm>
          <a:prstGeom prst="mathPlus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sz="1500" b="1" dirty="0">
              <a:solidFill>
                <a:schemeClr val="bg1"/>
              </a:solidFill>
            </a:endParaRPr>
          </a:p>
        </p:txBody>
      </p:sp>
      <p:sp>
        <p:nvSpPr>
          <p:cNvPr id="78" name="화살표: 위쪽 4">
            <a:extLst>
              <a:ext uri="{FF2B5EF4-FFF2-40B4-BE49-F238E27FC236}">
                <a16:creationId xmlns="" xmlns:a16="http://schemas.microsoft.com/office/drawing/2014/main" id="{E02294EB-C65A-3069-EEC4-6D30CDCBF3FF}"/>
              </a:ext>
            </a:extLst>
          </p:cNvPr>
          <p:cNvSpPr/>
          <p:nvPr/>
        </p:nvSpPr>
        <p:spPr>
          <a:xfrm rot="5400000">
            <a:off x="10126301" y="5466909"/>
            <a:ext cx="726840" cy="940063"/>
          </a:xfrm>
          <a:prstGeom prst="upArrow">
            <a:avLst/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sz="1500" b="1" dirty="0">
              <a:solidFill>
                <a:schemeClr val="bg1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10283247" y="6348888"/>
            <a:ext cx="278505" cy="301756"/>
          </a:xfrm>
        </p:spPr>
        <p:txBody>
          <a:bodyPr/>
          <a:lstStyle/>
          <a:p>
            <a:fld id="{AFA02C0B-84B5-4CD2-A6CE-C6BD7D6F9045}" type="slidenum">
              <a:rPr lang="ko-KR" altLang="en-US" smtClean="0">
                <a:solidFill>
                  <a:schemeClr val="bg1"/>
                </a:solidFill>
              </a:rPr>
              <a:t>24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62789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효율적인 스토리지 확장</a:t>
            </a:r>
            <a:endParaRPr lang="ko-KR" altLang="en-US" sz="1400" dirty="0">
              <a:solidFill>
                <a:srgbClr val="0083CE"/>
              </a:solidFill>
              <a:latin typeface="+mj-ea"/>
              <a:ea typeface="+mj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715639" y="1387082"/>
            <a:ext cx="10891643" cy="9316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Data Warehouse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와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Data Lake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가 통합된 데이터 플랫폼은 방대한 데이터가 저장되고 유지되어야 하기 때문에 비용 효율적인 확장 및 관리 방안이 제공되어야 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.</a:t>
            </a:r>
          </a:p>
          <a:p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Vertica Eon Mode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는 이러한 요구사항에 가장 부합하는 오브젝트 </a:t>
            </a: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스토리지를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 데이터베이스로 활용합니다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.</a:t>
            </a: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Pretendard Variable Medium" panose="02000003000000020004" pitchFamily="2" charset="-127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="" xmlns:a16="http://schemas.microsoft.com/office/drawing/2014/main" id="{B9A8AB9C-3EC2-ACAB-8980-344257A8051B}"/>
              </a:ext>
            </a:extLst>
          </p:cNvPr>
          <p:cNvGrpSpPr/>
          <p:nvPr/>
        </p:nvGrpSpPr>
        <p:grpSpPr>
          <a:xfrm>
            <a:off x="841711" y="2481256"/>
            <a:ext cx="5697112" cy="368943"/>
            <a:chOff x="2090579" y="1956175"/>
            <a:chExt cx="2529151" cy="368943"/>
          </a:xfrm>
        </p:grpSpPr>
        <p:sp>
          <p:nvSpPr>
            <p:cNvPr id="20" name="직사각형 19">
              <a:extLst>
                <a:ext uri="{FF2B5EF4-FFF2-40B4-BE49-F238E27FC236}">
                  <a16:creationId xmlns="" xmlns:a16="http://schemas.microsoft.com/office/drawing/2014/main" id="{45B1D5A5-95D7-FB94-F89C-14DCCB75D910}"/>
                </a:ext>
              </a:extLst>
            </p:cNvPr>
            <p:cNvSpPr/>
            <p:nvPr/>
          </p:nvSpPr>
          <p:spPr>
            <a:xfrm>
              <a:off x="2090579" y="1956175"/>
              <a:ext cx="2529151" cy="368943"/>
            </a:xfrm>
            <a:prstGeom prst="rect">
              <a:avLst/>
            </a:prstGeom>
            <a:solidFill>
              <a:srgbClr val="1668C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GB" sz="15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="" xmlns:a16="http://schemas.microsoft.com/office/drawing/2014/main" id="{56674B17-A955-391F-77B2-8CAC491F8560}"/>
                </a:ext>
              </a:extLst>
            </p:cNvPr>
            <p:cNvSpPr txBox="1"/>
            <p:nvPr/>
          </p:nvSpPr>
          <p:spPr>
            <a:xfrm>
              <a:off x="2806005" y="1991973"/>
              <a:ext cx="1110997" cy="276999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spAutoFit/>
            </a:bodyPr>
            <a:lstStyle/>
            <a:p>
              <a:pPr algn="ctr"/>
              <a:r>
                <a:rPr lang="ko-KR" altLang="en-US" sz="1200" b="1" dirty="0">
                  <a:solidFill>
                    <a:schemeClr val="bg1"/>
                  </a:solidFill>
                  <a:latin typeface="+mj-ea"/>
                  <a:ea typeface="+mj-ea"/>
                  <a:cs typeface="Roboto Light" charset="0"/>
                </a:rPr>
                <a:t>오브젝트 스토리지의 비용 효율성</a:t>
              </a:r>
              <a:endParaRPr lang="en-GB" sz="1200" b="1" dirty="0">
                <a:solidFill>
                  <a:schemeClr val="bg1"/>
                </a:solidFill>
                <a:latin typeface="+mj-ea"/>
                <a:ea typeface="+mj-ea"/>
                <a:cs typeface="Roboto Light" charset="0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="" xmlns:a16="http://schemas.microsoft.com/office/drawing/2014/main" id="{6D099F1A-C66F-6E9E-39C0-D46B7F7D7D80}"/>
              </a:ext>
            </a:extLst>
          </p:cNvPr>
          <p:cNvGrpSpPr/>
          <p:nvPr/>
        </p:nvGrpSpPr>
        <p:grpSpPr>
          <a:xfrm>
            <a:off x="6772592" y="2481256"/>
            <a:ext cx="4565668" cy="368943"/>
            <a:chOff x="7576523" y="1946072"/>
            <a:chExt cx="2529151" cy="368943"/>
          </a:xfrm>
        </p:grpSpPr>
        <p:sp>
          <p:nvSpPr>
            <p:cNvPr id="23" name="직사각형 22">
              <a:extLst>
                <a:ext uri="{FF2B5EF4-FFF2-40B4-BE49-F238E27FC236}">
                  <a16:creationId xmlns="" xmlns:a16="http://schemas.microsoft.com/office/drawing/2014/main" id="{D4602A0B-2692-3102-9904-EB899CD2D31D}"/>
                </a:ext>
              </a:extLst>
            </p:cNvPr>
            <p:cNvSpPr/>
            <p:nvPr/>
          </p:nvSpPr>
          <p:spPr>
            <a:xfrm>
              <a:off x="7576523" y="1946072"/>
              <a:ext cx="2529151" cy="368943"/>
            </a:xfrm>
            <a:prstGeom prst="rect">
              <a:avLst/>
            </a:prstGeom>
            <a:solidFill>
              <a:srgbClr val="1668C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GB" sz="15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0E635D7B-4F79-C7FD-1F42-E9E85AAD0833}"/>
                </a:ext>
              </a:extLst>
            </p:cNvPr>
            <p:cNvSpPr txBox="1"/>
            <p:nvPr/>
          </p:nvSpPr>
          <p:spPr>
            <a:xfrm>
              <a:off x="8111667" y="1981870"/>
              <a:ext cx="1471566" cy="276999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spAutoFit/>
            </a:bodyPr>
            <a:lstStyle/>
            <a:p>
              <a:pPr algn="ctr"/>
              <a:r>
                <a:rPr lang="ko-KR" altLang="en-US" sz="1200" b="1" dirty="0">
                  <a:solidFill>
                    <a:schemeClr val="bg1"/>
                  </a:solidFill>
                  <a:latin typeface="+mj-ea"/>
                  <a:ea typeface="+mj-ea"/>
                  <a:cs typeface="Roboto Light" charset="0"/>
                </a:rPr>
                <a:t>오브젝트 스토리지의 아키텍처 특징</a:t>
              </a:r>
              <a:endParaRPr lang="en-GB" sz="1200" b="1" dirty="0">
                <a:solidFill>
                  <a:schemeClr val="bg1"/>
                </a:solidFill>
                <a:latin typeface="+mj-ea"/>
                <a:ea typeface="+mj-ea"/>
                <a:cs typeface="Roboto Light" charset="0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5521310E-EF88-A8D4-0BC3-12E9AD061447}"/>
              </a:ext>
            </a:extLst>
          </p:cNvPr>
          <p:cNvSpPr txBox="1"/>
          <p:nvPr/>
        </p:nvSpPr>
        <p:spPr>
          <a:xfrm>
            <a:off x="8350374" y="3335623"/>
            <a:ext cx="3139715" cy="872547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300" dirty="0">
                <a:latin typeface="+mn-ea"/>
                <a:cs typeface="Roboto Light" charset="0"/>
              </a:rPr>
              <a:t>오브젝트 스토리지는 수평적으로 확장되어 사실상 </a:t>
            </a:r>
            <a:r>
              <a:rPr lang="ko-KR" altLang="en-US" sz="1300" b="1" dirty="0">
                <a:solidFill>
                  <a:schemeClr val="accent1"/>
                </a:solidFill>
                <a:latin typeface="+mn-ea"/>
                <a:cs typeface="Roboto Light" charset="0"/>
              </a:rPr>
              <a:t>무한한 확장성</a:t>
            </a:r>
            <a:r>
              <a:rPr lang="ko-KR" altLang="en-US" sz="1300" dirty="0">
                <a:latin typeface="+mn-ea"/>
                <a:cs typeface="Roboto Light" charset="0"/>
              </a:rPr>
              <a:t>을 제공하며 </a:t>
            </a:r>
            <a:r>
              <a:rPr lang="ko-KR" altLang="en-US" sz="1300" b="1" dirty="0">
                <a:solidFill>
                  <a:schemeClr val="accent1"/>
                </a:solidFill>
                <a:latin typeface="+mn-ea"/>
                <a:cs typeface="Roboto Light" charset="0"/>
              </a:rPr>
              <a:t>서비스 중단 없는 확장 </a:t>
            </a:r>
            <a:r>
              <a:rPr lang="ko-KR" altLang="en-US" sz="1300" dirty="0">
                <a:latin typeface="+mn-ea"/>
                <a:cs typeface="Roboto Light" charset="0"/>
              </a:rPr>
              <a:t>지원</a:t>
            </a:r>
            <a:endParaRPr lang="en-GB" sz="1300" dirty="0">
              <a:latin typeface="+mn-ea"/>
              <a:cs typeface="Roboto Light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="" xmlns:a16="http://schemas.microsoft.com/office/drawing/2014/main" id="{CC0747DA-6E60-A7E2-1D42-845D250F99F1}"/>
              </a:ext>
            </a:extLst>
          </p:cNvPr>
          <p:cNvSpPr txBox="1"/>
          <p:nvPr/>
        </p:nvSpPr>
        <p:spPr>
          <a:xfrm>
            <a:off x="8350374" y="4875098"/>
            <a:ext cx="3317370" cy="845168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300" dirty="0">
                <a:latin typeface="+mn-ea"/>
                <a:cs typeface="Roboto Light" charset="0"/>
              </a:rPr>
              <a:t>디렉토리 구조를 가지지 않으며 </a:t>
            </a:r>
            <a:endParaRPr lang="en-GB" altLang="ko-KR" sz="1300" dirty="0">
              <a:latin typeface="+mn-ea"/>
              <a:cs typeface="Roboto Light" charset="0"/>
            </a:endParaRPr>
          </a:p>
          <a:p>
            <a:pPr>
              <a:lnSpc>
                <a:spcPct val="130000"/>
              </a:lnSpc>
            </a:pPr>
            <a:r>
              <a:rPr lang="ko-KR" altLang="en-US" sz="1300" dirty="0">
                <a:latin typeface="+mn-ea"/>
                <a:cs typeface="Roboto Light" charset="0"/>
              </a:rPr>
              <a:t>모든 오브젝트들은 메타 정보를 포함하여 </a:t>
            </a:r>
            <a:r>
              <a:rPr lang="en-GB" altLang="ko-KR" sz="1300" dirty="0">
                <a:latin typeface="+mn-ea"/>
                <a:cs typeface="Roboto Light" charset="0"/>
              </a:rPr>
              <a:t>REST API</a:t>
            </a:r>
            <a:r>
              <a:rPr lang="ko-KR" altLang="en-US" sz="1300" dirty="0">
                <a:latin typeface="+mn-ea"/>
                <a:cs typeface="Roboto Light" charset="0"/>
              </a:rPr>
              <a:t>를 통해 </a:t>
            </a:r>
            <a:r>
              <a:rPr lang="ko-KR" altLang="en-US" sz="1300" b="1" dirty="0">
                <a:solidFill>
                  <a:schemeClr val="accent1"/>
                </a:solidFill>
                <a:latin typeface="+mn-ea"/>
                <a:cs typeface="Roboto Light" charset="0"/>
              </a:rPr>
              <a:t>손쉽게 데이터에 접근</a:t>
            </a:r>
            <a:endParaRPr lang="en-GB" sz="1300" b="1" dirty="0">
              <a:solidFill>
                <a:schemeClr val="accent1"/>
              </a:solidFill>
              <a:latin typeface="+mn-ea"/>
              <a:cs typeface="Roboto Light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14142" y="3135814"/>
            <a:ext cx="1095238" cy="1295238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14144" y="4775690"/>
            <a:ext cx="1171429" cy="1361905"/>
          </a:xfrm>
          <a:prstGeom prst="rect">
            <a:avLst/>
          </a:prstGeom>
        </p:spPr>
      </p:pic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5038668"/>
              </p:ext>
            </p:extLst>
          </p:nvPr>
        </p:nvGraphicFramePr>
        <p:xfrm>
          <a:off x="841711" y="3022592"/>
          <a:ext cx="5662606" cy="32847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93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49237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58331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78098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82479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0083CE"/>
                        </a:solidFill>
                        <a:latin typeface="SB 어그로 Medium" panose="02020603020101020101" pitchFamily="18" charset="-127"/>
                        <a:ea typeface="SB 어그로 Medium" panose="02020603020101020101" pitchFamily="18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0083CE"/>
                          </a:solidFill>
                          <a:latin typeface="SB 어그로 Medium" panose="02020603020101020101" pitchFamily="18" charset="-127"/>
                          <a:ea typeface="SB 어그로 Medium" panose="02020603020101020101" pitchFamily="18" charset="-127"/>
                        </a:rPr>
                        <a:t>Block</a:t>
                      </a:r>
                      <a:r>
                        <a:rPr lang="en-US" altLang="ko-KR" sz="1200" b="0" baseline="0" dirty="0">
                          <a:solidFill>
                            <a:srgbClr val="0083CE"/>
                          </a:solidFill>
                          <a:latin typeface="SB 어그로 Medium" panose="02020603020101020101" pitchFamily="18" charset="-127"/>
                          <a:ea typeface="SB 어그로 Medium" panose="02020603020101020101" pitchFamily="18" charset="-127"/>
                        </a:rPr>
                        <a:t> Storage</a:t>
                      </a:r>
                      <a:endParaRPr lang="ko-KR" altLang="en-US" sz="1200" b="0" dirty="0">
                        <a:solidFill>
                          <a:srgbClr val="0083CE"/>
                        </a:solidFill>
                        <a:latin typeface="SB 어그로 Medium" panose="02020603020101020101" pitchFamily="18" charset="-127"/>
                        <a:ea typeface="SB 어그로 Medium" panose="02020603020101020101" pitchFamily="18" charset="-127"/>
                      </a:endParaRPr>
                    </a:p>
                  </a:txBody>
                  <a:tcPr anchor="b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0083CE"/>
                          </a:solidFill>
                          <a:latin typeface="SB 어그로 Medium" panose="02020603020101020101" pitchFamily="18" charset="-127"/>
                          <a:ea typeface="SB 어그로 Medium" panose="02020603020101020101" pitchFamily="18" charset="-127"/>
                        </a:rPr>
                        <a:t>File Storage</a:t>
                      </a:r>
                      <a:endParaRPr lang="ko-KR" altLang="en-US" sz="1200" b="0" dirty="0">
                        <a:solidFill>
                          <a:srgbClr val="0083CE"/>
                        </a:solidFill>
                        <a:latin typeface="SB 어그로 Medium" panose="02020603020101020101" pitchFamily="18" charset="-127"/>
                        <a:ea typeface="SB 어그로 Medium" panose="02020603020101020101" pitchFamily="18" charset="-127"/>
                      </a:endParaRPr>
                    </a:p>
                  </a:txBody>
                  <a:tcPr anchor="b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0083CE"/>
                          </a:solidFill>
                          <a:latin typeface="SB 어그로 Medium" panose="02020603020101020101" pitchFamily="18" charset="-127"/>
                          <a:ea typeface="SB 어그로 Medium" panose="02020603020101020101" pitchFamily="18" charset="-127"/>
                        </a:rPr>
                        <a:t>Object Storage</a:t>
                      </a:r>
                      <a:endParaRPr lang="ko-KR" altLang="en-US" sz="1200" b="0" dirty="0">
                        <a:solidFill>
                          <a:srgbClr val="0083CE"/>
                        </a:solidFill>
                        <a:latin typeface="SB 어그로 Medium" panose="02020603020101020101" pitchFamily="18" charset="-127"/>
                        <a:ea typeface="SB 어그로 Medium" panose="02020603020101020101" pitchFamily="18" charset="-127"/>
                      </a:endParaRPr>
                    </a:p>
                  </a:txBody>
                  <a:tcPr anchor="b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88975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개념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데이터를 일정한 크기의 블록으로 저장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파일과 폴더의 계층 구조에 저장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오브젝트 단위로 데이터를 저장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88975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장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/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단점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다양한 접근 경로로 신속한 접근 가능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5B9BD5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고비용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5B9BD5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,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5B9BD5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관리자의 작업 부담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5B9BD5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전통적인 방식으로 사용자 친화적 사용 방법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5B9BD5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데이터 양이 증가할수록 성능 저하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5B9BD5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평면구조로 데이터 접근이 빠르고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5B9BD5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확장성이 좋음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5B9BD5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가장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B9BD5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비용 효율적인 스토리지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형태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88975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성능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데이터베이스 및 트랜잭션 데이터에 가장 적합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작은 파일에 적합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대용량 </a:t>
                      </a:r>
                      <a:r>
                        <a:rPr kumimoji="0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콘텐츠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및 높은 </a:t>
                      </a:r>
                      <a:r>
                        <a:rPr kumimoji="0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스트림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처리량에 적합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1" name="그림 30">
            <a:extLst>
              <a:ext uri="{FF2B5EF4-FFF2-40B4-BE49-F238E27FC236}">
                <a16:creationId xmlns="" xmlns:a16="http://schemas.microsoft.com/office/drawing/2014/main" id="{E534BF91-4F2B-6630-F81E-14FF0EA35C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90275" y="3080349"/>
            <a:ext cx="576064" cy="449611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="" xmlns:a16="http://schemas.microsoft.com/office/drawing/2014/main" id="{A9CB918B-0A2F-6F17-74DB-84B7197E67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53754" y="3080349"/>
            <a:ext cx="522298" cy="448640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="" xmlns:a16="http://schemas.microsoft.com/office/drawing/2014/main" id="{D24929C9-9D1A-047A-0768-B7847BF624EB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301991" y="3080349"/>
            <a:ext cx="673444" cy="457200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10273849" y="6363545"/>
            <a:ext cx="306355" cy="274324"/>
          </a:xfrm>
        </p:spPr>
        <p:txBody>
          <a:bodyPr/>
          <a:lstStyle/>
          <a:p>
            <a:fld id="{AFA02C0B-84B5-4CD2-A6CE-C6BD7D6F9045}" type="slidenum">
              <a:rPr lang="ko-KR" altLang="en-US" smtClean="0">
                <a:solidFill>
                  <a:schemeClr val="bg1"/>
                </a:solidFill>
              </a:rPr>
              <a:t>25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="" xmlns:a16="http://schemas.microsoft.com/office/drawing/2014/main" id="{05732AE4-C8C5-A927-E21B-07F2F8AC0C66}"/>
              </a:ext>
            </a:extLst>
          </p:cNvPr>
          <p:cNvSpPr/>
          <p:nvPr/>
        </p:nvSpPr>
        <p:spPr>
          <a:xfrm>
            <a:off x="4671278" y="2936530"/>
            <a:ext cx="1897840" cy="3427015"/>
          </a:xfrm>
          <a:prstGeom prst="rect">
            <a:avLst/>
          </a:prstGeom>
          <a:solidFill>
            <a:schemeClr val="accent6">
              <a:alpha val="2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49577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다양한 컴퓨팅 인프라 활용</a:t>
            </a:r>
            <a:endParaRPr lang="ko-KR" altLang="en-US" sz="1400" dirty="0">
              <a:solidFill>
                <a:srgbClr val="0083CE"/>
              </a:solidFill>
              <a:latin typeface="+mj-ea"/>
              <a:ea typeface="+mj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715639" y="1387082"/>
            <a:ext cx="10891643" cy="9316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버티카는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Software only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제품으로 특정 하드웨어나 인프라 환경에 의존하지 않기 때문에 다양한 형태로 배포하고 운영할 수 있습니다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.  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특정 기술이나 벤더에 종속되지 않아 장기간 플랫폼을 운영하는데 있어 안정성과 효율성이 담보되며 하이브리드 형태의 구현이 용이해지기 때문에 최적의 컴퓨팅 활용이 가능해집니다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.</a:t>
            </a: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Pretendard Variable Medium" panose="02000003000000020004" pitchFamily="2" charset="-127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="" xmlns:a16="http://schemas.microsoft.com/office/drawing/2014/main" id="{B9A8AB9C-3EC2-ACAB-8980-344257A8051B}"/>
              </a:ext>
            </a:extLst>
          </p:cNvPr>
          <p:cNvGrpSpPr/>
          <p:nvPr/>
        </p:nvGrpSpPr>
        <p:grpSpPr>
          <a:xfrm>
            <a:off x="2323322" y="2316846"/>
            <a:ext cx="4636799" cy="251817"/>
            <a:chOff x="2063830" y="1927697"/>
            <a:chExt cx="2925042" cy="405553"/>
          </a:xfrm>
        </p:grpSpPr>
        <p:sp>
          <p:nvSpPr>
            <p:cNvPr id="20" name="직사각형 19">
              <a:extLst>
                <a:ext uri="{FF2B5EF4-FFF2-40B4-BE49-F238E27FC236}">
                  <a16:creationId xmlns="" xmlns:a16="http://schemas.microsoft.com/office/drawing/2014/main" id="{45B1D5A5-95D7-FB94-F89C-14DCCB75D910}"/>
                </a:ext>
              </a:extLst>
            </p:cNvPr>
            <p:cNvSpPr/>
            <p:nvPr/>
          </p:nvSpPr>
          <p:spPr>
            <a:xfrm>
              <a:off x="2063830" y="1956176"/>
              <a:ext cx="2925042" cy="368943"/>
            </a:xfrm>
            <a:prstGeom prst="rect">
              <a:avLst/>
            </a:prstGeom>
            <a:solidFill>
              <a:srgbClr val="1668C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GB" sz="1500" b="1" dirty="0">
                <a:solidFill>
                  <a:schemeClr val="bg1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="" xmlns:a16="http://schemas.microsoft.com/office/drawing/2014/main" id="{56674B17-A955-391F-77B2-8CAC491F8560}"/>
                </a:ext>
              </a:extLst>
            </p:cNvPr>
            <p:cNvSpPr txBox="1"/>
            <p:nvPr/>
          </p:nvSpPr>
          <p:spPr>
            <a:xfrm>
              <a:off x="3269333" y="1927697"/>
              <a:ext cx="514036" cy="405553"/>
            </a:xfrm>
            <a:prstGeom prst="rect">
              <a:avLst/>
            </a:prstGeom>
          </p:spPr>
          <p:txBody>
            <a:bodyPr vert="horz" wrap="none" lIns="91440" tIns="45720" rIns="91440" bIns="45720" rtlCol="0" anchor="ctr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Roboto Light" charset="0"/>
                </a:rPr>
                <a:t>On-premise</a:t>
              </a:r>
              <a:endParaRPr lang="en-GB" sz="12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Roboto Light" charset="0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="" xmlns:a16="http://schemas.microsoft.com/office/drawing/2014/main" id="{6D099F1A-C66F-6E9E-39C0-D46B7F7D7D80}"/>
              </a:ext>
            </a:extLst>
          </p:cNvPr>
          <p:cNvGrpSpPr/>
          <p:nvPr/>
        </p:nvGrpSpPr>
        <p:grpSpPr>
          <a:xfrm>
            <a:off x="6969967" y="2316846"/>
            <a:ext cx="4637316" cy="251817"/>
            <a:chOff x="7630664" y="1917594"/>
            <a:chExt cx="2401687" cy="405553"/>
          </a:xfrm>
        </p:grpSpPr>
        <p:sp>
          <p:nvSpPr>
            <p:cNvPr id="23" name="직사각형 22">
              <a:extLst>
                <a:ext uri="{FF2B5EF4-FFF2-40B4-BE49-F238E27FC236}">
                  <a16:creationId xmlns="" xmlns:a16="http://schemas.microsoft.com/office/drawing/2014/main" id="{D4602A0B-2692-3102-9904-EB899CD2D31D}"/>
                </a:ext>
              </a:extLst>
            </p:cNvPr>
            <p:cNvSpPr/>
            <p:nvPr/>
          </p:nvSpPr>
          <p:spPr>
            <a:xfrm>
              <a:off x="7630664" y="1946073"/>
              <a:ext cx="2401687" cy="368943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GB" sz="1500" b="1" dirty="0">
                <a:solidFill>
                  <a:schemeClr val="bg1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0E635D7B-4F79-C7FD-1F42-E9E85AAD0833}"/>
                </a:ext>
              </a:extLst>
            </p:cNvPr>
            <p:cNvSpPr txBox="1"/>
            <p:nvPr/>
          </p:nvSpPr>
          <p:spPr>
            <a:xfrm>
              <a:off x="8687720" y="1917594"/>
              <a:ext cx="287575" cy="405553"/>
            </a:xfrm>
            <a:prstGeom prst="rect">
              <a:avLst/>
            </a:prstGeom>
          </p:spPr>
          <p:txBody>
            <a:bodyPr vert="horz" wrap="none" lIns="91440" tIns="45720" rIns="91440" bIns="45720" rtlCol="0" anchor="ctr" anchorCtr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  <a:latin typeface="나눔고딕" pitchFamily="2" charset="-127"/>
                  <a:ea typeface="나눔고딕" pitchFamily="2" charset="-127"/>
                  <a:cs typeface="Roboto Light" charset="0"/>
                </a:rPr>
                <a:t>Cloud</a:t>
              </a:r>
              <a:endParaRPr lang="en-GB" sz="1200" b="1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Roboto Light" charset="0"/>
              </a:endParaRPr>
            </a:p>
          </p:txBody>
        </p:sp>
      </p:grp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32557" y="5608127"/>
            <a:ext cx="1065639" cy="95517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A17C8E32-604B-3864-D0E2-FEB3EB5C64CD}"/>
              </a:ext>
            </a:extLst>
          </p:cNvPr>
          <p:cNvSpPr txBox="1"/>
          <p:nvPr/>
        </p:nvSpPr>
        <p:spPr>
          <a:xfrm>
            <a:off x="654193" y="5511903"/>
            <a:ext cx="1674531" cy="3468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/>
            <a:r>
              <a:rPr lang="en-US" altLang="ko-KR" sz="2400" b="1" dirty="0">
                <a:latin typeface="+mn-lt"/>
                <a:ea typeface="Roboto Light" charset="0"/>
                <a:cs typeface="Roboto Light" charset="0"/>
              </a:rPr>
              <a:t>Storage</a:t>
            </a:r>
            <a:endParaRPr lang="en-GB" sz="2400" b="1" dirty="0">
              <a:latin typeface="+mn-lt"/>
              <a:ea typeface="Roboto Light" charset="0"/>
              <a:cs typeface="Roboto Light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A17C8E32-604B-3864-D0E2-FEB3EB5C64CD}"/>
              </a:ext>
            </a:extLst>
          </p:cNvPr>
          <p:cNvSpPr txBox="1"/>
          <p:nvPr/>
        </p:nvSpPr>
        <p:spPr>
          <a:xfrm>
            <a:off x="654193" y="2676709"/>
            <a:ext cx="1674531" cy="3468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/>
            <a:r>
              <a:rPr lang="en-US" sz="2400" b="1" dirty="0">
                <a:ea typeface="Roboto Light" charset="0"/>
                <a:cs typeface="Roboto Light" charset="0"/>
              </a:rPr>
              <a:t>Compute</a:t>
            </a:r>
            <a:endParaRPr lang="en-GB" sz="2400" b="1" dirty="0">
              <a:ea typeface="Roboto Light" charset="0"/>
              <a:cs typeface="Roboto Light" charset="0"/>
            </a:endParaRPr>
          </a:p>
        </p:txBody>
      </p:sp>
      <p:cxnSp>
        <p:nvCxnSpPr>
          <p:cNvPr id="235" name="직선 연결선 234"/>
          <p:cNvCxnSpPr/>
          <p:nvPr/>
        </p:nvCxnSpPr>
        <p:spPr>
          <a:xfrm>
            <a:off x="616859" y="5448310"/>
            <a:ext cx="11031125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0" name="그룹 259"/>
          <p:cNvGrpSpPr/>
          <p:nvPr/>
        </p:nvGrpSpPr>
        <p:grpSpPr>
          <a:xfrm>
            <a:off x="2572885" y="2885731"/>
            <a:ext cx="4055976" cy="2471217"/>
            <a:chOff x="2432922" y="2885731"/>
            <a:chExt cx="4055976" cy="2471217"/>
          </a:xfrm>
        </p:grpSpPr>
        <p:grpSp>
          <p:nvGrpSpPr>
            <p:cNvPr id="237" name="그룹 236"/>
            <p:cNvGrpSpPr/>
            <p:nvPr/>
          </p:nvGrpSpPr>
          <p:grpSpPr>
            <a:xfrm>
              <a:off x="2432922" y="3259791"/>
              <a:ext cx="1016391" cy="1548223"/>
              <a:chOff x="1115847" y="3314953"/>
              <a:chExt cx="1016391" cy="1548223"/>
            </a:xfrm>
          </p:grpSpPr>
          <p:pic>
            <p:nvPicPr>
              <p:cNvPr id="35" name="Picture 8" descr="특파원 리포트] 델테크놀로지(DELL.K), 3분기 실적 시장 컨센서스 상회 - 인포스탁데일리">
                <a:extLst>
                  <a:ext uri="{FF2B5EF4-FFF2-40B4-BE49-F238E27FC236}">
                    <a16:creationId xmlns="" xmlns:a16="http://schemas.microsoft.com/office/drawing/2014/main" id="{45DE57EC-1D5A-45D1-E581-8EBAAA983BC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26022" y="3938802"/>
                <a:ext cx="596040" cy="5960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6" name="Picture 6" descr="HPE (Hewlett Packard Enterprise Company) Logo and symbol, meaning, history,  PNG">
                <a:extLst>
                  <a:ext uri="{FF2B5EF4-FFF2-40B4-BE49-F238E27FC236}">
                    <a16:creationId xmlns="" xmlns:a16="http://schemas.microsoft.com/office/drawing/2014/main" id="{C7E7DEA0-19E4-D453-641F-03D5974D9E3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15847" y="3314953"/>
                <a:ext cx="1016391" cy="6394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7" name="Picture 10" descr="레노버, 자사 노트북 제품군 대상 BIOS 보안 업데이트 권고">
                <a:extLst>
                  <a:ext uri="{FF2B5EF4-FFF2-40B4-BE49-F238E27FC236}">
                    <a16:creationId xmlns="" xmlns:a16="http://schemas.microsoft.com/office/drawing/2014/main" id="{1450657C-8B6C-D350-F904-9795EE35CD7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01525" y="4581497"/>
                <a:ext cx="845034" cy="28167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54" name="그룹 253"/>
            <p:cNvGrpSpPr/>
            <p:nvPr/>
          </p:nvGrpSpPr>
          <p:grpSpPr>
            <a:xfrm>
              <a:off x="3583952" y="2885731"/>
              <a:ext cx="2904946" cy="2268650"/>
              <a:chOff x="3583952" y="2924423"/>
              <a:chExt cx="2904946" cy="2268650"/>
            </a:xfrm>
          </p:grpSpPr>
          <p:grpSp>
            <p:nvGrpSpPr>
              <p:cNvPr id="14" name="그룹 13"/>
              <p:cNvGrpSpPr/>
              <p:nvPr/>
            </p:nvGrpSpPr>
            <p:grpSpPr>
              <a:xfrm>
                <a:off x="3583952" y="2980409"/>
                <a:ext cx="2904946" cy="997289"/>
                <a:chOff x="3583952" y="2868271"/>
                <a:chExt cx="2904946" cy="997289"/>
              </a:xfrm>
            </p:grpSpPr>
            <p:grpSp>
              <p:nvGrpSpPr>
                <p:cNvPr id="13" name="그룹 12"/>
                <p:cNvGrpSpPr/>
                <p:nvPr/>
              </p:nvGrpSpPr>
              <p:grpSpPr>
                <a:xfrm>
                  <a:off x="3583952" y="2868271"/>
                  <a:ext cx="812478" cy="997289"/>
                  <a:chOff x="3574621" y="2848088"/>
                  <a:chExt cx="812478" cy="997289"/>
                </a:xfrm>
              </p:grpSpPr>
              <p:sp>
                <p:nvSpPr>
                  <p:cNvPr id="41" name="모서리가 둥근 직사각형 40"/>
                  <p:cNvSpPr/>
                  <p:nvPr/>
                </p:nvSpPr>
                <p:spPr>
                  <a:xfrm>
                    <a:off x="3574621" y="2848088"/>
                    <a:ext cx="812478" cy="200305"/>
                  </a:xfrm>
                  <a:prstGeom prst="roundRect">
                    <a:avLst>
                      <a:gd name="adj" fmla="val 0"/>
                    </a:avLst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7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rPr>
                      <a:t>Compute Node</a:t>
                    </a:r>
                  </a:p>
                </p:txBody>
              </p:sp>
              <p:grpSp>
                <p:nvGrpSpPr>
                  <p:cNvPr id="12" name="그룹 11"/>
                  <p:cNvGrpSpPr/>
                  <p:nvPr/>
                </p:nvGrpSpPr>
                <p:grpSpPr>
                  <a:xfrm>
                    <a:off x="3630963" y="3032449"/>
                    <a:ext cx="699795" cy="812928"/>
                    <a:chOff x="3620278" y="3032449"/>
                    <a:chExt cx="699795" cy="812928"/>
                  </a:xfrm>
                </p:grpSpPr>
                <p:sp>
                  <p:nvSpPr>
                    <p:cNvPr id="8" name="모서리가 둥근 직사각형 7"/>
                    <p:cNvSpPr/>
                    <p:nvPr/>
                  </p:nvSpPr>
                  <p:spPr>
                    <a:xfrm>
                      <a:off x="3620278" y="3032449"/>
                      <a:ext cx="699795" cy="812928"/>
                    </a:xfrm>
                    <a:prstGeom prst="roundRect">
                      <a:avLst>
                        <a:gd name="adj" fmla="val 4667"/>
                      </a:avLst>
                    </a:prstGeom>
                    <a:solidFill>
                      <a:srgbClr val="0070C0"/>
                    </a:solidFill>
                    <a:ln>
                      <a:solidFill>
                        <a:srgbClr val="0070C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39" name="모서리가 둥근 직사각형 38"/>
                    <p:cNvSpPr/>
                    <p:nvPr/>
                  </p:nvSpPr>
                  <p:spPr>
                    <a:xfrm>
                      <a:off x="3642020" y="3046937"/>
                      <a:ext cx="671469" cy="200304"/>
                    </a:xfrm>
                    <a:prstGeom prst="roundRect">
                      <a:avLst>
                        <a:gd name="adj" fmla="val 0"/>
                      </a:avLst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sz="700" dirty="0"/>
                        <a:t>OS (Linux)</a:t>
                      </a:r>
                    </a:p>
                  </p:txBody>
                </p:sp>
                <p:sp>
                  <p:nvSpPr>
                    <p:cNvPr id="40" name="모서리가 둥근 직사각형 39"/>
                    <p:cNvSpPr/>
                    <p:nvPr/>
                  </p:nvSpPr>
                  <p:spPr>
                    <a:xfrm>
                      <a:off x="3672541" y="3292622"/>
                      <a:ext cx="610426" cy="182095"/>
                    </a:xfrm>
                    <a:prstGeom prst="roundRect">
                      <a:avLst>
                        <a:gd name="adj" fmla="val 0"/>
                      </a:avLst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sz="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Vertica</a:t>
                      </a:r>
                    </a:p>
                  </p:txBody>
                </p:sp>
                <p:grpSp>
                  <p:nvGrpSpPr>
                    <p:cNvPr id="11" name="그룹 10"/>
                    <p:cNvGrpSpPr/>
                    <p:nvPr/>
                  </p:nvGrpSpPr>
                  <p:grpSpPr>
                    <a:xfrm>
                      <a:off x="3641801" y="3506620"/>
                      <a:ext cx="671469" cy="292102"/>
                      <a:chOff x="3641801" y="3506620"/>
                      <a:chExt cx="671469" cy="292102"/>
                    </a:xfrm>
                  </p:grpSpPr>
                  <p:sp>
                    <p:nvSpPr>
                      <p:cNvPr id="10" name="순서도: 자기 디스크 9"/>
                      <p:cNvSpPr/>
                      <p:nvPr/>
                    </p:nvSpPr>
                    <p:spPr>
                      <a:xfrm>
                        <a:off x="3653381" y="3506620"/>
                        <a:ext cx="633588" cy="280053"/>
                      </a:xfrm>
                      <a:prstGeom prst="flowChartMagneticDisk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42" name="모서리가 둥근 직사각형 41"/>
                      <p:cNvSpPr/>
                      <p:nvPr/>
                    </p:nvSpPr>
                    <p:spPr>
                      <a:xfrm>
                        <a:off x="3641801" y="3598417"/>
                        <a:ext cx="671469" cy="200305"/>
                      </a:xfrm>
                      <a:prstGeom prst="roundRect">
                        <a:avLst>
                          <a:gd name="adj" fmla="val 0"/>
                        </a:avLst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ko-KR" sz="7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rPr>
                          <a:t>Disk Cache</a:t>
                        </a:r>
                      </a:p>
                    </p:txBody>
                  </p:sp>
                </p:grpSp>
              </p:grpSp>
            </p:grpSp>
            <p:grpSp>
              <p:nvGrpSpPr>
                <p:cNvPr id="98" name="그룹 97"/>
                <p:cNvGrpSpPr/>
                <p:nvPr/>
              </p:nvGrpSpPr>
              <p:grpSpPr>
                <a:xfrm>
                  <a:off x="4630186" y="2868271"/>
                  <a:ext cx="812478" cy="997289"/>
                  <a:chOff x="3574621" y="2848088"/>
                  <a:chExt cx="812478" cy="997289"/>
                </a:xfrm>
              </p:grpSpPr>
              <p:sp>
                <p:nvSpPr>
                  <p:cNvPr id="99" name="모서리가 둥근 직사각형 98"/>
                  <p:cNvSpPr/>
                  <p:nvPr/>
                </p:nvSpPr>
                <p:spPr>
                  <a:xfrm>
                    <a:off x="3574621" y="2848088"/>
                    <a:ext cx="812478" cy="200305"/>
                  </a:xfrm>
                  <a:prstGeom prst="roundRect">
                    <a:avLst>
                      <a:gd name="adj" fmla="val 0"/>
                    </a:avLst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7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rPr>
                      <a:t>Compute Node</a:t>
                    </a:r>
                  </a:p>
                </p:txBody>
              </p:sp>
              <p:grpSp>
                <p:nvGrpSpPr>
                  <p:cNvPr id="100" name="그룹 99"/>
                  <p:cNvGrpSpPr/>
                  <p:nvPr/>
                </p:nvGrpSpPr>
                <p:grpSpPr>
                  <a:xfrm>
                    <a:off x="3630963" y="3032449"/>
                    <a:ext cx="699795" cy="812928"/>
                    <a:chOff x="3620278" y="3032449"/>
                    <a:chExt cx="699795" cy="812928"/>
                  </a:xfrm>
                </p:grpSpPr>
                <p:sp>
                  <p:nvSpPr>
                    <p:cNvPr id="101" name="모서리가 둥근 직사각형 100"/>
                    <p:cNvSpPr/>
                    <p:nvPr/>
                  </p:nvSpPr>
                  <p:spPr>
                    <a:xfrm>
                      <a:off x="3620278" y="3032449"/>
                      <a:ext cx="699795" cy="812928"/>
                    </a:xfrm>
                    <a:prstGeom prst="roundRect">
                      <a:avLst>
                        <a:gd name="adj" fmla="val 4667"/>
                      </a:avLst>
                    </a:prstGeom>
                    <a:solidFill>
                      <a:srgbClr val="0070C0"/>
                    </a:solidFill>
                    <a:ln>
                      <a:solidFill>
                        <a:srgbClr val="0070C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102" name="모서리가 둥근 직사각형 101"/>
                    <p:cNvSpPr/>
                    <p:nvPr/>
                  </p:nvSpPr>
                  <p:spPr>
                    <a:xfrm>
                      <a:off x="3642020" y="3046937"/>
                      <a:ext cx="671469" cy="200304"/>
                    </a:xfrm>
                    <a:prstGeom prst="roundRect">
                      <a:avLst>
                        <a:gd name="adj" fmla="val 0"/>
                      </a:avLst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sz="700" dirty="0"/>
                        <a:t>OS (Linux)</a:t>
                      </a:r>
                    </a:p>
                  </p:txBody>
                </p:sp>
                <p:sp>
                  <p:nvSpPr>
                    <p:cNvPr id="103" name="모서리가 둥근 직사각형 102"/>
                    <p:cNvSpPr/>
                    <p:nvPr/>
                  </p:nvSpPr>
                  <p:spPr>
                    <a:xfrm>
                      <a:off x="3672541" y="3292622"/>
                      <a:ext cx="610426" cy="182095"/>
                    </a:xfrm>
                    <a:prstGeom prst="roundRect">
                      <a:avLst>
                        <a:gd name="adj" fmla="val 0"/>
                      </a:avLst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sz="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Vertica</a:t>
                      </a:r>
                    </a:p>
                  </p:txBody>
                </p:sp>
                <p:grpSp>
                  <p:nvGrpSpPr>
                    <p:cNvPr id="104" name="그룹 103"/>
                    <p:cNvGrpSpPr/>
                    <p:nvPr/>
                  </p:nvGrpSpPr>
                  <p:grpSpPr>
                    <a:xfrm>
                      <a:off x="3641801" y="3506620"/>
                      <a:ext cx="671469" cy="292102"/>
                      <a:chOff x="3641801" y="3506620"/>
                      <a:chExt cx="671469" cy="292102"/>
                    </a:xfrm>
                  </p:grpSpPr>
                  <p:sp>
                    <p:nvSpPr>
                      <p:cNvPr id="105" name="순서도: 자기 디스크 104"/>
                      <p:cNvSpPr/>
                      <p:nvPr/>
                    </p:nvSpPr>
                    <p:spPr>
                      <a:xfrm>
                        <a:off x="3653381" y="3506620"/>
                        <a:ext cx="633588" cy="280053"/>
                      </a:xfrm>
                      <a:prstGeom prst="flowChartMagneticDisk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106" name="모서리가 둥근 직사각형 105"/>
                      <p:cNvSpPr/>
                      <p:nvPr/>
                    </p:nvSpPr>
                    <p:spPr>
                      <a:xfrm>
                        <a:off x="3641801" y="3598417"/>
                        <a:ext cx="671469" cy="200305"/>
                      </a:xfrm>
                      <a:prstGeom prst="roundRect">
                        <a:avLst>
                          <a:gd name="adj" fmla="val 0"/>
                        </a:avLst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ko-KR" sz="7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rPr>
                          <a:t>Disk Cache</a:t>
                        </a:r>
                      </a:p>
                    </p:txBody>
                  </p:sp>
                </p:grpSp>
              </p:grpSp>
            </p:grpSp>
            <p:grpSp>
              <p:nvGrpSpPr>
                <p:cNvPr id="107" name="그룹 106"/>
                <p:cNvGrpSpPr/>
                <p:nvPr/>
              </p:nvGrpSpPr>
              <p:grpSpPr>
                <a:xfrm>
                  <a:off x="5676420" y="2868271"/>
                  <a:ext cx="812478" cy="997289"/>
                  <a:chOff x="3574621" y="2848088"/>
                  <a:chExt cx="812478" cy="997289"/>
                </a:xfrm>
              </p:grpSpPr>
              <p:sp>
                <p:nvSpPr>
                  <p:cNvPr id="108" name="모서리가 둥근 직사각형 107"/>
                  <p:cNvSpPr/>
                  <p:nvPr/>
                </p:nvSpPr>
                <p:spPr>
                  <a:xfrm>
                    <a:off x="3574621" y="2848088"/>
                    <a:ext cx="812478" cy="200305"/>
                  </a:xfrm>
                  <a:prstGeom prst="roundRect">
                    <a:avLst>
                      <a:gd name="adj" fmla="val 0"/>
                    </a:avLst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7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rPr>
                      <a:t>Compute Node</a:t>
                    </a:r>
                  </a:p>
                </p:txBody>
              </p:sp>
              <p:grpSp>
                <p:nvGrpSpPr>
                  <p:cNvPr id="109" name="그룹 108"/>
                  <p:cNvGrpSpPr/>
                  <p:nvPr/>
                </p:nvGrpSpPr>
                <p:grpSpPr>
                  <a:xfrm>
                    <a:off x="3630963" y="3032449"/>
                    <a:ext cx="699795" cy="812928"/>
                    <a:chOff x="3620278" y="3032449"/>
                    <a:chExt cx="699795" cy="812928"/>
                  </a:xfrm>
                </p:grpSpPr>
                <p:sp>
                  <p:nvSpPr>
                    <p:cNvPr id="110" name="모서리가 둥근 직사각형 109"/>
                    <p:cNvSpPr/>
                    <p:nvPr/>
                  </p:nvSpPr>
                  <p:spPr>
                    <a:xfrm>
                      <a:off x="3620278" y="3032449"/>
                      <a:ext cx="699795" cy="812928"/>
                    </a:xfrm>
                    <a:prstGeom prst="roundRect">
                      <a:avLst>
                        <a:gd name="adj" fmla="val 4667"/>
                      </a:avLst>
                    </a:prstGeom>
                    <a:solidFill>
                      <a:srgbClr val="0070C0"/>
                    </a:solidFill>
                    <a:ln>
                      <a:solidFill>
                        <a:srgbClr val="0070C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111" name="모서리가 둥근 직사각형 110"/>
                    <p:cNvSpPr/>
                    <p:nvPr/>
                  </p:nvSpPr>
                  <p:spPr>
                    <a:xfrm>
                      <a:off x="3642020" y="3046937"/>
                      <a:ext cx="671469" cy="200304"/>
                    </a:xfrm>
                    <a:prstGeom prst="roundRect">
                      <a:avLst>
                        <a:gd name="adj" fmla="val 0"/>
                      </a:avLst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sz="700" dirty="0"/>
                        <a:t>OS (Linux)</a:t>
                      </a:r>
                    </a:p>
                  </p:txBody>
                </p:sp>
                <p:sp>
                  <p:nvSpPr>
                    <p:cNvPr id="112" name="모서리가 둥근 직사각형 111"/>
                    <p:cNvSpPr/>
                    <p:nvPr/>
                  </p:nvSpPr>
                  <p:spPr>
                    <a:xfrm>
                      <a:off x="3672541" y="3292622"/>
                      <a:ext cx="610426" cy="182095"/>
                    </a:xfrm>
                    <a:prstGeom prst="roundRect">
                      <a:avLst>
                        <a:gd name="adj" fmla="val 0"/>
                      </a:avLst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sz="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Vertica</a:t>
                      </a:r>
                    </a:p>
                  </p:txBody>
                </p:sp>
                <p:grpSp>
                  <p:nvGrpSpPr>
                    <p:cNvPr id="113" name="그룹 112"/>
                    <p:cNvGrpSpPr/>
                    <p:nvPr/>
                  </p:nvGrpSpPr>
                  <p:grpSpPr>
                    <a:xfrm>
                      <a:off x="3641801" y="3506620"/>
                      <a:ext cx="671469" cy="292102"/>
                      <a:chOff x="3641801" y="3506620"/>
                      <a:chExt cx="671469" cy="292102"/>
                    </a:xfrm>
                  </p:grpSpPr>
                  <p:sp>
                    <p:nvSpPr>
                      <p:cNvPr id="114" name="순서도: 자기 디스크 113"/>
                      <p:cNvSpPr/>
                      <p:nvPr/>
                    </p:nvSpPr>
                    <p:spPr>
                      <a:xfrm>
                        <a:off x="3653381" y="3506620"/>
                        <a:ext cx="633588" cy="280053"/>
                      </a:xfrm>
                      <a:prstGeom prst="flowChartMagneticDisk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115" name="모서리가 둥근 직사각형 114"/>
                      <p:cNvSpPr/>
                      <p:nvPr/>
                    </p:nvSpPr>
                    <p:spPr>
                      <a:xfrm>
                        <a:off x="3641801" y="3598417"/>
                        <a:ext cx="671469" cy="200305"/>
                      </a:xfrm>
                      <a:prstGeom prst="roundRect">
                        <a:avLst>
                          <a:gd name="adj" fmla="val 0"/>
                        </a:avLst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ko-KR" sz="7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rPr>
                          <a:t>Disk Cache</a:t>
                        </a:r>
                      </a:p>
                    </p:txBody>
                  </p:sp>
                </p:grpSp>
              </p:grpSp>
            </p:grpSp>
          </p:grpSp>
          <p:grpSp>
            <p:nvGrpSpPr>
              <p:cNvPr id="15" name="그룹 14"/>
              <p:cNvGrpSpPr/>
              <p:nvPr/>
            </p:nvGrpSpPr>
            <p:grpSpPr>
              <a:xfrm>
                <a:off x="3583952" y="4069495"/>
                <a:ext cx="2904946" cy="997289"/>
                <a:chOff x="3588433" y="3957357"/>
                <a:chExt cx="2904946" cy="997289"/>
              </a:xfrm>
            </p:grpSpPr>
            <p:grpSp>
              <p:nvGrpSpPr>
                <p:cNvPr id="116" name="그룹 115"/>
                <p:cNvGrpSpPr/>
                <p:nvPr/>
              </p:nvGrpSpPr>
              <p:grpSpPr>
                <a:xfrm>
                  <a:off x="3588433" y="3957357"/>
                  <a:ext cx="812478" cy="997289"/>
                  <a:chOff x="3574621" y="2848088"/>
                  <a:chExt cx="812478" cy="997289"/>
                </a:xfrm>
              </p:grpSpPr>
              <p:sp>
                <p:nvSpPr>
                  <p:cNvPr id="117" name="모서리가 둥근 직사각형 116"/>
                  <p:cNvSpPr/>
                  <p:nvPr/>
                </p:nvSpPr>
                <p:spPr>
                  <a:xfrm>
                    <a:off x="3574621" y="2848088"/>
                    <a:ext cx="812478" cy="200305"/>
                  </a:xfrm>
                  <a:prstGeom prst="roundRect">
                    <a:avLst>
                      <a:gd name="adj" fmla="val 0"/>
                    </a:avLst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7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rPr>
                      <a:t>Compute Node</a:t>
                    </a:r>
                  </a:p>
                </p:txBody>
              </p:sp>
              <p:grpSp>
                <p:nvGrpSpPr>
                  <p:cNvPr id="118" name="그룹 117"/>
                  <p:cNvGrpSpPr/>
                  <p:nvPr/>
                </p:nvGrpSpPr>
                <p:grpSpPr>
                  <a:xfrm>
                    <a:off x="3630963" y="3032449"/>
                    <a:ext cx="699795" cy="812928"/>
                    <a:chOff x="3620278" y="3032449"/>
                    <a:chExt cx="699795" cy="812928"/>
                  </a:xfrm>
                </p:grpSpPr>
                <p:sp>
                  <p:nvSpPr>
                    <p:cNvPr id="119" name="모서리가 둥근 직사각형 118"/>
                    <p:cNvSpPr/>
                    <p:nvPr/>
                  </p:nvSpPr>
                  <p:spPr>
                    <a:xfrm>
                      <a:off x="3620278" y="3032449"/>
                      <a:ext cx="699795" cy="812928"/>
                    </a:xfrm>
                    <a:prstGeom prst="roundRect">
                      <a:avLst>
                        <a:gd name="adj" fmla="val 4667"/>
                      </a:avLst>
                    </a:prstGeom>
                    <a:solidFill>
                      <a:srgbClr val="0070C0"/>
                    </a:solidFill>
                    <a:ln>
                      <a:solidFill>
                        <a:srgbClr val="0070C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120" name="모서리가 둥근 직사각형 119"/>
                    <p:cNvSpPr/>
                    <p:nvPr/>
                  </p:nvSpPr>
                  <p:spPr>
                    <a:xfrm>
                      <a:off x="3642020" y="3046937"/>
                      <a:ext cx="671469" cy="200304"/>
                    </a:xfrm>
                    <a:prstGeom prst="roundRect">
                      <a:avLst>
                        <a:gd name="adj" fmla="val 0"/>
                      </a:avLst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sz="700" dirty="0"/>
                        <a:t>OS (Linux)</a:t>
                      </a:r>
                    </a:p>
                  </p:txBody>
                </p:sp>
                <p:sp>
                  <p:nvSpPr>
                    <p:cNvPr id="121" name="모서리가 둥근 직사각형 120"/>
                    <p:cNvSpPr/>
                    <p:nvPr/>
                  </p:nvSpPr>
                  <p:spPr>
                    <a:xfrm>
                      <a:off x="3672541" y="3292622"/>
                      <a:ext cx="610426" cy="182095"/>
                    </a:xfrm>
                    <a:prstGeom prst="roundRect">
                      <a:avLst>
                        <a:gd name="adj" fmla="val 0"/>
                      </a:avLst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sz="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Vertica</a:t>
                      </a:r>
                    </a:p>
                  </p:txBody>
                </p:sp>
                <p:grpSp>
                  <p:nvGrpSpPr>
                    <p:cNvPr id="122" name="그룹 121"/>
                    <p:cNvGrpSpPr/>
                    <p:nvPr/>
                  </p:nvGrpSpPr>
                  <p:grpSpPr>
                    <a:xfrm>
                      <a:off x="3641801" y="3506620"/>
                      <a:ext cx="671469" cy="292102"/>
                      <a:chOff x="3641801" y="3506620"/>
                      <a:chExt cx="671469" cy="292102"/>
                    </a:xfrm>
                  </p:grpSpPr>
                  <p:sp>
                    <p:nvSpPr>
                      <p:cNvPr id="123" name="순서도: 자기 디스크 122"/>
                      <p:cNvSpPr/>
                      <p:nvPr/>
                    </p:nvSpPr>
                    <p:spPr>
                      <a:xfrm>
                        <a:off x="3653381" y="3506620"/>
                        <a:ext cx="633588" cy="280053"/>
                      </a:xfrm>
                      <a:prstGeom prst="flowChartMagneticDisk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124" name="모서리가 둥근 직사각형 123"/>
                      <p:cNvSpPr/>
                      <p:nvPr/>
                    </p:nvSpPr>
                    <p:spPr>
                      <a:xfrm>
                        <a:off x="3641801" y="3598417"/>
                        <a:ext cx="671469" cy="200305"/>
                      </a:xfrm>
                      <a:prstGeom prst="roundRect">
                        <a:avLst>
                          <a:gd name="adj" fmla="val 0"/>
                        </a:avLst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ko-KR" sz="7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rPr>
                          <a:t>Disk Cache</a:t>
                        </a:r>
                      </a:p>
                    </p:txBody>
                  </p:sp>
                </p:grpSp>
              </p:grpSp>
            </p:grpSp>
            <p:grpSp>
              <p:nvGrpSpPr>
                <p:cNvPr id="125" name="그룹 124"/>
                <p:cNvGrpSpPr/>
                <p:nvPr/>
              </p:nvGrpSpPr>
              <p:grpSpPr>
                <a:xfrm>
                  <a:off x="4634667" y="3957357"/>
                  <a:ext cx="812478" cy="997289"/>
                  <a:chOff x="3574621" y="2848088"/>
                  <a:chExt cx="812478" cy="997289"/>
                </a:xfrm>
              </p:grpSpPr>
              <p:sp>
                <p:nvSpPr>
                  <p:cNvPr id="126" name="모서리가 둥근 직사각형 125"/>
                  <p:cNvSpPr/>
                  <p:nvPr/>
                </p:nvSpPr>
                <p:spPr>
                  <a:xfrm>
                    <a:off x="3574621" y="2848088"/>
                    <a:ext cx="812478" cy="200305"/>
                  </a:xfrm>
                  <a:prstGeom prst="roundRect">
                    <a:avLst>
                      <a:gd name="adj" fmla="val 0"/>
                    </a:avLst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7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rPr>
                      <a:t>Compute Node</a:t>
                    </a:r>
                  </a:p>
                </p:txBody>
              </p:sp>
              <p:grpSp>
                <p:nvGrpSpPr>
                  <p:cNvPr id="127" name="그룹 126"/>
                  <p:cNvGrpSpPr/>
                  <p:nvPr/>
                </p:nvGrpSpPr>
                <p:grpSpPr>
                  <a:xfrm>
                    <a:off x="3630963" y="3032449"/>
                    <a:ext cx="699795" cy="812928"/>
                    <a:chOff x="3620278" y="3032449"/>
                    <a:chExt cx="699795" cy="812928"/>
                  </a:xfrm>
                </p:grpSpPr>
                <p:sp>
                  <p:nvSpPr>
                    <p:cNvPr id="128" name="모서리가 둥근 직사각형 127"/>
                    <p:cNvSpPr/>
                    <p:nvPr/>
                  </p:nvSpPr>
                  <p:spPr>
                    <a:xfrm>
                      <a:off x="3620278" y="3032449"/>
                      <a:ext cx="699795" cy="812928"/>
                    </a:xfrm>
                    <a:prstGeom prst="roundRect">
                      <a:avLst>
                        <a:gd name="adj" fmla="val 4667"/>
                      </a:avLst>
                    </a:prstGeom>
                    <a:solidFill>
                      <a:srgbClr val="0070C0"/>
                    </a:solidFill>
                    <a:ln>
                      <a:solidFill>
                        <a:srgbClr val="0070C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129" name="모서리가 둥근 직사각형 128"/>
                    <p:cNvSpPr/>
                    <p:nvPr/>
                  </p:nvSpPr>
                  <p:spPr>
                    <a:xfrm>
                      <a:off x="3642020" y="3046937"/>
                      <a:ext cx="671469" cy="200304"/>
                    </a:xfrm>
                    <a:prstGeom prst="roundRect">
                      <a:avLst>
                        <a:gd name="adj" fmla="val 0"/>
                      </a:avLst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sz="700" dirty="0"/>
                        <a:t>OS (Linux)</a:t>
                      </a:r>
                    </a:p>
                  </p:txBody>
                </p:sp>
                <p:sp>
                  <p:nvSpPr>
                    <p:cNvPr id="130" name="모서리가 둥근 직사각형 129"/>
                    <p:cNvSpPr/>
                    <p:nvPr/>
                  </p:nvSpPr>
                  <p:spPr>
                    <a:xfrm>
                      <a:off x="3672541" y="3292622"/>
                      <a:ext cx="610426" cy="182095"/>
                    </a:xfrm>
                    <a:prstGeom prst="roundRect">
                      <a:avLst>
                        <a:gd name="adj" fmla="val 0"/>
                      </a:avLst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sz="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Vertica</a:t>
                      </a:r>
                    </a:p>
                  </p:txBody>
                </p:sp>
                <p:grpSp>
                  <p:nvGrpSpPr>
                    <p:cNvPr id="131" name="그룹 130"/>
                    <p:cNvGrpSpPr/>
                    <p:nvPr/>
                  </p:nvGrpSpPr>
                  <p:grpSpPr>
                    <a:xfrm>
                      <a:off x="3641801" y="3506620"/>
                      <a:ext cx="671469" cy="292102"/>
                      <a:chOff x="3641801" y="3506620"/>
                      <a:chExt cx="671469" cy="292102"/>
                    </a:xfrm>
                  </p:grpSpPr>
                  <p:sp>
                    <p:nvSpPr>
                      <p:cNvPr id="132" name="순서도: 자기 디스크 131"/>
                      <p:cNvSpPr/>
                      <p:nvPr/>
                    </p:nvSpPr>
                    <p:spPr>
                      <a:xfrm>
                        <a:off x="3653381" y="3506620"/>
                        <a:ext cx="633588" cy="280053"/>
                      </a:xfrm>
                      <a:prstGeom prst="flowChartMagneticDisk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133" name="모서리가 둥근 직사각형 132"/>
                      <p:cNvSpPr/>
                      <p:nvPr/>
                    </p:nvSpPr>
                    <p:spPr>
                      <a:xfrm>
                        <a:off x="3641801" y="3598417"/>
                        <a:ext cx="671469" cy="200305"/>
                      </a:xfrm>
                      <a:prstGeom prst="roundRect">
                        <a:avLst>
                          <a:gd name="adj" fmla="val 0"/>
                        </a:avLst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ko-KR" sz="7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rPr>
                          <a:t>Disk Cache</a:t>
                        </a:r>
                      </a:p>
                    </p:txBody>
                  </p:sp>
                </p:grpSp>
              </p:grpSp>
            </p:grpSp>
            <p:grpSp>
              <p:nvGrpSpPr>
                <p:cNvPr id="134" name="그룹 133"/>
                <p:cNvGrpSpPr/>
                <p:nvPr/>
              </p:nvGrpSpPr>
              <p:grpSpPr>
                <a:xfrm>
                  <a:off x="5680901" y="3957357"/>
                  <a:ext cx="812478" cy="997289"/>
                  <a:chOff x="3574621" y="2848088"/>
                  <a:chExt cx="812478" cy="997289"/>
                </a:xfrm>
              </p:grpSpPr>
              <p:sp>
                <p:nvSpPr>
                  <p:cNvPr id="135" name="모서리가 둥근 직사각형 134"/>
                  <p:cNvSpPr/>
                  <p:nvPr/>
                </p:nvSpPr>
                <p:spPr>
                  <a:xfrm>
                    <a:off x="3574621" y="2848088"/>
                    <a:ext cx="812478" cy="200305"/>
                  </a:xfrm>
                  <a:prstGeom prst="roundRect">
                    <a:avLst>
                      <a:gd name="adj" fmla="val 0"/>
                    </a:avLst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7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rPr>
                      <a:t>Compute Node</a:t>
                    </a:r>
                  </a:p>
                </p:txBody>
              </p:sp>
              <p:grpSp>
                <p:nvGrpSpPr>
                  <p:cNvPr id="136" name="그룹 135"/>
                  <p:cNvGrpSpPr/>
                  <p:nvPr/>
                </p:nvGrpSpPr>
                <p:grpSpPr>
                  <a:xfrm>
                    <a:off x="3630963" y="3032449"/>
                    <a:ext cx="699795" cy="812928"/>
                    <a:chOff x="3620278" y="3032449"/>
                    <a:chExt cx="699795" cy="812928"/>
                  </a:xfrm>
                </p:grpSpPr>
                <p:sp>
                  <p:nvSpPr>
                    <p:cNvPr id="137" name="모서리가 둥근 직사각형 136"/>
                    <p:cNvSpPr/>
                    <p:nvPr/>
                  </p:nvSpPr>
                  <p:spPr>
                    <a:xfrm>
                      <a:off x="3620278" y="3032449"/>
                      <a:ext cx="699795" cy="812928"/>
                    </a:xfrm>
                    <a:prstGeom prst="roundRect">
                      <a:avLst>
                        <a:gd name="adj" fmla="val 4667"/>
                      </a:avLst>
                    </a:prstGeom>
                    <a:solidFill>
                      <a:srgbClr val="0070C0"/>
                    </a:solidFill>
                    <a:ln>
                      <a:solidFill>
                        <a:srgbClr val="0070C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138" name="모서리가 둥근 직사각형 137"/>
                    <p:cNvSpPr/>
                    <p:nvPr/>
                  </p:nvSpPr>
                  <p:spPr>
                    <a:xfrm>
                      <a:off x="3642020" y="3046937"/>
                      <a:ext cx="671469" cy="200304"/>
                    </a:xfrm>
                    <a:prstGeom prst="roundRect">
                      <a:avLst>
                        <a:gd name="adj" fmla="val 0"/>
                      </a:avLst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sz="700" dirty="0"/>
                        <a:t>OS (Linux)</a:t>
                      </a:r>
                    </a:p>
                  </p:txBody>
                </p:sp>
                <p:sp>
                  <p:nvSpPr>
                    <p:cNvPr id="139" name="모서리가 둥근 직사각형 138"/>
                    <p:cNvSpPr/>
                    <p:nvPr/>
                  </p:nvSpPr>
                  <p:spPr>
                    <a:xfrm>
                      <a:off x="3672541" y="3292622"/>
                      <a:ext cx="610426" cy="182095"/>
                    </a:xfrm>
                    <a:prstGeom prst="roundRect">
                      <a:avLst>
                        <a:gd name="adj" fmla="val 0"/>
                      </a:avLst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sz="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Vertica</a:t>
                      </a:r>
                    </a:p>
                  </p:txBody>
                </p:sp>
                <p:grpSp>
                  <p:nvGrpSpPr>
                    <p:cNvPr id="140" name="그룹 139"/>
                    <p:cNvGrpSpPr/>
                    <p:nvPr/>
                  </p:nvGrpSpPr>
                  <p:grpSpPr>
                    <a:xfrm>
                      <a:off x="3641801" y="3506620"/>
                      <a:ext cx="671469" cy="292102"/>
                      <a:chOff x="3641801" y="3506620"/>
                      <a:chExt cx="671469" cy="292102"/>
                    </a:xfrm>
                  </p:grpSpPr>
                  <p:sp>
                    <p:nvSpPr>
                      <p:cNvPr id="141" name="순서도: 자기 디스크 140"/>
                      <p:cNvSpPr/>
                      <p:nvPr/>
                    </p:nvSpPr>
                    <p:spPr>
                      <a:xfrm>
                        <a:off x="3653381" y="3506620"/>
                        <a:ext cx="633588" cy="280053"/>
                      </a:xfrm>
                      <a:prstGeom prst="flowChartMagneticDisk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142" name="모서리가 둥근 직사각형 141"/>
                      <p:cNvSpPr/>
                      <p:nvPr/>
                    </p:nvSpPr>
                    <p:spPr>
                      <a:xfrm>
                        <a:off x="3641801" y="3598417"/>
                        <a:ext cx="671469" cy="200305"/>
                      </a:xfrm>
                      <a:prstGeom prst="roundRect">
                        <a:avLst>
                          <a:gd name="adj" fmla="val 0"/>
                        </a:avLst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ko-KR" sz="7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rPr>
                          <a:t>Disk Cache</a:t>
                        </a:r>
                      </a:p>
                    </p:txBody>
                  </p:sp>
                </p:grpSp>
              </p:grpSp>
            </p:grpSp>
          </p:grpSp>
          <p:sp>
            <p:nvSpPr>
              <p:cNvPr id="16" name="모서리가 둥근 직사각형 15"/>
              <p:cNvSpPr/>
              <p:nvPr/>
            </p:nvSpPr>
            <p:spPr>
              <a:xfrm>
                <a:off x="3596103" y="2924423"/>
                <a:ext cx="2875525" cy="2268650"/>
              </a:xfrm>
              <a:prstGeom prst="roundRect">
                <a:avLst>
                  <a:gd name="adj" fmla="val 689"/>
                </a:avLst>
              </a:prstGeom>
              <a:noFill/>
              <a:ln>
                <a:solidFill>
                  <a:schemeClr val="accent1">
                    <a:lumMod val="5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36" name="직사각형 235">
              <a:extLst>
                <a:ext uri="{FF2B5EF4-FFF2-40B4-BE49-F238E27FC236}">
                  <a16:creationId xmlns="" xmlns:a16="http://schemas.microsoft.com/office/drawing/2014/main" id="{D4602A0B-2692-3102-9904-EB899CD2D31D}"/>
                </a:ext>
              </a:extLst>
            </p:cNvPr>
            <p:cNvSpPr/>
            <p:nvPr/>
          </p:nvSpPr>
          <p:spPr>
            <a:xfrm>
              <a:off x="3906212" y="5167622"/>
              <a:ext cx="2278157" cy="18932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900" dirty="0">
                  <a:solidFill>
                    <a:srgbClr val="0070C0"/>
                  </a:solidFill>
                </a:rPr>
                <a:t>Subcluster on K8S or Managed K8S</a:t>
              </a:r>
            </a:p>
          </p:txBody>
        </p:sp>
      </p:grpSp>
      <p:grpSp>
        <p:nvGrpSpPr>
          <p:cNvPr id="253" name="그룹 252"/>
          <p:cNvGrpSpPr/>
          <p:nvPr/>
        </p:nvGrpSpPr>
        <p:grpSpPr>
          <a:xfrm>
            <a:off x="7126796" y="2859106"/>
            <a:ext cx="4360697" cy="2508817"/>
            <a:chOff x="7386067" y="2859106"/>
            <a:chExt cx="4360697" cy="2508817"/>
          </a:xfrm>
        </p:grpSpPr>
        <p:grpSp>
          <p:nvGrpSpPr>
            <p:cNvPr id="172" name="그룹 171"/>
            <p:cNvGrpSpPr/>
            <p:nvPr/>
          </p:nvGrpSpPr>
          <p:grpSpPr>
            <a:xfrm>
              <a:off x="7442868" y="2899065"/>
              <a:ext cx="812478" cy="1041309"/>
              <a:chOff x="7442868" y="2777596"/>
              <a:chExt cx="812478" cy="1041309"/>
            </a:xfrm>
          </p:grpSpPr>
          <p:sp>
            <p:nvSpPr>
              <p:cNvPr id="163" name="모서리가 둥근 직사각형 162"/>
              <p:cNvSpPr/>
              <p:nvPr/>
            </p:nvSpPr>
            <p:spPr>
              <a:xfrm>
                <a:off x="7442868" y="2777596"/>
                <a:ext cx="812478" cy="200305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Compute</a:t>
                </a:r>
              </a:p>
            </p:txBody>
          </p:sp>
          <p:sp>
            <p:nvSpPr>
              <p:cNvPr id="165" name="모서리가 둥근 직사각형 164"/>
              <p:cNvSpPr/>
              <p:nvPr/>
            </p:nvSpPr>
            <p:spPr>
              <a:xfrm>
                <a:off x="7499210" y="2961957"/>
                <a:ext cx="699795" cy="478206"/>
              </a:xfrm>
              <a:prstGeom prst="roundRect">
                <a:avLst>
                  <a:gd name="adj" fmla="val 4667"/>
                </a:avLst>
              </a:prstGeom>
              <a:solidFill>
                <a:srgbClr val="843C0C"/>
              </a:solidFill>
              <a:ln>
                <a:solidFill>
                  <a:srgbClr val="843C0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6" name="모서리가 둥근 직사각형 165"/>
              <p:cNvSpPr/>
              <p:nvPr/>
            </p:nvSpPr>
            <p:spPr>
              <a:xfrm>
                <a:off x="7520952" y="2976445"/>
                <a:ext cx="671469" cy="200304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dirty="0"/>
                  <a:t>OS (Linux)</a:t>
                </a:r>
              </a:p>
            </p:txBody>
          </p:sp>
          <p:sp>
            <p:nvSpPr>
              <p:cNvPr id="167" name="모서리가 둥근 직사각형 166"/>
              <p:cNvSpPr/>
              <p:nvPr/>
            </p:nvSpPr>
            <p:spPr>
              <a:xfrm>
                <a:off x="7551473" y="3222130"/>
                <a:ext cx="610426" cy="182095"/>
              </a:xfrm>
              <a:prstGeom prst="roundRect">
                <a:avLst>
                  <a:gd name="adj" fmla="val 0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Vertica</a:t>
                </a:r>
              </a:p>
            </p:txBody>
          </p:sp>
          <p:sp>
            <p:nvSpPr>
              <p:cNvPr id="169" name="순서도: 자기 디스크 168"/>
              <p:cNvSpPr/>
              <p:nvPr/>
            </p:nvSpPr>
            <p:spPr>
              <a:xfrm>
                <a:off x="7532313" y="3527423"/>
                <a:ext cx="633588" cy="280053"/>
              </a:xfrm>
              <a:prstGeom prst="flowChartMagneticDisk">
                <a:avLst/>
              </a:prstGeom>
              <a:noFill/>
              <a:ln>
                <a:solidFill>
                  <a:srgbClr val="843C0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170" name="모서리가 둥근 직사각형 169"/>
              <p:cNvSpPr/>
              <p:nvPr/>
            </p:nvSpPr>
            <p:spPr>
              <a:xfrm>
                <a:off x="7527536" y="3618600"/>
                <a:ext cx="671469" cy="200305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EBS for</a:t>
                </a:r>
              </a:p>
              <a:p>
                <a:pPr algn="ctr"/>
                <a:r>
                  <a:rPr lang="en-US" altLang="ko-KR" sz="7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Depo</a:t>
                </a:r>
                <a:r>
                  <a:rPr lang="en-US" altLang="ko-KR" sz="700" dirty="0">
                    <a:solidFill>
                      <a:schemeClr val="bg1"/>
                    </a:solidFill>
                  </a:rPr>
                  <a:t>t</a:t>
                </a:r>
              </a:p>
            </p:txBody>
          </p:sp>
          <p:cxnSp>
            <p:nvCxnSpPr>
              <p:cNvPr id="171" name="직선 연결선 170"/>
              <p:cNvCxnSpPr>
                <a:stCxn id="165" idx="2"/>
                <a:endCxn id="169" idx="1"/>
              </p:cNvCxnSpPr>
              <p:nvPr/>
            </p:nvCxnSpPr>
            <p:spPr>
              <a:xfrm flipH="1">
                <a:off x="7849107" y="3440163"/>
                <a:ext cx="1" cy="87260"/>
              </a:xfrm>
              <a:prstGeom prst="line">
                <a:avLst/>
              </a:prstGeom>
              <a:ln>
                <a:solidFill>
                  <a:srgbClr val="843C0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3" name="그룹 172"/>
            <p:cNvGrpSpPr/>
            <p:nvPr/>
          </p:nvGrpSpPr>
          <p:grpSpPr>
            <a:xfrm>
              <a:off x="8248575" y="2887016"/>
              <a:ext cx="812478" cy="1041309"/>
              <a:chOff x="7442868" y="2777596"/>
              <a:chExt cx="812478" cy="1041309"/>
            </a:xfrm>
          </p:grpSpPr>
          <p:sp>
            <p:nvSpPr>
              <p:cNvPr id="174" name="모서리가 둥근 직사각형 173"/>
              <p:cNvSpPr/>
              <p:nvPr/>
            </p:nvSpPr>
            <p:spPr>
              <a:xfrm>
                <a:off x="7442868" y="2777596"/>
                <a:ext cx="812478" cy="200305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Compute</a:t>
                </a:r>
              </a:p>
            </p:txBody>
          </p:sp>
          <p:sp>
            <p:nvSpPr>
              <p:cNvPr id="175" name="모서리가 둥근 직사각형 174"/>
              <p:cNvSpPr/>
              <p:nvPr/>
            </p:nvSpPr>
            <p:spPr>
              <a:xfrm>
                <a:off x="7499210" y="2961957"/>
                <a:ext cx="699795" cy="478206"/>
              </a:xfrm>
              <a:prstGeom prst="roundRect">
                <a:avLst>
                  <a:gd name="adj" fmla="val 4667"/>
                </a:avLst>
              </a:prstGeom>
              <a:solidFill>
                <a:srgbClr val="843C0C"/>
              </a:solidFill>
              <a:ln>
                <a:solidFill>
                  <a:srgbClr val="843C0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" name="모서리가 둥근 직사각형 175"/>
              <p:cNvSpPr/>
              <p:nvPr/>
            </p:nvSpPr>
            <p:spPr>
              <a:xfrm>
                <a:off x="7520952" y="2976445"/>
                <a:ext cx="671469" cy="200304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dirty="0"/>
                  <a:t>OS (Linux)</a:t>
                </a:r>
              </a:p>
            </p:txBody>
          </p:sp>
          <p:sp>
            <p:nvSpPr>
              <p:cNvPr id="177" name="모서리가 둥근 직사각형 176"/>
              <p:cNvSpPr/>
              <p:nvPr/>
            </p:nvSpPr>
            <p:spPr>
              <a:xfrm>
                <a:off x="7551473" y="3222130"/>
                <a:ext cx="610426" cy="182095"/>
              </a:xfrm>
              <a:prstGeom prst="roundRect">
                <a:avLst>
                  <a:gd name="adj" fmla="val 0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Vertica</a:t>
                </a:r>
              </a:p>
            </p:txBody>
          </p:sp>
          <p:sp>
            <p:nvSpPr>
              <p:cNvPr id="178" name="순서도: 자기 디스크 177"/>
              <p:cNvSpPr/>
              <p:nvPr/>
            </p:nvSpPr>
            <p:spPr>
              <a:xfrm>
                <a:off x="7532313" y="3527423"/>
                <a:ext cx="633588" cy="280053"/>
              </a:xfrm>
              <a:prstGeom prst="flowChartMagneticDisk">
                <a:avLst/>
              </a:prstGeom>
              <a:noFill/>
              <a:ln>
                <a:solidFill>
                  <a:srgbClr val="843C0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179" name="모서리가 둥근 직사각형 178"/>
              <p:cNvSpPr/>
              <p:nvPr/>
            </p:nvSpPr>
            <p:spPr>
              <a:xfrm>
                <a:off x="7527536" y="3618600"/>
                <a:ext cx="671469" cy="200305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EBS for</a:t>
                </a:r>
              </a:p>
              <a:p>
                <a:pPr algn="ctr"/>
                <a:r>
                  <a:rPr lang="en-US" altLang="ko-KR" sz="7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Depo</a:t>
                </a:r>
                <a:r>
                  <a:rPr lang="en-US" altLang="ko-KR" sz="700" dirty="0">
                    <a:solidFill>
                      <a:schemeClr val="bg1"/>
                    </a:solidFill>
                  </a:rPr>
                  <a:t>t</a:t>
                </a:r>
              </a:p>
            </p:txBody>
          </p:sp>
          <p:cxnSp>
            <p:nvCxnSpPr>
              <p:cNvPr id="180" name="직선 연결선 179"/>
              <p:cNvCxnSpPr>
                <a:stCxn id="175" idx="2"/>
                <a:endCxn id="178" idx="1"/>
              </p:cNvCxnSpPr>
              <p:nvPr/>
            </p:nvCxnSpPr>
            <p:spPr>
              <a:xfrm flipH="1">
                <a:off x="7849107" y="3440163"/>
                <a:ext cx="1" cy="87260"/>
              </a:xfrm>
              <a:prstGeom prst="line">
                <a:avLst/>
              </a:prstGeom>
              <a:ln>
                <a:solidFill>
                  <a:srgbClr val="843C0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1" name="그룹 180"/>
            <p:cNvGrpSpPr/>
            <p:nvPr/>
          </p:nvGrpSpPr>
          <p:grpSpPr>
            <a:xfrm>
              <a:off x="9054283" y="2899065"/>
              <a:ext cx="812478" cy="1041309"/>
              <a:chOff x="7442868" y="2777596"/>
              <a:chExt cx="812478" cy="1041309"/>
            </a:xfrm>
          </p:grpSpPr>
          <p:sp>
            <p:nvSpPr>
              <p:cNvPr id="182" name="모서리가 둥근 직사각형 181"/>
              <p:cNvSpPr/>
              <p:nvPr/>
            </p:nvSpPr>
            <p:spPr>
              <a:xfrm>
                <a:off x="7442868" y="2777596"/>
                <a:ext cx="812478" cy="200305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Compute</a:t>
                </a:r>
              </a:p>
            </p:txBody>
          </p:sp>
          <p:sp>
            <p:nvSpPr>
              <p:cNvPr id="183" name="모서리가 둥근 직사각형 182"/>
              <p:cNvSpPr/>
              <p:nvPr/>
            </p:nvSpPr>
            <p:spPr>
              <a:xfrm>
                <a:off x="7499210" y="2961957"/>
                <a:ext cx="699795" cy="478206"/>
              </a:xfrm>
              <a:prstGeom prst="roundRect">
                <a:avLst>
                  <a:gd name="adj" fmla="val 4667"/>
                </a:avLst>
              </a:prstGeom>
              <a:solidFill>
                <a:srgbClr val="843C0C"/>
              </a:solidFill>
              <a:ln>
                <a:solidFill>
                  <a:srgbClr val="843C0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" name="모서리가 둥근 직사각형 183"/>
              <p:cNvSpPr/>
              <p:nvPr/>
            </p:nvSpPr>
            <p:spPr>
              <a:xfrm>
                <a:off x="7520952" y="2976445"/>
                <a:ext cx="671469" cy="200304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dirty="0"/>
                  <a:t>OS (Linux)</a:t>
                </a:r>
              </a:p>
            </p:txBody>
          </p:sp>
          <p:sp>
            <p:nvSpPr>
              <p:cNvPr id="185" name="모서리가 둥근 직사각형 184"/>
              <p:cNvSpPr/>
              <p:nvPr/>
            </p:nvSpPr>
            <p:spPr>
              <a:xfrm>
                <a:off x="7551473" y="3222130"/>
                <a:ext cx="610426" cy="182095"/>
              </a:xfrm>
              <a:prstGeom prst="roundRect">
                <a:avLst>
                  <a:gd name="adj" fmla="val 0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Vertica</a:t>
                </a:r>
              </a:p>
            </p:txBody>
          </p:sp>
          <p:sp>
            <p:nvSpPr>
              <p:cNvPr id="186" name="순서도: 자기 디스크 185"/>
              <p:cNvSpPr/>
              <p:nvPr/>
            </p:nvSpPr>
            <p:spPr>
              <a:xfrm>
                <a:off x="7532313" y="3527423"/>
                <a:ext cx="633588" cy="280053"/>
              </a:xfrm>
              <a:prstGeom prst="flowChartMagneticDisk">
                <a:avLst/>
              </a:prstGeom>
              <a:noFill/>
              <a:ln>
                <a:solidFill>
                  <a:srgbClr val="843C0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187" name="모서리가 둥근 직사각형 186"/>
              <p:cNvSpPr/>
              <p:nvPr/>
            </p:nvSpPr>
            <p:spPr>
              <a:xfrm>
                <a:off x="7527536" y="3618600"/>
                <a:ext cx="671469" cy="200305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EBS for</a:t>
                </a:r>
              </a:p>
              <a:p>
                <a:pPr algn="ctr"/>
                <a:r>
                  <a:rPr lang="en-US" altLang="ko-KR" sz="7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Depo</a:t>
                </a:r>
                <a:r>
                  <a:rPr lang="en-US" altLang="ko-KR" sz="700" dirty="0">
                    <a:solidFill>
                      <a:schemeClr val="bg1"/>
                    </a:solidFill>
                  </a:rPr>
                  <a:t>t</a:t>
                </a:r>
              </a:p>
            </p:txBody>
          </p:sp>
          <p:cxnSp>
            <p:nvCxnSpPr>
              <p:cNvPr id="188" name="직선 연결선 187"/>
              <p:cNvCxnSpPr>
                <a:stCxn id="183" idx="2"/>
                <a:endCxn id="186" idx="1"/>
              </p:cNvCxnSpPr>
              <p:nvPr/>
            </p:nvCxnSpPr>
            <p:spPr>
              <a:xfrm flipH="1">
                <a:off x="7849107" y="3440163"/>
                <a:ext cx="1" cy="87260"/>
              </a:xfrm>
              <a:prstGeom prst="line">
                <a:avLst/>
              </a:prstGeom>
              <a:ln>
                <a:solidFill>
                  <a:srgbClr val="843C0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9" name="모서리가 둥근 직사각형 188"/>
            <p:cNvSpPr/>
            <p:nvPr/>
          </p:nvSpPr>
          <p:spPr>
            <a:xfrm>
              <a:off x="7386067" y="2859106"/>
              <a:ext cx="2551035" cy="1145072"/>
            </a:xfrm>
            <a:prstGeom prst="roundRect">
              <a:avLst>
                <a:gd name="adj" fmla="val 689"/>
              </a:avLst>
            </a:prstGeom>
            <a:noFill/>
            <a:ln>
              <a:solidFill>
                <a:srgbClr val="843C0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0" name="직사각형 189">
              <a:extLst>
                <a:ext uri="{FF2B5EF4-FFF2-40B4-BE49-F238E27FC236}">
                  <a16:creationId xmlns="" xmlns:a16="http://schemas.microsoft.com/office/drawing/2014/main" id="{D4602A0B-2692-3102-9904-EB899CD2D31D}"/>
                </a:ext>
              </a:extLst>
            </p:cNvPr>
            <p:cNvSpPr/>
            <p:nvPr/>
          </p:nvSpPr>
          <p:spPr>
            <a:xfrm>
              <a:off x="7560625" y="3999141"/>
              <a:ext cx="2278157" cy="18932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900" dirty="0">
                  <a:solidFill>
                    <a:srgbClr val="843C0C"/>
                  </a:solidFill>
                </a:rPr>
                <a:t>Subcluster on VM or Cloud Instance</a:t>
              </a:r>
            </a:p>
          </p:txBody>
        </p:sp>
        <p:grpSp>
          <p:nvGrpSpPr>
            <p:cNvPr id="238" name="그룹 237"/>
            <p:cNvGrpSpPr/>
            <p:nvPr/>
          </p:nvGrpSpPr>
          <p:grpSpPr>
            <a:xfrm>
              <a:off x="7386067" y="4384185"/>
              <a:ext cx="2551035" cy="983738"/>
              <a:chOff x="7386067" y="4306551"/>
              <a:chExt cx="2551035" cy="983738"/>
            </a:xfrm>
          </p:grpSpPr>
          <p:grpSp>
            <p:nvGrpSpPr>
              <p:cNvPr id="203" name="그룹 202"/>
              <p:cNvGrpSpPr/>
              <p:nvPr/>
            </p:nvGrpSpPr>
            <p:grpSpPr>
              <a:xfrm>
                <a:off x="7514328" y="4394277"/>
                <a:ext cx="697018" cy="603862"/>
                <a:chOff x="7561080" y="4211614"/>
                <a:chExt cx="697018" cy="603862"/>
              </a:xfrm>
            </p:grpSpPr>
            <p:sp>
              <p:nvSpPr>
                <p:cNvPr id="191" name="육각형 190">
                  <a:extLst>
                    <a:ext uri="{FF2B5EF4-FFF2-40B4-BE49-F238E27FC236}">
                      <a16:creationId xmlns="" xmlns:a16="http://schemas.microsoft.com/office/drawing/2014/main" id="{C41806F9-8523-F693-8285-592A9FF345A6}"/>
                    </a:ext>
                  </a:extLst>
                </p:cNvPr>
                <p:cNvSpPr/>
                <p:nvPr/>
              </p:nvSpPr>
              <p:spPr>
                <a:xfrm>
                  <a:off x="7561080" y="4214598"/>
                  <a:ext cx="697018" cy="600878"/>
                </a:xfrm>
                <a:prstGeom prst="hexagon">
                  <a:avLst/>
                </a:prstGeom>
                <a:solidFill>
                  <a:srgbClr val="843C0C"/>
                </a:solidFill>
                <a:ln w="6350">
                  <a:solidFill>
                    <a:srgbClr val="843C0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2" name="모서리가 둥근 직사각형 191"/>
                <p:cNvSpPr/>
                <p:nvPr/>
              </p:nvSpPr>
              <p:spPr>
                <a:xfrm>
                  <a:off x="7573855" y="4211614"/>
                  <a:ext cx="671469" cy="200304"/>
                </a:xfrm>
                <a:prstGeom prst="roundRect">
                  <a:avLst>
                    <a:gd name="adj" fmla="val 0"/>
                  </a:avLst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700" dirty="0"/>
                    <a:t>Pod</a:t>
                  </a:r>
                </a:p>
              </p:txBody>
            </p:sp>
            <p:pic>
              <p:nvPicPr>
                <p:cNvPr id="193" name="Picture 2">
                  <a:extLst>
                    <a:ext uri="{FF2B5EF4-FFF2-40B4-BE49-F238E27FC236}">
                      <a16:creationId xmlns="" xmlns:a16="http://schemas.microsoft.com/office/drawing/2014/main" id="{1012ECA4-B793-B010-9986-1C35DB5AED2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01130" y="4421084"/>
                  <a:ext cx="196639" cy="19089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grpSp>
              <p:nvGrpSpPr>
                <p:cNvPr id="196" name="그룹 195"/>
                <p:cNvGrpSpPr/>
                <p:nvPr/>
              </p:nvGrpSpPr>
              <p:grpSpPr>
                <a:xfrm>
                  <a:off x="7710263" y="4566958"/>
                  <a:ext cx="504485" cy="248518"/>
                  <a:chOff x="7916191" y="5000402"/>
                  <a:chExt cx="504485" cy="248518"/>
                </a:xfrm>
              </p:grpSpPr>
              <p:sp>
                <p:nvSpPr>
                  <p:cNvPr id="194" name="순서도: 자기 디스크 193"/>
                  <p:cNvSpPr/>
                  <p:nvPr/>
                </p:nvSpPr>
                <p:spPr>
                  <a:xfrm>
                    <a:off x="7970949" y="5000402"/>
                    <a:ext cx="357644" cy="231449"/>
                  </a:xfrm>
                  <a:prstGeom prst="flowChartMagneticDisk">
                    <a:avLst/>
                  </a:prstGeom>
                  <a:solidFill>
                    <a:schemeClr val="bg1"/>
                  </a:solidFill>
                  <a:ln>
                    <a:solidFill>
                      <a:srgbClr val="843C0C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endParaRPr>
                  </a:p>
                </p:txBody>
              </p:sp>
              <p:sp>
                <p:nvSpPr>
                  <p:cNvPr id="195" name="모서리가 둥근 직사각형 194"/>
                  <p:cNvSpPr/>
                  <p:nvPr/>
                </p:nvSpPr>
                <p:spPr>
                  <a:xfrm>
                    <a:off x="7916191" y="5048615"/>
                    <a:ext cx="504485" cy="200305"/>
                  </a:xfrm>
                  <a:prstGeom prst="roundRect">
                    <a:avLst>
                      <a:gd name="adj" fmla="val 0"/>
                    </a:avLst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7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Depot</a:t>
                    </a:r>
                    <a:r>
                      <a:rPr lang="en-US" altLang="ko-KR" sz="700" dirty="0">
                        <a:solidFill>
                          <a:schemeClr val="bg1"/>
                        </a:solidFill>
                      </a:rPr>
                      <a:t>t</a:t>
                    </a:r>
                  </a:p>
                </p:txBody>
              </p:sp>
            </p:grpSp>
          </p:grpSp>
          <p:grpSp>
            <p:nvGrpSpPr>
              <p:cNvPr id="204" name="그룹 203"/>
              <p:cNvGrpSpPr/>
              <p:nvPr/>
            </p:nvGrpSpPr>
            <p:grpSpPr>
              <a:xfrm>
                <a:off x="8313865" y="4394277"/>
                <a:ext cx="697018" cy="603862"/>
                <a:chOff x="7561080" y="4211614"/>
                <a:chExt cx="697018" cy="603862"/>
              </a:xfrm>
            </p:grpSpPr>
            <p:sp>
              <p:nvSpPr>
                <p:cNvPr id="205" name="육각형 204">
                  <a:extLst>
                    <a:ext uri="{FF2B5EF4-FFF2-40B4-BE49-F238E27FC236}">
                      <a16:creationId xmlns="" xmlns:a16="http://schemas.microsoft.com/office/drawing/2014/main" id="{C41806F9-8523-F693-8285-592A9FF345A6}"/>
                    </a:ext>
                  </a:extLst>
                </p:cNvPr>
                <p:cNvSpPr/>
                <p:nvPr/>
              </p:nvSpPr>
              <p:spPr>
                <a:xfrm>
                  <a:off x="7561080" y="4214598"/>
                  <a:ext cx="697018" cy="600878"/>
                </a:xfrm>
                <a:prstGeom prst="hexagon">
                  <a:avLst/>
                </a:prstGeom>
                <a:solidFill>
                  <a:srgbClr val="843C0C"/>
                </a:solidFill>
                <a:ln w="6350">
                  <a:solidFill>
                    <a:srgbClr val="843C0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6" name="모서리가 둥근 직사각형 205"/>
                <p:cNvSpPr/>
                <p:nvPr/>
              </p:nvSpPr>
              <p:spPr>
                <a:xfrm>
                  <a:off x="7573855" y="4211614"/>
                  <a:ext cx="671469" cy="200304"/>
                </a:xfrm>
                <a:prstGeom prst="roundRect">
                  <a:avLst>
                    <a:gd name="adj" fmla="val 0"/>
                  </a:avLst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700" dirty="0"/>
                    <a:t>Pod</a:t>
                  </a:r>
                </a:p>
              </p:txBody>
            </p:sp>
            <p:pic>
              <p:nvPicPr>
                <p:cNvPr id="207" name="Picture 2">
                  <a:extLst>
                    <a:ext uri="{FF2B5EF4-FFF2-40B4-BE49-F238E27FC236}">
                      <a16:creationId xmlns="" xmlns:a16="http://schemas.microsoft.com/office/drawing/2014/main" id="{1012ECA4-B793-B010-9986-1C35DB5AED2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01130" y="4421084"/>
                  <a:ext cx="196639" cy="19089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grpSp>
              <p:nvGrpSpPr>
                <p:cNvPr id="208" name="그룹 207"/>
                <p:cNvGrpSpPr/>
                <p:nvPr/>
              </p:nvGrpSpPr>
              <p:grpSpPr>
                <a:xfrm>
                  <a:off x="7710263" y="4566958"/>
                  <a:ext cx="504485" cy="248518"/>
                  <a:chOff x="7916191" y="5000402"/>
                  <a:chExt cx="504485" cy="248518"/>
                </a:xfrm>
              </p:grpSpPr>
              <p:sp>
                <p:nvSpPr>
                  <p:cNvPr id="209" name="순서도: 자기 디스크 208"/>
                  <p:cNvSpPr/>
                  <p:nvPr/>
                </p:nvSpPr>
                <p:spPr>
                  <a:xfrm>
                    <a:off x="7970949" y="5000402"/>
                    <a:ext cx="357644" cy="231449"/>
                  </a:xfrm>
                  <a:prstGeom prst="flowChartMagneticDisk">
                    <a:avLst/>
                  </a:prstGeom>
                  <a:solidFill>
                    <a:schemeClr val="bg1"/>
                  </a:solidFill>
                  <a:ln>
                    <a:solidFill>
                      <a:srgbClr val="843C0C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endParaRPr>
                  </a:p>
                </p:txBody>
              </p:sp>
              <p:sp>
                <p:nvSpPr>
                  <p:cNvPr id="210" name="모서리가 둥근 직사각형 209"/>
                  <p:cNvSpPr/>
                  <p:nvPr/>
                </p:nvSpPr>
                <p:spPr>
                  <a:xfrm>
                    <a:off x="7916191" y="5048615"/>
                    <a:ext cx="504485" cy="200305"/>
                  </a:xfrm>
                  <a:prstGeom prst="roundRect">
                    <a:avLst>
                      <a:gd name="adj" fmla="val 0"/>
                    </a:avLst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7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Depot</a:t>
                    </a:r>
                    <a:r>
                      <a:rPr lang="en-US" altLang="ko-KR" sz="700" dirty="0">
                        <a:solidFill>
                          <a:schemeClr val="bg1"/>
                        </a:solidFill>
                      </a:rPr>
                      <a:t>t</a:t>
                    </a:r>
                  </a:p>
                </p:txBody>
              </p:sp>
            </p:grpSp>
          </p:grpSp>
          <p:grpSp>
            <p:nvGrpSpPr>
              <p:cNvPr id="211" name="그룹 210"/>
              <p:cNvGrpSpPr/>
              <p:nvPr/>
            </p:nvGrpSpPr>
            <p:grpSpPr>
              <a:xfrm>
                <a:off x="9113402" y="4394277"/>
                <a:ext cx="697018" cy="603862"/>
                <a:chOff x="7561080" y="4211614"/>
                <a:chExt cx="697018" cy="603862"/>
              </a:xfrm>
            </p:grpSpPr>
            <p:sp>
              <p:nvSpPr>
                <p:cNvPr id="212" name="육각형 211">
                  <a:extLst>
                    <a:ext uri="{FF2B5EF4-FFF2-40B4-BE49-F238E27FC236}">
                      <a16:creationId xmlns="" xmlns:a16="http://schemas.microsoft.com/office/drawing/2014/main" id="{C41806F9-8523-F693-8285-592A9FF345A6}"/>
                    </a:ext>
                  </a:extLst>
                </p:cNvPr>
                <p:cNvSpPr/>
                <p:nvPr/>
              </p:nvSpPr>
              <p:spPr>
                <a:xfrm>
                  <a:off x="7561080" y="4214598"/>
                  <a:ext cx="697018" cy="600878"/>
                </a:xfrm>
                <a:prstGeom prst="hexagon">
                  <a:avLst/>
                </a:prstGeom>
                <a:solidFill>
                  <a:srgbClr val="843C0C"/>
                </a:solidFill>
                <a:ln w="6350">
                  <a:solidFill>
                    <a:srgbClr val="843C0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3" name="모서리가 둥근 직사각형 212"/>
                <p:cNvSpPr/>
                <p:nvPr/>
              </p:nvSpPr>
              <p:spPr>
                <a:xfrm>
                  <a:off x="7573855" y="4211614"/>
                  <a:ext cx="671469" cy="200304"/>
                </a:xfrm>
                <a:prstGeom prst="roundRect">
                  <a:avLst>
                    <a:gd name="adj" fmla="val 0"/>
                  </a:avLst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700" dirty="0"/>
                    <a:t>Pod</a:t>
                  </a:r>
                </a:p>
              </p:txBody>
            </p:sp>
            <p:pic>
              <p:nvPicPr>
                <p:cNvPr id="214" name="Picture 2">
                  <a:extLst>
                    <a:ext uri="{FF2B5EF4-FFF2-40B4-BE49-F238E27FC236}">
                      <a16:creationId xmlns="" xmlns:a16="http://schemas.microsoft.com/office/drawing/2014/main" id="{1012ECA4-B793-B010-9986-1C35DB5AED2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01130" y="4421084"/>
                  <a:ext cx="196639" cy="19089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grpSp>
              <p:nvGrpSpPr>
                <p:cNvPr id="215" name="그룹 214"/>
                <p:cNvGrpSpPr/>
                <p:nvPr/>
              </p:nvGrpSpPr>
              <p:grpSpPr>
                <a:xfrm>
                  <a:off x="7710263" y="4566958"/>
                  <a:ext cx="504485" cy="248518"/>
                  <a:chOff x="7916191" y="5000402"/>
                  <a:chExt cx="504485" cy="248518"/>
                </a:xfrm>
              </p:grpSpPr>
              <p:sp>
                <p:nvSpPr>
                  <p:cNvPr id="216" name="순서도: 자기 디스크 215"/>
                  <p:cNvSpPr/>
                  <p:nvPr/>
                </p:nvSpPr>
                <p:spPr>
                  <a:xfrm>
                    <a:off x="7970949" y="5000402"/>
                    <a:ext cx="357644" cy="231449"/>
                  </a:xfrm>
                  <a:prstGeom prst="flowChartMagneticDisk">
                    <a:avLst/>
                  </a:prstGeom>
                  <a:solidFill>
                    <a:schemeClr val="bg1"/>
                  </a:solidFill>
                  <a:ln>
                    <a:solidFill>
                      <a:srgbClr val="843C0C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endParaRPr>
                  </a:p>
                </p:txBody>
              </p:sp>
              <p:sp>
                <p:nvSpPr>
                  <p:cNvPr id="217" name="모서리가 둥근 직사각형 216"/>
                  <p:cNvSpPr/>
                  <p:nvPr/>
                </p:nvSpPr>
                <p:spPr>
                  <a:xfrm>
                    <a:off x="7916191" y="5048615"/>
                    <a:ext cx="504485" cy="200305"/>
                  </a:xfrm>
                  <a:prstGeom prst="roundRect">
                    <a:avLst>
                      <a:gd name="adj" fmla="val 0"/>
                    </a:avLst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7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rPr>
                      <a:t>Depot</a:t>
                    </a:r>
                    <a:r>
                      <a:rPr lang="en-US" altLang="ko-KR" sz="700" dirty="0">
                        <a:solidFill>
                          <a:schemeClr val="bg1"/>
                        </a:solidFill>
                      </a:rPr>
                      <a:t>t</a:t>
                    </a:r>
                  </a:p>
                </p:txBody>
              </p:sp>
            </p:grpSp>
          </p:grpSp>
          <p:sp>
            <p:nvSpPr>
              <p:cNvPr id="218" name="모서리가 둥근 직사각형 217"/>
              <p:cNvSpPr/>
              <p:nvPr/>
            </p:nvSpPr>
            <p:spPr>
              <a:xfrm>
                <a:off x="7386067" y="4306551"/>
                <a:ext cx="2551035" cy="778850"/>
              </a:xfrm>
              <a:prstGeom prst="roundRect">
                <a:avLst>
                  <a:gd name="adj" fmla="val 689"/>
                </a:avLst>
              </a:prstGeom>
              <a:noFill/>
              <a:ln>
                <a:solidFill>
                  <a:srgbClr val="843C0C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" name="직사각형 218">
                <a:extLst>
                  <a:ext uri="{FF2B5EF4-FFF2-40B4-BE49-F238E27FC236}">
                    <a16:creationId xmlns="" xmlns:a16="http://schemas.microsoft.com/office/drawing/2014/main" id="{D4602A0B-2692-3102-9904-EB899CD2D31D}"/>
                  </a:ext>
                </a:extLst>
              </p:cNvPr>
              <p:cNvSpPr/>
              <p:nvPr/>
            </p:nvSpPr>
            <p:spPr>
              <a:xfrm>
                <a:off x="7534397" y="5100963"/>
                <a:ext cx="2278157" cy="189326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GB" sz="900" dirty="0">
                    <a:solidFill>
                      <a:srgbClr val="843C0C"/>
                    </a:solidFill>
                  </a:rPr>
                  <a:t>Subcluster on K8S or Managed K8S</a:t>
                </a:r>
              </a:p>
            </p:txBody>
          </p:sp>
        </p:grpSp>
        <p:grpSp>
          <p:nvGrpSpPr>
            <p:cNvPr id="227" name="그룹 226"/>
            <p:cNvGrpSpPr/>
            <p:nvPr/>
          </p:nvGrpSpPr>
          <p:grpSpPr>
            <a:xfrm>
              <a:off x="10043014" y="2877768"/>
              <a:ext cx="725891" cy="548489"/>
              <a:chOff x="10043014" y="2812285"/>
              <a:chExt cx="725891" cy="548489"/>
            </a:xfrm>
          </p:grpSpPr>
          <p:pic>
            <p:nvPicPr>
              <p:cNvPr id="224" name="그림 223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214242" y="2812285"/>
                <a:ext cx="383434" cy="440139"/>
              </a:xfrm>
              <a:prstGeom prst="rect">
                <a:avLst/>
              </a:prstGeom>
            </p:spPr>
          </p:pic>
          <p:sp>
            <p:nvSpPr>
              <p:cNvPr id="226" name="직사각형 225">
                <a:extLst>
                  <a:ext uri="{FF2B5EF4-FFF2-40B4-BE49-F238E27FC236}">
                    <a16:creationId xmlns="" xmlns:a16="http://schemas.microsoft.com/office/drawing/2014/main" id="{D4602A0B-2692-3102-9904-EB899CD2D31D}"/>
                  </a:ext>
                </a:extLst>
              </p:cNvPr>
              <p:cNvSpPr/>
              <p:nvPr/>
            </p:nvSpPr>
            <p:spPr>
              <a:xfrm>
                <a:off x="10043014" y="3231461"/>
                <a:ext cx="725891" cy="129313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GB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Amazon EC2</a:t>
                </a:r>
              </a:p>
            </p:txBody>
          </p:sp>
        </p:grpSp>
        <p:grpSp>
          <p:nvGrpSpPr>
            <p:cNvPr id="231" name="그룹 230"/>
            <p:cNvGrpSpPr/>
            <p:nvPr/>
          </p:nvGrpSpPr>
          <p:grpSpPr>
            <a:xfrm>
              <a:off x="10186443" y="3530938"/>
              <a:ext cx="495794" cy="592054"/>
              <a:chOff x="10186443" y="3465455"/>
              <a:chExt cx="495794" cy="592054"/>
            </a:xfrm>
          </p:grpSpPr>
          <p:pic>
            <p:nvPicPr>
              <p:cNvPr id="222" name="Picture 12" descr="Azure VM Extensions | StarWind Blog">
                <a:extLst>
                  <a:ext uri="{FF2B5EF4-FFF2-40B4-BE49-F238E27FC236}">
                    <a16:creationId xmlns="" xmlns:a16="http://schemas.microsoft.com/office/drawing/2014/main" id="{96F7D74A-049C-47F4-1AF5-548179F760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188390" y="3465455"/>
                <a:ext cx="491901" cy="4919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28" name="직사각형 227">
                <a:extLst>
                  <a:ext uri="{FF2B5EF4-FFF2-40B4-BE49-F238E27FC236}">
                    <a16:creationId xmlns="" xmlns:a16="http://schemas.microsoft.com/office/drawing/2014/main" id="{D4602A0B-2692-3102-9904-EB899CD2D31D}"/>
                  </a:ext>
                </a:extLst>
              </p:cNvPr>
              <p:cNvSpPr/>
              <p:nvPr/>
            </p:nvSpPr>
            <p:spPr>
              <a:xfrm>
                <a:off x="10186443" y="3901041"/>
                <a:ext cx="495794" cy="156468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GB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Azure VM</a:t>
                </a:r>
              </a:p>
            </p:txBody>
          </p:sp>
        </p:grpSp>
        <p:grpSp>
          <p:nvGrpSpPr>
            <p:cNvPr id="230" name="그룹 229"/>
            <p:cNvGrpSpPr/>
            <p:nvPr/>
          </p:nvGrpSpPr>
          <p:grpSpPr>
            <a:xfrm>
              <a:off x="10855989" y="2967645"/>
              <a:ext cx="890775" cy="368948"/>
              <a:chOff x="10819381" y="2837782"/>
              <a:chExt cx="890775" cy="368948"/>
            </a:xfrm>
          </p:grpSpPr>
          <p:pic>
            <p:nvPicPr>
              <p:cNvPr id="225" name="그림 224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819381" y="2837999"/>
                <a:ext cx="411508" cy="368514"/>
              </a:xfrm>
              <a:prstGeom prst="rect">
                <a:avLst/>
              </a:prstGeom>
            </p:spPr>
          </p:pic>
          <p:sp>
            <p:nvSpPr>
              <p:cNvPr id="229" name="직사각형 228">
                <a:extLst>
                  <a:ext uri="{FF2B5EF4-FFF2-40B4-BE49-F238E27FC236}">
                    <a16:creationId xmlns="" xmlns:a16="http://schemas.microsoft.com/office/drawing/2014/main" id="{D4602A0B-2692-3102-9904-EB899CD2D31D}"/>
                  </a:ext>
                </a:extLst>
              </p:cNvPr>
              <p:cNvSpPr/>
              <p:nvPr/>
            </p:nvSpPr>
            <p:spPr>
              <a:xfrm>
                <a:off x="11259434" y="2837782"/>
                <a:ext cx="450722" cy="368948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r>
                  <a:rPr lang="en-GB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Google</a:t>
                </a:r>
              </a:p>
              <a:p>
                <a:r>
                  <a:rPr lang="en-GB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Compute</a:t>
                </a:r>
              </a:p>
              <a:p>
                <a:r>
                  <a:rPr lang="en-GB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Engine</a:t>
                </a:r>
              </a:p>
            </p:txBody>
          </p:sp>
        </p:grpSp>
        <p:grpSp>
          <p:nvGrpSpPr>
            <p:cNvPr id="233" name="그룹 232"/>
            <p:cNvGrpSpPr/>
            <p:nvPr/>
          </p:nvGrpSpPr>
          <p:grpSpPr>
            <a:xfrm>
              <a:off x="11061743" y="3543368"/>
              <a:ext cx="495794" cy="577424"/>
              <a:chOff x="10933126" y="3480085"/>
              <a:chExt cx="495794" cy="577424"/>
            </a:xfrm>
          </p:grpSpPr>
          <p:pic>
            <p:nvPicPr>
              <p:cNvPr id="223" name="Picture 4" descr="What is Vmware Workstation? | Webopedia">
                <a:extLst>
                  <a:ext uri="{FF2B5EF4-FFF2-40B4-BE49-F238E27FC236}">
                    <a16:creationId xmlns="" xmlns:a16="http://schemas.microsoft.com/office/drawing/2014/main" id="{E3010072-9B12-2198-321F-52DAF54CA1C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962269" y="3480085"/>
                <a:ext cx="437509" cy="43750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32" name="직사각형 231">
                <a:extLst>
                  <a:ext uri="{FF2B5EF4-FFF2-40B4-BE49-F238E27FC236}">
                    <a16:creationId xmlns="" xmlns:a16="http://schemas.microsoft.com/office/drawing/2014/main" id="{D4602A0B-2692-3102-9904-EB899CD2D31D}"/>
                  </a:ext>
                </a:extLst>
              </p:cNvPr>
              <p:cNvSpPr/>
              <p:nvPr/>
            </p:nvSpPr>
            <p:spPr>
              <a:xfrm>
                <a:off x="10933126" y="3901041"/>
                <a:ext cx="495794" cy="156468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GB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VMWare</a:t>
                </a:r>
              </a:p>
            </p:txBody>
          </p:sp>
        </p:grpSp>
        <p:grpSp>
          <p:nvGrpSpPr>
            <p:cNvPr id="242" name="그룹 241"/>
            <p:cNvGrpSpPr/>
            <p:nvPr/>
          </p:nvGrpSpPr>
          <p:grpSpPr>
            <a:xfrm>
              <a:off x="9939677" y="4352818"/>
              <a:ext cx="1062777" cy="430833"/>
              <a:chOff x="9939677" y="4395948"/>
              <a:chExt cx="1062777" cy="430833"/>
            </a:xfrm>
          </p:grpSpPr>
          <p:pic>
            <p:nvPicPr>
              <p:cNvPr id="240" name="그림 239"/>
              <p:cNvPicPr>
                <a:picLocks noChangeAspect="1"/>
              </p:cNvPicPr>
              <p:nvPr/>
            </p:nvPicPr>
            <p:blipFill>
              <a:blip r:embed="rId11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0259568" y="4395948"/>
                <a:ext cx="405339" cy="291949"/>
              </a:xfrm>
              <a:prstGeom prst="rect">
                <a:avLst/>
              </a:prstGeom>
            </p:spPr>
          </p:pic>
          <p:sp>
            <p:nvSpPr>
              <p:cNvPr id="241" name="직사각형 240">
                <a:extLst>
                  <a:ext uri="{FF2B5EF4-FFF2-40B4-BE49-F238E27FC236}">
                    <a16:creationId xmlns="" xmlns:a16="http://schemas.microsoft.com/office/drawing/2014/main" id="{D4602A0B-2692-3102-9904-EB899CD2D31D}"/>
                  </a:ext>
                </a:extLst>
              </p:cNvPr>
              <p:cNvSpPr/>
              <p:nvPr/>
            </p:nvSpPr>
            <p:spPr>
              <a:xfrm>
                <a:off x="9939677" y="4670313"/>
                <a:ext cx="1062777" cy="156468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GB" sz="7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Azure K8S Service (AKS)</a:t>
                </a:r>
                <a:endParaRPr lang="en-GB" sz="8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grpSp>
          <p:nvGrpSpPr>
            <p:cNvPr id="245" name="그룹 244"/>
            <p:cNvGrpSpPr/>
            <p:nvPr/>
          </p:nvGrpSpPr>
          <p:grpSpPr>
            <a:xfrm>
              <a:off x="11090886" y="4276528"/>
              <a:ext cx="599910" cy="490813"/>
              <a:chOff x="11064706" y="4311147"/>
              <a:chExt cx="599910" cy="490813"/>
            </a:xfrm>
          </p:grpSpPr>
          <p:pic>
            <p:nvPicPr>
              <p:cNvPr id="243" name="그림 242"/>
              <p:cNvPicPr>
                <a:picLocks noChangeAspect="1"/>
              </p:cNvPicPr>
              <p:nvPr/>
            </p:nvPicPr>
            <p:blipFill>
              <a:blip r:embed="rId12">
                <a:clrChange>
                  <a:clrFrom>
                    <a:srgbClr val="F7F7F7"/>
                  </a:clrFrom>
                  <a:clrTo>
                    <a:srgbClr val="F7F7F7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1171055" y="4311147"/>
                <a:ext cx="387212" cy="359017"/>
              </a:xfrm>
              <a:prstGeom prst="rect">
                <a:avLst/>
              </a:prstGeom>
            </p:spPr>
          </p:pic>
          <p:sp>
            <p:nvSpPr>
              <p:cNvPr id="244" name="직사각형 243">
                <a:extLst>
                  <a:ext uri="{FF2B5EF4-FFF2-40B4-BE49-F238E27FC236}">
                    <a16:creationId xmlns="" xmlns:a16="http://schemas.microsoft.com/office/drawing/2014/main" id="{D4602A0B-2692-3102-9904-EB899CD2D31D}"/>
                  </a:ext>
                </a:extLst>
              </p:cNvPr>
              <p:cNvSpPr/>
              <p:nvPr/>
            </p:nvSpPr>
            <p:spPr>
              <a:xfrm>
                <a:off x="11064706" y="4645492"/>
                <a:ext cx="599910" cy="156468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GB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OPEN</a:t>
                </a:r>
                <a:r>
                  <a:rPr lang="en-GB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SHIFT</a:t>
                </a:r>
              </a:p>
            </p:txBody>
          </p:sp>
        </p:grpSp>
        <p:grpSp>
          <p:nvGrpSpPr>
            <p:cNvPr id="248" name="그룹 247"/>
            <p:cNvGrpSpPr/>
            <p:nvPr/>
          </p:nvGrpSpPr>
          <p:grpSpPr>
            <a:xfrm>
              <a:off x="10193619" y="4822138"/>
              <a:ext cx="599910" cy="530000"/>
              <a:chOff x="10193619" y="4822138"/>
              <a:chExt cx="599910" cy="530000"/>
            </a:xfrm>
          </p:grpSpPr>
          <p:pic>
            <p:nvPicPr>
              <p:cNvPr id="246" name="그림 245"/>
              <p:cNvPicPr>
                <a:picLocks noChangeAspect="1"/>
              </p:cNvPicPr>
              <p:nvPr/>
            </p:nvPicPr>
            <p:blipFill>
              <a:blip r:embed="rId13">
                <a:clrChange>
                  <a:clrFrom>
                    <a:srgbClr val="F4F4F4"/>
                  </a:clrFrom>
                  <a:clrTo>
                    <a:srgbClr val="F4F4F4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0288150" y="4822138"/>
                <a:ext cx="410849" cy="369285"/>
              </a:xfrm>
              <a:prstGeom prst="rect">
                <a:avLst/>
              </a:prstGeom>
            </p:spPr>
          </p:pic>
          <p:sp>
            <p:nvSpPr>
              <p:cNvPr id="247" name="직사각형 246">
                <a:extLst>
                  <a:ext uri="{FF2B5EF4-FFF2-40B4-BE49-F238E27FC236}">
                    <a16:creationId xmlns="" xmlns:a16="http://schemas.microsoft.com/office/drawing/2014/main" id="{D4602A0B-2692-3102-9904-EB899CD2D31D}"/>
                  </a:ext>
                </a:extLst>
              </p:cNvPr>
              <p:cNvSpPr/>
              <p:nvPr/>
            </p:nvSpPr>
            <p:spPr>
              <a:xfrm>
                <a:off x="10193619" y="5195670"/>
                <a:ext cx="599910" cy="156468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GB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K8S Engine</a:t>
                </a:r>
              </a:p>
            </p:txBody>
          </p:sp>
        </p:grpSp>
        <p:grpSp>
          <p:nvGrpSpPr>
            <p:cNvPr id="251" name="그룹 250"/>
            <p:cNvGrpSpPr/>
            <p:nvPr/>
          </p:nvGrpSpPr>
          <p:grpSpPr>
            <a:xfrm>
              <a:off x="11091579" y="4843409"/>
              <a:ext cx="599910" cy="495856"/>
              <a:chOff x="11057075" y="4834783"/>
              <a:chExt cx="599910" cy="495856"/>
            </a:xfrm>
          </p:grpSpPr>
          <p:pic>
            <p:nvPicPr>
              <p:cNvPr id="249" name="그림 248"/>
              <p:cNvPicPr>
                <a:picLocks noChangeAspect="1"/>
              </p:cNvPicPr>
              <p:nvPr/>
            </p:nvPicPr>
            <p:blipFill>
              <a:blip r:embed="rId1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1203039" y="4834783"/>
                <a:ext cx="308543" cy="343993"/>
              </a:xfrm>
              <a:prstGeom prst="rect">
                <a:avLst/>
              </a:prstGeom>
            </p:spPr>
          </p:pic>
          <p:sp>
            <p:nvSpPr>
              <p:cNvPr id="250" name="직사각형 249">
                <a:extLst>
                  <a:ext uri="{FF2B5EF4-FFF2-40B4-BE49-F238E27FC236}">
                    <a16:creationId xmlns="" xmlns:a16="http://schemas.microsoft.com/office/drawing/2014/main" id="{D4602A0B-2692-3102-9904-EB899CD2D31D}"/>
                  </a:ext>
                </a:extLst>
              </p:cNvPr>
              <p:cNvSpPr/>
              <p:nvPr/>
            </p:nvSpPr>
            <p:spPr>
              <a:xfrm>
                <a:off x="11057075" y="5174171"/>
                <a:ext cx="599910" cy="156468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GB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Amazon EKS</a:t>
                </a:r>
              </a:p>
            </p:txBody>
          </p:sp>
        </p:grpSp>
      </p:grpSp>
      <p:cxnSp>
        <p:nvCxnSpPr>
          <p:cNvPr id="252" name="직선 연결선 251"/>
          <p:cNvCxnSpPr/>
          <p:nvPr/>
        </p:nvCxnSpPr>
        <p:spPr>
          <a:xfrm>
            <a:off x="616859" y="2618830"/>
            <a:ext cx="11031125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5" name="그림 254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518765" y="5651312"/>
            <a:ext cx="2408159" cy="798528"/>
          </a:xfrm>
          <a:prstGeom prst="rect">
            <a:avLst/>
          </a:prstGeom>
        </p:spPr>
      </p:pic>
      <p:grpSp>
        <p:nvGrpSpPr>
          <p:cNvPr id="259" name="그룹 258"/>
          <p:cNvGrpSpPr/>
          <p:nvPr/>
        </p:nvGrpSpPr>
        <p:grpSpPr>
          <a:xfrm>
            <a:off x="8029912" y="5597991"/>
            <a:ext cx="2515274" cy="804334"/>
            <a:chOff x="8236942" y="5692877"/>
            <a:chExt cx="2515274" cy="804334"/>
          </a:xfrm>
        </p:grpSpPr>
        <p:pic>
          <p:nvPicPr>
            <p:cNvPr id="256" name="그림 255"/>
            <p:cNvPicPr>
              <a:picLocks noChangeAspect="1"/>
            </p:cNvPicPr>
            <p:nvPr/>
          </p:nvPicPr>
          <p:blipFill>
            <a:blip r:embed="rId16">
              <a:clrChange>
                <a:clrFrom>
                  <a:srgbClr val="F7F7F7"/>
                </a:clrFrom>
                <a:clrTo>
                  <a:srgbClr val="F7F7F7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236942" y="5692877"/>
              <a:ext cx="919681" cy="398176"/>
            </a:xfrm>
            <a:prstGeom prst="rect">
              <a:avLst/>
            </a:prstGeom>
          </p:spPr>
        </p:pic>
        <p:pic>
          <p:nvPicPr>
            <p:cNvPr id="257" name="그림 256"/>
            <p:cNvPicPr>
              <a:picLocks noChangeAspect="1"/>
            </p:cNvPicPr>
            <p:nvPr/>
          </p:nvPicPr>
          <p:blipFill>
            <a:blip r:embed="rId1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813791" y="5707618"/>
              <a:ext cx="938425" cy="399788"/>
            </a:xfrm>
            <a:prstGeom prst="rect">
              <a:avLst/>
            </a:prstGeom>
          </p:spPr>
        </p:pic>
        <p:pic>
          <p:nvPicPr>
            <p:cNvPr id="258" name="그림 257"/>
            <p:cNvPicPr>
              <a:picLocks noChangeAspect="1"/>
            </p:cNvPicPr>
            <p:nvPr/>
          </p:nvPicPr>
          <p:blipFill>
            <a:blip r:embed="rId1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090182" y="5928849"/>
              <a:ext cx="657268" cy="568362"/>
            </a:xfrm>
            <a:prstGeom prst="rect">
              <a:avLst/>
            </a:prstGeom>
          </p:spPr>
        </p:pic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10274663" y="6372518"/>
            <a:ext cx="306355" cy="249385"/>
          </a:xfrm>
        </p:spPr>
        <p:txBody>
          <a:bodyPr/>
          <a:lstStyle/>
          <a:p>
            <a:fld id="{AFA02C0B-84B5-4CD2-A6CE-C6BD7D6F9045}" type="slidenum">
              <a:rPr lang="ko-KR" altLang="en-US" smtClean="0">
                <a:solidFill>
                  <a:schemeClr val="bg1"/>
                </a:solidFill>
              </a:rPr>
              <a:t>26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90302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C36E195-817A-DDD1-7EDD-9AF130080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="" xmlns:a16="http://schemas.microsoft.com/office/drawing/2014/main" id="{9596757A-4684-07F3-BFFE-08C77870E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추가 기능 소개</a:t>
            </a:r>
            <a:endParaRPr lang="ko-KR" altLang="en-US" sz="1400" dirty="0">
              <a:solidFill>
                <a:srgbClr val="0083CE"/>
              </a:solidFill>
              <a:latin typeface="+mj-ea"/>
              <a:ea typeface="+mj-ea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7A665D41-3379-46DE-D05F-15F72B756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4663" y="6372518"/>
            <a:ext cx="306355" cy="249385"/>
          </a:xfrm>
        </p:spPr>
        <p:txBody>
          <a:bodyPr/>
          <a:lstStyle/>
          <a:p>
            <a:fld id="{AFA02C0B-84B5-4CD2-A6CE-C6BD7D6F9045}" type="slidenum">
              <a:rPr lang="ko-KR" altLang="en-US" smtClean="0">
                <a:solidFill>
                  <a:schemeClr val="bg1"/>
                </a:solidFill>
              </a:rPr>
              <a:t>27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8" name="내용 개체 틀 2">
            <a:extLst>
              <a:ext uri="{FF2B5EF4-FFF2-40B4-BE49-F238E27FC236}">
                <a16:creationId xmlns="" xmlns:a16="http://schemas.microsoft.com/office/drawing/2014/main" id="{F66E0FF2-AFF6-4262-EFCA-C326588DDF91}"/>
              </a:ext>
            </a:extLst>
          </p:cNvPr>
          <p:cNvSpPr txBox="1">
            <a:spLocks/>
          </p:cNvSpPr>
          <p:nvPr/>
        </p:nvSpPr>
        <p:spPr>
          <a:xfrm>
            <a:off x="1034565" y="1125539"/>
            <a:ext cx="10109684" cy="50403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Calibri" panose="020F0502020204030204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29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200" dirty="0">
              <a:solidFill>
                <a:srgbClr val="212E35"/>
              </a:solidFill>
              <a:latin typeface="Calibri"/>
            </a:endParaRPr>
          </a:p>
        </p:txBody>
      </p:sp>
      <p:sp>
        <p:nvSpPr>
          <p:cNvPr id="49" name="Rectangle 3">
            <a:extLst>
              <a:ext uri="{FF2B5EF4-FFF2-40B4-BE49-F238E27FC236}">
                <a16:creationId xmlns="" xmlns:a16="http://schemas.microsoft.com/office/drawing/2014/main" id="{C55BF8CB-0BC5-A75C-D81F-490277B2FB6B}"/>
              </a:ext>
            </a:extLst>
          </p:cNvPr>
          <p:cNvSpPr/>
          <p:nvPr/>
        </p:nvSpPr>
        <p:spPr>
          <a:xfrm>
            <a:off x="1256738" y="1513565"/>
            <a:ext cx="9488193" cy="581188"/>
          </a:xfrm>
          <a:prstGeom prst="rect">
            <a:avLst/>
          </a:prstGeom>
        </p:spPr>
        <p:txBody>
          <a:bodyPr wrap="square" lIns="0" tIns="0" rIns="91440" bIns="0" anchor="t">
            <a:noAutofit/>
          </a:bodyPr>
          <a:lstStyle/>
          <a:p>
            <a:pPr indent="-171450" defTabSz="430213" latinLnBrk="0">
              <a:spcAft>
                <a:spcPts val="400"/>
              </a:spcAft>
              <a:buSzPct val="100000"/>
            </a:pPr>
            <a:endParaRPr lang="en-GB" altLang="ko-KR" sz="1200" dirty="0">
              <a:solidFill>
                <a:srgbClr val="0079EF"/>
              </a:solidFill>
              <a:latin typeface="Calibri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="" xmlns:a16="http://schemas.microsoft.com/office/drawing/2014/main" id="{B1320830-DF5A-7632-A46F-B1DF018AB8E9}"/>
              </a:ext>
            </a:extLst>
          </p:cNvPr>
          <p:cNvSpPr/>
          <p:nvPr/>
        </p:nvSpPr>
        <p:spPr>
          <a:xfrm>
            <a:off x="1130457" y="1886396"/>
            <a:ext cx="4919925" cy="1980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  <a:extLst>
              <a:ext uri="{C807C97D-BFC1-408E-A445-0C87EB9F89A2}">
                <ask:lineSketchStyleProps xmlns="" xmlns:ask="http://schemas.microsoft.com/office/drawing/2018/sketchyshapes" sd="264327539">
                  <a:custGeom>
                    <a:avLst/>
                    <a:gdLst>
                      <a:gd name="connsiteX0" fmla="*/ 0 w 5472608"/>
                      <a:gd name="connsiteY0" fmla="*/ 0 h 2473821"/>
                      <a:gd name="connsiteX1" fmla="*/ 5472608 w 5472608"/>
                      <a:gd name="connsiteY1" fmla="*/ 0 h 2473821"/>
                      <a:gd name="connsiteX2" fmla="*/ 5472608 w 5472608"/>
                      <a:gd name="connsiteY2" fmla="*/ 2473821 h 2473821"/>
                      <a:gd name="connsiteX3" fmla="*/ 0 w 5472608"/>
                      <a:gd name="connsiteY3" fmla="*/ 2473821 h 2473821"/>
                      <a:gd name="connsiteX4" fmla="*/ 0 w 5472608"/>
                      <a:gd name="connsiteY4" fmla="*/ 0 h 24738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72608" h="2473821" extrusionOk="0">
                        <a:moveTo>
                          <a:pt x="0" y="0"/>
                        </a:moveTo>
                        <a:cubicBezTo>
                          <a:pt x="1104591" y="155896"/>
                          <a:pt x="3722786" y="98108"/>
                          <a:pt x="5472608" y="0"/>
                        </a:cubicBezTo>
                        <a:cubicBezTo>
                          <a:pt x="5493741" y="1117928"/>
                          <a:pt x="5439016" y="1997818"/>
                          <a:pt x="5472608" y="2473821"/>
                        </a:cubicBezTo>
                        <a:cubicBezTo>
                          <a:pt x="3638589" y="2492712"/>
                          <a:pt x="2283791" y="2614940"/>
                          <a:pt x="0" y="2473821"/>
                        </a:cubicBezTo>
                        <a:cubicBezTo>
                          <a:pt x="155256" y="1851317"/>
                          <a:pt x="-45830" y="49092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="" xmlns:a16="http://schemas.microsoft.com/office/drawing/2014/main" id="{968722DD-2892-0515-5F7F-8291656D9A85}"/>
              </a:ext>
            </a:extLst>
          </p:cNvPr>
          <p:cNvSpPr/>
          <p:nvPr/>
        </p:nvSpPr>
        <p:spPr>
          <a:xfrm>
            <a:off x="1130457" y="4283489"/>
            <a:ext cx="4919925" cy="197527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  <a:extLst>
              <a:ext uri="{C807C97D-BFC1-408E-A445-0C87EB9F89A2}">
                <ask:lineSketchStyleProps xmlns="" xmlns:ask="http://schemas.microsoft.com/office/drawing/2018/sketchyshapes" sd="264327539">
                  <a:custGeom>
                    <a:avLst/>
                    <a:gdLst>
                      <a:gd name="connsiteX0" fmla="*/ 0 w 5472608"/>
                      <a:gd name="connsiteY0" fmla="*/ 0 h 2473821"/>
                      <a:gd name="connsiteX1" fmla="*/ 5472608 w 5472608"/>
                      <a:gd name="connsiteY1" fmla="*/ 0 h 2473821"/>
                      <a:gd name="connsiteX2" fmla="*/ 5472608 w 5472608"/>
                      <a:gd name="connsiteY2" fmla="*/ 2473821 h 2473821"/>
                      <a:gd name="connsiteX3" fmla="*/ 0 w 5472608"/>
                      <a:gd name="connsiteY3" fmla="*/ 2473821 h 2473821"/>
                      <a:gd name="connsiteX4" fmla="*/ 0 w 5472608"/>
                      <a:gd name="connsiteY4" fmla="*/ 0 h 24738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72608" h="2473821" extrusionOk="0">
                        <a:moveTo>
                          <a:pt x="0" y="0"/>
                        </a:moveTo>
                        <a:cubicBezTo>
                          <a:pt x="1104591" y="155896"/>
                          <a:pt x="3722786" y="98108"/>
                          <a:pt x="5472608" y="0"/>
                        </a:cubicBezTo>
                        <a:cubicBezTo>
                          <a:pt x="5493741" y="1117928"/>
                          <a:pt x="5439016" y="1997818"/>
                          <a:pt x="5472608" y="2473821"/>
                        </a:cubicBezTo>
                        <a:cubicBezTo>
                          <a:pt x="3638589" y="2492712"/>
                          <a:pt x="2283791" y="2614940"/>
                          <a:pt x="0" y="2473821"/>
                        </a:cubicBezTo>
                        <a:cubicBezTo>
                          <a:pt x="155256" y="1851317"/>
                          <a:pt x="-45830" y="49092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="" xmlns:a16="http://schemas.microsoft.com/office/drawing/2014/main" id="{37E9A11D-4CB4-C851-1572-8E2D52B0DBE9}"/>
              </a:ext>
            </a:extLst>
          </p:cNvPr>
          <p:cNvSpPr/>
          <p:nvPr/>
        </p:nvSpPr>
        <p:spPr>
          <a:xfrm>
            <a:off x="6168008" y="1886396"/>
            <a:ext cx="4976241" cy="1980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  <a:extLst>
              <a:ext uri="{C807C97D-BFC1-408E-A445-0C87EB9F89A2}">
                <ask:lineSketchStyleProps xmlns="" xmlns:ask="http://schemas.microsoft.com/office/drawing/2018/sketchyshapes" sd="264327539">
                  <a:custGeom>
                    <a:avLst/>
                    <a:gdLst>
                      <a:gd name="connsiteX0" fmla="*/ 0 w 5472608"/>
                      <a:gd name="connsiteY0" fmla="*/ 0 h 2473821"/>
                      <a:gd name="connsiteX1" fmla="*/ 5472608 w 5472608"/>
                      <a:gd name="connsiteY1" fmla="*/ 0 h 2473821"/>
                      <a:gd name="connsiteX2" fmla="*/ 5472608 w 5472608"/>
                      <a:gd name="connsiteY2" fmla="*/ 2473821 h 2473821"/>
                      <a:gd name="connsiteX3" fmla="*/ 0 w 5472608"/>
                      <a:gd name="connsiteY3" fmla="*/ 2473821 h 2473821"/>
                      <a:gd name="connsiteX4" fmla="*/ 0 w 5472608"/>
                      <a:gd name="connsiteY4" fmla="*/ 0 h 24738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72608" h="2473821" extrusionOk="0">
                        <a:moveTo>
                          <a:pt x="0" y="0"/>
                        </a:moveTo>
                        <a:cubicBezTo>
                          <a:pt x="1104591" y="155896"/>
                          <a:pt x="3722786" y="98108"/>
                          <a:pt x="5472608" y="0"/>
                        </a:cubicBezTo>
                        <a:cubicBezTo>
                          <a:pt x="5493741" y="1117928"/>
                          <a:pt x="5439016" y="1997818"/>
                          <a:pt x="5472608" y="2473821"/>
                        </a:cubicBezTo>
                        <a:cubicBezTo>
                          <a:pt x="3638589" y="2492712"/>
                          <a:pt x="2283791" y="2614940"/>
                          <a:pt x="0" y="2473821"/>
                        </a:cubicBezTo>
                        <a:cubicBezTo>
                          <a:pt x="155256" y="1851317"/>
                          <a:pt x="-45830" y="49092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="" xmlns:a16="http://schemas.microsoft.com/office/drawing/2014/main" id="{2F3F48C5-0494-15DF-DF2A-B548A2EF6C98}"/>
              </a:ext>
            </a:extLst>
          </p:cNvPr>
          <p:cNvSpPr/>
          <p:nvPr/>
        </p:nvSpPr>
        <p:spPr>
          <a:xfrm>
            <a:off x="6168008" y="4283489"/>
            <a:ext cx="4976241" cy="197527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  <a:extLst>
              <a:ext uri="{C807C97D-BFC1-408E-A445-0C87EB9F89A2}">
                <ask:lineSketchStyleProps xmlns="" xmlns:ask="http://schemas.microsoft.com/office/drawing/2018/sketchyshapes" sd="264327539">
                  <a:custGeom>
                    <a:avLst/>
                    <a:gdLst>
                      <a:gd name="connsiteX0" fmla="*/ 0 w 5472608"/>
                      <a:gd name="connsiteY0" fmla="*/ 0 h 2473821"/>
                      <a:gd name="connsiteX1" fmla="*/ 5472608 w 5472608"/>
                      <a:gd name="connsiteY1" fmla="*/ 0 h 2473821"/>
                      <a:gd name="connsiteX2" fmla="*/ 5472608 w 5472608"/>
                      <a:gd name="connsiteY2" fmla="*/ 2473821 h 2473821"/>
                      <a:gd name="connsiteX3" fmla="*/ 0 w 5472608"/>
                      <a:gd name="connsiteY3" fmla="*/ 2473821 h 2473821"/>
                      <a:gd name="connsiteX4" fmla="*/ 0 w 5472608"/>
                      <a:gd name="connsiteY4" fmla="*/ 0 h 24738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72608" h="2473821" extrusionOk="0">
                        <a:moveTo>
                          <a:pt x="0" y="0"/>
                        </a:moveTo>
                        <a:cubicBezTo>
                          <a:pt x="1104591" y="155896"/>
                          <a:pt x="3722786" y="98108"/>
                          <a:pt x="5472608" y="0"/>
                        </a:cubicBezTo>
                        <a:cubicBezTo>
                          <a:pt x="5493741" y="1117928"/>
                          <a:pt x="5439016" y="1997818"/>
                          <a:pt x="5472608" y="2473821"/>
                        </a:cubicBezTo>
                        <a:cubicBezTo>
                          <a:pt x="3638589" y="2492712"/>
                          <a:pt x="2283791" y="2614940"/>
                          <a:pt x="0" y="2473821"/>
                        </a:cubicBezTo>
                        <a:cubicBezTo>
                          <a:pt x="155256" y="1851317"/>
                          <a:pt x="-45830" y="49092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="" xmlns:a16="http://schemas.microsoft.com/office/drawing/2014/main" id="{AEA67993-FA4C-6000-7E2B-198F1E7BDDE9}"/>
              </a:ext>
            </a:extLst>
          </p:cNvPr>
          <p:cNvSpPr/>
          <p:nvPr/>
        </p:nvSpPr>
        <p:spPr>
          <a:xfrm>
            <a:off x="1130457" y="1553492"/>
            <a:ext cx="4919925" cy="298662"/>
          </a:xfrm>
          <a:prstGeom prst="roundRect">
            <a:avLst/>
          </a:prstGeom>
          <a:solidFill>
            <a:srgbClr val="00008B"/>
          </a:solidFill>
          <a:ln w="3175" cap="flat" cmpd="sng" algn="ctr">
            <a:noFill/>
            <a:prstDash val="solid"/>
            <a:miter lim="800000"/>
            <a:extLst>
              <a:ext uri="{C807C97D-BFC1-408E-A445-0C87EB9F89A2}">
                <ask:lineSketchStyleProps xmlns="" xmlns:ask="http://schemas.microsoft.com/office/drawing/2018/sketchyshapes" sd="264327539">
                  <a:custGeom>
                    <a:avLst/>
                    <a:gdLst>
                      <a:gd name="connsiteX0" fmla="*/ 0 w 5472608"/>
                      <a:gd name="connsiteY0" fmla="*/ 0 h 2473821"/>
                      <a:gd name="connsiteX1" fmla="*/ 5472608 w 5472608"/>
                      <a:gd name="connsiteY1" fmla="*/ 0 h 2473821"/>
                      <a:gd name="connsiteX2" fmla="*/ 5472608 w 5472608"/>
                      <a:gd name="connsiteY2" fmla="*/ 2473821 h 2473821"/>
                      <a:gd name="connsiteX3" fmla="*/ 0 w 5472608"/>
                      <a:gd name="connsiteY3" fmla="*/ 2473821 h 2473821"/>
                      <a:gd name="connsiteX4" fmla="*/ 0 w 5472608"/>
                      <a:gd name="connsiteY4" fmla="*/ 0 h 24738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72608" h="2473821" extrusionOk="0">
                        <a:moveTo>
                          <a:pt x="0" y="0"/>
                        </a:moveTo>
                        <a:cubicBezTo>
                          <a:pt x="1104591" y="155896"/>
                          <a:pt x="3722786" y="98108"/>
                          <a:pt x="5472608" y="0"/>
                        </a:cubicBezTo>
                        <a:cubicBezTo>
                          <a:pt x="5493741" y="1117928"/>
                          <a:pt x="5439016" y="1997818"/>
                          <a:pt x="5472608" y="2473821"/>
                        </a:cubicBezTo>
                        <a:cubicBezTo>
                          <a:pt x="3638589" y="2492712"/>
                          <a:pt x="2283791" y="2614940"/>
                          <a:pt x="0" y="2473821"/>
                        </a:cubicBezTo>
                        <a:cubicBezTo>
                          <a:pt x="155256" y="1851317"/>
                          <a:pt x="-45830" y="49092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Reviving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GB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DB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GB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cluster</a:t>
            </a:r>
            <a:endParaRPr kumimoji="0" lang="en-GB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="" xmlns:a16="http://schemas.microsoft.com/office/drawing/2014/main" id="{9A9414BF-A97D-DDDA-3186-626CC1380C45}"/>
              </a:ext>
            </a:extLst>
          </p:cNvPr>
          <p:cNvSpPr/>
          <p:nvPr/>
        </p:nvSpPr>
        <p:spPr>
          <a:xfrm>
            <a:off x="6168008" y="1553492"/>
            <a:ext cx="4976241" cy="298662"/>
          </a:xfrm>
          <a:prstGeom prst="roundRect">
            <a:avLst/>
          </a:prstGeom>
          <a:solidFill>
            <a:srgbClr val="00008B"/>
          </a:solidFill>
          <a:ln w="3175" cap="flat" cmpd="sng" algn="ctr">
            <a:noFill/>
            <a:prstDash val="solid"/>
            <a:miter lim="800000"/>
            <a:extLst>
              <a:ext uri="{C807C97D-BFC1-408E-A445-0C87EB9F89A2}">
                <ask:lineSketchStyleProps xmlns="" xmlns:ask="http://schemas.microsoft.com/office/drawing/2018/sketchyshapes" sd="4172447036">
                  <a:custGeom>
                    <a:avLst/>
                    <a:gdLst>
                      <a:gd name="connsiteX0" fmla="*/ 0 w 5472000"/>
                      <a:gd name="connsiteY0" fmla="*/ 0 h 2473821"/>
                      <a:gd name="connsiteX1" fmla="*/ 5472000 w 5472000"/>
                      <a:gd name="connsiteY1" fmla="*/ 0 h 2473821"/>
                      <a:gd name="connsiteX2" fmla="*/ 5472000 w 5472000"/>
                      <a:gd name="connsiteY2" fmla="*/ 2473821 h 2473821"/>
                      <a:gd name="connsiteX3" fmla="*/ 0 w 5472000"/>
                      <a:gd name="connsiteY3" fmla="*/ 2473821 h 2473821"/>
                      <a:gd name="connsiteX4" fmla="*/ 0 w 5472000"/>
                      <a:gd name="connsiteY4" fmla="*/ 0 h 24738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72000" h="2473821" extrusionOk="0">
                        <a:moveTo>
                          <a:pt x="0" y="0"/>
                        </a:moveTo>
                        <a:cubicBezTo>
                          <a:pt x="614637" y="-37904"/>
                          <a:pt x="3341282" y="-55183"/>
                          <a:pt x="5472000" y="0"/>
                        </a:cubicBezTo>
                        <a:cubicBezTo>
                          <a:pt x="5442518" y="1084743"/>
                          <a:pt x="5308846" y="1962556"/>
                          <a:pt x="5472000" y="2473821"/>
                        </a:cubicBezTo>
                        <a:cubicBezTo>
                          <a:pt x="3354322" y="2528441"/>
                          <a:pt x="1753951" y="2319473"/>
                          <a:pt x="0" y="2473821"/>
                        </a:cubicBezTo>
                        <a:cubicBezTo>
                          <a:pt x="60216" y="1633716"/>
                          <a:pt x="-164684" y="37049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Roboto Light" charset="0"/>
                <a:cs typeface="Roboto Light" charset="0"/>
              </a:rPr>
              <a:t>Subcluster sandboxing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7" name="그림 56">
            <a:extLst>
              <a:ext uri="{FF2B5EF4-FFF2-40B4-BE49-F238E27FC236}">
                <a16:creationId xmlns="" xmlns:a16="http://schemas.microsoft.com/office/drawing/2014/main" id="{ADA30D74-D27C-6ACF-1C75-B82B26DD4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1210" y="4695925"/>
            <a:ext cx="1971280" cy="1370312"/>
          </a:xfrm>
          <a:prstGeom prst="rect">
            <a:avLst/>
          </a:prstGeom>
          <a:ln>
            <a:noFill/>
          </a:ln>
        </p:spPr>
      </p:pic>
      <p:sp>
        <p:nvSpPr>
          <p:cNvPr id="58" name="TextBox 57">
            <a:extLst>
              <a:ext uri="{FF2B5EF4-FFF2-40B4-BE49-F238E27FC236}">
                <a16:creationId xmlns="" xmlns:a16="http://schemas.microsoft.com/office/drawing/2014/main" id="{FEFBBE18-657E-5188-FE49-CCD346374EF2}"/>
              </a:ext>
            </a:extLst>
          </p:cNvPr>
          <p:cNvSpPr txBox="1"/>
          <p:nvPr/>
        </p:nvSpPr>
        <p:spPr>
          <a:xfrm>
            <a:off x="3774396" y="1544377"/>
            <a:ext cx="184731" cy="276999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 latinLnBrk="0"/>
            <a:endParaRPr lang="en-GB" sz="1200" b="1" dirty="0">
              <a:solidFill>
                <a:prstClr val="white"/>
              </a:solidFill>
              <a:latin typeface="Calibri"/>
              <a:ea typeface="Roboto Light" charset="0"/>
              <a:cs typeface="Roboto Light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="" xmlns:a16="http://schemas.microsoft.com/office/drawing/2014/main" id="{71AC4733-94AB-7C3F-C9C3-21966003263A}"/>
              </a:ext>
            </a:extLst>
          </p:cNvPr>
          <p:cNvSpPr txBox="1"/>
          <p:nvPr/>
        </p:nvSpPr>
        <p:spPr>
          <a:xfrm>
            <a:off x="8811643" y="1544377"/>
            <a:ext cx="184731" cy="307777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 latinLnBrk="0"/>
            <a:endParaRPr lang="en-GB" sz="1400" b="1" dirty="0">
              <a:solidFill>
                <a:prstClr val="white"/>
              </a:solidFill>
              <a:latin typeface="Calibri"/>
              <a:ea typeface="Roboto Light" charset="0"/>
              <a:cs typeface="Roboto Light" charset="0"/>
            </a:endParaRPr>
          </a:p>
        </p:txBody>
      </p:sp>
      <p:sp>
        <p:nvSpPr>
          <p:cNvPr id="60" name="사각형: 둥근 모서리 59">
            <a:extLst>
              <a:ext uri="{FF2B5EF4-FFF2-40B4-BE49-F238E27FC236}">
                <a16:creationId xmlns="" xmlns:a16="http://schemas.microsoft.com/office/drawing/2014/main" id="{0C10AD56-43DC-5A2A-AC11-B14EC97D1B88}"/>
              </a:ext>
            </a:extLst>
          </p:cNvPr>
          <p:cNvSpPr/>
          <p:nvPr/>
        </p:nvSpPr>
        <p:spPr>
          <a:xfrm>
            <a:off x="1130457" y="3954505"/>
            <a:ext cx="4919925" cy="298662"/>
          </a:xfrm>
          <a:prstGeom prst="roundRect">
            <a:avLst/>
          </a:prstGeom>
          <a:solidFill>
            <a:srgbClr val="00008B"/>
          </a:solidFill>
          <a:ln w="3175" cap="flat" cmpd="sng" algn="ctr">
            <a:noFill/>
            <a:prstDash val="solid"/>
            <a:miter lim="800000"/>
            <a:extLst>
              <a:ext uri="{C807C97D-BFC1-408E-A445-0C87EB9F89A2}">
                <ask:lineSketchStyleProps xmlns="" xmlns:ask="http://schemas.microsoft.com/office/drawing/2018/sketchyshapes" sd="264327539">
                  <a:custGeom>
                    <a:avLst/>
                    <a:gdLst>
                      <a:gd name="connsiteX0" fmla="*/ 0 w 5472608"/>
                      <a:gd name="connsiteY0" fmla="*/ 0 h 2473821"/>
                      <a:gd name="connsiteX1" fmla="*/ 5472608 w 5472608"/>
                      <a:gd name="connsiteY1" fmla="*/ 0 h 2473821"/>
                      <a:gd name="connsiteX2" fmla="*/ 5472608 w 5472608"/>
                      <a:gd name="connsiteY2" fmla="*/ 2473821 h 2473821"/>
                      <a:gd name="connsiteX3" fmla="*/ 0 w 5472608"/>
                      <a:gd name="connsiteY3" fmla="*/ 2473821 h 2473821"/>
                      <a:gd name="connsiteX4" fmla="*/ 0 w 5472608"/>
                      <a:gd name="connsiteY4" fmla="*/ 0 h 24738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72608" h="2473821" extrusionOk="0">
                        <a:moveTo>
                          <a:pt x="0" y="0"/>
                        </a:moveTo>
                        <a:cubicBezTo>
                          <a:pt x="1104591" y="155896"/>
                          <a:pt x="3722786" y="98108"/>
                          <a:pt x="5472608" y="0"/>
                        </a:cubicBezTo>
                        <a:cubicBezTo>
                          <a:pt x="5493741" y="1117928"/>
                          <a:pt x="5439016" y="1997818"/>
                          <a:pt x="5472608" y="2473821"/>
                        </a:cubicBezTo>
                        <a:cubicBezTo>
                          <a:pt x="3638589" y="2492712"/>
                          <a:pt x="2283791" y="2614940"/>
                          <a:pt x="0" y="2473821"/>
                        </a:cubicBezTo>
                        <a:cubicBezTo>
                          <a:pt x="155256" y="1851317"/>
                          <a:pt x="-45830" y="49092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Server-based replication</a:t>
            </a:r>
          </a:p>
        </p:txBody>
      </p:sp>
      <p:sp>
        <p:nvSpPr>
          <p:cNvPr id="61" name="사각형: 둥근 모서리 60">
            <a:extLst>
              <a:ext uri="{FF2B5EF4-FFF2-40B4-BE49-F238E27FC236}">
                <a16:creationId xmlns="" xmlns:a16="http://schemas.microsoft.com/office/drawing/2014/main" id="{91A6F3F3-4A9B-D129-7E58-2E73BCE23055}"/>
              </a:ext>
            </a:extLst>
          </p:cNvPr>
          <p:cNvSpPr/>
          <p:nvPr/>
        </p:nvSpPr>
        <p:spPr>
          <a:xfrm>
            <a:off x="6168008" y="3954505"/>
            <a:ext cx="4976241" cy="298662"/>
          </a:xfrm>
          <a:prstGeom prst="roundRect">
            <a:avLst/>
          </a:prstGeom>
          <a:solidFill>
            <a:srgbClr val="00008B"/>
          </a:solidFill>
          <a:ln w="3175" cap="flat" cmpd="sng" algn="ctr">
            <a:noFill/>
            <a:prstDash val="solid"/>
            <a:miter lim="800000"/>
            <a:extLst>
              <a:ext uri="{C807C97D-BFC1-408E-A445-0C87EB9F89A2}">
                <ask:lineSketchStyleProps xmlns="" xmlns:ask="http://schemas.microsoft.com/office/drawing/2018/sketchyshapes" sd="4172447036">
                  <a:custGeom>
                    <a:avLst/>
                    <a:gdLst>
                      <a:gd name="connsiteX0" fmla="*/ 0 w 5472000"/>
                      <a:gd name="connsiteY0" fmla="*/ 0 h 2473821"/>
                      <a:gd name="connsiteX1" fmla="*/ 5472000 w 5472000"/>
                      <a:gd name="connsiteY1" fmla="*/ 0 h 2473821"/>
                      <a:gd name="connsiteX2" fmla="*/ 5472000 w 5472000"/>
                      <a:gd name="connsiteY2" fmla="*/ 2473821 h 2473821"/>
                      <a:gd name="connsiteX3" fmla="*/ 0 w 5472000"/>
                      <a:gd name="connsiteY3" fmla="*/ 2473821 h 2473821"/>
                      <a:gd name="connsiteX4" fmla="*/ 0 w 5472000"/>
                      <a:gd name="connsiteY4" fmla="*/ 0 h 24738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72000" h="2473821" extrusionOk="0">
                        <a:moveTo>
                          <a:pt x="0" y="0"/>
                        </a:moveTo>
                        <a:cubicBezTo>
                          <a:pt x="614637" y="-37904"/>
                          <a:pt x="3341282" y="-55183"/>
                          <a:pt x="5472000" y="0"/>
                        </a:cubicBezTo>
                        <a:cubicBezTo>
                          <a:pt x="5442518" y="1084743"/>
                          <a:pt x="5308846" y="1962556"/>
                          <a:pt x="5472000" y="2473821"/>
                        </a:cubicBezTo>
                        <a:cubicBezTo>
                          <a:pt x="3354322" y="2528441"/>
                          <a:pt x="1753951" y="2319473"/>
                          <a:pt x="0" y="2473821"/>
                        </a:cubicBezTo>
                        <a:cubicBezTo>
                          <a:pt x="60216" y="1633716"/>
                          <a:pt x="-164684" y="37049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Roboto Light" charset="0"/>
                <a:cs typeface="Roboto Light" charset="0"/>
              </a:rPr>
              <a:t>Workload routing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="" xmlns:a16="http://schemas.microsoft.com/office/drawing/2014/main" id="{50561E7B-A43C-18BD-5202-20EAAC865C03}"/>
              </a:ext>
            </a:extLst>
          </p:cNvPr>
          <p:cNvSpPr txBox="1"/>
          <p:nvPr/>
        </p:nvSpPr>
        <p:spPr>
          <a:xfrm>
            <a:off x="8328248" y="1885367"/>
            <a:ext cx="2772870" cy="1683089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marL="171450" indent="-171450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srgbClr val="212E35"/>
                </a:solidFill>
                <a:latin typeface="Calibri"/>
                <a:cs typeface="Roboto Light" charset="0"/>
              </a:rPr>
              <a:t>기존 클러스터의 </a:t>
            </a:r>
            <a:r>
              <a:rPr lang="en-GB" altLang="ko-KR" sz="1000" dirty="0">
                <a:solidFill>
                  <a:srgbClr val="212E35"/>
                </a:solidFill>
                <a:latin typeface="Calibri"/>
                <a:cs typeface="Roboto Light" charset="0"/>
              </a:rPr>
              <a:t>Data</a:t>
            </a:r>
            <a:r>
              <a:rPr lang="ko-KR" altLang="en-US" sz="1000" dirty="0">
                <a:solidFill>
                  <a:srgbClr val="212E35"/>
                </a:solidFill>
                <a:latin typeface="Calibri"/>
                <a:cs typeface="Roboto Light" charset="0"/>
              </a:rPr>
              <a:t>나 </a:t>
            </a:r>
            <a:r>
              <a:rPr lang="en-GB" altLang="ko-KR" sz="1000" dirty="0" err="1">
                <a:solidFill>
                  <a:srgbClr val="212E35"/>
                </a:solidFill>
                <a:latin typeface="Calibri"/>
                <a:cs typeface="Roboto Light" charset="0"/>
              </a:rPr>
              <a:t>Catalog</a:t>
            </a:r>
            <a:r>
              <a:rPr lang="ko-KR" altLang="en-US" sz="1000" dirty="0">
                <a:solidFill>
                  <a:srgbClr val="212E35"/>
                </a:solidFill>
                <a:latin typeface="Calibri"/>
                <a:cs typeface="Roboto Light" charset="0"/>
              </a:rPr>
              <a:t> 를 동일하게 제공하지만 </a:t>
            </a:r>
            <a:r>
              <a:rPr lang="en-GB" altLang="ko-KR" sz="1000" dirty="0">
                <a:solidFill>
                  <a:srgbClr val="212E35"/>
                </a:solidFill>
                <a:latin typeface="Calibri"/>
                <a:cs typeface="Roboto Light" charset="0"/>
              </a:rPr>
              <a:t>Sandbox subcluster</a:t>
            </a:r>
            <a:r>
              <a:rPr lang="ko-KR" altLang="en-US" sz="1000" dirty="0">
                <a:solidFill>
                  <a:srgbClr val="212E35"/>
                </a:solidFill>
                <a:latin typeface="Calibri"/>
                <a:cs typeface="Roboto Light" charset="0"/>
              </a:rPr>
              <a:t>에서 수행되는 트랜잭션이나 </a:t>
            </a:r>
            <a:r>
              <a:rPr lang="en-GB" altLang="ko-KR" sz="1000" dirty="0">
                <a:solidFill>
                  <a:srgbClr val="212E35"/>
                </a:solidFill>
                <a:latin typeface="Calibri"/>
                <a:cs typeface="Roboto Light" charset="0"/>
              </a:rPr>
              <a:t>DDL </a:t>
            </a:r>
            <a:r>
              <a:rPr lang="ko-KR" altLang="en-US" sz="1000" dirty="0">
                <a:solidFill>
                  <a:srgbClr val="212E35"/>
                </a:solidFill>
                <a:latin typeface="Calibri"/>
                <a:cs typeface="Roboto Light" charset="0"/>
              </a:rPr>
              <a:t>등은 기존 클러스터에 영향을 주지 않음</a:t>
            </a:r>
            <a:endParaRPr lang="en-GB" altLang="ko-KR" sz="1000" dirty="0">
              <a:solidFill>
                <a:srgbClr val="212E35"/>
              </a:solidFill>
              <a:latin typeface="Calibri"/>
              <a:cs typeface="Roboto Light" charset="0"/>
            </a:endParaRPr>
          </a:p>
          <a:p>
            <a:pPr marL="171450" indent="-171450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srgbClr val="212E35"/>
                </a:solidFill>
                <a:latin typeface="Calibri"/>
                <a:cs typeface="Roboto Light" charset="0"/>
              </a:rPr>
              <a:t>기존 클러스터에 영향을 주지 않으면서</a:t>
            </a:r>
            <a:r>
              <a:rPr lang="en-GB" altLang="ko-KR" sz="1000" dirty="0">
                <a:solidFill>
                  <a:srgbClr val="212E35"/>
                </a:solidFill>
                <a:latin typeface="Calibri"/>
                <a:cs typeface="Roboto Light" charset="0"/>
              </a:rPr>
              <a:t/>
            </a:r>
            <a:br>
              <a:rPr lang="en-GB" altLang="ko-KR" sz="1000" dirty="0">
                <a:solidFill>
                  <a:srgbClr val="212E35"/>
                </a:solidFill>
                <a:latin typeface="Calibri"/>
                <a:cs typeface="Roboto Light" charset="0"/>
              </a:rPr>
            </a:br>
            <a:r>
              <a:rPr lang="ko-KR" altLang="en-US" sz="1000" dirty="0">
                <a:solidFill>
                  <a:srgbClr val="212E35"/>
                </a:solidFill>
                <a:latin typeface="Calibri"/>
                <a:cs typeface="Roboto Light" charset="0"/>
              </a:rPr>
              <a:t>특정 업무 격리</a:t>
            </a:r>
            <a:r>
              <a:rPr lang="en-GB" altLang="ko-KR" sz="1000" dirty="0">
                <a:solidFill>
                  <a:srgbClr val="212E35"/>
                </a:solidFill>
                <a:latin typeface="Calibri"/>
                <a:cs typeface="Roboto Light" charset="0"/>
              </a:rPr>
              <a:t>, </a:t>
            </a:r>
            <a:r>
              <a:rPr lang="ko-KR" altLang="en-US" sz="1000" dirty="0">
                <a:solidFill>
                  <a:srgbClr val="212E35"/>
                </a:solidFill>
                <a:latin typeface="Calibri"/>
                <a:cs typeface="Roboto Light" charset="0"/>
              </a:rPr>
              <a:t>신기능 테스트</a:t>
            </a:r>
            <a:r>
              <a:rPr lang="en-GB" altLang="ko-KR" sz="1000" dirty="0">
                <a:solidFill>
                  <a:srgbClr val="212E35"/>
                </a:solidFill>
                <a:latin typeface="Calibri"/>
                <a:cs typeface="Roboto Light" charset="0"/>
              </a:rPr>
              <a:t>, </a:t>
            </a:r>
            <a:r>
              <a:rPr lang="ko-KR" altLang="en-US" sz="1000" dirty="0">
                <a:solidFill>
                  <a:srgbClr val="212E35"/>
                </a:solidFill>
                <a:latin typeface="Calibri"/>
                <a:cs typeface="Roboto Light" charset="0"/>
              </a:rPr>
              <a:t>실험적인 업무에 활용</a:t>
            </a:r>
            <a:endParaRPr lang="en-GB" sz="1000" dirty="0">
              <a:solidFill>
                <a:srgbClr val="212E35"/>
              </a:solidFill>
              <a:latin typeface="Calibri"/>
              <a:cs typeface="Roboto Light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="" xmlns:a16="http://schemas.microsoft.com/office/drawing/2014/main" id="{19E749D7-E7CD-91C2-6F01-5F3C914854BA}"/>
              </a:ext>
            </a:extLst>
          </p:cNvPr>
          <p:cNvSpPr txBox="1"/>
          <p:nvPr/>
        </p:nvSpPr>
        <p:spPr>
          <a:xfrm>
            <a:off x="8328248" y="4283580"/>
            <a:ext cx="2733295" cy="122142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marL="171450" indent="-171450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srgbClr val="212E35"/>
                </a:solidFill>
                <a:latin typeface="Calibri"/>
                <a:cs typeface="Roboto Light" charset="0"/>
              </a:rPr>
              <a:t>클러스터로 접속되는 세션들을 </a:t>
            </a:r>
            <a:r>
              <a:rPr lang="en-GB" altLang="ko-KR" sz="1000" dirty="0">
                <a:solidFill>
                  <a:srgbClr val="212E35"/>
                </a:solidFill>
                <a:latin typeface="Calibri"/>
                <a:cs typeface="Roboto Light" charset="0"/>
              </a:rPr>
              <a:t/>
            </a:r>
            <a:br>
              <a:rPr lang="en-GB" altLang="ko-KR" sz="1000" dirty="0">
                <a:solidFill>
                  <a:srgbClr val="212E35"/>
                </a:solidFill>
                <a:latin typeface="Calibri"/>
                <a:cs typeface="Roboto Light" charset="0"/>
              </a:rPr>
            </a:br>
            <a:r>
              <a:rPr lang="ko-KR" altLang="en-US" sz="1000" dirty="0">
                <a:solidFill>
                  <a:srgbClr val="212E35"/>
                </a:solidFill>
                <a:latin typeface="Calibri"/>
                <a:cs typeface="Roboto Light" charset="0"/>
              </a:rPr>
              <a:t>사용명이나 </a:t>
            </a:r>
            <a:r>
              <a:rPr lang="en-GB" altLang="ko-KR" sz="1000" dirty="0">
                <a:solidFill>
                  <a:srgbClr val="212E35"/>
                </a:solidFill>
                <a:latin typeface="Calibri"/>
                <a:cs typeface="Roboto Light" charset="0"/>
              </a:rPr>
              <a:t>workload tag </a:t>
            </a:r>
            <a:r>
              <a:rPr lang="ko-KR" altLang="en-US" sz="1000" dirty="0">
                <a:solidFill>
                  <a:srgbClr val="212E35"/>
                </a:solidFill>
                <a:latin typeface="Calibri"/>
                <a:cs typeface="Roboto Light" charset="0"/>
              </a:rPr>
              <a:t>기준으로 </a:t>
            </a:r>
            <a:r>
              <a:rPr lang="en-GB" altLang="ko-KR" sz="1000" dirty="0">
                <a:solidFill>
                  <a:srgbClr val="212E35"/>
                </a:solidFill>
                <a:latin typeface="Calibri"/>
                <a:cs typeface="Roboto Light" charset="0"/>
              </a:rPr>
              <a:t/>
            </a:r>
            <a:br>
              <a:rPr lang="en-GB" altLang="ko-KR" sz="1000" dirty="0">
                <a:solidFill>
                  <a:srgbClr val="212E35"/>
                </a:solidFill>
                <a:latin typeface="Calibri"/>
                <a:cs typeface="Roboto Light" charset="0"/>
              </a:rPr>
            </a:br>
            <a:r>
              <a:rPr lang="ko-KR" altLang="en-US" sz="1000" dirty="0">
                <a:solidFill>
                  <a:srgbClr val="212E35"/>
                </a:solidFill>
                <a:latin typeface="Calibri"/>
                <a:cs typeface="Roboto Light" charset="0"/>
              </a:rPr>
              <a:t>자동으로 클러스터간 라우팅 처리</a:t>
            </a:r>
            <a:endParaRPr lang="en-GB" altLang="ko-KR" sz="1000" dirty="0">
              <a:solidFill>
                <a:srgbClr val="212E35"/>
              </a:solidFill>
              <a:latin typeface="Calibri"/>
              <a:cs typeface="Roboto Light" charset="0"/>
            </a:endParaRPr>
          </a:p>
          <a:p>
            <a:pPr marL="171450" indent="-171450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srgbClr val="212E35"/>
                </a:solidFill>
                <a:latin typeface="Calibri"/>
                <a:cs typeface="Roboto Light" charset="0"/>
              </a:rPr>
              <a:t>워크로드 특성별로 서브 클러스터들의 컴퓨팅을 동적으로 자유롭게 활용</a:t>
            </a:r>
            <a:endParaRPr lang="en-GB" sz="1000" dirty="0">
              <a:solidFill>
                <a:srgbClr val="212E35"/>
              </a:solidFill>
              <a:latin typeface="Calibri"/>
              <a:cs typeface="Roboto Light" charset="0"/>
            </a:endParaRPr>
          </a:p>
        </p:txBody>
      </p:sp>
      <p:pic>
        <p:nvPicPr>
          <p:cNvPr id="64" name="그림 63">
            <a:extLst>
              <a:ext uri="{FF2B5EF4-FFF2-40B4-BE49-F238E27FC236}">
                <a16:creationId xmlns="" xmlns:a16="http://schemas.microsoft.com/office/drawing/2014/main" id="{99AA5F7F-51E1-11F0-EB8E-8D7E909C3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181" y="2245259"/>
            <a:ext cx="1823520" cy="1401362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="" xmlns:a16="http://schemas.microsoft.com/office/drawing/2014/main" id="{D2E615F4-3AF9-383E-176A-502AF68D7B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4473" y="2277157"/>
            <a:ext cx="1335288" cy="1369464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="" xmlns:a16="http://schemas.microsoft.com/office/drawing/2014/main" id="{14A67802-438A-4486-957F-85F904C8F245}"/>
              </a:ext>
            </a:extLst>
          </p:cNvPr>
          <p:cNvSpPr txBox="1"/>
          <p:nvPr/>
        </p:nvSpPr>
        <p:spPr>
          <a:xfrm>
            <a:off x="2903941" y="1885367"/>
            <a:ext cx="3264067" cy="1730667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marL="171450" indent="-171450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srgbClr val="212E35"/>
                </a:solidFill>
                <a:latin typeface="Calibri"/>
                <a:cs typeface="Roboto Light" charset="0"/>
              </a:rPr>
              <a:t>오브젝트 스토리지에 저장된 메타 정보와</a:t>
            </a:r>
            <a:r>
              <a:rPr lang="en-GB" altLang="ko-KR" sz="1000" dirty="0">
                <a:solidFill>
                  <a:srgbClr val="212E35"/>
                </a:solidFill>
                <a:latin typeface="Calibri"/>
                <a:cs typeface="Roboto Light" charset="0"/>
              </a:rPr>
              <a:t/>
            </a:r>
            <a:br>
              <a:rPr lang="en-GB" altLang="ko-KR" sz="1000" dirty="0">
                <a:solidFill>
                  <a:srgbClr val="212E35"/>
                </a:solidFill>
                <a:latin typeface="Calibri"/>
                <a:cs typeface="Roboto Light" charset="0"/>
              </a:rPr>
            </a:br>
            <a:r>
              <a:rPr lang="ko-KR" altLang="en-US" sz="1000" dirty="0">
                <a:solidFill>
                  <a:srgbClr val="212E35"/>
                </a:solidFill>
                <a:latin typeface="Calibri"/>
                <a:cs typeface="Roboto Light" charset="0"/>
              </a:rPr>
              <a:t>데이터를 통해 새로운 클러스터로 </a:t>
            </a:r>
            <a:r>
              <a:rPr lang="en-GB" altLang="ko-KR" sz="1000" dirty="0">
                <a:solidFill>
                  <a:srgbClr val="212E35"/>
                </a:solidFill>
                <a:latin typeface="Calibri"/>
                <a:cs typeface="Roboto Light" charset="0"/>
              </a:rPr>
              <a:t>DB</a:t>
            </a:r>
            <a:r>
              <a:rPr lang="ko-KR" altLang="en-US" sz="1000" dirty="0">
                <a:solidFill>
                  <a:srgbClr val="212E35"/>
                </a:solidFill>
                <a:latin typeface="Calibri"/>
                <a:cs typeface="Roboto Light" charset="0"/>
              </a:rPr>
              <a:t>를 되살리는 기능을 제공</a:t>
            </a:r>
            <a:endParaRPr lang="en-GB" altLang="ko-KR" sz="1000" dirty="0">
              <a:solidFill>
                <a:srgbClr val="212E35"/>
              </a:solidFill>
              <a:latin typeface="Calibri"/>
              <a:cs typeface="Roboto Light" charset="0"/>
            </a:endParaRPr>
          </a:p>
          <a:p>
            <a:pPr marL="171450" indent="-171450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altLang="ko-KR" sz="1000" dirty="0">
                <a:solidFill>
                  <a:srgbClr val="212E35"/>
                </a:solidFill>
                <a:latin typeface="Calibri"/>
                <a:cs typeface="Roboto Light" charset="0"/>
              </a:rPr>
              <a:t>OS </a:t>
            </a:r>
            <a:r>
              <a:rPr lang="ko-KR" altLang="en-US" sz="1000" dirty="0">
                <a:solidFill>
                  <a:srgbClr val="212E35"/>
                </a:solidFill>
                <a:latin typeface="Calibri"/>
                <a:cs typeface="Roboto Light" charset="0"/>
              </a:rPr>
              <a:t>및 </a:t>
            </a:r>
            <a:r>
              <a:rPr lang="en-GB" altLang="ko-KR" sz="1000" dirty="0">
                <a:solidFill>
                  <a:srgbClr val="212E35"/>
                </a:solidFill>
                <a:latin typeface="Calibri"/>
                <a:cs typeface="Roboto Light" charset="0"/>
              </a:rPr>
              <a:t>H/W EOS</a:t>
            </a:r>
            <a:r>
              <a:rPr lang="ko-KR" altLang="en-US" sz="1000" dirty="0">
                <a:solidFill>
                  <a:srgbClr val="212E35"/>
                </a:solidFill>
                <a:latin typeface="Calibri"/>
                <a:cs typeface="Roboto Light" charset="0"/>
              </a:rPr>
              <a:t>에 따른 이슈 원천 제거</a:t>
            </a:r>
            <a:endParaRPr lang="en-GB" altLang="ko-KR" sz="1000" dirty="0">
              <a:solidFill>
                <a:srgbClr val="212E35"/>
              </a:solidFill>
              <a:latin typeface="Calibri"/>
              <a:cs typeface="Roboto Light" charset="0"/>
            </a:endParaRPr>
          </a:p>
          <a:p>
            <a:pPr marL="171450" indent="-171450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srgbClr val="212E35"/>
                </a:solidFill>
                <a:latin typeface="Calibri"/>
                <a:cs typeface="Roboto Light" charset="0"/>
              </a:rPr>
              <a:t>미사용시 클러스터 </a:t>
            </a:r>
            <a:r>
              <a:rPr lang="en-GB" altLang="ko-KR" sz="1000" dirty="0">
                <a:solidFill>
                  <a:srgbClr val="212E35"/>
                </a:solidFill>
                <a:latin typeface="Calibri"/>
                <a:cs typeface="Roboto Light" charset="0"/>
              </a:rPr>
              <a:t>terminate, </a:t>
            </a:r>
            <a:r>
              <a:rPr lang="ko-KR" altLang="en-US" sz="1000" dirty="0">
                <a:solidFill>
                  <a:srgbClr val="212E35"/>
                </a:solidFill>
                <a:latin typeface="Calibri"/>
                <a:cs typeface="Roboto Light" charset="0"/>
              </a:rPr>
              <a:t>클러스터 전체 컴퓨팅 노드 교체</a:t>
            </a:r>
            <a:r>
              <a:rPr lang="en-GB" altLang="ko-KR" sz="1000" dirty="0">
                <a:solidFill>
                  <a:srgbClr val="212E35"/>
                </a:solidFill>
                <a:latin typeface="Calibri"/>
                <a:cs typeface="Roboto Light" charset="0"/>
              </a:rPr>
              <a:t> </a:t>
            </a:r>
            <a:r>
              <a:rPr lang="ko-KR" altLang="en-US" sz="1000" dirty="0">
                <a:solidFill>
                  <a:srgbClr val="212E35"/>
                </a:solidFill>
                <a:latin typeface="Calibri"/>
                <a:cs typeface="Roboto Light" charset="0"/>
              </a:rPr>
              <a:t>등을 효율적으로 지원</a:t>
            </a:r>
            <a:endParaRPr lang="en-GB" sz="1000" dirty="0">
              <a:solidFill>
                <a:srgbClr val="212E35"/>
              </a:solidFill>
              <a:latin typeface="Calibri"/>
              <a:cs typeface="Roboto Light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="" xmlns:a16="http://schemas.microsoft.com/office/drawing/2014/main" id="{8B5FB7B4-2534-C26C-F696-4CB80B9602FC}"/>
              </a:ext>
            </a:extLst>
          </p:cNvPr>
          <p:cNvSpPr txBox="1"/>
          <p:nvPr/>
        </p:nvSpPr>
        <p:spPr>
          <a:xfrm>
            <a:off x="2903941" y="4283580"/>
            <a:ext cx="3152894" cy="1452257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marL="171450" indent="-171450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srgbClr val="212E35"/>
                </a:solidFill>
                <a:latin typeface="Calibri"/>
                <a:cs typeface="Roboto Light" charset="0"/>
              </a:rPr>
              <a:t>물리적으로 분리된 버티카 클러스터로 </a:t>
            </a:r>
            <a:r>
              <a:rPr lang="en-GB" altLang="ko-KR" sz="1000" dirty="0">
                <a:solidFill>
                  <a:srgbClr val="212E35"/>
                </a:solidFill>
                <a:latin typeface="Calibri"/>
                <a:cs typeface="Roboto Light" charset="0"/>
              </a:rPr>
              <a:t>Meta </a:t>
            </a:r>
            <a:r>
              <a:rPr lang="ko-KR" altLang="en-US" sz="1000" dirty="0">
                <a:solidFill>
                  <a:srgbClr val="212E35"/>
                </a:solidFill>
                <a:latin typeface="Calibri"/>
                <a:cs typeface="Roboto Light" charset="0"/>
              </a:rPr>
              <a:t>정보 및 데이터를 복제할 수 있는 기능을 제공</a:t>
            </a:r>
            <a:endParaRPr lang="en-GB" altLang="ko-KR" sz="1000" dirty="0">
              <a:solidFill>
                <a:srgbClr val="212E35"/>
              </a:solidFill>
              <a:latin typeface="Calibri"/>
              <a:cs typeface="Roboto Light" charset="0"/>
            </a:endParaRPr>
          </a:p>
          <a:p>
            <a:pPr marL="171450" indent="-171450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srgbClr val="212E35"/>
                </a:solidFill>
                <a:latin typeface="Calibri"/>
                <a:cs typeface="Roboto Light" charset="0"/>
              </a:rPr>
              <a:t>압축된 데이터가 복제되며 증분 복제 기능이 제공되어 </a:t>
            </a:r>
            <a:r>
              <a:rPr lang="en-GB" altLang="ko-KR" sz="1000" dirty="0">
                <a:solidFill>
                  <a:srgbClr val="212E35"/>
                </a:solidFill>
                <a:latin typeface="Calibri"/>
                <a:cs typeface="Roboto Light" charset="0"/>
              </a:rPr>
              <a:t>DR </a:t>
            </a:r>
            <a:r>
              <a:rPr lang="ko-KR" altLang="en-US" sz="1000" dirty="0">
                <a:solidFill>
                  <a:srgbClr val="212E35"/>
                </a:solidFill>
                <a:latin typeface="Calibri"/>
                <a:cs typeface="Roboto Light" charset="0"/>
              </a:rPr>
              <a:t>용 버티카 클러스터에 최적화</a:t>
            </a:r>
            <a:endParaRPr lang="en-GB" altLang="ko-KR" sz="1000" dirty="0">
              <a:solidFill>
                <a:srgbClr val="212E35"/>
              </a:solidFill>
              <a:latin typeface="Calibri"/>
              <a:cs typeface="Roboto Light" charset="0"/>
            </a:endParaRPr>
          </a:p>
          <a:p>
            <a:pPr marL="171450" indent="-171450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000" dirty="0">
                <a:solidFill>
                  <a:srgbClr val="212E35"/>
                </a:solidFill>
                <a:latin typeface="Calibri"/>
                <a:cs typeface="Roboto Light" charset="0"/>
              </a:rPr>
              <a:t>DR</a:t>
            </a:r>
            <a:r>
              <a:rPr lang="ko-KR" altLang="en-US" sz="1000" dirty="0">
                <a:solidFill>
                  <a:srgbClr val="212E35"/>
                </a:solidFill>
                <a:latin typeface="Calibri"/>
                <a:cs typeface="Roboto Light" charset="0"/>
              </a:rPr>
              <a:t>용 컴퓨팅 클러스터는 상시기동이 필요치 않으므로 </a:t>
            </a:r>
            <a:r>
              <a:rPr lang="en-GB" altLang="ko-KR" sz="1000" dirty="0">
                <a:solidFill>
                  <a:srgbClr val="212E35"/>
                </a:solidFill>
                <a:latin typeface="Calibri"/>
                <a:cs typeface="Roboto Light" charset="0"/>
              </a:rPr>
              <a:t>Cloud </a:t>
            </a:r>
            <a:r>
              <a:rPr lang="ko-KR" altLang="en-US" sz="1000" dirty="0">
                <a:solidFill>
                  <a:srgbClr val="212E35"/>
                </a:solidFill>
                <a:latin typeface="Calibri"/>
                <a:cs typeface="Roboto Light" charset="0"/>
              </a:rPr>
              <a:t>인스턴스</a:t>
            </a:r>
            <a:r>
              <a:rPr lang="en-GB" altLang="ko-KR" sz="1000" dirty="0">
                <a:solidFill>
                  <a:srgbClr val="212E35"/>
                </a:solidFill>
                <a:latin typeface="Calibri"/>
                <a:cs typeface="Roboto Light" charset="0"/>
              </a:rPr>
              <a:t>, VM</a:t>
            </a:r>
            <a:r>
              <a:rPr lang="ko-KR" altLang="en-US" sz="1000" dirty="0">
                <a:solidFill>
                  <a:srgbClr val="212E35"/>
                </a:solidFill>
                <a:latin typeface="Calibri"/>
                <a:cs typeface="Roboto Light" charset="0"/>
              </a:rPr>
              <a:t> 등을 활용 가능</a:t>
            </a:r>
            <a:endParaRPr lang="en-GB" sz="1000" dirty="0">
              <a:solidFill>
                <a:srgbClr val="212E35"/>
              </a:solidFill>
              <a:latin typeface="Calibri"/>
              <a:cs typeface="Roboto Light" charset="0"/>
            </a:endParaRPr>
          </a:p>
        </p:txBody>
      </p:sp>
      <p:pic>
        <p:nvPicPr>
          <p:cNvPr id="68" name="그림 67">
            <a:extLst>
              <a:ext uri="{FF2B5EF4-FFF2-40B4-BE49-F238E27FC236}">
                <a16:creationId xmlns="" xmlns:a16="http://schemas.microsoft.com/office/drawing/2014/main" id="{FDC3B95A-3BDB-7E11-3E7F-4479F32D2D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4473" y="4534651"/>
            <a:ext cx="1535084" cy="1648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027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Vertica Eon Mode</a:t>
            </a:r>
            <a:endParaRPr lang="ko-KR" altLang="en-US" sz="1400" dirty="0">
              <a:solidFill>
                <a:srgbClr val="0083CE"/>
              </a:solidFill>
              <a:latin typeface="+mj-ea"/>
              <a:ea typeface="+mj-ea"/>
            </a:endParaRPr>
          </a:p>
        </p:txBody>
      </p:sp>
      <p:graphicFrame>
        <p:nvGraphicFramePr>
          <p:cNvPr id="159" name="표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43226"/>
              </p:ext>
            </p:extLst>
          </p:nvPr>
        </p:nvGraphicFramePr>
        <p:xfrm>
          <a:off x="1772832" y="2151922"/>
          <a:ext cx="3103981" cy="3972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398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4706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rgbClr val="0081CD"/>
                          </a:solidFill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컴퓨팅 확장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70785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  <a:cs typeface="Pretendard Variable Medium" panose="02000003000000020004" pitchFamily="2" charset="-127"/>
                        </a:rPr>
                        <a:t>전통적인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  <a:cs typeface="Pretendard Variable Medium" panose="02000003000000020004" pitchFamily="2" charset="-127"/>
                        </a:rPr>
                        <a:t>DW 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  <a:cs typeface="Pretendard Variable Medium" panose="02000003000000020004" pitchFamily="2" charset="-127"/>
                        </a:rPr>
                        <a:t>혹은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  <a:cs typeface="Pretendard Variable Medium" panose="02000003000000020004" pitchFamily="2" charset="-127"/>
                        </a:rPr>
                        <a:t>Data Lake 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  <a:cs typeface="Pretendard Variable Medium" panose="02000003000000020004" pitchFamily="2" charset="-127"/>
                        </a:rPr>
                        <a:t>플랫폼에서의 컴퓨팅 확장은 </a:t>
                      </a:r>
                      <a:r>
                        <a:rPr lang="ko-KR" altLang="en-US" sz="1400" b="1" kern="1200" dirty="0">
                          <a:solidFill>
                            <a:srgbClr val="2392D4"/>
                          </a:solidFill>
                          <a:latin typeface="+mn-ea"/>
                          <a:ea typeface="+mn-ea"/>
                          <a:cs typeface="Pretendard Variable Medium" panose="02000003000000020004" pitchFamily="2" charset="-127"/>
                        </a:rPr>
                        <a:t>데이터 </a:t>
                      </a:r>
                      <a:r>
                        <a:rPr lang="ko-KR" altLang="en-US" sz="1400" b="1" kern="1200" dirty="0" err="1">
                          <a:solidFill>
                            <a:srgbClr val="2392D4"/>
                          </a:solidFill>
                          <a:latin typeface="+mn-ea"/>
                          <a:ea typeface="+mn-ea"/>
                          <a:cs typeface="Pretendard Variable Medium" panose="02000003000000020004" pitchFamily="2" charset="-127"/>
                        </a:rPr>
                        <a:t>재분산</a:t>
                      </a:r>
                      <a:r>
                        <a:rPr lang="ko-KR" altLang="en-US" sz="1400" b="1" kern="1200" dirty="0">
                          <a:solidFill>
                            <a:srgbClr val="2392D4"/>
                          </a:solidFill>
                          <a:latin typeface="+mn-ea"/>
                          <a:ea typeface="+mn-ea"/>
                          <a:cs typeface="Pretendard Variable Medium" panose="02000003000000020004" pitchFamily="2" charset="-127"/>
                        </a:rPr>
                        <a:t> 과정</a:t>
                      </a:r>
                      <a:r>
                        <a:rPr lang="en-US" altLang="ko-KR" sz="1400" b="1" kern="1200" dirty="0">
                          <a:solidFill>
                            <a:srgbClr val="2392D4"/>
                          </a:solidFill>
                          <a:latin typeface="+mn-ea"/>
                          <a:ea typeface="+mn-ea"/>
                          <a:cs typeface="Pretendard Variable Medium" panose="02000003000000020004" pitchFamily="2" charset="-127"/>
                        </a:rPr>
                        <a:t>(Rebalance)</a:t>
                      </a:r>
                      <a:r>
                        <a:rPr lang="ko-KR" altLang="en-US" sz="1400" b="1" kern="1200" dirty="0">
                          <a:solidFill>
                            <a:srgbClr val="2392D4"/>
                          </a:solidFill>
                          <a:latin typeface="+mn-ea"/>
                          <a:ea typeface="+mn-ea"/>
                          <a:cs typeface="Pretendard Variable Medium" panose="02000003000000020004" pitchFamily="2" charset="-127"/>
                        </a:rPr>
                        <a:t>을 필수</a:t>
                      </a:r>
                      <a:r>
                        <a:rPr lang="ko-KR" altLang="en-US" sz="1400" kern="1200" dirty="0">
                          <a:solidFill>
                            <a:srgbClr val="2392D4"/>
                          </a:solidFill>
                          <a:latin typeface="+mn-ea"/>
                          <a:ea typeface="+mn-ea"/>
                          <a:cs typeface="Pretendard Variable Medium" panose="02000003000000020004" pitchFamily="2" charset="-127"/>
                        </a:rPr>
                        <a:t>적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  <a:cs typeface="Pretendard Variable Medium" panose="02000003000000020004" pitchFamily="2" charset="-127"/>
                        </a:rPr>
                        <a:t>으로 수반하며 소요시간은 데이터 용량과 비례하여 증가</a:t>
                      </a:r>
                      <a:endParaRPr lang="ko-KR" altLang="en-US" sz="1400" b="0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  <a:cs typeface="Pretendard Variable Medium" panose="020000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794294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ko-KR" altLang="en-US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Pretendard Variable Medium" panose="02000003000000020004" pitchFamily="2" charset="-127"/>
                        </a:rPr>
                        <a:t>버티카 </a:t>
                      </a:r>
                      <a:r>
                        <a:rPr lang="en-US" altLang="ko-K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Pretendard Variable Medium" panose="02000003000000020004" pitchFamily="2" charset="-127"/>
                        </a:rPr>
                        <a:t>Eon Mode</a:t>
                      </a:r>
                      <a:r>
                        <a:rPr lang="ko-KR" altLang="en-US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Pretendard Variable Medium" panose="02000003000000020004" pitchFamily="2" charset="-127"/>
                        </a:rPr>
                        <a:t>는 각 노드가 영구데이터를 저장하지 않아 </a:t>
                      </a:r>
                      <a:r>
                        <a:rPr lang="ko-KR" altLang="en-US" sz="1400" b="1" kern="1200" dirty="0">
                          <a:solidFill>
                            <a:srgbClr val="0081CD"/>
                          </a:solidFill>
                          <a:latin typeface="+mn-ea"/>
                          <a:ea typeface="+mn-ea"/>
                          <a:cs typeface="Pretendard Variable Medium" panose="02000003000000020004" pitchFamily="2" charset="-127"/>
                        </a:rPr>
                        <a:t>컴퓨팅 노드 증설 시 </a:t>
                      </a:r>
                      <a:r>
                        <a:rPr lang="en-US" altLang="ko-KR" sz="1400" b="1" kern="1200" dirty="0">
                          <a:solidFill>
                            <a:srgbClr val="0081CD"/>
                          </a:solidFill>
                          <a:latin typeface="+mn-ea"/>
                          <a:ea typeface="+mn-ea"/>
                          <a:cs typeface="Pretendard Variable Medium" panose="02000003000000020004" pitchFamily="2" charset="-127"/>
                        </a:rPr>
                        <a:t>Rebalancing</a:t>
                      </a:r>
                      <a:r>
                        <a:rPr lang="ko-KR" altLang="en-US" sz="1400" b="1" kern="1200" dirty="0">
                          <a:solidFill>
                            <a:srgbClr val="0081CD"/>
                          </a:solidFill>
                          <a:latin typeface="+mn-ea"/>
                          <a:ea typeface="+mn-ea"/>
                          <a:cs typeface="Pretendard Variable Medium" panose="02000003000000020004" pitchFamily="2" charset="-127"/>
                        </a:rPr>
                        <a:t>이 불필요</a:t>
                      </a:r>
                      <a:endParaRPr lang="en-US" sz="1400" b="1" kern="1200" dirty="0">
                        <a:solidFill>
                          <a:srgbClr val="0081CD"/>
                        </a:solidFill>
                        <a:latin typeface="+mn-ea"/>
                        <a:ea typeface="+mn-ea"/>
                        <a:cs typeface="Pretendard Variable Medium" panose="020000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4" name="표 1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7952367"/>
              </p:ext>
            </p:extLst>
          </p:nvPr>
        </p:nvGraphicFramePr>
        <p:xfrm>
          <a:off x="5001220" y="2151922"/>
          <a:ext cx="3122643" cy="39814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264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4706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rgbClr val="0081CD"/>
                          </a:solidFill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스토리지 확장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716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  <a:cs typeface="Pretendard Variable Medium" panose="02000003000000020004" pitchFamily="2" charset="-127"/>
                        </a:rPr>
                        <a:t>스토리지와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  <a:cs typeface="Pretendard Variable Medium" panose="02000003000000020004" pitchFamily="2" charset="-127"/>
                        </a:rPr>
                        <a:t> 컴퓨팅이 강력하게 결합된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  <a:cs typeface="Pretendard Variable Medium" panose="02000003000000020004" pitchFamily="2" charset="-127"/>
                        </a:rPr>
                        <a:t>Data Lake 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  <a:cs typeface="Pretendard Variable Medium" panose="02000003000000020004" pitchFamily="2" charset="-127"/>
                        </a:rPr>
                        <a:t>플랫폼은 </a:t>
                      </a:r>
                      <a:r>
                        <a:rPr lang="ko-KR" altLang="en-US" sz="1400" b="1" kern="1200" dirty="0">
                          <a:solidFill>
                            <a:srgbClr val="2392D4"/>
                          </a:solidFill>
                          <a:latin typeface="+mn-ea"/>
                          <a:ea typeface="+mn-ea"/>
                          <a:cs typeface="Pretendard Variable Medium" panose="02000003000000020004" pitchFamily="2" charset="-127"/>
                        </a:rPr>
                        <a:t>스토리지만 별도 증설이 불가능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794295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ko-KR" altLang="en-US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Pretendard Variable Medium" panose="02000003000000020004" pitchFamily="2" charset="-127"/>
                        </a:rPr>
                        <a:t>합리적인 </a:t>
                      </a:r>
                      <a:r>
                        <a:rPr lang="en-US" altLang="ko-K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Pretendard Variable Medium" panose="02000003000000020004" pitchFamily="2" charset="-127"/>
                        </a:rPr>
                        <a:t>TCO </a:t>
                      </a:r>
                      <a:r>
                        <a:rPr lang="ko-KR" altLang="en-US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Pretendard Variable Medium" panose="02000003000000020004" pitchFamily="2" charset="-127"/>
                        </a:rPr>
                        <a:t>및 무제한 확장성을 제공하는 </a:t>
                      </a:r>
                      <a:r>
                        <a:rPr lang="en-US" altLang="ko-K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Pretendard Variable Medium" panose="02000003000000020004" pitchFamily="2" charset="-127"/>
                        </a:rPr>
                        <a:t>Object Storage</a:t>
                      </a:r>
                      <a:r>
                        <a:rPr lang="ko-KR" altLang="en-US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Pretendard Variable Medium" panose="02000003000000020004" pitchFamily="2" charset="-127"/>
                        </a:rPr>
                        <a:t>를 스토리지 영역으로 활용하여 </a:t>
                      </a:r>
                      <a:r>
                        <a:rPr lang="ko-KR" altLang="en-US" sz="1400" b="1" kern="1200" dirty="0">
                          <a:solidFill>
                            <a:srgbClr val="0081CD"/>
                          </a:solidFill>
                          <a:latin typeface="+mn-ea"/>
                          <a:ea typeface="+mn-ea"/>
                          <a:cs typeface="Pretendard Variable Medium" panose="02000003000000020004" pitchFamily="2" charset="-127"/>
                        </a:rPr>
                        <a:t>컴퓨팅과 독립적으로 </a:t>
                      </a:r>
                      <a:r>
                        <a:rPr lang="ko-KR" altLang="en-US" sz="1400" b="1" kern="1200" dirty="0" err="1">
                          <a:solidFill>
                            <a:srgbClr val="0081CD"/>
                          </a:solidFill>
                          <a:latin typeface="+mn-ea"/>
                          <a:ea typeface="+mn-ea"/>
                          <a:cs typeface="Pretendard Variable Medium" panose="02000003000000020004" pitchFamily="2" charset="-127"/>
                        </a:rPr>
                        <a:t>스토리지를</a:t>
                      </a:r>
                      <a:r>
                        <a:rPr lang="ko-KR" altLang="en-US" sz="1400" b="1" kern="1200" dirty="0">
                          <a:solidFill>
                            <a:srgbClr val="0081CD"/>
                          </a:solidFill>
                          <a:latin typeface="+mn-ea"/>
                          <a:ea typeface="+mn-ea"/>
                          <a:cs typeface="Pretendard Variable Medium" panose="02000003000000020004" pitchFamily="2" charset="-127"/>
                        </a:rPr>
                        <a:t> 확장</a:t>
                      </a:r>
                      <a:endParaRPr lang="en-US" sz="1400" b="1" kern="1200" dirty="0">
                        <a:solidFill>
                          <a:srgbClr val="0081CD"/>
                        </a:solidFill>
                        <a:latin typeface="+mn-ea"/>
                        <a:ea typeface="+mn-ea"/>
                        <a:cs typeface="Pretendard Variable Medium" panose="020000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8" name="표 1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621826"/>
              </p:ext>
            </p:extLst>
          </p:nvPr>
        </p:nvGraphicFramePr>
        <p:xfrm>
          <a:off x="8248269" y="2151922"/>
          <a:ext cx="3159967" cy="3972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996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4706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rgbClr val="0081CD"/>
                          </a:solidFill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Multi</a:t>
                      </a:r>
                      <a:r>
                        <a:rPr lang="ko-KR" altLang="en-US" sz="1800" dirty="0">
                          <a:solidFill>
                            <a:srgbClr val="0081CD"/>
                          </a:solidFill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lang="en-US" altLang="ko-KR" sz="1800" dirty="0">
                          <a:solidFill>
                            <a:srgbClr val="0081CD"/>
                          </a:solidFill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Cluster</a:t>
                      </a:r>
                      <a:endParaRPr lang="ko-KR" altLang="en-US" sz="1800" dirty="0">
                        <a:solidFill>
                          <a:srgbClr val="0081CD"/>
                        </a:solidFill>
                        <a:latin typeface="+mn-ea"/>
                        <a:ea typeface="+mn-ea"/>
                        <a:cs typeface="Pretendard Variable SemiBold" panose="020000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71648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  <a:cs typeface="Pretendard Variable Medium" panose="02000003000000020004" pitchFamily="2" charset="-127"/>
                        </a:rPr>
                        <a:t>단일 클러스터 구조는 노드를 증설하여 확장하더라도 클러스터 내 자원 경합으로 인해 </a:t>
                      </a:r>
                      <a:r>
                        <a:rPr lang="ko-KR" altLang="en-US" sz="1400" b="1" kern="1200" dirty="0">
                          <a:solidFill>
                            <a:srgbClr val="2392D4"/>
                          </a:solidFill>
                          <a:latin typeface="+mn-ea"/>
                          <a:ea typeface="+mn-ea"/>
                          <a:cs typeface="Pretendard Variable Medium" panose="02000003000000020004" pitchFamily="2" charset="-127"/>
                        </a:rPr>
                        <a:t>동시성을 확장에 제약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785668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ko-KR" altLang="en-US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Pretendard Variable Medium" panose="02000003000000020004" pitchFamily="2" charset="-127"/>
                        </a:rPr>
                        <a:t>주요 업무 영역이나 </a:t>
                      </a:r>
                      <a:r>
                        <a:rPr lang="en-US" altLang="ko-K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Pretendard Variable Medium" panose="02000003000000020004" pitchFamily="2" charset="-127"/>
                        </a:rPr>
                        <a:t>workload </a:t>
                      </a:r>
                      <a:r>
                        <a:rPr lang="ko-KR" altLang="en-US" sz="14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Pretendard Variable Medium" panose="02000003000000020004" pitchFamily="2" charset="-127"/>
                        </a:rPr>
                        <a:t>특성별로</a:t>
                      </a:r>
                      <a:r>
                        <a:rPr lang="ko-KR" altLang="en-US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Pretendard Variable Medium" panose="02000003000000020004" pitchFamily="2" charset="-127"/>
                        </a:rPr>
                        <a:t> 별도의 서브 클러스터를 구성하여 </a:t>
                      </a:r>
                      <a:r>
                        <a:rPr lang="en-US" altLang="ko-KR" sz="1400" b="1" kern="1200" dirty="0">
                          <a:solidFill>
                            <a:srgbClr val="0081CD"/>
                          </a:solidFill>
                          <a:latin typeface="+mn-ea"/>
                          <a:ea typeface="+mn-ea"/>
                          <a:cs typeface="Pretendard Variable Medium" panose="02000003000000020004" pitchFamily="2" charset="-127"/>
                        </a:rPr>
                        <a:t>workload</a:t>
                      </a:r>
                      <a:r>
                        <a:rPr lang="ko-KR" altLang="en-US" sz="1400" b="1" kern="1200" dirty="0">
                          <a:solidFill>
                            <a:srgbClr val="0081CD"/>
                          </a:solidFill>
                          <a:latin typeface="+mn-ea"/>
                          <a:ea typeface="+mn-ea"/>
                          <a:cs typeface="Pretendard Variable Medium" panose="02000003000000020004" pitchFamily="2" charset="-127"/>
                        </a:rPr>
                        <a:t>간 물리적인 간섭을 제거하고 동시성을 자유롭게 확장</a:t>
                      </a:r>
                      <a:endParaRPr lang="en-US" sz="1400" b="1" kern="1200" dirty="0">
                        <a:solidFill>
                          <a:srgbClr val="0081CD"/>
                        </a:solidFill>
                        <a:latin typeface="+mn-ea"/>
                        <a:ea typeface="+mn-ea"/>
                        <a:cs typeface="Pretendard Variable Medium" panose="020000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7" name="직사각형 196"/>
          <p:cNvSpPr/>
          <p:nvPr/>
        </p:nvSpPr>
        <p:spPr>
          <a:xfrm>
            <a:off x="715639" y="1387082"/>
            <a:ext cx="11082734" cy="9316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Vertica Eon Mode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는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Cloud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환경뿐만 아니라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On-premise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환경에서도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Compute / Storage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분리 아키텍처를 지원합니다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.</a:t>
            </a: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Pretendard Variable Medium" panose="02000003000000020004" pitchFamily="2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10271872" y="6362795"/>
            <a:ext cx="306355" cy="274324"/>
          </a:xfrm>
        </p:spPr>
        <p:txBody>
          <a:bodyPr/>
          <a:lstStyle/>
          <a:p>
            <a:fld id="{AFA02C0B-84B5-4CD2-A6CE-C6BD7D6F9045}" type="slidenum">
              <a:rPr lang="ko-KR" altLang="en-US" smtClean="0">
                <a:solidFill>
                  <a:schemeClr val="bg1"/>
                </a:solidFill>
              </a:rPr>
              <a:t>28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모서리가 둥근 직사각형 2"/>
          <p:cNvSpPr/>
          <p:nvPr/>
        </p:nvSpPr>
        <p:spPr>
          <a:xfrm>
            <a:off x="774448" y="2621900"/>
            <a:ext cx="957957" cy="1670181"/>
          </a:xfrm>
          <a:prstGeom prst="roundRect">
            <a:avLst>
              <a:gd name="adj" fmla="val 17641"/>
            </a:avLst>
          </a:prstGeom>
          <a:solidFill>
            <a:srgbClr val="009ED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j-ea"/>
                <a:ea typeface="+mj-ea"/>
              </a:rPr>
              <a:t>Ent.</a:t>
            </a:r>
          </a:p>
          <a:p>
            <a:pPr algn="ctr"/>
            <a:r>
              <a:rPr lang="en-US" altLang="ko-KR" dirty="0">
                <a:latin typeface="+mj-ea"/>
                <a:ea typeface="+mj-ea"/>
              </a:rPr>
              <a:t>Mode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774447" y="4366015"/>
            <a:ext cx="957957" cy="1758739"/>
          </a:xfrm>
          <a:prstGeom prst="roundRect">
            <a:avLst>
              <a:gd name="adj" fmla="val 17641"/>
            </a:avLst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j-ea"/>
                <a:ea typeface="+mj-ea"/>
              </a:rPr>
              <a:t>Eon</a:t>
            </a:r>
          </a:p>
          <a:p>
            <a:pPr algn="ctr"/>
            <a:r>
              <a:rPr lang="en-US" altLang="ko-KR" dirty="0">
                <a:latin typeface="+mj-ea"/>
                <a:ea typeface="+mj-ea"/>
              </a:rPr>
              <a:t>Mode</a:t>
            </a:r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336443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>
          <a:xfrm>
            <a:off x="1524000" y="2702045"/>
            <a:ext cx="9144001" cy="76076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ko-KR" sz="3800" dirty="0">
                <a:solidFill>
                  <a:schemeClr val="bg1"/>
                </a:solidFill>
                <a:latin typeface="SB 어그로 Bold" panose="02020603020101020101" pitchFamily="18" charset="-127"/>
                <a:ea typeface="SB 어그로 Bold" panose="02020603020101020101" pitchFamily="18" charset="-127"/>
              </a:rPr>
              <a:t>Embracing an Open Source Architecture</a:t>
            </a:r>
            <a:endParaRPr lang="ko-KR" altLang="en-US" sz="3800" dirty="0">
              <a:solidFill>
                <a:schemeClr val="bg1"/>
              </a:solidFill>
              <a:latin typeface="SB 어그로 Bold" panose="02020603020101020101" pitchFamily="18" charset="-127"/>
              <a:ea typeface="SB 어그로 Bold" panose="02020603020101020101" pitchFamily="18" charset="-127"/>
            </a:endParaRPr>
          </a:p>
        </p:txBody>
      </p:sp>
      <p:sp>
        <p:nvSpPr>
          <p:cNvPr id="3" name="제목 1"/>
          <p:cNvSpPr txBox="1">
            <a:spLocks/>
          </p:cNvSpPr>
          <p:nvPr/>
        </p:nvSpPr>
        <p:spPr>
          <a:xfrm>
            <a:off x="5631825" y="3839619"/>
            <a:ext cx="928350" cy="42943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ko-KR" sz="1600" dirty="0">
                <a:solidFill>
                  <a:schemeClr val="bg1"/>
                </a:solidFill>
                <a:latin typeface="SB 어그로 Bold" panose="02020603020101020101" pitchFamily="18" charset="-127"/>
                <a:ea typeface="SB 어그로 Bold" panose="02020603020101020101" pitchFamily="18" charset="-127"/>
              </a:rPr>
              <a:t>05</a:t>
            </a:r>
            <a:endParaRPr lang="ko-KR" altLang="en-US" sz="1600" dirty="0">
              <a:solidFill>
                <a:schemeClr val="bg1"/>
              </a:solidFill>
              <a:latin typeface="SB 어그로 Bold" panose="02020603020101020101" pitchFamily="18" charset="-127"/>
              <a:ea typeface="SB 어그로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09344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E0D0A7A-F77D-4B6C-FD04-20F3BBE5E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="" xmlns:a16="http://schemas.microsoft.com/office/drawing/2014/main" id="{07148A77-535F-AC15-4783-F469DAD53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Kafka </a:t>
            </a:r>
            <a:r>
              <a:rPr lang="ko-KR" altLang="en-US" dirty="0"/>
              <a:t>연계</a:t>
            </a:r>
            <a:endParaRPr lang="ko-KR" altLang="en-US" sz="1400" dirty="0">
              <a:solidFill>
                <a:srgbClr val="0083CE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="" xmlns:a16="http://schemas.microsoft.com/office/drawing/2014/main" id="{ECF8B37C-4660-0AC5-D184-ED53A6DD68E9}"/>
              </a:ext>
            </a:extLst>
          </p:cNvPr>
          <p:cNvSpPr/>
          <p:nvPr/>
        </p:nvSpPr>
        <p:spPr>
          <a:xfrm>
            <a:off x="715639" y="1387082"/>
            <a:ext cx="10891643" cy="9316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다양한 채널 및 플랫폼에서 유입되는 데이터를 실시간으로 저장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/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분석하기 위해서는 데이터 파이프 라인 플랫폼과의 유기적인 연계가 필수적입니다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.</a:t>
            </a: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E43419AF-14B3-6BA0-EE67-EFE01061A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83247" y="6348888"/>
            <a:ext cx="278505" cy="301756"/>
          </a:xfrm>
        </p:spPr>
        <p:txBody>
          <a:bodyPr/>
          <a:lstStyle/>
          <a:p>
            <a:fld id="{AFA02C0B-84B5-4CD2-A6CE-C6BD7D6F9045}" type="slidenum">
              <a:rPr lang="ko-KR" altLang="en-US" smtClean="0">
                <a:solidFill>
                  <a:schemeClr val="bg1"/>
                </a:solidFill>
              </a:rPr>
              <a:t>30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7" name="타원 76">
            <a:extLst>
              <a:ext uri="{FF2B5EF4-FFF2-40B4-BE49-F238E27FC236}">
                <a16:creationId xmlns="" xmlns:a16="http://schemas.microsoft.com/office/drawing/2014/main" id="{2A6A11AC-31D1-C238-469B-B8065561C8B3}"/>
              </a:ext>
            </a:extLst>
          </p:cNvPr>
          <p:cNvSpPr/>
          <p:nvPr/>
        </p:nvSpPr>
        <p:spPr>
          <a:xfrm>
            <a:off x="5585179" y="2059790"/>
            <a:ext cx="189788" cy="189788"/>
          </a:xfrm>
          <a:prstGeom prst="ellipse">
            <a:avLst/>
          </a:prstGeom>
          <a:solidFill>
            <a:srgbClr val="C6179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="" xmlns:a16="http://schemas.microsoft.com/office/drawing/2014/main" id="{370FDDD1-392F-C3F6-7926-8F5450602B51}"/>
              </a:ext>
            </a:extLst>
          </p:cNvPr>
          <p:cNvSpPr txBox="1"/>
          <p:nvPr/>
        </p:nvSpPr>
        <p:spPr>
          <a:xfrm>
            <a:off x="5729195" y="2023309"/>
            <a:ext cx="4993675" cy="1171796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latinLnBrk="0"/>
            <a:r>
              <a:rPr lang="en-GB" sz="1200" b="1" dirty="0">
                <a:solidFill>
                  <a:srgbClr val="1668C1"/>
                </a:solidFill>
                <a:latin typeface="+mn-ea"/>
                <a:cs typeface="Roboto Light" charset="0"/>
              </a:rPr>
              <a:t>Consume</a:t>
            </a:r>
          </a:p>
          <a:p>
            <a:pPr latinLnBrk="0">
              <a:lnSpc>
                <a:spcPct val="150000"/>
              </a:lnSpc>
            </a:pPr>
            <a:r>
              <a:rPr lang="ko-KR" altLang="en-US" sz="1000" dirty="0">
                <a:solidFill>
                  <a:srgbClr val="1668C1"/>
                </a:solidFill>
                <a:latin typeface="+mn-ea"/>
              </a:rPr>
              <a:t>별도의 솔루션이나 커넥터 없이 카프카 토픽을 적재하는 기능을 빌트인 함수로 제공</a:t>
            </a:r>
            <a:endParaRPr lang="en-GB" altLang="ko-KR" sz="1000" dirty="0">
              <a:solidFill>
                <a:srgbClr val="1668C1"/>
              </a:solidFill>
              <a:latin typeface="+mn-ea"/>
            </a:endParaRPr>
          </a:p>
          <a:p>
            <a:pPr latinLnBrk="0">
              <a:lnSpc>
                <a:spcPct val="150000"/>
              </a:lnSpc>
            </a:pPr>
            <a:r>
              <a:rPr lang="ko-KR" altLang="en-US" sz="1000" dirty="0">
                <a:solidFill>
                  <a:srgbClr val="1668C1"/>
                </a:solidFill>
                <a:latin typeface="+mn-ea"/>
              </a:rPr>
              <a:t>카프카 토픽의 파티션을 병렬로 적재하여 실시간 스트리밍 데이터 처리에 최적화</a:t>
            </a:r>
            <a:endParaRPr lang="en-GB" altLang="ko-KR" sz="1000" dirty="0">
              <a:solidFill>
                <a:srgbClr val="1668C1"/>
              </a:solidFill>
              <a:latin typeface="+mn-ea"/>
            </a:endParaRPr>
          </a:p>
          <a:p>
            <a:pPr latinLnBrk="0">
              <a:lnSpc>
                <a:spcPct val="150000"/>
              </a:lnSpc>
            </a:pPr>
            <a:r>
              <a:rPr lang="ko-KR" altLang="en-US" sz="1000" dirty="0">
                <a:solidFill>
                  <a:srgbClr val="1668C1"/>
                </a:solidFill>
                <a:latin typeface="+mn-ea"/>
              </a:rPr>
              <a:t>자동으로 지속적인 </a:t>
            </a:r>
            <a:r>
              <a:rPr lang="ko-KR" altLang="en-US" sz="1000" dirty="0" err="1">
                <a:solidFill>
                  <a:srgbClr val="1668C1"/>
                </a:solidFill>
                <a:latin typeface="+mn-ea"/>
              </a:rPr>
              <a:t>컨슈밍을</a:t>
            </a:r>
            <a:r>
              <a:rPr lang="ko-KR" altLang="en-US" sz="1000" dirty="0">
                <a:solidFill>
                  <a:srgbClr val="1668C1"/>
                </a:solidFill>
                <a:latin typeface="+mn-ea"/>
              </a:rPr>
              <a:t> 지원하기 위한 </a:t>
            </a:r>
            <a:r>
              <a:rPr lang="ko-KR" altLang="en-US" sz="1000" dirty="0" err="1">
                <a:solidFill>
                  <a:srgbClr val="1668C1"/>
                </a:solidFill>
                <a:latin typeface="+mn-ea"/>
              </a:rPr>
              <a:t>마이크로배치</a:t>
            </a:r>
            <a:r>
              <a:rPr lang="ko-KR" altLang="en-US" sz="1000" dirty="0">
                <a:solidFill>
                  <a:srgbClr val="1668C1"/>
                </a:solidFill>
                <a:latin typeface="+mn-ea"/>
              </a:rPr>
              <a:t> 기능 탑재</a:t>
            </a:r>
            <a:endParaRPr lang="en-GB" altLang="ko-KR" sz="1000" dirty="0">
              <a:solidFill>
                <a:srgbClr val="1668C1"/>
              </a:solidFill>
              <a:latin typeface="+mn-ea"/>
            </a:endParaRPr>
          </a:p>
          <a:p>
            <a:pPr latinLnBrk="0">
              <a:lnSpc>
                <a:spcPct val="150000"/>
              </a:lnSpc>
            </a:pPr>
            <a:endParaRPr lang="en-GB" sz="1000" dirty="0">
              <a:solidFill>
                <a:srgbClr val="1668C1"/>
              </a:solidFill>
              <a:latin typeface="+mn-ea"/>
            </a:endParaRPr>
          </a:p>
        </p:txBody>
      </p:sp>
      <p:sp>
        <p:nvSpPr>
          <p:cNvPr id="99" name="타원 98">
            <a:extLst>
              <a:ext uri="{FF2B5EF4-FFF2-40B4-BE49-F238E27FC236}">
                <a16:creationId xmlns="" xmlns:a16="http://schemas.microsoft.com/office/drawing/2014/main" id="{8A596585-4EFC-7C6C-63D0-E577FBF1E255}"/>
              </a:ext>
            </a:extLst>
          </p:cNvPr>
          <p:cNvSpPr/>
          <p:nvPr/>
        </p:nvSpPr>
        <p:spPr>
          <a:xfrm>
            <a:off x="5538034" y="4092312"/>
            <a:ext cx="189788" cy="189788"/>
          </a:xfrm>
          <a:prstGeom prst="ellipse">
            <a:avLst/>
          </a:prstGeom>
          <a:solidFill>
            <a:srgbClr val="C6179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3</a:t>
            </a:r>
            <a:endParaRPr kumimoji="0" lang="en-GB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="" xmlns:a16="http://schemas.microsoft.com/office/drawing/2014/main" id="{A2DBD73D-1544-9997-4B5E-7BE89DA70BD5}"/>
              </a:ext>
            </a:extLst>
          </p:cNvPr>
          <p:cNvSpPr txBox="1"/>
          <p:nvPr/>
        </p:nvSpPr>
        <p:spPr>
          <a:xfrm>
            <a:off x="5682050" y="4055831"/>
            <a:ext cx="5468164" cy="709874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latinLnBrk="0"/>
            <a:r>
              <a:rPr lang="en-US" altLang="ko-KR" sz="1200" b="1" dirty="0">
                <a:solidFill>
                  <a:srgbClr val="1668C1"/>
                </a:solidFill>
                <a:latin typeface="+mn-ea"/>
                <a:cs typeface="Roboto Light" charset="0"/>
              </a:rPr>
              <a:t>Produce</a:t>
            </a:r>
            <a:endParaRPr lang="en-GB" sz="1200" b="1" dirty="0">
              <a:solidFill>
                <a:srgbClr val="1668C1"/>
              </a:solidFill>
              <a:latin typeface="+mn-ea"/>
              <a:cs typeface="Roboto Light" charset="0"/>
            </a:endParaRPr>
          </a:p>
          <a:p>
            <a:pPr latinLnBrk="0">
              <a:lnSpc>
                <a:spcPct val="150000"/>
              </a:lnSpc>
            </a:pPr>
            <a:r>
              <a:rPr lang="ko-KR" altLang="en-US" sz="1000" dirty="0" err="1">
                <a:solidFill>
                  <a:srgbClr val="1668C1"/>
                </a:solidFill>
                <a:latin typeface="+mn-ea"/>
              </a:rPr>
              <a:t>버티카에</a:t>
            </a:r>
            <a:r>
              <a:rPr lang="ko-KR" altLang="en-US" sz="1000" dirty="0">
                <a:solidFill>
                  <a:srgbClr val="1668C1"/>
                </a:solidFill>
                <a:latin typeface="+mn-ea"/>
              </a:rPr>
              <a:t> 저장된 데이터를 카프카로 추출하는 기능을 제공</a:t>
            </a:r>
            <a:endParaRPr lang="en-GB" altLang="ko-KR" sz="1000" dirty="0">
              <a:solidFill>
                <a:srgbClr val="1668C1"/>
              </a:solidFill>
              <a:latin typeface="+mn-ea"/>
            </a:endParaRPr>
          </a:p>
          <a:p>
            <a:pPr latinLnBrk="0">
              <a:lnSpc>
                <a:spcPct val="150000"/>
              </a:lnSpc>
            </a:pPr>
            <a:r>
              <a:rPr lang="ko-KR" altLang="en-US" sz="1000" dirty="0">
                <a:solidFill>
                  <a:srgbClr val="1668C1"/>
                </a:solidFill>
                <a:latin typeface="+mn-ea"/>
              </a:rPr>
              <a:t>추가적인 구축 없이 데이터 파이프 라인과 양방향으로 데이터를 주고 받을 수 있는 아키텍처</a:t>
            </a:r>
            <a:endParaRPr lang="en-GB" sz="1000" dirty="0">
              <a:solidFill>
                <a:srgbClr val="1668C1"/>
              </a:solidFill>
              <a:latin typeface="+mn-ea"/>
            </a:endParaRPr>
          </a:p>
        </p:txBody>
      </p:sp>
      <p:sp>
        <p:nvSpPr>
          <p:cNvPr id="101" name="타원 100">
            <a:extLst>
              <a:ext uri="{FF2B5EF4-FFF2-40B4-BE49-F238E27FC236}">
                <a16:creationId xmlns="" xmlns:a16="http://schemas.microsoft.com/office/drawing/2014/main" id="{D7536991-A61A-F58E-EC18-61A6F108717B}"/>
              </a:ext>
            </a:extLst>
          </p:cNvPr>
          <p:cNvSpPr/>
          <p:nvPr/>
        </p:nvSpPr>
        <p:spPr>
          <a:xfrm>
            <a:off x="5538034" y="4971316"/>
            <a:ext cx="189788" cy="189788"/>
          </a:xfrm>
          <a:prstGeom prst="ellipse">
            <a:avLst/>
          </a:prstGeom>
          <a:solidFill>
            <a:srgbClr val="C6179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4</a:t>
            </a:r>
            <a:endParaRPr kumimoji="0" lang="en-GB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="" xmlns:a16="http://schemas.microsoft.com/office/drawing/2014/main" id="{688289CD-94AD-1B72-1500-6EAFBCF42BA0}"/>
              </a:ext>
            </a:extLst>
          </p:cNvPr>
          <p:cNvSpPr txBox="1"/>
          <p:nvPr/>
        </p:nvSpPr>
        <p:spPr>
          <a:xfrm>
            <a:off x="5682050" y="4934835"/>
            <a:ext cx="6303329" cy="1171539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latinLnBrk="0"/>
            <a:r>
              <a:rPr lang="en-US" altLang="ko-KR" sz="1200" b="1" dirty="0">
                <a:solidFill>
                  <a:srgbClr val="1668C1"/>
                </a:solidFill>
                <a:latin typeface="+mn-ea"/>
                <a:cs typeface="Roboto Light" charset="0"/>
              </a:rPr>
              <a:t>Spark integration</a:t>
            </a:r>
            <a:endParaRPr lang="en-GB" sz="1200" b="1" dirty="0">
              <a:solidFill>
                <a:srgbClr val="1668C1"/>
              </a:solidFill>
              <a:latin typeface="+mn-ea"/>
              <a:cs typeface="Roboto Light" charset="0"/>
            </a:endParaRPr>
          </a:p>
          <a:p>
            <a:pPr latinLnBrk="0">
              <a:lnSpc>
                <a:spcPct val="150000"/>
              </a:lnSpc>
            </a:pPr>
            <a:r>
              <a:rPr lang="en-US" altLang="ko-KR" sz="1000" dirty="0">
                <a:solidFill>
                  <a:srgbClr val="1668C1"/>
                </a:solidFill>
                <a:latin typeface="+mn-ea"/>
              </a:rPr>
              <a:t>Spark</a:t>
            </a:r>
            <a:r>
              <a:rPr lang="ko-KR" altLang="en-US" sz="1000" dirty="0">
                <a:solidFill>
                  <a:srgbClr val="1668C1"/>
                </a:solidFill>
                <a:latin typeface="+mn-ea"/>
              </a:rPr>
              <a:t> 연계를 위한 커넥터가 기본 제공</a:t>
            </a:r>
            <a:r>
              <a:rPr lang="en-US" altLang="ko-KR" sz="1000" dirty="0">
                <a:solidFill>
                  <a:srgbClr val="1668C1"/>
                </a:solidFill>
                <a:latin typeface="+mn-ea"/>
              </a:rPr>
              <a:t/>
            </a:r>
            <a:br>
              <a:rPr lang="en-US" altLang="ko-KR" sz="1000" dirty="0">
                <a:solidFill>
                  <a:srgbClr val="1668C1"/>
                </a:solidFill>
                <a:latin typeface="+mn-ea"/>
              </a:rPr>
            </a:br>
            <a:r>
              <a:rPr lang="en-US" altLang="ko-KR" sz="1000" dirty="0">
                <a:solidFill>
                  <a:srgbClr val="1668C1"/>
                </a:solidFill>
                <a:latin typeface="+mn-ea"/>
              </a:rPr>
              <a:t>Spark</a:t>
            </a:r>
            <a:r>
              <a:rPr lang="ko-KR" altLang="en-US" sz="1000" dirty="0">
                <a:solidFill>
                  <a:srgbClr val="1668C1"/>
                </a:solidFill>
                <a:latin typeface="+mn-ea"/>
              </a:rPr>
              <a:t>에서 분석이 필요한 업무를 위해 빠르게 스파크 메모리로 </a:t>
            </a:r>
            <a:r>
              <a:rPr lang="ko-KR" altLang="en-US" sz="1000" dirty="0" err="1">
                <a:solidFill>
                  <a:srgbClr val="1668C1"/>
                </a:solidFill>
                <a:latin typeface="+mn-ea"/>
              </a:rPr>
              <a:t>버티카</a:t>
            </a:r>
            <a:r>
              <a:rPr lang="ko-KR" altLang="en-US" sz="1000" dirty="0">
                <a:solidFill>
                  <a:srgbClr val="1668C1"/>
                </a:solidFill>
                <a:latin typeface="+mn-ea"/>
              </a:rPr>
              <a:t> 데이터를 </a:t>
            </a:r>
            <a:r>
              <a:rPr lang="ko-KR" altLang="en-US" sz="1000" dirty="0" err="1">
                <a:solidFill>
                  <a:srgbClr val="1668C1"/>
                </a:solidFill>
                <a:latin typeface="+mn-ea"/>
              </a:rPr>
              <a:t>로드하여</a:t>
            </a:r>
            <a:r>
              <a:rPr lang="ko-KR" altLang="en-US" sz="1000" dirty="0">
                <a:solidFill>
                  <a:srgbClr val="1668C1"/>
                </a:solidFill>
                <a:latin typeface="+mn-ea"/>
              </a:rPr>
              <a:t> 실시간 분석 수행</a:t>
            </a:r>
            <a:endParaRPr lang="en-GB" altLang="ko-KR" sz="1000" dirty="0">
              <a:solidFill>
                <a:srgbClr val="1668C1"/>
              </a:solidFill>
              <a:latin typeface="+mn-ea"/>
            </a:endParaRPr>
          </a:p>
          <a:p>
            <a:pPr latinLnBrk="0">
              <a:lnSpc>
                <a:spcPct val="150000"/>
              </a:lnSpc>
            </a:pPr>
            <a:r>
              <a:rPr lang="ko-KR" altLang="en-US" sz="1000" dirty="0">
                <a:solidFill>
                  <a:srgbClr val="1668C1"/>
                </a:solidFill>
                <a:latin typeface="+mn-ea"/>
              </a:rPr>
              <a:t>오브젝트 스토리지를 </a:t>
            </a:r>
            <a:r>
              <a:rPr lang="ko-KR" altLang="en-US" sz="1000" dirty="0" err="1">
                <a:solidFill>
                  <a:srgbClr val="1668C1"/>
                </a:solidFill>
                <a:latin typeface="+mn-ea"/>
              </a:rPr>
              <a:t>스테이징</a:t>
            </a:r>
            <a:r>
              <a:rPr lang="ko-KR" altLang="en-US" sz="1000" dirty="0">
                <a:solidFill>
                  <a:srgbClr val="1668C1"/>
                </a:solidFill>
                <a:latin typeface="+mn-ea"/>
              </a:rPr>
              <a:t> 파일 시스템으로 활용하여 병렬 추출 및</a:t>
            </a:r>
            <a:r>
              <a:rPr lang="en-US" altLang="ko-KR" sz="1000" dirty="0">
                <a:solidFill>
                  <a:srgbClr val="1668C1"/>
                </a:solidFill>
                <a:latin typeface="+mn-ea"/>
              </a:rPr>
              <a:t> </a:t>
            </a:r>
            <a:r>
              <a:rPr lang="ko-KR" altLang="en-US" sz="1000" dirty="0">
                <a:solidFill>
                  <a:srgbClr val="1668C1"/>
                </a:solidFill>
                <a:latin typeface="+mn-ea"/>
              </a:rPr>
              <a:t>병렬 적재 지원</a:t>
            </a:r>
            <a:endParaRPr lang="en-GB" altLang="ko-KR" sz="1000" dirty="0">
              <a:solidFill>
                <a:srgbClr val="1668C1"/>
              </a:solidFill>
              <a:latin typeface="+mn-ea"/>
            </a:endParaRPr>
          </a:p>
          <a:p>
            <a:pPr latinLnBrk="0">
              <a:lnSpc>
                <a:spcPct val="150000"/>
              </a:lnSpc>
            </a:pPr>
            <a:r>
              <a:rPr lang="ko-KR" altLang="en-US" sz="1000" dirty="0">
                <a:solidFill>
                  <a:srgbClr val="1668C1"/>
                </a:solidFill>
                <a:latin typeface="+mn-ea"/>
              </a:rPr>
              <a:t>스파크에서 분석된 결과도 </a:t>
            </a:r>
            <a:r>
              <a:rPr lang="ko-KR" altLang="en-US" sz="1000" dirty="0" err="1">
                <a:solidFill>
                  <a:srgbClr val="1668C1"/>
                </a:solidFill>
                <a:latin typeface="+mn-ea"/>
              </a:rPr>
              <a:t>버티카로</a:t>
            </a:r>
            <a:r>
              <a:rPr lang="ko-KR" altLang="en-US" sz="1000" dirty="0">
                <a:solidFill>
                  <a:srgbClr val="1668C1"/>
                </a:solidFill>
                <a:latin typeface="+mn-ea"/>
              </a:rPr>
              <a:t> 병렬 추출 및 적재 수행</a:t>
            </a:r>
            <a:endParaRPr lang="en-GB" sz="1000" dirty="0">
              <a:solidFill>
                <a:srgbClr val="1668C1"/>
              </a:solidFill>
              <a:latin typeface="+mn-ea"/>
            </a:endParaRPr>
          </a:p>
        </p:txBody>
      </p:sp>
      <p:sp>
        <p:nvSpPr>
          <p:cNvPr id="111" name="타원 110">
            <a:extLst>
              <a:ext uri="{FF2B5EF4-FFF2-40B4-BE49-F238E27FC236}">
                <a16:creationId xmlns="" xmlns:a16="http://schemas.microsoft.com/office/drawing/2014/main" id="{F74DE22F-BE57-990F-10C7-5A28137FF97D}"/>
              </a:ext>
            </a:extLst>
          </p:cNvPr>
          <p:cNvSpPr/>
          <p:nvPr/>
        </p:nvSpPr>
        <p:spPr>
          <a:xfrm>
            <a:off x="5538034" y="3272747"/>
            <a:ext cx="189788" cy="189788"/>
          </a:xfrm>
          <a:prstGeom prst="ellipse">
            <a:avLst/>
          </a:prstGeom>
          <a:solidFill>
            <a:srgbClr val="C6179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2</a:t>
            </a:r>
            <a:endParaRPr kumimoji="0" lang="en-GB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="" xmlns:a16="http://schemas.microsoft.com/office/drawing/2014/main" id="{2709A4DE-7D99-060B-4332-72EAE25DA559}"/>
              </a:ext>
            </a:extLst>
          </p:cNvPr>
          <p:cNvSpPr txBox="1"/>
          <p:nvPr/>
        </p:nvSpPr>
        <p:spPr>
          <a:xfrm>
            <a:off x="5682050" y="3236266"/>
            <a:ext cx="4179349" cy="479042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latinLnBrk="0"/>
            <a:r>
              <a:rPr lang="en-US" altLang="ko-KR" sz="1200" b="1" dirty="0">
                <a:solidFill>
                  <a:srgbClr val="1668C1"/>
                </a:solidFill>
                <a:latin typeface="+mn-ea"/>
                <a:cs typeface="Roboto Light" charset="0"/>
              </a:rPr>
              <a:t>Realtime Analytics</a:t>
            </a:r>
            <a:endParaRPr lang="en-GB" sz="1200" b="1" dirty="0">
              <a:solidFill>
                <a:srgbClr val="1668C1"/>
              </a:solidFill>
              <a:latin typeface="+mn-ea"/>
              <a:cs typeface="Roboto Light" charset="0"/>
            </a:endParaRPr>
          </a:p>
          <a:p>
            <a:pPr latinLnBrk="0">
              <a:lnSpc>
                <a:spcPct val="150000"/>
              </a:lnSpc>
            </a:pPr>
            <a:r>
              <a:rPr lang="ko-KR" altLang="en-US" sz="1000" dirty="0">
                <a:solidFill>
                  <a:srgbClr val="1668C1"/>
                </a:solidFill>
                <a:latin typeface="+mn-ea"/>
              </a:rPr>
              <a:t>매우 짧은 주기로 적재되는 대용량 데이터를 </a:t>
            </a:r>
            <a:r>
              <a:rPr lang="ko-KR" altLang="en-US" sz="1000" dirty="0" err="1">
                <a:solidFill>
                  <a:srgbClr val="1668C1"/>
                </a:solidFill>
                <a:latin typeface="+mn-ea"/>
              </a:rPr>
              <a:t>버티카를</a:t>
            </a:r>
            <a:r>
              <a:rPr lang="ko-KR" altLang="en-US" sz="1000" dirty="0">
                <a:solidFill>
                  <a:srgbClr val="1668C1"/>
                </a:solidFill>
                <a:latin typeface="+mn-ea"/>
              </a:rPr>
              <a:t> 통해 분석 수행</a:t>
            </a:r>
            <a:endParaRPr lang="en-GB" sz="1000" dirty="0">
              <a:solidFill>
                <a:srgbClr val="1668C1"/>
              </a:solidFill>
              <a:latin typeface="+mn-ea"/>
            </a:endParaRPr>
          </a:p>
        </p:txBody>
      </p:sp>
      <p:grpSp>
        <p:nvGrpSpPr>
          <p:cNvPr id="114" name="그룹 113">
            <a:extLst>
              <a:ext uri="{FF2B5EF4-FFF2-40B4-BE49-F238E27FC236}">
                <a16:creationId xmlns="" xmlns:a16="http://schemas.microsoft.com/office/drawing/2014/main" id="{C699D19B-6207-BF1E-20BF-55C9A0829C06}"/>
              </a:ext>
            </a:extLst>
          </p:cNvPr>
          <p:cNvGrpSpPr/>
          <p:nvPr/>
        </p:nvGrpSpPr>
        <p:grpSpPr>
          <a:xfrm>
            <a:off x="296667" y="2187787"/>
            <a:ext cx="5007245" cy="3459091"/>
            <a:chOff x="296667" y="2187787"/>
            <a:chExt cx="5007245" cy="3459091"/>
          </a:xfrm>
        </p:grpSpPr>
        <p:sp>
          <p:nvSpPr>
            <p:cNvPr id="52" name="타원 51">
              <a:extLst>
                <a:ext uri="{FF2B5EF4-FFF2-40B4-BE49-F238E27FC236}">
                  <a16:creationId xmlns="" xmlns:a16="http://schemas.microsoft.com/office/drawing/2014/main" id="{FF0BD107-7ECB-3404-4A04-0E1EF77DDD58}"/>
                </a:ext>
              </a:extLst>
            </p:cNvPr>
            <p:cNvSpPr/>
            <p:nvPr/>
          </p:nvSpPr>
          <p:spPr>
            <a:xfrm>
              <a:off x="296667" y="2187787"/>
              <a:ext cx="718692" cy="718692"/>
            </a:xfrm>
            <a:prstGeom prst="ellipse">
              <a:avLst/>
            </a:prstGeom>
            <a:solidFill>
              <a:srgbClr val="0079EF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668C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Data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668C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Source</a:t>
              </a:r>
            </a:p>
          </p:txBody>
        </p:sp>
        <p:sp>
          <p:nvSpPr>
            <p:cNvPr id="53" name="타원 52">
              <a:extLst>
                <a:ext uri="{FF2B5EF4-FFF2-40B4-BE49-F238E27FC236}">
                  <a16:creationId xmlns="" xmlns:a16="http://schemas.microsoft.com/office/drawing/2014/main" id="{9E8C770E-25BD-E793-94CF-2533F6101165}"/>
                </a:ext>
              </a:extLst>
            </p:cNvPr>
            <p:cNvSpPr/>
            <p:nvPr/>
          </p:nvSpPr>
          <p:spPr>
            <a:xfrm>
              <a:off x="296667" y="3292266"/>
              <a:ext cx="718692" cy="718692"/>
            </a:xfrm>
            <a:prstGeom prst="ellipse">
              <a:avLst/>
            </a:prstGeom>
            <a:solidFill>
              <a:srgbClr val="0079EF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668C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Data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668C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Source</a:t>
              </a:r>
            </a:p>
          </p:txBody>
        </p:sp>
        <p:sp>
          <p:nvSpPr>
            <p:cNvPr id="54" name="타원 53">
              <a:extLst>
                <a:ext uri="{FF2B5EF4-FFF2-40B4-BE49-F238E27FC236}">
                  <a16:creationId xmlns="" xmlns:a16="http://schemas.microsoft.com/office/drawing/2014/main" id="{D2DCBAAD-D034-22A0-D54E-005DE17D2A90}"/>
                </a:ext>
              </a:extLst>
            </p:cNvPr>
            <p:cNvSpPr/>
            <p:nvPr/>
          </p:nvSpPr>
          <p:spPr>
            <a:xfrm>
              <a:off x="296667" y="4396745"/>
              <a:ext cx="718692" cy="718692"/>
            </a:xfrm>
            <a:prstGeom prst="ellipse">
              <a:avLst/>
            </a:prstGeom>
            <a:solidFill>
              <a:srgbClr val="0079EF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668C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Data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668C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Source</a:t>
              </a: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="" xmlns:a16="http://schemas.microsoft.com/office/drawing/2014/main" id="{3D37E3E8-0B0A-3CDA-B6EB-0957A4A709C2}"/>
                </a:ext>
              </a:extLst>
            </p:cNvPr>
            <p:cNvSpPr/>
            <p:nvPr/>
          </p:nvSpPr>
          <p:spPr>
            <a:xfrm>
              <a:off x="1448795" y="3327576"/>
              <a:ext cx="1152128" cy="648072"/>
            </a:xfrm>
            <a:prstGeom prst="rect">
              <a:avLst/>
            </a:prstGeom>
            <a:noFill/>
            <a:ln w="12700" cap="flat" cmpd="sng" algn="ctr">
              <a:solidFill>
                <a:srgbClr val="1668C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668C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Kafka 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668C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Cluster</a:t>
              </a: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="" xmlns:a16="http://schemas.microsoft.com/office/drawing/2014/main" id="{5CBE04F9-90D9-EA13-8670-7A047D02C3B5}"/>
                </a:ext>
              </a:extLst>
            </p:cNvPr>
            <p:cNvSpPr/>
            <p:nvPr/>
          </p:nvSpPr>
          <p:spPr>
            <a:xfrm>
              <a:off x="4041083" y="3327576"/>
              <a:ext cx="1152128" cy="648072"/>
            </a:xfrm>
            <a:prstGeom prst="rect">
              <a:avLst/>
            </a:prstGeom>
            <a:solidFill>
              <a:srgbClr val="1668C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Vertica</a:t>
              </a:r>
            </a:p>
          </p:txBody>
        </p:sp>
        <p:cxnSp>
          <p:nvCxnSpPr>
            <p:cNvPr id="58" name="직선 화살표 연결선 57">
              <a:extLst>
                <a:ext uri="{FF2B5EF4-FFF2-40B4-BE49-F238E27FC236}">
                  <a16:creationId xmlns="" xmlns:a16="http://schemas.microsoft.com/office/drawing/2014/main" id="{17BA8AF7-0318-8919-B054-C149EB610B21}"/>
                </a:ext>
              </a:extLst>
            </p:cNvPr>
            <p:cNvCxnSpPr/>
            <p:nvPr/>
          </p:nvCxnSpPr>
          <p:spPr>
            <a:xfrm>
              <a:off x="2456907" y="3433359"/>
              <a:ext cx="144016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1668C1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59" name="직선 화살표 연결선 58">
              <a:extLst>
                <a:ext uri="{FF2B5EF4-FFF2-40B4-BE49-F238E27FC236}">
                  <a16:creationId xmlns="" xmlns:a16="http://schemas.microsoft.com/office/drawing/2014/main" id="{CD3C54A6-83DC-6019-19A9-6FAC505489EA}"/>
                </a:ext>
              </a:extLst>
            </p:cNvPr>
            <p:cNvCxnSpPr/>
            <p:nvPr/>
          </p:nvCxnSpPr>
          <p:spPr>
            <a:xfrm>
              <a:off x="2456907" y="3835465"/>
              <a:ext cx="144016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1668C1"/>
              </a:solidFill>
              <a:prstDash val="solid"/>
              <a:miter lim="800000"/>
              <a:headEnd type="triangle" w="med" len="med"/>
              <a:tailEnd type="none" w="med" len="med"/>
            </a:ln>
            <a:effectLst/>
          </p:spPr>
        </p:cxnSp>
        <p:sp>
          <p:nvSpPr>
            <p:cNvPr id="60" name="원통형 59">
              <a:extLst>
                <a:ext uri="{FF2B5EF4-FFF2-40B4-BE49-F238E27FC236}">
                  <a16:creationId xmlns="" xmlns:a16="http://schemas.microsoft.com/office/drawing/2014/main" id="{FE403BBC-EAB3-9FAB-A1F5-96253DDD33E2}"/>
                </a:ext>
              </a:extLst>
            </p:cNvPr>
            <p:cNvSpPr/>
            <p:nvPr/>
          </p:nvSpPr>
          <p:spPr>
            <a:xfrm>
              <a:off x="4041083" y="4216337"/>
              <a:ext cx="1152128" cy="483224"/>
            </a:xfrm>
            <a:prstGeom prst="can">
              <a:avLst/>
            </a:prstGeom>
            <a:solidFill>
              <a:sysClr val="window" lastClr="FFFFFF">
                <a:lumMod val="85000"/>
              </a:sysClr>
            </a:solidFill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1" name="타원 60">
              <a:extLst>
                <a:ext uri="{FF2B5EF4-FFF2-40B4-BE49-F238E27FC236}">
                  <a16:creationId xmlns="" xmlns:a16="http://schemas.microsoft.com/office/drawing/2014/main" id="{35ED8ADF-17A9-33AE-AA79-D5314F1B312E}"/>
                </a:ext>
              </a:extLst>
            </p:cNvPr>
            <p:cNvSpPr/>
            <p:nvPr/>
          </p:nvSpPr>
          <p:spPr>
            <a:xfrm>
              <a:off x="2695257" y="3207462"/>
              <a:ext cx="189788" cy="189788"/>
            </a:xfrm>
            <a:prstGeom prst="ellipse">
              <a:avLst/>
            </a:prstGeom>
            <a:solidFill>
              <a:srgbClr val="C6179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="" xmlns:a16="http://schemas.microsoft.com/office/drawing/2014/main" id="{424CB005-7C83-6335-A4C5-CE2F856629E4}"/>
                </a:ext>
              </a:extLst>
            </p:cNvPr>
            <p:cNvSpPr txBox="1"/>
            <p:nvPr/>
          </p:nvSpPr>
          <p:spPr>
            <a:xfrm>
              <a:off x="2839273" y="3194577"/>
              <a:ext cx="678391" cy="24622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spAutoFit/>
            </a:bodyPr>
            <a:lstStyle/>
            <a:p>
              <a:pPr latinLnBrk="0"/>
              <a:r>
                <a:rPr lang="en-GB" sz="1000" b="1" dirty="0">
                  <a:solidFill>
                    <a:srgbClr val="1668C1"/>
                  </a:solidFill>
                  <a:latin typeface="Calibri"/>
                  <a:ea typeface="Roboto Light" charset="0"/>
                  <a:cs typeface="Roboto Light" charset="0"/>
                </a:rPr>
                <a:t>Consume</a:t>
              </a:r>
            </a:p>
          </p:txBody>
        </p:sp>
        <p:sp>
          <p:nvSpPr>
            <p:cNvPr id="75" name="타원 74">
              <a:extLst>
                <a:ext uri="{FF2B5EF4-FFF2-40B4-BE49-F238E27FC236}">
                  <a16:creationId xmlns="" xmlns:a16="http://schemas.microsoft.com/office/drawing/2014/main" id="{A812DB9A-DFD5-AF7A-0915-56B113C5332E}"/>
                </a:ext>
              </a:extLst>
            </p:cNvPr>
            <p:cNvSpPr/>
            <p:nvPr/>
          </p:nvSpPr>
          <p:spPr>
            <a:xfrm>
              <a:off x="2695257" y="3880468"/>
              <a:ext cx="189788" cy="189788"/>
            </a:xfrm>
            <a:prstGeom prst="ellipse">
              <a:avLst/>
            </a:prstGeom>
            <a:solidFill>
              <a:srgbClr val="C6179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3</a:t>
              </a:r>
              <a:endPara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="" xmlns:a16="http://schemas.microsoft.com/office/drawing/2014/main" id="{C2C9FEEB-1674-7AA8-71B7-5F018EB3BD82}"/>
                </a:ext>
              </a:extLst>
            </p:cNvPr>
            <p:cNvSpPr txBox="1"/>
            <p:nvPr/>
          </p:nvSpPr>
          <p:spPr>
            <a:xfrm>
              <a:off x="2816947" y="3843987"/>
              <a:ext cx="622286" cy="24622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spAutoFit/>
            </a:bodyPr>
            <a:lstStyle/>
            <a:p>
              <a:pPr latinLnBrk="0"/>
              <a:r>
                <a:rPr lang="en-GB" sz="1000" b="1" dirty="0">
                  <a:solidFill>
                    <a:srgbClr val="1668C1"/>
                  </a:solidFill>
                  <a:latin typeface="Calibri"/>
                  <a:ea typeface="Roboto Light" charset="0"/>
                  <a:cs typeface="Roboto Light" charset="0"/>
                </a:rPr>
                <a:t>Produce</a:t>
              </a: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="" xmlns:a16="http://schemas.microsoft.com/office/drawing/2014/main" id="{AC8C78B7-81B5-444C-6BB4-878ACBCEE7C3}"/>
                </a:ext>
              </a:extLst>
            </p:cNvPr>
            <p:cNvSpPr/>
            <p:nvPr/>
          </p:nvSpPr>
          <p:spPr>
            <a:xfrm>
              <a:off x="3930383" y="4998806"/>
              <a:ext cx="1373528" cy="648072"/>
            </a:xfrm>
            <a:prstGeom prst="rect">
              <a:avLst/>
            </a:prstGeom>
            <a:noFill/>
            <a:ln w="12700" cap="flat" cmpd="sng" algn="ctr">
              <a:solidFill>
                <a:srgbClr val="1668C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1668C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Spark</a:t>
              </a:r>
              <a:endPara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rgbClr val="1668C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="" xmlns:a16="http://schemas.microsoft.com/office/drawing/2014/main" id="{FB750E1C-8851-D3C5-8A37-3A1EA5D36FEF}"/>
                </a:ext>
              </a:extLst>
            </p:cNvPr>
            <p:cNvSpPr/>
            <p:nvPr/>
          </p:nvSpPr>
          <p:spPr>
            <a:xfrm>
              <a:off x="4082376" y="5022402"/>
              <a:ext cx="288032" cy="170318"/>
            </a:xfrm>
            <a:prstGeom prst="rect">
              <a:avLst/>
            </a:prstGeom>
            <a:noFill/>
            <a:ln w="12700" cap="flat" cmpd="sng" algn="ctr">
              <a:solidFill>
                <a:srgbClr val="1668C1"/>
              </a:solidFill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1668C1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DF</a:t>
              </a:r>
              <a:endParaRPr kumimoji="0" lang="en-GB" sz="1000" b="1" i="0" u="none" strike="noStrike" kern="0" cap="none" spc="0" normalizeH="0" baseline="0" noProof="0" dirty="0">
                <a:ln>
                  <a:noFill/>
                </a:ln>
                <a:solidFill>
                  <a:srgbClr val="1668C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="" xmlns:a16="http://schemas.microsoft.com/office/drawing/2014/main" id="{F277B51E-2575-EAA0-80CB-B18CF7222436}"/>
                </a:ext>
              </a:extLst>
            </p:cNvPr>
            <p:cNvSpPr/>
            <p:nvPr/>
          </p:nvSpPr>
          <p:spPr>
            <a:xfrm>
              <a:off x="4478420" y="5022402"/>
              <a:ext cx="288032" cy="170318"/>
            </a:xfrm>
            <a:prstGeom prst="rect">
              <a:avLst/>
            </a:prstGeom>
            <a:noFill/>
            <a:ln w="12700" cap="flat" cmpd="sng" algn="ctr">
              <a:solidFill>
                <a:srgbClr val="1668C1"/>
              </a:solidFill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1668C1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DF</a:t>
              </a:r>
              <a:endParaRPr kumimoji="0" lang="en-GB" sz="1000" b="1" i="0" u="none" strike="noStrike" kern="0" cap="none" spc="0" normalizeH="0" baseline="0" noProof="0" dirty="0">
                <a:ln>
                  <a:noFill/>
                </a:ln>
                <a:solidFill>
                  <a:srgbClr val="1668C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="" xmlns:a16="http://schemas.microsoft.com/office/drawing/2014/main" id="{F21CD600-8B4A-2426-B342-CEAC7731E6A3}"/>
                </a:ext>
              </a:extLst>
            </p:cNvPr>
            <p:cNvSpPr/>
            <p:nvPr/>
          </p:nvSpPr>
          <p:spPr>
            <a:xfrm>
              <a:off x="4862789" y="5022402"/>
              <a:ext cx="288032" cy="170318"/>
            </a:xfrm>
            <a:prstGeom prst="rect">
              <a:avLst/>
            </a:prstGeom>
            <a:noFill/>
            <a:ln w="12700" cap="flat" cmpd="sng" algn="ctr">
              <a:solidFill>
                <a:srgbClr val="1668C1"/>
              </a:solidFill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1668C1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DF</a:t>
              </a:r>
              <a:endParaRPr kumimoji="0" lang="en-GB" sz="1000" b="1" i="0" u="none" strike="noStrike" kern="0" cap="none" spc="0" normalizeH="0" baseline="0" noProof="0" dirty="0">
                <a:ln>
                  <a:noFill/>
                </a:ln>
                <a:solidFill>
                  <a:srgbClr val="1668C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84" name="직선 화살표 연결선 83">
              <a:extLst>
                <a:ext uri="{FF2B5EF4-FFF2-40B4-BE49-F238E27FC236}">
                  <a16:creationId xmlns="" xmlns:a16="http://schemas.microsoft.com/office/drawing/2014/main" id="{2DDA2150-A10C-374A-D8B6-72F955C683E1}"/>
                </a:ext>
              </a:extLst>
            </p:cNvPr>
            <p:cNvCxnSpPr>
              <a:cxnSpLocks/>
            </p:cNvCxnSpPr>
            <p:nvPr/>
          </p:nvCxnSpPr>
          <p:spPr>
            <a:xfrm>
              <a:off x="4185099" y="4010957"/>
              <a:ext cx="0" cy="288000"/>
            </a:xfrm>
            <a:prstGeom prst="straightConnector1">
              <a:avLst/>
            </a:prstGeom>
            <a:noFill/>
            <a:ln w="6350" cap="flat" cmpd="sng" algn="ctr">
              <a:solidFill>
                <a:srgbClr val="1668C1"/>
              </a:solidFill>
              <a:prstDash val="solid"/>
              <a:miter lim="800000"/>
              <a:headEnd type="triangle" w="med" len="med"/>
              <a:tailEnd type="triangle" w="med" len="med"/>
            </a:ln>
            <a:effectLst/>
          </p:spPr>
        </p:cxnSp>
        <p:cxnSp>
          <p:nvCxnSpPr>
            <p:cNvPr id="85" name="직선 화살표 연결선 84">
              <a:extLst>
                <a:ext uri="{FF2B5EF4-FFF2-40B4-BE49-F238E27FC236}">
                  <a16:creationId xmlns="" xmlns:a16="http://schemas.microsoft.com/office/drawing/2014/main" id="{1C6B6D71-0510-ABD7-1248-54E67B1414F4}"/>
                </a:ext>
              </a:extLst>
            </p:cNvPr>
            <p:cNvCxnSpPr>
              <a:cxnSpLocks/>
            </p:cNvCxnSpPr>
            <p:nvPr/>
          </p:nvCxnSpPr>
          <p:spPr>
            <a:xfrm>
              <a:off x="5049195" y="4010957"/>
              <a:ext cx="0" cy="288000"/>
            </a:xfrm>
            <a:prstGeom prst="straightConnector1">
              <a:avLst/>
            </a:prstGeom>
            <a:noFill/>
            <a:ln w="6350" cap="flat" cmpd="sng" algn="ctr">
              <a:solidFill>
                <a:srgbClr val="1668C1"/>
              </a:solidFill>
              <a:prstDash val="solid"/>
              <a:miter lim="800000"/>
              <a:headEnd type="triangle" w="med" len="med"/>
              <a:tailEnd type="triangle" w="med" len="med"/>
            </a:ln>
            <a:effectLst/>
          </p:spPr>
        </p:cxnSp>
        <p:sp>
          <p:nvSpPr>
            <p:cNvPr id="86" name="직사각형 85">
              <a:extLst>
                <a:ext uri="{FF2B5EF4-FFF2-40B4-BE49-F238E27FC236}">
                  <a16:creationId xmlns="" xmlns:a16="http://schemas.microsoft.com/office/drawing/2014/main" id="{94AC8AEE-71C4-7556-36D5-22DB8CE744B8}"/>
                </a:ext>
              </a:extLst>
            </p:cNvPr>
            <p:cNvSpPr/>
            <p:nvPr/>
          </p:nvSpPr>
          <p:spPr>
            <a:xfrm>
              <a:off x="4082376" y="4411634"/>
              <a:ext cx="288032" cy="170318"/>
            </a:xfrm>
            <a:prstGeom prst="rect">
              <a:avLst/>
            </a:prstGeom>
            <a:solidFill>
              <a:srgbClr val="1668C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="" xmlns:a16="http://schemas.microsoft.com/office/drawing/2014/main" id="{E7C1C6D6-9DAF-DF2B-130A-E553E21D33EC}"/>
                </a:ext>
              </a:extLst>
            </p:cNvPr>
            <p:cNvSpPr/>
            <p:nvPr/>
          </p:nvSpPr>
          <p:spPr>
            <a:xfrm>
              <a:off x="4478420" y="4411634"/>
              <a:ext cx="288032" cy="170318"/>
            </a:xfrm>
            <a:prstGeom prst="rect">
              <a:avLst/>
            </a:prstGeom>
            <a:solidFill>
              <a:srgbClr val="1668C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="" xmlns:a16="http://schemas.microsoft.com/office/drawing/2014/main" id="{987372CA-21D6-7795-CD08-A44AE50E441E}"/>
                </a:ext>
              </a:extLst>
            </p:cNvPr>
            <p:cNvSpPr/>
            <p:nvPr/>
          </p:nvSpPr>
          <p:spPr>
            <a:xfrm>
              <a:off x="4862789" y="4411634"/>
              <a:ext cx="288032" cy="170318"/>
            </a:xfrm>
            <a:prstGeom prst="rect">
              <a:avLst/>
            </a:prstGeom>
            <a:solidFill>
              <a:srgbClr val="1668C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="" xmlns:a16="http://schemas.microsoft.com/office/drawing/2014/main" id="{1E4DB216-1358-395C-AA7A-A42A5BEE2542}"/>
                </a:ext>
              </a:extLst>
            </p:cNvPr>
            <p:cNvSpPr txBox="1"/>
            <p:nvPr/>
          </p:nvSpPr>
          <p:spPr>
            <a:xfrm>
              <a:off x="3950232" y="4380814"/>
              <a:ext cx="522900" cy="215444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spAutoFit/>
            </a:bodyPr>
            <a:lstStyle/>
            <a:p>
              <a:pPr algn="ctr" latinLnBrk="0"/>
              <a:r>
                <a:rPr lang="en-US" altLang="ko-KR" sz="800" b="1" dirty="0">
                  <a:solidFill>
                    <a:prstClr val="white"/>
                  </a:solidFill>
                  <a:latin typeface="Calibri"/>
                  <a:ea typeface="Roboto Light" charset="0"/>
                  <a:cs typeface="Roboto Light" charset="0"/>
                </a:rPr>
                <a:t>Parquet</a:t>
              </a:r>
              <a:endParaRPr lang="en-GB" sz="800" b="1" dirty="0">
                <a:solidFill>
                  <a:prstClr val="white"/>
                </a:solidFill>
                <a:latin typeface="Calibri"/>
                <a:ea typeface="Roboto Light" charset="0"/>
                <a:cs typeface="Roboto Light" charset="0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="" xmlns:a16="http://schemas.microsoft.com/office/drawing/2014/main" id="{00313389-B9B6-3A21-D62D-4C2DDADB40D3}"/>
                </a:ext>
              </a:extLst>
            </p:cNvPr>
            <p:cNvSpPr txBox="1"/>
            <p:nvPr/>
          </p:nvSpPr>
          <p:spPr>
            <a:xfrm>
              <a:off x="4369047" y="4380814"/>
              <a:ext cx="522900" cy="215444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spAutoFit/>
            </a:bodyPr>
            <a:lstStyle/>
            <a:p>
              <a:pPr algn="ctr" latinLnBrk="0"/>
              <a:r>
                <a:rPr lang="en-US" altLang="ko-KR" sz="800" b="1" dirty="0">
                  <a:solidFill>
                    <a:prstClr val="white"/>
                  </a:solidFill>
                  <a:latin typeface="Calibri"/>
                  <a:ea typeface="Roboto Light" charset="0"/>
                  <a:cs typeface="Roboto Light" charset="0"/>
                </a:rPr>
                <a:t>Parquet</a:t>
              </a:r>
              <a:endParaRPr lang="en-GB" sz="800" b="1" dirty="0">
                <a:solidFill>
                  <a:prstClr val="white"/>
                </a:solidFill>
                <a:latin typeface="Calibri"/>
                <a:ea typeface="Roboto Light" charset="0"/>
                <a:cs typeface="Roboto Light" charset="0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="" xmlns:a16="http://schemas.microsoft.com/office/drawing/2014/main" id="{28B8F347-F571-B94A-5E52-803EC6CBB8A5}"/>
                </a:ext>
              </a:extLst>
            </p:cNvPr>
            <p:cNvSpPr txBox="1"/>
            <p:nvPr/>
          </p:nvSpPr>
          <p:spPr>
            <a:xfrm>
              <a:off x="4745355" y="4380814"/>
              <a:ext cx="522900" cy="215444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spAutoFit/>
            </a:bodyPr>
            <a:lstStyle/>
            <a:p>
              <a:pPr algn="ctr" latinLnBrk="0"/>
              <a:r>
                <a:rPr lang="en-US" altLang="ko-KR" sz="800" b="1" dirty="0">
                  <a:solidFill>
                    <a:prstClr val="white"/>
                  </a:solidFill>
                  <a:latin typeface="Calibri"/>
                  <a:ea typeface="Roboto Light" charset="0"/>
                  <a:cs typeface="Roboto Light" charset="0"/>
                </a:rPr>
                <a:t>Parquet</a:t>
              </a:r>
              <a:endParaRPr lang="en-GB" sz="800" b="1" dirty="0">
                <a:solidFill>
                  <a:prstClr val="white"/>
                </a:solidFill>
                <a:latin typeface="Calibri"/>
                <a:ea typeface="Roboto Light" charset="0"/>
                <a:cs typeface="Roboto Light" charset="0"/>
              </a:endParaRPr>
            </a:p>
          </p:txBody>
        </p:sp>
        <p:cxnSp>
          <p:nvCxnSpPr>
            <p:cNvPr id="92" name="직선 화살표 연결선 91">
              <a:extLst>
                <a:ext uri="{FF2B5EF4-FFF2-40B4-BE49-F238E27FC236}">
                  <a16:creationId xmlns="" xmlns:a16="http://schemas.microsoft.com/office/drawing/2014/main" id="{BEDBF7CD-39EF-6069-E3D5-1160C4397325}"/>
                </a:ext>
              </a:extLst>
            </p:cNvPr>
            <p:cNvCxnSpPr>
              <a:cxnSpLocks/>
            </p:cNvCxnSpPr>
            <p:nvPr/>
          </p:nvCxnSpPr>
          <p:spPr>
            <a:xfrm>
              <a:off x="4617147" y="4699561"/>
              <a:ext cx="0" cy="288000"/>
            </a:xfrm>
            <a:prstGeom prst="straightConnector1">
              <a:avLst/>
            </a:prstGeom>
            <a:noFill/>
            <a:ln w="6350" cap="flat" cmpd="sng" algn="ctr">
              <a:solidFill>
                <a:srgbClr val="1668C1"/>
              </a:solidFill>
              <a:prstDash val="solid"/>
              <a:miter lim="800000"/>
              <a:headEnd type="triangle" w="med" len="med"/>
              <a:tailEnd type="triangle" w="med" len="med"/>
            </a:ln>
            <a:effectLst/>
          </p:spPr>
        </p:cxnSp>
        <p:cxnSp>
          <p:nvCxnSpPr>
            <p:cNvPr id="93" name="직선 화살표 연결선 92">
              <a:extLst>
                <a:ext uri="{FF2B5EF4-FFF2-40B4-BE49-F238E27FC236}">
                  <a16:creationId xmlns="" xmlns:a16="http://schemas.microsoft.com/office/drawing/2014/main" id="{835BE4FE-7977-EE55-EDBF-E587FE43CA9D}"/>
                </a:ext>
              </a:extLst>
            </p:cNvPr>
            <p:cNvCxnSpPr>
              <a:cxnSpLocks/>
            </p:cNvCxnSpPr>
            <p:nvPr/>
          </p:nvCxnSpPr>
          <p:spPr>
            <a:xfrm>
              <a:off x="4185099" y="4699561"/>
              <a:ext cx="0" cy="288000"/>
            </a:xfrm>
            <a:prstGeom prst="straightConnector1">
              <a:avLst/>
            </a:prstGeom>
            <a:noFill/>
            <a:ln w="6350" cap="flat" cmpd="sng" algn="ctr">
              <a:solidFill>
                <a:srgbClr val="1668C1"/>
              </a:solidFill>
              <a:prstDash val="solid"/>
              <a:miter lim="800000"/>
              <a:headEnd type="triangle" w="med" len="med"/>
              <a:tailEnd type="triangle" w="med" len="med"/>
            </a:ln>
            <a:effectLst/>
          </p:spPr>
        </p:cxnSp>
        <p:cxnSp>
          <p:nvCxnSpPr>
            <p:cNvPr id="94" name="직선 화살표 연결선 93">
              <a:extLst>
                <a:ext uri="{FF2B5EF4-FFF2-40B4-BE49-F238E27FC236}">
                  <a16:creationId xmlns="" xmlns:a16="http://schemas.microsoft.com/office/drawing/2014/main" id="{352E719A-6F2D-F550-E6B8-35612EA749BC}"/>
                </a:ext>
              </a:extLst>
            </p:cNvPr>
            <p:cNvCxnSpPr>
              <a:cxnSpLocks/>
            </p:cNvCxnSpPr>
            <p:nvPr/>
          </p:nvCxnSpPr>
          <p:spPr>
            <a:xfrm>
              <a:off x="5049195" y="4699561"/>
              <a:ext cx="0" cy="288000"/>
            </a:xfrm>
            <a:prstGeom prst="straightConnector1">
              <a:avLst/>
            </a:prstGeom>
            <a:noFill/>
            <a:ln w="6350" cap="flat" cmpd="sng" algn="ctr">
              <a:solidFill>
                <a:srgbClr val="1668C1"/>
              </a:solidFill>
              <a:prstDash val="solid"/>
              <a:miter lim="800000"/>
              <a:headEnd type="triangle" w="med" len="med"/>
              <a:tailEnd type="triangle" w="med" len="med"/>
            </a:ln>
            <a:effectLst/>
          </p:spPr>
        </p:cxnSp>
        <p:cxnSp>
          <p:nvCxnSpPr>
            <p:cNvPr id="95" name="직선 화살표 연결선 94">
              <a:extLst>
                <a:ext uri="{FF2B5EF4-FFF2-40B4-BE49-F238E27FC236}">
                  <a16:creationId xmlns="" xmlns:a16="http://schemas.microsoft.com/office/drawing/2014/main" id="{0E3A51CE-9E84-665B-99E5-C2E6FC3F4504}"/>
                </a:ext>
              </a:extLst>
            </p:cNvPr>
            <p:cNvCxnSpPr>
              <a:cxnSpLocks/>
            </p:cNvCxnSpPr>
            <p:nvPr/>
          </p:nvCxnSpPr>
          <p:spPr>
            <a:xfrm>
              <a:off x="4617147" y="4010957"/>
              <a:ext cx="0" cy="288000"/>
            </a:xfrm>
            <a:prstGeom prst="straightConnector1">
              <a:avLst/>
            </a:prstGeom>
            <a:noFill/>
            <a:ln w="6350" cap="flat" cmpd="sng" algn="ctr">
              <a:solidFill>
                <a:srgbClr val="1668C1"/>
              </a:solidFill>
              <a:prstDash val="solid"/>
              <a:miter lim="800000"/>
              <a:headEnd type="triangle" w="med" len="med"/>
              <a:tailEnd type="triangle" w="med" len="med"/>
            </a:ln>
            <a:effectLst/>
          </p:spPr>
        </p:cxnSp>
        <p:cxnSp>
          <p:nvCxnSpPr>
            <p:cNvPr id="96" name="직선 화살표 연결선 95">
              <a:extLst>
                <a:ext uri="{FF2B5EF4-FFF2-40B4-BE49-F238E27FC236}">
                  <a16:creationId xmlns="" xmlns:a16="http://schemas.microsoft.com/office/drawing/2014/main" id="{0F55C922-8C73-E860-5B62-AB624D00D06A}"/>
                </a:ext>
              </a:extLst>
            </p:cNvPr>
            <p:cNvCxnSpPr>
              <a:stCxn id="52" idx="6"/>
              <a:endCxn id="56" idx="1"/>
            </p:cNvCxnSpPr>
            <p:nvPr/>
          </p:nvCxnSpPr>
          <p:spPr>
            <a:xfrm>
              <a:off x="1015359" y="2547133"/>
              <a:ext cx="433436" cy="1104479"/>
            </a:xfrm>
            <a:prstGeom prst="straightConnector1">
              <a:avLst/>
            </a:prstGeom>
            <a:noFill/>
            <a:ln w="6350" cap="flat" cmpd="sng" algn="ctr">
              <a:solidFill>
                <a:srgbClr val="1668C1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97" name="직선 화살표 연결선 96">
              <a:extLst>
                <a:ext uri="{FF2B5EF4-FFF2-40B4-BE49-F238E27FC236}">
                  <a16:creationId xmlns="" xmlns:a16="http://schemas.microsoft.com/office/drawing/2014/main" id="{70A278D8-9529-4F1D-9A3B-90B886CC93BD}"/>
                </a:ext>
              </a:extLst>
            </p:cNvPr>
            <p:cNvCxnSpPr>
              <a:stCxn id="53" idx="6"/>
              <a:endCxn id="56" idx="1"/>
            </p:cNvCxnSpPr>
            <p:nvPr/>
          </p:nvCxnSpPr>
          <p:spPr>
            <a:xfrm>
              <a:off x="1015359" y="3651612"/>
              <a:ext cx="433436" cy="0"/>
            </a:xfrm>
            <a:prstGeom prst="straightConnector1">
              <a:avLst/>
            </a:prstGeom>
            <a:noFill/>
            <a:ln w="6350" cap="flat" cmpd="sng" algn="ctr">
              <a:solidFill>
                <a:srgbClr val="1668C1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98" name="직선 화살표 연결선 97">
              <a:extLst>
                <a:ext uri="{FF2B5EF4-FFF2-40B4-BE49-F238E27FC236}">
                  <a16:creationId xmlns="" xmlns:a16="http://schemas.microsoft.com/office/drawing/2014/main" id="{30CA203D-82AD-3308-47D4-EBAB5A1796D0}"/>
                </a:ext>
              </a:extLst>
            </p:cNvPr>
            <p:cNvCxnSpPr>
              <a:stCxn id="54" idx="6"/>
              <a:endCxn id="56" idx="1"/>
            </p:cNvCxnSpPr>
            <p:nvPr/>
          </p:nvCxnSpPr>
          <p:spPr>
            <a:xfrm flipV="1">
              <a:off x="1015359" y="3651612"/>
              <a:ext cx="433436" cy="1104479"/>
            </a:xfrm>
            <a:prstGeom prst="straightConnector1">
              <a:avLst/>
            </a:prstGeom>
            <a:noFill/>
            <a:ln w="6350" cap="flat" cmpd="sng" algn="ctr">
              <a:solidFill>
                <a:srgbClr val="1668C1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03" name="타원 102">
              <a:extLst>
                <a:ext uri="{FF2B5EF4-FFF2-40B4-BE49-F238E27FC236}">
                  <a16:creationId xmlns="" xmlns:a16="http://schemas.microsoft.com/office/drawing/2014/main" id="{FD2DD0F1-5417-9A94-AD3F-89DECBFE9DEC}"/>
                </a:ext>
              </a:extLst>
            </p:cNvPr>
            <p:cNvSpPr/>
            <p:nvPr/>
          </p:nvSpPr>
          <p:spPr>
            <a:xfrm>
              <a:off x="2975573" y="4773941"/>
              <a:ext cx="189788" cy="189788"/>
            </a:xfrm>
            <a:prstGeom prst="ellipse">
              <a:avLst/>
            </a:prstGeom>
            <a:solidFill>
              <a:srgbClr val="C6179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4</a:t>
              </a:r>
              <a:endPara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="" xmlns:a16="http://schemas.microsoft.com/office/drawing/2014/main" id="{5A587F80-F953-B79B-E8DE-0B5FDDDA4735}"/>
                </a:ext>
              </a:extLst>
            </p:cNvPr>
            <p:cNvSpPr txBox="1"/>
            <p:nvPr/>
          </p:nvSpPr>
          <p:spPr>
            <a:xfrm>
              <a:off x="3097263" y="4737460"/>
              <a:ext cx="1104790" cy="24622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spAutoFit/>
            </a:bodyPr>
            <a:lstStyle/>
            <a:p>
              <a:pPr latinLnBrk="0"/>
              <a:r>
                <a:rPr lang="en-US" altLang="ko-KR" sz="1000" b="1" dirty="0">
                  <a:solidFill>
                    <a:srgbClr val="1668C1"/>
                  </a:solidFill>
                  <a:latin typeface="Calibri"/>
                  <a:ea typeface="Roboto Light" charset="0"/>
                  <a:cs typeface="Roboto Light" charset="0"/>
                </a:rPr>
                <a:t>Spark integration</a:t>
              </a:r>
              <a:endParaRPr lang="en-GB" sz="1000" b="1" dirty="0">
                <a:solidFill>
                  <a:srgbClr val="1668C1"/>
                </a:solidFill>
                <a:latin typeface="Calibri"/>
                <a:ea typeface="Roboto Light" charset="0"/>
                <a:cs typeface="Roboto Light" charset="0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="" xmlns:a16="http://schemas.microsoft.com/office/drawing/2014/main" id="{EF67941C-1AB7-D20F-C928-1AD35997B12F}"/>
                </a:ext>
              </a:extLst>
            </p:cNvPr>
            <p:cNvSpPr txBox="1"/>
            <p:nvPr/>
          </p:nvSpPr>
          <p:spPr>
            <a:xfrm>
              <a:off x="842387" y="2881202"/>
              <a:ext cx="718466" cy="24622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spAutoFit/>
            </a:bodyPr>
            <a:lstStyle/>
            <a:p>
              <a:pPr latinLnBrk="0"/>
              <a:r>
                <a:rPr lang="en-US" altLang="ko-KR" sz="1000" b="1" dirty="0">
                  <a:solidFill>
                    <a:srgbClr val="212E35"/>
                  </a:solidFill>
                  <a:latin typeface="Calibri"/>
                  <a:ea typeface="Roboto Light" charset="0"/>
                  <a:cs typeface="Roboto Light" charset="0"/>
                </a:rPr>
                <a:t>streaming</a:t>
              </a:r>
              <a:endParaRPr lang="en-GB" sz="1000" b="1" dirty="0">
                <a:solidFill>
                  <a:srgbClr val="212E35"/>
                </a:solidFill>
                <a:latin typeface="Calibri"/>
                <a:ea typeface="Roboto Light" charset="0"/>
                <a:cs typeface="Roboto Light" charset="0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="" xmlns:a16="http://schemas.microsoft.com/office/drawing/2014/main" id="{C088CE3F-79BC-ADAE-A9B4-9E05E6187B57}"/>
                </a:ext>
              </a:extLst>
            </p:cNvPr>
            <p:cNvSpPr txBox="1"/>
            <p:nvPr/>
          </p:nvSpPr>
          <p:spPr>
            <a:xfrm>
              <a:off x="842387" y="4155776"/>
              <a:ext cx="718466" cy="24622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spAutoFit/>
            </a:bodyPr>
            <a:lstStyle/>
            <a:p>
              <a:pPr latinLnBrk="0"/>
              <a:r>
                <a:rPr lang="en-US" altLang="ko-KR" sz="1000" b="1" dirty="0">
                  <a:solidFill>
                    <a:srgbClr val="212E35"/>
                  </a:solidFill>
                  <a:latin typeface="Calibri"/>
                  <a:ea typeface="Roboto Light" charset="0"/>
                  <a:cs typeface="Roboto Light" charset="0"/>
                </a:rPr>
                <a:t>streaming</a:t>
              </a:r>
              <a:endParaRPr lang="en-GB" sz="1000" b="1" dirty="0">
                <a:solidFill>
                  <a:srgbClr val="212E35"/>
                </a:solidFill>
                <a:latin typeface="Calibri"/>
                <a:ea typeface="Roboto Light" charset="0"/>
                <a:cs typeface="Roboto Light" charset="0"/>
              </a:endParaRPr>
            </a:p>
          </p:txBody>
        </p:sp>
        <p:sp>
          <p:nvSpPr>
            <p:cNvPr id="107" name="직사각형 106">
              <a:extLst>
                <a:ext uri="{FF2B5EF4-FFF2-40B4-BE49-F238E27FC236}">
                  <a16:creationId xmlns="" xmlns:a16="http://schemas.microsoft.com/office/drawing/2014/main" id="{FC0B6F14-A82D-B027-BA03-0C853233FA97}"/>
                </a:ext>
              </a:extLst>
            </p:cNvPr>
            <p:cNvSpPr/>
            <p:nvPr/>
          </p:nvSpPr>
          <p:spPr>
            <a:xfrm>
              <a:off x="3946774" y="3214075"/>
              <a:ext cx="1357138" cy="1542003"/>
            </a:xfrm>
            <a:prstGeom prst="rect">
              <a:avLst/>
            </a:prstGeom>
            <a:noFill/>
            <a:ln w="12700" cap="flat" cmpd="sng" algn="ctr">
              <a:solidFill>
                <a:srgbClr val="1668C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8" name="직사각형 107">
              <a:extLst>
                <a:ext uri="{FF2B5EF4-FFF2-40B4-BE49-F238E27FC236}">
                  <a16:creationId xmlns="" xmlns:a16="http://schemas.microsoft.com/office/drawing/2014/main" id="{B627D221-8DD2-4BB0-8448-90CF3426C2CE}"/>
                </a:ext>
              </a:extLst>
            </p:cNvPr>
            <p:cNvSpPr/>
            <p:nvPr/>
          </p:nvSpPr>
          <p:spPr>
            <a:xfrm>
              <a:off x="3946774" y="2216573"/>
              <a:ext cx="1357138" cy="363979"/>
            </a:xfrm>
            <a:prstGeom prst="rect">
              <a:avLst/>
            </a:prstGeom>
            <a:noFill/>
            <a:ln w="12700" cap="flat" cmpd="sng" algn="ctr">
              <a:solidFill>
                <a:srgbClr val="1668C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668C1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Clients</a:t>
              </a:r>
              <a:endPara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rgbClr val="1668C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9" name="타원 108">
              <a:extLst>
                <a:ext uri="{FF2B5EF4-FFF2-40B4-BE49-F238E27FC236}">
                  <a16:creationId xmlns="" xmlns:a16="http://schemas.microsoft.com/office/drawing/2014/main" id="{353A133C-5328-93F1-F6CB-F950A3FBC9E5}"/>
                </a:ext>
              </a:extLst>
            </p:cNvPr>
            <p:cNvSpPr/>
            <p:nvPr/>
          </p:nvSpPr>
          <p:spPr>
            <a:xfrm>
              <a:off x="3897067" y="2779611"/>
              <a:ext cx="189788" cy="189788"/>
            </a:xfrm>
            <a:prstGeom prst="ellipse">
              <a:avLst/>
            </a:prstGeom>
            <a:solidFill>
              <a:srgbClr val="C6179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2</a:t>
              </a:r>
              <a:endPara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="" xmlns:a16="http://schemas.microsoft.com/office/drawing/2014/main" id="{F5DB060C-CACC-95FF-1672-672C8C690547}"/>
                </a:ext>
              </a:extLst>
            </p:cNvPr>
            <p:cNvSpPr txBox="1"/>
            <p:nvPr/>
          </p:nvSpPr>
          <p:spPr>
            <a:xfrm>
              <a:off x="4041083" y="2743130"/>
              <a:ext cx="1172116" cy="24622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spAutoFit/>
            </a:bodyPr>
            <a:lstStyle/>
            <a:p>
              <a:pPr latinLnBrk="0"/>
              <a:r>
                <a:rPr lang="en-US" altLang="ko-KR" sz="1000" b="1" dirty="0">
                  <a:solidFill>
                    <a:srgbClr val="1668C1"/>
                  </a:solidFill>
                  <a:latin typeface="Calibri"/>
                  <a:ea typeface="Roboto Light" charset="0"/>
                  <a:cs typeface="Roboto Light" charset="0"/>
                </a:rPr>
                <a:t>Realtime Analytics</a:t>
              </a:r>
              <a:endParaRPr lang="en-GB" sz="1000" b="1" dirty="0">
                <a:solidFill>
                  <a:srgbClr val="1668C1"/>
                </a:solidFill>
                <a:latin typeface="Calibri"/>
                <a:ea typeface="Roboto Light" charset="0"/>
                <a:cs typeface="Roboto Light" charset="0"/>
              </a:endParaRPr>
            </a:p>
          </p:txBody>
        </p:sp>
        <p:cxnSp>
          <p:nvCxnSpPr>
            <p:cNvPr id="113" name="직선 화살표 연결선 112">
              <a:extLst>
                <a:ext uri="{FF2B5EF4-FFF2-40B4-BE49-F238E27FC236}">
                  <a16:creationId xmlns="" xmlns:a16="http://schemas.microsoft.com/office/drawing/2014/main" id="{6EB0167D-E687-8EB8-08CA-7A948C635471}"/>
                </a:ext>
              </a:extLst>
            </p:cNvPr>
            <p:cNvCxnSpPr>
              <a:cxnSpLocks/>
            </p:cNvCxnSpPr>
            <p:nvPr/>
          </p:nvCxnSpPr>
          <p:spPr>
            <a:xfrm>
              <a:off x="4617147" y="2645777"/>
              <a:ext cx="0" cy="514269"/>
            </a:xfrm>
            <a:prstGeom prst="straightConnector1">
              <a:avLst/>
            </a:prstGeom>
            <a:noFill/>
            <a:ln w="6350" cap="flat" cmpd="sng" algn="ctr">
              <a:solidFill>
                <a:srgbClr val="1668C1"/>
              </a:solidFill>
              <a:prstDash val="solid"/>
              <a:miter lim="800000"/>
              <a:headEnd type="triangle" w="med" len="med"/>
              <a:tailEnd type="triangl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1122672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41263AB-17CB-0C50-39A6-098F74F82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="" xmlns:a16="http://schemas.microsoft.com/office/drawing/2014/main" id="{D46237ED-D5AB-766E-0831-7E8F9D986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HDFS </a:t>
            </a:r>
            <a:r>
              <a:rPr lang="ko-KR" altLang="en-US" dirty="0"/>
              <a:t>연계</a:t>
            </a:r>
            <a:endParaRPr lang="ko-KR" altLang="en-US" sz="1400" dirty="0">
              <a:solidFill>
                <a:srgbClr val="0083CE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="" xmlns:a16="http://schemas.microsoft.com/office/drawing/2014/main" id="{9CDCA7C1-A030-7120-590D-D2F89E505A1A}"/>
              </a:ext>
            </a:extLst>
          </p:cNvPr>
          <p:cNvSpPr/>
          <p:nvPr/>
        </p:nvSpPr>
        <p:spPr>
          <a:xfrm>
            <a:off x="715639" y="1387082"/>
            <a:ext cx="10891643" cy="9316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추가적인 장비나 별도의 솔루션 설치 없이 </a:t>
            </a: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하둡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연계를 지원하여 </a:t>
            </a: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버티카를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통해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DW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와 </a:t>
            </a: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하둡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데이터 연계 분석을 지원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50D14B0F-8F15-ACD1-7DD3-D99E128AF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83247" y="6348888"/>
            <a:ext cx="278505" cy="301756"/>
          </a:xfrm>
        </p:spPr>
        <p:txBody>
          <a:bodyPr/>
          <a:lstStyle/>
          <a:p>
            <a:fld id="{AFA02C0B-84B5-4CD2-A6CE-C6BD7D6F9045}" type="slidenum">
              <a:rPr lang="ko-KR" altLang="en-US" smtClean="0">
                <a:solidFill>
                  <a:schemeClr val="bg1"/>
                </a:solidFill>
              </a:rPr>
              <a:t>31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A3C1EEA6-09D1-08A8-BF65-63AFFA5568A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rgbClr val="7425AD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>
            <a:off x="4223792" y="2201410"/>
            <a:ext cx="6614733" cy="4035902"/>
          </a:xfrm>
          <a:prstGeom prst="rect">
            <a:avLst/>
          </a:prstGeom>
        </p:spPr>
      </p:pic>
      <p:sp>
        <p:nvSpPr>
          <p:cNvPr id="12" name="Freeform 77">
            <a:extLst>
              <a:ext uri="{FF2B5EF4-FFF2-40B4-BE49-F238E27FC236}">
                <a16:creationId xmlns="" xmlns:a16="http://schemas.microsoft.com/office/drawing/2014/main" id="{F4EED2AA-4E4F-2082-D081-D7D6D8B33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006" y="2973728"/>
            <a:ext cx="508763" cy="506014"/>
          </a:xfrm>
          <a:custGeom>
            <a:avLst/>
            <a:gdLst>
              <a:gd name="T0" fmla="*/ 146151 w 695"/>
              <a:gd name="T1" fmla="*/ 0 h 695"/>
              <a:gd name="T2" fmla="*/ 53490 w 695"/>
              <a:gd name="T3" fmla="*/ 259028 h 695"/>
              <a:gd name="T4" fmla="*/ 292302 w 695"/>
              <a:gd name="T5" fmla="*/ 145730 h 695"/>
              <a:gd name="T6" fmla="*/ 66547 w 695"/>
              <a:gd name="T7" fmla="*/ 256922 h 695"/>
              <a:gd name="T8" fmla="*/ 86343 w 695"/>
              <a:gd name="T9" fmla="*/ 253553 h 695"/>
              <a:gd name="T10" fmla="*/ 106138 w 695"/>
              <a:gd name="T11" fmla="*/ 251447 h 695"/>
              <a:gd name="T12" fmla="*/ 145309 w 695"/>
              <a:gd name="T13" fmla="*/ 232915 h 695"/>
              <a:gd name="T14" fmla="*/ 186163 w 695"/>
              <a:gd name="T15" fmla="*/ 251026 h 695"/>
              <a:gd name="T16" fmla="*/ 206801 w 695"/>
              <a:gd name="T17" fmla="*/ 253553 h 695"/>
              <a:gd name="T18" fmla="*/ 146151 w 695"/>
              <a:gd name="T19" fmla="*/ 282193 h 695"/>
              <a:gd name="T20" fmla="*/ 200484 w 695"/>
              <a:gd name="T21" fmla="*/ 123828 h 695"/>
              <a:gd name="T22" fmla="*/ 203853 w 695"/>
              <a:gd name="T23" fmla="*/ 124249 h 695"/>
              <a:gd name="T24" fmla="*/ 204274 w 695"/>
              <a:gd name="T25" fmla="*/ 151626 h 695"/>
              <a:gd name="T26" fmla="*/ 194166 w 695"/>
              <a:gd name="T27" fmla="*/ 162577 h 695"/>
              <a:gd name="T28" fmla="*/ 95188 w 695"/>
              <a:gd name="T29" fmla="*/ 162577 h 695"/>
              <a:gd name="T30" fmla="*/ 83394 w 695"/>
              <a:gd name="T31" fmla="*/ 151626 h 695"/>
              <a:gd name="T32" fmla="*/ 84237 w 695"/>
              <a:gd name="T33" fmla="*/ 124249 h 695"/>
              <a:gd name="T34" fmla="*/ 86343 w 695"/>
              <a:gd name="T35" fmla="*/ 123828 h 695"/>
              <a:gd name="T36" fmla="*/ 91818 w 695"/>
              <a:gd name="T37" fmla="*/ 119195 h 695"/>
              <a:gd name="T38" fmla="*/ 117510 w 695"/>
              <a:gd name="T39" fmla="*/ 69495 h 695"/>
              <a:gd name="T40" fmla="*/ 169316 w 695"/>
              <a:gd name="T41" fmla="*/ 57702 h 695"/>
              <a:gd name="T42" fmla="*/ 195429 w 695"/>
              <a:gd name="T43" fmla="*/ 119195 h 695"/>
              <a:gd name="T44" fmla="*/ 235021 w 695"/>
              <a:gd name="T45" fmla="*/ 249341 h 695"/>
              <a:gd name="T46" fmla="*/ 206801 w 695"/>
              <a:gd name="T47" fmla="*/ 243444 h 695"/>
              <a:gd name="T48" fmla="*/ 177740 w 695"/>
              <a:gd name="T49" fmla="*/ 219437 h 695"/>
              <a:gd name="T50" fmla="*/ 214383 w 695"/>
              <a:gd name="T51" fmla="*/ 151626 h 695"/>
              <a:gd name="T52" fmla="*/ 210592 w 695"/>
              <a:gd name="T53" fmla="*/ 117932 h 695"/>
              <a:gd name="T54" fmla="*/ 205538 w 695"/>
              <a:gd name="T55" fmla="*/ 97294 h 695"/>
              <a:gd name="T56" fmla="*/ 119195 w 695"/>
              <a:gd name="T57" fmla="*/ 59808 h 695"/>
              <a:gd name="T58" fmla="*/ 82131 w 695"/>
              <a:gd name="T59" fmla="*/ 97294 h 695"/>
              <a:gd name="T60" fmla="*/ 77919 w 695"/>
              <a:gd name="T61" fmla="*/ 117089 h 695"/>
              <a:gd name="T62" fmla="*/ 73286 w 695"/>
              <a:gd name="T63" fmla="*/ 151626 h 695"/>
              <a:gd name="T64" fmla="*/ 114983 w 695"/>
              <a:gd name="T65" fmla="*/ 221543 h 695"/>
              <a:gd name="T66" fmla="*/ 86343 w 695"/>
              <a:gd name="T67" fmla="*/ 243444 h 695"/>
              <a:gd name="T68" fmla="*/ 9266 w 695"/>
              <a:gd name="T69" fmla="*/ 145730 h 695"/>
              <a:gd name="T70" fmla="*/ 282615 w 695"/>
              <a:gd name="T71" fmla="*/ 145730 h 695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695" h="695">
                <a:moveTo>
                  <a:pt x="347" y="0"/>
                </a:moveTo>
                <a:lnTo>
                  <a:pt x="347" y="0"/>
                </a:lnTo>
                <a:cubicBezTo>
                  <a:pt x="156" y="0"/>
                  <a:pt x="0" y="155"/>
                  <a:pt x="0" y="346"/>
                </a:cubicBezTo>
                <a:cubicBezTo>
                  <a:pt x="0" y="450"/>
                  <a:pt x="45" y="548"/>
                  <a:pt x="127" y="615"/>
                </a:cubicBezTo>
                <a:cubicBezTo>
                  <a:pt x="188" y="666"/>
                  <a:pt x="266" y="694"/>
                  <a:pt x="347" y="694"/>
                </a:cubicBezTo>
                <a:cubicBezTo>
                  <a:pt x="538" y="694"/>
                  <a:pt x="694" y="538"/>
                  <a:pt x="694" y="346"/>
                </a:cubicBezTo>
                <a:cubicBezTo>
                  <a:pt x="694" y="155"/>
                  <a:pt x="538" y="0"/>
                  <a:pt x="347" y="0"/>
                </a:cubicBezTo>
                <a:close/>
                <a:moveTo>
                  <a:pt x="158" y="610"/>
                </a:moveTo>
                <a:lnTo>
                  <a:pt x="158" y="610"/>
                </a:lnTo>
                <a:cubicBezTo>
                  <a:pt x="171" y="606"/>
                  <a:pt x="187" y="602"/>
                  <a:pt x="205" y="602"/>
                </a:cubicBezTo>
                <a:cubicBezTo>
                  <a:pt x="243" y="602"/>
                  <a:pt x="243" y="602"/>
                  <a:pt x="243" y="602"/>
                </a:cubicBezTo>
                <a:cubicBezTo>
                  <a:pt x="246" y="602"/>
                  <a:pt x="250" y="600"/>
                  <a:pt x="252" y="597"/>
                </a:cubicBezTo>
                <a:cubicBezTo>
                  <a:pt x="293" y="539"/>
                  <a:pt x="293" y="539"/>
                  <a:pt x="293" y="539"/>
                </a:cubicBezTo>
                <a:cubicBezTo>
                  <a:pt x="309" y="548"/>
                  <a:pt x="326" y="553"/>
                  <a:pt x="345" y="553"/>
                </a:cubicBezTo>
                <a:cubicBezTo>
                  <a:pt x="366" y="553"/>
                  <a:pt x="386" y="546"/>
                  <a:pt x="403" y="535"/>
                </a:cubicBezTo>
                <a:cubicBezTo>
                  <a:pt x="442" y="596"/>
                  <a:pt x="442" y="596"/>
                  <a:pt x="442" y="596"/>
                </a:cubicBezTo>
                <a:cubicBezTo>
                  <a:pt x="444" y="600"/>
                  <a:pt x="448" y="602"/>
                  <a:pt x="452" y="602"/>
                </a:cubicBezTo>
                <a:cubicBezTo>
                  <a:pt x="491" y="602"/>
                  <a:pt x="491" y="602"/>
                  <a:pt x="491" y="602"/>
                </a:cubicBezTo>
                <a:cubicBezTo>
                  <a:pt x="509" y="602"/>
                  <a:pt x="523" y="604"/>
                  <a:pt x="537" y="609"/>
                </a:cubicBezTo>
                <a:cubicBezTo>
                  <a:pt x="483" y="647"/>
                  <a:pt x="418" y="670"/>
                  <a:pt x="347" y="670"/>
                </a:cubicBezTo>
                <a:cubicBezTo>
                  <a:pt x="279" y="670"/>
                  <a:pt x="213" y="648"/>
                  <a:pt x="158" y="610"/>
                </a:cubicBezTo>
                <a:close/>
                <a:moveTo>
                  <a:pt x="476" y="294"/>
                </a:moveTo>
                <a:lnTo>
                  <a:pt x="476" y="294"/>
                </a:lnTo>
                <a:cubicBezTo>
                  <a:pt x="483" y="294"/>
                  <a:pt x="484" y="295"/>
                  <a:pt x="484" y="295"/>
                </a:cubicBezTo>
                <a:cubicBezTo>
                  <a:pt x="485" y="297"/>
                  <a:pt x="485" y="303"/>
                  <a:pt x="485" y="309"/>
                </a:cubicBezTo>
                <a:cubicBezTo>
                  <a:pt x="485" y="360"/>
                  <a:pt x="485" y="360"/>
                  <a:pt x="485" y="360"/>
                </a:cubicBezTo>
                <a:cubicBezTo>
                  <a:pt x="485" y="367"/>
                  <a:pt x="482" y="374"/>
                  <a:pt x="472" y="374"/>
                </a:cubicBezTo>
                <a:cubicBezTo>
                  <a:pt x="466" y="374"/>
                  <a:pt x="461" y="380"/>
                  <a:pt x="461" y="386"/>
                </a:cubicBezTo>
                <a:cubicBezTo>
                  <a:pt x="461" y="451"/>
                  <a:pt x="410" y="530"/>
                  <a:pt x="345" y="530"/>
                </a:cubicBezTo>
                <a:cubicBezTo>
                  <a:pt x="281" y="530"/>
                  <a:pt x="226" y="450"/>
                  <a:pt x="226" y="386"/>
                </a:cubicBezTo>
                <a:cubicBezTo>
                  <a:pt x="226" y="380"/>
                  <a:pt x="221" y="374"/>
                  <a:pt x="215" y="374"/>
                </a:cubicBezTo>
                <a:cubicBezTo>
                  <a:pt x="206" y="374"/>
                  <a:pt x="198" y="367"/>
                  <a:pt x="198" y="360"/>
                </a:cubicBezTo>
                <a:cubicBezTo>
                  <a:pt x="198" y="308"/>
                  <a:pt x="198" y="308"/>
                  <a:pt x="198" y="308"/>
                </a:cubicBezTo>
                <a:cubicBezTo>
                  <a:pt x="197" y="298"/>
                  <a:pt x="199" y="296"/>
                  <a:pt x="200" y="295"/>
                </a:cubicBezTo>
                <a:cubicBezTo>
                  <a:pt x="201" y="294"/>
                  <a:pt x="203" y="294"/>
                  <a:pt x="204" y="294"/>
                </a:cubicBezTo>
                <a:cubicBezTo>
                  <a:pt x="205" y="294"/>
                  <a:pt x="205" y="294"/>
                  <a:pt x="205" y="294"/>
                </a:cubicBezTo>
                <a:cubicBezTo>
                  <a:pt x="208" y="295"/>
                  <a:pt x="212" y="294"/>
                  <a:pt x="214" y="292"/>
                </a:cubicBezTo>
                <a:cubicBezTo>
                  <a:pt x="217" y="289"/>
                  <a:pt x="218" y="286"/>
                  <a:pt x="218" y="283"/>
                </a:cubicBezTo>
                <a:cubicBezTo>
                  <a:pt x="218" y="231"/>
                  <a:pt x="218" y="231"/>
                  <a:pt x="218" y="231"/>
                </a:cubicBezTo>
                <a:cubicBezTo>
                  <a:pt x="218" y="193"/>
                  <a:pt x="244" y="165"/>
                  <a:pt x="279" y="165"/>
                </a:cubicBezTo>
                <a:cubicBezTo>
                  <a:pt x="284" y="166"/>
                  <a:pt x="293" y="165"/>
                  <a:pt x="299" y="157"/>
                </a:cubicBezTo>
                <a:cubicBezTo>
                  <a:pt x="313" y="137"/>
                  <a:pt x="362" y="124"/>
                  <a:pt x="402" y="137"/>
                </a:cubicBezTo>
                <a:cubicBezTo>
                  <a:pt x="431" y="145"/>
                  <a:pt x="463" y="169"/>
                  <a:pt x="464" y="231"/>
                </a:cubicBezTo>
                <a:cubicBezTo>
                  <a:pt x="464" y="283"/>
                  <a:pt x="464" y="283"/>
                  <a:pt x="464" y="283"/>
                </a:cubicBezTo>
                <a:cubicBezTo>
                  <a:pt x="464" y="289"/>
                  <a:pt x="469" y="294"/>
                  <a:pt x="476" y="294"/>
                </a:cubicBezTo>
                <a:close/>
                <a:moveTo>
                  <a:pt x="558" y="592"/>
                </a:moveTo>
                <a:lnTo>
                  <a:pt x="558" y="592"/>
                </a:lnTo>
                <a:cubicBezTo>
                  <a:pt x="538" y="583"/>
                  <a:pt x="518" y="578"/>
                  <a:pt x="491" y="578"/>
                </a:cubicBezTo>
                <a:cubicBezTo>
                  <a:pt x="459" y="578"/>
                  <a:pt x="459" y="578"/>
                  <a:pt x="459" y="578"/>
                </a:cubicBezTo>
                <a:cubicBezTo>
                  <a:pt x="422" y="521"/>
                  <a:pt x="422" y="521"/>
                  <a:pt x="422" y="521"/>
                </a:cubicBezTo>
                <a:cubicBezTo>
                  <a:pt x="458" y="491"/>
                  <a:pt x="481" y="442"/>
                  <a:pt x="484" y="396"/>
                </a:cubicBezTo>
                <a:cubicBezTo>
                  <a:pt x="498" y="391"/>
                  <a:pt x="509" y="378"/>
                  <a:pt x="509" y="360"/>
                </a:cubicBezTo>
                <a:cubicBezTo>
                  <a:pt x="509" y="307"/>
                  <a:pt x="509" y="307"/>
                  <a:pt x="509" y="307"/>
                </a:cubicBezTo>
                <a:cubicBezTo>
                  <a:pt x="509" y="297"/>
                  <a:pt x="509" y="287"/>
                  <a:pt x="500" y="280"/>
                </a:cubicBezTo>
                <a:cubicBezTo>
                  <a:pt x="497" y="276"/>
                  <a:pt x="493" y="273"/>
                  <a:pt x="488" y="272"/>
                </a:cubicBezTo>
                <a:cubicBezTo>
                  <a:pt x="488" y="231"/>
                  <a:pt x="488" y="231"/>
                  <a:pt x="488" y="231"/>
                </a:cubicBezTo>
                <a:cubicBezTo>
                  <a:pt x="487" y="151"/>
                  <a:pt x="438" y="124"/>
                  <a:pt x="410" y="114"/>
                </a:cubicBezTo>
                <a:cubicBezTo>
                  <a:pt x="363" y="100"/>
                  <a:pt x="301" y="113"/>
                  <a:pt x="283" y="142"/>
                </a:cubicBezTo>
                <a:cubicBezTo>
                  <a:pt x="282" y="142"/>
                  <a:pt x="281" y="142"/>
                  <a:pt x="280" y="142"/>
                </a:cubicBezTo>
                <a:cubicBezTo>
                  <a:pt x="232" y="142"/>
                  <a:pt x="195" y="180"/>
                  <a:pt x="195" y="231"/>
                </a:cubicBezTo>
                <a:cubicBezTo>
                  <a:pt x="195" y="272"/>
                  <a:pt x="195" y="272"/>
                  <a:pt x="195" y="272"/>
                </a:cubicBezTo>
                <a:cubicBezTo>
                  <a:pt x="192" y="273"/>
                  <a:pt x="188" y="274"/>
                  <a:pt x="185" y="278"/>
                </a:cubicBezTo>
                <a:cubicBezTo>
                  <a:pt x="176" y="285"/>
                  <a:pt x="173" y="295"/>
                  <a:pt x="174" y="309"/>
                </a:cubicBezTo>
                <a:cubicBezTo>
                  <a:pt x="174" y="360"/>
                  <a:pt x="174" y="360"/>
                  <a:pt x="174" y="360"/>
                </a:cubicBezTo>
                <a:cubicBezTo>
                  <a:pt x="174" y="377"/>
                  <a:pt x="187" y="391"/>
                  <a:pt x="204" y="396"/>
                </a:cubicBezTo>
                <a:cubicBezTo>
                  <a:pt x="207" y="444"/>
                  <a:pt x="234" y="495"/>
                  <a:pt x="273" y="526"/>
                </a:cubicBezTo>
                <a:cubicBezTo>
                  <a:pt x="237" y="578"/>
                  <a:pt x="237" y="578"/>
                  <a:pt x="237" y="578"/>
                </a:cubicBezTo>
                <a:cubicBezTo>
                  <a:pt x="205" y="578"/>
                  <a:pt x="205" y="578"/>
                  <a:pt x="205" y="578"/>
                </a:cubicBezTo>
                <a:cubicBezTo>
                  <a:pt x="179" y="578"/>
                  <a:pt x="156" y="584"/>
                  <a:pt x="136" y="592"/>
                </a:cubicBezTo>
                <a:cubicBezTo>
                  <a:pt x="64" y="531"/>
                  <a:pt x="22" y="441"/>
                  <a:pt x="22" y="346"/>
                </a:cubicBezTo>
                <a:cubicBezTo>
                  <a:pt x="22" y="167"/>
                  <a:pt x="168" y="23"/>
                  <a:pt x="347" y="23"/>
                </a:cubicBezTo>
                <a:cubicBezTo>
                  <a:pt x="525" y="23"/>
                  <a:pt x="671" y="167"/>
                  <a:pt x="671" y="346"/>
                </a:cubicBezTo>
                <a:cubicBezTo>
                  <a:pt x="671" y="444"/>
                  <a:pt x="626" y="532"/>
                  <a:pt x="558" y="592"/>
                </a:cubicBezTo>
                <a:close/>
              </a:path>
            </a:pathLst>
          </a:custGeom>
          <a:solidFill>
            <a:srgbClr val="0078EF">
              <a:alpha val="80000"/>
            </a:srgbClr>
          </a:solidFill>
          <a:ln>
            <a:noFill/>
          </a:ln>
        </p:spPr>
        <p:txBody>
          <a:bodyPr wrap="none" anchor="ctr"/>
          <a:lstStyle/>
          <a:p>
            <a:pPr latinLnBrk="0"/>
            <a:endParaRPr lang="en-US" sz="1688">
              <a:solidFill>
                <a:srgbClr val="212E35"/>
              </a:solidFill>
              <a:latin typeface="Calibri"/>
            </a:endParaRPr>
          </a:p>
        </p:txBody>
      </p:sp>
      <p:sp>
        <p:nvSpPr>
          <p:cNvPr id="13" name="Freeform 128">
            <a:extLst>
              <a:ext uri="{FF2B5EF4-FFF2-40B4-BE49-F238E27FC236}">
                <a16:creationId xmlns="" xmlns:a16="http://schemas.microsoft.com/office/drawing/2014/main" id="{023543E9-F218-D20D-FA98-70335AE982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7246" y="2295665"/>
            <a:ext cx="520282" cy="520282"/>
          </a:xfrm>
          <a:custGeom>
            <a:avLst/>
            <a:gdLst>
              <a:gd name="T0" fmla="*/ 145941 w 696"/>
              <a:gd name="T1" fmla="*/ 0 h 695"/>
              <a:gd name="T2" fmla="*/ 145941 w 696"/>
              <a:gd name="T3" fmla="*/ 0 h 695"/>
              <a:gd name="T4" fmla="*/ 0 w 696"/>
              <a:gd name="T5" fmla="*/ 145730 h 695"/>
              <a:gd name="T6" fmla="*/ 145941 w 696"/>
              <a:gd name="T7" fmla="*/ 292302 h 695"/>
              <a:gd name="T8" fmla="*/ 292302 w 696"/>
              <a:gd name="T9" fmla="*/ 145730 h 695"/>
              <a:gd name="T10" fmla="*/ 145941 w 696"/>
              <a:gd name="T11" fmla="*/ 0 h 695"/>
              <a:gd name="T12" fmla="*/ 145941 w 696"/>
              <a:gd name="T13" fmla="*/ 282193 h 695"/>
              <a:gd name="T14" fmla="*/ 145941 w 696"/>
              <a:gd name="T15" fmla="*/ 282193 h 695"/>
              <a:gd name="T16" fmla="*/ 67293 w 696"/>
              <a:gd name="T17" fmla="*/ 256922 h 695"/>
              <a:gd name="T18" fmla="*/ 112715 w 696"/>
              <a:gd name="T19" fmla="*/ 242181 h 695"/>
              <a:gd name="T20" fmla="*/ 117762 w 696"/>
              <a:gd name="T21" fmla="*/ 238811 h 695"/>
              <a:gd name="T22" fmla="*/ 128277 w 696"/>
              <a:gd name="T23" fmla="*/ 207644 h 695"/>
              <a:gd name="T24" fmla="*/ 145941 w 696"/>
              <a:gd name="T25" fmla="*/ 208907 h 695"/>
              <a:gd name="T26" fmla="*/ 164026 w 696"/>
              <a:gd name="T27" fmla="*/ 207644 h 695"/>
              <a:gd name="T28" fmla="*/ 174540 w 696"/>
              <a:gd name="T29" fmla="*/ 238811 h 695"/>
              <a:gd name="T30" fmla="*/ 179167 w 696"/>
              <a:gd name="T31" fmla="*/ 242181 h 695"/>
              <a:gd name="T32" fmla="*/ 225010 w 696"/>
              <a:gd name="T33" fmla="*/ 256922 h 695"/>
              <a:gd name="T34" fmla="*/ 145941 w 696"/>
              <a:gd name="T35" fmla="*/ 282193 h 695"/>
              <a:gd name="T36" fmla="*/ 63087 w 696"/>
              <a:gd name="T37" fmla="*/ 160050 h 695"/>
              <a:gd name="T38" fmla="*/ 63087 w 696"/>
              <a:gd name="T39" fmla="*/ 160050 h 695"/>
              <a:gd name="T40" fmla="*/ 84536 w 696"/>
              <a:gd name="T41" fmla="*/ 117089 h 695"/>
              <a:gd name="T42" fmla="*/ 145941 w 696"/>
              <a:gd name="T43" fmla="*/ 54333 h 695"/>
              <a:gd name="T44" fmla="*/ 207345 w 696"/>
              <a:gd name="T45" fmla="*/ 117089 h 695"/>
              <a:gd name="T46" fmla="*/ 228795 w 696"/>
              <a:gd name="T47" fmla="*/ 160050 h 695"/>
              <a:gd name="T48" fmla="*/ 145941 w 696"/>
              <a:gd name="T49" fmla="*/ 199220 h 695"/>
              <a:gd name="T50" fmla="*/ 63087 w 696"/>
              <a:gd name="T51" fmla="*/ 160050 h 695"/>
              <a:gd name="T52" fmla="*/ 233001 w 696"/>
              <a:gd name="T53" fmla="*/ 250183 h 695"/>
              <a:gd name="T54" fmla="*/ 233001 w 696"/>
              <a:gd name="T55" fmla="*/ 250183 h 695"/>
              <a:gd name="T56" fmla="*/ 182952 w 696"/>
              <a:gd name="T57" fmla="*/ 232072 h 695"/>
              <a:gd name="T58" fmla="*/ 174120 w 696"/>
              <a:gd name="T59" fmla="*/ 206380 h 695"/>
              <a:gd name="T60" fmla="*/ 238889 w 696"/>
              <a:gd name="T61" fmla="*/ 162156 h 695"/>
              <a:gd name="T62" fmla="*/ 238468 w 696"/>
              <a:gd name="T63" fmla="*/ 157102 h 695"/>
              <a:gd name="T64" fmla="*/ 217019 w 696"/>
              <a:gd name="T65" fmla="*/ 114562 h 695"/>
              <a:gd name="T66" fmla="*/ 145941 w 696"/>
              <a:gd name="T67" fmla="*/ 44646 h 695"/>
              <a:gd name="T68" fmla="*/ 75284 w 696"/>
              <a:gd name="T69" fmla="*/ 114562 h 695"/>
              <a:gd name="T70" fmla="*/ 53834 w 696"/>
              <a:gd name="T71" fmla="*/ 157102 h 695"/>
              <a:gd name="T72" fmla="*/ 53414 w 696"/>
              <a:gd name="T73" fmla="*/ 162156 h 695"/>
              <a:gd name="T74" fmla="*/ 118183 w 696"/>
              <a:gd name="T75" fmla="*/ 206380 h 695"/>
              <a:gd name="T76" fmla="*/ 109351 w 696"/>
              <a:gd name="T77" fmla="*/ 232072 h 695"/>
              <a:gd name="T78" fmla="*/ 58460 w 696"/>
              <a:gd name="T79" fmla="*/ 250183 h 695"/>
              <a:gd name="T80" fmla="*/ 9673 w 696"/>
              <a:gd name="T81" fmla="*/ 145730 h 695"/>
              <a:gd name="T82" fmla="*/ 145941 w 696"/>
              <a:gd name="T83" fmla="*/ 9687 h 695"/>
              <a:gd name="T84" fmla="*/ 282209 w 696"/>
              <a:gd name="T85" fmla="*/ 145730 h 695"/>
              <a:gd name="T86" fmla="*/ 233001 w 696"/>
              <a:gd name="T87" fmla="*/ 250183 h 695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696" h="695">
                <a:moveTo>
                  <a:pt x="347" y="0"/>
                </a:moveTo>
                <a:lnTo>
                  <a:pt x="347" y="0"/>
                </a:lnTo>
                <a:cubicBezTo>
                  <a:pt x="156" y="0"/>
                  <a:pt x="0" y="155"/>
                  <a:pt x="0" y="346"/>
                </a:cubicBezTo>
                <a:cubicBezTo>
                  <a:pt x="0" y="538"/>
                  <a:pt x="156" y="694"/>
                  <a:pt x="347" y="694"/>
                </a:cubicBezTo>
                <a:cubicBezTo>
                  <a:pt x="539" y="694"/>
                  <a:pt x="695" y="538"/>
                  <a:pt x="695" y="346"/>
                </a:cubicBezTo>
                <a:cubicBezTo>
                  <a:pt x="695" y="155"/>
                  <a:pt x="539" y="0"/>
                  <a:pt x="347" y="0"/>
                </a:cubicBezTo>
                <a:close/>
                <a:moveTo>
                  <a:pt x="347" y="670"/>
                </a:moveTo>
                <a:lnTo>
                  <a:pt x="347" y="670"/>
                </a:lnTo>
                <a:cubicBezTo>
                  <a:pt x="278" y="670"/>
                  <a:pt x="213" y="647"/>
                  <a:pt x="160" y="610"/>
                </a:cubicBezTo>
                <a:cubicBezTo>
                  <a:pt x="193" y="589"/>
                  <a:pt x="235" y="575"/>
                  <a:pt x="268" y="575"/>
                </a:cubicBezTo>
                <a:cubicBezTo>
                  <a:pt x="273" y="575"/>
                  <a:pt x="278" y="571"/>
                  <a:pt x="280" y="567"/>
                </a:cubicBezTo>
                <a:cubicBezTo>
                  <a:pt x="305" y="493"/>
                  <a:pt x="305" y="493"/>
                  <a:pt x="305" y="493"/>
                </a:cubicBezTo>
                <a:cubicBezTo>
                  <a:pt x="317" y="495"/>
                  <a:pt x="332" y="496"/>
                  <a:pt x="347" y="496"/>
                </a:cubicBezTo>
                <a:cubicBezTo>
                  <a:pt x="363" y="496"/>
                  <a:pt x="376" y="495"/>
                  <a:pt x="390" y="493"/>
                </a:cubicBezTo>
                <a:cubicBezTo>
                  <a:pt x="415" y="567"/>
                  <a:pt x="415" y="567"/>
                  <a:pt x="415" y="567"/>
                </a:cubicBezTo>
                <a:cubicBezTo>
                  <a:pt x="416" y="571"/>
                  <a:pt x="421" y="575"/>
                  <a:pt x="426" y="575"/>
                </a:cubicBezTo>
                <a:cubicBezTo>
                  <a:pt x="460" y="575"/>
                  <a:pt x="501" y="589"/>
                  <a:pt x="535" y="610"/>
                </a:cubicBezTo>
                <a:cubicBezTo>
                  <a:pt x="482" y="647"/>
                  <a:pt x="417" y="670"/>
                  <a:pt x="347" y="670"/>
                </a:cubicBezTo>
                <a:close/>
                <a:moveTo>
                  <a:pt x="150" y="380"/>
                </a:moveTo>
                <a:lnTo>
                  <a:pt x="150" y="380"/>
                </a:lnTo>
                <a:cubicBezTo>
                  <a:pt x="162" y="361"/>
                  <a:pt x="195" y="304"/>
                  <a:pt x="201" y="278"/>
                </a:cubicBezTo>
                <a:cubicBezTo>
                  <a:pt x="212" y="233"/>
                  <a:pt x="247" y="129"/>
                  <a:pt x="347" y="129"/>
                </a:cubicBezTo>
                <a:cubicBezTo>
                  <a:pt x="447" y="129"/>
                  <a:pt x="483" y="233"/>
                  <a:pt x="493" y="278"/>
                </a:cubicBezTo>
                <a:cubicBezTo>
                  <a:pt x="499" y="304"/>
                  <a:pt x="533" y="361"/>
                  <a:pt x="544" y="380"/>
                </a:cubicBezTo>
                <a:cubicBezTo>
                  <a:pt x="528" y="408"/>
                  <a:pt x="477" y="473"/>
                  <a:pt x="347" y="473"/>
                </a:cubicBezTo>
                <a:cubicBezTo>
                  <a:pt x="217" y="473"/>
                  <a:pt x="166" y="408"/>
                  <a:pt x="150" y="380"/>
                </a:cubicBezTo>
                <a:close/>
                <a:moveTo>
                  <a:pt x="554" y="594"/>
                </a:moveTo>
                <a:lnTo>
                  <a:pt x="554" y="594"/>
                </a:lnTo>
                <a:cubicBezTo>
                  <a:pt x="519" y="570"/>
                  <a:pt x="473" y="553"/>
                  <a:pt x="435" y="551"/>
                </a:cubicBezTo>
                <a:cubicBezTo>
                  <a:pt x="414" y="490"/>
                  <a:pt x="414" y="490"/>
                  <a:pt x="414" y="490"/>
                </a:cubicBezTo>
                <a:cubicBezTo>
                  <a:pt x="516" y="470"/>
                  <a:pt x="556" y="407"/>
                  <a:pt x="568" y="385"/>
                </a:cubicBezTo>
                <a:cubicBezTo>
                  <a:pt x="569" y="382"/>
                  <a:pt x="569" y="377"/>
                  <a:pt x="567" y="373"/>
                </a:cubicBezTo>
                <a:cubicBezTo>
                  <a:pt x="554" y="353"/>
                  <a:pt x="521" y="294"/>
                  <a:pt x="516" y="272"/>
                </a:cubicBezTo>
                <a:cubicBezTo>
                  <a:pt x="491" y="166"/>
                  <a:pt x="429" y="106"/>
                  <a:pt x="347" y="106"/>
                </a:cubicBezTo>
                <a:cubicBezTo>
                  <a:pt x="265" y="106"/>
                  <a:pt x="204" y="166"/>
                  <a:pt x="179" y="272"/>
                </a:cubicBezTo>
                <a:cubicBezTo>
                  <a:pt x="173" y="294"/>
                  <a:pt x="140" y="353"/>
                  <a:pt x="128" y="373"/>
                </a:cubicBezTo>
                <a:cubicBezTo>
                  <a:pt x="125" y="377"/>
                  <a:pt x="125" y="382"/>
                  <a:pt x="127" y="385"/>
                </a:cubicBezTo>
                <a:cubicBezTo>
                  <a:pt x="138" y="407"/>
                  <a:pt x="179" y="470"/>
                  <a:pt x="281" y="490"/>
                </a:cubicBezTo>
                <a:cubicBezTo>
                  <a:pt x="260" y="551"/>
                  <a:pt x="260" y="551"/>
                  <a:pt x="260" y="551"/>
                </a:cubicBezTo>
                <a:cubicBezTo>
                  <a:pt x="221" y="553"/>
                  <a:pt x="175" y="570"/>
                  <a:pt x="139" y="594"/>
                </a:cubicBezTo>
                <a:cubicBezTo>
                  <a:pt x="68" y="535"/>
                  <a:pt x="23" y="446"/>
                  <a:pt x="23" y="346"/>
                </a:cubicBezTo>
                <a:cubicBezTo>
                  <a:pt x="23" y="167"/>
                  <a:pt x="168" y="23"/>
                  <a:pt x="347" y="23"/>
                </a:cubicBezTo>
                <a:cubicBezTo>
                  <a:pt x="526" y="23"/>
                  <a:pt x="671" y="167"/>
                  <a:pt x="671" y="346"/>
                </a:cubicBezTo>
                <a:cubicBezTo>
                  <a:pt x="671" y="446"/>
                  <a:pt x="626" y="535"/>
                  <a:pt x="554" y="594"/>
                </a:cubicBezTo>
                <a:close/>
              </a:path>
            </a:pathLst>
          </a:custGeom>
          <a:solidFill>
            <a:srgbClr val="0078E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latinLnBrk="0"/>
            <a:endParaRPr lang="en-US" sz="1688">
              <a:solidFill>
                <a:srgbClr val="212E35"/>
              </a:solidFill>
              <a:latin typeface="Calibri"/>
            </a:endParaRPr>
          </a:p>
        </p:txBody>
      </p:sp>
      <p:sp>
        <p:nvSpPr>
          <p:cNvPr id="14" name="Freeform 128">
            <a:extLst>
              <a:ext uri="{FF2B5EF4-FFF2-40B4-BE49-F238E27FC236}">
                <a16:creationId xmlns="" xmlns:a16="http://schemas.microsoft.com/office/drawing/2014/main" id="{80DFC78C-BFFD-6A19-7F42-34AEF5685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7246" y="3639795"/>
            <a:ext cx="520282" cy="520282"/>
          </a:xfrm>
          <a:custGeom>
            <a:avLst/>
            <a:gdLst>
              <a:gd name="T0" fmla="*/ 145941 w 696"/>
              <a:gd name="T1" fmla="*/ 0 h 695"/>
              <a:gd name="T2" fmla="*/ 145941 w 696"/>
              <a:gd name="T3" fmla="*/ 0 h 695"/>
              <a:gd name="T4" fmla="*/ 0 w 696"/>
              <a:gd name="T5" fmla="*/ 145730 h 695"/>
              <a:gd name="T6" fmla="*/ 145941 w 696"/>
              <a:gd name="T7" fmla="*/ 292302 h 695"/>
              <a:gd name="T8" fmla="*/ 292302 w 696"/>
              <a:gd name="T9" fmla="*/ 145730 h 695"/>
              <a:gd name="T10" fmla="*/ 145941 w 696"/>
              <a:gd name="T11" fmla="*/ 0 h 695"/>
              <a:gd name="T12" fmla="*/ 145941 w 696"/>
              <a:gd name="T13" fmla="*/ 282193 h 695"/>
              <a:gd name="T14" fmla="*/ 145941 w 696"/>
              <a:gd name="T15" fmla="*/ 282193 h 695"/>
              <a:gd name="T16" fmla="*/ 67293 w 696"/>
              <a:gd name="T17" fmla="*/ 256922 h 695"/>
              <a:gd name="T18" fmla="*/ 112715 w 696"/>
              <a:gd name="T19" fmla="*/ 242181 h 695"/>
              <a:gd name="T20" fmla="*/ 117762 w 696"/>
              <a:gd name="T21" fmla="*/ 238811 h 695"/>
              <a:gd name="T22" fmla="*/ 128277 w 696"/>
              <a:gd name="T23" fmla="*/ 207644 h 695"/>
              <a:gd name="T24" fmla="*/ 145941 w 696"/>
              <a:gd name="T25" fmla="*/ 208907 h 695"/>
              <a:gd name="T26" fmla="*/ 164026 w 696"/>
              <a:gd name="T27" fmla="*/ 207644 h 695"/>
              <a:gd name="T28" fmla="*/ 174540 w 696"/>
              <a:gd name="T29" fmla="*/ 238811 h 695"/>
              <a:gd name="T30" fmla="*/ 179167 w 696"/>
              <a:gd name="T31" fmla="*/ 242181 h 695"/>
              <a:gd name="T32" fmla="*/ 225010 w 696"/>
              <a:gd name="T33" fmla="*/ 256922 h 695"/>
              <a:gd name="T34" fmla="*/ 145941 w 696"/>
              <a:gd name="T35" fmla="*/ 282193 h 695"/>
              <a:gd name="T36" fmla="*/ 63087 w 696"/>
              <a:gd name="T37" fmla="*/ 160050 h 695"/>
              <a:gd name="T38" fmla="*/ 63087 w 696"/>
              <a:gd name="T39" fmla="*/ 160050 h 695"/>
              <a:gd name="T40" fmla="*/ 84536 w 696"/>
              <a:gd name="T41" fmla="*/ 117089 h 695"/>
              <a:gd name="T42" fmla="*/ 145941 w 696"/>
              <a:gd name="T43" fmla="*/ 54333 h 695"/>
              <a:gd name="T44" fmla="*/ 207345 w 696"/>
              <a:gd name="T45" fmla="*/ 117089 h 695"/>
              <a:gd name="T46" fmla="*/ 228795 w 696"/>
              <a:gd name="T47" fmla="*/ 160050 h 695"/>
              <a:gd name="T48" fmla="*/ 145941 w 696"/>
              <a:gd name="T49" fmla="*/ 199220 h 695"/>
              <a:gd name="T50" fmla="*/ 63087 w 696"/>
              <a:gd name="T51" fmla="*/ 160050 h 695"/>
              <a:gd name="T52" fmla="*/ 233001 w 696"/>
              <a:gd name="T53" fmla="*/ 250183 h 695"/>
              <a:gd name="T54" fmla="*/ 233001 w 696"/>
              <a:gd name="T55" fmla="*/ 250183 h 695"/>
              <a:gd name="T56" fmla="*/ 182952 w 696"/>
              <a:gd name="T57" fmla="*/ 232072 h 695"/>
              <a:gd name="T58" fmla="*/ 174120 w 696"/>
              <a:gd name="T59" fmla="*/ 206380 h 695"/>
              <a:gd name="T60" fmla="*/ 238889 w 696"/>
              <a:gd name="T61" fmla="*/ 162156 h 695"/>
              <a:gd name="T62" fmla="*/ 238468 w 696"/>
              <a:gd name="T63" fmla="*/ 157102 h 695"/>
              <a:gd name="T64" fmla="*/ 217019 w 696"/>
              <a:gd name="T65" fmla="*/ 114562 h 695"/>
              <a:gd name="T66" fmla="*/ 145941 w 696"/>
              <a:gd name="T67" fmla="*/ 44646 h 695"/>
              <a:gd name="T68" fmla="*/ 75284 w 696"/>
              <a:gd name="T69" fmla="*/ 114562 h 695"/>
              <a:gd name="T70" fmla="*/ 53834 w 696"/>
              <a:gd name="T71" fmla="*/ 157102 h 695"/>
              <a:gd name="T72" fmla="*/ 53414 w 696"/>
              <a:gd name="T73" fmla="*/ 162156 h 695"/>
              <a:gd name="T74" fmla="*/ 118183 w 696"/>
              <a:gd name="T75" fmla="*/ 206380 h 695"/>
              <a:gd name="T76" fmla="*/ 109351 w 696"/>
              <a:gd name="T77" fmla="*/ 232072 h 695"/>
              <a:gd name="T78" fmla="*/ 58460 w 696"/>
              <a:gd name="T79" fmla="*/ 250183 h 695"/>
              <a:gd name="T80" fmla="*/ 9673 w 696"/>
              <a:gd name="T81" fmla="*/ 145730 h 695"/>
              <a:gd name="T82" fmla="*/ 145941 w 696"/>
              <a:gd name="T83" fmla="*/ 9687 h 695"/>
              <a:gd name="T84" fmla="*/ 282209 w 696"/>
              <a:gd name="T85" fmla="*/ 145730 h 695"/>
              <a:gd name="T86" fmla="*/ 233001 w 696"/>
              <a:gd name="T87" fmla="*/ 250183 h 695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696" h="695">
                <a:moveTo>
                  <a:pt x="347" y="0"/>
                </a:moveTo>
                <a:lnTo>
                  <a:pt x="347" y="0"/>
                </a:lnTo>
                <a:cubicBezTo>
                  <a:pt x="156" y="0"/>
                  <a:pt x="0" y="155"/>
                  <a:pt x="0" y="346"/>
                </a:cubicBezTo>
                <a:cubicBezTo>
                  <a:pt x="0" y="538"/>
                  <a:pt x="156" y="694"/>
                  <a:pt x="347" y="694"/>
                </a:cubicBezTo>
                <a:cubicBezTo>
                  <a:pt x="539" y="694"/>
                  <a:pt x="695" y="538"/>
                  <a:pt x="695" y="346"/>
                </a:cubicBezTo>
                <a:cubicBezTo>
                  <a:pt x="695" y="155"/>
                  <a:pt x="539" y="0"/>
                  <a:pt x="347" y="0"/>
                </a:cubicBezTo>
                <a:close/>
                <a:moveTo>
                  <a:pt x="347" y="670"/>
                </a:moveTo>
                <a:lnTo>
                  <a:pt x="347" y="670"/>
                </a:lnTo>
                <a:cubicBezTo>
                  <a:pt x="278" y="670"/>
                  <a:pt x="213" y="647"/>
                  <a:pt x="160" y="610"/>
                </a:cubicBezTo>
                <a:cubicBezTo>
                  <a:pt x="193" y="589"/>
                  <a:pt x="235" y="575"/>
                  <a:pt x="268" y="575"/>
                </a:cubicBezTo>
                <a:cubicBezTo>
                  <a:pt x="273" y="575"/>
                  <a:pt x="278" y="571"/>
                  <a:pt x="280" y="567"/>
                </a:cubicBezTo>
                <a:cubicBezTo>
                  <a:pt x="305" y="493"/>
                  <a:pt x="305" y="493"/>
                  <a:pt x="305" y="493"/>
                </a:cubicBezTo>
                <a:cubicBezTo>
                  <a:pt x="317" y="495"/>
                  <a:pt x="332" y="496"/>
                  <a:pt x="347" y="496"/>
                </a:cubicBezTo>
                <a:cubicBezTo>
                  <a:pt x="363" y="496"/>
                  <a:pt x="376" y="495"/>
                  <a:pt x="390" y="493"/>
                </a:cubicBezTo>
                <a:cubicBezTo>
                  <a:pt x="415" y="567"/>
                  <a:pt x="415" y="567"/>
                  <a:pt x="415" y="567"/>
                </a:cubicBezTo>
                <a:cubicBezTo>
                  <a:pt x="416" y="571"/>
                  <a:pt x="421" y="575"/>
                  <a:pt x="426" y="575"/>
                </a:cubicBezTo>
                <a:cubicBezTo>
                  <a:pt x="460" y="575"/>
                  <a:pt x="501" y="589"/>
                  <a:pt x="535" y="610"/>
                </a:cubicBezTo>
                <a:cubicBezTo>
                  <a:pt x="482" y="647"/>
                  <a:pt x="417" y="670"/>
                  <a:pt x="347" y="670"/>
                </a:cubicBezTo>
                <a:close/>
                <a:moveTo>
                  <a:pt x="150" y="380"/>
                </a:moveTo>
                <a:lnTo>
                  <a:pt x="150" y="380"/>
                </a:lnTo>
                <a:cubicBezTo>
                  <a:pt x="162" y="361"/>
                  <a:pt x="195" y="304"/>
                  <a:pt x="201" y="278"/>
                </a:cubicBezTo>
                <a:cubicBezTo>
                  <a:pt x="212" y="233"/>
                  <a:pt x="247" y="129"/>
                  <a:pt x="347" y="129"/>
                </a:cubicBezTo>
                <a:cubicBezTo>
                  <a:pt x="447" y="129"/>
                  <a:pt x="483" y="233"/>
                  <a:pt x="493" y="278"/>
                </a:cubicBezTo>
                <a:cubicBezTo>
                  <a:pt x="499" y="304"/>
                  <a:pt x="533" y="361"/>
                  <a:pt x="544" y="380"/>
                </a:cubicBezTo>
                <a:cubicBezTo>
                  <a:pt x="528" y="408"/>
                  <a:pt x="477" y="473"/>
                  <a:pt x="347" y="473"/>
                </a:cubicBezTo>
                <a:cubicBezTo>
                  <a:pt x="217" y="473"/>
                  <a:pt x="166" y="408"/>
                  <a:pt x="150" y="380"/>
                </a:cubicBezTo>
                <a:close/>
                <a:moveTo>
                  <a:pt x="554" y="594"/>
                </a:moveTo>
                <a:lnTo>
                  <a:pt x="554" y="594"/>
                </a:lnTo>
                <a:cubicBezTo>
                  <a:pt x="519" y="570"/>
                  <a:pt x="473" y="553"/>
                  <a:pt x="435" y="551"/>
                </a:cubicBezTo>
                <a:cubicBezTo>
                  <a:pt x="414" y="490"/>
                  <a:pt x="414" y="490"/>
                  <a:pt x="414" y="490"/>
                </a:cubicBezTo>
                <a:cubicBezTo>
                  <a:pt x="516" y="470"/>
                  <a:pt x="556" y="407"/>
                  <a:pt x="568" y="385"/>
                </a:cubicBezTo>
                <a:cubicBezTo>
                  <a:pt x="569" y="382"/>
                  <a:pt x="569" y="377"/>
                  <a:pt x="567" y="373"/>
                </a:cubicBezTo>
                <a:cubicBezTo>
                  <a:pt x="554" y="353"/>
                  <a:pt x="521" y="294"/>
                  <a:pt x="516" y="272"/>
                </a:cubicBezTo>
                <a:cubicBezTo>
                  <a:pt x="491" y="166"/>
                  <a:pt x="429" y="106"/>
                  <a:pt x="347" y="106"/>
                </a:cubicBezTo>
                <a:cubicBezTo>
                  <a:pt x="265" y="106"/>
                  <a:pt x="204" y="166"/>
                  <a:pt x="179" y="272"/>
                </a:cubicBezTo>
                <a:cubicBezTo>
                  <a:pt x="173" y="294"/>
                  <a:pt x="140" y="353"/>
                  <a:pt x="128" y="373"/>
                </a:cubicBezTo>
                <a:cubicBezTo>
                  <a:pt x="125" y="377"/>
                  <a:pt x="125" y="382"/>
                  <a:pt x="127" y="385"/>
                </a:cubicBezTo>
                <a:cubicBezTo>
                  <a:pt x="138" y="407"/>
                  <a:pt x="179" y="470"/>
                  <a:pt x="281" y="490"/>
                </a:cubicBezTo>
                <a:cubicBezTo>
                  <a:pt x="260" y="551"/>
                  <a:pt x="260" y="551"/>
                  <a:pt x="260" y="551"/>
                </a:cubicBezTo>
                <a:cubicBezTo>
                  <a:pt x="221" y="553"/>
                  <a:pt x="175" y="570"/>
                  <a:pt x="139" y="594"/>
                </a:cubicBezTo>
                <a:cubicBezTo>
                  <a:pt x="68" y="535"/>
                  <a:pt x="23" y="446"/>
                  <a:pt x="23" y="346"/>
                </a:cubicBezTo>
                <a:cubicBezTo>
                  <a:pt x="23" y="167"/>
                  <a:pt x="168" y="23"/>
                  <a:pt x="347" y="23"/>
                </a:cubicBezTo>
                <a:cubicBezTo>
                  <a:pt x="526" y="23"/>
                  <a:pt x="671" y="167"/>
                  <a:pt x="671" y="346"/>
                </a:cubicBezTo>
                <a:cubicBezTo>
                  <a:pt x="671" y="446"/>
                  <a:pt x="626" y="535"/>
                  <a:pt x="554" y="594"/>
                </a:cubicBezTo>
                <a:close/>
              </a:path>
            </a:pathLst>
          </a:custGeom>
          <a:solidFill>
            <a:srgbClr val="0078EF">
              <a:alpha val="60000"/>
            </a:srgbClr>
          </a:solidFill>
          <a:ln>
            <a:noFill/>
          </a:ln>
        </p:spPr>
        <p:txBody>
          <a:bodyPr wrap="none" anchor="ctr"/>
          <a:lstStyle/>
          <a:p>
            <a:pPr latinLnBrk="0"/>
            <a:endParaRPr lang="en-US" sz="1688">
              <a:solidFill>
                <a:srgbClr val="212E35"/>
              </a:solidFill>
              <a:latin typeface="Calibri"/>
            </a:endParaRPr>
          </a:p>
        </p:txBody>
      </p:sp>
      <p:sp>
        <p:nvSpPr>
          <p:cNvPr id="15" name="Freeform 77">
            <a:extLst>
              <a:ext uri="{FF2B5EF4-FFF2-40B4-BE49-F238E27FC236}">
                <a16:creationId xmlns="" xmlns:a16="http://schemas.microsoft.com/office/drawing/2014/main" id="{E9F3DAB1-B67B-C6D2-50DF-4BC964582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006" y="4350284"/>
            <a:ext cx="508763" cy="506014"/>
          </a:xfrm>
          <a:custGeom>
            <a:avLst/>
            <a:gdLst>
              <a:gd name="T0" fmla="*/ 146151 w 695"/>
              <a:gd name="T1" fmla="*/ 0 h 695"/>
              <a:gd name="T2" fmla="*/ 53490 w 695"/>
              <a:gd name="T3" fmla="*/ 259028 h 695"/>
              <a:gd name="T4" fmla="*/ 292302 w 695"/>
              <a:gd name="T5" fmla="*/ 145730 h 695"/>
              <a:gd name="T6" fmla="*/ 66547 w 695"/>
              <a:gd name="T7" fmla="*/ 256922 h 695"/>
              <a:gd name="T8" fmla="*/ 86343 w 695"/>
              <a:gd name="T9" fmla="*/ 253553 h 695"/>
              <a:gd name="T10" fmla="*/ 106138 w 695"/>
              <a:gd name="T11" fmla="*/ 251447 h 695"/>
              <a:gd name="T12" fmla="*/ 145309 w 695"/>
              <a:gd name="T13" fmla="*/ 232915 h 695"/>
              <a:gd name="T14" fmla="*/ 186163 w 695"/>
              <a:gd name="T15" fmla="*/ 251026 h 695"/>
              <a:gd name="T16" fmla="*/ 206801 w 695"/>
              <a:gd name="T17" fmla="*/ 253553 h 695"/>
              <a:gd name="T18" fmla="*/ 146151 w 695"/>
              <a:gd name="T19" fmla="*/ 282193 h 695"/>
              <a:gd name="T20" fmla="*/ 200484 w 695"/>
              <a:gd name="T21" fmla="*/ 123828 h 695"/>
              <a:gd name="T22" fmla="*/ 203853 w 695"/>
              <a:gd name="T23" fmla="*/ 124249 h 695"/>
              <a:gd name="T24" fmla="*/ 204274 w 695"/>
              <a:gd name="T25" fmla="*/ 151626 h 695"/>
              <a:gd name="T26" fmla="*/ 194166 w 695"/>
              <a:gd name="T27" fmla="*/ 162577 h 695"/>
              <a:gd name="T28" fmla="*/ 95188 w 695"/>
              <a:gd name="T29" fmla="*/ 162577 h 695"/>
              <a:gd name="T30" fmla="*/ 83394 w 695"/>
              <a:gd name="T31" fmla="*/ 151626 h 695"/>
              <a:gd name="T32" fmla="*/ 84237 w 695"/>
              <a:gd name="T33" fmla="*/ 124249 h 695"/>
              <a:gd name="T34" fmla="*/ 86343 w 695"/>
              <a:gd name="T35" fmla="*/ 123828 h 695"/>
              <a:gd name="T36" fmla="*/ 91818 w 695"/>
              <a:gd name="T37" fmla="*/ 119195 h 695"/>
              <a:gd name="T38" fmla="*/ 117510 w 695"/>
              <a:gd name="T39" fmla="*/ 69495 h 695"/>
              <a:gd name="T40" fmla="*/ 169316 w 695"/>
              <a:gd name="T41" fmla="*/ 57702 h 695"/>
              <a:gd name="T42" fmla="*/ 195429 w 695"/>
              <a:gd name="T43" fmla="*/ 119195 h 695"/>
              <a:gd name="T44" fmla="*/ 235021 w 695"/>
              <a:gd name="T45" fmla="*/ 249341 h 695"/>
              <a:gd name="T46" fmla="*/ 206801 w 695"/>
              <a:gd name="T47" fmla="*/ 243444 h 695"/>
              <a:gd name="T48" fmla="*/ 177740 w 695"/>
              <a:gd name="T49" fmla="*/ 219437 h 695"/>
              <a:gd name="T50" fmla="*/ 214383 w 695"/>
              <a:gd name="T51" fmla="*/ 151626 h 695"/>
              <a:gd name="T52" fmla="*/ 210592 w 695"/>
              <a:gd name="T53" fmla="*/ 117932 h 695"/>
              <a:gd name="T54" fmla="*/ 205538 w 695"/>
              <a:gd name="T55" fmla="*/ 97294 h 695"/>
              <a:gd name="T56" fmla="*/ 119195 w 695"/>
              <a:gd name="T57" fmla="*/ 59808 h 695"/>
              <a:gd name="T58" fmla="*/ 82131 w 695"/>
              <a:gd name="T59" fmla="*/ 97294 h 695"/>
              <a:gd name="T60" fmla="*/ 77919 w 695"/>
              <a:gd name="T61" fmla="*/ 117089 h 695"/>
              <a:gd name="T62" fmla="*/ 73286 w 695"/>
              <a:gd name="T63" fmla="*/ 151626 h 695"/>
              <a:gd name="T64" fmla="*/ 114983 w 695"/>
              <a:gd name="T65" fmla="*/ 221543 h 695"/>
              <a:gd name="T66" fmla="*/ 86343 w 695"/>
              <a:gd name="T67" fmla="*/ 243444 h 695"/>
              <a:gd name="T68" fmla="*/ 9266 w 695"/>
              <a:gd name="T69" fmla="*/ 145730 h 695"/>
              <a:gd name="T70" fmla="*/ 282615 w 695"/>
              <a:gd name="T71" fmla="*/ 145730 h 695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695" h="695">
                <a:moveTo>
                  <a:pt x="347" y="0"/>
                </a:moveTo>
                <a:lnTo>
                  <a:pt x="347" y="0"/>
                </a:lnTo>
                <a:cubicBezTo>
                  <a:pt x="156" y="0"/>
                  <a:pt x="0" y="155"/>
                  <a:pt x="0" y="346"/>
                </a:cubicBezTo>
                <a:cubicBezTo>
                  <a:pt x="0" y="450"/>
                  <a:pt x="45" y="548"/>
                  <a:pt x="127" y="615"/>
                </a:cubicBezTo>
                <a:cubicBezTo>
                  <a:pt x="188" y="666"/>
                  <a:pt x="266" y="694"/>
                  <a:pt x="347" y="694"/>
                </a:cubicBezTo>
                <a:cubicBezTo>
                  <a:pt x="538" y="694"/>
                  <a:pt x="694" y="538"/>
                  <a:pt x="694" y="346"/>
                </a:cubicBezTo>
                <a:cubicBezTo>
                  <a:pt x="694" y="155"/>
                  <a:pt x="538" y="0"/>
                  <a:pt x="347" y="0"/>
                </a:cubicBezTo>
                <a:close/>
                <a:moveTo>
                  <a:pt x="158" y="610"/>
                </a:moveTo>
                <a:lnTo>
                  <a:pt x="158" y="610"/>
                </a:lnTo>
                <a:cubicBezTo>
                  <a:pt x="171" y="606"/>
                  <a:pt x="187" y="602"/>
                  <a:pt x="205" y="602"/>
                </a:cubicBezTo>
                <a:cubicBezTo>
                  <a:pt x="243" y="602"/>
                  <a:pt x="243" y="602"/>
                  <a:pt x="243" y="602"/>
                </a:cubicBezTo>
                <a:cubicBezTo>
                  <a:pt x="246" y="602"/>
                  <a:pt x="250" y="600"/>
                  <a:pt x="252" y="597"/>
                </a:cubicBezTo>
                <a:cubicBezTo>
                  <a:pt x="293" y="539"/>
                  <a:pt x="293" y="539"/>
                  <a:pt x="293" y="539"/>
                </a:cubicBezTo>
                <a:cubicBezTo>
                  <a:pt x="309" y="548"/>
                  <a:pt x="326" y="553"/>
                  <a:pt x="345" y="553"/>
                </a:cubicBezTo>
                <a:cubicBezTo>
                  <a:pt x="366" y="553"/>
                  <a:pt x="386" y="546"/>
                  <a:pt x="403" y="535"/>
                </a:cubicBezTo>
                <a:cubicBezTo>
                  <a:pt x="442" y="596"/>
                  <a:pt x="442" y="596"/>
                  <a:pt x="442" y="596"/>
                </a:cubicBezTo>
                <a:cubicBezTo>
                  <a:pt x="444" y="600"/>
                  <a:pt x="448" y="602"/>
                  <a:pt x="452" y="602"/>
                </a:cubicBezTo>
                <a:cubicBezTo>
                  <a:pt x="491" y="602"/>
                  <a:pt x="491" y="602"/>
                  <a:pt x="491" y="602"/>
                </a:cubicBezTo>
                <a:cubicBezTo>
                  <a:pt x="509" y="602"/>
                  <a:pt x="523" y="604"/>
                  <a:pt x="537" y="609"/>
                </a:cubicBezTo>
                <a:cubicBezTo>
                  <a:pt x="483" y="647"/>
                  <a:pt x="418" y="670"/>
                  <a:pt x="347" y="670"/>
                </a:cubicBezTo>
                <a:cubicBezTo>
                  <a:pt x="279" y="670"/>
                  <a:pt x="213" y="648"/>
                  <a:pt x="158" y="610"/>
                </a:cubicBezTo>
                <a:close/>
                <a:moveTo>
                  <a:pt x="476" y="294"/>
                </a:moveTo>
                <a:lnTo>
                  <a:pt x="476" y="294"/>
                </a:lnTo>
                <a:cubicBezTo>
                  <a:pt x="483" y="294"/>
                  <a:pt x="484" y="295"/>
                  <a:pt x="484" y="295"/>
                </a:cubicBezTo>
                <a:cubicBezTo>
                  <a:pt x="485" y="297"/>
                  <a:pt x="485" y="303"/>
                  <a:pt x="485" y="309"/>
                </a:cubicBezTo>
                <a:cubicBezTo>
                  <a:pt x="485" y="360"/>
                  <a:pt x="485" y="360"/>
                  <a:pt x="485" y="360"/>
                </a:cubicBezTo>
                <a:cubicBezTo>
                  <a:pt x="485" y="367"/>
                  <a:pt x="482" y="374"/>
                  <a:pt x="472" y="374"/>
                </a:cubicBezTo>
                <a:cubicBezTo>
                  <a:pt x="466" y="374"/>
                  <a:pt x="461" y="380"/>
                  <a:pt x="461" y="386"/>
                </a:cubicBezTo>
                <a:cubicBezTo>
                  <a:pt x="461" y="451"/>
                  <a:pt x="410" y="530"/>
                  <a:pt x="345" y="530"/>
                </a:cubicBezTo>
                <a:cubicBezTo>
                  <a:pt x="281" y="530"/>
                  <a:pt x="226" y="450"/>
                  <a:pt x="226" y="386"/>
                </a:cubicBezTo>
                <a:cubicBezTo>
                  <a:pt x="226" y="380"/>
                  <a:pt x="221" y="374"/>
                  <a:pt x="215" y="374"/>
                </a:cubicBezTo>
                <a:cubicBezTo>
                  <a:pt x="206" y="374"/>
                  <a:pt x="198" y="367"/>
                  <a:pt x="198" y="360"/>
                </a:cubicBezTo>
                <a:cubicBezTo>
                  <a:pt x="198" y="308"/>
                  <a:pt x="198" y="308"/>
                  <a:pt x="198" y="308"/>
                </a:cubicBezTo>
                <a:cubicBezTo>
                  <a:pt x="197" y="298"/>
                  <a:pt x="199" y="296"/>
                  <a:pt x="200" y="295"/>
                </a:cubicBezTo>
                <a:cubicBezTo>
                  <a:pt x="201" y="294"/>
                  <a:pt x="203" y="294"/>
                  <a:pt x="204" y="294"/>
                </a:cubicBezTo>
                <a:cubicBezTo>
                  <a:pt x="205" y="294"/>
                  <a:pt x="205" y="294"/>
                  <a:pt x="205" y="294"/>
                </a:cubicBezTo>
                <a:cubicBezTo>
                  <a:pt x="208" y="295"/>
                  <a:pt x="212" y="294"/>
                  <a:pt x="214" y="292"/>
                </a:cubicBezTo>
                <a:cubicBezTo>
                  <a:pt x="217" y="289"/>
                  <a:pt x="218" y="286"/>
                  <a:pt x="218" y="283"/>
                </a:cubicBezTo>
                <a:cubicBezTo>
                  <a:pt x="218" y="231"/>
                  <a:pt x="218" y="231"/>
                  <a:pt x="218" y="231"/>
                </a:cubicBezTo>
                <a:cubicBezTo>
                  <a:pt x="218" y="193"/>
                  <a:pt x="244" y="165"/>
                  <a:pt x="279" y="165"/>
                </a:cubicBezTo>
                <a:cubicBezTo>
                  <a:pt x="284" y="166"/>
                  <a:pt x="293" y="165"/>
                  <a:pt x="299" y="157"/>
                </a:cubicBezTo>
                <a:cubicBezTo>
                  <a:pt x="313" y="137"/>
                  <a:pt x="362" y="124"/>
                  <a:pt x="402" y="137"/>
                </a:cubicBezTo>
                <a:cubicBezTo>
                  <a:pt x="431" y="145"/>
                  <a:pt x="463" y="169"/>
                  <a:pt x="464" y="231"/>
                </a:cubicBezTo>
                <a:cubicBezTo>
                  <a:pt x="464" y="283"/>
                  <a:pt x="464" y="283"/>
                  <a:pt x="464" y="283"/>
                </a:cubicBezTo>
                <a:cubicBezTo>
                  <a:pt x="464" y="289"/>
                  <a:pt x="469" y="294"/>
                  <a:pt x="476" y="294"/>
                </a:cubicBezTo>
                <a:close/>
                <a:moveTo>
                  <a:pt x="558" y="592"/>
                </a:moveTo>
                <a:lnTo>
                  <a:pt x="558" y="592"/>
                </a:lnTo>
                <a:cubicBezTo>
                  <a:pt x="538" y="583"/>
                  <a:pt x="518" y="578"/>
                  <a:pt x="491" y="578"/>
                </a:cubicBezTo>
                <a:cubicBezTo>
                  <a:pt x="459" y="578"/>
                  <a:pt x="459" y="578"/>
                  <a:pt x="459" y="578"/>
                </a:cubicBezTo>
                <a:cubicBezTo>
                  <a:pt x="422" y="521"/>
                  <a:pt x="422" y="521"/>
                  <a:pt x="422" y="521"/>
                </a:cubicBezTo>
                <a:cubicBezTo>
                  <a:pt x="458" y="491"/>
                  <a:pt x="481" y="442"/>
                  <a:pt x="484" y="396"/>
                </a:cubicBezTo>
                <a:cubicBezTo>
                  <a:pt x="498" y="391"/>
                  <a:pt x="509" y="378"/>
                  <a:pt x="509" y="360"/>
                </a:cubicBezTo>
                <a:cubicBezTo>
                  <a:pt x="509" y="307"/>
                  <a:pt x="509" y="307"/>
                  <a:pt x="509" y="307"/>
                </a:cubicBezTo>
                <a:cubicBezTo>
                  <a:pt x="509" y="297"/>
                  <a:pt x="509" y="287"/>
                  <a:pt x="500" y="280"/>
                </a:cubicBezTo>
                <a:cubicBezTo>
                  <a:pt x="497" y="276"/>
                  <a:pt x="493" y="273"/>
                  <a:pt x="488" y="272"/>
                </a:cubicBezTo>
                <a:cubicBezTo>
                  <a:pt x="488" y="231"/>
                  <a:pt x="488" y="231"/>
                  <a:pt x="488" y="231"/>
                </a:cubicBezTo>
                <a:cubicBezTo>
                  <a:pt x="487" y="151"/>
                  <a:pt x="438" y="124"/>
                  <a:pt x="410" y="114"/>
                </a:cubicBezTo>
                <a:cubicBezTo>
                  <a:pt x="363" y="100"/>
                  <a:pt x="301" y="113"/>
                  <a:pt x="283" y="142"/>
                </a:cubicBezTo>
                <a:cubicBezTo>
                  <a:pt x="282" y="142"/>
                  <a:pt x="281" y="142"/>
                  <a:pt x="280" y="142"/>
                </a:cubicBezTo>
                <a:cubicBezTo>
                  <a:pt x="232" y="142"/>
                  <a:pt x="195" y="180"/>
                  <a:pt x="195" y="231"/>
                </a:cubicBezTo>
                <a:cubicBezTo>
                  <a:pt x="195" y="272"/>
                  <a:pt x="195" y="272"/>
                  <a:pt x="195" y="272"/>
                </a:cubicBezTo>
                <a:cubicBezTo>
                  <a:pt x="192" y="273"/>
                  <a:pt x="188" y="274"/>
                  <a:pt x="185" y="278"/>
                </a:cubicBezTo>
                <a:cubicBezTo>
                  <a:pt x="176" y="285"/>
                  <a:pt x="173" y="295"/>
                  <a:pt x="174" y="309"/>
                </a:cubicBezTo>
                <a:cubicBezTo>
                  <a:pt x="174" y="360"/>
                  <a:pt x="174" y="360"/>
                  <a:pt x="174" y="360"/>
                </a:cubicBezTo>
                <a:cubicBezTo>
                  <a:pt x="174" y="377"/>
                  <a:pt x="187" y="391"/>
                  <a:pt x="204" y="396"/>
                </a:cubicBezTo>
                <a:cubicBezTo>
                  <a:pt x="207" y="444"/>
                  <a:pt x="234" y="495"/>
                  <a:pt x="273" y="526"/>
                </a:cubicBezTo>
                <a:cubicBezTo>
                  <a:pt x="237" y="578"/>
                  <a:pt x="237" y="578"/>
                  <a:pt x="237" y="578"/>
                </a:cubicBezTo>
                <a:cubicBezTo>
                  <a:pt x="205" y="578"/>
                  <a:pt x="205" y="578"/>
                  <a:pt x="205" y="578"/>
                </a:cubicBezTo>
                <a:cubicBezTo>
                  <a:pt x="179" y="578"/>
                  <a:pt x="156" y="584"/>
                  <a:pt x="136" y="592"/>
                </a:cubicBezTo>
                <a:cubicBezTo>
                  <a:pt x="64" y="531"/>
                  <a:pt x="22" y="441"/>
                  <a:pt x="22" y="346"/>
                </a:cubicBezTo>
                <a:cubicBezTo>
                  <a:pt x="22" y="167"/>
                  <a:pt x="168" y="23"/>
                  <a:pt x="347" y="23"/>
                </a:cubicBezTo>
                <a:cubicBezTo>
                  <a:pt x="525" y="23"/>
                  <a:pt x="671" y="167"/>
                  <a:pt x="671" y="346"/>
                </a:cubicBezTo>
                <a:cubicBezTo>
                  <a:pt x="671" y="444"/>
                  <a:pt x="626" y="532"/>
                  <a:pt x="558" y="592"/>
                </a:cubicBezTo>
                <a:close/>
              </a:path>
            </a:pathLst>
          </a:custGeom>
          <a:solidFill>
            <a:srgbClr val="0078EF">
              <a:alpha val="40000"/>
            </a:srgbClr>
          </a:solidFill>
          <a:ln>
            <a:noFill/>
          </a:ln>
        </p:spPr>
        <p:txBody>
          <a:bodyPr wrap="none" anchor="ctr"/>
          <a:lstStyle/>
          <a:p>
            <a:pPr latinLnBrk="0"/>
            <a:endParaRPr lang="en-US" sz="1688">
              <a:solidFill>
                <a:srgbClr val="212E35"/>
              </a:solidFill>
              <a:latin typeface="Calibri"/>
            </a:endParaRPr>
          </a:p>
        </p:txBody>
      </p:sp>
      <p:sp>
        <p:nvSpPr>
          <p:cNvPr id="16" name="Freeform 128">
            <a:extLst>
              <a:ext uri="{FF2B5EF4-FFF2-40B4-BE49-F238E27FC236}">
                <a16:creationId xmlns="" xmlns:a16="http://schemas.microsoft.com/office/drawing/2014/main" id="{7F08054A-E3B8-414A-4FF5-07E052B23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7246" y="4996950"/>
            <a:ext cx="520282" cy="520282"/>
          </a:xfrm>
          <a:custGeom>
            <a:avLst/>
            <a:gdLst>
              <a:gd name="T0" fmla="*/ 145941 w 696"/>
              <a:gd name="T1" fmla="*/ 0 h 695"/>
              <a:gd name="T2" fmla="*/ 145941 w 696"/>
              <a:gd name="T3" fmla="*/ 0 h 695"/>
              <a:gd name="T4" fmla="*/ 0 w 696"/>
              <a:gd name="T5" fmla="*/ 145730 h 695"/>
              <a:gd name="T6" fmla="*/ 145941 w 696"/>
              <a:gd name="T7" fmla="*/ 292302 h 695"/>
              <a:gd name="T8" fmla="*/ 292302 w 696"/>
              <a:gd name="T9" fmla="*/ 145730 h 695"/>
              <a:gd name="T10" fmla="*/ 145941 w 696"/>
              <a:gd name="T11" fmla="*/ 0 h 695"/>
              <a:gd name="T12" fmla="*/ 145941 w 696"/>
              <a:gd name="T13" fmla="*/ 282193 h 695"/>
              <a:gd name="T14" fmla="*/ 145941 w 696"/>
              <a:gd name="T15" fmla="*/ 282193 h 695"/>
              <a:gd name="T16" fmla="*/ 67293 w 696"/>
              <a:gd name="T17" fmla="*/ 256922 h 695"/>
              <a:gd name="T18" fmla="*/ 112715 w 696"/>
              <a:gd name="T19" fmla="*/ 242181 h 695"/>
              <a:gd name="T20" fmla="*/ 117762 w 696"/>
              <a:gd name="T21" fmla="*/ 238811 h 695"/>
              <a:gd name="T22" fmla="*/ 128277 w 696"/>
              <a:gd name="T23" fmla="*/ 207644 h 695"/>
              <a:gd name="T24" fmla="*/ 145941 w 696"/>
              <a:gd name="T25" fmla="*/ 208907 h 695"/>
              <a:gd name="T26" fmla="*/ 164026 w 696"/>
              <a:gd name="T27" fmla="*/ 207644 h 695"/>
              <a:gd name="T28" fmla="*/ 174540 w 696"/>
              <a:gd name="T29" fmla="*/ 238811 h 695"/>
              <a:gd name="T30" fmla="*/ 179167 w 696"/>
              <a:gd name="T31" fmla="*/ 242181 h 695"/>
              <a:gd name="T32" fmla="*/ 225010 w 696"/>
              <a:gd name="T33" fmla="*/ 256922 h 695"/>
              <a:gd name="T34" fmla="*/ 145941 w 696"/>
              <a:gd name="T35" fmla="*/ 282193 h 695"/>
              <a:gd name="T36" fmla="*/ 63087 w 696"/>
              <a:gd name="T37" fmla="*/ 160050 h 695"/>
              <a:gd name="T38" fmla="*/ 63087 w 696"/>
              <a:gd name="T39" fmla="*/ 160050 h 695"/>
              <a:gd name="T40" fmla="*/ 84536 w 696"/>
              <a:gd name="T41" fmla="*/ 117089 h 695"/>
              <a:gd name="T42" fmla="*/ 145941 w 696"/>
              <a:gd name="T43" fmla="*/ 54333 h 695"/>
              <a:gd name="T44" fmla="*/ 207345 w 696"/>
              <a:gd name="T45" fmla="*/ 117089 h 695"/>
              <a:gd name="T46" fmla="*/ 228795 w 696"/>
              <a:gd name="T47" fmla="*/ 160050 h 695"/>
              <a:gd name="T48" fmla="*/ 145941 w 696"/>
              <a:gd name="T49" fmla="*/ 199220 h 695"/>
              <a:gd name="T50" fmla="*/ 63087 w 696"/>
              <a:gd name="T51" fmla="*/ 160050 h 695"/>
              <a:gd name="T52" fmla="*/ 233001 w 696"/>
              <a:gd name="T53" fmla="*/ 250183 h 695"/>
              <a:gd name="T54" fmla="*/ 233001 w 696"/>
              <a:gd name="T55" fmla="*/ 250183 h 695"/>
              <a:gd name="T56" fmla="*/ 182952 w 696"/>
              <a:gd name="T57" fmla="*/ 232072 h 695"/>
              <a:gd name="T58" fmla="*/ 174120 w 696"/>
              <a:gd name="T59" fmla="*/ 206380 h 695"/>
              <a:gd name="T60" fmla="*/ 238889 w 696"/>
              <a:gd name="T61" fmla="*/ 162156 h 695"/>
              <a:gd name="T62" fmla="*/ 238468 w 696"/>
              <a:gd name="T63" fmla="*/ 157102 h 695"/>
              <a:gd name="T64" fmla="*/ 217019 w 696"/>
              <a:gd name="T65" fmla="*/ 114562 h 695"/>
              <a:gd name="T66" fmla="*/ 145941 w 696"/>
              <a:gd name="T67" fmla="*/ 44646 h 695"/>
              <a:gd name="T68" fmla="*/ 75284 w 696"/>
              <a:gd name="T69" fmla="*/ 114562 h 695"/>
              <a:gd name="T70" fmla="*/ 53834 w 696"/>
              <a:gd name="T71" fmla="*/ 157102 h 695"/>
              <a:gd name="T72" fmla="*/ 53414 w 696"/>
              <a:gd name="T73" fmla="*/ 162156 h 695"/>
              <a:gd name="T74" fmla="*/ 118183 w 696"/>
              <a:gd name="T75" fmla="*/ 206380 h 695"/>
              <a:gd name="T76" fmla="*/ 109351 w 696"/>
              <a:gd name="T77" fmla="*/ 232072 h 695"/>
              <a:gd name="T78" fmla="*/ 58460 w 696"/>
              <a:gd name="T79" fmla="*/ 250183 h 695"/>
              <a:gd name="T80" fmla="*/ 9673 w 696"/>
              <a:gd name="T81" fmla="*/ 145730 h 695"/>
              <a:gd name="T82" fmla="*/ 145941 w 696"/>
              <a:gd name="T83" fmla="*/ 9687 h 695"/>
              <a:gd name="T84" fmla="*/ 282209 w 696"/>
              <a:gd name="T85" fmla="*/ 145730 h 695"/>
              <a:gd name="T86" fmla="*/ 233001 w 696"/>
              <a:gd name="T87" fmla="*/ 250183 h 695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696" h="695">
                <a:moveTo>
                  <a:pt x="347" y="0"/>
                </a:moveTo>
                <a:lnTo>
                  <a:pt x="347" y="0"/>
                </a:lnTo>
                <a:cubicBezTo>
                  <a:pt x="156" y="0"/>
                  <a:pt x="0" y="155"/>
                  <a:pt x="0" y="346"/>
                </a:cubicBezTo>
                <a:cubicBezTo>
                  <a:pt x="0" y="538"/>
                  <a:pt x="156" y="694"/>
                  <a:pt x="347" y="694"/>
                </a:cubicBezTo>
                <a:cubicBezTo>
                  <a:pt x="539" y="694"/>
                  <a:pt x="695" y="538"/>
                  <a:pt x="695" y="346"/>
                </a:cubicBezTo>
                <a:cubicBezTo>
                  <a:pt x="695" y="155"/>
                  <a:pt x="539" y="0"/>
                  <a:pt x="347" y="0"/>
                </a:cubicBezTo>
                <a:close/>
                <a:moveTo>
                  <a:pt x="347" y="670"/>
                </a:moveTo>
                <a:lnTo>
                  <a:pt x="347" y="670"/>
                </a:lnTo>
                <a:cubicBezTo>
                  <a:pt x="278" y="670"/>
                  <a:pt x="213" y="647"/>
                  <a:pt x="160" y="610"/>
                </a:cubicBezTo>
                <a:cubicBezTo>
                  <a:pt x="193" y="589"/>
                  <a:pt x="235" y="575"/>
                  <a:pt x="268" y="575"/>
                </a:cubicBezTo>
                <a:cubicBezTo>
                  <a:pt x="273" y="575"/>
                  <a:pt x="278" y="571"/>
                  <a:pt x="280" y="567"/>
                </a:cubicBezTo>
                <a:cubicBezTo>
                  <a:pt x="305" y="493"/>
                  <a:pt x="305" y="493"/>
                  <a:pt x="305" y="493"/>
                </a:cubicBezTo>
                <a:cubicBezTo>
                  <a:pt x="317" y="495"/>
                  <a:pt x="332" y="496"/>
                  <a:pt x="347" y="496"/>
                </a:cubicBezTo>
                <a:cubicBezTo>
                  <a:pt x="363" y="496"/>
                  <a:pt x="376" y="495"/>
                  <a:pt x="390" y="493"/>
                </a:cubicBezTo>
                <a:cubicBezTo>
                  <a:pt x="415" y="567"/>
                  <a:pt x="415" y="567"/>
                  <a:pt x="415" y="567"/>
                </a:cubicBezTo>
                <a:cubicBezTo>
                  <a:pt x="416" y="571"/>
                  <a:pt x="421" y="575"/>
                  <a:pt x="426" y="575"/>
                </a:cubicBezTo>
                <a:cubicBezTo>
                  <a:pt x="460" y="575"/>
                  <a:pt x="501" y="589"/>
                  <a:pt x="535" y="610"/>
                </a:cubicBezTo>
                <a:cubicBezTo>
                  <a:pt x="482" y="647"/>
                  <a:pt x="417" y="670"/>
                  <a:pt x="347" y="670"/>
                </a:cubicBezTo>
                <a:close/>
                <a:moveTo>
                  <a:pt x="150" y="380"/>
                </a:moveTo>
                <a:lnTo>
                  <a:pt x="150" y="380"/>
                </a:lnTo>
                <a:cubicBezTo>
                  <a:pt x="162" y="361"/>
                  <a:pt x="195" y="304"/>
                  <a:pt x="201" y="278"/>
                </a:cubicBezTo>
                <a:cubicBezTo>
                  <a:pt x="212" y="233"/>
                  <a:pt x="247" y="129"/>
                  <a:pt x="347" y="129"/>
                </a:cubicBezTo>
                <a:cubicBezTo>
                  <a:pt x="447" y="129"/>
                  <a:pt x="483" y="233"/>
                  <a:pt x="493" y="278"/>
                </a:cubicBezTo>
                <a:cubicBezTo>
                  <a:pt x="499" y="304"/>
                  <a:pt x="533" y="361"/>
                  <a:pt x="544" y="380"/>
                </a:cubicBezTo>
                <a:cubicBezTo>
                  <a:pt x="528" y="408"/>
                  <a:pt x="477" y="473"/>
                  <a:pt x="347" y="473"/>
                </a:cubicBezTo>
                <a:cubicBezTo>
                  <a:pt x="217" y="473"/>
                  <a:pt x="166" y="408"/>
                  <a:pt x="150" y="380"/>
                </a:cubicBezTo>
                <a:close/>
                <a:moveTo>
                  <a:pt x="554" y="594"/>
                </a:moveTo>
                <a:lnTo>
                  <a:pt x="554" y="594"/>
                </a:lnTo>
                <a:cubicBezTo>
                  <a:pt x="519" y="570"/>
                  <a:pt x="473" y="553"/>
                  <a:pt x="435" y="551"/>
                </a:cubicBezTo>
                <a:cubicBezTo>
                  <a:pt x="414" y="490"/>
                  <a:pt x="414" y="490"/>
                  <a:pt x="414" y="490"/>
                </a:cubicBezTo>
                <a:cubicBezTo>
                  <a:pt x="516" y="470"/>
                  <a:pt x="556" y="407"/>
                  <a:pt x="568" y="385"/>
                </a:cubicBezTo>
                <a:cubicBezTo>
                  <a:pt x="569" y="382"/>
                  <a:pt x="569" y="377"/>
                  <a:pt x="567" y="373"/>
                </a:cubicBezTo>
                <a:cubicBezTo>
                  <a:pt x="554" y="353"/>
                  <a:pt x="521" y="294"/>
                  <a:pt x="516" y="272"/>
                </a:cubicBezTo>
                <a:cubicBezTo>
                  <a:pt x="491" y="166"/>
                  <a:pt x="429" y="106"/>
                  <a:pt x="347" y="106"/>
                </a:cubicBezTo>
                <a:cubicBezTo>
                  <a:pt x="265" y="106"/>
                  <a:pt x="204" y="166"/>
                  <a:pt x="179" y="272"/>
                </a:cubicBezTo>
                <a:cubicBezTo>
                  <a:pt x="173" y="294"/>
                  <a:pt x="140" y="353"/>
                  <a:pt x="128" y="373"/>
                </a:cubicBezTo>
                <a:cubicBezTo>
                  <a:pt x="125" y="377"/>
                  <a:pt x="125" y="382"/>
                  <a:pt x="127" y="385"/>
                </a:cubicBezTo>
                <a:cubicBezTo>
                  <a:pt x="138" y="407"/>
                  <a:pt x="179" y="470"/>
                  <a:pt x="281" y="490"/>
                </a:cubicBezTo>
                <a:cubicBezTo>
                  <a:pt x="260" y="551"/>
                  <a:pt x="260" y="551"/>
                  <a:pt x="260" y="551"/>
                </a:cubicBezTo>
                <a:cubicBezTo>
                  <a:pt x="221" y="553"/>
                  <a:pt x="175" y="570"/>
                  <a:pt x="139" y="594"/>
                </a:cubicBezTo>
                <a:cubicBezTo>
                  <a:pt x="68" y="535"/>
                  <a:pt x="23" y="446"/>
                  <a:pt x="23" y="346"/>
                </a:cubicBezTo>
                <a:cubicBezTo>
                  <a:pt x="23" y="167"/>
                  <a:pt x="168" y="23"/>
                  <a:pt x="347" y="23"/>
                </a:cubicBezTo>
                <a:cubicBezTo>
                  <a:pt x="526" y="23"/>
                  <a:pt x="671" y="167"/>
                  <a:pt x="671" y="346"/>
                </a:cubicBezTo>
                <a:cubicBezTo>
                  <a:pt x="671" y="446"/>
                  <a:pt x="626" y="535"/>
                  <a:pt x="554" y="594"/>
                </a:cubicBezTo>
                <a:close/>
              </a:path>
            </a:pathLst>
          </a:custGeom>
          <a:solidFill>
            <a:srgbClr val="0078EF">
              <a:alpha val="20000"/>
            </a:srgbClr>
          </a:solidFill>
          <a:ln>
            <a:noFill/>
          </a:ln>
        </p:spPr>
        <p:txBody>
          <a:bodyPr wrap="none" anchor="ctr"/>
          <a:lstStyle/>
          <a:p>
            <a:pPr latinLnBrk="0"/>
            <a:endParaRPr lang="en-US" sz="1688">
              <a:solidFill>
                <a:srgbClr val="212E35"/>
              </a:solidFill>
              <a:latin typeface="Calibri"/>
            </a:endParaRPr>
          </a:p>
        </p:txBody>
      </p:sp>
      <p:sp>
        <p:nvSpPr>
          <p:cNvPr id="17" name="화살표: 왼쪽/오른쪽 16">
            <a:extLst>
              <a:ext uri="{FF2B5EF4-FFF2-40B4-BE49-F238E27FC236}">
                <a16:creationId xmlns="" xmlns:a16="http://schemas.microsoft.com/office/drawing/2014/main" id="{39D016DB-2A9A-6E9F-D14D-A448704BE137}"/>
              </a:ext>
            </a:extLst>
          </p:cNvPr>
          <p:cNvSpPr/>
          <p:nvPr/>
        </p:nvSpPr>
        <p:spPr>
          <a:xfrm>
            <a:off x="2125853" y="2677649"/>
            <a:ext cx="1809908" cy="1027970"/>
          </a:xfrm>
          <a:prstGeom prst="leftRightArrow">
            <a:avLst>
              <a:gd name="adj1" fmla="val 60498"/>
              <a:gd name="adj2" fmla="val 35645"/>
            </a:avLst>
          </a:prstGeom>
          <a:solidFill>
            <a:srgbClr val="7425A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ANSI SQL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53681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368CEBA-4386-A1AF-B175-A40105BDD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="" xmlns:a16="http://schemas.microsoft.com/office/drawing/2014/main" id="{7FC2B82A-9A22-7A41-EEE2-1441E10A7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Object</a:t>
            </a:r>
            <a:r>
              <a:rPr lang="ko-KR" altLang="en-US" dirty="0"/>
              <a:t> </a:t>
            </a:r>
            <a:r>
              <a:rPr lang="en-US" altLang="ko-KR" dirty="0"/>
              <a:t>Storage </a:t>
            </a:r>
            <a:r>
              <a:rPr lang="ko-KR" altLang="en-US" dirty="0"/>
              <a:t>연계</a:t>
            </a:r>
            <a:endParaRPr lang="ko-KR" altLang="en-US" sz="1400" dirty="0">
              <a:solidFill>
                <a:srgbClr val="0083CE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="" xmlns:a16="http://schemas.microsoft.com/office/drawing/2014/main" id="{2A5A9BE6-3469-25C5-BBF1-BA870A2039C3}"/>
              </a:ext>
            </a:extLst>
          </p:cNvPr>
          <p:cNvSpPr/>
          <p:nvPr/>
        </p:nvSpPr>
        <p:spPr>
          <a:xfrm>
            <a:off x="715639" y="1387082"/>
            <a:ext cx="10891643" cy="9316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추가적인 장비나 별도의 솔루션 설치 없이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Object Storage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에 저장된 데이터를 직접 분석할 수 있으며</a:t>
            </a:r>
          </a:p>
          <a:p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버티카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데이터를 다양한 오픈 포맷으로 추출할 수 있어 타 시스템과 유연한 데이터 연계 지원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2E4912A3-A3C7-C29B-6344-1024D8FA1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83247" y="6348888"/>
            <a:ext cx="278505" cy="301756"/>
          </a:xfrm>
        </p:spPr>
        <p:txBody>
          <a:bodyPr/>
          <a:lstStyle/>
          <a:p>
            <a:fld id="{AFA02C0B-84B5-4CD2-A6CE-C6BD7D6F9045}" type="slidenum">
              <a:rPr lang="ko-KR" altLang="en-US" smtClean="0">
                <a:solidFill>
                  <a:schemeClr val="bg1"/>
                </a:solidFill>
              </a:rPr>
              <a:t>32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19" name="Picture 4">
            <a:extLst>
              <a:ext uri="{FF2B5EF4-FFF2-40B4-BE49-F238E27FC236}">
                <a16:creationId xmlns="" xmlns:a16="http://schemas.microsoft.com/office/drawing/2014/main" id="{6FD5A352-A276-6B51-568B-5F9B872F7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3778" y="2349500"/>
            <a:ext cx="4210285" cy="3902001"/>
          </a:xfrm>
          <a:prstGeom prst="rect">
            <a:avLst/>
          </a:prstGeom>
        </p:spPr>
      </p:pic>
      <p:pic>
        <p:nvPicPr>
          <p:cNvPr id="20" name="Picture 4" descr="DBMS/RDBMS : W3TechBlog">
            <a:extLst>
              <a:ext uri="{FF2B5EF4-FFF2-40B4-BE49-F238E27FC236}">
                <a16:creationId xmlns="" xmlns:a16="http://schemas.microsoft.com/office/drawing/2014/main" id="{6C37671D-7C11-968D-305F-004FDD981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5306" y="3140968"/>
            <a:ext cx="2016224" cy="201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298FB0A0-B360-9349-8A8B-1736ACCCDBDD}"/>
              </a:ext>
            </a:extLst>
          </p:cNvPr>
          <p:cNvSpPr txBox="1"/>
          <p:nvPr/>
        </p:nvSpPr>
        <p:spPr>
          <a:xfrm>
            <a:off x="1857810" y="3501008"/>
            <a:ext cx="846450" cy="318100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 latinLnBrk="0"/>
            <a:r>
              <a:rPr lang="en-US" altLang="ko-KR" sz="1467" b="1" dirty="0">
                <a:solidFill>
                  <a:prstClr val="white"/>
                </a:solidFill>
                <a:latin typeface="Calibri"/>
                <a:ea typeface="Roboto Light" charset="0"/>
                <a:cs typeface="Roboto Light" charset="0"/>
              </a:rPr>
              <a:t>VERTICA</a:t>
            </a:r>
            <a:endParaRPr lang="en-GB" sz="1467" b="1" dirty="0">
              <a:solidFill>
                <a:prstClr val="white"/>
              </a:solidFill>
              <a:latin typeface="Calibri"/>
              <a:ea typeface="Roboto Light" charset="0"/>
              <a:cs typeface="Roboto Light" charset="0"/>
            </a:endParaRPr>
          </a:p>
        </p:txBody>
      </p:sp>
      <p:sp>
        <p:nvSpPr>
          <p:cNvPr id="22" name="화살표: 왼쪽/오른쪽 61">
            <a:extLst>
              <a:ext uri="{FF2B5EF4-FFF2-40B4-BE49-F238E27FC236}">
                <a16:creationId xmlns="" xmlns:a16="http://schemas.microsoft.com/office/drawing/2014/main" id="{020489AA-7C23-7602-DDEE-A7FDF62336D2}"/>
              </a:ext>
            </a:extLst>
          </p:cNvPr>
          <p:cNvSpPr/>
          <p:nvPr/>
        </p:nvSpPr>
        <p:spPr>
          <a:xfrm>
            <a:off x="3227405" y="3440184"/>
            <a:ext cx="2138200" cy="420635"/>
          </a:xfrm>
          <a:prstGeom prst="leftRightArrow">
            <a:avLst>
              <a:gd name="adj1" fmla="val 28687"/>
              <a:gd name="adj2" fmla="val 61454"/>
            </a:avLst>
          </a:prstGeom>
          <a:solidFill>
            <a:srgbClr val="0079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AE054541-E101-6959-EFF1-A31CB40BF376}"/>
              </a:ext>
            </a:extLst>
          </p:cNvPr>
          <p:cNvSpPr txBox="1"/>
          <p:nvPr/>
        </p:nvSpPr>
        <p:spPr>
          <a:xfrm>
            <a:off x="3495437" y="3368025"/>
            <a:ext cx="1580881" cy="246221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 latinLnBrk="0"/>
            <a:r>
              <a:rPr lang="en-US" altLang="ko-KR" sz="1000" b="1" dirty="0">
                <a:solidFill>
                  <a:srgbClr val="0079EF"/>
                </a:solidFill>
                <a:latin typeface="Calibri"/>
                <a:ea typeface="Roboto Light" charset="0"/>
                <a:cs typeface="Roboto Light" charset="0"/>
              </a:rPr>
              <a:t>Parquet / ORC / Delimited</a:t>
            </a:r>
            <a:endParaRPr lang="en-GB" sz="1000" b="1" dirty="0">
              <a:solidFill>
                <a:srgbClr val="0079EF"/>
              </a:solidFill>
              <a:latin typeface="Calibri"/>
              <a:ea typeface="Roboto Light" charset="0"/>
              <a:cs typeface="Roboto Light" charset="0"/>
            </a:endParaRPr>
          </a:p>
        </p:txBody>
      </p:sp>
      <p:sp>
        <p:nvSpPr>
          <p:cNvPr id="24" name="화살표: 왼쪽/오른쪽 61">
            <a:extLst>
              <a:ext uri="{FF2B5EF4-FFF2-40B4-BE49-F238E27FC236}">
                <a16:creationId xmlns="" xmlns:a16="http://schemas.microsoft.com/office/drawing/2014/main" id="{4048C0E7-6071-3456-66BD-ED4AFAF8F53D}"/>
              </a:ext>
            </a:extLst>
          </p:cNvPr>
          <p:cNvSpPr/>
          <p:nvPr/>
        </p:nvSpPr>
        <p:spPr>
          <a:xfrm>
            <a:off x="3227405" y="4452612"/>
            <a:ext cx="2138200" cy="420635"/>
          </a:xfrm>
          <a:prstGeom prst="leftRightArrow">
            <a:avLst>
              <a:gd name="adj1" fmla="val 28687"/>
              <a:gd name="adj2" fmla="val 61454"/>
            </a:avLst>
          </a:prstGeom>
          <a:solidFill>
            <a:srgbClr val="C6179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4478FF3C-C1E7-7561-1062-582154418804}"/>
              </a:ext>
            </a:extLst>
          </p:cNvPr>
          <p:cNvSpPr txBox="1"/>
          <p:nvPr/>
        </p:nvSpPr>
        <p:spPr>
          <a:xfrm>
            <a:off x="3430858" y="4278317"/>
            <a:ext cx="1734257" cy="738664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 latinLnBrk="0"/>
            <a:endParaRPr lang="en-US" altLang="ko-KR" sz="1400" b="1" dirty="0">
              <a:solidFill>
                <a:srgbClr val="C6179D"/>
              </a:solidFill>
              <a:latin typeface="Calibri"/>
              <a:ea typeface="Roboto Light" charset="0"/>
              <a:cs typeface="Roboto Light" charset="0"/>
            </a:endParaRPr>
          </a:p>
          <a:p>
            <a:pPr algn="ctr" latinLnBrk="0"/>
            <a:endParaRPr lang="en-US" sz="1400" b="1" dirty="0">
              <a:solidFill>
                <a:srgbClr val="C6179D"/>
              </a:solidFill>
              <a:latin typeface="Calibri"/>
              <a:ea typeface="Roboto Light" charset="0"/>
              <a:cs typeface="Roboto Light" charset="0"/>
            </a:endParaRPr>
          </a:p>
          <a:p>
            <a:pPr algn="ctr" latinLnBrk="0"/>
            <a:r>
              <a:rPr lang="en-US" altLang="ko-KR" sz="1400" b="1" dirty="0">
                <a:solidFill>
                  <a:srgbClr val="C6179D"/>
                </a:solidFill>
                <a:latin typeface="Calibri"/>
                <a:ea typeface="Roboto Light" charset="0"/>
                <a:cs typeface="Roboto Light" charset="0"/>
              </a:rPr>
              <a:t>BACKUP / RECOVERY</a:t>
            </a:r>
            <a:endParaRPr lang="en-GB" sz="1400" b="1" dirty="0">
              <a:solidFill>
                <a:srgbClr val="C6179D"/>
              </a:solidFill>
              <a:latin typeface="Calibri"/>
              <a:ea typeface="Roboto Light" charset="0"/>
              <a:cs typeface="Roboto Light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AE249F65-B1C4-D99A-832D-7E2BD9B71655}"/>
              </a:ext>
            </a:extLst>
          </p:cNvPr>
          <p:cNvSpPr txBox="1"/>
          <p:nvPr/>
        </p:nvSpPr>
        <p:spPr>
          <a:xfrm>
            <a:off x="3586682" y="3678477"/>
            <a:ext cx="1398396" cy="523220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 latinLnBrk="0"/>
            <a:r>
              <a:rPr lang="en-US" altLang="ko-KR" sz="1400" b="1" dirty="0">
                <a:solidFill>
                  <a:srgbClr val="0079EF"/>
                </a:solidFill>
                <a:latin typeface="Calibri"/>
                <a:ea typeface="Roboto Light" charset="0"/>
                <a:cs typeface="Roboto Light" charset="0"/>
              </a:rPr>
              <a:t>External Table &amp;</a:t>
            </a:r>
          </a:p>
          <a:p>
            <a:pPr algn="ctr" latinLnBrk="0"/>
            <a:r>
              <a:rPr lang="en-US" altLang="ko-KR" sz="1400" b="1" dirty="0">
                <a:solidFill>
                  <a:srgbClr val="0079EF"/>
                </a:solidFill>
                <a:latin typeface="Calibri"/>
                <a:ea typeface="Roboto Light" charset="0"/>
                <a:cs typeface="Roboto Light" charset="0"/>
              </a:rPr>
              <a:t>Export</a:t>
            </a:r>
            <a:endParaRPr lang="en-GB" sz="1400" b="1" dirty="0">
              <a:solidFill>
                <a:srgbClr val="0079EF"/>
              </a:solidFill>
              <a:latin typeface="Calibri"/>
              <a:ea typeface="Roboto Light" charset="0"/>
              <a:cs typeface="Roboto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55210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0BAF8F6-7BED-9749-82B0-62F9CB175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="" xmlns:a16="http://schemas.microsoft.com/office/drawing/2014/main" id="{E4DAF5C6-9EB5-6225-1D57-C639F8C80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Vertica</a:t>
            </a:r>
            <a:r>
              <a:rPr lang="ko-KR" altLang="en-US" dirty="0"/>
              <a:t>와 </a:t>
            </a:r>
            <a:r>
              <a:rPr lang="en-US" altLang="ko-KR" dirty="0"/>
              <a:t>Data Lake </a:t>
            </a:r>
            <a:r>
              <a:rPr lang="ko-KR" altLang="en-US" dirty="0"/>
              <a:t>연계</a:t>
            </a:r>
            <a:endParaRPr lang="ko-KR" altLang="en-US" sz="1400" dirty="0">
              <a:solidFill>
                <a:srgbClr val="0083CE"/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7F01E1A2-ED58-FDD6-414B-D97D7F079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83247" y="6348888"/>
            <a:ext cx="278505" cy="301756"/>
          </a:xfrm>
        </p:spPr>
        <p:txBody>
          <a:bodyPr/>
          <a:lstStyle/>
          <a:p>
            <a:fld id="{AFA02C0B-84B5-4CD2-A6CE-C6BD7D6F9045}" type="slidenum">
              <a:rPr lang="ko-KR" altLang="en-US" smtClean="0">
                <a:solidFill>
                  <a:schemeClr val="bg1"/>
                </a:solidFill>
              </a:rPr>
              <a:t>33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="" xmlns:a16="http://schemas.microsoft.com/office/drawing/2014/main" id="{910F5564-F1E8-7E2D-E61C-7BE564FB7BA6}"/>
              </a:ext>
            </a:extLst>
          </p:cNvPr>
          <p:cNvSpPr txBox="1"/>
          <p:nvPr/>
        </p:nvSpPr>
        <p:spPr>
          <a:xfrm>
            <a:off x="2540082" y="2098085"/>
            <a:ext cx="2803011" cy="369332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 latinLnBrk="0"/>
            <a:r>
              <a:rPr lang="en-US" b="1" dirty="0">
                <a:solidFill>
                  <a:srgbClr val="0079EF"/>
                </a:solidFill>
                <a:latin typeface="Calibri"/>
                <a:ea typeface="Roboto Light" charset="0"/>
                <a:cs typeface="Roboto Light" charset="0"/>
              </a:rPr>
              <a:t>Enterprise Data Warehouse</a:t>
            </a:r>
          </a:p>
        </p:txBody>
      </p:sp>
      <p:pic>
        <p:nvPicPr>
          <p:cNvPr id="71" name="Picture 55">
            <a:extLst>
              <a:ext uri="{FF2B5EF4-FFF2-40B4-BE49-F238E27FC236}">
                <a16:creationId xmlns="" xmlns:a16="http://schemas.microsoft.com/office/drawing/2014/main" id="{21EE8287-0590-C347-F7F3-47FB2F48A58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6449" y="1612044"/>
            <a:ext cx="2110260" cy="413849"/>
          </a:xfrm>
          <a:prstGeom prst="rect">
            <a:avLst/>
          </a:prstGeom>
        </p:spPr>
      </p:pic>
      <p:sp>
        <p:nvSpPr>
          <p:cNvPr id="72" name="Title 1">
            <a:extLst>
              <a:ext uri="{FF2B5EF4-FFF2-40B4-BE49-F238E27FC236}">
                <a16:creationId xmlns="" xmlns:a16="http://schemas.microsoft.com/office/drawing/2014/main" id="{E0F1668A-7D5C-C624-5774-02386BC052A6}"/>
              </a:ext>
            </a:extLst>
          </p:cNvPr>
          <p:cNvSpPr txBox="1">
            <a:spLocks/>
          </p:cNvSpPr>
          <p:nvPr/>
        </p:nvSpPr>
        <p:spPr>
          <a:xfrm>
            <a:off x="6880419" y="1801688"/>
            <a:ext cx="4543403" cy="393638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8925" indent="-288925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212E35"/>
                </a:solidFill>
                <a:latin typeface="+mn-ea"/>
                <a:ea typeface="+mn-ea"/>
              </a:rPr>
              <a:t>데이터는 </a:t>
            </a:r>
            <a:r>
              <a:rPr lang="en-US" altLang="ko-KR" sz="1600" dirty="0">
                <a:solidFill>
                  <a:srgbClr val="212E35"/>
                </a:solidFill>
                <a:latin typeface="+mn-ea"/>
                <a:ea typeface="+mn-ea"/>
              </a:rPr>
              <a:t>Vertica </a:t>
            </a:r>
            <a:r>
              <a:rPr lang="ko-KR" altLang="en-US" sz="1600" dirty="0">
                <a:solidFill>
                  <a:srgbClr val="212E35"/>
                </a:solidFill>
                <a:latin typeface="+mn-ea"/>
                <a:ea typeface="+mn-ea"/>
              </a:rPr>
              <a:t>와 </a:t>
            </a:r>
            <a:r>
              <a:rPr lang="en-US" altLang="ko-KR" sz="1600" dirty="0">
                <a:solidFill>
                  <a:srgbClr val="212E35"/>
                </a:solidFill>
                <a:latin typeface="+mn-ea"/>
                <a:ea typeface="+mn-ea"/>
              </a:rPr>
              <a:t>Hadoop</a:t>
            </a:r>
            <a:r>
              <a:rPr lang="ko-KR" altLang="en-US" sz="1600" dirty="0">
                <a:solidFill>
                  <a:srgbClr val="212E35"/>
                </a:solidFill>
                <a:latin typeface="+mn-ea"/>
                <a:ea typeface="+mn-ea"/>
              </a:rPr>
              <a:t> 또는 </a:t>
            </a:r>
            <a:r>
              <a:rPr lang="en-US" altLang="ko-KR" sz="1600" dirty="0">
                <a:solidFill>
                  <a:srgbClr val="212E35"/>
                </a:solidFill>
                <a:latin typeface="+mn-ea"/>
                <a:ea typeface="+mn-ea"/>
              </a:rPr>
              <a:t>Object Storage</a:t>
            </a:r>
            <a:r>
              <a:rPr lang="ko-KR" altLang="en-US" sz="1600" dirty="0">
                <a:solidFill>
                  <a:srgbClr val="212E35"/>
                </a:solidFill>
                <a:latin typeface="+mn-ea"/>
                <a:ea typeface="+mn-ea"/>
              </a:rPr>
              <a:t>에 함께 존재하는 걸 모두 탐색</a:t>
            </a:r>
            <a:endParaRPr lang="en-US" sz="1600" dirty="0">
              <a:solidFill>
                <a:srgbClr val="212E35"/>
              </a:solidFill>
              <a:latin typeface="+mn-ea"/>
              <a:ea typeface="+mn-ea"/>
            </a:endParaRPr>
          </a:p>
          <a:p>
            <a:pPr marL="288925" indent="-288925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12E35"/>
                </a:solidFill>
                <a:latin typeface="+mn-ea"/>
                <a:ea typeface="+mn-ea"/>
              </a:rPr>
              <a:t>ORC, Parquet </a:t>
            </a:r>
            <a:r>
              <a:rPr lang="ko-KR" altLang="en-US" sz="1600" dirty="0">
                <a:solidFill>
                  <a:srgbClr val="212E35"/>
                </a:solidFill>
                <a:latin typeface="+mn-ea"/>
                <a:ea typeface="+mn-ea"/>
              </a:rPr>
              <a:t>데이터와 </a:t>
            </a:r>
            <a:r>
              <a:rPr lang="en-US" sz="1600" dirty="0">
                <a:solidFill>
                  <a:srgbClr val="212E35"/>
                </a:solidFill>
                <a:latin typeface="+mn-ea"/>
                <a:ea typeface="+mn-ea"/>
              </a:rPr>
              <a:t>Vertica ROS </a:t>
            </a:r>
            <a:r>
              <a:rPr lang="ko-KR" altLang="en-US" sz="1600" dirty="0">
                <a:solidFill>
                  <a:srgbClr val="212E35"/>
                </a:solidFill>
                <a:latin typeface="+mn-ea"/>
                <a:ea typeface="+mn-ea"/>
              </a:rPr>
              <a:t>데이터의 동시 쿼리</a:t>
            </a:r>
            <a:endParaRPr lang="en-US" sz="1600" dirty="0">
              <a:solidFill>
                <a:srgbClr val="212E35"/>
              </a:solidFill>
              <a:latin typeface="+mn-ea"/>
              <a:ea typeface="+mn-ea"/>
            </a:endParaRPr>
          </a:p>
          <a:p>
            <a:pPr marL="288925" indent="-288925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12E35"/>
                </a:solidFill>
                <a:latin typeface="+mn-ea"/>
                <a:ea typeface="+mn-ea"/>
              </a:rPr>
              <a:t>Vertica</a:t>
            </a:r>
            <a:r>
              <a:rPr lang="ko-KR" altLang="en-US" sz="1600" dirty="0">
                <a:solidFill>
                  <a:srgbClr val="212E35"/>
                </a:solidFill>
                <a:latin typeface="+mn-ea"/>
                <a:ea typeface="+mn-ea"/>
              </a:rPr>
              <a:t>에서 모든 데이터 조회</a:t>
            </a:r>
            <a:endParaRPr lang="en-US" sz="1600" dirty="0">
              <a:solidFill>
                <a:srgbClr val="212E35"/>
              </a:solidFill>
              <a:latin typeface="+mn-ea"/>
              <a:ea typeface="+mn-ea"/>
            </a:endParaRPr>
          </a:p>
          <a:p>
            <a:pPr marL="288925" indent="-288925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212E35"/>
                </a:solidFill>
                <a:latin typeface="+mn-ea"/>
                <a:ea typeface="+mn-ea"/>
              </a:rPr>
              <a:t>데이터 생명주기 정책</a:t>
            </a:r>
            <a:r>
              <a:rPr lang="en-US" altLang="ko-KR" sz="1600" dirty="0">
                <a:solidFill>
                  <a:srgbClr val="212E35"/>
                </a:solidFill>
                <a:latin typeface="+mn-ea"/>
                <a:ea typeface="+mn-ea"/>
              </a:rPr>
              <a:t>(ILM)</a:t>
            </a:r>
            <a:r>
              <a:rPr lang="ko-KR" altLang="en-US" sz="1600" dirty="0">
                <a:solidFill>
                  <a:srgbClr val="212E35"/>
                </a:solidFill>
                <a:latin typeface="+mn-ea"/>
                <a:ea typeface="+mn-ea"/>
              </a:rPr>
              <a:t>을 도입하여 데이터 </a:t>
            </a:r>
            <a:r>
              <a:rPr lang="ko-KR" altLang="en-US" sz="1600" dirty="0" err="1">
                <a:solidFill>
                  <a:srgbClr val="212E35"/>
                </a:solidFill>
                <a:latin typeface="+mn-ea"/>
                <a:ea typeface="+mn-ea"/>
              </a:rPr>
              <a:t>티어링으로</a:t>
            </a:r>
            <a:r>
              <a:rPr lang="ko-KR" altLang="en-US" sz="1600" dirty="0">
                <a:solidFill>
                  <a:srgbClr val="212E35"/>
                </a:solidFill>
                <a:latin typeface="+mn-ea"/>
                <a:ea typeface="+mn-ea"/>
              </a:rPr>
              <a:t> 활용</a:t>
            </a:r>
            <a:endParaRPr lang="en-US" sz="1600" dirty="0">
              <a:solidFill>
                <a:srgbClr val="212E35"/>
              </a:solidFill>
              <a:latin typeface="+mn-ea"/>
              <a:ea typeface="+mn-ea"/>
            </a:endParaRPr>
          </a:p>
          <a:p>
            <a:pPr marL="288925" indent="-288925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212E35"/>
                </a:solidFill>
                <a:latin typeface="+mn-ea"/>
                <a:ea typeface="+mn-ea"/>
              </a:rPr>
              <a:t>고급 분석</a:t>
            </a:r>
            <a:r>
              <a:rPr lang="en-US" altLang="ko-KR" sz="1600" dirty="0">
                <a:solidFill>
                  <a:srgbClr val="212E35"/>
                </a:solidFill>
                <a:latin typeface="+mn-ea"/>
                <a:ea typeface="+mn-ea"/>
              </a:rPr>
              <a:t>, </a:t>
            </a:r>
            <a:r>
              <a:rPr lang="ko-KR" altLang="en-US" sz="1600" dirty="0" err="1">
                <a:solidFill>
                  <a:srgbClr val="212E35"/>
                </a:solidFill>
                <a:latin typeface="+mn-ea"/>
                <a:ea typeface="+mn-ea"/>
              </a:rPr>
              <a:t>머신러닝</a:t>
            </a:r>
            <a:r>
              <a:rPr lang="en-US" altLang="ko-KR" sz="1600" dirty="0">
                <a:solidFill>
                  <a:srgbClr val="212E35"/>
                </a:solidFill>
                <a:latin typeface="+mn-ea"/>
                <a:ea typeface="+mn-ea"/>
              </a:rPr>
              <a:t>, R / Python </a:t>
            </a:r>
            <a:r>
              <a:rPr lang="ko-KR" altLang="en-US" sz="1600" dirty="0">
                <a:solidFill>
                  <a:srgbClr val="212E35"/>
                </a:solidFill>
                <a:latin typeface="+mn-ea"/>
                <a:ea typeface="+mn-ea"/>
              </a:rPr>
              <a:t>등과 연계</a:t>
            </a:r>
            <a:endParaRPr lang="en-US" altLang="ko-KR" sz="1600" dirty="0">
              <a:solidFill>
                <a:srgbClr val="212E35"/>
              </a:solidFill>
              <a:latin typeface="+mn-ea"/>
              <a:ea typeface="+mn-ea"/>
            </a:endParaRPr>
          </a:p>
          <a:p>
            <a:pPr marL="457200" indent="-457200">
              <a:spcAft>
                <a:spcPts val="2400"/>
              </a:spcAft>
              <a:buFont typeface="Arial" panose="020B0604020202020204" pitchFamily="34" charset="0"/>
              <a:buChar char="•"/>
            </a:pPr>
            <a:endParaRPr lang="en-US" sz="1200" b="0" dirty="0">
              <a:solidFill>
                <a:srgbClr val="051D28"/>
              </a:solidFill>
              <a:latin typeface="+mn-ea"/>
              <a:ea typeface="+mn-ea"/>
            </a:endParaRPr>
          </a:p>
        </p:txBody>
      </p:sp>
      <p:grpSp>
        <p:nvGrpSpPr>
          <p:cNvPr id="73" name="Group 7">
            <a:extLst>
              <a:ext uri="{FF2B5EF4-FFF2-40B4-BE49-F238E27FC236}">
                <a16:creationId xmlns="" xmlns:a16="http://schemas.microsoft.com/office/drawing/2014/main" id="{1091555C-BE7D-38FE-CD3A-1638003CFD6F}"/>
              </a:ext>
            </a:extLst>
          </p:cNvPr>
          <p:cNvGrpSpPr/>
          <p:nvPr/>
        </p:nvGrpSpPr>
        <p:grpSpPr>
          <a:xfrm>
            <a:off x="1860150" y="2440593"/>
            <a:ext cx="4187932" cy="3645490"/>
            <a:chOff x="1860150" y="2440593"/>
            <a:chExt cx="4187932" cy="3645490"/>
          </a:xfrm>
        </p:grpSpPr>
        <p:sp>
          <p:nvSpPr>
            <p:cNvPr id="74" name="Freeform 43">
              <a:extLst>
                <a:ext uri="{FF2B5EF4-FFF2-40B4-BE49-F238E27FC236}">
                  <a16:creationId xmlns="" xmlns:a16="http://schemas.microsoft.com/office/drawing/2014/main" id="{516A91D8-3ADC-C1EC-8155-8EA76109C7E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36034" y="5103031"/>
              <a:ext cx="1013271" cy="631550"/>
            </a:xfrm>
            <a:custGeom>
              <a:avLst/>
              <a:gdLst>
                <a:gd name="T0" fmla="*/ 628 w 810"/>
                <a:gd name="T1" fmla="*/ 112 h 473"/>
                <a:gd name="T2" fmla="*/ 628 w 810"/>
                <a:gd name="T3" fmla="*/ 112 h 473"/>
                <a:gd name="T4" fmla="*/ 581 w 810"/>
                <a:gd name="T5" fmla="*/ 119 h 473"/>
                <a:gd name="T6" fmla="*/ 409 w 810"/>
                <a:gd name="T7" fmla="*/ 0 h 473"/>
                <a:gd name="T8" fmla="*/ 228 w 810"/>
                <a:gd name="T9" fmla="*/ 152 h 473"/>
                <a:gd name="T10" fmla="*/ 167 w 810"/>
                <a:gd name="T11" fmla="*/ 140 h 473"/>
                <a:gd name="T12" fmla="*/ 0 w 810"/>
                <a:gd name="T13" fmla="*/ 306 h 473"/>
                <a:gd name="T14" fmla="*/ 145 w 810"/>
                <a:gd name="T15" fmla="*/ 471 h 473"/>
                <a:gd name="T16" fmla="*/ 643 w 810"/>
                <a:gd name="T17" fmla="*/ 472 h 473"/>
                <a:gd name="T18" fmla="*/ 809 w 810"/>
                <a:gd name="T19" fmla="*/ 293 h 473"/>
                <a:gd name="T20" fmla="*/ 628 w 810"/>
                <a:gd name="T21" fmla="*/ 112 h 473"/>
                <a:gd name="T22" fmla="*/ 642 w 810"/>
                <a:gd name="T23" fmla="*/ 449 h 473"/>
                <a:gd name="T24" fmla="*/ 642 w 810"/>
                <a:gd name="T25" fmla="*/ 449 h 473"/>
                <a:gd name="T26" fmla="*/ 146 w 810"/>
                <a:gd name="T27" fmla="*/ 448 h 473"/>
                <a:gd name="T28" fmla="*/ 23 w 810"/>
                <a:gd name="T29" fmla="*/ 306 h 473"/>
                <a:gd name="T30" fmla="*/ 167 w 810"/>
                <a:gd name="T31" fmla="*/ 163 h 473"/>
                <a:gd name="T32" fmla="*/ 232 w 810"/>
                <a:gd name="T33" fmla="*/ 179 h 473"/>
                <a:gd name="T34" fmla="*/ 243 w 810"/>
                <a:gd name="T35" fmla="*/ 179 h 473"/>
                <a:gd name="T36" fmla="*/ 249 w 810"/>
                <a:gd name="T37" fmla="*/ 170 h 473"/>
                <a:gd name="T38" fmla="*/ 409 w 810"/>
                <a:gd name="T39" fmla="*/ 24 h 473"/>
                <a:gd name="T40" fmla="*/ 562 w 810"/>
                <a:gd name="T41" fmla="*/ 138 h 473"/>
                <a:gd name="T42" fmla="*/ 569 w 810"/>
                <a:gd name="T43" fmla="*/ 144 h 473"/>
                <a:gd name="T44" fmla="*/ 577 w 810"/>
                <a:gd name="T45" fmla="*/ 145 h 473"/>
                <a:gd name="T46" fmla="*/ 628 w 810"/>
                <a:gd name="T47" fmla="*/ 136 h 473"/>
                <a:gd name="T48" fmla="*/ 786 w 810"/>
                <a:gd name="T49" fmla="*/ 293 h 473"/>
                <a:gd name="T50" fmla="*/ 642 w 810"/>
                <a:gd name="T51" fmla="*/ 449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10" h="473">
                  <a:moveTo>
                    <a:pt x="628" y="112"/>
                  </a:moveTo>
                  <a:lnTo>
                    <a:pt x="628" y="112"/>
                  </a:lnTo>
                  <a:cubicBezTo>
                    <a:pt x="612" y="112"/>
                    <a:pt x="597" y="115"/>
                    <a:pt x="581" y="119"/>
                  </a:cubicBezTo>
                  <a:cubicBezTo>
                    <a:pt x="553" y="48"/>
                    <a:pt x="485" y="0"/>
                    <a:pt x="409" y="0"/>
                  </a:cubicBezTo>
                  <a:cubicBezTo>
                    <a:pt x="319" y="0"/>
                    <a:pt x="244" y="65"/>
                    <a:pt x="228" y="152"/>
                  </a:cubicBezTo>
                  <a:cubicBezTo>
                    <a:pt x="207" y="144"/>
                    <a:pt x="188" y="140"/>
                    <a:pt x="167" y="140"/>
                  </a:cubicBezTo>
                  <a:cubicBezTo>
                    <a:pt x="75" y="140"/>
                    <a:pt x="0" y="215"/>
                    <a:pt x="0" y="306"/>
                  </a:cubicBezTo>
                  <a:cubicBezTo>
                    <a:pt x="0" y="389"/>
                    <a:pt x="62" y="459"/>
                    <a:pt x="145" y="471"/>
                  </a:cubicBezTo>
                  <a:cubicBezTo>
                    <a:pt x="643" y="472"/>
                    <a:pt x="643" y="472"/>
                    <a:pt x="643" y="472"/>
                  </a:cubicBezTo>
                  <a:cubicBezTo>
                    <a:pt x="736" y="465"/>
                    <a:pt x="809" y="386"/>
                    <a:pt x="809" y="293"/>
                  </a:cubicBezTo>
                  <a:cubicBezTo>
                    <a:pt x="809" y="193"/>
                    <a:pt x="728" y="112"/>
                    <a:pt x="628" y="112"/>
                  </a:cubicBezTo>
                  <a:close/>
                  <a:moveTo>
                    <a:pt x="642" y="449"/>
                  </a:moveTo>
                  <a:lnTo>
                    <a:pt x="642" y="449"/>
                  </a:lnTo>
                  <a:cubicBezTo>
                    <a:pt x="146" y="448"/>
                    <a:pt x="146" y="448"/>
                    <a:pt x="146" y="448"/>
                  </a:cubicBezTo>
                  <a:cubicBezTo>
                    <a:pt x="76" y="438"/>
                    <a:pt x="23" y="377"/>
                    <a:pt x="23" y="306"/>
                  </a:cubicBezTo>
                  <a:cubicBezTo>
                    <a:pt x="23" y="227"/>
                    <a:pt x="88" y="163"/>
                    <a:pt x="167" y="163"/>
                  </a:cubicBezTo>
                  <a:cubicBezTo>
                    <a:pt x="189" y="163"/>
                    <a:pt x="211" y="169"/>
                    <a:pt x="232" y="179"/>
                  </a:cubicBezTo>
                  <a:cubicBezTo>
                    <a:pt x="236" y="182"/>
                    <a:pt x="240" y="182"/>
                    <a:pt x="243" y="179"/>
                  </a:cubicBezTo>
                  <a:cubicBezTo>
                    <a:pt x="246" y="177"/>
                    <a:pt x="248" y="174"/>
                    <a:pt x="249" y="170"/>
                  </a:cubicBezTo>
                  <a:cubicBezTo>
                    <a:pt x="257" y="87"/>
                    <a:pt x="326" y="24"/>
                    <a:pt x="409" y="24"/>
                  </a:cubicBezTo>
                  <a:cubicBezTo>
                    <a:pt x="479" y="24"/>
                    <a:pt x="541" y="69"/>
                    <a:pt x="562" y="138"/>
                  </a:cubicBezTo>
                  <a:cubicBezTo>
                    <a:pt x="563" y="140"/>
                    <a:pt x="566" y="143"/>
                    <a:pt x="569" y="144"/>
                  </a:cubicBezTo>
                  <a:cubicBezTo>
                    <a:pt x="571" y="146"/>
                    <a:pt x="575" y="146"/>
                    <a:pt x="577" y="145"/>
                  </a:cubicBezTo>
                  <a:cubicBezTo>
                    <a:pt x="595" y="139"/>
                    <a:pt x="611" y="136"/>
                    <a:pt x="628" y="136"/>
                  </a:cubicBezTo>
                  <a:cubicBezTo>
                    <a:pt x="716" y="136"/>
                    <a:pt x="786" y="207"/>
                    <a:pt x="786" y="293"/>
                  </a:cubicBezTo>
                  <a:cubicBezTo>
                    <a:pt x="786" y="374"/>
                    <a:pt x="722" y="442"/>
                    <a:pt x="642" y="449"/>
                  </a:cubicBezTo>
                  <a:close/>
                </a:path>
              </a:pathLst>
            </a:custGeom>
            <a:solidFill>
              <a:srgbClr val="0078EF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88" b="0" i="0" u="none" strike="noStrike" kern="0" cap="none" spc="0" normalizeH="0" baseline="0" noProof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Calibri"/>
              </a:endParaRPr>
            </a:p>
          </p:txBody>
        </p:sp>
        <p:cxnSp>
          <p:nvCxnSpPr>
            <p:cNvPr id="75" name="Straight Connector 87">
              <a:extLst>
                <a:ext uri="{FF2B5EF4-FFF2-40B4-BE49-F238E27FC236}">
                  <a16:creationId xmlns="" xmlns:a16="http://schemas.microsoft.com/office/drawing/2014/main" id="{060F76A2-C058-6E84-1F6D-3DFBB45CAFE0}"/>
                </a:ext>
              </a:extLst>
            </p:cNvPr>
            <p:cNvCxnSpPr/>
            <p:nvPr/>
          </p:nvCxnSpPr>
          <p:spPr>
            <a:xfrm rot="16200000" flipH="1">
              <a:off x="2032940" y="4241221"/>
              <a:ext cx="0" cy="274320"/>
            </a:xfrm>
            <a:prstGeom prst="line">
              <a:avLst/>
            </a:prstGeom>
            <a:noFill/>
            <a:ln w="28575" cap="flat" cmpd="sng" algn="ctr">
              <a:solidFill>
                <a:srgbClr val="0079EF"/>
              </a:solidFill>
              <a:prstDash val="sysDash"/>
              <a:miter lim="800000"/>
            </a:ln>
            <a:effectLst/>
          </p:spPr>
        </p:cxnSp>
        <p:cxnSp>
          <p:nvCxnSpPr>
            <p:cNvPr id="76" name="Straight Connector 88">
              <a:extLst>
                <a:ext uri="{FF2B5EF4-FFF2-40B4-BE49-F238E27FC236}">
                  <a16:creationId xmlns="" xmlns:a16="http://schemas.microsoft.com/office/drawing/2014/main" id="{3DE9ECAD-5B00-7D90-8E32-A7CD8F9B0696}"/>
                </a:ext>
              </a:extLst>
            </p:cNvPr>
            <p:cNvCxnSpPr/>
            <p:nvPr/>
          </p:nvCxnSpPr>
          <p:spPr>
            <a:xfrm rot="16200000" flipH="1">
              <a:off x="1355498" y="4923034"/>
              <a:ext cx="1097280" cy="0"/>
            </a:xfrm>
            <a:prstGeom prst="line">
              <a:avLst/>
            </a:prstGeom>
            <a:noFill/>
            <a:ln w="28575" cap="flat" cmpd="sng" algn="ctr">
              <a:solidFill>
                <a:srgbClr val="0079EF"/>
              </a:solidFill>
              <a:prstDash val="sysDash"/>
              <a:miter lim="800000"/>
            </a:ln>
            <a:effectLst/>
          </p:spPr>
        </p:cxnSp>
        <p:cxnSp>
          <p:nvCxnSpPr>
            <p:cNvPr id="77" name="Straight Connector 89">
              <a:extLst>
                <a:ext uri="{FF2B5EF4-FFF2-40B4-BE49-F238E27FC236}">
                  <a16:creationId xmlns="" xmlns:a16="http://schemas.microsoft.com/office/drawing/2014/main" id="{DAE76DAB-EAA5-D6A8-2AAF-7FF5B9DFB5E6}"/>
                </a:ext>
              </a:extLst>
            </p:cNvPr>
            <p:cNvCxnSpPr/>
            <p:nvPr/>
          </p:nvCxnSpPr>
          <p:spPr>
            <a:xfrm rot="16200000" flipH="1">
              <a:off x="5463377" y="4912401"/>
              <a:ext cx="1097280" cy="0"/>
            </a:xfrm>
            <a:prstGeom prst="line">
              <a:avLst/>
            </a:prstGeom>
            <a:noFill/>
            <a:ln w="28575" cap="flat" cmpd="sng" algn="ctr">
              <a:solidFill>
                <a:srgbClr val="0079EF"/>
              </a:solidFill>
              <a:prstDash val="sysDash"/>
              <a:miter lim="800000"/>
            </a:ln>
            <a:effectLst/>
          </p:spPr>
        </p:cxnSp>
        <p:cxnSp>
          <p:nvCxnSpPr>
            <p:cNvPr id="78" name="Straight Connector 92">
              <a:extLst>
                <a:ext uri="{FF2B5EF4-FFF2-40B4-BE49-F238E27FC236}">
                  <a16:creationId xmlns="" xmlns:a16="http://schemas.microsoft.com/office/drawing/2014/main" id="{03FA6847-D323-7D10-15F1-751E73D3E5B2}"/>
                </a:ext>
              </a:extLst>
            </p:cNvPr>
            <p:cNvCxnSpPr/>
            <p:nvPr/>
          </p:nvCxnSpPr>
          <p:spPr>
            <a:xfrm rot="16200000">
              <a:off x="3767965" y="3881576"/>
              <a:ext cx="365760" cy="0"/>
            </a:xfrm>
            <a:prstGeom prst="line">
              <a:avLst/>
            </a:prstGeom>
            <a:noFill/>
            <a:ln w="28575" cap="flat" cmpd="sng" algn="ctr">
              <a:solidFill>
                <a:srgbClr val="0079EF"/>
              </a:solidFill>
              <a:prstDash val="sysDash"/>
              <a:miter lim="800000"/>
            </a:ln>
            <a:effectLst/>
          </p:spPr>
        </p:cxnSp>
        <p:pic>
          <p:nvPicPr>
            <p:cNvPr id="79" name="Picture 117">
              <a:extLst>
                <a:ext uri="{FF2B5EF4-FFF2-40B4-BE49-F238E27FC236}">
                  <a16:creationId xmlns="" xmlns:a16="http://schemas.microsoft.com/office/drawing/2014/main" id="{FB83395B-A8BE-67C1-3179-8584AD645B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7083" y="4998949"/>
              <a:ext cx="1032143" cy="790145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="" xmlns:a16="http://schemas.microsoft.com/office/drawing/2014/main" id="{E4EAC9E1-52DB-4CD6-C905-7BFD89373D7E}"/>
                </a:ext>
              </a:extLst>
            </p:cNvPr>
            <p:cNvSpPr txBox="1"/>
            <p:nvPr/>
          </p:nvSpPr>
          <p:spPr>
            <a:xfrm>
              <a:off x="2582717" y="5716751"/>
              <a:ext cx="938077" cy="369332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79EF"/>
                  </a:solidFill>
                  <a:effectLst/>
                  <a:uLnTx/>
                  <a:uFillTx/>
                  <a:latin typeface="Calibri"/>
                  <a:ea typeface="Roboto Light" charset="0"/>
                  <a:cs typeface="Roboto Light" charset="0"/>
                </a:rPr>
                <a:t>Hadoop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="" xmlns:a16="http://schemas.microsoft.com/office/drawing/2014/main" id="{499778F8-56F3-31AD-397E-5211C78E3E56}"/>
                </a:ext>
              </a:extLst>
            </p:cNvPr>
            <p:cNvSpPr txBox="1"/>
            <p:nvPr/>
          </p:nvSpPr>
          <p:spPr>
            <a:xfrm>
              <a:off x="4075145" y="5716751"/>
              <a:ext cx="1590308" cy="369332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79EF"/>
                  </a:solidFill>
                  <a:effectLst/>
                  <a:uLnTx/>
                  <a:uFillTx/>
                  <a:latin typeface="Calibri"/>
                  <a:ea typeface="Roboto Light" charset="0"/>
                  <a:cs typeface="Roboto Light" charset="0"/>
                </a:rPr>
                <a:t>Object Storage</a:t>
              </a:r>
            </a:p>
          </p:txBody>
        </p:sp>
        <p:grpSp>
          <p:nvGrpSpPr>
            <p:cNvPr id="82" name="Group 57">
              <a:extLst>
                <a:ext uri="{FF2B5EF4-FFF2-40B4-BE49-F238E27FC236}">
                  <a16:creationId xmlns="" xmlns:a16="http://schemas.microsoft.com/office/drawing/2014/main" id="{521790DA-648B-72D6-7048-E7E0CF69ACCC}"/>
                </a:ext>
              </a:extLst>
            </p:cNvPr>
            <p:cNvGrpSpPr/>
            <p:nvPr/>
          </p:nvGrpSpPr>
          <p:grpSpPr>
            <a:xfrm>
              <a:off x="3918097" y="3579114"/>
              <a:ext cx="87329" cy="95223"/>
              <a:chOff x="1592378" y="3724158"/>
              <a:chExt cx="87329" cy="95223"/>
            </a:xfrm>
          </p:grpSpPr>
          <p:cxnSp>
            <p:nvCxnSpPr>
              <p:cNvPr id="125" name="Straight Connector 58">
                <a:extLst>
                  <a:ext uri="{FF2B5EF4-FFF2-40B4-BE49-F238E27FC236}">
                    <a16:creationId xmlns="" xmlns:a16="http://schemas.microsoft.com/office/drawing/2014/main" id="{B70849EF-3C30-1C30-1DC3-AF9057C0FFF7}"/>
                  </a:ext>
                </a:extLst>
              </p:cNvPr>
              <p:cNvCxnSpPr/>
              <p:nvPr/>
            </p:nvCxnSpPr>
            <p:spPr>
              <a:xfrm>
                <a:off x="1592378" y="3724158"/>
                <a:ext cx="45720" cy="91440"/>
              </a:xfrm>
              <a:prstGeom prst="line">
                <a:avLst/>
              </a:prstGeom>
              <a:noFill/>
              <a:ln w="28575" cap="flat" cmpd="sng" algn="ctr">
                <a:solidFill>
                  <a:srgbClr val="0079EF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26" name="Straight Connector 59">
                <a:extLst>
                  <a:ext uri="{FF2B5EF4-FFF2-40B4-BE49-F238E27FC236}">
                    <a16:creationId xmlns="" xmlns:a16="http://schemas.microsoft.com/office/drawing/2014/main" id="{6D9F681B-AD6F-1A1B-191A-B216E96C2517}"/>
                  </a:ext>
                </a:extLst>
              </p:cNvPr>
              <p:cNvCxnSpPr/>
              <p:nvPr/>
            </p:nvCxnSpPr>
            <p:spPr>
              <a:xfrm flipV="1">
                <a:off x="1633987" y="3727941"/>
                <a:ext cx="45720" cy="91440"/>
              </a:xfrm>
              <a:prstGeom prst="line">
                <a:avLst/>
              </a:prstGeom>
              <a:noFill/>
              <a:ln w="28575" cap="flat" cmpd="sng" algn="ctr">
                <a:solidFill>
                  <a:srgbClr val="0079EF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83" name="Group 26">
              <a:extLst>
                <a:ext uri="{FF2B5EF4-FFF2-40B4-BE49-F238E27FC236}">
                  <a16:creationId xmlns="" xmlns:a16="http://schemas.microsoft.com/office/drawing/2014/main" id="{46CFD3A5-3358-FF70-D1A0-7C6887E43092}"/>
                </a:ext>
              </a:extLst>
            </p:cNvPr>
            <p:cNvGrpSpPr/>
            <p:nvPr/>
          </p:nvGrpSpPr>
          <p:grpSpPr>
            <a:xfrm>
              <a:off x="4853930" y="4158208"/>
              <a:ext cx="716804" cy="527647"/>
              <a:chOff x="1403705" y="3622443"/>
              <a:chExt cx="266726" cy="196340"/>
            </a:xfrm>
            <a:solidFill>
              <a:srgbClr val="0078EF"/>
            </a:solidFill>
          </p:grpSpPr>
          <p:sp>
            <p:nvSpPr>
              <p:cNvPr id="122" name="Freeform 92">
                <a:extLst>
                  <a:ext uri="{FF2B5EF4-FFF2-40B4-BE49-F238E27FC236}">
                    <a16:creationId xmlns="" xmlns:a16="http://schemas.microsoft.com/office/drawing/2014/main" id="{446E6128-609E-125B-A94B-3D0206D95C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3705" y="3622443"/>
                <a:ext cx="266726" cy="196340"/>
              </a:xfrm>
              <a:custGeom>
                <a:avLst/>
                <a:gdLst>
                  <a:gd name="T0" fmla="*/ 612 w 633"/>
                  <a:gd name="T1" fmla="*/ 0 h 466"/>
                  <a:gd name="T2" fmla="*/ 612 w 633"/>
                  <a:gd name="T3" fmla="*/ 0 h 466"/>
                  <a:gd name="T4" fmla="*/ 21 w 633"/>
                  <a:gd name="T5" fmla="*/ 0 h 466"/>
                  <a:gd name="T6" fmla="*/ 0 w 633"/>
                  <a:gd name="T7" fmla="*/ 21 h 466"/>
                  <a:gd name="T8" fmla="*/ 0 w 633"/>
                  <a:gd name="T9" fmla="*/ 336 h 466"/>
                  <a:gd name="T10" fmla="*/ 3 w 633"/>
                  <a:gd name="T11" fmla="*/ 343 h 466"/>
                  <a:gd name="T12" fmla="*/ 105 w 633"/>
                  <a:gd name="T13" fmla="*/ 461 h 466"/>
                  <a:gd name="T14" fmla="*/ 114 w 633"/>
                  <a:gd name="T15" fmla="*/ 465 h 466"/>
                  <a:gd name="T16" fmla="*/ 612 w 633"/>
                  <a:gd name="T17" fmla="*/ 465 h 466"/>
                  <a:gd name="T18" fmla="*/ 632 w 633"/>
                  <a:gd name="T19" fmla="*/ 444 h 466"/>
                  <a:gd name="T20" fmla="*/ 632 w 633"/>
                  <a:gd name="T21" fmla="*/ 21 h 466"/>
                  <a:gd name="T22" fmla="*/ 612 w 633"/>
                  <a:gd name="T23" fmla="*/ 0 h 466"/>
                  <a:gd name="T24" fmla="*/ 30 w 633"/>
                  <a:gd name="T25" fmla="*/ 339 h 466"/>
                  <a:gd name="T26" fmla="*/ 30 w 633"/>
                  <a:gd name="T27" fmla="*/ 339 h 466"/>
                  <a:gd name="T28" fmla="*/ 105 w 633"/>
                  <a:gd name="T29" fmla="*/ 339 h 466"/>
                  <a:gd name="T30" fmla="*/ 105 w 633"/>
                  <a:gd name="T31" fmla="*/ 425 h 466"/>
                  <a:gd name="T32" fmla="*/ 30 w 633"/>
                  <a:gd name="T33" fmla="*/ 339 h 466"/>
                  <a:gd name="T34" fmla="*/ 609 w 633"/>
                  <a:gd name="T35" fmla="*/ 441 h 466"/>
                  <a:gd name="T36" fmla="*/ 609 w 633"/>
                  <a:gd name="T37" fmla="*/ 441 h 466"/>
                  <a:gd name="T38" fmla="*/ 129 w 633"/>
                  <a:gd name="T39" fmla="*/ 441 h 466"/>
                  <a:gd name="T40" fmla="*/ 129 w 633"/>
                  <a:gd name="T41" fmla="*/ 327 h 466"/>
                  <a:gd name="T42" fmla="*/ 117 w 633"/>
                  <a:gd name="T43" fmla="*/ 316 h 466"/>
                  <a:gd name="T44" fmla="*/ 24 w 633"/>
                  <a:gd name="T45" fmla="*/ 316 h 466"/>
                  <a:gd name="T46" fmla="*/ 24 w 633"/>
                  <a:gd name="T47" fmla="*/ 24 h 466"/>
                  <a:gd name="T48" fmla="*/ 609 w 633"/>
                  <a:gd name="T49" fmla="*/ 24 h 466"/>
                  <a:gd name="T50" fmla="*/ 609 w 633"/>
                  <a:gd name="T51" fmla="*/ 441 h 4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33" h="466">
                    <a:moveTo>
                      <a:pt x="612" y="0"/>
                    </a:moveTo>
                    <a:lnTo>
                      <a:pt x="612" y="0"/>
                    </a:lnTo>
                    <a:cubicBezTo>
                      <a:pt x="21" y="0"/>
                      <a:pt x="21" y="0"/>
                      <a:pt x="21" y="0"/>
                    </a:cubicBezTo>
                    <a:cubicBezTo>
                      <a:pt x="9" y="0"/>
                      <a:pt x="0" y="10"/>
                      <a:pt x="0" y="21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0" y="339"/>
                      <a:pt x="1" y="341"/>
                      <a:pt x="3" y="343"/>
                    </a:cubicBezTo>
                    <a:cubicBezTo>
                      <a:pt x="105" y="461"/>
                      <a:pt x="105" y="461"/>
                      <a:pt x="105" y="461"/>
                    </a:cubicBezTo>
                    <a:cubicBezTo>
                      <a:pt x="107" y="463"/>
                      <a:pt x="110" y="465"/>
                      <a:pt x="114" y="465"/>
                    </a:cubicBezTo>
                    <a:cubicBezTo>
                      <a:pt x="612" y="465"/>
                      <a:pt x="612" y="465"/>
                      <a:pt x="612" y="465"/>
                    </a:cubicBezTo>
                    <a:cubicBezTo>
                      <a:pt x="623" y="465"/>
                      <a:pt x="632" y="455"/>
                      <a:pt x="632" y="444"/>
                    </a:cubicBezTo>
                    <a:cubicBezTo>
                      <a:pt x="632" y="21"/>
                      <a:pt x="632" y="21"/>
                      <a:pt x="632" y="21"/>
                    </a:cubicBezTo>
                    <a:cubicBezTo>
                      <a:pt x="632" y="10"/>
                      <a:pt x="623" y="0"/>
                      <a:pt x="612" y="0"/>
                    </a:cubicBezTo>
                    <a:close/>
                    <a:moveTo>
                      <a:pt x="30" y="339"/>
                    </a:moveTo>
                    <a:lnTo>
                      <a:pt x="30" y="339"/>
                    </a:lnTo>
                    <a:cubicBezTo>
                      <a:pt x="105" y="339"/>
                      <a:pt x="105" y="339"/>
                      <a:pt x="105" y="339"/>
                    </a:cubicBezTo>
                    <a:cubicBezTo>
                      <a:pt x="105" y="425"/>
                      <a:pt x="105" y="425"/>
                      <a:pt x="105" y="425"/>
                    </a:cubicBezTo>
                    <a:lnTo>
                      <a:pt x="30" y="339"/>
                    </a:lnTo>
                    <a:close/>
                    <a:moveTo>
                      <a:pt x="609" y="441"/>
                    </a:moveTo>
                    <a:lnTo>
                      <a:pt x="609" y="441"/>
                    </a:lnTo>
                    <a:cubicBezTo>
                      <a:pt x="129" y="441"/>
                      <a:pt x="129" y="441"/>
                      <a:pt x="129" y="441"/>
                    </a:cubicBezTo>
                    <a:cubicBezTo>
                      <a:pt x="129" y="327"/>
                      <a:pt x="129" y="327"/>
                      <a:pt x="129" y="327"/>
                    </a:cubicBezTo>
                    <a:cubicBezTo>
                      <a:pt x="129" y="321"/>
                      <a:pt x="124" y="316"/>
                      <a:pt x="117" y="316"/>
                    </a:cubicBezTo>
                    <a:cubicBezTo>
                      <a:pt x="24" y="316"/>
                      <a:pt x="24" y="316"/>
                      <a:pt x="24" y="316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609" y="24"/>
                      <a:pt x="609" y="24"/>
                      <a:pt x="609" y="24"/>
                    </a:cubicBezTo>
                    <a:lnTo>
                      <a:pt x="609" y="441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88" b="0" i="0" u="none" strike="noStrike" kern="0" cap="none" spc="0" normalizeH="0" baseline="0" noProof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  <p:sp>
            <p:nvSpPr>
              <p:cNvPr id="123" name="Freeform 93">
                <a:extLst>
                  <a:ext uri="{FF2B5EF4-FFF2-40B4-BE49-F238E27FC236}">
                    <a16:creationId xmlns="" xmlns:a16="http://schemas.microsoft.com/office/drawing/2014/main" id="{CBE2767C-8179-F35D-5F88-3380A5EFA8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2603" y="3666897"/>
                <a:ext cx="194487" cy="9262"/>
              </a:xfrm>
              <a:custGeom>
                <a:avLst/>
                <a:gdLst>
                  <a:gd name="T0" fmla="*/ 11 w 465"/>
                  <a:gd name="T1" fmla="*/ 23 h 24"/>
                  <a:gd name="T2" fmla="*/ 11 w 465"/>
                  <a:gd name="T3" fmla="*/ 23 h 24"/>
                  <a:gd name="T4" fmla="*/ 452 w 465"/>
                  <a:gd name="T5" fmla="*/ 23 h 24"/>
                  <a:gd name="T6" fmla="*/ 464 w 465"/>
                  <a:gd name="T7" fmla="*/ 11 h 24"/>
                  <a:gd name="T8" fmla="*/ 452 w 465"/>
                  <a:gd name="T9" fmla="*/ 0 h 24"/>
                  <a:gd name="T10" fmla="*/ 11 w 465"/>
                  <a:gd name="T11" fmla="*/ 0 h 24"/>
                  <a:gd name="T12" fmla="*/ 0 w 465"/>
                  <a:gd name="T13" fmla="*/ 11 h 24"/>
                  <a:gd name="T14" fmla="*/ 11 w 465"/>
                  <a:gd name="T15" fmla="*/ 23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65" h="24">
                    <a:moveTo>
                      <a:pt x="11" y="23"/>
                    </a:moveTo>
                    <a:lnTo>
                      <a:pt x="11" y="23"/>
                    </a:lnTo>
                    <a:cubicBezTo>
                      <a:pt x="452" y="23"/>
                      <a:pt x="452" y="23"/>
                      <a:pt x="452" y="23"/>
                    </a:cubicBezTo>
                    <a:cubicBezTo>
                      <a:pt x="459" y="23"/>
                      <a:pt x="464" y="18"/>
                      <a:pt x="464" y="11"/>
                    </a:cubicBezTo>
                    <a:cubicBezTo>
                      <a:pt x="464" y="5"/>
                      <a:pt x="459" y="0"/>
                      <a:pt x="452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5"/>
                      <a:pt x="0" y="11"/>
                    </a:cubicBezTo>
                    <a:cubicBezTo>
                      <a:pt x="0" y="18"/>
                      <a:pt x="5" y="23"/>
                      <a:pt x="11" y="23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88" b="0" i="0" u="none" strike="noStrike" kern="0" cap="none" spc="0" normalizeH="0" baseline="0" noProof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  <p:sp>
            <p:nvSpPr>
              <p:cNvPr id="124" name="Freeform 94">
                <a:extLst>
                  <a:ext uri="{FF2B5EF4-FFF2-40B4-BE49-F238E27FC236}">
                    <a16:creationId xmlns="" xmlns:a16="http://schemas.microsoft.com/office/drawing/2014/main" id="{753BF08B-AE96-680F-AB9A-30ABA2D8BE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2603" y="3702091"/>
                <a:ext cx="151885" cy="9261"/>
              </a:xfrm>
              <a:custGeom>
                <a:avLst/>
                <a:gdLst>
                  <a:gd name="T0" fmla="*/ 11 w 360"/>
                  <a:gd name="T1" fmla="*/ 23 h 24"/>
                  <a:gd name="T2" fmla="*/ 11 w 360"/>
                  <a:gd name="T3" fmla="*/ 23 h 24"/>
                  <a:gd name="T4" fmla="*/ 347 w 360"/>
                  <a:gd name="T5" fmla="*/ 23 h 24"/>
                  <a:gd name="T6" fmla="*/ 359 w 360"/>
                  <a:gd name="T7" fmla="*/ 11 h 24"/>
                  <a:gd name="T8" fmla="*/ 347 w 360"/>
                  <a:gd name="T9" fmla="*/ 0 h 24"/>
                  <a:gd name="T10" fmla="*/ 11 w 360"/>
                  <a:gd name="T11" fmla="*/ 0 h 24"/>
                  <a:gd name="T12" fmla="*/ 0 w 360"/>
                  <a:gd name="T13" fmla="*/ 11 h 24"/>
                  <a:gd name="T14" fmla="*/ 11 w 360"/>
                  <a:gd name="T15" fmla="*/ 23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0" h="24">
                    <a:moveTo>
                      <a:pt x="11" y="23"/>
                    </a:moveTo>
                    <a:lnTo>
                      <a:pt x="11" y="23"/>
                    </a:lnTo>
                    <a:cubicBezTo>
                      <a:pt x="347" y="23"/>
                      <a:pt x="347" y="23"/>
                      <a:pt x="347" y="23"/>
                    </a:cubicBezTo>
                    <a:cubicBezTo>
                      <a:pt x="354" y="23"/>
                      <a:pt x="359" y="18"/>
                      <a:pt x="359" y="11"/>
                    </a:cubicBezTo>
                    <a:cubicBezTo>
                      <a:pt x="359" y="5"/>
                      <a:pt x="354" y="0"/>
                      <a:pt x="347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5"/>
                      <a:pt x="0" y="11"/>
                    </a:cubicBezTo>
                    <a:cubicBezTo>
                      <a:pt x="0" y="18"/>
                      <a:pt x="5" y="23"/>
                      <a:pt x="11" y="23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88" b="0" i="0" u="none" strike="noStrike" kern="0" cap="none" spc="0" normalizeH="0" baseline="0" noProof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</p:grpSp>
        <p:grpSp>
          <p:nvGrpSpPr>
            <p:cNvPr id="84" name="Group 42">
              <a:extLst>
                <a:ext uri="{FF2B5EF4-FFF2-40B4-BE49-F238E27FC236}">
                  <a16:creationId xmlns="" xmlns:a16="http://schemas.microsoft.com/office/drawing/2014/main" id="{1BB17FCD-EE25-E1D3-B594-F65930589AFD}"/>
                </a:ext>
              </a:extLst>
            </p:cNvPr>
            <p:cNvGrpSpPr/>
            <p:nvPr/>
          </p:nvGrpSpPr>
          <p:grpSpPr>
            <a:xfrm>
              <a:off x="4013451" y="4158209"/>
              <a:ext cx="716804" cy="527647"/>
              <a:chOff x="1403705" y="3622443"/>
              <a:chExt cx="266726" cy="196340"/>
            </a:xfrm>
            <a:solidFill>
              <a:srgbClr val="0078EF"/>
            </a:solidFill>
          </p:grpSpPr>
          <p:sp>
            <p:nvSpPr>
              <p:cNvPr id="119" name="Freeform 92">
                <a:extLst>
                  <a:ext uri="{FF2B5EF4-FFF2-40B4-BE49-F238E27FC236}">
                    <a16:creationId xmlns="" xmlns:a16="http://schemas.microsoft.com/office/drawing/2014/main" id="{4725C3C8-0F6A-3851-2A5F-8F5000CAF5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3705" y="3622443"/>
                <a:ext cx="266726" cy="196340"/>
              </a:xfrm>
              <a:custGeom>
                <a:avLst/>
                <a:gdLst>
                  <a:gd name="T0" fmla="*/ 612 w 633"/>
                  <a:gd name="T1" fmla="*/ 0 h 466"/>
                  <a:gd name="T2" fmla="*/ 612 w 633"/>
                  <a:gd name="T3" fmla="*/ 0 h 466"/>
                  <a:gd name="T4" fmla="*/ 21 w 633"/>
                  <a:gd name="T5" fmla="*/ 0 h 466"/>
                  <a:gd name="T6" fmla="*/ 0 w 633"/>
                  <a:gd name="T7" fmla="*/ 21 h 466"/>
                  <a:gd name="T8" fmla="*/ 0 w 633"/>
                  <a:gd name="T9" fmla="*/ 336 h 466"/>
                  <a:gd name="T10" fmla="*/ 3 w 633"/>
                  <a:gd name="T11" fmla="*/ 343 h 466"/>
                  <a:gd name="T12" fmla="*/ 105 w 633"/>
                  <a:gd name="T13" fmla="*/ 461 h 466"/>
                  <a:gd name="T14" fmla="*/ 114 w 633"/>
                  <a:gd name="T15" fmla="*/ 465 h 466"/>
                  <a:gd name="T16" fmla="*/ 612 w 633"/>
                  <a:gd name="T17" fmla="*/ 465 h 466"/>
                  <a:gd name="T18" fmla="*/ 632 w 633"/>
                  <a:gd name="T19" fmla="*/ 444 h 466"/>
                  <a:gd name="T20" fmla="*/ 632 w 633"/>
                  <a:gd name="T21" fmla="*/ 21 h 466"/>
                  <a:gd name="T22" fmla="*/ 612 w 633"/>
                  <a:gd name="T23" fmla="*/ 0 h 466"/>
                  <a:gd name="T24" fmla="*/ 30 w 633"/>
                  <a:gd name="T25" fmla="*/ 339 h 466"/>
                  <a:gd name="T26" fmla="*/ 30 w 633"/>
                  <a:gd name="T27" fmla="*/ 339 h 466"/>
                  <a:gd name="T28" fmla="*/ 105 w 633"/>
                  <a:gd name="T29" fmla="*/ 339 h 466"/>
                  <a:gd name="T30" fmla="*/ 105 w 633"/>
                  <a:gd name="T31" fmla="*/ 425 h 466"/>
                  <a:gd name="T32" fmla="*/ 30 w 633"/>
                  <a:gd name="T33" fmla="*/ 339 h 466"/>
                  <a:gd name="T34" fmla="*/ 609 w 633"/>
                  <a:gd name="T35" fmla="*/ 441 h 466"/>
                  <a:gd name="T36" fmla="*/ 609 w 633"/>
                  <a:gd name="T37" fmla="*/ 441 h 466"/>
                  <a:gd name="T38" fmla="*/ 129 w 633"/>
                  <a:gd name="T39" fmla="*/ 441 h 466"/>
                  <a:gd name="T40" fmla="*/ 129 w 633"/>
                  <a:gd name="T41" fmla="*/ 327 h 466"/>
                  <a:gd name="T42" fmla="*/ 117 w 633"/>
                  <a:gd name="T43" fmla="*/ 316 h 466"/>
                  <a:gd name="T44" fmla="*/ 24 w 633"/>
                  <a:gd name="T45" fmla="*/ 316 h 466"/>
                  <a:gd name="T46" fmla="*/ 24 w 633"/>
                  <a:gd name="T47" fmla="*/ 24 h 466"/>
                  <a:gd name="T48" fmla="*/ 609 w 633"/>
                  <a:gd name="T49" fmla="*/ 24 h 466"/>
                  <a:gd name="T50" fmla="*/ 609 w 633"/>
                  <a:gd name="T51" fmla="*/ 441 h 4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33" h="466">
                    <a:moveTo>
                      <a:pt x="612" y="0"/>
                    </a:moveTo>
                    <a:lnTo>
                      <a:pt x="612" y="0"/>
                    </a:lnTo>
                    <a:cubicBezTo>
                      <a:pt x="21" y="0"/>
                      <a:pt x="21" y="0"/>
                      <a:pt x="21" y="0"/>
                    </a:cubicBezTo>
                    <a:cubicBezTo>
                      <a:pt x="9" y="0"/>
                      <a:pt x="0" y="10"/>
                      <a:pt x="0" y="21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0" y="339"/>
                      <a:pt x="1" y="341"/>
                      <a:pt x="3" y="343"/>
                    </a:cubicBezTo>
                    <a:cubicBezTo>
                      <a:pt x="105" y="461"/>
                      <a:pt x="105" y="461"/>
                      <a:pt x="105" y="461"/>
                    </a:cubicBezTo>
                    <a:cubicBezTo>
                      <a:pt x="107" y="463"/>
                      <a:pt x="110" y="465"/>
                      <a:pt x="114" y="465"/>
                    </a:cubicBezTo>
                    <a:cubicBezTo>
                      <a:pt x="612" y="465"/>
                      <a:pt x="612" y="465"/>
                      <a:pt x="612" y="465"/>
                    </a:cubicBezTo>
                    <a:cubicBezTo>
                      <a:pt x="623" y="465"/>
                      <a:pt x="632" y="455"/>
                      <a:pt x="632" y="444"/>
                    </a:cubicBezTo>
                    <a:cubicBezTo>
                      <a:pt x="632" y="21"/>
                      <a:pt x="632" y="21"/>
                      <a:pt x="632" y="21"/>
                    </a:cubicBezTo>
                    <a:cubicBezTo>
                      <a:pt x="632" y="10"/>
                      <a:pt x="623" y="0"/>
                      <a:pt x="612" y="0"/>
                    </a:cubicBezTo>
                    <a:close/>
                    <a:moveTo>
                      <a:pt x="30" y="339"/>
                    </a:moveTo>
                    <a:lnTo>
                      <a:pt x="30" y="339"/>
                    </a:lnTo>
                    <a:cubicBezTo>
                      <a:pt x="105" y="339"/>
                      <a:pt x="105" y="339"/>
                      <a:pt x="105" y="339"/>
                    </a:cubicBezTo>
                    <a:cubicBezTo>
                      <a:pt x="105" y="425"/>
                      <a:pt x="105" y="425"/>
                      <a:pt x="105" y="425"/>
                    </a:cubicBezTo>
                    <a:lnTo>
                      <a:pt x="30" y="339"/>
                    </a:lnTo>
                    <a:close/>
                    <a:moveTo>
                      <a:pt x="609" y="441"/>
                    </a:moveTo>
                    <a:lnTo>
                      <a:pt x="609" y="441"/>
                    </a:lnTo>
                    <a:cubicBezTo>
                      <a:pt x="129" y="441"/>
                      <a:pt x="129" y="441"/>
                      <a:pt x="129" y="441"/>
                    </a:cubicBezTo>
                    <a:cubicBezTo>
                      <a:pt x="129" y="327"/>
                      <a:pt x="129" y="327"/>
                      <a:pt x="129" y="327"/>
                    </a:cubicBezTo>
                    <a:cubicBezTo>
                      <a:pt x="129" y="321"/>
                      <a:pt x="124" y="316"/>
                      <a:pt x="117" y="316"/>
                    </a:cubicBezTo>
                    <a:cubicBezTo>
                      <a:pt x="24" y="316"/>
                      <a:pt x="24" y="316"/>
                      <a:pt x="24" y="316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609" y="24"/>
                      <a:pt x="609" y="24"/>
                      <a:pt x="609" y="24"/>
                    </a:cubicBezTo>
                    <a:lnTo>
                      <a:pt x="609" y="441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88" b="0" i="0" u="none" strike="noStrike" kern="0" cap="none" spc="0" normalizeH="0" baseline="0" noProof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  <p:sp>
            <p:nvSpPr>
              <p:cNvPr id="120" name="Freeform 93">
                <a:extLst>
                  <a:ext uri="{FF2B5EF4-FFF2-40B4-BE49-F238E27FC236}">
                    <a16:creationId xmlns="" xmlns:a16="http://schemas.microsoft.com/office/drawing/2014/main" id="{A051D8B4-25CE-BE23-F2A5-ED82837051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2603" y="3666897"/>
                <a:ext cx="194487" cy="9262"/>
              </a:xfrm>
              <a:custGeom>
                <a:avLst/>
                <a:gdLst>
                  <a:gd name="T0" fmla="*/ 11 w 465"/>
                  <a:gd name="T1" fmla="*/ 23 h 24"/>
                  <a:gd name="T2" fmla="*/ 11 w 465"/>
                  <a:gd name="T3" fmla="*/ 23 h 24"/>
                  <a:gd name="T4" fmla="*/ 452 w 465"/>
                  <a:gd name="T5" fmla="*/ 23 h 24"/>
                  <a:gd name="T6" fmla="*/ 464 w 465"/>
                  <a:gd name="T7" fmla="*/ 11 h 24"/>
                  <a:gd name="T8" fmla="*/ 452 w 465"/>
                  <a:gd name="T9" fmla="*/ 0 h 24"/>
                  <a:gd name="T10" fmla="*/ 11 w 465"/>
                  <a:gd name="T11" fmla="*/ 0 h 24"/>
                  <a:gd name="T12" fmla="*/ 0 w 465"/>
                  <a:gd name="T13" fmla="*/ 11 h 24"/>
                  <a:gd name="T14" fmla="*/ 11 w 465"/>
                  <a:gd name="T15" fmla="*/ 23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65" h="24">
                    <a:moveTo>
                      <a:pt x="11" y="23"/>
                    </a:moveTo>
                    <a:lnTo>
                      <a:pt x="11" y="23"/>
                    </a:lnTo>
                    <a:cubicBezTo>
                      <a:pt x="452" y="23"/>
                      <a:pt x="452" y="23"/>
                      <a:pt x="452" y="23"/>
                    </a:cubicBezTo>
                    <a:cubicBezTo>
                      <a:pt x="459" y="23"/>
                      <a:pt x="464" y="18"/>
                      <a:pt x="464" y="11"/>
                    </a:cubicBezTo>
                    <a:cubicBezTo>
                      <a:pt x="464" y="5"/>
                      <a:pt x="459" y="0"/>
                      <a:pt x="452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5"/>
                      <a:pt x="0" y="11"/>
                    </a:cubicBezTo>
                    <a:cubicBezTo>
                      <a:pt x="0" y="18"/>
                      <a:pt x="5" y="23"/>
                      <a:pt x="11" y="23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88" b="0" i="0" u="none" strike="noStrike" kern="0" cap="none" spc="0" normalizeH="0" baseline="0" noProof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  <p:sp>
            <p:nvSpPr>
              <p:cNvPr id="121" name="Freeform 94">
                <a:extLst>
                  <a:ext uri="{FF2B5EF4-FFF2-40B4-BE49-F238E27FC236}">
                    <a16:creationId xmlns="" xmlns:a16="http://schemas.microsoft.com/office/drawing/2014/main" id="{AF3BD680-6D96-5104-61DD-702B083CCF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2603" y="3702091"/>
                <a:ext cx="151885" cy="9261"/>
              </a:xfrm>
              <a:custGeom>
                <a:avLst/>
                <a:gdLst>
                  <a:gd name="T0" fmla="*/ 11 w 360"/>
                  <a:gd name="T1" fmla="*/ 23 h 24"/>
                  <a:gd name="T2" fmla="*/ 11 w 360"/>
                  <a:gd name="T3" fmla="*/ 23 h 24"/>
                  <a:gd name="T4" fmla="*/ 347 w 360"/>
                  <a:gd name="T5" fmla="*/ 23 h 24"/>
                  <a:gd name="T6" fmla="*/ 359 w 360"/>
                  <a:gd name="T7" fmla="*/ 11 h 24"/>
                  <a:gd name="T8" fmla="*/ 347 w 360"/>
                  <a:gd name="T9" fmla="*/ 0 h 24"/>
                  <a:gd name="T10" fmla="*/ 11 w 360"/>
                  <a:gd name="T11" fmla="*/ 0 h 24"/>
                  <a:gd name="T12" fmla="*/ 0 w 360"/>
                  <a:gd name="T13" fmla="*/ 11 h 24"/>
                  <a:gd name="T14" fmla="*/ 11 w 360"/>
                  <a:gd name="T15" fmla="*/ 23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0" h="24">
                    <a:moveTo>
                      <a:pt x="11" y="23"/>
                    </a:moveTo>
                    <a:lnTo>
                      <a:pt x="11" y="23"/>
                    </a:lnTo>
                    <a:cubicBezTo>
                      <a:pt x="347" y="23"/>
                      <a:pt x="347" y="23"/>
                      <a:pt x="347" y="23"/>
                    </a:cubicBezTo>
                    <a:cubicBezTo>
                      <a:pt x="354" y="23"/>
                      <a:pt x="359" y="18"/>
                      <a:pt x="359" y="11"/>
                    </a:cubicBezTo>
                    <a:cubicBezTo>
                      <a:pt x="359" y="5"/>
                      <a:pt x="354" y="0"/>
                      <a:pt x="347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5"/>
                      <a:pt x="0" y="11"/>
                    </a:cubicBezTo>
                    <a:cubicBezTo>
                      <a:pt x="0" y="18"/>
                      <a:pt x="5" y="23"/>
                      <a:pt x="11" y="23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88" b="0" i="0" u="none" strike="noStrike" kern="0" cap="none" spc="0" normalizeH="0" baseline="0" noProof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</p:grpSp>
        <p:grpSp>
          <p:nvGrpSpPr>
            <p:cNvPr id="85" name="Group 48">
              <a:extLst>
                <a:ext uri="{FF2B5EF4-FFF2-40B4-BE49-F238E27FC236}">
                  <a16:creationId xmlns="" xmlns:a16="http://schemas.microsoft.com/office/drawing/2014/main" id="{D1A07BD9-EACF-FB1D-795E-E2D5BE38CC4B}"/>
                </a:ext>
              </a:extLst>
            </p:cNvPr>
            <p:cNvGrpSpPr/>
            <p:nvPr/>
          </p:nvGrpSpPr>
          <p:grpSpPr>
            <a:xfrm>
              <a:off x="2356351" y="4158209"/>
              <a:ext cx="716804" cy="527647"/>
              <a:chOff x="1403705" y="3622443"/>
              <a:chExt cx="266726" cy="196340"/>
            </a:xfrm>
            <a:solidFill>
              <a:srgbClr val="0078EF"/>
            </a:solidFill>
          </p:grpSpPr>
          <p:sp>
            <p:nvSpPr>
              <p:cNvPr id="116" name="Freeform 92">
                <a:extLst>
                  <a:ext uri="{FF2B5EF4-FFF2-40B4-BE49-F238E27FC236}">
                    <a16:creationId xmlns="" xmlns:a16="http://schemas.microsoft.com/office/drawing/2014/main" id="{40C46E1F-09E3-B936-B404-093DBBCB3E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3705" y="3622443"/>
                <a:ext cx="266726" cy="196340"/>
              </a:xfrm>
              <a:custGeom>
                <a:avLst/>
                <a:gdLst>
                  <a:gd name="T0" fmla="*/ 612 w 633"/>
                  <a:gd name="T1" fmla="*/ 0 h 466"/>
                  <a:gd name="T2" fmla="*/ 612 w 633"/>
                  <a:gd name="T3" fmla="*/ 0 h 466"/>
                  <a:gd name="T4" fmla="*/ 21 w 633"/>
                  <a:gd name="T5" fmla="*/ 0 h 466"/>
                  <a:gd name="T6" fmla="*/ 0 w 633"/>
                  <a:gd name="T7" fmla="*/ 21 h 466"/>
                  <a:gd name="T8" fmla="*/ 0 w 633"/>
                  <a:gd name="T9" fmla="*/ 336 h 466"/>
                  <a:gd name="T10" fmla="*/ 3 w 633"/>
                  <a:gd name="T11" fmla="*/ 343 h 466"/>
                  <a:gd name="T12" fmla="*/ 105 w 633"/>
                  <a:gd name="T13" fmla="*/ 461 h 466"/>
                  <a:gd name="T14" fmla="*/ 114 w 633"/>
                  <a:gd name="T15" fmla="*/ 465 h 466"/>
                  <a:gd name="T16" fmla="*/ 612 w 633"/>
                  <a:gd name="T17" fmla="*/ 465 h 466"/>
                  <a:gd name="T18" fmla="*/ 632 w 633"/>
                  <a:gd name="T19" fmla="*/ 444 h 466"/>
                  <a:gd name="T20" fmla="*/ 632 w 633"/>
                  <a:gd name="T21" fmla="*/ 21 h 466"/>
                  <a:gd name="T22" fmla="*/ 612 w 633"/>
                  <a:gd name="T23" fmla="*/ 0 h 466"/>
                  <a:gd name="T24" fmla="*/ 30 w 633"/>
                  <a:gd name="T25" fmla="*/ 339 h 466"/>
                  <a:gd name="T26" fmla="*/ 30 w 633"/>
                  <a:gd name="T27" fmla="*/ 339 h 466"/>
                  <a:gd name="T28" fmla="*/ 105 w 633"/>
                  <a:gd name="T29" fmla="*/ 339 h 466"/>
                  <a:gd name="T30" fmla="*/ 105 w 633"/>
                  <a:gd name="T31" fmla="*/ 425 h 466"/>
                  <a:gd name="T32" fmla="*/ 30 w 633"/>
                  <a:gd name="T33" fmla="*/ 339 h 466"/>
                  <a:gd name="T34" fmla="*/ 609 w 633"/>
                  <a:gd name="T35" fmla="*/ 441 h 466"/>
                  <a:gd name="T36" fmla="*/ 609 w 633"/>
                  <a:gd name="T37" fmla="*/ 441 h 466"/>
                  <a:gd name="T38" fmla="*/ 129 w 633"/>
                  <a:gd name="T39" fmla="*/ 441 h 466"/>
                  <a:gd name="T40" fmla="*/ 129 w 633"/>
                  <a:gd name="T41" fmla="*/ 327 h 466"/>
                  <a:gd name="T42" fmla="*/ 117 w 633"/>
                  <a:gd name="T43" fmla="*/ 316 h 466"/>
                  <a:gd name="T44" fmla="*/ 24 w 633"/>
                  <a:gd name="T45" fmla="*/ 316 h 466"/>
                  <a:gd name="T46" fmla="*/ 24 w 633"/>
                  <a:gd name="T47" fmla="*/ 24 h 466"/>
                  <a:gd name="T48" fmla="*/ 609 w 633"/>
                  <a:gd name="T49" fmla="*/ 24 h 466"/>
                  <a:gd name="T50" fmla="*/ 609 w 633"/>
                  <a:gd name="T51" fmla="*/ 441 h 4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33" h="466">
                    <a:moveTo>
                      <a:pt x="612" y="0"/>
                    </a:moveTo>
                    <a:lnTo>
                      <a:pt x="612" y="0"/>
                    </a:lnTo>
                    <a:cubicBezTo>
                      <a:pt x="21" y="0"/>
                      <a:pt x="21" y="0"/>
                      <a:pt x="21" y="0"/>
                    </a:cubicBezTo>
                    <a:cubicBezTo>
                      <a:pt x="9" y="0"/>
                      <a:pt x="0" y="10"/>
                      <a:pt x="0" y="21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0" y="339"/>
                      <a:pt x="1" y="341"/>
                      <a:pt x="3" y="343"/>
                    </a:cubicBezTo>
                    <a:cubicBezTo>
                      <a:pt x="105" y="461"/>
                      <a:pt x="105" y="461"/>
                      <a:pt x="105" y="461"/>
                    </a:cubicBezTo>
                    <a:cubicBezTo>
                      <a:pt x="107" y="463"/>
                      <a:pt x="110" y="465"/>
                      <a:pt x="114" y="465"/>
                    </a:cubicBezTo>
                    <a:cubicBezTo>
                      <a:pt x="612" y="465"/>
                      <a:pt x="612" y="465"/>
                      <a:pt x="612" y="465"/>
                    </a:cubicBezTo>
                    <a:cubicBezTo>
                      <a:pt x="623" y="465"/>
                      <a:pt x="632" y="455"/>
                      <a:pt x="632" y="444"/>
                    </a:cubicBezTo>
                    <a:cubicBezTo>
                      <a:pt x="632" y="21"/>
                      <a:pt x="632" y="21"/>
                      <a:pt x="632" y="21"/>
                    </a:cubicBezTo>
                    <a:cubicBezTo>
                      <a:pt x="632" y="10"/>
                      <a:pt x="623" y="0"/>
                      <a:pt x="612" y="0"/>
                    </a:cubicBezTo>
                    <a:close/>
                    <a:moveTo>
                      <a:pt x="30" y="339"/>
                    </a:moveTo>
                    <a:lnTo>
                      <a:pt x="30" y="339"/>
                    </a:lnTo>
                    <a:cubicBezTo>
                      <a:pt x="105" y="339"/>
                      <a:pt x="105" y="339"/>
                      <a:pt x="105" y="339"/>
                    </a:cubicBezTo>
                    <a:cubicBezTo>
                      <a:pt x="105" y="425"/>
                      <a:pt x="105" y="425"/>
                      <a:pt x="105" y="425"/>
                    </a:cubicBezTo>
                    <a:lnTo>
                      <a:pt x="30" y="339"/>
                    </a:lnTo>
                    <a:close/>
                    <a:moveTo>
                      <a:pt x="609" y="441"/>
                    </a:moveTo>
                    <a:lnTo>
                      <a:pt x="609" y="441"/>
                    </a:lnTo>
                    <a:cubicBezTo>
                      <a:pt x="129" y="441"/>
                      <a:pt x="129" y="441"/>
                      <a:pt x="129" y="441"/>
                    </a:cubicBezTo>
                    <a:cubicBezTo>
                      <a:pt x="129" y="327"/>
                      <a:pt x="129" y="327"/>
                      <a:pt x="129" y="327"/>
                    </a:cubicBezTo>
                    <a:cubicBezTo>
                      <a:pt x="129" y="321"/>
                      <a:pt x="124" y="316"/>
                      <a:pt x="117" y="316"/>
                    </a:cubicBezTo>
                    <a:cubicBezTo>
                      <a:pt x="24" y="316"/>
                      <a:pt x="24" y="316"/>
                      <a:pt x="24" y="316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609" y="24"/>
                      <a:pt x="609" y="24"/>
                      <a:pt x="609" y="24"/>
                    </a:cubicBezTo>
                    <a:lnTo>
                      <a:pt x="609" y="441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88" b="0" i="0" u="none" strike="noStrike" kern="0" cap="none" spc="0" normalizeH="0" baseline="0" noProof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  <p:sp>
            <p:nvSpPr>
              <p:cNvPr id="117" name="Freeform 93">
                <a:extLst>
                  <a:ext uri="{FF2B5EF4-FFF2-40B4-BE49-F238E27FC236}">
                    <a16:creationId xmlns="" xmlns:a16="http://schemas.microsoft.com/office/drawing/2014/main" id="{5B19A6B7-E952-1E06-8EA3-172237CBCE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2603" y="3666899"/>
                <a:ext cx="194487" cy="9262"/>
              </a:xfrm>
              <a:custGeom>
                <a:avLst/>
                <a:gdLst>
                  <a:gd name="T0" fmla="*/ 11 w 465"/>
                  <a:gd name="T1" fmla="*/ 23 h 24"/>
                  <a:gd name="T2" fmla="*/ 11 w 465"/>
                  <a:gd name="T3" fmla="*/ 23 h 24"/>
                  <a:gd name="T4" fmla="*/ 452 w 465"/>
                  <a:gd name="T5" fmla="*/ 23 h 24"/>
                  <a:gd name="T6" fmla="*/ 464 w 465"/>
                  <a:gd name="T7" fmla="*/ 11 h 24"/>
                  <a:gd name="T8" fmla="*/ 452 w 465"/>
                  <a:gd name="T9" fmla="*/ 0 h 24"/>
                  <a:gd name="T10" fmla="*/ 11 w 465"/>
                  <a:gd name="T11" fmla="*/ 0 h 24"/>
                  <a:gd name="T12" fmla="*/ 0 w 465"/>
                  <a:gd name="T13" fmla="*/ 11 h 24"/>
                  <a:gd name="T14" fmla="*/ 11 w 465"/>
                  <a:gd name="T15" fmla="*/ 23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65" h="24">
                    <a:moveTo>
                      <a:pt x="11" y="23"/>
                    </a:moveTo>
                    <a:lnTo>
                      <a:pt x="11" y="23"/>
                    </a:lnTo>
                    <a:cubicBezTo>
                      <a:pt x="452" y="23"/>
                      <a:pt x="452" y="23"/>
                      <a:pt x="452" y="23"/>
                    </a:cubicBezTo>
                    <a:cubicBezTo>
                      <a:pt x="459" y="23"/>
                      <a:pt x="464" y="18"/>
                      <a:pt x="464" y="11"/>
                    </a:cubicBezTo>
                    <a:cubicBezTo>
                      <a:pt x="464" y="5"/>
                      <a:pt x="459" y="0"/>
                      <a:pt x="452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5"/>
                      <a:pt x="0" y="11"/>
                    </a:cubicBezTo>
                    <a:cubicBezTo>
                      <a:pt x="0" y="18"/>
                      <a:pt x="5" y="23"/>
                      <a:pt x="11" y="23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88" b="0" i="0" u="none" strike="noStrike" kern="0" cap="none" spc="0" normalizeH="0" baseline="0" noProof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  <p:sp>
            <p:nvSpPr>
              <p:cNvPr id="118" name="Freeform 94">
                <a:extLst>
                  <a:ext uri="{FF2B5EF4-FFF2-40B4-BE49-F238E27FC236}">
                    <a16:creationId xmlns="" xmlns:a16="http://schemas.microsoft.com/office/drawing/2014/main" id="{545904FB-107D-A301-5965-A5F49C972F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2603" y="3702091"/>
                <a:ext cx="151885" cy="9261"/>
              </a:xfrm>
              <a:custGeom>
                <a:avLst/>
                <a:gdLst>
                  <a:gd name="T0" fmla="*/ 11 w 360"/>
                  <a:gd name="T1" fmla="*/ 23 h 24"/>
                  <a:gd name="T2" fmla="*/ 11 w 360"/>
                  <a:gd name="T3" fmla="*/ 23 h 24"/>
                  <a:gd name="T4" fmla="*/ 347 w 360"/>
                  <a:gd name="T5" fmla="*/ 23 h 24"/>
                  <a:gd name="T6" fmla="*/ 359 w 360"/>
                  <a:gd name="T7" fmla="*/ 11 h 24"/>
                  <a:gd name="T8" fmla="*/ 347 w 360"/>
                  <a:gd name="T9" fmla="*/ 0 h 24"/>
                  <a:gd name="T10" fmla="*/ 11 w 360"/>
                  <a:gd name="T11" fmla="*/ 0 h 24"/>
                  <a:gd name="T12" fmla="*/ 0 w 360"/>
                  <a:gd name="T13" fmla="*/ 11 h 24"/>
                  <a:gd name="T14" fmla="*/ 11 w 360"/>
                  <a:gd name="T15" fmla="*/ 23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0" h="24">
                    <a:moveTo>
                      <a:pt x="11" y="23"/>
                    </a:moveTo>
                    <a:lnTo>
                      <a:pt x="11" y="23"/>
                    </a:lnTo>
                    <a:cubicBezTo>
                      <a:pt x="347" y="23"/>
                      <a:pt x="347" y="23"/>
                      <a:pt x="347" y="23"/>
                    </a:cubicBezTo>
                    <a:cubicBezTo>
                      <a:pt x="354" y="23"/>
                      <a:pt x="359" y="18"/>
                      <a:pt x="359" y="11"/>
                    </a:cubicBezTo>
                    <a:cubicBezTo>
                      <a:pt x="359" y="5"/>
                      <a:pt x="354" y="0"/>
                      <a:pt x="347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5"/>
                      <a:pt x="0" y="11"/>
                    </a:cubicBezTo>
                    <a:cubicBezTo>
                      <a:pt x="0" y="18"/>
                      <a:pt x="5" y="23"/>
                      <a:pt x="11" y="23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88" b="0" i="0" u="none" strike="noStrike" kern="0" cap="none" spc="0" normalizeH="0" baseline="0" noProof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</p:grpSp>
        <p:grpSp>
          <p:nvGrpSpPr>
            <p:cNvPr id="86" name="Group 62">
              <a:extLst>
                <a:ext uri="{FF2B5EF4-FFF2-40B4-BE49-F238E27FC236}">
                  <a16:creationId xmlns="" xmlns:a16="http://schemas.microsoft.com/office/drawing/2014/main" id="{57710BEF-2AEB-89E5-8626-C02413F971F7}"/>
                </a:ext>
              </a:extLst>
            </p:cNvPr>
            <p:cNvGrpSpPr/>
            <p:nvPr/>
          </p:nvGrpSpPr>
          <p:grpSpPr>
            <a:xfrm>
              <a:off x="3184901" y="4162124"/>
              <a:ext cx="716804" cy="527647"/>
              <a:chOff x="1403705" y="3622443"/>
              <a:chExt cx="266726" cy="196340"/>
            </a:xfrm>
            <a:solidFill>
              <a:srgbClr val="0078EF"/>
            </a:solidFill>
          </p:grpSpPr>
          <p:sp>
            <p:nvSpPr>
              <p:cNvPr id="113" name="Freeform 92">
                <a:extLst>
                  <a:ext uri="{FF2B5EF4-FFF2-40B4-BE49-F238E27FC236}">
                    <a16:creationId xmlns="" xmlns:a16="http://schemas.microsoft.com/office/drawing/2014/main" id="{BBD414B1-41C5-DAC7-A3D9-C181AAF9B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3705" y="3622443"/>
                <a:ext cx="266726" cy="196340"/>
              </a:xfrm>
              <a:custGeom>
                <a:avLst/>
                <a:gdLst>
                  <a:gd name="T0" fmla="*/ 612 w 633"/>
                  <a:gd name="T1" fmla="*/ 0 h 466"/>
                  <a:gd name="T2" fmla="*/ 612 w 633"/>
                  <a:gd name="T3" fmla="*/ 0 h 466"/>
                  <a:gd name="T4" fmla="*/ 21 w 633"/>
                  <a:gd name="T5" fmla="*/ 0 h 466"/>
                  <a:gd name="T6" fmla="*/ 0 w 633"/>
                  <a:gd name="T7" fmla="*/ 21 h 466"/>
                  <a:gd name="T8" fmla="*/ 0 w 633"/>
                  <a:gd name="T9" fmla="*/ 336 h 466"/>
                  <a:gd name="T10" fmla="*/ 3 w 633"/>
                  <a:gd name="T11" fmla="*/ 343 h 466"/>
                  <a:gd name="T12" fmla="*/ 105 w 633"/>
                  <a:gd name="T13" fmla="*/ 461 h 466"/>
                  <a:gd name="T14" fmla="*/ 114 w 633"/>
                  <a:gd name="T15" fmla="*/ 465 h 466"/>
                  <a:gd name="T16" fmla="*/ 612 w 633"/>
                  <a:gd name="T17" fmla="*/ 465 h 466"/>
                  <a:gd name="T18" fmla="*/ 632 w 633"/>
                  <a:gd name="T19" fmla="*/ 444 h 466"/>
                  <a:gd name="T20" fmla="*/ 632 w 633"/>
                  <a:gd name="T21" fmla="*/ 21 h 466"/>
                  <a:gd name="T22" fmla="*/ 612 w 633"/>
                  <a:gd name="T23" fmla="*/ 0 h 466"/>
                  <a:gd name="T24" fmla="*/ 30 w 633"/>
                  <a:gd name="T25" fmla="*/ 339 h 466"/>
                  <a:gd name="T26" fmla="*/ 30 w 633"/>
                  <a:gd name="T27" fmla="*/ 339 h 466"/>
                  <a:gd name="T28" fmla="*/ 105 w 633"/>
                  <a:gd name="T29" fmla="*/ 339 h 466"/>
                  <a:gd name="T30" fmla="*/ 105 w 633"/>
                  <a:gd name="T31" fmla="*/ 425 h 466"/>
                  <a:gd name="T32" fmla="*/ 30 w 633"/>
                  <a:gd name="T33" fmla="*/ 339 h 466"/>
                  <a:gd name="T34" fmla="*/ 609 w 633"/>
                  <a:gd name="T35" fmla="*/ 441 h 466"/>
                  <a:gd name="T36" fmla="*/ 609 w 633"/>
                  <a:gd name="T37" fmla="*/ 441 h 466"/>
                  <a:gd name="T38" fmla="*/ 129 w 633"/>
                  <a:gd name="T39" fmla="*/ 441 h 466"/>
                  <a:gd name="T40" fmla="*/ 129 w 633"/>
                  <a:gd name="T41" fmla="*/ 327 h 466"/>
                  <a:gd name="T42" fmla="*/ 117 w 633"/>
                  <a:gd name="T43" fmla="*/ 316 h 466"/>
                  <a:gd name="T44" fmla="*/ 24 w 633"/>
                  <a:gd name="T45" fmla="*/ 316 h 466"/>
                  <a:gd name="T46" fmla="*/ 24 w 633"/>
                  <a:gd name="T47" fmla="*/ 24 h 466"/>
                  <a:gd name="T48" fmla="*/ 609 w 633"/>
                  <a:gd name="T49" fmla="*/ 24 h 466"/>
                  <a:gd name="T50" fmla="*/ 609 w 633"/>
                  <a:gd name="T51" fmla="*/ 441 h 4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33" h="466">
                    <a:moveTo>
                      <a:pt x="612" y="0"/>
                    </a:moveTo>
                    <a:lnTo>
                      <a:pt x="612" y="0"/>
                    </a:lnTo>
                    <a:cubicBezTo>
                      <a:pt x="21" y="0"/>
                      <a:pt x="21" y="0"/>
                      <a:pt x="21" y="0"/>
                    </a:cubicBezTo>
                    <a:cubicBezTo>
                      <a:pt x="9" y="0"/>
                      <a:pt x="0" y="10"/>
                      <a:pt x="0" y="21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0" y="339"/>
                      <a:pt x="1" y="341"/>
                      <a:pt x="3" y="343"/>
                    </a:cubicBezTo>
                    <a:cubicBezTo>
                      <a:pt x="105" y="461"/>
                      <a:pt x="105" y="461"/>
                      <a:pt x="105" y="461"/>
                    </a:cubicBezTo>
                    <a:cubicBezTo>
                      <a:pt x="107" y="463"/>
                      <a:pt x="110" y="465"/>
                      <a:pt x="114" y="465"/>
                    </a:cubicBezTo>
                    <a:cubicBezTo>
                      <a:pt x="612" y="465"/>
                      <a:pt x="612" y="465"/>
                      <a:pt x="612" y="465"/>
                    </a:cubicBezTo>
                    <a:cubicBezTo>
                      <a:pt x="623" y="465"/>
                      <a:pt x="632" y="455"/>
                      <a:pt x="632" y="444"/>
                    </a:cubicBezTo>
                    <a:cubicBezTo>
                      <a:pt x="632" y="21"/>
                      <a:pt x="632" y="21"/>
                      <a:pt x="632" y="21"/>
                    </a:cubicBezTo>
                    <a:cubicBezTo>
                      <a:pt x="632" y="10"/>
                      <a:pt x="623" y="0"/>
                      <a:pt x="612" y="0"/>
                    </a:cubicBezTo>
                    <a:close/>
                    <a:moveTo>
                      <a:pt x="30" y="339"/>
                    </a:moveTo>
                    <a:lnTo>
                      <a:pt x="30" y="339"/>
                    </a:lnTo>
                    <a:cubicBezTo>
                      <a:pt x="105" y="339"/>
                      <a:pt x="105" y="339"/>
                      <a:pt x="105" y="339"/>
                    </a:cubicBezTo>
                    <a:cubicBezTo>
                      <a:pt x="105" y="425"/>
                      <a:pt x="105" y="425"/>
                      <a:pt x="105" y="425"/>
                    </a:cubicBezTo>
                    <a:lnTo>
                      <a:pt x="30" y="339"/>
                    </a:lnTo>
                    <a:close/>
                    <a:moveTo>
                      <a:pt x="609" y="441"/>
                    </a:moveTo>
                    <a:lnTo>
                      <a:pt x="609" y="441"/>
                    </a:lnTo>
                    <a:cubicBezTo>
                      <a:pt x="129" y="441"/>
                      <a:pt x="129" y="441"/>
                      <a:pt x="129" y="441"/>
                    </a:cubicBezTo>
                    <a:cubicBezTo>
                      <a:pt x="129" y="327"/>
                      <a:pt x="129" y="327"/>
                      <a:pt x="129" y="327"/>
                    </a:cubicBezTo>
                    <a:cubicBezTo>
                      <a:pt x="129" y="321"/>
                      <a:pt x="124" y="316"/>
                      <a:pt x="117" y="316"/>
                    </a:cubicBezTo>
                    <a:cubicBezTo>
                      <a:pt x="24" y="316"/>
                      <a:pt x="24" y="316"/>
                      <a:pt x="24" y="316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609" y="24"/>
                      <a:pt x="609" y="24"/>
                      <a:pt x="609" y="24"/>
                    </a:cubicBezTo>
                    <a:lnTo>
                      <a:pt x="609" y="441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88" b="0" i="0" u="none" strike="noStrike" kern="0" cap="none" spc="0" normalizeH="0" baseline="0" noProof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  <p:sp>
            <p:nvSpPr>
              <p:cNvPr id="114" name="Freeform 93">
                <a:extLst>
                  <a:ext uri="{FF2B5EF4-FFF2-40B4-BE49-F238E27FC236}">
                    <a16:creationId xmlns="" xmlns:a16="http://schemas.microsoft.com/office/drawing/2014/main" id="{AF292AF1-2AA4-B632-6B6E-D8ECCC730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2603" y="3666897"/>
                <a:ext cx="194487" cy="9262"/>
              </a:xfrm>
              <a:custGeom>
                <a:avLst/>
                <a:gdLst>
                  <a:gd name="T0" fmla="*/ 11 w 465"/>
                  <a:gd name="T1" fmla="*/ 23 h 24"/>
                  <a:gd name="T2" fmla="*/ 11 w 465"/>
                  <a:gd name="T3" fmla="*/ 23 h 24"/>
                  <a:gd name="T4" fmla="*/ 452 w 465"/>
                  <a:gd name="T5" fmla="*/ 23 h 24"/>
                  <a:gd name="T6" fmla="*/ 464 w 465"/>
                  <a:gd name="T7" fmla="*/ 11 h 24"/>
                  <a:gd name="T8" fmla="*/ 452 w 465"/>
                  <a:gd name="T9" fmla="*/ 0 h 24"/>
                  <a:gd name="T10" fmla="*/ 11 w 465"/>
                  <a:gd name="T11" fmla="*/ 0 h 24"/>
                  <a:gd name="T12" fmla="*/ 0 w 465"/>
                  <a:gd name="T13" fmla="*/ 11 h 24"/>
                  <a:gd name="T14" fmla="*/ 11 w 465"/>
                  <a:gd name="T15" fmla="*/ 23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65" h="24">
                    <a:moveTo>
                      <a:pt x="11" y="23"/>
                    </a:moveTo>
                    <a:lnTo>
                      <a:pt x="11" y="23"/>
                    </a:lnTo>
                    <a:cubicBezTo>
                      <a:pt x="452" y="23"/>
                      <a:pt x="452" y="23"/>
                      <a:pt x="452" y="23"/>
                    </a:cubicBezTo>
                    <a:cubicBezTo>
                      <a:pt x="459" y="23"/>
                      <a:pt x="464" y="18"/>
                      <a:pt x="464" y="11"/>
                    </a:cubicBezTo>
                    <a:cubicBezTo>
                      <a:pt x="464" y="5"/>
                      <a:pt x="459" y="0"/>
                      <a:pt x="452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5"/>
                      <a:pt x="0" y="11"/>
                    </a:cubicBezTo>
                    <a:cubicBezTo>
                      <a:pt x="0" y="18"/>
                      <a:pt x="5" y="23"/>
                      <a:pt x="11" y="23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88" b="0" i="0" u="none" strike="noStrike" kern="0" cap="none" spc="0" normalizeH="0" baseline="0" noProof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  <p:sp>
            <p:nvSpPr>
              <p:cNvPr id="115" name="Freeform 94">
                <a:extLst>
                  <a:ext uri="{FF2B5EF4-FFF2-40B4-BE49-F238E27FC236}">
                    <a16:creationId xmlns="" xmlns:a16="http://schemas.microsoft.com/office/drawing/2014/main" id="{938B7C11-DB31-DF37-51FD-BF4A2BF76A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2603" y="3702091"/>
                <a:ext cx="151885" cy="9261"/>
              </a:xfrm>
              <a:custGeom>
                <a:avLst/>
                <a:gdLst>
                  <a:gd name="T0" fmla="*/ 11 w 360"/>
                  <a:gd name="T1" fmla="*/ 23 h 24"/>
                  <a:gd name="T2" fmla="*/ 11 w 360"/>
                  <a:gd name="T3" fmla="*/ 23 h 24"/>
                  <a:gd name="T4" fmla="*/ 347 w 360"/>
                  <a:gd name="T5" fmla="*/ 23 h 24"/>
                  <a:gd name="T6" fmla="*/ 359 w 360"/>
                  <a:gd name="T7" fmla="*/ 11 h 24"/>
                  <a:gd name="T8" fmla="*/ 347 w 360"/>
                  <a:gd name="T9" fmla="*/ 0 h 24"/>
                  <a:gd name="T10" fmla="*/ 11 w 360"/>
                  <a:gd name="T11" fmla="*/ 0 h 24"/>
                  <a:gd name="T12" fmla="*/ 0 w 360"/>
                  <a:gd name="T13" fmla="*/ 11 h 24"/>
                  <a:gd name="T14" fmla="*/ 11 w 360"/>
                  <a:gd name="T15" fmla="*/ 23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0" h="24">
                    <a:moveTo>
                      <a:pt x="11" y="23"/>
                    </a:moveTo>
                    <a:lnTo>
                      <a:pt x="11" y="23"/>
                    </a:lnTo>
                    <a:cubicBezTo>
                      <a:pt x="347" y="23"/>
                      <a:pt x="347" y="23"/>
                      <a:pt x="347" y="23"/>
                    </a:cubicBezTo>
                    <a:cubicBezTo>
                      <a:pt x="354" y="23"/>
                      <a:pt x="359" y="18"/>
                      <a:pt x="359" y="11"/>
                    </a:cubicBezTo>
                    <a:cubicBezTo>
                      <a:pt x="359" y="5"/>
                      <a:pt x="354" y="0"/>
                      <a:pt x="347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5"/>
                      <a:pt x="0" y="11"/>
                    </a:cubicBezTo>
                    <a:cubicBezTo>
                      <a:pt x="0" y="18"/>
                      <a:pt x="5" y="23"/>
                      <a:pt x="11" y="23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88" b="0" i="0" u="none" strike="noStrike" kern="0" cap="none" spc="0" normalizeH="0" baseline="0" noProof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</p:grpSp>
        <p:cxnSp>
          <p:nvCxnSpPr>
            <p:cNvPr id="87" name="Straight Connector 67">
              <a:extLst>
                <a:ext uri="{FF2B5EF4-FFF2-40B4-BE49-F238E27FC236}">
                  <a16:creationId xmlns="" xmlns:a16="http://schemas.microsoft.com/office/drawing/2014/main" id="{2F2D8A35-580D-0DB8-D9E1-FE1321A8818F}"/>
                </a:ext>
              </a:extLst>
            </p:cNvPr>
            <p:cNvCxnSpPr/>
            <p:nvPr/>
          </p:nvCxnSpPr>
          <p:spPr>
            <a:xfrm rot="16200000" flipH="1">
              <a:off x="5864211" y="4235095"/>
              <a:ext cx="0" cy="274320"/>
            </a:xfrm>
            <a:prstGeom prst="line">
              <a:avLst/>
            </a:prstGeom>
            <a:noFill/>
            <a:ln w="28575" cap="flat" cmpd="sng" algn="ctr">
              <a:solidFill>
                <a:srgbClr val="0079EF"/>
              </a:solidFill>
              <a:prstDash val="sysDash"/>
              <a:miter lim="800000"/>
            </a:ln>
            <a:effectLst/>
          </p:spPr>
        </p:cxnSp>
        <p:cxnSp>
          <p:nvCxnSpPr>
            <p:cNvPr id="88" name="Straight Connector 68">
              <a:extLst>
                <a:ext uri="{FF2B5EF4-FFF2-40B4-BE49-F238E27FC236}">
                  <a16:creationId xmlns="" xmlns:a16="http://schemas.microsoft.com/office/drawing/2014/main" id="{5B390F67-8864-123B-DFA3-07273E649FDE}"/>
                </a:ext>
              </a:extLst>
            </p:cNvPr>
            <p:cNvCxnSpPr/>
            <p:nvPr/>
          </p:nvCxnSpPr>
          <p:spPr>
            <a:xfrm rot="16200000" flipH="1">
              <a:off x="2043586" y="5319377"/>
              <a:ext cx="0" cy="274320"/>
            </a:xfrm>
            <a:prstGeom prst="line">
              <a:avLst/>
            </a:prstGeom>
            <a:noFill/>
            <a:ln w="28575" cap="flat" cmpd="sng" algn="ctr">
              <a:solidFill>
                <a:srgbClr val="0079EF"/>
              </a:solidFill>
              <a:prstDash val="sysDash"/>
              <a:miter lim="800000"/>
            </a:ln>
            <a:effectLst/>
          </p:spPr>
        </p:cxnSp>
        <p:cxnSp>
          <p:nvCxnSpPr>
            <p:cNvPr id="89" name="Straight Connector 69">
              <a:extLst>
                <a:ext uri="{FF2B5EF4-FFF2-40B4-BE49-F238E27FC236}">
                  <a16:creationId xmlns="" xmlns:a16="http://schemas.microsoft.com/office/drawing/2014/main" id="{CC6962D8-90FE-DC86-B36C-6E30DDDC5DC0}"/>
                </a:ext>
              </a:extLst>
            </p:cNvPr>
            <p:cNvCxnSpPr/>
            <p:nvPr/>
          </p:nvCxnSpPr>
          <p:spPr>
            <a:xfrm rot="16200000" flipH="1">
              <a:off x="5874857" y="5313251"/>
              <a:ext cx="0" cy="274320"/>
            </a:xfrm>
            <a:prstGeom prst="line">
              <a:avLst/>
            </a:prstGeom>
            <a:noFill/>
            <a:ln w="28575" cap="flat" cmpd="sng" algn="ctr">
              <a:solidFill>
                <a:srgbClr val="0079EF"/>
              </a:solidFill>
              <a:prstDash val="sysDash"/>
              <a:miter lim="800000"/>
            </a:ln>
            <a:effectLst/>
          </p:spPr>
        </p:cxnSp>
        <p:grpSp>
          <p:nvGrpSpPr>
            <p:cNvPr id="90" name="Group 70">
              <a:extLst>
                <a:ext uri="{FF2B5EF4-FFF2-40B4-BE49-F238E27FC236}">
                  <a16:creationId xmlns="" xmlns:a16="http://schemas.microsoft.com/office/drawing/2014/main" id="{0CD95877-AE5C-F08E-71A7-26DEE649EC97}"/>
                </a:ext>
              </a:extLst>
            </p:cNvPr>
            <p:cNvGrpSpPr/>
            <p:nvPr/>
          </p:nvGrpSpPr>
          <p:grpSpPr>
            <a:xfrm>
              <a:off x="1860150" y="4913493"/>
              <a:ext cx="91440" cy="91440"/>
              <a:chOff x="1756611" y="2586789"/>
              <a:chExt cx="192504" cy="180474"/>
            </a:xfrm>
          </p:grpSpPr>
          <p:cxnSp>
            <p:nvCxnSpPr>
              <p:cNvPr id="111" name="Straight Connector 71">
                <a:extLst>
                  <a:ext uri="{FF2B5EF4-FFF2-40B4-BE49-F238E27FC236}">
                    <a16:creationId xmlns="" xmlns:a16="http://schemas.microsoft.com/office/drawing/2014/main" id="{22747BEE-3303-2152-FFF9-D1133A88FC55}"/>
                  </a:ext>
                </a:extLst>
              </p:cNvPr>
              <p:cNvCxnSpPr/>
              <p:nvPr/>
            </p:nvCxnSpPr>
            <p:spPr>
              <a:xfrm flipV="1">
                <a:off x="1756611" y="2586789"/>
                <a:ext cx="96252" cy="180474"/>
              </a:xfrm>
              <a:prstGeom prst="line">
                <a:avLst/>
              </a:prstGeom>
              <a:noFill/>
              <a:ln w="28575" cap="flat" cmpd="sng" algn="ctr">
                <a:solidFill>
                  <a:srgbClr val="0079EF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12" name="Straight Connector 72">
                <a:extLst>
                  <a:ext uri="{FF2B5EF4-FFF2-40B4-BE49-F238E27FC236}">
                    <a16:creationId xmlns="" xmlns:a16="http://schemas.microsoft.com/office/drawing/2014/main" id="{6B3D6B30-12E6-4B96-A8C3-BA2FD9AC95AF}"/>
                  </a:ext>
                </a:extLst>
              </p:cNvPr>
              <p:cNvCxnSpPr/>
              <p:nvPr/>
            </p:nvCxnSpPr>
            <p:spPr>
              <a:xfrm>
                <a:off x="1852863" y="2586789"/>
                <a:ext cx="96252" cy="180474"/>
              </a:xfrm>
              <a:prstGeom prst="line">
                <a:avLst/>
              </a:prstGeom>
              <a:noFill/>
              <a:ln w="28575" cap="flat" cmpd="sng" algn="ctr">
                <a:solidFill>
                  <a:srgbClr val="0079EF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91" name="Group 73">
              <a:extLst>
                <a:ext uri="{FF2B5EF4-FFF2-40B4-BE49-F238E27FC236}">
                  <a16:creationId xmlns="" xmlns:a16="http://schemas.microsoft.com/office/drawing/2014/main" id="{9C3DB17C-2332-BDF6-A4BD-B72334B2662E}"/>
                </a:ext>
              </a:extLst>
            </p:cNvPr>
            <p:cNvGrpSpPr/>
            <p:nvPr/>
          </p:nvGrpSpPr>
          <p:grpSpPr>
            <a:xfrm>
              <a:off x="5956642" y="4913493"/>
              <a:ext cx="91440" cy="91440"/>
              <a:chOff x="1756611" y="2586789"/>
              <a:chExt cx="192504" cy="180474"/>
            </a:xfrm>
          </p:grpSpPr>
          <p:cxnSp>
            <p:nvCxnSpPr>
              <p:cNvPr id="109" name="Straight Connector 74">
                <a:extLst>
                  <a:ext uri="{FF2B5EF4-FFF2-40B4-BE49-F238E27FC236}">
                    <a16:creationId xmlns="" xmlns:a16="http://schemas.microsoft.com/office/drawing/2014/main" id="{E4731034-6CC6-F8C3-C1C1-599D2DE989F3}"/>
                  </a:ext>
                </a:extLst>
              </p:cNvPr>
              <p:cNvCxnSpPr/>
              <p:nvPr/>
            </p:nvCxnSpPr>
            <p:spPr>
              <a:xfrm flipV="1">
                <a:off x="1756611" y="2586789"/>
                <a:ext cx="96252" cy="180474"/>
              </a:xfrm>
              <a:prstGeom prst="line">
                <a:avLst/>
              </a:prstGeom>
              <a:noFill/>
              <a:ln w="28575" cap="flat" cmpd="sng" algn="ctr">
                <a:solidFill>
                  <a:srgbClr val="0079EF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10" name="Straight Connector 75">
                <a:extLst>
                  <a:ext uri="{FF2B5EF4-FFF2-40B4-BE49-F238E27FC236}">
                    <a16:creationId xmlns="" xmlns:a16="http://schemas.microsoft.com/office/drawing/2014/main" id="{148BFA47-4BD1-080D-D6B8-DF9128A6F693}"/>
                  </a:ext>
                </a:extLst>
              </p:cNvPr>
              <p:cNvCxnSpPr/>
              <p:nvPr/>
            </p:nvCxnSpPr>
            <p:spPr>
              <a:xfrm>
                <a:off x="1852863" y="2586789"/>
                <a:ext cx="96252" cy="180474"/>
              </a:xfrm>
              <a:prstGeom prst="line">
                <a:avLst/>
              </a:prstGeom>
              <a:noFill/>
              <a:ln w="28575" cap="flat" cmpd="sng" algn="ctr">
                <a:solidFill>
                  <a:srgbClr val="0079EF"/>
                </a:solidFill>
                <a:prstDash val="solid"/>
                <a:miter lim="800000"/>
              </a:ln>
              <a:effectLst/>
            </p:spPr>
          </p:cxnSp>
        </p:grpSp>
        <p:pic>
          <p:nvPicPr>
            <p:cNvPr id="92" name="Picture 76">
              <a:extLst>
                <a:ext uri="{FF2B5EF4-FFF2-40B4-BE49-F238E27FC236}">
                  <a16:creationId xmlns="" xmlns:a16="http://schemas.microsoft.com/office/drawing/2014/main" id="{F5F55970-12A9-1B59-C460-19369A6F08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22823" y="2440593"/>
              <a:ext cx="856044" cy="1068831"/>
            </a:xfrm>
            <a:prstGeom prst="rect">
              <a:avLst/>
            </a:prstGeom>
          </p:spPr>
        </p:pic>
        <p:grpSp>
          <p:nvGrpSpPr>
            <p:cNvPr id="93" name="Group 77">
              <a:extLst>
                <a:ext uri="{FF2B5EF4-FFF2-40B4-BE49-F238E27FC236}">
                  <a16:creationId xmlns="" xmlns:a16="http://schemas.microsoft.com/office/drawing/2014/main" id="{94A0D7AD-6CBE-4492-33CE-A081C0D1C7E2}"/>
                </a:ext>
              </a:extLst>
            </p:cNvPr>
            <p:cNvGrpSpPr/>
            <p:nvPr/>
          </p:nvGrpSpPr>
          <p:grpSpPr>
            <a:xfrm>
              <a:off x="3917813" y="4062337"/>
              <a:ext cx="87329" cy="95223"/>
              <a:chOff x="1592378" y="3724158"/>
              <a:chExt cx="87329" cy="95223"/>
            </a:xfrm>
          </p:grpSpPr>
          <p:cxnSp>
            <p:nvCxnSpPr>
              <p:cNvPr id="107" name="Straight Connector 78">
                <a:extLst>
                  <a:ext uri="{FF2B5EF4-FFF2-40B4-BE49-F238E27FC236}">
                    <a16:creationId xmlns="" xmlns:a16="http://schemas.microsoft.com/office/drawing/2014/main" id="{3F02F679-87F0-DD1B-2462-73E70DD94CAF}"/>
                  </a:ext>
                </a:extLst>
              </p:cNvPr>
              <p:cNvCxnSpPr/>
              <p:nvPr/>
            </p:nvCxnSpPr>
            <p:spPr>
              <a:xfrm>
                <a:off x="1592378" y="3724158"/>
                <a:ext cx="45720" cy="91440"/>
              </a:xfrm>
              <a:prstGeom prst="line">
                <a:avLst/>
              </a:prstGeom>
              <a:noFill/>
              <a:ln w="28575" cap="flat" cmpd="sng" algn="ctr">
                <a:solidFill>
                  <a:srgbClr val="0079EF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08" name="Straight Connector 79">
                <a:extLst>
                  <a:ext uri="{FF2B5EF4-FFF2-40B4-BE49-F238E27FC236}">
                    <a16:creationId xmlns="" xmlns:a16="http://schemas.microsoft.com/office/drawing/2014/main" id="{5651B310-B562-3705-3C8D-82B80D344006}"/>
                  </a:ext>
                </a:extLst>
              </p:cNvPr>
              <p:cNvCxnSpPr/>
              <p:nvPr/>
            </p:nvCxnSpPr>
            <p:spPr>
              <a:xfrm flipV="1">
                <a:off x="1633987" y="3727941"/>
                <a:ext cx="45720" cy="91440"/>
              </a:xfrm>
              <a:prstGeom prst="line">
                <a:avLst/>
              </a:prstGeom>
              <a:noFill/>
              <a:ln w="28575" cap="flat" cmpd="sng" algn="ctr">
                <a:solidFill>
                  <a:srgbClr val="0079EF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94" name="Group 5">
              <a:extLst>
                <a:ext uri="{FF2B5EF4-FFF2-40B4-BE49-F238E27FC236}">
                  <a16:creationId xmlns="" xmlns:a16="http://schemas.microsoft.com/office/drawing/2014/main" id="{244F5185-030B-90BD-1EC7-1E03C3D379A0}"/>
                </a:ext>
              </a:extLst>
            </p:cNvPr>
            <p:cNvGrpSpPr/>
            <p:nvPr/>
          </p:nvGrpSpPr>
          <p:grpSpPr>
            <a:xfrm>
              <a:off x="2196384" y="4342464"/>
              <a:ext cx="92363" cy="84469"/>
              <a:chOff x="1764454" y="3363668"/>
              <a:chExt cx="92363" cy="84469"/>
            </a:xfrm>
          </p:grpSpPr>
          <p:cxnSp>
            <p:nvCxnSpPr>
              <p:cNvPr id="105" name="Straight Connector 81">
                <a:extLst>
                  <a:ext uri="{FF2B5EF4-FFF2-40B4-BE49-F238E27FC236}">
                    <a16:creationId xmlns="" xmlns:a16="http://schemas.microsoft.com/office/drawing/2014/main" id="{1C4C82F2-6958-FDBE-35D1-99414A62D5F7}"/>
                  </a:ext>
                </a:extLst>
              </p:cNvPr>
              <p:cNvCxnSpPr/>
              <p:nvPr/>
            </p:nvCxnSpPr>
            <p:spPr>
              <a:xfrm rot="16200000">
                <a:off x="1788237" y="3379557"/>
                <a:ext cx="45720" cy="91440"/>
              </a:xfrm>
              <a:prstGeom prst="line">
                <a:avLst/>
              </a:prstGeom>
              <a:noFill/>
              <a:ln w="28575" cap="flat" cmpd="sng" algn="ctr">
                <a:solidFill>
                  <a:srgbClr val="0079EF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06" name="Straight Connector 82">
                <a:extLst>
                  <a:ext uri="{FF2B5EF4-FFF2-40B4-BE49-F238E27FC236}">
                    <a16:creationId xmlns="" xmlns:a16="http://schemas.microsoft.com/office/drawing/2014/main" id="{991EB651-160B-0CD5-6F01-3884AFD342B1}"/>
                  </a:ext>
                </a:extLst>
              </p:cNvPr>
              <p:cNvCxnSpPr/>
              <p:nvPr/>
            </p:nvCxnSpPr>
            <p:spPr>
              <a:xfrm rot="5400000" flipV="1">
                <a:off x="1787314" y="3340808"/>
                <a:ext cx="45720" cy="91440"/>
              </a:xfrm>
              <a:prstGeom prst="line">
                <a:avLst/>
              </a:prstGeom>
              <a:noFill/>
              <a:ln w="28575" cap="flat" cmpd="sng" algn="ctr">
                <a:solidFill>
                  <a:srgbClr val="0079EF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95" name="Group 83">
              <a:extLst>
                <a:ext uri="{FF2B5EF4-FFF2-40B4-BE49-F238E27FC236}">
                  <a16:creationId xmlns="" xmlns:a16="http://schemas.microsoft.com/office/drawing/2014/main" id="{B0C08821-1720-7573-A4ED-8213B154E60D}"/>
                </a:ext>
              </a:extLst>
            </p:cNvPr>
            <p:cNvGrpSpPr/>
            <p:nvPr/>
          </p:nvGrpSpPr>
          <p:grpSpPr>
            <a:xfrm>
              <a:off x="5568859" y="5418806"/>
              <a:ext cx="92363" cy="84469"/>
              <a:chOff x="1764454" y="3363668"/>
              <a:chExt cx="92363" cy="84469"/>
            </a:xfrm>
          </p:grpSpPr>
          <p:cxnSp>
            <p:nvCxnSpPr>
              <p:cNvPr id="103" name="Straight Connector 84">
                <a:extLst>
                  <a:ext uri="{FF2B5EF4-FFF2-40B4-BE49-F238E27FC236}">
                    <a16:creationId xmlns="" xmlns:a16="http://schemas.microsoft.com/office/drawing/2014/main" id="{4252A2CD-CF22-C6ED-D388-E4C0F9603D7B}"/>
                  </a:ext>
                </a:extLst>
              </p:cNvPr>
              <p:cNvCxnSpPr/>
              <p:nvPr/>
            </p:nvCxnSpPr>
            <p:spPr>
              <a:xfrm rot="16200000">
                <a:off x="1788237" y="3379557"/>
                <a:ext cx="45720" cy="91440"/>
              </a:xfrm>
              <a:prstGeom prst="line">
                <a:avLst/>
              </a:prstGeom>
              <a:noFill/>
              <a:ln w="28575" cap="flat" cmpd="sng" algn="ctr">
                <a:solidFill>
                  <a:srgbClr val="0079EF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04" name="Straight Connector 85">
                <a:extLst>
                  <a:ext uri="{FF2B5EF4-FFF2-40B4-BE49-F238E27FC236}">
                    <a16:creationId xmlns="" xmlns:a16="http://schemas.microsoft.com/office/drawing/2014/main" id="{7CF42507-11D7-9D6A-A837-D1E4092622B0}"/>
                  </a:ext>
                </a:extLst>
              </p:cNvPr>
              <p:cNvCxnSpPr/>
              <p:nvPr/>
            </p:nvCxnSpPr>
            <p:spPr>
              <a:xfrm rot="5400000" flipV="1">
                <a:off x="1787314" y="3340808"/>
                <a:ext cx="45720" cy="91440"/>
              </a:xfrm>
              <a:prstGeom prst="line">
                <a:avLst/>
              </a:prstGeom>
              <a:noFill/>
              <a:ln w="28575" cap="flat" cmpd="sng" algn="ctr">
                <a:solidFill>
                  <a:srgbClr val="0079EF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96" name="Group 6">
              <a:extLst>
                <a:ext uri="{FF2B5EF4-FFF2-40B4-BE49-F238E27FC236}">
                  <a16:creationId xmlns="" xmlns:a16="http://schemas.microsoft.com/office/drawing/2014/main" id="{AB875111-5DA5-74D1-38DB-5ACFCEF10E5A}"/>
                </a:ext>
              </a:extLst>
            </p:cNvPr>
            <p:cNvGrpSpPr/>
            <p:nvPr/>
          </p:nvGrpSpPr>
          <p:grpSpPr>
            <a:xfrm>
              <a:off x="2243711" y="5407366"/>
              <a:ext cx="91440" cy="86087"/>
              <a:chOff x="1265188" y="2885439"/>
              <a:chExt cx="91440" cy="86087"/>
            </a:xfrm>
          </p:grpSpPr>
          <p:cxnSp>
            <p:nvCxnSpPr>
              <p:cNvPr id="101" name="Straight Connector 90">
                <a:extLst>
                  <a:ext uri="{FF2B5EF4-FFF2-40B4-BE49-F238E27FC236}">
                    <a16:creationId xmlns="" xmlns:a16="http://schemas.microsoft.com/office/drawing/2014/main" id="{944FAAC5-AC94-5C91-04F6-CA4B4436422F}"/>
                  </a:ext>
                </a:extLst>
              </p:cNvPr>
              <p:cNvCxnSpPr/>
              <p:nvPr/>
            </p:nvCxnSpPr>
            <p:spPr>
              <a:xfrm rot="5400000" flipV="1">
                <a:off x="1288048" y="2902946"/>
                <a:ext cx="45720" cy="91440"/>
              </a:xfrm>
              <a:prstGeom prst="line">
                <a:avLst/>
              </a:prstGeom>
              <a:noFill/>
              <a:ln w="28575" cap="flat" cmpd="sng" algn="ctr">
                <a:solidFill>
                  <a:srgbClr val="0079EF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02" name="Straight Connector 91">
                <a:extLst>
                  <a:ext uri="{FF2B5EF4-FFF2-40B4-BE49-F238E27FC236}">
                    <a16:creationId xmlns="" xmlns:a16="http://schemas.microsoft.com/office/drawing/2014/main" id="{AC6FD1C5-F611-C043-8E9D-F47133E2F586}"/>
                  </a:ext>
                </a:extLst>
              </p:cNvPr>
              <p:cNvCxnSpPr/>
              <p:nvPr/>
            </p:nvCxnSpPr>
            <p:spPr>
              <a:xfrm rot="16200000">
                <a:off x="1288048" y="2862579"/>
                <a:ext cx="45720" cy="91440"/>
              </a:xfrm>
              <a:prstGeom prst="line">
                <a:avLst/>
              </a:prstGeom>
              <a:noFill/>
              <a:ln w="28575" cap="flat" cmpd="sng" algn="ctr">
                <a:solidFill>
                  <a:srgbClr val="0079EF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97" name="Group 93">
              <a:extLst>
                <a:ext uri="{FF2B5EF4-FFF2-40B4-BE49-F238E27FC236}">
                  <a16:creationId xmlns="" xmlns:a16="http://schemas.microsoft.com/office/drawing/2014/main" id="{F614BD2D-0DB8-D8E8-E7CA-E2F010E581B2}"/>
                </a:ext>
              </a:extLst>
            </p:cNvPr>
            <p:cNvGrpSpPr/>
            <p:nvPr/>
          </p:nvGrpSpPr>
          <p:grpSpPr>
            <a:xfrm>
              <a:off x="5628097" y="4328318"/>
              <a:ext cx="91440" cy="86087"/>
              <a:chOff x="1265188" y="2885439"/>
              <a:chExt cx="91440" cy="86087"/>
            </a:xfrm>
          </p:grpSpPr>
          <p:cxnSp>
            <p:nvCxnSpPr>
              <p:cNvPr id="99" name="Straight Connector 94">
                <a:extLst>
                  <a:ext uri="{FF2B5EF4-FFF2-40B4-BE49-F238E27FC236}">
                    <a16:creationId xmlns="" xmlns:a16="http://schemas.microsoft.com/office/drawing/2014/main" id="{05DE9AD6-85A4-A998-4592-4E1D4B23B3DB}"/>
                  </a:ext>
                </a:extLst>
              </p:cNvPr>
              <p:cNvCxnSpPr/>
              <p:nvPr/>
            </p:nvCxnSpPr>
            <p:spPr>
              <a:xfrm rot="5400000" flipV="1">
                <a:off x="1288048" y="2902946"/>
                <a:ext cx="45720" cy="91440"/>
              </a:xfrm>
              <a:prstGeom prst="line">
                <a:avLst/>
              </a:prstGeom>
              <a:noFill/>
              <a:ln w="28575" cap="flat" cmpd="sng" algn="ctr">
                <a:solidFill>
                  <a:srgbClr val="0079EF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00" name="Straight Connector 95">
                <a:extLst>
                  <a:ext uri="{FF2B5EF4-FFF2-40B4-BE49-F238E27FC236}">
                    <a16:creationId xmlns="" xmlns:a16="http://schemas.microsoft.com/office/drawing/2014/main" id="{CD8BD882-0882-5B5A-53AE-2F5D32E9AE54}"/>
                  </a:ext>
                </a:extLst>
              </p:cNvPr>
              <p:cNvCxnSpPr/>
              <p:nvPr/>
            </p:nvCxnSpPr>
            <p:spPr>
              <a:xfrm rot="16200000">
                <a:off x="1288048" y="2862579"/>
                <a:ext cx="45720" cy="91440"/>
              </a:xfrm>
              <a:prstGeom prst="line">
                <a:avLst/>
              </a:prstGeom>
              <a:noFill/>
              <a:ln w="28575" cap="flat" cmpd="sng" algn="ctr">
                <a:solidFill>
                  <a:srgbClr val="0079EF"/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98" name="TextBox 97">
              <a:extLst>
                <a:ext uri="{FF2B5EF4-FFF2-40B4-BE49-F238E27FC236}">
                  <a16:creationId xmlns="" xmlns:a16="http://schemas.microsoft.com/office/drawing/2014/main" id="{4FBEA14A-9BD5-857D-A547-3CA87A1D2E3E}"/>
                </a:ext>
              </a:extLst>
            </p:cNvPr>
            <p:cNvSpPr txBox="1"/>
            <p:nvPr/>
          </p:nvSpPr>
          <p:spPr>
            <a:xfrm>
              <a:off x="2391931" y="3830117"/>
              <a:ext cx="1431802" cy="338554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79EF"/>
                  </a:solidFill>
                  <a:effectLst/>
                  <a:uLnTx/>
                  <a:uFillTx/>
                  <a:latin typeface="Calibri"/>
                  <a:ea typeface="Roboto Light" charset="0"/>
                  <a:cs typeface="Roboto Light" charset="0"/>
                </a:rPr>
                <a:t>External Tables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165447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>
          <a:xfrm>
            <a:off x="1524000" y="2702045"/>
            <a:ext cx="9144001" cy="76076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ko-KR" sz="3800" dirty="0">
                <a:solidFill>
                  <a:schemeClr val="bg1"/>
                </a:solidFill>
                <a:latin typeface="+mj-ea"/>
              </a:rPr>
              <a:t>In-DB Machine Learning</a:t>
            </a:r>
            <a:endParaRPr lang="ko-KR" altLang="en-US" sz="3800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3" name="제목 1"/>
          <p:cNvSpPr txBox="1">
            <a:spLocks/>
          </p:cNvSpPr>
          <p:nvPr/>
        </p:nvSpPr>
        <p:spPr>
          <a:xfrm>
            <a:off x="5631825" y="3839619"/>
            <a:ext cx="928350" cy="42943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ko-KR" sz="1600" dirty="0">
                <a:solidFill>
                  <a:schemeClr val="bg1"/>
                </a:solidFill>
                <a:latin typeface="SB 어그로 Bold" panose="02020603020101020101" pitchFamily="18" charset="-127"/>
                <a:ea typeface="SB 어그로 Bold" panose="02020603020101020101" pitchFamily="18" charset="-127"/>
              </a:rPr>
              <a:t>06</a:t>
            </a:r>
            <a:endParaRPr lang="ko-KR" altLang="en-US" sz="1600" dirty="0">
              <a:solidFill>
                <a:schemeClr val="bg1"/>
              </a:solidFill>
              <a:latin typeface="SB 어그로 Bold" panose="02020603020101020101" pitchFamily="18" charset="-127"/>
              <a:ea typeface="SB 어그로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480651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rapezoid 64"/>
          <p:cNvSpPr/>
          <p:nvPr/>
        </p:nvSpPr>
        <p:spPr>
          <a:xfrm rot="10800000">
            <a:off x="4388971" y="4426569"/>
            <a:ext cx="933088" cy="643357"/>
          </a:xfrm>
          <a:prstGeom prst="trapezoid">
            <a:avLst/>
          </a:prstGeom>
          <a:solidFill>
            <a:schemeClr val="bg2">
              <a:lumMod val="75000"/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Calibri"/>
            </a:endParaRPr>
          </a:p>
        </p:txBody>
      </p:sp>
      <p:sp>
        <p:nvSpPr>
          <p:cNvPr id="166" name="Trapezoid 64"/>
          <p:cNvSpPr/>
          <p:nvPr/>
        </p:nvSpPr>
        <p:spPr>
          <a:xfrm rot="10800000">
            <a:off x="5864693" y="4426569"/>
            <a:ext cx="933088" cy="643357"/>
          </a:xfrm>
          <a:prstGeom prst="trapezoid">
            <a:avLst/>
          </a:prstGeom>
          <a:solidFill>
            <a:schemeClr val="bg2">
              <a:lumMod val="75000"/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Calibri"/>
            </a:endParaRPr>
          </a:p>
        </p:txBody>
      </p:sp>
      <p:sp>
        <p:nvSpPr>
          <p:cNvPr id="167" name="Trapezoid 64"/>
          <p:cNvSpPr/>
          <p:nvPr/>
        </p:nvSpPr>
        <p:spPr>
          <a:xfrm rot="10800000">
            <a:off x="7377739" y="4426569"/>
            <a:ext cx="933088" cy="643357"/>
          </a:xfrm>
          <a:prstGeom prst="trapezoid">
            <a:avLst/>
          </a:prstGeom>
          <a:solidFill>
            <a:schemeClr val="bg2">
              <a:lumMod val="75000"/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Calibri"/>
            </a:endParaRPr>
          </a:p>
        </p:txBody>
      </p:sp>
      <p:sp>
        <p:nvSpPr>
          <p:cNvPr id="168" name="Trapezoid 64"/>
          <p:cNvSpPr/>
          <p:nvPr/>
        </p:nvSpPr>
        <p:spPr>
          <a:xfrm rot="10800000">
            <a:off x="8872122" y="4426569"/>
            <a:ext cx="933088" cy="643357"/>
          </a:xfrm>
          <a:prstGeom prst="trapezoid">
            <a:avLst/>
          </a:prstGeom>
          <a:solidFill>
            <a:schemeClr val="bg2">
              <a:lumMod val="75000"/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Calibri"/>
            </a:endParaRPr>
          </a:p>
        </p:txBody>
      </p:sp>
      <p:sp>
        <p:nvSpPr>
          <p:cNvPr id="169" name="Trapezoid 64"/>
          <p:cNvSpPr/>
          <p:nvPr/>
        </p:nvSpPr>
        <p:spPr>
          <a:xfrm rot="10800000">
            <a:off x="10385167" y="4426569"/>
            <a:ext cx="933088" cy="643357"/>
          </a:xfrm>
          <a:prstGeom prst="trapezoid">
            <a:avLst/>
          </a:prstGeom>
          <a:solidFill>
            <a:schemeClr val="bg2">
              <a:lumMod val="75000"/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Calibri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Machine Learning </a:t>
            </a:r>
            <a:r>
              <a:rPr lang="en-US" altLang="ko-KR" sz="2800" dirty="0">
                <a:latin typeface="+mj-ea"/>
                <a:ea typeface="+mj-ea"/>
              </a:rPr>
              <a:t>with</a:t>
            </a:r>
            <a:r>
              <a:rPr lang="en-US" altLang="ko-KR" dirty="0">
                <a:latin typeface="+mj-ea"/>
                <a:ea typeface="+mj-ea"/>
              </a:rPr>
              <a:t> Vertica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89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02C0B-84B5-4CD2-A6CE-C6BD7D6F9045}" type="slidenum">
              <a:rPr lang="ko-KR" altLang="en-US" smtClean="0">
                <a:solidFill>
                  <a:schemeClr val="tx1"/>
                </a:solidFill>
              </a:rPr>
              <a:t>35</a:t>
            </a:fld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0" name="Rectangle 70"/>
          <p:cNvSpPr/>
          <p:nvPr/>
        </p:nvSpPr>
        <p:spPr>
          <a:xfrm>
            <a:off x="4269181" y="5235340"/>
            <a:ext cx="7174600" cy="709325"/>
          </a:xfrm>
          <a:prstGeom prst="rect">
            <a:avLst/>
          </a:prstGeom>
          <a:solidFill>
            <a:srgbClr val="155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Calibri"/>
            </a:endParaRPr>
          </a:p>
        </p:txBody>
      </p:sp>
      <p:sp>
        <p:nvSpPr>
          <p:cNvPr id="117" name="Rectangle 71"/>
          <p:cNvSpPr/>
          <p:nvPr/>
        </p:nvSpPr>
        <p:spPr bwMode="gray">
          <a:xfrm>
            <a:off x="2842913" y="5059448"/>
            <a:ext cx="1005840" cy="548640"/>
          </a:xfrm>
          <a:prstGeom prst="rect">
            <a:avLst/>
          </a:prstGeom>
          <a:solidFill>
            <a:srgbClr val="D9D9D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Calibri"/>
              </a:rPr>
              <a:t>Business Understanding</a:t>
            </a:r>
          </a:p>
        </p:txBody>
      </p:sp>
      <p:sp>
        <p:nvSpPr>
          <p:cNvPr id="118" name="Rectangle 72"/>
          <p:cNvSpPr/>
          <p:nvPr/>
        </p:nvSpPr>
        <p:spPr bwMode="gray">
          <a:xfrm>
            <a:off x="4343768" y="5059448"/>
            <a:ext cx="1005840" cy="548640"/>
          </a:xfrm>
          <a:prstGeom prst="rect">
            <a:avLst/>
          </a:prstGeom>
          <a:solidFill>
            <a:srgbClr val="D9D9D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Calibri"/>
              </a:rPr>
              <a:t>Data  Analysis &amp; Understanding</a:t>
            </a:r>
          </a:p>
        </p:txBody>
      </p:sp>
      <p:sp>
        <p:nvSpPr>
          <p:cNvPr id="119" name="Rectangle 73"/>
          <p:cNvSpPr/>
          <p:nvPr/>
        </p:nvSpPr>
        <p:spPr bwMode="gray">
          <a:xfrm>
            <a:off x="5844623" y="5059448"/>
            <a:ext cx="1005840" cy="548640"/>
          </a:xfrm>
          <a:prstGeom prst="rect">
            <a:avLst/>
          </a:prstGeom>
          <a:solidFill>
            <a:srgbClr val="D9D9D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Calibri"/>
              </a:rPr>
              <a:t>Data Preparation</a:t>
            </a:r>
          </a:p>
        </p:txBody>
      </p:sp>
      <p:sp>
        <p:nvSpPr>
          <p:cNvPr id="120" name="Rectangle 74"/>
          <p:cNvSpPr/>
          <p:nvPr/>
        </p:nvSpPr>
        <p:spPr bwMode="gray">
          <a:xfrm>
            <a:off x="7345478" y="5059448"/>
            <a:ext cx="1005840" cy="548640"/>
          </a:xfrm>
          <a:prstGeom prst="rect">
            <a:avLst/>
          </a:prstGeom>
          <a:solidFill>
            <a:srgbClr val="D9D9D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Calibri"/>
              </a:rPr>
              <a:t>Modeling</a:t>
            </a:r>
          </a:p>
        </p:txBody>
      </p:sp>
      <p:sp>
        <p:nvSpPr>
          <p:cNvPr id="121" name="Rectangle 75"/>
          <p:cNvSpPr/>
          <p:nvPr/>
        </p:nvSpPr>
        <p:spPr bwMode="gray">
          <a:xfrm>
            <a:off x="8846333" y="5059448"/>
            <a:ext cx="1005840" cy="548640"/>
          </a:xfrm>
          <a:prstGeom prst="rect">
            <a:avLst/>
          </a:prstGeom>
          <a:solidFill>
            <a:srgbClr val="D9D9D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Calibri"/>
              </a:rPr>
              <a:t>Evaluation</a:t>
            </a:r>
          </a:p>
        </p:txBody>
      </p:sp>
      <p:sp>
        <p:nvSpPr>
          <p:cNvPr id="122" name="Rectangle 76"/>
          <p:cNvSpPr/>
          <p:nvPr/>
        </p:nvSpPr>
        <p:spPr bwMode="gray">
          <a:xfrm>
            <a:off x="10347190" y="5059448"/>
            <a:ext cx="1005840" cy="548640"/>
          </a:xfrm>
          <a:prstGeom prst="rect">
            <a:avLst/>
          </a:prstGeom>
          <a:solidFill>
            <a:srgbClr val="D9D9D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Calibri"/>
              </a:rPr>
              <a:t>Deployment</a:t>
            </a:r>
          </a:p>
        </p:txBody>
      </p:sp>
      <p:sp>
        <p:nvSpPr>
          <p:cNvPr id="124" name="Arc 79"/>
          <p:cNvSpPr/>
          <p:nvPr/>
        </p:nvSpPr>
        <p:spPr>
          <a:xfrm rot="18848346">
            <a:off x="3163502" y="4819220"/>
            <a:ext cx="1985586" cy="1985588"/>
          </a:xfrm>
          <a:prstGeom prst="arc">
            <a:avLst>
              <a:gd name="adj1" fmla="val 16587398"/>
              <a:gd name="adj2" fmla="val 0"/>
            </a:avLst>
          </a:prstGeom>
          <a:ln w="41275">
            <a:solidFill>
              <a:schemeClr val="bg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Calibri"/>
            </a:endParaRPr>
          </a:p>
        </p:txBody>
      </p:sp>
      <p:sp>
        <p:nvSpPr>
          <p:cNvPr id="125" name="Arc 82"/>
          <p:cNvSpPr/>
          <p:nvPr/>
        </p:nvSpPr>
        <p:spPr>
          <a:xfrm rot="8100000">
            <a:off x="3167899" y="3842516"/>
            <a:ext cx="1985586" cy="1985588"/>
          </a:xfrm>
          <a:prstGeom prst="arc">
            <a:avLst>
              <a:gd name="adj1" fmla="val 16587398"/>
              <a:gd name="adj2" fmla="val 0"/>
            </a:avLst>
          </a:prstGeom>
          <a:ln w="41275">
            <a:solidFill>
              <a:schemeClr val="bg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Calibri"/>
            </a:endParaRPr>
          </a:p>
        </p:txBody>
      </p:sp>
      <p:sp>
        <p:nvSpPr>
          <p:cNvPr id="127" name="Arc 79"/>
          <p:cNvSpPr/>
          <p:nvPr/>
        </p:nvSpPr>
        <p:spPr>
          <a:xfrm rot="18848346">
            <a:off x="4671849" y="4829326"/>
            <a:ext cx="1985586" cy="1985588"/>
          </a:xfrm>
          <a:prstGeom prst="arc">
            <a:avLst>
              <a:gd name="adj1" fmla="val 16587398"/>
              <a:gd name="adj2" fmla="val 0"/>
            </a:avLst>
          </a:prstGeom>
          <a:ln w="41275">
            <a:solidFill>
              <a:schemeClr val="bg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Calibri"/>
            </a:endParaRPr>
          </a:p>
        </p:txBody>
      </p:sp>
      <p:grpSp>
        <p:nvGrpSpPr>
          <p:cNvPr id="129" name="그룹 128"/>
          <p:cNvGrpSpPr/>
          <p:nvPr/>
        </p:nvGrpSpPr>
        <p:grpSpPr>
          <a:xfrm>
            <a:off x="6177190" y="3855726"/>
            <a:ext cx="1989984" cy="2962291"/>
            <a:chOff x="3163501" y="3842516"/>
            <a:chExt cx="1989984" cy="2962291"/>
          </a:xfrm>
        </p:grpSpPr>
        <p:sp>
          <p:nvSpPr>
            <p:cNvPr id="130" name="Arc 79"/>
            <p:cNvSpPr/>
            <p:nvPr/>
          </p:nvSpPr>
          <p:spPr>
            <a:xfrm rot="18848346">
              <a:off x="3163502" y="4819220"/>
              <a:ext cx="1985586" cy="1985588"/>
            </a:xfrm>
            <a:prstGeom prst="arc">
              <a:avLst>
                <a:gd name="adj1" fmla="val 16587398"/>
                <a:gd name="adj2" fmla="val 0"/>
              </a:avLst>
            </a:prstGeom>
            <a:ln w="41275">
              <a:solidFill>
                <a:schemeClr val="bg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31" name="Arc 82"/>
            <p:cNvSpPr/>
            <p:nvPr/>
          </p:nvSpPr>
          <p:spPr>
            <a:xfrm rot="8100000">
              <a:off x="3167899" y="3842516"/>
              <a:ext cx="1985586" cy="1985588"/>
            </a:xfrm>
            <a:prstGeom prst="arc">
              <a:avLst>
                <a:gd name="adj1" fmla="val 16587398"/>
                <a:gd name="adj2" fmla="val 0"/>
              </a:avLst>
            </a:prstGeom>
            <a:ln w="41275">
              <a:solidFill>
                <a:schemeClr val="bg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Calibri"/>
              </a:endParaRPr>
            </a:p>
          </p:txBody>
        </p:sp>
      </p:grpSp>
      <p:sp>
        <p:nvSpPr>
          <p:cNvPr id="133" name="Arc 79"/>
          <p:cNvSpPr/>
          <p:nvPr/>
        </p:nvSpPr>
        <p:spPr>
          <a:xfrm rot="18848346">
            <a:off x="7654543" y="4835538"/>
            <a:ext cx="1985586" cy="1985588"/>
          </a:xfrm>
          <a:prstGeom prst="arc">
            <a:avLst>
              <a:gd name="adj1" fmla="val 16587398"/>
              <a:gd name="adj2" fmla="val 0"/>
            </a:avLst>
          </a:prstGeom>
          <a:ln w="41275">
            <a:solidFill>
              <a:schemeClr val="bg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Calibri"/>
            </a:endParaRPr>
          </a:p>
        </p:txBody>
      </p:sp>
      <p:sp>
        <p:nvSpPr>
          <p:cNvPr id="136" name="Arc 79"/>
          <p:cNvSpPr/>
          <p:nvPr/>
        </p:nvSpPr>
        <p:spPr>
          <a:xfrm rot="18848346">
            <a:off x="9178541" y="4819985"/>
            <a:ext cx="1985586" cy="1985588"/>
          </a:xfrm>
          <a:prstGeom prst="arc">
            <a:avLst>
              <a:gd name="adj1" fmla="val 16587398"/>
              <a:gd name="adj2" fmla="val 0"/>
            </a:avLst>
          </a:prstGeom>
          <a:ln w="41275">
            <a:solidFill>
              <a:schemeClr val="bg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Calibri"/>
            </a:endParaRPr>
          </a:p>
        </p:txBody>
      </p:sp>
      <p:sp>
        <p:nvSpPr>
          <p:cNvPr id="138" name="Arc 82"/>
          <p:cNvSpPr/>
          <p:nvPr/>
        </p:nvSpPr>
        <p:spPr>
          <a:xfrm rot="7687231">
            <a:off x="4087667" y="352007"/>
            <a:ext cx="5525591" cy="6184982"/>
          </a:xfrm>
          <a:prstGeom prst="arc">
            <a:avLst>
              <a:gd name="adj1" fmla="val 16587398"/>
              <a:gd name="adj2" fmla="val 0"/>
            </a:avLst>
          </a:prstGeom>
          <a:ln w="41275">
            <a:solidFill>
              <a:schemeClr val="bg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12E3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Calibri"/>
            </a:endParaRPr>
          </a:p>
        </p:txBody>
      </p:sp>
      <p:sp>
        <p:nvSpPr>
          <p:cNvPr id="139" name="Rectangle 137"/>
          <p:cNvSpPr/>
          <p:nvPr/>
        </p:nvSpPr>
        <p:spPr>
          <a:xfrm>
            <a:off x="7718687" y="5634361"/>
            <a:ext cx="503664" cy="27571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Calibri"/>
              </a:rPr>
              <a:t>SQL</a:t>
            </a:r>
          </a:p>
        </p:txBody>
      </p:sp>
      <p:sp>
        <p:nvSpPr>
          <p:cNvPr id="140" name="Rectangle 138"/>
          <p:cNvSpPr/>
          <p:nvPr/>
        </p:nvSpPr>
        <p:spPr>
          <a:xfrm>
            <a:off x="9120762" y="5634361"/>
            <a:ext cx="503664" cy="27571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Calibri"/>
              </a:rPr>
              <a:t>SQL</a:t>
            </a:r>
          </a:p>
        </p:txBody>
      </p:sp>
      <p:sp>
        <p:nvSpPr>
          <p:cNvPr id="141" name="Rectangle 139"/>
          <p:cNvSpPr/>
          <p:nvPr/>
        </p:nvSpPr>
        <p:spPr>
          <a:xfrm>
            <a:off x="4653934" y="5634361"/>
            <a:ext cx="503664" cy="27571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Calibri"/>
              </a:rPr>
              <a:t>SQL</a:t>
            </a:r>
          </a:p>
        </p:txBody>
      </p:sp>
      <p:pic>
        <p:nvPicPr>
          <p:cNvPr id="142" name="Image" descr="Image">
            <a:extLst>
              <a:ext uri="{FF2B5EF4-FFF2-40B4-BE49-F238E27FC236}">
                <a16:creationId xmlns="" xmlns:a16="http://schemas.microsoft.com/office/drawing/2014/main" id="{858F7DE2-2731-431A-A6B4-07C4C47C4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4612" y="6063435"/>
            <a:ext cx="560204" cy="4320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43" name="Image" descr="Image">
            <a:extLst>
              <a:ext uri="{FF2B5EF4-FFF2-40B4-BE49-F238E27FC236}">
                <a16:creationId xmlns="" xmlns:a16="http://schemas.microsoft.com/office/drawing/2014/main" id="{4D18311D-631D-4A09-8D57-7A2F8A4B8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1964" y="6045814"/>
            <a:ext cx="513212" cy="467315"/>
          </a:xfrm>
          <a:prstGeom prst="rect">
            <a:avLst/>
          </a:prstGeom>
          <a:ln w="12700">
            <a:miter lim="400000"/>
          </a:ln>
        </p:spPr>
      </p:pic>
      <p:pic>
        <p:nvPicPr>
          <p:cNvPr id="144" name="Image" descr="Image">
            <a:extLst>
              <a:ext uri="{FF2B5EF4-FFF2-40B4-BE49-F238E27FC236}">
                <a16:creationId xmlns="" xmlns:a16="http://schemas.microsoft.com/office/drawing/2014/main" id="{A61C2409-65CC-477A-B0FC-A3BC9390E2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407"/>
          <a:stretch>
            <a:fillRect/>
          </a:stretch>
        </p:blipFill>
        <p:spPr>
          <a:xfrm>
            <a:off x="5519507" y="6042514"/>
            <a:ext cx="458836" cy="529900"/>
          </a:xfrm>
          <a:prstGeom prst="rect">
            <a:avLst/>
          </a:prstGeom>
          <a:ln w="12700">
            <a:miter lim="400000"/>
          </a:ln>
        </p:spPr>
      </p:pic>
      <p:sp>
        <p:nvSpPr>
          <p:cNvPr id="145" name="Rectangle 139"/>
          <p:cNvSpPr/>
          <p:nvPr/>
        </p:nvSpPr>
        <p:spPr>
          <a:xfrm>
            <a:off x="6063263" y="5634361"/>
            <a:ext cx="503664" cy="27571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Calibri"/>
              </a:rPr>
              <a:t>SQL</a:t>
            </a:r>
          </a:p>
        </p:txBody>
      </p:sp>
      <p:sp>
        <p:nvSpPr>
          <p:cNvPr id="146" name="Rectangle 138"/>
          <p:cNvSpPr/>
          <p:nvPr/>
        </p:nvSpPr>
        <p:spPr>
          <a:xfrm>
            <a:off x="10648904" y="5634361"/>
            <a:ext cx="503664" cy="27571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Calibri"/>
              </a:rPr>
              <a:t>SQL</a:t>
            </a:r>
          </a:p>
        </p:txBody>
      </p:sp>
      <p:grpSp>
        <p:nvGrpSpPr>
          <p:cNvPr id="147" name="Group 154"/>
          <p:cNvGrpSpPr>
            <a:grpSpLocks noChangeAspect="1"/>
          </p:cNvGrpSpPr>
          <p:nvPr/>
        </p:nvGrpSpPr>
        <p:grpSpPr>
          <a:xfrm>
            <a:off x="1734996" y="3108094"/>
            <a:ext cx="1980923" cy="1598310"/>
            <a:chOff x="3157850" y="1192712"/>
            <a:chExt cx="3349449" cy="2702508"/>
          </a:xfrm>
        </p:grpSpPr>
        <p:grpSp>
          <p:nvGrpSpPr>
            <p:cNvPr id="148" name="Group 144"/>
            <p:cNvGrpSpPr/>
            <p:nvPr/>
          </p:nvGrpSpPr>
          <p:grpSpPr>
            <a:xfrm>
              <a:off x="3478041" y="1192712"/>
              <a:ext cx="2684641" cy="2684633"/>
              <a:chOff x="6391284" y="314733"/>
              <a:chExt cx="2851323" cy="2851317"/>
            </a:xfrm>
          </p:grpSpPr>
          <p:sp>
            <p:nvSpPr>
              <p:cNvPr id="155" name="Shape 276"/>
              <p:cNvSpPr/>
              <p:nvPr/>
            </p:nvSpPr>
            <p:spPr>
              <a:xfrm>
                <a:off x="6473958" y="380743"/>
                <a:ext cx="2718649" cy="27186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12700">
                <a:noFill/>
                <a:miter lim="400000"/>
              </a:ln>
              <a:effectLst>
                <a:outerShdw blurRad="38100" dist="12700" dir="5400000" algn="ctr" rotWithShape="0">
                  <a:srgbClr val="000000">
                    <a:alpha val="30000"/>
                  </a:srgbClr>
                </a:outerShdw>
              </a:effectLst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lIns="0" tIns="0" rIns="0" bIns="0" anchor="ctr"/>
              <a:lstStyle>
                <a:lvl1pPr>
                  <a:defRPr sz="10700" b="1">
                    <a:solidFill>
                      <a:srgbClr val="FCFBFB"/>
                    </a:solidFill>
                    <a:latin typeface="helium"/>
                    <a:ea typeface="helium"/>
                    <a:cs typeface="helium"/>
                    <a:sym typeface="helium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800" b="0">
                    <a:solidFill>
                      <a:srgbClr val="000000"/>
                    </a:solidFill>
                  </a:defRPr>
                </a:pPr>
                <a:endParaRPr kumimoji="0" sz="29598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cs typeface="et-line"/>
                  <a:sym typeface="helium"/>
                </a:endParaRPr>
              </a:p>
            </p:txBody>
          </p:sp>
          <p:sp>
            <p:nvSpPr>
              <p:cNvPr id="156" name="Block Arc 146"/>
              <p:cNvSpPr/>
              <p:nvPr/>
            </p:nvSpPr>
            <p:spPr>
              <a:xfrm flipV="1">
                <a:off x="6391284" y="314733"/>
                <a:ext cx="2851322" cy="2851317"/>
              </a:xfrm>
              <a:prstGeom prst="blockArc">
                <a:avLst>
                  <a:gd name="adj1" fmla="val 10800000"/>
                  <a:gd name="adj2" fmla="val 39393"/>
                  <a:gd name="adj3" fmla="val 9996"/>
                </a:avLst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12E35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Calibri"/>
                </a:endParaRPr>
              </a:p>
            </p:txBody>
          </p:sp>
          <p:sp>
            <p:nvSpPr>
              <p:cNvPr id="157" name="Freeform 147"/>
              <p:cNvSpPr/>
              <p:nvPr/>
            </p:nvSpPr>
            <p:spPr>
              <a:xfrm rot="10800000">
                <a:off x="6391285" y="321129"/>
                <a:ext cx="2851322" cy="1605122"/>
              </a:xfrm>
              <a:custGeom>
                <a:avLst/>
                <a:gdLst>
                  <a:gd name="connsiteX0" fmla="*/ 1114019 w 2240876"/>
                  <a:gd name="connsiteY0" fmla="*/ 1261462 h 1261480"/>
                  <a:gd name="connsiteX1" fmla="*/ 552823 w 2240876"/>
                  <a:gd name="connsiteY1" fmla="*/ 1107062 h 1261480"/>
                  <a:gd name="connsiteX2" fmla="*/ 8293 w 2240876"/>
                  <a:gd name="connsiteY2" fmla="*/ 277274 h 1261480"/>
                  <a:gd name="connsiteX3" fmla="*/ 274 w 2240876"/>
                  <a:gd name="connsiteY3" fmla="*/ 131830 h 1261480"/>
                  <a:gd name="connsiteX4" fmla="*/ 0 w 2240876"/>
                  <a:gd name="connsiteY4" fmla="*/ 131830 h 1261480"/>
                  <a:gd name="connsiteX5" fmla="*/ 258 w 2240876"/>
                  <a:gd name="connsiteY5" fmla="*/ 131531 h 1261480"/>
                  <a:gd name="connsiteX6" fmla="*/ 74 w 2240876"/>
                  <a:gd name="connsiteY6" fmla="*/ 128203 h 1261480"/>
                  <a:gd name="connsiteX7" fmla="*/ 3089 w 2240876"/>
                  <a:gd name="connsiteY7" fmla="*/ 128238 h 1261480"/>
                  <a:gd name="connsiteX8" fmla="*/ 113361 w 2240876"/>
                  <a:gd name="connsiteY8" fmla="*/ 0 h 1261480"/>
                  <a:gd name="connsiteX9" fmla="*/ 226721 w 2240876"/>
                  <a:gd name="connsiteY9" fmla="*/ 131830 h 1261480"/>
                  <a:gd name="connsiteX10" fmla="*/ 224116 w 2240876"/>
                  <a:gd name="connsiteY10" fmla="*/ 131830 h 1261480"/>
                  <a:gd name="connsiteX11" fmla="*/ 230633 w 2240876"/>
                  <a:gd name="connsiteY11" fmla="*/ 250039 h 1261480"/>
                  <a:gd name="connsiteX12" fmla="*/ 666301 w 2240876"/>
                  <a:gd name="connsiteY12" fmla="*/ 913935 h 1261480"/>
                  <a:gd name="connsiteX13" fmla="*/ 1565690 w 2240876"/>
                  <a:gd name="connsiteY13" fmla="*/ 919088 h 1261480"/>
                  <a:gd name="connsiteX14" fmla="*/ 2016879 w 2240876"/>
                  <a:gd name="connsiteY14" fmla="*/ 141042 h 1261480"/>
                  <a:gd name="connsiteX15" fmla="*/ 2240876 w 2240876"/>
                  <a:gd name="connsiteY15" fmla="*/ 141042 h 1261480"/>
                  <a:gd name="connsiteX16" fmla="*/ 1676947 w 2240876"/>
                  <a:gd name="connsiteY16" fmla="*/ 1113503 h 1261480"/>
                  <a:gd name="connsiteX17" fmla="*/ 1114019 w 2240876"/>
                  <a:gd name="connsiteY17" fmla="*/ 1261462 h 1261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240876" h="1261480">
                    <a:moveTo>
                      <a:pt x="1114019" y="1261462"/>
                    </a:moveTo>
                    <a:cubicBezTo>
                      <a:pt x="919888" y="1260350"/>
                      <a:pt x="726045" y="1208844"/>
                      <a:pt x="552823" y="1107062"/>
                    </a:cubicBezTo>
                    <a:cubicBezTo>
                      <a:pt x="249685" y="928944"/>
                      <a:pt x="50314" y="620719"/>
                      <a:pt x="8293" y="277274"/>
                    </a:cubicBezTo>
                    <a:lnTo>
                      <a:pt x="274" y="131830"/>
                    </a:lnTo>
                    <a:lnTo>
                      <a:pt x="0" y="131830"/>
                    </a:lnTo>
                    <a:lnTo>
                      <a:pt x="258" y="131531"/>
                    </a:lnTo>
                    <a:lnTo>
                      <a:pt x="74" y="128203"/>
                    </a:lnTo>
                    <a:lnTo>
                      <a:pt x="3089" y="128238"/>
                    </a:lnTo>
                    <a:lnTo>
                      <a:pt x="113361" y="0"/>
                    </a:lnTo>
                    <a:lnTo>
                      <a:pt x="226721" y="131830"/>
                    </a:lnTo>
                    <a:lnTo>
                      <a:pt x="224116" y="131830"/>
                    </a:lnTo>
                    <a:lnTo>
                      <a:pt x="230633" y="250039"/>
                    </a:lnTo>
                    <a:cubicBezTo>
                      <a:pt x="264254" y="524823"/>
                      <a:pt x="423765" y="771426"/>
                      <a:pt x="666301" y="913935"/>
                    </a:cubicBezTo>
                    <a:cubicBezTo>
                      <a:pt x="943484" y="1076803"/>
                      <a:pt x="1286659" y="1078769"/>
                      <a:pt x="1565690" y="919088"/>
                    </a:cubicBezTo>
                    <a:cubicBezTo>
                      <a:pt x="1844721" y="759407"/>
                      <a:pt x="2016879" y="462533"/>
                      <a:pt x="2016879" y="141042"/>
                    </a:cubicBezTo>
                    <a:lnTo>
                      <a:pt x="2240876" y="141042"/>
                    </a:lnTo>
                    <a:cubicBezTo>
                      <a:pt x="2240876" y="542865"/>
                      <a:pt x="2025701" y="913922"/>
                      <a:pt x="1676947" y="1113503"/>
                    </a:cubicBezTo>
                    <a:cubicBezTo>
                      <a:pt x="1502570" y="1213294"/>
                      <a:pt x="1308150" y="1262574"/>
                      <a:pt x="1114019" y="1261462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200">
                    <a:solidFill>
                      <a:srgbClr val="FFFFFF"/>
                    </a:solidFill>
                  </a:defRPr>
                </a:pPr>
                <a:endParaRPr kumimoji="0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Light" charset="0"/>
                  <a:ea typeface="Roboto Light" charset="0"/>
                  <a:cs typeface="Roboto Light" charset="0"/>
                  <a:sym typeface="Calibri"/>
                </a:endParaRPr>
              </a:p>
            </p:txBody>
          </p:sp>
        </p:grpSp>
        <p:sp>
          <p:nvSpPr>
            <p:cNvPr id="149" name="Freeform 148"/>
            <p:cNvSpPr/>
            <p:nvPr/>
          </p:nvSpPr>
          <p:spPr>
            <a:xfrm>
              <a:off x="3474279" y="2383931"/>
              <a:ext cx="2642945" cy="1511289"/>
            </a:xfrm>
            <a:custGeom>
              <a:avLst/>
              <a:gdLst>
                <a:gd name="connsiteX0" fmla="*/ 1114019 w 2240876"/>
                <a:gd name="connsiteY0" fmla="*/ 1261462 h 1261480"/>
                <a:gd name="connsiteX1" fmla="*/ 552823 w 2240876"/>
                <a:gd name="connsiteY1" fmla="*/ 1107062 h 1261480"/>
                <a:gd name="connsiteX2" fmla="*/ 8293 w 2240876"/>
                <a:gd name="connsiteY2" fmla="*/ 277274 h 1261480"/>
                <a:gd name="connsiteX3" fmla="*/ 274 w 2240876"/>
                <a:gd name="connsiteY3" fmla="*/ 131830 h 1261480"/>
                <a:gd name="connsiteX4" fmla="*/ 0 w 2240876"/>
                <a:gd name="connsiteY4" fmla="*/ 131830 h 1261480"/>
                <a:gd name="connsiteX5" fmla="*/ 258 w 2240876"/>
                <a:gd name="connsiteY5" fmla="*/ 131531 h 1261480"/>
                <a:gd name="connsiteX6" fmla="*/ 74 w 2240876"/>
                <a:gd name="connsiteY6" fmla="*/ 128203 h 1261480"/>
                <a:gd name="connsiteX7" fmla="*/ 3089 w 2240876"/>
                <a:gd name="connsiteY7" fmla="*/ 128238 h 1261480"/>
                <a:gd name="connsiteX8" fmla="*/ 113361 w 2240876"/>
                <a:gd name="connsiteY8" fmla="*/ 0 h 1261480"/>
                <a:gd name="connsiteX9" fmla="*/ 226721 w 2240876"/>
                <a:gd name="connsiteY9" fmla="*/ 131830 h 1261480"/>
                <a:gd name="connsiteX10" fmla="*/ 224116 w 2240876"/>
                <a:gd name="connsiteY10" fmla="*/ 131830 h 1261480"/>
                <a:gd name="connsiteX11" fmla="*/ 230633 w 2240876"/>
                <a:gd name="connsiteY11" fmla="*/ 250039 h 1261480"/>
                <a:gd name="connsiteX12" fmla="*/ 666301 w 2240876"/>
                <a:gd name="connsiteY12" fmla="*/ 913935 h 1261480"/>
                <a:gd name="connsiteX13" fmla="*/ 1565690 w 2240876"/>
                <a:gd name="connsiteY13" fmla="*/ 919088 h 1261480"/>
                <a:gd name="connsiteX14" fmla="*/ 2016879 w 2240876"/>
                <a:gd name="connsiteY14" fmla="*/ 141042 h 1261480"/>
                <a:gd name="connsiteX15" fmla="*/ 2240876 w 2240876"/>
                <a:gd name="connsiteY15" fmla="*/ 141042 h 1261480"/>
                <a:gd name="connsiteX16" fmla="*/ 1676947 w 2240876"/>
                <a:gd name="connsiteY16" fmla="*/ 1113503 h 1261480"/>
                <a:gd name="connsiteX17" fmla="*/ 1114019 w 2240876"/>
                <a:gd name="connsiteY17" fmla="*/ 1261462 h 1261480"/>
                <a:gd name="connsiteX0" fmla="*/ 1114019 w 2240876"/>
                <a:gd name="connsiteY0" fmla="*/ 1261462 h 1261480"/>
                <a:gd name="connsiteX1" fmla="*/ 552823 w 2240876"/>
                <a:gd name="connsiteY1" fmla="*/ 1107062 h 1261480"/>
                <a:gd name="connsiteX2" fmla="*/ 8293 w 2240876"/>
                <a:gd name="connsiteY2" fmla="*/ 277274 h 1261480"/>
                <a:gd name="connsiteX3" fmla="*/ 274 w 2240876"/>
                <a:gd name="connsiteY3" fmla="*/ 131830 h 1261480"/>
                <a:gd name="connsiteX4" fmla="*/ 0 w 2240876"/>
                <a:gd name="connsiteY4" fmla="*/ 131830 h 1261480"/>
                <a:gd name="connsiteX5" fmla="*/ 258 w 2240876"/>
                <a:gd name="connsiteY5" fmla="*/ 131531 h 1261480"/>
                <a:gd name="connsiteX6" fmla="*/ 74 w 2240876"/>
                <a:gd name="connsiteY6" fmla="*/ 128203 h 1261480"/>
                <a:gd name="connsiteX7" fmla="*/ 3089 w 2240876"/>
                <a:gd name="connsiteY7" fmla="*/ 128238 h 1261480"/>
                <a:gd name="connsiteX8" fmla="*/ 113361 w 2240876"/>
                <a:gd name="connsiteY8" fmla="*/ 0 h 1261480"/>
                <a:gd name="connsiteX9" fmla="*/ 226721 w 2240876"/>
                <a:gd name="connsiteY9" fmla="*/ 131830 h 1261480"/>
                <a:gd name="connsiteX10" fmla="*/ 224116 w 2240876"/>
                <a:gd name="connsiteY10" fmla="*/ 131830 h 1261480"/>
                <a:gd name="connsiteX11" fmla="*/ 230633 w 2240876"/>
                <a:gd name="connsiteY11" fmla="*/ 250039 h 1261480"/>
                <a:gd name="connsiteX12" fmla="*/ 666301 w 2240876"/>
                <a:gd name="connsiteY12" fmla="*/ 913935 h 1261480"/>
                <a:gd name="connsiteX13" fmla="*/ 1565690 w 2240876"/>
                <a:gd name="connsiteY13" fmla="*/ 919088 h 1261480"/>
                <a:gd name="connsiteX14" fmla="*/ 2240876 w 2240876"/>
                <a:gd name="connsiteY14" fmla="*/ 141042 h 1261480"/>
                <a:gd name="connsiteX15" fmla="*/ 1676947 w 2240876"/>
                <a:gd name="connsiteY15" fmla="*/ 1113503 h 1261480"/>
                <a:gd name="connsiteX16" fmla="*/ 1114019 w 2240876"/>
                <a:gd name="connsiteY16" fmla="*/ 1261462 h 1261480"/>
                <a:gd name="connsiteX0" fmla="*/ 1114019 w 2206072"/>
                <a:gd name="connsiteY0" fmla="*/ 1261462 h 1261480"/>
                <a:gd name="connsiteX1" fmla="*/ 552823 w 2206072"/>
                <a:gd name="connsiteY1" fmla="*/ 1107062 h 1261480"/>
                <a:gd name="connsiteX2" fmla="*/ 8293 w 2206072"/>
                <a:gd name="connsiteY2" fmla="*/ 277274 h 1261480"/>
                <a:gd name="connsiteX3" fmla="*/ 274 w 2206072"/>
                <a:gd name="connsiteY3" fmla="*/ 131830 h 1261480"/>
                <a:gd name="connsiteX4" fmla="*/ 0 w 2206072"/>
                <a:gd name="connsiteY4" fmla="*/ 131830 h 1261480"/>
                <a:gd name="connsiteX5" fmla="*/ 258 w 2206072"/>
                <a:gd name="connsiteY5" fmla="*/ 131531 h 1261480"/>
                <a:gd name="connsiteX6" fmla="*/ 74 w 2206072"/>
                <a:gd name="connsiteY6" fmla="*/ 128203 h 1261480"/>
                <a:gd name="connsiteX7" fmla="*/ 3089 w 2206072"/>
                <a:gd name="connsiteY7" fmla="*/ 128238 h 1261480"/>
                <a:gd name="connsiteX8" fmla="*/ 113361 w 2206072"/>
                <a:gd name="connsiteY8" fmla="*/ 0 h 1261480"/>
                <a:gd name="connsiteX9" fmla="*/ 226721 w 2206072"/>
                <a:gd name="connsiteY9" fmla="*/ 131830 h 1261480"/>
                <a:gd name="connsiteX10" fmla="*/ 224116 w 2206072"/>
                <a:gd name="connsiteY10" fmla="*/ 131830 h 1261480"/>
                <a:gd name="connsiteX11" fmla="*/ 230633 w 2206072"/>
                <a:gd name="connsiteY11" fmla="*/ 250039 h 1261480"/>
                <a:gd name="connsiteX12" fmla="*/ 666301 w 2206072"/>
                <a:gd name="connsiteY12" fmla="*/ 913935 h 1261480"/>
                <a:gd name="connsiteX13" fmla="*/ 1565690 w 2206072"/>
                <a:gd name="connsiteY13" fmla="*/ 919088 h 1261480"/>
                <a:gd name="connsiteX14" fmla="*/ 2206072 w 2206072"/>
                <a:gd name="connsiteY14" fmla="*/ 221092 h 1261480"/>
                <a:gd name="connsiteX15" fmla="*/ 1676947 w 2206072"/>
                <a:gd name="connsiteY15" fmla="*/ 1113503 h 1261480"/>
                <a:gd name="connsiteX16" fmla="*/ 1114019 w 2206072"/>
                <a:gd name="connsiteY16" fmla="*/ 1261462 h 1261480"/>
                <a:gd name="connsiteX0" fmla="*/ 1114019 w 2206072"/>
                <a:gd name="connsiteY0" fmla="*/ 1261462 h 1261480"/>
                <a:gd name="connsiteX1" fmla="*/ 552823 w 2206072"/>
                <a:gd name="connsiteY1" fmla="*/ 1107062 h 1261480"/>
                <a:gd name="connsiteX2" fmla="*/ 8293 w 2206072"/>
                <a:gd name="connsiteY2" fmla="*/ 277274 h 1261480"/>
                <a:gd name="connsiteX3" fmla="*/ 274 w 2206072"/>
                <a:gd name="connsiteY3" fmla="*/ 131830 h 1261480"/>
                <a:gd name="connsiteX4" fmla="*/ 0 w 2206072"/>
                <a:gd name="connsiteY4" fmla="*/ 131830 h 1261480"/>
                <a:gd name="connsiteX5" fmla="*/ 258 w 2206072"/>
                <a:gd name="connsiteY5" fmla="*/ 131531 h 1261480"/>
                <a:gd name="connsiteX6" fmla="*/ 74 w 2206072"/>
                <a:gd name="connsiteY6" fmla="*/ 128203 h 1261480"/>
                <a:gd name="connsiteX7" fmla="*/ 3089 w 2206072"/>
                <a:gd name="connsiteY7" fmla="*/ 128238 h 1261480"/>
                <a:gd name="connsiteX8" fmla="*/ 113361 w 2206072"/>
                <a:gd name="connsiteY8" fmla="*/ 0 h 1261480"/>
                <a:gd name="connsiteX9" fmla="*/ 226721 w 2206072"/>
                <a:gd name="connsiteY9" fmla="*/ 131830 h 1261480"/>
                <a:gd name="connsiteX10" fmla="*/ 224116 w 2206072"/>
                <a:gd name="connsiteY10" fmla="*/ 131830 h 1261480"/>
                <a:gd name="connsiteX11" fmla="*/ 230633 w 2206072"/>
                <a:gd name="connsiteY11" fmla="*/ 250039 h 1261480"/>
                <a:gd name="connsiteX12" fmla="*/ 666301 w 2206072"/>
                <a:gd name="connsiteY12" fmla="*/ 913935 h 1261480"/>
                <a:gd name="connsiteX13" fmla="*/ 1565690 w 2206072"/>
                <a:gd name="connsiteY13" fmla="*/ 919088 h 1261480"/>
                <a:gd name="connsiteX14" fmla="*/ 2206072 w 2206072"/>
                <a:gd name="connsiteY14" fmla="*/ 221092 h 1261480"/>
                <a:gd name="connsiteX15" fmla="*/ 1676947 w 2206072"/>
                <a:gd name="connsiteY15" fmla="*/ 1113503 h 1261480"/>
                <a:gd name="connsiteX16" fmla="*/ 1114019 w 2206072"/>
                <a:gd name="connsiteY16" fmla="*/ 1261462 h 1261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206072" h="1261480">
                  <a:moveTo>
                    <a:pt x="1114019" y="1261462"/>
                  </a:moveTo>
                  <a:cubicBezTo>
                    <a:pt x="919888" y="1260350"/>
                    <a:pt x="726045" y="1208844"/>
                    <a:pt x="552823" y="1107062"/>
                  </a:cubicBezTo>
                  <a:cubicBezTo>
                    <a:pt x="249685" y="928944"/>
                    <a:pt x="50314" y="620719"/>
                    <a:pt x="8293" y="277274"/>
                  </a:cubicBezTo>
                  <a:lnTo>
                    <a:pt x="274" y="131830"/>
                  </a:lnTo>
                  <a:lnTo>
                    <a:pt x="0" y="131830"/>
                  </a:lnTo>
                  <a:lnTo>
                    <a:pt x="258" y="131531"/>
                  </a:lnTo>
                  <a:cubicBezTo>
                    <a:pt x="197" y="130422"/>
                    <a:pt x="135" y="129312"/>
                    <a:pt x="74" y="128203"/>
                  </a:cubicBezTo>
                  <a:lnTo>
                    <a:pt x="3089" y="128238"/>
                  </a:lnTo>
                  <a:lnTo>
                    <a:pt x="113361" y="0"/>
                  </a:lnTo>
                  <a:lnTo>
                    <a:pt x="226721" y="131830"/>
                  </a:lnTo>
                  <a:lnTo>
                    <a:pt x="224116" y="131830"/>
                  </a:lnTo>
                  <a:lnTo>
                    <a:pt x="230633" y="250039"/>
                  </a:lnTo>
                  <a:cubicBezTo>
                    <a:pt x="264254" y="524823"/>
                    <a:pt x="423765" y="771426"/>
                    <a:pt x="666301" y="913935"/>
                  </a:cubicBezTo>
                  <a:cubicBezTo>
                    <a:pt x="943484" y="1076803"/>
                    <a:pt x="1309062" y="1034562"/>
                    <a:pt x="1565690" y="919088"/>
                  </a:cubicBezTo>
                  <a:cubicBezTo>
                    <a:pt x="1822318" y="803614"/>
                    <a:pt x="2187529" y="188690"/>
                    <a:pt x="2206072" y="221092"/>
                  </a:cubicBezTo>
                  <a:cubicBezTo>
                    <a:pt x="2192150" y="605512"/>
                    <a:pt x="2025701" y="913922"/>
                    <a:pt x="1676947" y="1113503"/>
                  </a:cubicBezTo>
                  <a:cubicBezTo>
                    <a:pt x="1502570" y="1213294"/>
                    <a:pt x="1308150" y="1262574"/>
                    <a:pt x="1114019" y="1261462"/>
                  </a:cubicBez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</a:defRPr>
              </a:pPr>
              <a:endPara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Light" charset="0"/>
                <a:ea typeface="Roboto Light" charset="0"/>
                <a:cs typeface="Roboto Light" charset="0"/>
                <a:sym typeface="Calibri"/>
              </a:endParaRPr>
            </a:p>
          </p:txBody>
        </p:sp>
        <p:pic>
          <p:nvPicPr>
            <p:cNvPr id="150" name="Picture 149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106785" y="1985160"/>
              <a:ext cx="1546242" cy="302727"/>
            </a:xfrm>
            <a:prstGeom prst="rect">
              <a:avLst/>
            </a:prstGeom>
          </p:spPr>
        </p:pic>
        <p:sp>
          <p:nvSpPr>
            <p:cNvPr id="151" name="TextBox 150"/>
            <p:cNvSpPr txBox="1"/>
            <p:nvPr/>
          </p:nvSpPr>
          <p:spPr>
            <a:xfrm>
              <a:off x="3157850" y="2379776"/>
              <a:ext cx="3349449" cy="328213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  <a:sym typeface="Calibri"/>
                </a:rPr>
                <a:t>UNIFIED PLATFORM</a:t>
              </a:r>
            </a:p>
          </p:txBody>
        </p:sp>
        <p:sp>
          <p:nvSpPr>
            <p:cNvPr id="152" name="Freeform 111"/>
            <p:cNvSpPr>
              <a:spLocks noChangeAspect="1" noChangeArrowheads="1"/>
            </p:cNvSpPr>
            <p:nvPr/>
          </p:nvSpPr>
          <p:spPr bwMode="auto">
            <a:xfrm>
              <a:off x="4106913" y="2748609"/>
              <a:ext cx="362736" cy="358175"/>
            </a:xfrm>
            <a:custGeom>
              <a:avLst/>
              <a:gdLst>
                <a:gd name="T0" fmla="*/ 684 w 699"/>
                <a:gd name="T1" fmla="*/ 324 h 693"/>
                <a:gd name="T2" fmla="*/ 684 w 699"/>
                <a:gd name="T3" fmla="*/ 324 h 693"/>
                <a:gd name="T4" fmla="*/ 542 w 699"/>
                <a:gd name="T5" fmla="*/ 183 h 693"/>
                <a:gd name="T6" fmla="*/ 492 w 699"/>
                <a:gd name="T7" fmla="*/ 183 h 693"/>
                <a:gd name="T8" fmla="*/ 492 w 699"/>
                <a:gd name="T9" fmla="*/ 233 h 693"/>
                <a:gd name="T10" fmla="*/ 573 w 699"/>
                <a:gd name="T11" fmla="*/ 314 h 693"/>
                <a:gd name="T12" fmla="*/ 302 w 699"/>
                <a:gd name="T13" fmla="*/ 314 h 693"/>
                <a:gd name="T14" fmla="*/ 156 w 699"/>
                <a:gd name="T15" fmla="*/ 92 h 693"/>
                <a:gd name="T16" fmla="*/ 267 w 699"/>
                <a:gd name="T17" fmla="*/ 115 h 693"/>
                <a:gd name="T18" fmla="*/ 309 w 699"/>
                <a:gd name="T19" fmla="*/ 87 h 693"/>
                <a:gd name="T20" fmla="*/ 281 w 699"/>
                <a:gd name="T21" fmla="*/ 45 h 693"/>
                <a:gd name="T22" fmla="*/ 86 w 699"/>
                <a:gd name="T23" fmla="*/ 4 h 693"/>
                <a:gd name="T24" fmla="*/ 45 w 699"/>
                <a:gd name="T25" fmla="*/ 31 h 693"/>
                <a:gd name="T26" fmla="*/ 4 w 699"/>
                <a:gd name="T27" fmla="*/ 227 h 693"/>
                <a:gd name="T28" fmla="*/ 31 w 699"/>
                <a:gd name="T29" fmla="*/ 269 h 693"/>
                <a:gd name="T30" fmla="*/ 39 w 699"/>
                <a:gd name="T31" fmla="*/ 270 h 693"/>
                <a:gd name="T32" fmla="*/ 73 w 699"/>
                <a:gd name="T33" fmla="*/ 242 h 693"/>
                <a:gd name="T34" fmla="*/ 97 w 699"/>
                <a:gd name="T35" fmla="*/ 130 h 693"/>
                <a:gd name="T36" fmla="*/ 242 w 699"/>
                <a:gd name="T37" fmla="*/ 351 h 693"/>
                <a:gd name="T38" fmla="*/ 104 w 699"/>
                <a:gd name="T39" fmla="*/ 565 h 693"/>
                <a:gd name="T40" fmla="*/ 80 w 699"/>
                <a:gd name="T41" fmla="*/ 455 h 693"/>
                <a:gd name="T42" fmla="*/ 37 w 699"/>
                <a:gd name="T43" fmla="*/ 428 h 693"/>
                <a:gd name="T44" fmla="*/ 10 w 699"/>
                <a:gd name="T45" fmla="*/ 470 h 693"/>
                <a:gd name="T46" fmla="*/ 53 w 699"/>
                <a:gd name="T47" fmla="*/ 664 h 693"/>
                <a:gd name="T48" fmla="*/ 87 w 699"/>
                <a:gd name="T49" fmla="*/ 692 h 693"/>
                <a:gd name="T50" fmla="*/ 95 w 699"/>
                <a:gd name="T51" fmla="*/ 692 h 693"/>
                <a:gd name="T52" fmla="*/ 289 w 699"/>
                <a:gd name="T53" fmla="*/ 650 h 693"/>
                <a:gd name="T54" fmla="*/ 317 w 699"/>
                <a:gd name="T55" fmla="*/ 607 h 693"/>
                <a:gd name="T56" fmla="*/ 275 w 699"/>
                <a:gd name="T57" fmla="*/ 580 h 693"/>
                <a:gd name="T58" fmla="*/ 163 w 699"/>
                <a:gd name="T59" fmla="*/ 604 h 693"/>
                <a:gd name="T60" fmla="*/ 305 w 699"/>
                <a:gd name="T61" fmla="*/ 384 h 693"/>
                <a:gd name="T62" fmla="*/ 573 w 699"/>
                <a:gd name="T63" fmla="*/ 384 h 693"/>
                <a:gd name="T64" fmla="*/ 492 w 699"/>
                <a:gd name="T65" fmla="*/ 464 h 693"/>
                <a:gd name="T66" fmla="*/ 492 w 699"/>
                <a:gd name="T67" fmla="*/ 515 h 693"/>
                <a:gd name="T68" fmla="*/ 517 w 699"/>
                <a:gd name="T69" fmla="*/ 526 h 693"/>
                <a:gd name="T70" fmla="*/ 542 w 699"/>
                <a:gd name="T71" fmla="*/ 515 h 693"/>
                <a:gd name="T72" fmla="*/ 684 w 699"/>
                <a:gd name="T73" fmla="*/ 374 h 693"/>
                <a:gd name="T74" fmla="*/ 684 w 699"/>
                <a:gd name="T75" fmla="*/ 324 h 6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99" h="693">
                  <a:moveTo>
                    <a:pt x="684" y="324"/>
                  </a:moveTo>
                  <a:lnTo>
                    <a:pt x="684" y="324"/>
                  </a:lnTo>
                  <a:cubicBezTo>
                    <a:pt x="542" y="183"/>
                    <a:pt x="542" y="183"/>
                    <a:pt x="542" y="183"/>
                  </a:cubicBezTo>
                  <a:cubicBezTo>
                    <a:pt x="529" y="169"/>
                    <a:pt x="506" y="169"/>
                    <a:pt x="492" y="183"/>
                  </a:cubicBezTo>
                  <a:cubicBezTo>
                    <a:pt x="479" y="197"/>
                    <a:pt x="479" y="220"/>
                    <a:pt x="492" y="233"/>
                  </a:cubicBezTo>
                  <a:cubicBezTo>
                    <a:pt x="573" y="314"/>
                    <a:pt x="573" y="314"/>
                    <a:pt x="573" y="314"/>
                  </a:cubicBezTo>
                  <a:cubicBezTo>
                    <a:pt x="302" y="314"/>
                    <a:pt x="302" y="314"/>
                    <a:pt x="302" y="314"/>
                  </a:cubicBezTo>
                  <a:cubicBezTo>
                    <a:pt x="156" y="92"/>
                    <a:pt x="156" y="92"/>
                    <a:pt x="156" y="92"/>
                  </a:cubicBezTo>
                  <a:cubicBezTo>
                    <a:pt x="267" y="115"/>
                    <a:pt x="267" y="115"/>
                    <a:pt x="267" y="115"/>
                  </a:cubicBezTo>
                  <a:cubicBezTo>
                    <a:pt x="286" y="118"/>
                    <a:pt x="305" y="106"/>
                    <a:pt x="309" y="87"/>
                  </a:cubicBezTo>
                  <a:cubicBezTo>
                    <a:pt x="313" y="68"/>
                    <a:pt x="301" y="49"/>
                    <a:pt x="281" y="45"/>
                  </a:cubicBezTo>
                  <a:cubicBezTo>
                    <a:pt x="86" y="4"/>
                    <a:pt x="86" y="4"/>
                    <a:pt x="86" y="4"/>
                  </a:cubicBezTo>
                  <a:cubicBezTo>
                    <a:pt x="67" y="0"/>
                    <a:pt x="48" y="13"/>
                    <a:pt x="45" y="31"/>
                  </a:cubicBezTo>
                  <a:cubicBezTo>
                    <a:pt x="4" y="227"/>
                    <a:pt x="4" y="227"/>
                    <a:pt x="4" y="227"/>
                  </a:cubicBezTo>
                  <a:cubicBezTo>
                    <a:pt x="0" y="246"/>
                    <a:pt x="11" y="265"/>
                    <a:pt x="31" y="269"/>
                  </a:cubicBezTo>
                  <a:cubicBezTo>
                    <a:pt x="33" y="270"/>
                    <a:pt x="36" y="270"/>
                    <a:pt x="39" y="270"/>
                  </a:cubicBezTo>
                  <a:cubicBezTo>
                    <a:pt x="55" y="270"/>
                    <a:pt x="70" y="258"/>
                    <a:pt x="73" y="242"/>
                  </a:cubicBezTo>
                  <a:cubicBezTo>
                    <a:pt x="97" y="130"/>
                    <a:pt x="97" y="130"/>
                    <a:pt x="97" y="130"/>
                  </a:cubicBezTo>
                  <a:cubicBezTo>
                    <a:pt x="242" y="351"/>
                    <a:pt x="242" y="351"/>
                    <a:pt x="242" y="351"/>
                  </a:cubicBezTo>
                  <a:cubicBezTo>
                    <a:pt x="104" y="565"/>
                    <a:pt x="104" y="565"/>
                    <a:pt x="104" y="565"/>
                  </a:cubicBezTo>
                  <a:cubicBezTo>
                    <a:pt x="80" y="455"/>
                    <a:pt x="80" y="455"/>
                    <a:pt x="80" y="455"/>
                  </a:cubicBezTo>
                  <a:cubicBezTo>
                    <a:pt x="76" y="435"/>
                    <a:pt x="56" y="423"/>
                    <a:pt x="37" y="428"/>
                  </a:cubicBezTo>
                  <a:cubicBezTo>
                    <a:pt x="18" y="432"/>
                    <a:pt x="6" y="451"/>
                    <a:pt x="10" y="470"/>
                  </a:cubicBezTo>
                  <a:cubicBezTo>
                    <a:pt x="53" y="664"/>
                    <a:pt x="53" y="664"/>
                    <a:pt x="53" y="664"/>
                  </a:cubicBezTo>
                  <a:cubicBezTo>
                    <a:pt x="56" y="681"/>
                    <a:pt x="71" y="692"/>
                    <a:pt x="87" y="692"/>
                  </a:cubicBezTo>
                  <a:cubicBezTo>
                    <a:pt x="90" y="692"/>
                    <a:pt x="93" y="692"/>
                    <a:pt x="95" y="692"/>
                  </a:cubicBezTo>
                  <a:cubicBezTo>
                    <a:pt x="289" y="650"/>
                    <a:pt x="289" y="650"/>
                    <a:pt x="289" y="650"/>
                  </a:cubicBezTo>
                  <a:cubicBezTo>
                    <a:pt x="309" y="646"/>
                    <a:pt x="322" y="627"/>
                    <a:pt x="317" y="607"/>
                  </a:cubicBezTo>
                  <a:cubicBezTo>
                    <a:pt x="312" y="588"/>
                    <a:pt x="294" y="576"/>
                    <a:pt x="275" y="580"/>
                  </a:cubicBezTo>
                  <a:cubicBezTo>
                    <a:pt x="163" y="604"/>
                    <a:pt x="163" y="604"/>
                    <a:pt x="163" y="604"/>
                  </a:cubicBezTo>
                  <a:cubicBezTo>
                    <a:pt x="305" y="384"/>
                    <a:pt x="305" y="384"/>
                    <a:pt x="305" y="384"/>
                  </a:cubicBezTo>
                  <a:cubicBezTo>
                    <a:pt x="573" y="384"/>
                    <a:pt x="573" y="384"/>
                    <a:pt x="573" y="384"/>
                  </a:cubicBezTo>
                  <a:cubicBezTo>
                    <a:pt x="492" y="464"/>
                    <a:pt x="492" y="464"/>
                    <a:pt x="492" y="464"/>
                  </a:cubicBezTo>
                  <a:cubicBezTo>
                    <a:pt x="479" y="479"/>
                    <a:pt x="479" y="501"/>
                    <a:pt x="492" y="515"/>
                  </a:cubicBezTo>
                  <a:cubicBezTo>
                    <a:pt x="500" y="522"/>
                    <a:pt x="509" y="526"/>
                    <a:pt x="517" y="526"/>
                  </a:cubicBezTo>
                  <a:cubicBezTo>
                    <a:pt x="527" y="526"/>
                    <a:pt x="536" y="522"/>
                    <a:pt x="542" y="515"/>
                  </a:cubicBezTo>
                  <a:cubicBezTo>
                    <a:pt x="684" y="374"/>
                    <a:pt x="684" y="374"/>
                    <a:pt x="684" y="374"/>
                  </a:cubicBezTo>
                  <a:cubicBezTo>
                    <a:pt x="698" y="360"/>
                    <a:pt x="698" y="337"/>
                    <a:pt x="684" y="32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25" b="0" i="0" u="none" strike="noStrike" kern="1200" cap="none" spc="0" normalizeH="0" baseline="0" noProof="0" dirty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53" name="Freeform 330"/>
            <p:cNvSpPr>
              <a:spLocks noChangeAspect="1" noChangeArrowheads="1"/>
            </p:cNvSpPr>
            <p:nvPr/>
          </p:nvSpPr>
          <p:spPr bwMode="auto">
            <a:xfrm>
              <a:off x="4630037" y="2748609"/>
              <a:ext cx="417451" cy="417455"/>
            </a:xfrm>
            <a:custGeom>
              <a:avLst/>
              <a:gdLst>
                <a:gd name="T0" fmla="*/ 571 w 613"/>
                <a:gd name="T1" fmla="*/ 153 h 613"/>
                <a:gd name="T2" fmla="*/ 569 w 613"/>
                <a:gd name="T3" fmla="*/ 152 h 613"/>
                <a:gd name="T4" fmla="*/ 306 w 613"/>
                <a:gd name="T5" fmla="*/ 0 h 613"/>
                <a:gd name="T6" fmla="*/ 53 w 613"/>
                <a:gd name="T7" fmla="*/ 479 h 613"/>
                <a:gd name="T8" fmla="*/ 560 w 613"/>
                <a:gd name="T9" fmla="*/ 478 h 613"/>
                <a:gd name="T10" fmla="*/ 571 w 613"/>
                <a:gd name="T11" fmla="*/ 153 h 613"/>
                <a:gd name="T12" fmla="*/ 63 w 613"/>
                <a:gd name="T13" fmla="*/ 154 h 613"/>
                <a:gd name="T14" fmla="*/ 90 w 613"/>
                <a:gd name="T15" fmla="*/ 181 h 613"/>
                <a:gd name="T16" fmla="*/ 76 w 613"/>
                <a:gd name="T17" fmla="*/ 184 h 613"/>
                <a:gd name="T18" fmla="*/ 63 w 613"/>
                <a:gd name="T19" fmla="*/ 154 h 613"/>
                <a:gd name="T20" fmla="*/ 40 w 613"/>
                <a:gd name="T21" fmla="*/ 458 h 613"/>
                <a:gd name="T22" fmla="*/ 42 w 613"/>
                <a:gd name="T23" fmla="*/ 460 h 613"/>
                <a:gd name="T24" fmla="*/ 47 w 613"/>
                <a:gd name="T25" fmla="*/ 315 h 613"/>
                <a:gd name="T26" fmla="*/ 19 w 613"/>
                <a:gd name="T27" fmla="*/ 315 h 613"/>
                <a:gd name="T28" fmla="*/ 19 w 613"/>
                <a:gd name="T29" fmla="*/ 296 h 613"/>
                <a:gd name="T30" fmla="*/ 56 w 613"/>
                <a:gd name="T31" fmla="*/ 305 h 613"/>
                <a:gd name="T32" fmla="*/ 85 w 613"/>
                <a:gd name="T33" fmla="*/ 443 h 613"/>
                <a:gd name="T34" fmla="*/ 63 w 613"/>
                <a:gd name="T35" fmla="*/ 456 h 613"/>
                <a:gd name="T36" fmla="*/ 76 w 613"/>
                <a:gd name="T37" fmla="*/ 427 h 613"/>
                <a:gd name="T38" fmla="*/ 85 w 613"/>
                <a:gd name="T39" fmla="*/ 443 h 613"/>
                <a:gd name="T40" fmla="*/ 426 w 613"/>
                <a:gd name="T41" fmla="*/ 76 h 613"/>
                <a:gd name="T42" fmla="*/ 456 w 613"/>
                <a:gd name="T43" fmla="*/ 63 h 613"/>
                <a:gd name="T44" fmla="*/ 435 w 613"/>
                <a:gd name="T45" fmla="*/ 91 h 613"/>
                <a:gd name="T46" fmla="*/ 426 w 613"/>
                <a:gd name="T47" fmla="*/ 76 h 613"/>
                <a:gd name="T48" fmla="*/ 295 w 613"/>
                <a:gd name="T49" fmla="*/ 20 h 613"/>
                <a:gd name="T50" fmla="*/ 315 w 613"/>
                <a:gd name="T51" fmla="*/ 20 h 613"/>
                <a:gd name="T52" fmla="*/ 305 w 613"/>
                <a:gd name="T53" fmla="*/ 56 h 613"/>
                <a:gd name="T54" fmla="*/ 295 w 613"/>
                <a:gd name="T55" fmla="*/ 20 h 613"/>
                <a:gd name="T56" fmla="*/ 153 w 613"/>
                <a:gd name="T57" fmla="*/ 63 h 613"/>
                <a:gd name="T58" fmla="*/ 184 w 613"/>
                <a:gd name="T59" fmla="*/ 76 h 613"/>
                <a:gd name="T60" fmla="*/ 176 w 613"/>
                <a:gd name="T61" fmla="*/ 91 h 613"/>
                <a:gd name="T62" fmla="*/ 153 w 613"/>
                <a:gd name="T63" fmla="*/ 63 h 613"/>
                <a:gd name="T64" fmla="*/ 438 w 613"/>
                <a:gd name="T65" fmla="*/ 515 h 613"/>
                <a:gd name="T66" fmla="*/ 182 w 613"/>
                <a:gd name="T67" fmla="*/ 525 h 613"/>
                <a:gd name="T68" fmla="*/ 172 w 613"/>
                <a:gd name="T69" fmla="*/ 466 h 613"/>
                <a:gd name="T70" fmla="*/ 428 w 613"/>
                <a:gd name="T71" fmla="*/ 456 h 613"/>
                <a:gd name="T72" fmla="*/ 438 w 613"/>
                <a:gd name="T73" fmla="*/ 515 h 613"/>
                <a:gd name="T74" fmla="*/ 365 w 613"/>
                <a:gd name="T75" fmla="*/ 307 h 613"/>
                <a:gd name="T76" fmla="*/ 246 w 613"/>
                <a:gd name="T77" fmla="*/ 305 h 613"/>
                <a:gd name="T78" fmla="*/ 335 w 613"/>
                <a:gd name="T79" fmla="*/ 254 h 613"/>
                <a:gd name="T80" fmla="*/ 502 w 613"/>
                <a:gd name="T81" fmla="*/ 195 h 613"/>
                <a:gd name="T82" fmla="*/ 525 w 613"/>
                <a:gd name="T83" fmla="*/ 167 h 613"/>
                <a:gd name="T84" fmla="*/ 548 w 613"/>
                <a:gd name="T85" fmla="*/ 154 h 613"/>
                <a:gd name="T86" fmla="*/ 535 w 613"/>
                <a:gd name="T87" fmla="*/ 184 h 613"/>
                <a:gd name="T88" fmla="*/ 520 w 613"/>
                <a:gd name="T89" fmla="*/ 181 h 613"/>
                <a:gd name="T90" fmla="*/ 548 w 613"/>
                <a:gd name="T91" fmla="*/ 456 h 613"/>
                <a:gd name="T92" fmla="*/ 525 w 613"/>
                <a:gd name="T93" fmla="*/ 443 h 613"/>
                <a:gd name="T94" fmla="*/ 535 w 613"/>
                <a:gd name="T95" fmla="*/ 427 h 613"/>
                <a:gd name="T96" fmla="*/ 548 w 613"/>
                <a:gd name="T97" fmla="*/ 456 h 613"/>
                <a:gd name="T98" fmla="*/ 564 w 613"/>
                <a:gd name="T99" fmla="*/ 315 h 613"/>
                <a:gd name="T100" fmla="*/ 564 w 613"/>
                <a:gd name="T101" fmla="*/ 296 h 613"/>
                <a:gd name="T102" fmla="*/ 591 w 613"/>
                <a:gd name="T103" fmla="*/ 305 h 613"/>
                <a:gd name="T104" fmla="*/ 564 w 613"/>
                <a:gd name="T105" fmla="*/ 315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13" h="613">
                  <a:moveTo>
                    <a:pt x="571" y="153"/>
                  </a:moveTo>
                  <a:lnTo>
                    <a:pt x="571" y="153"/>
                  </a:lnTo>
                  <a:lnTo>
                    <a:pt x="571" y="153"/>
                  </a:lnTo>
                  <a:cubicBezTo>
                    <a:pt x="571" y="153"/>
                    <a:pt x="569" y="153"/>
                    <a:pt x="569" y="152"/>
                  </a:cubicBezTo>
                  <a:cubicBezTo>
                    <a:pt x="569" y="152"/>
                    <a:pt x="571" y="152"/>
                    <a:pt x="571" y="153"/>
                  </a:cubicBezTo>
                  <a:cubicBezTo>
                    <a:pt x="517" y="61"/>
                    <a:pt x="419" y="0"/>
                    <a:pt x="306" y="0"/>
                  </a:cubicBezTo>
                  <a:cubicBezTo>
                    <a:pt x="136" y="0"/>
                    <a:pt x="0" y="136"/>
                    <a:pt x="0" y="305"/>
                  </a:cubicBezTo>
                  <a:cubicBezTo>
                    <a:pt x="0" y="370"/>
                    <a:pt x="19" y="428"/>
                    <a:pt x="53" y="479"/>
                  </a:cubicBezTo>
                  <a:cubicBezTo>
                    <a:pt x="108" y="559"/>
                    <a:pt x="200" y="612"/>
                    <a:pt x="306" y="612"/>
                  </a:cubicBezTo>
                  <a:cubicBezTo>
                    <a:pt x="411" y="612"/>
                    <a:pt x="504" y="559"/>
                    <a:pt x="560" y="478"/>
                  </a:cubicBezTo>
                  <a:cubicBezTo>
                    <a:pt x="592" y="427"/>
                    <a:pt x="612" y="369"/>
                    <a:pt x="612" y="305"/>
                  </a:cubicBezTo>
                  <a:cubicBezTo>
                    <a:pt x="612" y="250"/>
                    <a:pt x="596" y="197"/>
                    <a:pt x="571" y="153"/>
                  </a:cubicBezTo>
                  <a:close/>
                  <a:moveTo>
                    <a:pt x="63" y="154"/>
                  </a:moveTo>
                  <a:lnTo>
                    <a:pt x="63" y="154"/>
                  </a:lnTo>
                  <a:cubicBezTo>
                    <a:pt x="85" y="167"/>
                    <a:pt x="85" y="167"/>
                    <a:pt x="85" y="167"/>
                  </a:cubicBezTo>
                  <a:cubicBezTo>
                    <a:pt x="91" y="170"/>
                    <a:pt x="92" y="176"/>
                    <a:pt x="90" y="181"/>
                  </a:cubicBezTo>
                  <a:cubicBezTo>
                    <a:pt x="88" y="184"/>
                    <a:pt x="84" y="185"/>
                    <a:pt x="81" y="185"/>
                  </a:cubicBezTo>
                  <a:cubicBezTo>
                    <a:pt x="79" y="185"/>
                    <a:pt x="78" y="185"/>
                    <a:pt x="76" y="184"/>
                  </a:cubicBezTo>
                  <a:cubicBezTo>
                    <a:pt x="53" y="171"/>
                    <a:pt x="53" y="171"/>
                    <a:pt x="53" y="171"/>
                  </a:cubicBezTo>
                  <a:cubicBezTo>
                    <a:pt x="56" y="165"/>
                    <a:pt x="60" y="159"/>
                    <a:pt x="63" y="154"/>
                  </a:cubicBezTo>
                  <a:close/>
                  <a:moveTo>
                    <a:pt x="40" y="458"/>
                  </a:moveTo>
                  <a:lnTo>
                    <a:pt x="40" y="458"/>
                  </a:lnTo>
                  <a:cubicBezTo>
                    <a:pt x="40" y="458"/>
                    <a:pt x="40" y="456"/>
                    <a:pt x="40" y="456"/>
                  </a:cubicBezTo>
                  <a:cubicBezTo>
                    <a:pt x="42" y="458"/>
                    <a:pt x="42" y="459"/>
                    <a:pt x="42" y="460"/>
                  </a:cubicBezTo>
                  <a:cubicBezTo>
                    <a:pt x="42" y="459"/>
                    <a:pt x="42" y="459"/>
                    <a:pt x="40" y="458"/>
                  </a:cubicBezTo>
                  <a:close/>
                  <a:moveTo>
                    <a:pt x="47" y="315"/>
                  </a:moveTo>
                  <a:lnTo>
                    <a:pt x="47" y="315"/>
                  </a:lnTo>
                  <a:cubicBezTo>
                    <a:pt x="19" y="315"/>
                    <a:pt x="19" y="315"/>
                    <a:pt x="19" y="315"/>
                  </a:cubicBezTo>
                  <a:cubicBezTo>
                    <a:pt x="19" y="312"/>
                    <a:pt x="19" y="309"/>
                    <a:pt x="19" y="305"/>
                  </a:cubicBezTo>
                  <a:cubicBezTo>
                    <a:pt x="19" y="302"/>
                    <a:pt x="19" y="299"/>
                    <a:pt x="19" y="296"/>
                  </a:cubicBezTo>
                  <a:cubicBezTo>
                    <a:pt x="47" y="296"/>
                    <a:pt x="47" y="296"/>
                    <a:pt x="47" y="296"/>
                  </a:cubicBezTo>
                  <a:cubicBezTo>
                    <a:pt x="52" y="296"/>
                    <a:pt x="56" y="300"/>
                    <a:pt x="56" y="305"/>
                  </a:cubicBezTo>
                  <a:cubicBezTo>
                    <a:pt x="56" y="310"/>
                    <a:pt x="52" y="315"/>
                    <a:pt x="47" y="315"/>
                  </a:cubicBezTo>
                  <a:close/>
                  <a:moveTo>
                    <a:pt x="85" y="443"/>
                  </a:moveTo>
                  <a:lnTo>
                    <a:pt x="85" y="443"/>
                  </a:lnTo>
                  <a:cubicBezTo>
                    <a:pt x="63" y="456"/>
                    <a:pt x="63" y="456"/>
                    <a:pt x="63" y="456"/>
                  </a:cubicBezTo>
                  <a:cubicBezTo>
                    <a:pt x="60" y="450"/>
                    <a:pt x="56" y="444"/>
                    <a:pt x="53" y="439"/>
                  </a:cubicBezTo>
                  <a:cubicBezTo>
                    <a:pt x="76" y="427"/>
                    <a:pt x="76" y="427"/>
                    <a:pt x="76" y="427"/>
                  </a:cubicBezTo>
                  <a:cubicBezTo>
                    <a:pt x="81" y="423"/>
                    <a:pt x="87" y="426"/>
                    <a:pt x="90" y="430"/>
                  </a:cubicBezTo>
                  <a:cubicBezTo>
                    <a:pt x="92" y="434"/>
                    <a:pt x="91" y="440"/>
                    <a:pt x="85" y="443"/>
                  </a:cubicBezTo>
                  <a:close/>
                  <a:moveTo>
                    <a:pt x="426" y="76"/>
                  </a:moveTo>
                  <a:lnTo>
                    <a:pt x="426" y="76"/>
                  </a:lnTo>
                  <a:cubicBezTo>
                    <a:pt x="439" y="53"/>
                    <a:pt x="439" y="53"/>
                    <a:pt x="439" y="53"/>
                  </a:cubicBezTo>
                  <a:cubicBezTo>
                    <a:pt x="446" y="56"/>
                    <a:pt x="451" y="60"/>
                    <a:pt x="456" y="63"/>
                  </a:cubicBezTo>
                  <a:cubicBezTo>
                    <a:pt x="443" y="86"/>
                    <a:pt x="443" y="86"/>
                    <a:pt x="443" y="86"/>
                  </a:cubicBezTo>
                  <a:cubicBezTo>
                    <a:pt x="442" y="89"/>
                    <a:pt x="438" y="91"/>
                    <a:pt x="435" y="91"/>
                  </a:cubicBezTo>
                  <a:cubicBezTo>
                    <a:pt x="432" y="91"/>
                    <a:pt x="432" y="90"/>
                    <a:pt x="430" y="90"/>
                  </a:cubicBezTo>
                  <a:cubicBezTo>
                    <a:pt x="426" y="87"/>
                    <a:pt x="423" y="80"/>
                    <a:pt x="426" y="76"/>
                  </a:cubicBezTo>
                  <a:close/>
                  <a:moveTo>
                    <a:pt x="295" y="20"/>
                  </a:moveTo>
                  <a:lnTo>
                    <a:pt x="295" y="20"/>
                  </a:lnTo>
                  <a:cubicBezTo>
                    <a:pt x="298" y="20"/>
                    <a:pt x="302" y="20"/>
                    <a:pt x="305" y="20"/>
                  </a:cubicBezTo>
                  <a:cubicBezTo>
                    <a:pt x="309" y="20"/>
                    <a:pt x="311" y="20"/>
                    <a:pt x="315" y="20"/>
                  </a:cubicBezTo>
                  <a:cubicBezTo>
                    <a:pt x="315" y="47"/>
                    <a:pt x="315" y="47"/>
                    <a:pt x="315" y="47"/>
                  </a:cubicBezTo>
                  <a:cubicBezTo>
                    <a:pt x="315" y="52"/>
                    <a:pt x="310" y="56"/>
                    <a:pt x="305" y="56"/>
                  </a:cubicBezTo>
                  <a:cubicBezTo>
                    <a:pt x="300" y="56"/>
                    <a:pt x="295" y="52"/>
                    <a:pt x="295" y="47"/>
                  </a:cubicBezTo>
                  <a:lnTo>
                    <a:pt x="295" y="20"/>
                  </a:lnTo>
                  <a:close/>
                  <a:moveTo>
                    <a:pt x="153" y="63"/>
                  </a:moveTo>
                  <a:lnTo>
                    <a:pt x="153" y="63"/>
                  </a:lnTo>
                  <a:cubicBezTo>
                    <a:pt x="159" y="60"/>
                    <a:pt x="165" y="56"/>
                    <a:pt x="171" y="53"/>
                  </a:cubicBezTo>
                  <a:cubicBezTo>
                    <a:pt x="184" y="76"/>
                    <a:pt x="184" y="76"/>
                    <a:pt x="184" y="76"/>
                  </a:cubicBezTo>
                  <a:cubicBezTo>
                    <a:pt x="188" y="80"/>
                    <a:pt x="185" y="87"/>
                    <a:pt x="181" y="90"/>
                  </a:cubicBezTo>
                  <a:cubicBezTo>
                    <a:pt x="180" y="90"/>
                    <a:pt x="177" y="91"/>
                    <a:pt x="176" y="91"/>
                  </a:cubicBezTo>
                  <a:cubicBezTo>
                    <a:pt x="172" y="91"/>
                    <a:pt x="169" y="89"/>
                    <a:pt x="168" y="86"/>
                  </a:cubicBezTo>
                  <a:lnTo>
                    <a:pt x="153" y="63"/>
                  </a:lnTo>
                  <a:close/>
                  <a:moveTo>
                    <a:pt x="438" y="515"/>
                  </a:moveTo>
                  <a:lnTo>
                    <a:pt x="438" y="515"/>
                  </a:lnTo>
                  <a:cubicBezTo>
                    <a:pt x="438" y="520"/>
                    <a:pt x="434" y="525"/>
                    <a:pt x="428" y="525"/>
                  </a:cubicBezTo>
                  <a:cubicBezTo>
                    <a:pt x="182" y="525"/>
                    <a:pt x="182" y="525"/>
                    <a:pt x="182" y="525"/>
                  </a:cubicBezTo>
                  <a:cubicBezTo>
                    <a:pt x="176" y="525"/>
                    <a:pt x="172" y="520"/>
                    <a:pt x="172" y="515"/>
                  </a:cubicBezTo>
                  <a:cubicBezTo>
                    <a:pt x="172" y="466"/>
                    <a:pt x="172" y="466"/>
                    <a:pt x="172" y="466"/>
                  </a:cubicBezTo>
                  <a:cubicBezTo>
                    <a:pt x="172" y="460"/>
                    <a:pt x="176" y="456"/>
                    <a:pt x="182" y="456"/>
                  </a:cubicBezTo>
                  <a:cubicBezTo>
                    <a:pt x="428" y="456"/>
                    <a:pt x="428" y="456"/>
                    <a:pt x="428" y="456"/>
                  </a:cubicBezTo>
                  <a:cubicBezTo>
                    <a:pt x="434" y="456"/>
                    <a:pt x="438" y="460"/>
                    <a:pt x="438" y="466"/>
                  </a:cubicBezTo>
                  <a:lnTo>
                    <a:pt x="438" y="515"/>
                  </a:lnTo>
                  <a:close/>
                  <a:moveTo>
                    <a:pt x="365" y="307"/>
                  </a:moveTo>
                  <a:lnTo>
                    <a:pt x="365" y="307"/>
                  </a:lnTo>
                  <a:cubicBezTo>
                    <a:pt x="363" y="339"/>
                    <a:pt x="338" y="365"/>
                    <a:pt x="305" y="365"/>
                  </a:cubicBezTo>
                  <a:cubicBezTo>
                    <a:pt x="273" y="365"/>
                    <a:pt x="246" y="338"/>
                    <a:pt x="246" y="305"/>
                  </a:cubicBezTo>
                  <a:cubicBezTo>
                    <a:pt x="246" y="273"/>
                    <a:pt x="273" y="246"/>
                    <a:pt x="305" y="246"/>
                  </a:cubicBezTo>
                  <a:cubicBezTo>
                    <a:pt x="316" y="246"/>
                    <a:pt x="327" y="249"/>
                    <a:pt x="335" y="254"/>
                  </a:cubicBezTo>
                  <a:cubicBezTo>
                    <a:pt x="499" y="191"/>
                    <a:pt x="499" y="191"/>
                    <a:pt x="499" y="191"/>
                  </a:cubicBezTo>
                  <a:cubicBezTo>
                    <a:pt x="502" y="195"/>
                    <a:pt x="502" y="195"/>
                    <a:pt x="502" y="195"/>
                  </a:cubicBezTo>
                  <a:lnTo>
                    <a:pt x="365" y="307"/>
                  </a:lnTo>
                  <a:close/>
                  <a:moveTo>
                    <a:pt x="525" y="167"/>
                  </a:moveTo>
                  <a:lnTo>
                    <a:pt x="525" y="167"/>
                  </a:lnTo>
                  <a:cubicBezTo>
                    <a:pt x="548" y="154"/>
                    <a:pt x="548" y="154"/>
                    <a:pt x="548" y="154"/>
                  </a:cubicBezTo>
                  <a:cubicBezTo>
                    <a:pt x="551" y="159"/>
                    <a:pt x="554" y="165"/>
                    <a:pt x="557" y="171"/>
                  </a:cubicBezTo>
                  <a:cubicBezTo>
                    <a:pt x="535" y="184"/>
                    <a:pt x="535" y="184"/>
                    <a:pt x="535" y="184"/>
                  </a:cubicBezTo>
                  <a:cubicBezTo>
                    <a:pt x="532" y="185"/>
                    <a:pt x="531" y="185"/>
                    <a:pt x="529" y="185"/>
                  </a:cubicBezTo>
                  <a:cubicBezTo>
                    <a:pt x="526" y="185"/>
                    <a:pt x="523" y="184"/>
                    <a:pt x="520" y="181"/>
                  </a:cubicBezTo>
                  <a:cubicBezTo>
                    <a:pt x="519" y="176"/>
                    <a:pt x="519" y="170"/>
                    <a:pt x="525" y="167"/>
                  </a:cubicBezTo>
                  <a:close/>
                  <a:moveTo>
                    <a:pt x="548" y="456"/>
                  </a:moveTo>
                  <a:lnTo>
                    <a:pt x="548" y="456"/>
                  </a:lnTo>
                  <a:cubicBezTo>
                    <a:pt x="525" y="443"/>
                    <a:pt x="525" y="443"/>
                    <a:pt x="525" y="443"/>
                  </a:cubicBezTo>
                  <a:cubicBezTo>
                    <a:pt x="519" y="440"/>
                    <a:pt x="519" y="434"/>
                    <a:pt x="520" y="430"/>
                  </a:cubicBezTo>
                  <a:cubicBezTo>
                    <a:pt x="524" y="426"/>
                    <a:pt x="529" y="423"/>
                    <a:pt x="535" y="427"/>
                  </a:cubicBezTo>
                  <a:cubicBezTo>
                    <a:pt x="557" y="439"/>
                    <a:pt x="557" y="439"/>
                    <a:pt x="557" y="439"/>
                  </a:cubicBezTo>
                  <a:cubicBezTo>
                    <a:pt x="554" y="444"/>
                    <a:pt x="551" y="450"/>
                    <a:pt x="548" y="456"/>
                  </a:cubicBezTo>
                  <a:close/>
                  <a:moveTo>
                    <a:pt x="564" y="315"/>
                  </a:moveTo>
                  <a:lnTo>
                    <a:pt x="564" y="315"/>
                  </a:lnTo>
                  <a:cubicBezTo>
                    <a:pt x="559" y="315"/>
                    <a:pt x="554" y="310"/>
                    <a:pt x="554" y="305"/>
                  </a:cubicBezTo>
                  <a:cubicBezTo>
                    <a:pt x="554" y="300"/>
                    <a:pt x="559" y="296"/>
                    <a:pt x="564" y="296"/>
                  </a:cubicBezTo>
                  <a:cubicBezTo>
                    <a:pt x="591" y="296"/>
                    <a:pt x="591" y="296"/>
                    <a:pt x="591" y="296"/>
                  </a:cubicBezTo>
                  <a:cubicBezTo>
                    <a:pt x="591" y="299"/>
                    <a:pt x="591" y="302"/>
                    <a:pt x="591" y="305"/>
                  </a:cubicBezTo>
                  <a:cubicBezTo>
                    <a:pt x="591" y="309"/>
                    <a:pt x="591" y="312"/>
                    <a:pt x="591" y="315"/>
                  </a:cubicBezTo>
                  <a:lnTo>
                    <a:pt x="564" y="3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54" name="Freeform 130"/>
            <p:cNvSpPr>
              <a:spLocks noChangeAspect="1" noChangeArrowheads="1"/>
            </p:cNvSpPr>
            <p:nvPr/>
          </p:nvSpPr>
          <p:spPr bwMode="auto">
            <a:xfrm>
              <a:off x="5207876" y="2764118"/>
              <a:ext cx="365751" cy="365751"/>
            </a:xfrm>
            <a:custGeom>
              <a:avLst/>
              <a:gdLst>
                <a:gd name="T0" fmla="*/ 601 w 602"/>
                <a:gd name="T1" fmla="*/ 556 h 603"/>
                <a:gd name="T2" fmla="*/ 601 w 602"/>
                <a:gd name="T3" fmla="*/ 556 h 603"/>
                <a:gd name="T4" fmla="*/ 583 w 602"/>
                <a:gd name="T5" fmla="*/ 574 h 603"/>
                <a:gd name="T6" fmla="*/ 83 w 602"/>
                <a:gd name="T7" fmla="*/ 574 h 603"/>
                <a:gd name="T8" fmla="*/ 83 w 602"/>
                <a:gd name="T9" fmla="*/ 584 h 603"/>
                <a:gd name="T10" fmla="*/ 65 w 602"/>
                <a:gd name="T11" fmla="*/ 602 h 603"/>
                <a:gd name="T12" fmla="*/ 47 w 602"/>
                <a:gd name="T13" fmla="*/ 584 h 603"/>
                <a:gd name="T14" fmla="*/ 47 w 602"/>
                <a:gd name="T15" fmla="*/ 574 h 603"/>
                <a:gd name="T16" fmla="*/ 17 w 602"/>
                <a:gd name="T17" fmla="*/ 574 h 603"/>
                <a:gd name="T18" fmla="*/ 0 w 602"/>
                <a:gd name="T19" fmla="*/ 556 h 603"/>
                <a:gd name="T20" fmla="*/ 17 w 602"/>
                <a:gd name="T21" fmla="*/ 539 h 603"/>
                <a:gd name="T22" fmla="*/ 47 w 602"/>
                <a:gd name="T23" fmla="*/ 539 h 603"/>
                <a:gd name="T24" fmla="*/ 47 w 602"/>
                <a:gd name="T25" fmla="*/ 18 h 603"/>
                <a:gd name="T26" fmla="*/ 65 w 602"/>
                <a:gd name="T27" fmla="*/ 0 h 603"/>
                <a:gd name="T28" fmla="*/ 83 w 602"/>
                <a:gd name="T29" fmla="*/ 18 h 603"/>
                <a:gd name="T30" fmla="*/ 83 w 602"/>
                <a:gd name="T31" fmla="*/ 539 h 603"/>
                <a:gd name="T32" fmla="*/ 142 w 602"/>
                <a:gd name="T33" fmla="*/ 539 h 603"/>
                <a:gd name="T34" fmla="*/ 142 w 602"/>
                <a:gd name="T35" fmla="*/ 387 h 603"/>
                <a:gd name="T36" fmla="*/ 159 w 602"/>
                <a:gd name="T37" fmla="*/ 369 h 603"/>
                <a:gd name="T38" fmla="*/ 176 w 602"/>
                <a:gd name="T39" fmla="*/ 387 h 603"/>
                <a:gd name="T40" fmla="*/ 176 w 602"/>
                <a:gd name="T41" fmla="*/ 539 h 603"/>
                <a:gd name="T42" fmla="*/ 254 w 602"/>
                <a:gd name="T43" fmla="*/ 539 h 603"/>
                <a:gd name="T44" fmla="*/ 254 w 602"/>
                <a:gd name="T45" fmla="*/ 292 h 603"/>
                <a:gd name="T46" fmla="*/ 272 w 602"/>
                <a:gd name="T47" fmla="*/ 274 h 603"/>
                <a:gd name="T48" fmla="*/ 290 w 602"/>
                <a:gd name="T49" fmla="*/ 292 h 603"/>
                <a:gd name="T50" fmla="*/ 290 w 602"/>
                <a:gd name="T51" fmla="*/ 539 h 603"/>
                <a:gd name="T52" fmla="*/ 368 w 602"/>
                <a:gd name="T53" fmla="*/ 539 h 603"/>
                <a:gd name="T54" fmla="*/ 368 w 602"/>
                <a:gd name="T55" fmla="*/ 387 h 603"/>
                <a:gd name="T56" fmla="*/ 385 w 602"/>
                <a:gd name="T57" fmla="*/ 369 h 603"/>
                <a:gd name="T58" fmla="*/ 403 w 602"/>
                <a:gd name="T59" fmla="*/ 387 h 603"/>
                <a:gd name="T60" fmla="*/ 403 w 602"/>
                <a:gd name="T61" fmla="*/ 539 h 603"/>
                <a:gd name="T62" fmla="*/ 481 w 602"/>
                <a:gd name="T63" fmla="*/ 539 h 603"/>
                <a:gd name="T64" fmla="*/ 481 w 602"/>
                <a:gd name="T65" fmla="*/ 273 h 603"/>
                <a:gd name="T66" fmla="*/ 499 w 602"/>
                <a:gd name="T67" fmla="*/ 255 h 603"/>
                <a:gd name="T68" fmla="*/ 517 w 602"/>
                <a:gd name="T69" fmla="*/ 273 h 603"/>
                <a:gd name="T70" fmla="*/ 517 w 602"/>
                <a:gd name="T71" fmla="*/ 539 h 603"/>
                <a:gd name="T72" fmla="*/ 583 w 602"/>
                <a:gd name="T73" fmla="*/ 539 h 603"/>
                <a:gd name="T74" fmla="*/ 601 w 602"/>
                <a:gd name="T75" fmla="*/ 556 h 603"/>
                <a:gd name="T76" fmla="*/ 116 w 602"/>
                <a:gd name="T77" fmla="*/ 363 h 603"/>
                <a:gd name="T78" fmla="*/ 116 w 602"/>
                <a:gd name="T79" fmla="*/ 363 h 603"/>
                <a:gd name="T80" fmla="*/ 127 w 602"/>
                <a:gd name="T81" fmla="*/ 358 h 603"/>
                <a:gd name="T82" fmla="*/ 280 w 602"/>
                <a:gd name="T83" fmla="*/ 229 h 603"/>
                <a:gd name="T84" fmla="*/ 362 w 602"/>
                <a:gd name="T85" fmla="*/ 312 h 603"/>
                <a:gd name="T86" fmla="*/ 387 w 602"/>
                <a:gd name="T87" fmla="*/ 312 h 603"/>
                <a:gd name="T88" fmla="*/ 530 w 602"/>
                <a:gd name="T89" fmla="*/ 167 h 603"/>
                <a:gd name="T90" fmla="*/ 535 w 602"/>
                <a:gd name="T91" fmla="*/ 154 h 603"/>
                <a:gd name="T92" fmla="*/ 530 w 602"/>
                <a:gd name="T93" fmla="*/ 142 h 603"/>
                <a:gd name="T94" fmla="*/ 518 w 602"/>
                <a:gd name="T95" fmla="*/ 137 h 603"/>
                <a:gd name="T96" fmla="*/ 518 w 602"/>
                <a:gd name="T97" fmla="*/ 137 h 603"/>
                <a:gd name="T98" fmla="*/ 505 w 602"/>
                <a:gd name="T99" fmla="*/ 142 h 603"/>
                <a:gd name="T100" fmla="*/ 374 w 602"/>
                <a:gd name="T101" fmla="*/ 274 h 603"/>
                <a:gd name="T102" fmla="*/ 294 w 602"/>
                <a:gd name="T103" fmla="*/ 193 h 603"/>
                <a:gd name="T104" fmla="*/ 270 w 602"/>
                <a:gd name="T105" fmla="*/ 192 h 603"/>
                <a:gd name="T106" fmla="*/ 104 w 602"/>
                <a:gd name="T107" fmla="*/ 331 h 603"/>
                <a:gd name="T108" fmla="*/ 98 w 602"/>
                <a:gd name="T109" fmla="*/ 344 h 603"/>
                <a:gd name="T110" fmla="*/ 102 w 602"/>
                <a:gd name="T111" fmla="*/ 356 h 603"/>
                <a:gd name="T112" fmla="*/ 116 w 602"/>
                <a:gd name="T113" fmla="*/ 363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603">
                  <a:moveTo>
                    <a:pt x="601" y="556"/>
                  </a:moveTo>
                  <a:lnTo>
                    <a:pt x="601" y="556"/>
                  </a:lnTo>
                  <a:cubicBezTo>
                    <a:pt x="601" y="566"/>
                    <a:pt x="594" y="574"/>
                    <a:pt x="583" y="574"/>
                  </a:cubicBezTo>
                  <a:cubicBezTo>
                    <a:pt x="83" y="574"/>
                    <a:pt x="83" y="574"/>
                    <a:pt x="83" y="574"/>
                  </a:cubicBezTo>
                  <a:cubicBezTo>
                    <a:pt x="83" y="584"/>
                    <a:pt x="83" y="584"/>
                    <a:pt x="83" y="584"/>
                  </a:cubicBezTo>
                  <a:cubicBezTo>
                    <a:pt x="83" y="594"/>
                    <a:pt x="74" y="602"/>
                    <a:pt x="65" y="602"/>
                  </a:cubicBezTo>
                  <a:cubicBezTo>
                    <a:pt x="55" y="602"/>
                    <a:pt x="47" y="594"/>
                    <a:pt x="47" y="584"/>
                  </a:cubicBezTo>
                  <a:cubicBezTo>
                    <a:pt x="47" y="574"/>
                    <a:pt x="47" y="574"/>
                    <a:pt x="47" y="574"/>
                  </a:cubicBezTo>
                  <a:cubicBezTo>
                    <a:pt x="17" y="574"/>
                    <a:pt x="17" y="574"/>
                    <a:pt x="17" y="574"/>
                  </a:cubicBezTo>
                  <a:cubicBezTo>
                    <a:pt x="8" y="574"/>
                    <a:pt x="0" y="566"/>
                    <a:pt x="0" y="556"/>
                  </a:cubicBezTo>
                  <a:cubicBezTo>
                    <a:pt x="0" y="546"/>
                    <a:pt x="8" y="539"/>
                    <a:pt x="17" y="539"/>
                  </a:cubicBezTo>
                  <a:cubicBezTo>
                    <a:pt x="47" y="539"/>
                    <a:pt x="47" y="539"/>
                    <a:pt x="47" y="539"/>
                  </a:cubicBezTo>
                  <a:cubicBezTo>
                    <a:pt x="47" y="18"/>
                    <a:pt x="47" y="18"/>
                    <a:pt x="47" y="18"/>
                  </a:cubicBezTo>
                  <a:cubicBezTo>
                    <a:pt x="47" y="9"/>
                    <a:pt x="55" y="0"/>
                    <a:pt x="65" y="0"/>
                  </a:cubicBezTo>
                  <a:cubicBezTo>
                    <a:pt x="74" y="0"/>
                    <a:pt x="83" y="9"/>
                    <a:pt x="83" y="18"/>
                  </a:cubicBezTo>
                  <a:cubicBezTo>
                    <a:pt x="83" y="539"/>
                    <a:pt x="83" y="539"/>
                    <a:pt x="83" y="539"/>
                  </a:cubicBezTo>
                  <a:cubicBezTo>
                    <a:pt x="142" y="539"/>
                    <a:pt x="142" y="539"/>
                    <a:pt x="142" y="539"/>
                  </a:cubicBezTo>
                  <a:cubicBezTo>
                    <a:pt x="142" y="387"/>
                    <a:pt x="142" y="387"/>
                    <a:pt x="142" y="387"/>
                  </a:cubicBezTo>
                  <a:cubicBezTo>
                    <a:pt x="142" y="376"/>
                    <a:pt x="149" y="369"/>
                    <a:pt x="159" y="369"/>
                  </a:cubicBezTo>
                  <a:cubicBezTo>
                    <a:pt x="169" y="369"/>
                    <a:pt x="176" y="376"/>
                    <a:pt x="176" y="387"/>
                  </a:cubicBezTo>
                  <a:cubicBezTo>
                    <a:pt x="176" y="539"/>
                    <a:pt x="176" y="539"/>
                    <a:pt x="176" y="539"/>
                  </a:cubicBezTo>
                  <a:cubicBezTo>
                    <a:pt x="254" y="539"/>
                    <a:pt x="254" y="539"/>
                    <a:pt x="254" y="539"/>
                  </a:cubicBezTo>
                  <a:cubicBezTo>
                    <a:pt x="254" y="292"/>
                    <a:pt x="254" y="292"/>
                    <a:pt x="254" y="292"/>
                  </a:cubicBezTo>
                  <a:cubicBezTo>
                    <a:pt x="254" y="282"/>
                    <a:pt x="263" y="274"/>
                    <a:pt x="272" y="274"/>
                  </a:cubicBezTo>
                  <a:cubicBezTo>
                    <a:pt x="281" y="274"/>
                    <a:pt x="290" y="282"/>
                    <a:pt x="290" y="292"/>
                  </a:cubicBezTo>
                  <a:cubicBezTo>
                    <a:pt x="290" y="539"/>
                    <a:pt x="290" y="539"/>
                    <a:pt x="290" y="539"/>
                  </a:cubicBezTo>
                  <a:cubicBezTo>
                    <a:pt x="368" y="539"/>
                    <a:pt x="368" y="539"/>
                    <a:pt x="368" y="539"/>
                  </a:cubicBezTo>
                  <a:cubicBezTo>
                    <a:pt x="368" y="387"/>
                    <a:pt x="368" y="387"/>
                    <a:pt x="368" y="387"/>
                  </a:cubicBezTo>
                  <a:cubicBezTo>
                    <a:pt x="368" y="376"/>
                    <a:pt x="376" y="369"/>
                    <a:pt x="385" y="369"/>
                  </a:cubicBezTo>
                  <a:cubicBezTo>
                    <a:pt x="395" y="369"/>
                    <a:pt x="403" y="376"/>
                    <a:pt x="403" y="387"/>
                  </a:cubicBezTo>
                  <a:cubicBezTo>
                    <a:pt x="403" y="539"/>
                    <a:pt x="403" y="539"/>
                    <a:pt x="403" y="539"/>
                  </a:cubicBezTo>
                  <a:cubicBezTo>
                    <a:pt x="481" y="539"/>
                    <a:pt x="481" y="539"/>
                    <a:pt x="481" y="539"/>
                  </a:cubicBezTo>
                  <a:cubicBezTo>
                    <a:pt x="481" y="273"/>
                    <a:pt x="481" y="273"/>
                    <a:pt x="481" y="273"/>
                  </a:cubicBezTo>
                  <a:cubicBezTo>
                    <a:pt x="481" y="263"/>
                    <a:pt x="490" y="255"/>
                    <a:pt x="499" y="255"/>
                  </a:cubicBezTo>
                  <a:cubicBezTo>
                    <a:pt x="508" y="255"/>
                    <a:pt x="517" y="263"/>
                    <a:pt x="517" y="273"/>
                  </a:cubicBezTo>
                  <a:cubicBezTo>
                    <a:pt x="517" y="539"/>
                    <a:pt x="517" y="539"/>
                    <a:pt x="517" y="539"/>
                  </a:cubicBezTo>
                  <a:cubicBezTo>
                    <a:pt x="583" y="539"/>
                    <a:pt x="583" y="539"/>
                    <a:pt x="583" y="539"/>
                  </a:cubicBezTo>
                  <a:cubicBezTo>
                    <a:pt x="594" y="539"/>
                    <a:pt x="601" y="546"/>
                    <a:pt x="601" y="556"/>
                  </a:cubicBezTo>
                  <a:close/>
                  <a:moveTo>
                    <a:pt x="116" y="363"/>
                  </a:moveTo>
                  <a:lnTo>
                    <a:pt x="116" y="363"/>
                  </a:lnTo>
                  <a:cubicBezTo>
                    <a:pt x="120" y="363"/>
                    <a:pt x="124" y="361"/>
                    <a:pt x="127" y="358"/>
                  </a:cubicBezTo>
                  <a:cubicBezTo>
                    <a:pt x="280" y="229"/>
                    <a:pt x="280" y="229"/>
                    <a:pt x="280" y="229"/>
                  </a:cubicBezTo>
                  <a:cubicBezTo>
                    <a:pt x="362" y="312"/>
                    <a:pt x="362" y="312"/>
                    <a:pt x="362" y="312"/>
                  </a:cubicBezTo>
                  <a:cubicBezTo>
                    <a:pt x="369" y="318"/>
                    <a:pt x="380" y="318"/>
                    <a:pt x="387" y="312"/>
                  </a:cubicBezTo>
                  <a:cubicBezTo>
                    <a:pt x="530" y="167"/>
                    <a:pt x="530" y="167"/>
                    <a:pt x="530" y="167"/>
                  </a:cubicBezTo>
                  <a:cubicBezTo>
                    <a:pt x="533" y="164"/>
                    <a:pt x="535" y="159"/>
                    <a:pt x="535" y="154"/>
                  </a:cubicBezTo>
                  <a:cubicBezTo>
                    <a:pt x="535" y="149"/>
                    <a:pt x="533" y="145"/>
                    <a:pt x="530" y="142"/>
                  </a:cubicBezTo>
                  <a:cubicBezTo>
                    <a:pt x="527" y="139"/>
                    <a:pt x="523" y="137"/>
                    <a:pt x="518" y="137"/>
                  </a:cubicBezTo>
                  <a:lnTo>
                    <a:pt x="518" y="137"/>
                  </a:lnTo>
                  <a:cubicBezTo>
                    <a:pt x="514" y="137"/>
                    <a:pt x="508" y="139"/>
                    <a:pt x="505" y="142"/>
                  </a:cubicBezTo>
                  <a:cubicBezTo>
                    <a:pt x="374" y="274"/>
                    <a:pt x="374" y="274"/>
                    <a:pt x="374" y="274"/>
                  </a:cubicBezTo>
                  <a:cubicBezTo>
                    <a:pt x="294" y="193"/>
                    <a:pt x="294" y="193"/>
                    <a:pt x="294" y="193"/>
                  </a:cubicBezTo>
                  <a:cubicBezTo>
                    <a:pt x="287" y="187"/>
                    <a:pt x="276" y="187"/>
                    <a:pt x="270" y="192"/>
                  </a:cubicBezTo>
                  <a:cubicBezTo>
                    <a:pt x="104" y="331"/>
                    <a:pt x="104" y="331"/>
                    <a:pt x="104" y="331"/>
                  </a:cubicBezTo>
                  <a:cubicBezTo>
                    <a:pt x="101" y="335"/>
                    <a:pt x="99" y="339"/>
                    <a:pt x="98" y="344"/>
                  </a:cubicBezTo>
                  <a:cubicBezTo>
                    <a:pt x="98" y="348"/>
                    <a:pt x="99" y="352"/>
                    <a:pt x="102" y="356"/>
                  </a:cubicBezTo>
                  <a:cubicBezTo>
                    <a:pt x="105" y="361"/>
                    <a:pt x="111" y="363"/>
                    <a:pt x="116" y="36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25" b="0" i="0" u="none" strike="noStrike" kern="1200" cap="none" spc="0" normalizeH="0" baseline="0" noProof="0" dirty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Calibri"/>
              </a:endParaRPr>
            </a:p>
          </p:txBody>
        </p:sp>
      </p:grpSp>
      <p:grpSp>
        <p:nvGrpSpPr>
          <p:cNvPr id="158" name="그룹 157"/>
          <p:cNvGrpSpPr/>
          <p:nvPr/>
        </p:nvGrpSpPr>
        <p:grpSpPr>
          <a:xfrm>
            <a:off x="2217198" y="1694253"/>
            <a:ext cx="910030" cy="1024270"/>
            <a:chOff x="2670448" y="1520481"/>
            <a:chExt cx="910030" cy="1024270"/>
          </a:xfrm>
        </p:grpSpPr>
        <p:sp>
          <p:nvSpPr>
            <p:cNvPr id="159" name="Freeform 45"/>
            <p:cNvSpPr>
              <a:spLocks noChangeAspect="1" noChangeArrowheads="1"/>
            </p:cNvSpPr>
            <p:nvPr/>
          </p:nvSpPr>
          <p:spPr bwMode="auto">
            <a:xfrm>
              <a:off x="2670448" y="2090003"/>
              <a:ext cx="454750" cy="454748"/>
            </a:xfrm>
            <a:custGeom>
              <a:avLst/>
              <a:gdLst>
                <a:gd name="T0" fmla="*/ 476 w 491"/>
                <a:gd name="T1" fmla="*/ 273 h 490"/>
                <a:gd name="T2" fmla="*/ 476 w 491"/>
                <a:gd name="T3" fmla="*/ 273 h 490"/>
                <a:gd name="T4" fmla="*/ 436 w 491"/>
                <a:gd name="T5" fmla="*/ 261 h 490"/>
                <a:gd name="T6" fmla="*/ 427 w 491"/>
                <a:gd name="T7" fmla="*/ 189 h 490"/>
                <a:gd name="T8" fmla="*/ 466 w 491"/>
                <a:gd name="T9" fmla="*/ 168 h 490"/>
                <a:gd name="T10" fmla="*/ 472 w 491"/>
                <a:gd name="T11" fmla="*/ 147 h 490"/>
                <a:gd name="T12" fmla="*/ 450 w 491"/>
                <a:gd name="T13" fmla="*/ 107 h 490"/>
                <a:gd name="T14" fmla="*/ 429 w 491"/>
                <a:gd name="T15" fmla="*/ 101 h 490"/>
                <a:gd name="T16" fmla="*/ 391 w 491"/>
                <a:gd name="T17" fmla="*/ 121 h 490"/>
                <a:gd name="T18" fmla="*/ 335 w 491"/>
                <a:gd name="T19" fmla="*/ 76 h 490"/>
                <a:gd name="T20" fmla="*/ 347 w 491"/>
                <a:gd name="T21" fmla="*/ 34 h 490"/>
                <a:gd name="T22" fmla="*/ 337 w 491"/>
                <a:gd name="T23" fmla="*/ 15 h 490"/>
                <a:gd name="T24" fmla="*/ 293 w 491"/>
                <a:gd name="T25" fmla="*/ 2 h 490"/>
                <a:gd name="T26" fmla="*/ 273 w 491"/>
                <a:gd name="T27" fmla="*/ 12 h 490"/>
                <a:gd name="T28" fmla="*/ 262 w 491"/>
                <a:gd name="T29" fmla="*/ 54 h 490"/>
                <a:gd name="T30" fmla="*/ 189 w 491"/>
                <a:gd name="T31" fmla="*/ 61 h 490"/>
                <a:gd name="T32" fmla="*/ 169 w 491"/>
                <a:gd name="T33" fmla="*/ 24 h 490"/>
                <a:gd name="T34" fmla="*/ 148 w 491"/>
                <a:gd name="T35" fmla="*/ 17 h 490"/>
                <a:gd name="T36" fmla="*/ 108 w 491"/>
                <a:gd name="T37" fmla="*/ 39 h 490"/>
                <a:gd name="T38" fmla="*/ 101 w 491"/>
                <a:gd name="T39" fmla="*/ 60 h 490"/>
                <a:gd name="T40" fmla="*/ 121 w 491"/>
                <a:gd name="T41" fmla="*/ 97 h 490"/>
                <a:gd name="T42" fmla="*/ 76 w 491"/>
                <a:gd name="T43" fmla="*/ 154 h 490"/>
                <a:gd name="T44" fmla="*/ 35 w 491"/>
                <a:gd name="T45" fmla="*/ 141 h 490"/>
                <a:gd name="T46" fmla="*/ 16 w 491"/>
                <a:gd name="T47" fmla="*/ 152 h 490"/>
                <a:gd name="T48" fmla="*/ 3 w 491"/>
                <a:gd name="T49" fmla="*/ 196 h 490"/>
                <a:gd name="T50" fmla="*/ 13 w 491"/>
                <a:gd name="T51" fmla="*/ 215 h 490"/>
                <a:gd name="T52" fmla="*/ 55 w 491"/>
                <a:gd name="T53" fmla="*/ 228 h 490"/>
                <a:gd name="T54" fmla="*/ 62 w 491"/>
                <a:gd name="T55" fmla="*/ 299 h 490"/>
                <a:gd name="T56" fmla="*/ 23 w 491"/>
                <a:gd name="T57" fmla="*/ 320 h 490"/>
                <a:gd name="T58" fmla="*/ 17 w 491"/>
                <a:gd name="T59" fmla="*/ 341 h 490"/>
                <a:gd name="T60" fmla="*/ 39 w 491"/>
                <a:gd name="T61" fmla="*/ 382 h 490"/>
                <a:gd name="T62" fmla="*/ 60 w 491"/>
                <a:gd name="T63" fmla="*/ 388 h 490"/>
                <a:gd name="T64" fmla="*/ 98 w 491"/>
                <a:gd name="T65" fmla="*/ 367 h 490"/>
                <a:gd name="T66" fmla="*/ 155 w 491"/>
                <a:gd name="T67" fmla="*/ 413 h 490"/>
                <a:gd name="T68" fmla="*/ 142 w 491"/>
                <a:gd name="T69" fmla="*/ 455 h 490"/>
                <a:gd name="T70" fmla="*/ 152 w 491"/>
                <a:gd name="T71" fmla="*/ 473 h 490"/>
                <a:gd name="T72" fmla="*/ 196 w 491"/>
                <a:gd name="T73" fmla="*/ 487 h 490"/>
                <a:gd name="T74" fmla="*/ 216 w 491"/>
                <a:gd name="T75" fmla="*/ 476 h 490"/>
                <a:gd name="T76" fmla="*/ 228 w 491"/>
                <a:gd name="T77" fmla="*/ 435 h 490"/>
                <a:gd name="T78" fmla="*/ 300 w 491"/>
                <a:gd name="T79" fmla="*/ 427 h 490"/>
                <a:gd name="T80" fmla="*/ 321 w 491"/>
                <a:gd name="T81" fmla="*/ 465 h 490"/>
                <a:gd name="T82" fmla="*/ 342 w 491"/>
                <a:gd name="T83" fmla="*/ 471 h 490"/>
                <a:gd name="T84" fmla="*/ 383 w 491"/>
                <a:gd name="T85" fmla="*/ 449 h 490"/>
                <a:gd name="T86" fmla="*/ 388 w 491"/>
                <a:gd name="T87" fmla="*/ 428 h 490"/>
                <a:gd name="T88" fmla="*/ 368 w 491"/>
                <a:gd name="T89" fmla="*/ 391 h 490"/>
                <a:gd name="T90" fmla="*/ 414 w 491"/>
                <a:gd name="T91" fmla="*/ 335 h 490"/>
                <a:gd name="T92" fmla="*/ 454 w 491"/>
                <a:gd name="T93" fmla="*/ 347 h 490"/>
                <a:gd name="T94" fmla="*/ 474 w 491"/>
                <a:gd name="T95" fmla="*/ 337 h 490"/>
                <a:gd name="T96" fmla="*/ 487 w 491"/>
                <a:gd name="T97" fmla="*/ 292 h 490"/>
                <a:gd name="T98" fmla="*/ 476 w 491"/>
                <a:gd name="T99" fmla="*/ 273 h 490"/>
                <a:gd name="T100" fmla="*/ 217 w 491"/>
                <a:gd name="T101" fmla="*/ 337 h 490"/>
                <a:gd name="T102" fmla="*/ 217 w 491"/>
                <a:gd name="T103" fmla="*/ 337 h 490"/>
                <a:gd name="T104" fmla="*/ 152 w 491"/>
                <a:gd name="T105" fmla="*/ 217 h 490"/>
                <a:gd name="T106" fmla="*/ 272 w 491"/>
                <a:gd name="T107" fmla="*/ 152 h 490"/>
                <a:gd name="T108" fmla="*/ 338 w 491"/>
                <a:gd name="T109" fmla="*/ 272 h 490"/>
                <a:gd name="T110" fmla="*/ 217 w 491"/>
                <a:gd name="T111" fmla="*/ 337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91" h="490">
                  <a:moveTo>
                    <a:pt x="476" y="273"/>
                  </a:moveTo>
                  <a:lnTo>
                    <a:pt x="476" y="273"/>
                  </a:lnTo>
                  <a:cubicBezTo>
                    <a:pt x="436" y="261"/>
                    <a:pt x="436" y="261"/>
                    <a:pt x="436" y="261"/>
                  </a:cubicBezTo>
                  <a:cubicBezTo>
                    <a:pt x="438" y="236"/>
                    <a:pt x="435" y="212"/>
                    <a:pt x="427" y="189"/>
                  </a:cubicBezTo>
                  <a:cubicBezTo>
                    <a:pt x="466" y="168"/>
                    <a:pt x="466" y="168"/>
                    <a:pt x="466" y="168"/>
                  </a:cubicBezTo>
                  <a:cubicBezTo>
                    <a:pt x="473" y="164"/>
                    <a:pt x="476" y="155"/>
                    <a:pt x="472" y="147"/>
                  </a:cubicBezTo>
                  <a:cubicBezTo>
                    <a:pt x="450" y="107"/>
                    <a:pt x="450" y="107"/>
                    <a:pt x="450" y="107"/>
                  </a:cubicBezTo>
                  <a:cubicBezTo>
                    <a:pt x="446" y="100"/>
                    <a:pt x="437" y="96"/>
                    <a:pt x="429" y="101"/>
                  </a:cubicBezTo>
                  <a:cubicBezTo>
                    <a:pt x="391" y="121"/>
                    <a:pt x="391" y="121"/>
                    <a:pt x="391" y="121"/>
                  </a:cubicBezTo>
                  <a:cubicBezTo>
                    <a:pt x="376" y="103"/>
                    <a:pt x="357" y="87"/>
                    <a:pt x="335" y="76"/>
                  </a:cubicBezTo>
                  <a:cubicBezTo>
                    <a:pt x="347" y="34"/>
                    <a:pt x="347" y="34"/>
                    <a:pt x="347" y="34"/>
                  </a:cubicBezTo>
                  <a:cubicBezTo>
                    <a:pt x="349" y="27"/>
                    <a:pt x="345" y="17"/>
                    <a:pt x="337" y="15"/>
                  </a:cubicBezTo>
                  <a:cubicBezTo>
                    <a:pt x="293" y="2"/>
                    <a:pt x="293" y="2"/>
                    <a:pt x="293" y="2"/>
                  </a:cubicBezTo>
                  <a:cubicBezTo>
                    <a:pt x="285" y="0"/>
                    <a:pt x="276" y="4"/>
                    <a:pt x="273" y="12"/>
                  </a:cubicBezTo>
                  <a:cubicBezTo>
                    <a:pt x="262" y="54"/>
                    <a:pt x="262" y="54"/>
                    <a:pt x="262" y="54"/>
                  </a:cubicBezTo>
                  <a:cubicBezTo>
                    <a:pt x="237" y="52"/>
                    <a:pt x="212" y="54"/>
                    <a:pt x="189" y="61"/>
                  </a:cubicBezTo>
                  <a:cubicBezTo>
                    <a:pt x="169" y="24"/>
                    <a:pt x="169" y="24"/>
                    <a:pt x="169" y="24"/>
                  </a:cubicBezTo>
                  <a:cubicBezTo>
                    <a:pt x="165" y="16"/>
                    <a:pt x="156" y="13"/>
                    <a:pt x="148" y="17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0" y="43"/>
                    <a:pt x="97" y="53"/>
                    <a:pt x="101" y="60"/>
                  </a:cubicBezTo>
                  <a:cubicBezTo>
                    <a:pt x="121" y="97"/>
                    <a:pt x="121" y="97"/>
                    <a:pt x="121" y="97"/>
                  </a:cubicBezTo>
                  <a:cubicBezTo>
                    <a:pt x="104" y="113"/>
                    <a:pt x="88" y="132"/>
                    <a:pt x="76" y="154"/>
                  </a:cubicBezTo>
                  <a:cubicBezTo>
                    <a:pt x="35" y="141"/>
                    <a:pt x="35" y="141"/>
                    <a:pt x="35" y="141"/>
                  </a:cubicBezTo>
                  <a:cubicBezTo>
                    <a:pt x="26" y="139"/>
                    <a:pt x="18" y="144"/>
                    <a:pt x="16" y="152"/>
                  </a:cubicBezTo>
                  <a:cubicBezTo>
                    <a:pt x="3" y="196"/>
                    <a:pt x="3" y="196"/>
                    <a:pt x="3" y="196"/>
                  </a:cubicBezTo>
                  <a:cubicBezTo>
                    <a:pt x="0" y="205"/>
                    <a:pt x="5" y="213"/>
                    <a:pt x="13" y="215"/>
                  </a:cubicBezTo>
                  <a:cubicBezTo>
                    <a:pt x="55" y="228"/>
                    <a:pt x="55" y="228"/>
                    <a:pt x="55" y="228"/>
                  </a:cubicBezTo>
                  <a:cubicBezTo>
                    <a:pt x="51" y="253"/>
                    <a:pt x="55" y="276"/>
                    <a:pt x="62" y="299"/>
                  </a:cubicBezTo>
                  <a:cubicBezTo>
                    <a:pt x="23" y="320"/>
                    <a:pt x="23" y="320"/>
                    <a:pt x="23" y="320"/>
                  </a:cubicBezTo>
                  <a:cubicBezTo>
                    <a:pt x="16" y="324"/>
                    <a:pt x="13" y="334"/>
                    <a:pt x="17" y="341"/>
                  </a:cubicBezTo>
                  <a:cubicBezTo>
                    <a:pt x="39" y="382"/>
                    <a:pt x="39" y="382"/>
                    <a:pt x="39" y="382"/>
                  </a:cubicBezTo>
                  <a:cubicBezTo>
                    <a:pt x="43" y="389"/>
                    <a:pt x="52" y="392"/>
                    <a:pt x="60" y="388"/>
                  </a:cubicBezTo>
                  <a:cubicBezTo>
                    <a:pt x="98" y="367"/>
                    <a:pt x="98" y="367"/>
                    <a:pt x="98" y="367"/>
                  </a:cubicBezTo>
                  <a:cubicBezTo>
                    <a:pt x="114" y="386"/>
                    <a:pt x="133" y="401"/>
                    <a:pt x="155" y="413"/>
                  </a:cubicBezTo>
                  <a:cubicBezTo>
                    <a:pt x="142" y="455"/>
                    <a:pt x="142" y="455"/>
                    <a:pt x="142" y="455"/>
                  </a:cubicBezTo>
                  <a:cubicBezTo>
                    <a:pt x="140" y="463"/>
                    <a:pt x="144" y="471"/>
                    <a:pt x="152" y="473"/>
                  </a:cubicBezTo>
                  <a:cubicBezTo>
                    <a:pt x="196" y="487"/>
                    <a:pt x="196" y="487"/>
                    <a:pt x="196" y="487"/>
                  </a:cubicBezTo>
                  <a:cubicBezTo>
                    <a:pt x="204" y="489"/>
                    <a:pt x="214" y="485"/>
                    <a:pt x="216" y="476"/>
                  </a:cubicBezTo>
                  <a:cubicBezTo>
                    <a:pt x="228" y="435"/>
                    <a:pt x="228" y="435"/>
                    <a:pt x="228" y="435"/>
                  </a:cubicBezTo>
                  <a:cubicBezTo>
                    <a:pt x="252" y="437"/>
                    <a:pt x="277" y="435"/>
                    <a:pt x="300" y="427"/>
                  </a:cubicBezTo>
                  <a:cubicBezTo>
                    <a:pt x="321" y="465"/>
                    <a:pt x="321" y="465"/>
                    <a:pt x="321" y="465"/>
                  </a:cubicBezTo>
                  <a:cubicBezTo>
                    <a:pt x="324" y="472"/>
                    <a:pt x="334" y="475"/>
                    <a:pt x="342" y="471"/>
                  </a:cubicBezTo>
                  <a:cubicBezTo>
                    <a:pt x="383" y="449"/>
                    <a:pt x="383" y="449"/>
                    <a:pt x="383" y="449"/>
                  </a:cubicBezTo>
                  <a:cubicBezTo>
                    <a:pt x="390" y="445"/>
                    <a:pt x="392" y="436"/>
                    <a:pt x="388" y="428"/>
                  </a:cubicBezTo>
                  <a:cubicBezTo>
                    <a:pt x="368" y="391"/>
                    <a:pt x="368" y="391"/>
                    <a:pt x="368" y="391"/>
                  </a:cubicBezTo>
                  <a:cubicBezTo>
                    <a:pt x="386" y="375"/>
                    <a:pt x="401" y="357"/>
                    <a:pt x="414" y="335"/>
                  </a:cubicBezTo>
                  <a:cubicBezTo>
                    <a:pt x="454" y="347"/>
                    <a:pt x="454" y="347"/>
                    <a:pt x="454" y="347"/>
                  </a:cubicBezTo>
                  <a:cubicBezTo>
                    <a:pt x="463" y="349"/>
                    <a:pt x="471" y="344"/>
                    <a:pt x="474" y="337"/>
                  </a:cubicBezTo>
                  <a:cubicBezTo>
                    <a:pt x="487" y="292"/>
                    <a:pt x="487" y="292"/>
                    <a:pt x="487" y="292"/>
                  </a:cubicBezTo>
                  <a:cubicBezTo>
                    <a:pt x="490" y="284"/>
                    <a:pt x="485" y="275"/>
                    <a:pt x="476" y="273"/>
                  </a:cubicBezTo>
                  <a:close/>
                  <a:moveTo>
                    <a:pt x="217" y="337"/>
                  </a:moveTo>
                  <a:lnTo>
                    <a:pt x="217" y="337"/>
                  </a:lnTo>
                  <a:cubicBezTo>
                    <a:pt x="166" y="321"/>
                    <a:pt x="137" y="268"/>
                    <a:pt x="152" y="217"/>
                  </a:cubicBezTo>
                  <a:cubicBezTo>
                    <a:pt x="167" y="165"/>
                    <a:pt x="221" y="136"/>
                    <a:pt x="272" y="152"/>
                  </a:cubicBezTo>
                  <a:cubicBezTo>
                    <a:pt x="323" y="167"/>
                    <a:pt x="352" y="220"/>
                    <a:pt x="338" y="272"/>
                  </a:cubicBezTo>
                  <a:cubicBezTo>
                    <a:pt x="322" y="323"/>
                    <a:pt x="268" y="353"/>
                    <a:pt x="217" y="33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88" b="0" i="0" u="none" strike="noStrike" kern="1200" cap="none" spc="0" normalizeH="0" baseline="0" noProof="0" dirty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60" name="Freeform 46"/>
            <p:cNvSpPr>
              <a:spLocks noChangeAspect="1" noChangeArrowheads="1"/>
            </p:cNvSpPr>
            <p:nvPr/>
          </p:nvSpPr>
          <p:spPr bwMode="auto">
            <a:xfrm>
              <a:off x="3133098" y="1520481"/>
              <a:ext cx="347969" cy="347969"/>
            </a:xfrm>
            <a:custGeom>
              <a:avLst/>
              <a:gdLst>
                <a:gd name="T0" fmla="*/ 350 w 351"/>
                <a:gd name="T1" fmla="*/ 157 h 352"/>
                <a:gd name="T2" fmla="*/ 350 w 351"/>
                <a:gd name="T3" fmla="*/ 157 h 352"/>
                <a:gd name="T4" fmla="*/ 338 w 351"/>
                <a:gd name="T5" fmla="*/ 147 h 352"/>
                <a:gd name="T6" fmla="*/ 308 w 351"/>
                <a:gd name="T7" fmla="*/ 147 h 352"/>
                <a:gd name="T8" fmla="*/ 287 w 351"/>
                <a:gd name="T9" fmla="*/ 99 h 352"/>
                <a:gd name="T10" fmla="*/ 309 w 351"/>
                <a:gd name="T11" fmla="*/ 77 h 352"/>
                <a:gd name="T12" fmla="*/ 309 w 351"/>
                <a:gd name="T13" fmla="*/ 62 h 352"/>
                <a:gd name="T14" fmla="*/ 285 w 351"/>
                <a:gd name="T15" fmla="*/ 40 h 352"/>
                <a:gd name="T16" fmla="*/ 270 w 351"/>
                <a:gd name="T17" fmla="*/ 40 h 352"/>
                <a:gd name="T18" fmla="*/ 249 w 351"/>
                <a:gd name="T19" fmla="*/ 61 h 352"/>
                <a:gd name="T20" fmla="*/ 201 w 351"/>
                <a:gd name="T21" fmla="*/ 42 h 352"/>
                <a:gd name="T22" fmla="*/ 200 w 351"/>
                <a:gd name="T23" fmla="*/ 11 h 352"/>
                <a:gd name="T24" fmla="*/ 189 w 351"/>
                <a:gd name="T25" fmla="*/ 0 h 352"/>
                <a:gd name="T26" fmla="*/ 156 w 351"/>
                <a:gd name="T27" fmla="*/ 1 h 352"/>
                <a:gd name="T28" fmla="*/ 146 w 351"/>
                <a:gd name="T29" fmla="*/ 11 h 352"/>
                <a:gd name="T30" fmla="*/ 146 w 351"/>
                <a:gd name="T31" fmla="*/ 43 h 352"/>
                <a:gd name="T32" fmla="*/ 99 w 351"/>
                <a:gd name="T33" fmla="*/ 62 h 352"/>
                <a:gd name="T34" fmla="*/ 77 w 351"/>
                <a:gd name="T35" fmla="*/ 42 h 352"/>
                <a:gd name="T36" fmla="*/ 61 w 351"/>
                <a:gd name="T37" fmla="*/ 42 h 352"/>
                <a:gd name="T38" fmla="*/ 39 w 351"/>
                <a:gd name="T39" fmla="*/ 64 h 352"/>
                <a:gd name="T40" fmla="*/ 39 w 351"/>
                <a:gd name="T41" fmla="*/ 80 h 352"/>
                <a:gd name="T42" fmla="*/ 60 w 351"/>
                <a:gd name="T43" fmla="*/ 102 h 352"/>
                <a:gd name="T44" fmla="*/ 42 w 351"/>
                <a:gd name="T45" fmla="*/ 150 h 352"/>
                <a:gd name="T46" fmla="*/ 10 w 351"/>
                <a:gd name="T47" fmla="*/ 150 h 352"/>
                <a:gd name="T48" fmla="*/ 0 w 351"/>
                <a:gd name="T49" fmla="*/ 161 h 352"/>
                <a:gd name="T50" fmla="*/ 0 w 351"/>
                <a:gd name="T51" fmla="*/ 194 h 352"/>
                <a:gd name="T52" fmla="*/ 11 w 351"/>
                <a:gd name="T53" fmla="*/ 204 h 352"/>
                <a:gd name="T54" fmla="*/ 42 w 351"/>
                <a:gd name="T55" fmla="*/ 204 h 352"/>
                <a:gd name="T56" fmla="*/ 62 w 351"/>
                <a:gd name="T57" fmla="*/ 252 h 352"/>
                <a:gd name="T58" fmla="*/ 41 w 351"/>
                <a:gd name="T59" fmla="*/ 274 h 352"/>
                <a:gd name="T60" fmla="*/ 41 w 351"/>
                <a:gd name="T61" fmla="*/ 289 h 352"/>
                <a:gd name="T62" fmla="*/ 65 w 351"/>
                <a:gd name="T63" fmla="*/ 312 h 352"/>
                <a:gd name="T64" fmla="*/ 79 w 351"/>
                <a:gd name="T65" fmla="*/ 311 h 352"/>
                <a:gd name="T66" fmla="*/ 101 w 351"/>
                <a:gd name="T67" fmla="*/ 289 h 352"/>
                <a:gd name="T68" fmla="*/ 149 w 351"/>
                <a:gd name="T69" fmla="*/ 309 h 352"/>
                <a:gd name="T70" fmla="*/ 149 w 351"/>
                <a:gd name="T71" fmla="*/ 339 h 352"/>
                <a:gd name="T72" fmla="*/ 160 w 351"/>
                <a:gd name="T73" fmla="*/ 351 h 352"/>
                <a:gd name="T74" fmla="*/ 193 w 351"/>
                <a:gd name="T75" fmla="*/ 350 h 352"/>
                <a:gd name="T76" fmla="*/ 204 w 351"/>
                <a:gd name="T77" fmla="*/ 339 h 352"/>
                <a:gd name="T78" fmla="*/ 203 w 351"/>
                <a:gd name="T79" fmla="*/ 308 h 352"/>
                <a:gd name="T80" fmla="*/ 251 w 351"/>
                <a:gd name="T81" fmla="*/ 288 h 352"/>
                <a:gd name="T82" fmla="*/ 273 w 351"/>
                <a:gd name="T83" fmla="*/ 309 h 352"/>
                <a:gd name="T84" fmla="*/ 288 w 351"/>
                <a:gd name="T85" fmla="*/ 309 h 352"/>
                <a:gd name="T86" fmla="*/ 311 w 351"/>
                <a:gd name="T87" fmla="*/ 286 h 352"/>
                <a:gd name="T88" fmla="*/ 311 w 351"/>
                <a:gd name="T89" fmla="*/ 271 h 352"/>
                <a:gd name="T90" fmla="*/ 289 w 351"/>
                <a:gd name="T91" fmla="*/ 249 h 352"/>
                <a:gd name="T92" fmla="*/ 308 w 351"/>
                <a:gd name="T93" fmla="*/ 201 h 352"/>
                <a:gd name="T94" fmla="*/ 339 w 351"/>
                <a:gd name="T95" fmla="*/ 201 h 352"/>
                <a:gd name="T96" fmla="*/ 350 w 351"/>
                <a:gd name="T97" fmla="*/ 190 h 352"/>
                <a:gd name="T98" fmla="*/ 350 w 351"/>
                <a:gd name="T99" fmla="*/ 157 h 352"/>
                <a:gd name="T100" fmla="*/ 175 w 351"/>
                <a:gd name="T101" fmla="*/ 215 h 352"/>
                <a:gd name="T102" fmla="*/ 175 w 351"/>
                <a:gd name="T103" fmla="*/ 215 h 352"/>
                <a:gd name="T104" fmla="*/ 134 w 351"/>
                <a:gd name="T105" fmla="*/ 176 h 352"/>
                <a:gd name="T106" fmla="*/ 174 w 351"/>
                <a:gd name="T107" fmla="*/ 135 h 352"/>
                <a:gd name="T108" fmla="*/ 215 w 351"/>
                <a:gd name="T109" fmla="*/ 175 h 352"/>
                <a:gd name="T110" fmla="*/ 175 w 351"/>
                <a:gd name="T111" fmla="*/ 215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51" h="352">
                  <a:moveTo>
                    <a:pt x="350" y="157"/>
                  </a:moveTo>
                  <a:lnTo>
                    <a:pt x="350" y="157"/>
                  </a:lnTo>
                  <a:cubicBezTo>
                    <a:pt x="350" y="151"/>
                    <a:pt x="345" y="147"/>
                    <a:pt x="338" y="147"/>
                  </a:cubicBezTo>
                  <a:cubicBezTo>
                    <a:pt x="308" y="147"/>
                    <a:pt x="308" y="147"/>
                    <a:pt x="308" y="147"/>
                  </a:cubicBezTo>
                  <a:cubicBezTo>
                    <a:pt x="304" y="129"/>
                    <a:pt x="297" y="113"/>
                    <a:pt x="287" y="99"/>
                  </a:cubicBezTo>
                  <a:cubicBezTo>
                    <a:pt x="309" y="77"/>
                    <a:pt x="309" y="77"/>
                    <a:pt x="309" y="77"/>
                  </a:cubicBezTo>
                  <a:cubicBezTo>
                    <a:pt x="313" y="73"/>
                    <a:pt x="313" y="67"/>
                    <a:pt x="309" y="62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1" y="34"/>
                    <a:pt x="274" y="35"/>
                    <a:pt x="270" y="40"/>
                  </a:cubicBezTo>
                  <a:cubicBezTo>
                    <a:pt x="249" y="61"/>
                    <a:pt x="249" y="61"/>
                    <a:pt x="249" y="61"/>
                  </a:cubicBezTo>
                  <a:cubicBezTo>
                    <a:pt x="234" y="52"/>
                    <a:pt x="218" y="45"/>
                    <a:pt x="201" y="42"/>
                  </a:cubicBezTo>
                  <a:cubicBezTo>
                    <a:pt x="200" y="11"/>
                    <a:pt x="200" y="11"/>
                    <a:pt x="200" y="11"/>
                  </a:cubicBezTo>
                  <a:cubicBezTo>
                    <a:pt x="200" y="5"/>
                    <a:pt x="196" y="0"/>
                    <a:pt x="189" y="0"/>
                  </a:cubicBezTo>
                  <a:cubicBezTo>
                    <a:pt x="156" y="1"/>
                    <a:pt x="156" y="1"/>
                    <a:pt x="156" y="1"/>
                  </a:cubicBezTo>
                  <a:cubicBezTo>
                    <a:pt x="151" y="1"/>
                    <a:pt x="146" y="6"/>
                    <a:pt x="146" y="11"/>
                  </a:cubicBezTo>
                  <a:cubicBezTo>
                    <a:pt x="146" y="43"/>
                    <a:pt x="146" y="43"/>
                    <a:pt x="146" y="43"/>
                  </a:cubicBezTo>
                  <a:cubicBezTo>
                    <a:pt x="129" y="46"/>
                    <a:pt x="112" y="53"/>
                    <a:pt x="99" y="62"/>
                  </a:cubicBezTo>
                  <a:cubicBezTo>
                    <a:pt x="77" y="42"/>
                    <a:pt x="77" y="42"/>
                    <a:pt x="77" y="42"/>
                  </a:cubicBezTo>
                  <a:cubicBezTo>
                    <a:pt x="73" y="37"/>
                    <a:pt x="66" y="37"/>
                    <a:pt x="61" y="42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34" y="69"/>
                    <a:pt x="34" y="76"/>
                    <a:pt x="39" y="80"/>
                  </a:cubicBezTo>
                  <a:cubicBezTo>
                    <a:pt x="60" y="102"/>
                    <a:pt x="60" y="102"/>
                    <a:pt x="60" y="102"/>
                  </a:cubicBezTo>
                  <a:cubicBezTo>
                    <a:pt x="51" y="117"/>
                    <a:pt x="45" y="132"/>
                    <a:pt x="42" y="150"/>
                  </a:cubicBezTo>
                  <a:cubicBezTo>
                    <a:pt x="10" y="150"/>
                    <a:pt x="10" y="150"/>
                    <a:pt x="10" y="150"/>
                  </a:cubicBezTo>
                  <a:cubicBezTo>
                    <a:pt x="4" y="150"/>
                    <a:pt x="0" y="155"/>
                    <a:pt x="0" y="161"/>
                  </a:cubicBezTo>
                  <a:cubicBezTo>
                    <a:pt x="0" y="194"/>
                    <a:pt x="0" y="194"/>
                    <a:pt x="0" y="194"/>
                  </a:cubicBezTo>
                  <a:cubicBezTo>
                    <a:pt x="0" y="200"/>
                    <a:pt x="5" y="205"/>
                    <a:pt x="11" y="204"/>
                  </a:cubicBezTo>
                  <a:cubicBezTo>
                    <a:pt x="42" y="204"/>
                    <a:pt x="42" y="204"/>
                    <a:pt x="42" y="204"/>
                  </a:cubicBezTo>
                  <a:cubicBezTo>
                    <a:pt x="46" y="222"/>
                    <a:pt x="52" y="237"/>
                    <a:pt x="62" y="252"/>
                  </a:cubicBezTo>
                  <a:cubicBezTo>
                    <a:pt x="41" y="274"/>
                    <a:pt x="41" y="274"/>
                    <a:pt x="41" y="274"/>
                  </a:cubicBezTo>
                  <a:cubicBezTo>
                    <a:pt x="36" y="278"/>
                    <a:pt x="36" y="285"/>
                    <a:pt x="41" y="289"/>
                  </a:cubicBezTo>
                  <a:cubicBezTo>
                    <a:pt x="65" y="312"/>
                    <a:pt x="65" y="312"/>
                    <a:pt x="65" y="312"/>
                  </a:cubicBezTo>
                  <a:cubicBezTo>
                    <a:pt x="69" y="316"/>
                    <a:pt x="75" y="316"/>
                    <a:pt x="79" y="311"/>
                  </a:cubicBezTo>
                  <a:cubicBezTo>
                    <a:pt x="101" y="289"/>
                    <a:pt x="101" y="289"/>
                    <a:pt x="101" y="289"/>
                  </a:cubicBezTo>
                  <a:cubicBezTo>
                    <a:pt x="116" y="299"/>
                    <a:pt x="131" y="306"/>
                    <a:pt x="149" y="309"/>
                  </a:cubicBezTo>
                  <a:cubicBezTo>
                    <a:pt x="149" y="339"/>
                    <a:pt x="149" y="339"/>
                    <a:pt x="149" y="339"/>
                  </a:cubicBezTo>
                  <a:cubicBezTo>
                    <a:pt x="149" y="346"/>
                    <a:pt x="154" y="351"/>
                    <a:pt x="160" y="351"/>
                  </a:cubicBezTo>
                  <a:cubicBezTo>
                    <a:pt x="193" y="350"/>
                    <a:pt x="193" y="350"/>
                    <a:pt x="193" y="350"/>
                  </a:cubicBezTo>
                  <a:cubicBezTo>
                    <a:pt x="199" y="350"/>
                    <a:pt x="204" y="345"/>
                    <a:pt x="204" y="339"/>
                  </a:cubicBezTo>
                  <a:cubicBezTo>
                    <a:pt x="203" y="308"/>
                    <a:pt x="203" y="308"/>
                    <a:pt x="203" y="308"/>
                  </a:cubicBezTo>
                  <a:cubicBezTo>
                    <a:pt x="221" y="305"/>
                    <a:pt x="236" y="298"/>
                    <a:pt x="251" y="288"/>
                  </a:cubicBezTo>
                  <a:cubicBezTo>
                    <a:pt x="273" y="309"/>
                    <a:pt x="273" y="309"/>
                    <a:pt x="273" y="309"/>
                  </a:cubicBezTo>
                  <a:cubicBezTo>
                    <a:pt x="277" y="314"/>
                    <a:pt x="284" y="313"/>
                    <a:pt x="288" y="309"/>
                  </a:cubicBezTo>
                  <a:cubicBezTo>
                    <a:pt x="311" y="286"/>
                    <a:pt x="311" y="286"/>
                    <a:pt x="311" y="286"/>
                  </a:cubicBezTo>
                  <a:cubicBezTo>
                    <a:pt x="315" y="282"/>
                    <a:pt x="315" y="275"/>
                    <a:pt x="311" y="271"/>
                  </a:cubicBezTo>
                  <a:cubicBezTo>
                    <a:pt x="289" y="249"/>
                    <a:pt x="289" y="249"/>
                    <a:pt x="289" y="249"/>
                  </a:cubicBezTo>
                  <a:cubicBezTo>
                    <a:pt x="299" y="235"/>
                    <a:pt x="305" y="219"/>
                    <a:pt x="308" y="201"/>
                  </a:cubicBezTo>
                  <a:cubicBezTo>
                    <a:pt x="339" y="201"/>
                    <a:pt x="339" y="201"/>
                    <a:pt x="339" y="201"/>
                  </a:cubicBezTo>
                  <a:cubicBezTo>
                    <a:pt x="345" y="201"/>
                    <a:pt x="350" y="196"/>
                    <a:pt x="350" y="190"/>
                  </a:cubicBezTo>
                  <a:lnTo>
                    <a:pt x="350" y="157"/>
                  </a:lnTo>
                  <a:close/>
                  <a:moveTo>
                    <a:pt x="175" y="215"/>
                  </a:moveTo>
                  <a:lnTo>
                    <a:pt x="175" y="215"/>
                  </a:lnTo>
                  <a:cubicBezTo>
                    <a:pt x="153" y="216"/>
                    <a:pt x="134" y="198"/>
                    <a:pt x="134" y="176"/>
                  </a:cubicBezTo>
                  <a:cubicBezTo>
                    <a:pt x="134" y="154"/>
                    <a:pt x="152" y="135"/>
                    <a:pt x="174" y="135"/>
                  </a:cubicBezTo>
                  <a:cubicBezTo>
                    <a:pt x="197" y="134"/>
                    <a:pt x="214" y="153"/>
                    <a:pt x="215" y="175"/>
                  </a:cubicBezTo>
                  <a:cubicBezTo>
                    <a:pt x="215" y="198"/>
                    <a:pt x="198" y="215"/>
                    <a:pt x="175" y="2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88" b="0" i="0" u="none" strike="noStrike" kern="1200" cap="none" spc="0" normalizeH="0" baseline="0" noProof="0" dirty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61" name="Freeform 46"/>
            <p:cNvSpPr>
              <a:spLocks noChangeAspect="1" noChangeArrowheads="1"/>
            </p:cNvSpPr>
            <p:nvPr/>
          </p:nvSpPr>
          <p:spPr bwMode="auto">
            <a:xfrm rot="865465">
              <a:off x="3111105" y="1936172"/>
              <a:ext cx="469373" cy="469373"/>
            </a:xfrm>
            <a:custGeom>
              <a:avLst/>
              <a:gdLst>
                <a:gd name="T0" fmla="*/ 350 w 351"/>
                <a:gd name="T1" fmla="*/ 157 h 352"/>
                <a:gd name="T2" fmla="*/ 350 w 351"/>
                <a:gd name="T3" fmla="*/ 157 h 352"/>
                <a:gd name="T4" fmla="*/ 338 w 351"/>
                <a:gd name="T5" fmla="*/ 147 h 352"/>
                <a:gd name="T6" fmla="*/ 308 w 351"/>
                <a:gd name="T7" fmla="*/ 147 h 352"/>
                <a:gd name="T8" fmla="*/ 287 w 351"/>
                <a:gd name="T9" fmla="*/ 99 h 352"/>
                <a:gd name="T10" fmla="*/ 309 w 351"/>
                <a:gd name="T11" fmla="*/ 77 h 352"/>
                <a:gd name="T12" fmla="*/ 309 w 351"/>
                <a:gd name="T13" fmla="*/ 62 h 352"/>
                <a:gd name="T14" fmla="*/ 285 w 351"/>
                <a:gd name="T15" fmla="*/ 40 h 352"/>
                <a:gd name="T16" fmla="*/ 270 w 351"/>
                <a:gd name="T17" fmla="*/ 40 h 352"/>
                <a:gd name="T18" fmla="*/ 249 w 351"/>
                <a:gd name="T19" fmla="*/ 61 h 352"/>
                <a:gd name="T20" fmla="*/ 201 w 351"/>
                <a:gd name="T21" fmla="*/ 42 h 352"/>
                <a:gd name="T22" fmla="*/ 200 w 351"/>
                <a:gd name="T23" fmla="*/ 11 h 352"/>
                <a:gd name="T24" fmla="*/ 189 w 351"/>
                <a:gd name="T25" fmla="*/ 0 h 352"/>
                <a:gd name="T26" fmla="*/ 156 w 351"/>
                <a:gd name="T27" fmla="*/ 1 h 352"/>
                <a:gd name="T28" fmla="*/ 146 w 351"/>
                <a:gd name="T29" fmla="*/ 11 h 352"/>
                <a:gd name="T30" fmla="*/ 146 w 351"/>
                <a:gd name="T31" fmla="*/ 43 h 352"/>
                <a:gd name="T32" fmla="*/ 99 w 351"/>
                <a:gd name="T33" fmla="*/ 62 h 352"/>
                <a:gd name="T34" fmla="*/ 77 w 351"/>
                <a:gd name="T35" fmla="*/ 42 h 352"/>
                <a:gd name="T36" fmla="*/ 61 w 351"/>
                <a:gd name="T37" fmla="*/ 42 h 352"/>
                <a:gd name="T38" fmla="*/ 39 w 351"/>
                <a:gd name="T39" fmla="*/ 64 h 352"/>
                <a:gd name="T40" fmla="*/ 39 w 351"/>
                <a:gd name="T41" fmla="*/ 80 h 352"/>
                <a:gd name="T42" fmla="*/ 60 w 351"/>
                <a:gd name="T43" fmla="*/ 102 h 352"/>
                <a:gd name="T44" fmla="*/ 42 w 351"/>
                <a:gd name="T45" fmla="*/ 150 h 352"/>
                <a:gd name="T46" fmla="*/ 10 w 351"/>
                <a:gd name="T47" fmla="*/ 150 h 352"/>
                <a:gd name="T48" fmla="*/ 0 w 351"/>
                <a:gd name="T49" fmla="*/ 161 h 352"/>
                <a:gd name="T50" fmla="*/ 0 w 351"/>
                <a:gd name="T51" fmla="*/ 194 h 352"/>
                <a:gd name="T52" fmla="*/ 11 w 351"/>
                <a:gd name="T53" fmla="*/ 204 h 352"/>
                <a:gd name="T54" fmla="*/ 42 w 351"/>
                <a:gd name="T55" fmla="*/ 204 h 352"/>
                <a:gd name="T56" fmla="*/ 62 w 351"/>
                <a:gd name="T57" fmla="*/ 252 h 352"/>
                <a:gd name="T58" fmla="*/ 41 w 351"/>
                <a:gd name="T59" fmla="*/ 274 h 352"/>
                <a:gd name="T60" fmla="*/ 41 w 351"/>
                <a:gd name="T61" fmla="*/ 289 h 352"/>
                <a:gd name="T62" fmla="*/ 65 w 351"/>
                <a:gd name="T63" fmla="*/ 312 h 352"/>
                <a:gd name="T64" fmla="*/ 79 w 351"/>
                <a:gd name="T65" fmla="*/ 311 h 352"/>
                <a:gd name="T66" fmla="*/ 101 w 351"/>
                <a:gd name="T67" fmla="*/ 289 h 352"/>
                <a:gd name="T68" fmla="*/ 149 w 351"/>
                <a:gd name="T69" fmla="*/ 309 h 352"/>
                <a:gd name="T70" fmla="*/ 149 w 351"/>
                <a:gd name="T71" fmla="*/ 339 h 352"/>
                <a:gd name="T72" fmla="*/ 160 w 351"/>
                <a:gd name="T73" fmla="*/ 351 h 352"/>
                <a:gd name="T74" fmla="*/ 193 w 351"/>
                <a:gd name="T75" fmla="*/ 350 h 352"/>
                <a:gd name="T76" fmla="*/ 204 w 351"/>
                <a:gd name="T77" fmla="*/ 339 h 352"/>
                <a:gd name="T78" fmla="*/ 203 w 351"/>
                <a:gd name="T79" fmla="*/ 308 h 352"/>
                <a:gd name="T80" fmla="*/ 251 w 351"/>
                <a:gd name="T81" fmla="*/ 288 h 352"/>
                <a:gd name="T82" fmla="*/ 273 w 351"/>
                <a:gd name="T83" fmla="*/ 309 h 352"/>
                <a:gd name="T84" fmla="*/ 288 w 351"/>
                <a:gd name="T85" fmla="*/ 309 h 352"/>
                <a:gd name="T86" fmla="*/ 311 w 351"/>
                <a:gd name="T87" fmla="*/ 286 h 352"/>
                <a:gd name="T88" fmla="*/ 311 w 351"/>
                <a:gd name="T89" fmla="*/ 271 h 352"/>
                <a:gd name="T90" fmla="*/ 289 w 351"/>
                <a:gd name="T91" fmla="*/ 249 h 352"/>
                <a:gd name="T92" fmla="*/ 308 w 351"/>
                <a:gd name="T93" fmla="*/ 201 h 352"/>
                <a:gd name="T94" fmla="*/ 339 w 351"/>
                <a:gd name="T95" fmla="*/ 201 h 352"/>
                <a:gd name="T96" fmla="*/ 350 w 351"/>
                <a:gd name="T97" fmla="*/ 190 h 352"/>
                <a:gd name="T98" fmla="*/ 350 w 351"/>
                <a:gd name="T99" fmla="*/ 157 h 352"/>
                <a:gd name="T100" fmla="*/ 175 w 351"/>
                <a:gd name="T101" fmla="*/ 215 h 352"/>
                <a:gd name="T102" fmla="*/ 175 w 351"/>
                <a:gd name="T103" fmla="*/ 215 h 352"/>
                <a:gd name="T104" fmla="*/ 134 w 351"/>
                <a:gd name="T105" fmla="*/ 176 h 352"/>
                <a:gd name="T106" fmla="*/ 174 w 351"/>
                <a:gd name="T107" fmla="*/ 135 h 352"/>
                <a:gd name="T108" fmla="*/ 215 w 351"/>
                <a:gd name="T109" fmla="*/ 175 h 352"/>
                <a:gd name="T110" fmla="*/ 175 w 351"/>
                <a:gd name="T111" fmla="*/ 215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51" h="352">
                  <a:moveTo>
                    <a:pt x="350" y="157"/>
                  </a:moveTo>
                  <a:lnTo>
                    <a:pt x="350" y="157"/>
                  </a:lnTo>
                  <a:cubicBezTo>
                    <a:pt x="350" y="151"/>
                    <a:pt x="345" y="147"/>
                    <a:pt x="338" y="147"/>
                  </a:cubicBezTo>
                  <a:cubicBezTo>
                    <a:pt x="308" y="147"/>
                    <a:pt x="308" y="147"/>
                    <a:pt x="308" y="147"/>
                  </a:cubicBezTo>
                  <a:cubicBezTo>
                    <a:pt x="304" y="129"/>
                    <a:pt x="297" y="113"/>
                    <a:pt x="287" y="99"/>
                  </a:cubicBezTo>
                  <a:cubicBezTo>
                    <a:pt x="309" y="77"/>
                    <a:pt x="309" y="77"/>
                    <a:pt x="309" y="77"/>
                  </a:cubicBezTo>
                  <a:cubicBezTo>
                    <a:pt x="313" y="73"/>
                    <a:pt x="313" y="67"/>
                    <a:pt x="309" y="62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1" y="34"/>
                    <a:pt x="274" y="35"/>
                    <a:pt x="270" y="40"/>
                  </a:cubicBezTo>
                  <a:cubicBezTo>
                    <a:pt x="249" y="61"/>
                    <a:pt x="249" y="61"/>
                    <a:pt x="249" y="61"/>
                  </a:cubicBezTo>
                  <a:cubicBezTo>
                    <a:pt x="234" y="52"/>
                    <a:pt x="218" y="45"/>
                    <a:pt x="201" y="42"/>
                  </a:cubicBezTo>
                  <a:cubicBezTo>
                    <a:pt x="200" y="11"/>
                    <a:pt x="200" y="11"/>
                    <a:pt x="200" y="11"/>
                  </a:cubicBezTo>
                  <a:cubicBezTo>
                    <a:pt x="200" y="5"/>
                    <a:pt x="196" y="0"/>
                    <a:pt x="189" y="0"/>
                  </a:cubicBezTo>
                  <a:cubicBezTo>
                    <a:pt x="156" y="1"/>
                    <a:pt x="156" y="1"/>
                    <a:pt x="156" y="1"/>
                  </a:cubicBezTo>
                  <a:cubicBezTo>
                    <a:pt x="151" y="1"/>
                    <a:pt x="146" y="6"/>
                    <a:pt x="146" y="11"/>
                  </a:cubicBezTo>
                  <a:cubicBezTo>
                    <a:pt x="146" y="43"/>
                    <a:pt x="146" y="43"/>
                    <a:pt x="146" y="43"/>
                  </a:cubicBezTo>
                  <a:cubicBezTo>
                    <a:pt x="129" y="46"/>
                    <a:pt x="112" y="53"/>
                    <a:pt x="99" y="62"/>
                  </a:cubicBezTo>
                  <a:cubicBezTo>
                    <a:pt x="77" y="42"/>
                    <a:pt x="77" y="42"/>
                    <a:pt x="77" y="42"/>
                  </a:cubicBezTo>
                  <a:cubicBezTo>
                    <a:pt x="73" y="37"/>
                    <a:pt x="66" y="37"/>
                    <a:pt x="61" y="42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34" y="69"/>
                    <a:pt x="34" y="76"/>
                    <a:pt x="39" y="80"/>
                  </a:cubicBezTo>
                  <a:cubicBezTo>
                    <a:pt x="60" y="102"/>
                    <a:pt x="60" y="102"/>
                    <a:pt x="60" y="102"/>
                  </a:cubicBezTo>
                  <a:cubicBezTo>
                    <a:pt x="51" y="117"/>
                    <a:pt x="45" y="132"/>
                    <a:pt x="42" y="150"/>
                  </a:cubicBezTo>
                  <a:cubicBezTo>
                    <a:pt x="10" y="150"/>
                    <a:pt x="10" y="150"/>
                    <a:pt x="10" y="150"/>
                  </a:cubicBezTo>
                  <a:cubicBezTo>
                    <a:pt x="4" y="150"/>
                    <a:pt x="0" y="155"/>
                    <a:pt x="0" y="161"/>
                  </a:cubicBezTo>
                  <a:cubicBezTo>
                    <a:pt x="0" y="194"/>
                    <a:pt x="0" y="194"/>
                    <a:pt x="0" y="194"/>
                  </a:cubicBezTo>
                  <a:cubicBezTo>
                    <a:pt x="0" y="200"/>
                    <a:pt x="5" y="205"/>
                    <a:pt x="11" y="204"/>
                  </a:cubicBezTo>
                  <a:cubicBezTo>
                    <a:pt x="42" y="204"/>
                    <a:pt x="42" y="204"/>
                    <a:pt x="42" y="204"/>
                  </a:cubicBezTo>
                  <a:cubicBezTo>
                    <a:pt x="46" y="222"/>
                    <a:pt x="52" y="237"/>
                    <a:pt x="62" y="252"/>
                  </a:cubicBezTo>
                  <a:cubicBezTo>
                    <a:pt x="41" y="274"/>
                    <a:pt x="41" y="274"/>
                    <a:pt x="41" y="274"/>
                  </a:cubicBezTo>
                  <a:cubicBezTo>
                    <a:pt x="36" y="278"/>
                    <a:pt x="36" y="285"/>
                    <a:pt x="41" y="289"/>
                  </a:cubicBezTo>
                  <a:cubicBezTo>
                    <a:pt x="65" y="312"/>
                    <a:pt x="65" y="312"/>
                    <a:pt x="65" y="312"/>
                  </a:cubicBezTo>
                  <a:cubicBezTo>
                    <a:pt x="69" y="316"/>
                    <a:pt x="75" y="316"/>
                    <a:pt x="79" y="311"/>
                  </a:cubicBezTo>
                  <a:cubicBezTo>
                    <a:pt x="101" y="289"/>
                    <a:pt x="101" y="289"/>
                    <a:pt x="101" y="289"/>
                  </a:cubicBezTo>
                  <a:cubicBezTo>
                    <a:pt x="116" y="299"/>
                    <a:pt x="131" y="306"/>
                    <a:pt x="149" y="309"/>
                  </a:cubicBezTo>
                  <a:cubicBezTo>
                    <a:pt x="149" y="339"/>
                    <a:pt x="149" y="339"/>
                    <a:pt x="149" y="339"/>
                  </a:cubicBezTo>
                  <a:cubicBezTo>
                    <a:pt x="149" y="346"/>
                    <a:pt x="154" y="351"/>
                    <a:pt x="160" y="351"/>
                  </a:cubicBezTo>
                  <a:cubicBezTo>
                    <a:pt x="193" y="350"/>
                    <a:pt x="193" y="350"/>
                    <a:pt x="193" y="350"/>
                  </a:cubicBezTo>
                  <a:cubicBezTo>
                    <a:pt x="199" y="350"/>
                    <a:pt x="204" y="345"/>
                    <a:pt x="204" y="339"/>
                  </a:cubicBezTo>
                  <a:cubicBezTo>
                    <a:pt x="203" y="308"/>
                    <a:pt x="203" y="308"/>
                    <a:pt x="203" y="308"/>
                  </a:cubicBezTo>
                  <a:cubicBezTo>
                    <a:pt x="221" y="305"/>
                    <a:pt x="236" y="298"/>
                    <a:pt x="251" y="288"/>
                  </a:cubicBezTo>
                  <a:cubicBezTo>
                    <a:pt x="273" y="309"/>
                    <a:pt x="273" y="309"/>
                    <a:pt x="273" y="309"/>
                  </a:cubicBezTo>
                  <a:cubicBezTo>
                    <a:pt x="277" y="314"/>
                    <a:pt x="284" y="313"/>
                    <a:pt x="288" y="309"/>
                  </a:cubicBezTo>
                  <a:cubicBezTo>
                    <a:pt x="311" y="286"/>
                    <a:pt x="311" y="286"/>
                    <a:pt x="311" y="286"/>
                  </a:cubicBezTo>
                  <a:cubicBezTo>
                    <a:pt x="315" y="282"/>
                    <a:pt x="315" y="275"/>
                    <a:pt x="311" y="271"/>
                  </a:cubicBezTo>
                  <a:cubicBezTo>
                    <a:pt x="289" y="249"/>
                    <a:pt x="289" y="249"/>
                    <a:pt x="289" y="249"/>
                  </a:cubicBezTo>
                  <a:cubicBezTo>
                    <a:pt x="299" y="235"/>
                    <a:pt x="305" y="219"/>
                    <a:pt x="308" y="201"/>
                  </a:cubicBezTo>
                  <a:cubicBezTo>
                    <a:pt x="339" y="201"/>
                    <a:pt x="339" y="201"/>
                    <a:pt x="339" y="201"/>
                  </a:cubicBezTo>
                  <a:cubicBezTo>
                    <a:pt x="345" y="201"/>
                    <a:pt x="350" y="196"/>
                    <a:pt x="350" y="190"/>
                  </a:cubicBezTo>
                  <a:lnTo>
                    <a:pt x="350" y="157"/>
                  </a:lnTo>
                  <a:close/>
                  <a:moveTo>
                    <a:pt x="175" y="215"/>
                  </a:moveTo>
                  <a:lnTo>
                    <a:pt x="175" y="215"/>
                  </a:lnTo>
                  <a:cubicBezTo>
                    <a:pt x="153" y="216"/>
                    <a:pt x="134" y="198"/>
                    <a:pt x="134" y="176"/>
                  </a:cubicBezTo>
                  <a:cubicBezTo>
                    <a:pt x="134" y="154"/>
                    <a:pt x="152" y="135"/>
                    <a:pt x="174" y="135"/>
                  </a:cubicBezTo>
                  <a:cubicBezTo>
                    <a:pt x="197" y="134"/>
                    <a:pt x="214" y="153"/>
                    <a:pt x="215" y="175"/>
                  </a:cubicBezTo>
                  <a:cubicBezTo>
                    <a:pt x="215" y="198"/>
                    <a:pt x="198" y="215"/>
                    <a:pt x="175" y="2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88" b="0" i="0" u="none" strike="noStrike" kern="1200" cap="none" spc="0" normalizeH="0" baseline="0" noProof="0" dirty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62" name="Freeform 45"/>
            <p:cNvSpPr>
              <a:spLocks noChangeAspect="1" noChangeArrowheads="1"/>
            </p:cNvSpPr>
            <p:nvPr/>
          </p:nvSpPr>
          <p:spPr bwMode="auto">
            <a:xfrm rot="1269109">
              <a:off x="2832830" y="1736948"/>
              <a:ext cx="362831" cy="362829"/>
            </a:xfrm>
            <a:custGeom>
              <a:avLst/>
              <a:gdLst>
                <a:gd name="T0" fmla="*/ 476 w 491"/>
                <a:gd name="T1" fmla="*/ 273 h 490"/>
                <a:gd name="T2" fmla="*/ 476 w 491"/>
                <a:gd name="T3" fmla="*/ 273 h 490"/>
                <a:gd name="T4" fmla="*/ 436 w 491"/>
                <a:gd name="T5" fmla="*/ 261 h 490"/>
                <a:gd name="T6" fmla="*/ 427 w 491"/>
                <a:gd name="T7" fmla="*/ 189 h 490"/>
                <a:gd name="T8" fmla="*/ 466 w 491"/>
                <a:gd name="T9" fmla="*/ 168 h 490"/>
                <a:gd name="T10" fmla="*/ 472 w 491"/>
                <a:gd name="T11" fmla="*/ 147 h 490"/>
                <a:gd name="T12" fmla="*/ 450 w 491"/>
                <a:gd name="T13" fmla="*/ 107 h 490"/>
                <a:gd name="T14" fmla="*/ 429 w 491"/>
                <a:gd name="T15" fmla="*/ 101 h 490"/>
                <a:gd name="T16" fmla="*/ 391 w 491"/>
                <a:gd name="T17" fmla="*/ 121 h 490"/>
                <a:gd name="T18" fmla="*/ 335 w 491"/>
                <a:gd name="T19" fmla="*/ 76 h 490"/>
                <a:gd name="T20" fmla="*/ 347 w 491"/>
                <a:gd name="T21" fmla="*/ 34 h 490"/>
                <a:gd name="T22" fmla="*/ 337 w 491"/>
                <a:gd name="T23" fmla="*/ 15 h 490"/>
                <a:gd name="T24" fmla="*/ 293 w 491"/>
                <a:gd name="T25" fmla="*/ 2 h 490"/>
                <a:gd name="T26" fmla="*/ 273 w 491"/>
                <a:gd name="T27" fmla="*/ 12 h 490"/>
                <a:gd name="T28" fmla="*/ 262 w 491"/>
                <a:gd name="T29" fmla="*/ 54 h 490"/>
                <a:gd name="T30" fmla="*/ 189 w 491"/>
                <a:gd name="T31" fmla="*/ 61 h 490"/>
                <a:gd name="T32" fmla="*/ 169 w 491"/>
                <a:gd name="T33" fmla="*/ 24 h 490"/>
                <a:gd name="T34" fmla="*/ 148 w 491"/>
                <a:gd name="T35" fmla="*/ 17 h 490"/>
                <a:gd name="T36" fmla="*/ 108 w 491"/>
                <a:gd name="T37" fmla="*/ 39 h 490"/>
                <a:gd name="T38" fmla="*/ 101 w 491"/>
                <a:gd name="T39" fmla="*/ 60 h 490"/>
                <a:gd name="T40" fmla="*/ 121 w 491"/>
                <a:gd name="T41" fmla="*/ 97 h 490"/>
                <a:gd name="T42" fmla="*/ 76 w 491"/>
                <a:gd name="T43" fmla="*/ 154 h 490"/>
                <a:gd name="T44" fmla="*/ 35 w 491"/>
                <a:gd name="T45" fmla="*/ 141 h 490"/>
                <a:gd name="T46" fmla="*/ 16 w 491"/>
                <a:gd name="T47" fmla="*/ 152 h 490"/>
                <a:gd name="T48" fmla="*/ 3 w 491"/>
                <a:gd name="T49" fmla="*/ 196 h 490"/>
                <a:gd name="T50" fmla="*/ 13 w 491"/>
                <a:gd name="T51" fmla="*/ 215 h 490"/>
                <a:gd name="T52" fmla="*/ 55 w 491"/>
                <a:gd name="T53" fmla="*/ 228 h 490"/>
                <a:gd name="T54" fmla="*/ 62 w 491"/>
                <a:gd name="T55" fmla="*/ 299 h 490"/>
                <a:gd name="T56" fmla="*/ 23 w 491"/>
                <a:gd name="T57" fmla="*/ 320 h 490"/>
                <a:gd name="T58" fmla="*/ 17 w 491"/>
                <a:gd name="T59" fmla="*/ 341 h 490"/>
                <a:gd name="T60" fmla="*/ 39 w 491"/>
                <a:gd name="T61" fmla="*/ 382 h 490"/>
                <a:gd name="T62" fmla="*/ 60 w 491"/>
                <a:gd name="T63" fmla="*/ 388 h 490"/>
                <a:gd name="T64" fmla="*/ 98 w 491"/>
                <a:gd name="T65" fmla="*/ 367 h 490"/>
                <a:gd name="T66" fmla="*/ 155 w 491"/>
                <a:gd name="T67" fmla="*/ 413 h 490"/>
                <a:gd name="T68" fmla="*/ 142 w 491"/>
                <a:gd name="T69" fmla="*/ 455 h 490"/>
                <a:gd name="T70" fmla="*/ 152 w 491"/>
                <a:gd name="T71" fmla="*/ 473 h 490"/>
                <a:gd name="T72" fmla="*/ 196 w 491"/>
                <a:gd name="T73" fmla="*/ 487 h 490"/>
                <a:gd name="T74" fmla="*/ 216 w 491"/>
                <a:gd name="T75" fmla="*/ 476 h 490"/>
                <a:gd name="T76" fmla="*/ 228 w 491"/>
                <a:gd name="T77" fmla="*/ 435 h 490"/>
                <a:gd name="T78" fmla="*/ 300 w 491"/>
                <a:gd name="T79" fmla="*/ 427 h 490"/>
                <a:gd name="T80" fmla="*/ 321 w 491"/>
                <a:gd name="T81" fmla="*/ 465 h 490"/>
                <a:gd name="T82" fmla="*/ 342 w 491"/>
                <a:gd name="T83" fmla="*/ 471 h 490"/>
                <a:gd name="T84" fmla="*/ 383 w 491"/>
                <a:gd name="T85" fmla="*/ 449 h 490"/>
                <a:gd name="T86" fmla="*/ 388 w 491"/>
                <a:gd name="T87" fmla="*/ 428 h 490"/>
                <a:gd name="T88" fmla="*/ 368 w 491"/>
                <a:gd name="T89" fmla="*/ 391 h 490"/>
                <a:gd name="T90" fmla="*/ 414 w 491"/>
                <a:gd name="T91" fmla="*/ 335 h 490"/>
                <a:gd name="T92" fmla="*/ 454 w 491"/>
                <a:gd name="T93" fmla="*/ 347 h 490"/>
                <a:gd name="T94" fmla="*/ 474 w 491"/>
                <a:gd name="T95" fmla="*/ 337 h 490"/>
                <a:gd name="T96" fmla="*/ 487 w 491"/>
                <a:gd name="T97" fmla="*/ 292 h 490"/>
                <a:gd name="T98" fmla="*/ 476 w 491"/>
                <a:gd name="T99" fmla="*/ 273 h 490"/>
                <a:gd name="T100" fmla="*/ 217 w 491"/>
                <a:gd name="T101" fmla="*/ 337 h 490"/>
                <a:gd name="T102" fmla="*/ 217 w 491"/>
                <a:gd name="T103" fmla="*/ 337 h 490"/>
                <a:gd name="T104" fmla="*/ 152 w 491"/>
                <a:gd name="T105" fmla="*/ 217 h 490"/>
                <a:gd name="T106" fmla="*/ 272 w 491"/>
                <a:gd name="T107" fmla="*/ 152 h 490"/>
                <a:gd name="T108" fmla="*/ 338 w 491"/>
                <a:gd name="T109" fmla="*/ 272 h 490"/>
                <a:gd name="T110" fmla="*/ 217 w 491"/>
                <a:gd name="T111" fmla="*/ 337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91" h="490">
                  <a:moveTo>
                    <a:pt x="476" y="273"/>
                  </a:moveTo>
                  <a:lnTo>
                    <a:pt x="476" y="273"/>
                  </a:lnTo>
                  <a:cubicBezTo>
                    <a:pt x="436" y="261"/>
                    <a:pt x="436" y="261"/>
                    <a:pt x="436" y="261"/>
                  </a:cubicBezTo>
                  <a:cubicBezTo>
                    <a:pt x="438" y="236"/>
                    <a:pt x="435" y="212"/>
                    <a:pt x="427" y="189"/>
                  </a:cubicBezTo>
                  <a:cubicBezTo>
                    <a:pt x="466" y="168"/>
                    <a:pt x="466" y="168"/>
                    <a:pt x="466" y="168"/>
                  </a:cubicBezTo>
                  <a:cubicBezTo>
                    <a:pt x="473" y="164"/>
                    <a:pt x="476" y="155"/>
                    <a:pt x="472" y="147"/>
                  </a:cubicBezTo>
                  <a:cubicBezTo>
                    <a:pt x="450" y="107"/>
                    <a:pt x="450" y="107"/>
                    <a:pt x="450" y="107"/>
                  </a:cubicBezTo>
                  <a:cubicBezTo>
                    <a:pt x="446" y="100"/>
                    <a:pt x="437" y="96"/>
                    <a:pt x="429" y="101"/>
                  </a:cubicBezTo>
                  <a:cubicBezTo>
                    <a:pt x="391" y="121"/>
                    <a:pt x="391" y="121"/>
                    <a:pt x="391" y="121"/>
                  </a:cubicBezTo>
                  <a:cubicBezTo>
                    <a:pt x="376" y="103"/>
                    <a:pt x="357" y="87"/>
                    <a:pt x="335" y="76"/>
                  </a:cubicBezTo>
                  <a:cubicBezTo>
                    <a:pt x="347" y="34"/>
                    <a:pt x="347" y="34"/>
                    <a:pt x="347" y="34"/>
                  </a:cubicBezTo>
                  <a:cubicBezTo>
                    <a:pt x="349" y="27"/>
                    <a:pt x="345" y="17"/>
                    <a:pt x="337" y="15"/>
                  </a:cubicBezTo>
                  <a:cubicBezTo>
                    <a:pt x="293" y="2"/>
                    <a:pt x="293" y="2"/>
                    <a:pt x="293" y="2"/>
                  </a:cubicBezTo>
                  <a:cubicBezTo>
                    <a:pt x="285" y="0"/>
                    <a:pt x="276" y="4"/>
                    <a:pt x="273" y="12"/>
                  </a:cubicBezTo>
                  <a:cubicBezTo>
                    <a:pt x="262" y="54"/>
                    <a:pt x="262" y="54"/>
                    <a:pt x="262" y="54"/>
                  </a:cubicBezTo>
                  <a:cubicBezTo>
                    <a:pt x="237" y="52"/>
                    <a:pt x="212" y="54"/>
                    <a:pt x="189" y="61"/>
                  </a:cubicBezTo>
                  <a:cubicBezTo>
                    <a:pt x="169" y="24"/>
                    <a:pt x="169" y="24"/>
                    <a:pt x="169" y="24"/>
                  </a:cubicBezTo>
                  <a:cubicBezTo>
                    <a:pt x="165" y="16"/>
                    <a:pt x="156" y="13"/>
                    <a:pt x="148" y="17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0" y="43"/>
                    <a:pt x="97" y="53"/>
                    <a:pt x="101" y="60"/>
                  </a:cubicBezTo>
                  <a:cubicBezTo>
                    <a:pt x="121" y="97"/>
                    <a:pt x="121" y="97"/>
                    <a:pt x="121" y="97"/>
                  </a:cubicBezTo>
                  <a:cubicBezTo>
                    <a:pt x="104" y="113"/>
                    <a:pt x="88" y="132"/>
                    <a:pt x="76" y="154"/>
                  </a:cubicBezTo>
                  <a:cubicBezTo>
                    <a:pt x="35" y="141"/>
                    <a:pt x="35" y="141"/>
                    <a:pt x="35" y="141"/>
                  </a:cubicBezTo>
                  <a:cubicBezTo>
                    <a:pt x="26" y="139"/>
                    <a:pt x="18" y="144"/>
                    <a:pt x="16" y="152"/>
                  </a:cubicBezTo>
                  <a:cubicBezTo>
                    <a:pt x="3" y="196"/>
                    <a:pt x="3" y="196"/>
                    <a:pt x="3" y="196"/>
                  </a:cubicBezTo>
                  <a:cubicBezTo>
                    <a:pt x="0" y="205"/>
                    <a:pt x="5" y="213"/>
                    <a:pt x="13" y="215"/>
                  </a:cubicBezTo>
                  <a:cubicBezTo>
                    <a:pt x="55" y="228"/>
                    <a:pt x="55" y="228"/>
                    <a:pt x="55" y="228"/>
                  </a:cubicBezTo>
                  <a:cubicBezTo>
                    <a:pt x="51" y="253"/>
                    <a:pt x="55" y="276"/>
                    <a:pt x="62" y="299"/>
                  </a:cubicBezTo>
                  <a:cubicBezTo>
                    <a:pt x="23" y="320"/>
                    <a:pt x="23" y="320"/>
                    <a:pt x="23" y="320"/>
                  </a:cubicBezTo>
                  <a:cubicBezTo>
                    <a:pt x="16" y="324"/>
                    <a:pt x="13" y="334"/>
                    <a:pt x="17" y="341"/>
                  </a:cubicBezTo>
                  <a:cubicBezTo>
                    <a:pt x="39" y="382"/>
                    <a:pt x="39" y="382"/>
                    <a:pt x="39" y="382"/>
                  </a:cubicBezTo>
                  <a:cubicBezTo>
                    <a:pt x="43" y="389"/>
                    <a:pt x="52" y="392"/>
                    <a:pt x="60" y="388"/>
                  </a:cubicBezTo>
                  <a:cubicBezTo>
                    <a:pt x="98" y="367"/>
                    <a:pt x="98" y="367"/>
                    <a:pt x="98" y="367"/>
                  </a:cubicBezTo>
                  <a:cubicBezTo>
                    <a:pt x="114" y="386"/>
                    <a:pt x="133" y="401"/>
                    <a:pt x="155" y="413"/>
                  </a:cubicBezTo>
                  <a:cubicBezTo>
                    <a:pt x="142" y="455"/>
                    <a:pt x="142" y="455"/>
                    <a:pt x="142" y="455"/>
                  </a:cubicBezTo>
                  <a:cubicBezTo>
                    <a:pt x="140" y="463"/>
                    <a:pt x="144" y="471"/>
                    <a:pt x="152" y="473"/>
                  </a:cubicBezTo>
                  <a:cubicBezTo>
                    <a:pt x="196" y="487"/>
                    <a:pt x="196" y="487"/>
                    <a:pt x="196" y="487"/>
                  </a:cubicBezTo>
                  <a:cubicBezTo>
                    <a:pt x="204" y="489"/>
                    <a:pt x="214" y="485"/>
                    <a:pt x="216" y="476"/>
                  </a:cubicBezTo>
                  <a:cubicBezTo>
                    <a:pt x="228" y="435"/>
                    <a:pt x="228" y="435"/>
                    <a:pt x="228" y="435"/>
                  </a:cubicBezTo>
                  <a:cubicBezTo>
                    <a:pt x="252" y="437"/>
                    <a:pt x="277" y="435"/>
                    <a:pt x="300" y="427"/>
                  </a:cubicBezTo>
                  <a:cubicBezTo>
                    <a:pt x="321" y="465"/>
                    <a:pt x="321" y="465"/>
                    <a:pt x="321" y="465"/>
                  </a:cubicBezTo>
                  <a:cubicBezTo>
                    <a:pt x="324" y="472"/>
                    <a:pt x="334" y="475"/>
                    <a:pt x="342" y="471"/>
                  </a:cubicBezTo>
                  <a:cubicBezTo>
                    <a:pt x="383" y="449"/>
                    <a:pt x="383" y="449"/>
                    <a:pt x="383" y="449"/>
                  </a:cubicBezTo>
                  <a:cubicBezTo>
                    <a:pt x="390" y="445"/>
                    <a:pt x="392" y="436"/>
                    <a:pt x="388" y="428"/>
                  </a:cubicBezTo>
                  <a:cubicBezTo>
                    <a:pt x="368" y="391"/>
                    <a:pt x="368" y="391"/>
                    <a:pt x="368" y="391"/>
                  </a:cubicBezTo>
                  <a:cubicBezTo>
                    <a:pt x="386" y="375"/>
                    <a:pt x="401" y="357"/>
                    <a:pt x="414" y="335"/>
                  </a:cubicBezTo>
                  <a:cubicBezTo>
                    <a:pt x="454" y="347"/>
                    <a:pt x="454" y="347"/>
                    <a:pt x="454" y="347"/>
                  </a:cubicBezTo>
                  <a:cubicBezTo>
                    <a:pt x="463" y="349"/>
                    <a:pt x="471" y="344"/>
                    <a:pt x="474" y="337"/>
                  </a:cubicBezTo>
                  <a:cubicBezTo>
                    <a:pt x="487" y="292"/>
                    <a:pt x="487" y="292"/>
                    <a:pt x="487" y="292"/>
                  </a:cubicBezTo>
                  <a:cubicBezTo>
                    <a:pt x="490" y="284"/>
                    <a:pt x="485" y="275"/>
                    <a:pt x="476" y="273"/>
                  </a:cubicBezTo>
                  <a:close/>
                  <a:moveTo>
                    <a:pt x="217" y="337"/>
                  </a:moveTo>
                  <a:lnTo>
                    <a:pt x="217" y="337"/>
                  </a:lnTo>
                  <a:cubicBezTo>
                    <a:pt x="166" y="321"/>
                    <a:pt x="137" y="268"/>
                    <a:pt x="152" y="217"/>
                  </a:cubicBezTo>
                  <a:cubicBezTo>
                    <a:pt x="167" y="165"/>
                    <a:pt x="221" y="136"/>
                    <a:pt x="272" y="152"/>
                  </a:cubicBezTo>
                  <a:cubicBezTo>
                    <a:pt x="323" y="167"/>
                    <a:pt x="352" y="220"/>
                    <a:pt x="338" y="272"/>
                  </a:cubicBezTo>
                  <a:cubicBezTo>
                    <a:pt x="322" y="323"/>
                    <a:pt x="268" y="353"/>
                    <a:pt x="217" y="33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88" b="0" i="0" u="none" strike="noStrike" kern="1200" cap="none" spc="0" normalizeH="0" baseline="0" noProof="0" dirty="0">
                <a:ln>
                  <a:noFill/>
                </a:ln>
                <a:solidFill>
                  <a:srgbClr val="212E3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Calibri"/>
              </a:endParaRPr>
            </a:p>
          </p:txBody>
        </p:sp>
      </p:grpSp>
      <p:pic>
        <p:nvPicPr>
          <p:cNvPr id="163" name="Picture 172" descr="Picture 172">
            <a:extLst>
              <a:ext uri="{FF2B5EF4-FFF2-40B4-BE49-F238E27FC236}">
                <a16:creationId xmlns="" xmlns:a16="http://schemas.microsoft.com/office/drawing/2014/main" id="{4D9CBF83-8282-4E4D-9968-AD59F13429E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272201" y="2343976"/>
            <a:ext cx="1480085" cy="651473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pic>
        <p:nvPicPr>
          <p:cNvPr id="164" name="Picture 56" descr="Picture 56">
            <a:extLst>
              <a:ext uri="{FF2B5EF4-FFF2-40B4-BE49-F238E27FC236}">
                <a16:creationId xmlns="" xmlns:a16="http://schemas.microsoft.com/office/drawing/2014/main" id="{58E4D797-24E7-442C-ABE2-5047439499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843" y="3783900"/>
            <a:ext cx="809177" cy="790619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grpSp>
        <p:nvGrpSpPr>
          <p:cNvPr id="5" name="그룹 4"/>
          <p:cNvGrpSpPr/>
          <p:nvPr/>
        </p:nvGrpSpPr>
        <p:grpSpPr>
          <a:xfrm>
            <a:off x="4345209" y="1448969"/>
            <a:ext cx="1020610" cy="3135547"/>
            <a:chOff x="4345209" y="1448969"/>
            <a:chExt cx="1020610" cy="3135547"/>
          </a:xfrm>
        </p:grpSpPr>
        <p:sp>
          <p:nvSpPr>
            <p:cNvPr id="180" name="Rectangle 126"/>
            <p:cNvSpPr/>
            <p:nvPr/>
          </p:nvSpPr>
          <p:spPr bwMode="gray">
            <a:xfrm>
              <a:off x="4345209" y="2504648"/>
              <a:ext cx="1020610" cy="320400"/>
            </a:xfrm>
            <a:prstGeom prst="rect">
              <a:avLst/>
            </a:prstGeom>
            <a:solidFill>
              <a:srgbClr val="074389"/>
            </a:solidFill>
            <a:ln w="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Calibri"/>
                </a:rPr>
                <a:t>Pattern Matching</a:t>
              </a:r>
            </a:p>
          </p:txBody>
        </p:sp>
        <p:sp>
          <p:nvSpPr>
            <p:cNvPr id="181" name="Rectangle 127"/>
            <p:cNvSpPr/>
            <p:nvPr/>
          </p:nvSpPr>
          <p:spPr bwMode="gray">
            <a:xfrm>
              <a:off x="4345209" y="2856541"/>
              <a:ext cx="1020610" cy="320400"/>
            </a:xfrm>
            <a:prstGeom prst="rect">
              <a:avLst/>
            </a:prstGeom>
            <a:solidFill>
              <a:srgbClr val="074389"/>
            </a:solidFill>
            <a:ln w="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Calibri"/>
                </a:rPr>
                <a:t>Date/</a:t>
              </a:r>
              <a:b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Calibri"/>
                </a:rPr>
              </a:b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Calibri"/>
                </a:rPr>
                <a:t>Time Algebra</a:t>
              </a:r>
            </a:p>
          </p:txBody>
        </p:sp>
        <p:sp>
          <p:nvSpPr>
            <p:cNvPr id="182" name="Rectangle 128"/>
            <p:cNvSpPr/>
            <p:nvPr/>
          </p:nvSpPr>
          <p:spPr bwMode="gray">
            <a:xfrm>
              <a:off x="4345209" y="3208434"/>
              <a:ext cx="1020610" cy="320400"/>
            </a:xfrm>
            <a:prstGeom prst="rect">
              <a:avLst/>
            </a:prstGeom>
            <a:solidFill>
              <a:srgbClr val="074389"/>
            </a:solidFill>
            <a:ln w="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Calibri"/>
                </a:rPr>
                <a:t>Window/</a:t>
              </a:r>
              <a:b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Calibri"/>
                </a:rPr>
              </a:b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Calibri"/>
                </a:rPr>
                <a:t>Partition</a:t>
              </a:r>
            </a:p>
          </p:txBody>
        </p:sp>
        <p:sp>
          <p:nvSpPr>
            <p:cNvPr id="183" name="Rectangle 129"/>
            <p:cNvSpPr/>
            <p:nvPr/>
          </p:nvSpPr>
          <p:spPr bwMode="gray">
            <a:xfrm>
              <a:off x="4345209" y="3560327"/>
              <a:ext cx="1020610" cy="320400"/>
            </a:xfrm>
            <a:prstGeom prst="rect">
              <a:avLst/>
            </a:prstGeom>
            <a:solidFill>
              <a:srgbClr val="074389"/>
            </a:solidFill>
            <a:ln w="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Calibri"/>
                </a:rPr>
                <a:t>Date Type Handling</a:t>
              </a:r>
            </a:p>
          </p:txBody>
        </p:sp>
        <p:sp>
          <p:nvSpPr>
            <p:cNvPr id="184" name="Rectangle 130"/>
            <p:cNvSpPr/>
            <p:nvPr/>
          </p:nvSpPr>
          <p:spPr bwMode="gray">
            <a:xfrm>
              <a:off x="4345209" y="3912220"/>
              <a:ext cx="1020610" cy="320400"/>
            </a:xfrm>
            <a:prstGeom prst="rect">
              <a:avLst/>
            </a:prstGeom>
            <a:solidFill>
              <a:srgbClr val="074389"/>
            </a:solidFill>
            <a:ln w="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Calibri"/>
                </a:rPr>
                <a:t>Sequences</a:t>
              </a:r>
            </a:p>
          </p:txBody>
        </p:sp>
        <p:sp>
          <p:nvSpPr>
            <p:cNvPr id="185" name="Rectangle 131"/>
            <p:cNvSpPr/>
            <p:nvPr/>
          </p:nvSpPr>
          <p:spPr bwMode="gray">
            <a:xfrm>
              <a:off x="4345209" y="4264116"/>
              <a:ext cx="1020610" cy="320400"/>
            </a:xfrm>
            <a:prstGeom prst="rect">
              <a:avLst/>
            </a:prstGeom>
            <a:solidFill>
              <a:srgbClr val="074389"/>
            </a:solidFill>
            <a:ln w="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Calibri"/>
                </a:rPr>
                <a:t>And More</a:t>
              </a:r>
              <a:r>
                <a:rPr kumimoji="0" lang="mr-IN" sz="10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Mangal" panose="02040503050203030202" pitchFamily="18" charset="0"/>
                  <a:sym typeface="Calibri"/>
                </a:rPr>
                <a:t>…</a:t>
              </a:r>
              <a:endPara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86" name="Rectangle 132"/>
            <p:cNvSpPr/>
            <p:nvPr/>
          </p:nvSpPr>
          <p:spPr bwMode="gray">
            <a:xfrm>
              <a:off x="4345209" y="2152755"/>
              <a:ext cx="1020610" cy="320400"/>
            </a:xfrm>
            <a:prstGeom prst="rect">
              <a:avLst/>
            </a:prstGeom>
            <a:solidFill>
              <a:srgbClr val="074389"/>
            </a:solidFill>
            <a:ln w="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Calibri"/>
                </a:rPr>
                <a:t>Sessionize</a:t>
              </a:r>
            </a:p>
          </p:txBody>
        </p:sp>
        <p:sp>
          <p:nvSpPr>
            <p:cNvPr id="187" name="Rectangle 133"/>
            <p:cNvSpPr/>
            <p:nvPr/>
          </p:nvSpPr>
          <p:spPr bwMode="gray">
            <a:xfrm>
              <a:off x="4345209" y="1800862"/>
              <a:ext cx="1020610" cy="320400"/>
            </a:xfrm>
            <a:prstGeom prst="rect">
              <a:avLst/>
            </a:prstGeom>
            <a:solidFill>
              <a:srgbClr val="074389"/>
            </a:solidFill>
            <a:ln w="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Calibri"/>
                </a:rPr>
                <a:t>Time Series</a:t>
              </a:r>
            </a:p>
          </p:txBody>
        </p:sp>
        <p:sp>
          <p:nvSpPr>
            <p:cNvPr id="188" name="Rectangle 134"/>
            <p:cNvSpPr/>
            <p:nvPr/>
          </p:nvSpPr>
          <p:spPr bwMode="gray">
            <a:xfrm>
              <a:off x="4345209" y="1448969"/>
              <a:ext cx="1020610" cy="320400"/>
            </a:xfrm>
            <a:prstGeom prst="rect">
              <a:avLst/>
            </a:prstGeom>
            <a:solidFill>
              <a:srgbClr val="074389"/>
            </a:solidFill>
            <a:ln w="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Calibri"/>
                </a:rPr>
                <a:t>Statistical Summary</a:t>
              </a:r>
            </a:p>
          </p:txBody>
        </p:sp>
      </p:grpSp>
      <p:grpSp>
        <p:nvGrpSpPr>
          <p:cNvPr id="189" name="Group 95"/>
          <p:cNvGrpSpPr/>
          <p:nvPr/>
        </p:nvGrpSpPr>
        <p:grpSpPr>
          <a:xfrm>
            <a:off x="5820931" y="1447990"/>
            <a:ext cx="1020610" cy="3094274"/>
            <a:chOff x="1052980" y="1494848"/>
            <a:chExt cx="921126" cy="2449422"/>
          </a:xfrm>
          <a:solidFill>
            <a:srgbClr val="074389"/>
          </a:solidFill>
        </p:grpSpPr>
        <p:sp>
          <p:nvSpPr>
            <p:cNvPr id="190" name="Rectangle 96"/>
            <p:cNvSpPr/>
            <p:nvPr/>
          </p:nvSpPr>
          <p:spPr bwMode="gray">
            <a:xfrm>
              <a:off x="1052980" y="1494848"/>
              <a:ext cx="921126" cy="350026"/>
            </a:xfrm>
            <a:prstGeom prst="rect">
              <a:avLst/>
            </a:prstGeom>
            <a:grpFill/>
            <a:ln w="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Calibri"/>
                </a:rPr>
                <a:t>Outlier Detection</a:t>
              </a:r>
            </a:p>
          </p:txBody>
        </p:sp>
        <p:sp>
          <p:nvSpPr>
            <p:cNvPr id="191" name="Rectangle 97"/>
            <p:cNvSpPr/>
            <p:nvPr/>
          </p:nvSpPr>
          <p:spPr bwMode="gray">
            <a:xfrm>
              <a:off x="1052980" y="1914727"/>
              <a:ext cx="921126" cy="350026"/>
            </a:xfrm>
            <a:prstGeom prst="rect">
              <a:avLst/>
            </a:prstGeom>
            <a:grpFill/>
            <a:ln w="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Calibri"/>
                </a:rPr>
                <a:t>Normalization</a:t>
              </a:r>
            </a:p>
          </p:txBody>
        </p:sp>
        <p:sp>
          <p:nvSpPr>
            <p:cNvPr id="192" name="Rectangle 98"/>
            <p:cNvSpPr/>
            <p:nvPr/>
          </p:nvSpPr>
          <p:spPr bwMode="gray">
            <a:xfrm>
              <a:off x="1052980" y="2334606"/>
              <a:ext cx="921126" cy="350026"/>
            </a:xfrm>
            <a:prstGeom prst="rect">
              <a:avLst/>
            </a:prstGeom>
            <a:grpFill/>
            <a:ln w="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Calibri"/>
                </a:rPr>
                <a:t>Imbalanced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Calibri"/>
                </a:rPr>
                <a:t>Data Processing</a:t>
              </a:r>
            </a:p>
          </p:txBody>
        </p:sp>
        <p:sp>
          <p:nvSpPr>
            <p:cNvPr id="193" name="Rectangle 99"/>
            <p:cNvSpPr/>
            <p:nvPr/>
          </p:nvSpPr>
          <p:spPr bwMode="gray">
            <a:xfrm>
              <a:off x="1052980" y="2754485"/>
              <a:ext cx="921126" cy="350026"/>
            </a:xfrm>
            <a:prstGeom prst="rect">
              <a:avLst/>
            </a:prstGeom>
            <a:grpFill/>
            <a:ln w="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Calibri"/>
                </a:rPr>
                <a:t>Sampling</a:t>
              </a:r>
            </a:p>
          </p:txBody>
        </p:sp>
        <p:sp>
          <p:nvSpPr>
            <p:cNvPr id="194" name="Rectangle 100"/>
            <p:cNvSpPr/>
            <p:nvPr/>
          </p:nvSpPr>
          <p:spPr bwMode="gray">
            <a:xfrm>
              <a:off x="1052980" y="3174364"/>
              <a:ext cx="921126" cy="350026"/>
            </a:xfrm>
            <a:prstGeom prst="rect">
              <a:avLst/>
            </a:prstGeom>
            <a:grpFill/>
            <a:ln w="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Calibri"/>
                </a:rPr>
                <a:t>Missing Value Imputation</a:t>
              </a:r>
            </a:p>
          </p:txBody>
        </p:sp>
        <p:sp>
          <p:nvSpPr>
            <p:cNvPr id="195" name="Rectangle 101"/>
            <p:cNvSpPr/>
            <p:nvPr/>
          </p:nvSpPr>
          <p:spPr bwMode="gray">
            <a:xfrm>
              <a:off x="1052980" y="3594244"/>
              <a:ext cx="921126" cy="350026"/>
            </a:xfrm>
            <a:prstGeom prst="rect">
              <a:avLst/>
            </a:prstGeom>
            <a:grpFill/>
            <a:ln w="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Calibri"/>
                </a:rPr>
                <a:t>And More</a:t>
              </a:r>
              <a:r>
                <a:rPr kumimoji="0" lang="mr-IN" sz="10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Mangal" panose="02040503050203030202" pitchFamily="18" charset="0"/>
                  <a:sym typeface="Calibri"/>
                </a:rPr>
                <a:t>…</a:t>
              </a:r>
              <a:endPara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Calibri"/>
              </a:endParaRP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7333977" y="1447990"/>
            <a:ext cx="1020610" cy="3104257"/>
            <a:chOff x="7333977" y="1447990"/>
            <a:chExt cx="1020610" cy="3104257"/>
          </a:xfrm>
        </p:grpSpPr>
        <p:sp>
          <p:nvSpPr>
            <p:cNvPr id="196" name="Rectangle 102"/>
            <p:cNvSpPr/>
            <p:nvPr/>
          </p:nvSpPr>
          <p:spPr bwMode="gray">
            <a:xfrm>
              <a:off x="7333977" y="1447990"/>
              <a:ext cx="1020610" cy="352807"/>
            </a:xfrm>
            <a:prstGeom prst="rect">
              <a:avLst/>
            </a:prstGeom>
            <a:solidFill>
              <a:srgbClr val="074389"/>
            </a:solidFill>
            <a:ln w="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Calibri"/>
                </a:rPr>
                <a:t>SVM</a:t>
              </a:r>
            </a:p>
          </p:txBody>
        </p:sp>
        <p:sp>
          <p:nvSpPr>
            <p:cNvPr id="197" name="Rectangle 103"/>
            <p:cNvSpPr/>
            <p:nvPr/>
          </p:nvSpPr>
          <p:spPr bwMode="gray">
            <a:xfrm>
              <a:off x="7333977" y="1841054"/>
              <a:ext cx="1020610" cy="352807"/>
            </a:xfrm>
            <a:prstGeom prst="rect">
              <a:avLst/>
            </a:prstGeom>
            <a:solidFill>
              <a:srgbClr val="074389"/>
            </a:solidFill>
            <a:ln w="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Calibri"/>
                </a:rPr>
                <a:t>Random Forests</a:t>
              </a:r>
            </a:p>
          </p:txBody>
        </p:sp>
        <p:sp>
          <p:nvSpPr>
            <p:cNvPr id="198" name="Rectangle 104"/>
            <p:cNvSpPr/>
            <p:nvPr/>
          </p:nvSpPr>
          <p:spPr bwMode="gray">
            <a:xfrm>
              <a:off x="7333977" y="2234118"/>
              <a:ext cx="1020610" cy="352807"/>
            </a:xfrm>
            <a:prstGeom prst="rect">
              <a:avLst/>
            </a:prstGeom>
            <a:solidFill>
              <a:srgbClr val="074389"/>
            </a:solidFill>
            <a:ln w="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Calibri"/>
                </a:rPr>
                <a:t>Logistic Regression</a:t>
              </a:r>
            </a:p>
          </p:txBody>
        </p:sp>
        <p:sp>
          <p:nvSpPr>
            <p:cNvPr id="199" name="Rectangle 105"/>
            <p:cNvSpPr/>
            <p:nvPr/>
          </p:nvSpPr>
          <p:spPr bwMode="gray">
            <a:xfrm>
              <a:off x="7333977" y="2627182"/>
              <a:ext cx="1020610" cy="352807"/>
            </a:xfrm>
            <a:prstGeom prst="rect">
              <a:avLst/>
            </a:prstGeom>
            <a:solidFill>
              <a:srgbClr val="074389"/>
            </a:solidFill>
            <a:ln w="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Calibri"/>
                </a:rPr>
                <a:t>Linear Regression</a:t>
              </a:r>
            </a:p>
          </p:txBody>
        </p:sp>
        <p:sp>
          <p:nvSpPr>
            <p:cNvPr id="200" name="Rectangle 106"/>
            <p:cNvSpPr/>
            <p:nvPr/>
          </p:nvSpPr>
          <p:spPr bwMode="gray">
            <a:xfrm>
              <a:off x="7333977" y="3020246"/>
              <a:ext cx="1020610" cy="352807"/>
            </a:xfrm>
            <a:prstGeom prst="rect">
              <a:avLst/>
            </a:prstGeom>
            <a:solidFill>
              <a:srgbClr val="074389"/>
            </a:solidFill>
            <a:ln w="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Calibri"/>
                </a:rPr>
                <a:t>Ridge Regression</a:t>
              </a:r>
            </a:p>
          </p:txBody>
        </p:sp>
        <p:sp>
          <p:nvSpPr>
            <p:cNvPr id="201" name="Rectangle 107"/>
            <p:cNvSpPr/>
            <p:nvPr/>
          </p:nvSpPr>
          <p:spPr bwMode="gray">
            <a:xfrm>
              <a:off x="7333977" y="3413310"/>
              <a:ext cx="1020610" cy="352807"/>
            </a:xfrm>
            <a:prstGeom prst="rect">
              <a:avLst/>
            </a:prstGeom>
            <a:solidFill>
              <a:srgbClr val="074389"/>
            </a:solidFill>
            <a:ln w="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Calibri"/>
                </a:rPr>
                <a:t>Naive Bayes</a:t>
              </a:r>
            </a:p>
          </p:txBody>
        </p:sp>
        <p:sp>
          <p:nvSpPr>
            <p:cNvPr id="202" name="Rectangle 108"/>
            <p:cNvSpPr/>
            <p:nvPr/>
          </p:nvSpPr>
          <p:spPr bwMode="gray">
            <a:xfrm>
              <a:off x="7333977" y="3806374"/>
              <a:ext cx="1020610" cy="352807"/>
            </a:xfrm>
            <a:prstGeom prst="rect">
              <a:avLst/>
            </a:prstGeom>
            <a:solidFill>
              <a:srgbClr val="074389"/>
            </a:solidFill>
            <a:ln w="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000" b="1" dirty="0" err="1">
                  <a:solidFill>
                    <a:schemeClr val="bg1"/>
                  </a:solidFill>
                  <a:latin typeface="Calibri" panose="020F0502020204030204"/>
                  <a:sym typeface="Calibri"/>
                </a:rPr>
                <a:t>XGBoost</a:t>
              </a:r>
              <a:endPara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203" name="Rectangle 109"/>
            <p:cNvSpPr/>
            <p:nvPr/>
          </p:nvSpPr>
          <p:spPr bwMode="gray">
            <a:xfrm>
              <a:off x="7333977" y="4199440"/>
              <a:ext cx="1020610" cy="352807"/>
            </a:xfrm>
            <a:prstGeom prst="rect">
              <a:avLst/>
            </a:prstGeom>
            <a:solidFill>
              <a:srgbClr val="074389"/>
            </a:solidFill>
            <a:ln w="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Calibri"/>
                </a:rPr>
                <a:t>And More</a:t>
              </a:r>
              <a:r>
                <a:rPr kumimoji="0" lang="mr-IN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Mangal" panose="02040503050203030202" pitchFamily="18" charset="0"/>
                  <a:sym typeface="Calibri"/>
                </a:rPr>
                <a:t>…</a:t>
              </a:r>
              <a:endPara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Calibri"/>
              </a:endParaRPr>
            </a:p>
          </p:txBody>
        </p:sp>
      </p:grpSp>
      <p:grpSp>
        <p:nvGrpSpPr>
          <p:cNvPr id="204" name="Group 110"/>
          <p:cNvGrpSpPr/>
          <p:nvPr/>
        </p:nvGrpSpPr>
        <p:grpSpPr>
          <a:xfrm>
            <a:off x="8828361" y="1447990"/>
            <a:ext cx="1020610" cy="3093306"/>
            <a:chOff x="1052980" y="1494848"/>
            <a:chExt cx="921126" cy="2855618"/>
          </a:xfrm>
          <a:solidFill>
            <a:srgbClr val="074389"/>
          </a:solidFill>
        </p:grpSpPr>
        <p:sp>
          <p:nvSpPr>
            <p:cNvPr id="205" name="Rectangle 111"/>
            <p:cNvSpPr/>
            <p:nvPr/>
          </p:nvSpPr>
          <p:spPr bwMode="gray">
            <a:xfrm>
              <a:off x="1052980" y="1494848"/>
              <a:ext cx="921126" cy="350026"/>
            </a:xfrm>
            <a:prstGeom prst="rect">
              <a:avLst/>
            </a:prstGeom>
            <a:grpFill/>
            <a:ln w="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Calibri"/>
                </a:rPr>
                <a:t>Model-level Stats</a:t>
              </a:r>
            </a:p>
          </p:txBody>
        </p:sp>
        <p:sp>
          <p:nvSpPr>
            <p:cNvPr id="206" name="Rectangle 112"/>
            <p:cNvSpPr/>
            <p:nvPr/>
          </p:nvSpPr>
          <p:spPr bwMode="gray">
            <a:xfrm>
              <a:off x="1052980" y="1912447"/>
              <a:ext cx="921126" cy="350026"/>
            </a:xfrm>
            <a:prstGeom prst="rect">
              <a:avLst/>
            </a:prstGeom>
            <a:grpFill/>
            <a:ln w="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Calibri"/>
                </a:rPr>
                <a:t>ROC Tables</a:t>
              </a:r>
            </a:p>
          </p:txBody>
        </p:sp>
        <p:sp>
          <p:nvSpPr>
            <p:cNvPr id="207" name="Rectangle 113"/>
            <p:cNvSpPr/>
            <p:nvPr/>
          </p:nvSpPr>
          <p:spPr bwMode="gray">
            <a:xfrm>
              <a:off x="1052980" y="2330046"/>
              <a:ext cx="921126" cy="350026"/>
            </a:xfrm>
            <a:prstGeom prst="rect">
              <a:avLst/>
            </a:prstGeom>
            <a:grpFill/>
            <a:ln w="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Calibri"/>
                </a:rPr>
                <a:t>Error Rate</a:t>
              </a:r>
            </a:p>
          </p:txBody>
        </p:sp>
        <p:sp>
          <p:nvSpPr>
            <p:cNvPr id="208" name="Rectangle 114"/>
            <p:cNvSpPr/>
            <p:nvPr/>
          </p:nvSpPr>
          <p:spPr bwMode="gray">
            <a:xfrm>
              <a:off x="1052980" y="2747645"/>
              <a:ext cx="921126" cy="350026"/>
            </a:xfrm>
            <a:prstGeom prst="rect">
              <a:avLst/>
            </a:prstGeom>
            <a:grpFill/>
            <a:ln w="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Calibri"/>
                </a:rPr>
                <a:t>Lift Table</a:t>
              </a:r>
            </a:p>
          </p:txBody>
        </p:sp>
        <p:sp>
          <p:nvSpPr>
            <p:cNvPr id="209" name="Rectangle 115"/>
            <p:cNvSpPr/>
            <p:nvPr/>
          </p:nvSpPr>
          <p:spPr bwMode="gray">
            <a:xfrm>
              <a:off x="1052980" y="3165244"/>
              <a:ext cx="921126" cy="350026"/>
            </a:xfrm>
            <a:prstGeom prst="rect">
              <a:avLst/>
            </a:prstGeom>
            <a:grpFill/>
            <a:ln w="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Calibri"/>
                </a:rPr>
                <a:t>Confusion Matrix</a:t>
              </a:r>
            </a:p>
          </p:txBody>
        </p:sp>
        <p:sp>
          <p:nvSpPr>
            <p:cNvPr id="210" name="Rectangle 116"/>
            <p:cNvSpPr/>
            <p:nvPr/>
          </p:nvSpPr>
          <p:spPr bwMode="gray">
            <a:xfrm>
              <a:off x="1052980" y="3582843"/>
              <a:ext cx="921126" cy="350026"/>
            </a:xfrm>
            <a:prstGeom prst="rect">
              <a:avLst/>
            </a:prstGeom>
            <a:grpFill/>
            <a:ln w="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Calibri"/>
                </a:rPr>
                <a:t>R-Squared</a:t>
              </a:r>
            </a:p>
          </p:txBody>
        </p:sp>
        <p:sp>
          <p:nvSpPr>
            <p:cNvPr id="211" name="Rectangle 117"/>
            <p:cNvSpPr/>
            <p:nvPr/>
          </p:nvSpPr>
          <p:spPr bwMode="gray">
            <a:xfrm>
              <a:off x="1052980" y="4000440"/>
              <a:ext cx="921126" cy="350026"/>
            </a:xfrm>
            <a:prstGeom prst="rect">
              <a:avLst/>
            </a:prstGeom>
            <a:grpFill/>
            <a:ln w="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Calibri"/>
                </a:rPr>
                <a:t>MSE</a:t>
              </a:r>
            </a:p>
          </p:txBody>
        </p:sp>
      </p:grpSp>
      <p:grpSp>
        <p:nvGrpSpPr>
          <p:cNvPr id="212" name="Group 118"/>
          <p:cNvGrpSpPr/>
          <p:nvPr/>
        </p:nvGrpSpPr>
        <p:grpSpPr>
          <a:xfrm>
            <a:off x="10341406" y="2508830"/>
            <a:ext cx="1020610" cy="2033436"/>
            <a:chOff x="1052980" y="2334606"/>
            <a:chExt cx="921126" cy="1609664"/>
          </a:xfrm>
          <a:solidFill>
            <a:srgbClr val="074389"/>
          </a:solidFill>
        </p:grpSpPr>
        <p:sp>
          <p:nvSpPr>
            <p:cNvPr id="213" name="Rectangle 119"/>
            <p:cNvSpPr/>
            <p:nvPr/>
          </p:nvSpPr>
          <p:spPr bwMode="gray">
            <a:xfrm>
              <a:off x="1052980" y="2334606"/>
              <a:ext cx="921126" cy="350026"/>
            </a:xfrm>
            <a:prstGeom prst="rect">
              <a:avLst/>
            </a:prstGeom>
            <a:grpFill/>
            <a:ln w="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Calibri"/>
                </a:rPr>
                <a:t>In-Database Scoring</a:t>
              </a:r>
            </a:p>
          </p:txBody>
        </p:sp>
        <p:sp>
          <p:nvSpPr>
            <p:cNvPr id="214" name="Rectangle 120"/>
            <p:cNvSpPr/>
            <p:nvPr/>
          </p:nvSpPr>
          <p:spPr bwMode="gray">
            <a:xfrm>
              <a:off x="1052980" y="2754485"/>
              <a:ext cx="921126" cy="350026"/>
            </a:xfrm>
            <a:prstGeom prst="rect">
              <a:avLst/>
            </a:prstGeom>
            <a:grpFill/>
            <a:ln w="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Calibri"/>
                </a:rPr>
                <a:t>Speed</a:t>
              </a:r>
            </a:p>
          </p:txBody>
        </p:sp>
        <p:sp>
          <p:nvSpPr>
            <p:cNvPr id="215" name="Rectangle 121"/>
            <p:cNvSpPr/>
            <p:nvPr/>
          </p:nvSpPr>
          <p:spPr bwMode="gray">
            <a:xfrm>
              <a:off x="1052980" y="3174364"/>
              <a:ext cx="921126" cy="350026"/>
            </a:xfrm>
            <a:prstGeom prst="rect">
              <a:avLst/>
            </a:prstGeom>
            <a:grpFill/>
            <a:ln w="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Calibri"/>
                </a:rPr>
                <a:t>Scale</a:t>
              </a:r>
            </a:p>
          </p:txBody>
        </p:sp>
        <p:sp>
          <p:nvSpPr>
            <p:cNvPr id="216" name="Rectangle 122"/>
            <p:cNvSpPr/>
            <p:nvPr/>
          </p:nvSpPr>
          <p:spPr bwMode="gray">
            <a:xfrm>
              <a:off x="1052980" y="3594244"/>
              <a:ext cx="921126" cy="350026"/>
            </a:xfrm>
            <a:prstGeom prst="rect">
              <a:avLst/>
            </a:prstGeom>
            <a:grpFill/>
            <a:ln w="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Calibri"/>
                </a:rPr>
                <a:t>Security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61875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Simple SQL execution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715639" y="1387082"/>
            <a:ext cx="10891643" cy="9316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600" dirty="0">
                <a:solidFill>
                  <a:schemeClr val="bg1"/>
                </a:solidFill>
                <a:latin typeface="+mn-ea"/>
              </a:rPr>
              <a:t>SQL </a:t>
            </a:r>
            <a:r>
              <a:rPr lang="ko-KR" altLang="en-US" sz="1600" dirty="0">
                <a:solidFill>
                  <a:schemeClr val="bg1"/>
                </a:solidFill>
                <a:latin typeface="+mn-ea"/>
              </a:rPr>
              <a:t>로 빠르고 손쉽게 </a:t>
            </a:r>
            <a:r>
              <a:rPr lang="en-US" altLang="ko-KR" sz="1600" dirty="0">
                <a:solidFill>
                  <a:schemeClr val="bg1"/>
                </a:solidFill>
                <a:latin typeface="+mn-ea"/>
              </a:rPr>
              <a:t>Machine Learning </a:t>
            </a:r>
            <a:r>
              <a:rPr lang="ko-KR" altLang="en-US" sz="1600" dirty="0">
                <a:solidFill>
                  <a:schemeClr val="bg1"/>
                </a:solidFill>
                <a:latin typeface="+mn-ea"/>
              </a:rPr>
              <a:t>전반 프로세스를 수행할 수 있으며</a:t>
            </a:r>
            <a:r>
              <a:rPr lang="en-US" altLang="ko-KR" sz="1600" dirty="0">
                <a:solidFill>
                  <a:schemeClr val="bg1"/>
                </a:solidFill>
                <a:latin typeface="+mn-ea"/>
              </a:rPr>
              <a:t>,</a:t>
            </a:r>
          </a:p>
          <a:p>
            <a:r>
              <a:rPr lang="en-US" altLang="ko-KR" sz="1600" dirty="0">
                <a:solidFill>
                  <a:schemeClr val="bg1"/>
                </a:solidFill>
                <a:latin typeface="+mn-ea"/>
              </a:rPr>
              <a:t>Python </a:t>
            </a:r>
            <a:r>
              <a:rPr lang="ko-KR" altLang="en-US" sz="1600" dirty="0">
                <a:solidFill>
                  <a:schemeClr val="bg1"/>
                </a:solidFill>
                <a:latin typeface="+mn-ea"/>
              </a:rPr>
              <a:t>에 익숙한 데이터 과학자들을 위해 별도의 </a:t>
            </a:r>
            <a:r>
              <a:rPr lang="en-US" altLang="ko-KR" sz="1600" dirty="0">
                <a:solidFill>
                  <a:schemeClr val="bg1"/>
                </a:solidFill>
                <a:latin typeface="+mn-ea"/>
              </a:rPr>
              <a:t>Python Package(VerticaPy)</a:t>
            </a:r>
            <a:r>
              <a:rPr lang="ko-KR" altLang="en-US" sz="1600" dirty="0">
                <a:solidFill>
                  <a:schemeClr val="bg1"/>
                </a:solidFill>
                <a:latin typeface="+mn-ea"/>
              </a:rPr>
              <a:t>를 제공합니다</a:t>
            </a:r>
            <a:r>
              <a:rPr lang="en-US" altLang="ko-KR" sz="1600" dirty="0">
                <a:solidFill>
                  <a:schemeClr val="bg1"/>
                </a:solidFill>
                <a:latin typeface="+mn-ea"/>
              </a:rPr>
              <a:t>.</a:t>
            </a:r>
            <a:endParaRPr lang="ko-KR" altLang="en-US" sz="160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90" name="Picture 3">
            <a:extLst>
              <a:ext uri="{FF2B5EF4-FFF2-40B4-BE49-F238E27FC236}">
                <a16:creationId xmlns="" xmlns:a16="http://schemas.microsoft.com/office/drawing/2014/main" id="{77F8F951-2478-491A-8516-ACC41D223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437" y="2235997"/>
            <a:ext cx="9089174" cy="3662267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10276386" y="6378397"/>
            <a:ext cx="306355" cy="249385"/>
          </a:xfrm>
        </p:spPr>
        <p:txBody>
          <a:bodyPr/>
          <a:lstStyle/>
          <a:p>
            <a:fld id="{AFA02C0B-84B5-4CD2-A6CE-C6BD7D6F9045}" type="slidenum">
              <a:rPr lang="ko-KR" altLang="en-US" smtClean="0">
                <a:solidFill>
                  <a:schemeClr val="tx1"/>
                </a:solidFill>
              </a:rPr>
              <a:t>36</a:t>
            </a:fld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10984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버티카 </a:t>
            </a:r>
            <a:r>
              <a:rPr lang="en-US" altLang="ko-KR" dirty="0">
                <a:latin typeface="+mj-ea"/>
                <a:ea typeface="+mj-ea"/>
              </a:rPr>
              <a:t>In-DB Machine Learning</a:t>
            </a:r>
            <a:r>
              <a:rPr lang="ko-KR" altLang="en-US" dirty="0">
                <a:latin typeface="+mj-ea"/>
                <a:ea typeface="+mj-ea"/>
              </a:rPr>
              <a:t>의 장점</a:t>
            </a:r>
          </a:p>
        </p:txBody>
      </p:sp>
      <p:sp>
        <p:nvSpPr>
          <p:cNvPr id="89" name="직사각형 88"/>
          <p:cNvSpPr/>
          <p:nvPr/>
        </p:nvSpPr>
        <p:spPr>
          <a:xfrm>
            <a:off x="715639" y="1387082"/>
            <a:ext cx="11282025" cy="9316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600" dirty="0">
                <a:solidFill>
                  <a:schemeClr val="bg1"/>
                </a:solidFill>
                <a:latin typeface="+mn-ea"/>
                <a:cs typeface="Pretendard Variable Medium" panose="02000003000000020004" pitchFamily="2" charset="-127"/>
              </a:rPr>
              <a:t>버티카 </a:t>
            </a:r>
            <a:r>
              <a:rPr lang="en-US" altLang="ko-KR" sz="1600" dirty="0">
                <a:solidFill>
                  <a:schemeClr val="bg1"/>
                </a:solidFill>
                <a:latin typeface="+mn-ea"/>
                <a:cs typeface="Pretendard Variable Medium" panose="02000003000000020004" pitchFamily="2" charset="-127"/>
              </a:rPr>
              <a:t>In-DB Machine Learning </a:t>
            </a:r>
            <a:r>
              <a:rPr lang="ko-KR" altLang="en-US" sz="1600" dirty="0">
                <a:solidFill>
                  <a:schemeClr val="bg1"/>
                </a:solidFill>
                <a:latin typeface="+mn-ea"/>
                <a:cs typeface="Pretendard Variable Medium" panose="02000003000000020004" pitchFamily="2" charset="-127"/>
              </a:rPr>
              <a:t>은 데이터 과학자 및 분석가가 데이터와 상호 작용하는 방식을 근본적으로 변화시킵니다</a:t>
            </a:r>
            <a:r>
              <a:rPr lang="en-US" altLang="ko-KR" sz="1600" dirty="0">
                <a:solidFill>
                  <a:schemeClr val="bg1"/>
                </a:solidFill>
                <a:latin typeface="+mn-ea"/>
                <a:cs typeface="Pretendard Variable Medium" panose="02000003000000020004" pitchFamily="2" charset="-127"/>
              </a:rPr>
              <a:t>.</a:t>
            </a:r>
            <a:endParaRPr lang="ko-KR" altLang="en-US" sz="1600" dirty="0">
              <a:solidFill>
                <a:schemeClr val="bg1"/>
              </a:solidFill>
              <a:latin typeface="+mn-ea"/>
              <a:cs typeface="Pretendard Variable Medium" panose="02000003000000020004" pitchFamily="2" charset="-127"/>
            </a:endParaRPr>
          </a:p>
        </p:txBody>
      </p:sp>
      <p:grpSp>
        <p:nvGrpSpPr>
          <p:cNvPr id="23" name="그룹 22"/>
          <p:cNvGrpSpPr/>
          <p:nvPr/>
        </p:nvGrpSpPr>
        <p:grpSpPr>
          <a:xfrm>
            <a:off x="1537276" y="2189066"/>
            <a:ext cx="2962851" cy="3681926"/>
            <a:chOff x="1574600" y="2189066"/>
            <a:chExt cx="2962851" cy="3681926"/>
          </a:xfrm>
        </p:grpSpPr>
        <p:sp>
          <p:nvSpPr>
            <p:cNvPr id="5" name="TextBox 4"/>
            <p:cNvSpPr txBox="1"/>
            <p:nvPr/>
          </p:nvSpPr>
          <p:spPr>
            <a:xfrm>
              <a:off x="2498020" y="2189066"/>
              <a:ext cx="1116011" cy="553998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spAutoFit/>
            </a:bodyPr>
            <a:lstStyle/>
            <a:p>
              <a:pPr algn="ctr"/>
              <a:r>
                <a:rPr lang="en-GB" sz="3000" b="1" dirty="0">
                  <a:solidFill>
                    <a:schemeClr val="accent2">
                      <a:lumMod val="75000"/>
                    </a:schemeClr>
                  </a:solidFill>
                  <a:latin typeface="+mj-lt"/>
                  <a:ea typeface="Roboto Light" charset="0"/>
                  <a:cs typeface="Roboto Light" charset="0"/>
                </a:rPr>
                <a:t>Scale</a:t>
              </a:r>
              <a:endParaRPr lang="en-US" sz="3000" b="1" dirty="0">
                <a:solidFill>
                  <a:schemeClr val="accent2">
                    <a:lumMod val="75000"/>
                  </a:schemeClr>
                </a:solidFill>
                <a:latin typeface="+mj-lt"/>
                <a:ea typeface="Roboto Light" charset="0"/>
                <a:cs typeface="Roboto Light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574600" y="4855329"/>
              <a:ext cx="2962851" cy="1015663"/>
            </a:xfrm>
            <a:prstGeom prst="rect">
              <a:avLst/>
            </a:prstGeom>
          </p:spPr>
          <p:txBody>
            <a:bodyPr vert="horz" wrap="square" lIns="91440" tIns="45720" rIns="91440" bIns="45720" rtlCol="0" anchor="t" anchorCtr="0">
              <a:spAutoFit/>
            </a:bodyPr>
            <a:lstStyle/>
            <a:p>
              <a:pPr algn="ctr"/>
              <a:r>
                <a:rPr lang="ko-KR" altLang="en-US" sz="1500" b="1" dirty="0">
                  <a:solidFill>
                    <a:schemeClr val="bg1"/>
                  </a:solidFill>
                  <a:latin typeface="+mn-ea"/>
                </a:rPr>
                <a:t>쉬운 </a:t>
              </a:r>
              <a:r>
                <a:rPr lang="en-US" altLang="ko-KR" sz="1500" b="1" dirty="0">
                  <a:solidFill>
                    <a:schemeClr val="bg1"/>
                  </a:solidFill>
                  <a:latin typeface="+mn-ea"/>
                </a:rPr>
                <a:t>SQL </a:t>
              </a:r>
              <a:r>
                <a:rPr lang="ko-KR" altLang="en-US" sz="1500" b="1" dirty="0">
                  <a:solidFill>
                    <a:schemeClr val="bg1"/>
                  </a:solidFill>
                  <a:latin typeface="+mn-ea"/>
                </a:rPr>
                <a:t>문법으로 </a:t>
              </a:r>
              <a:endParaRPr lang="en-US" altLang="ko-KR" sz="1500" b="1" dirty="0">
                <a:solidFill>
                  <a:schemeClr val="bg1"/>
                </a:solidFill>
                <a:latin typeface="+mn-ea"/>
              </a:endParaRPr>
            </a:p>
            <a:p>
              <a:pPr algn="ctr"/>
              <a:r>
                <a:rPr lang="ko-KR" altLang="en-US" sz="1500" b="1" dirty="0">
                  <a:solidFill>
                    <a:schemeClr val="bg1"/>
                  </a:solidFill>
                  <a:latin typeface="+mn-ea"/>
                </a:rPr>
                <a:t>더 많은 사용자들이 </a:t>
              </a:r>
              <a:endParaRPr lang="en-US" altLang="ko-KR" sz="1500" b="1" dirty="0">
                <a:solidFill>
                  <a:schemeClr val="bg1"/>
                </a:solidFill>
                <a:latin typeface="+mn-ea"/>
              </a:endParaRPr>
            </a:p>
            <a:p>
              <a:pPr algn="ctr"/>
              <a:r>
                <a:rPr lang="ko-KR" altLang="en-US" sz="1500" b="1" dirty="0">
                  <a:solidFill>
                    <a:schemeClr val="bg1"/>
                  </a:solidFill>
                  <a:latin typeface="+mn-ea"/>
                </a:rPr>
                <a:t>더 많은 데이터에 대해 머신러닝을 수행 가능</a:t>
              </a:r>
              <a:endParaRPr lang="en-US" sz="15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849922" y="2717817"/>
              <a:ext cx="2412206" cy="553998"/>
            </a:xfrm>
            <a:prstGeom prst="rect">
              <a:avLst/>
            </a:prstGeom>
          </p:spPr>
          <p:txBody>
            <a:bodyPr vert="horz" wrap="square" lIns="91440" tIns="45720" rIns="91440" bIns="45720" rtlCol="0" anchor="t" anchorCtr="0">
              <a:spAutoFit/>
            </a:bodyPr>
            <a:lstStyle/>
            <a:p>
              <a:pPr algn="ctr"/>
              <a:r>
                <a:rPr lang="ko-KR" altLang="en-US" sz="1500" b="1" dirty="0">
                  <a:solidFill>
                    <a:schemeClr val="bg1"/>
                  </a:solidFill>
                  <a:latin typeface="+mn-ea"/>
                  <a:cs typeface="Roboto Light" charset="0"/>
                </a:rPr>
                <a:t>더 많은 어플리케이션들이</a:t>
              </a:r>
              <a:endParaRPr lang="en-GB" altLang="ko-KR" sz="1500" b="1" dirty="0">
                <a:solidFill>
                  <a:schemeClr val="bg1"/>
                </a:solidFill>
                <a:latin typeface="+mn-ea"/>
                <a:cs typeface="Roboto Light" charset="0"/>
              </a:endParaRPr>
            </a:p>
            <a:p>
              <a:pPr algn="ctr"/>
              <a:r>
                <a:rPr lang="ko-KR" altLang="en-US" sz="1500" b="1" dirty="0">
                  <a:solidFill>
                    <a:schemeClr val="bg1"/>
                  </a:solidFill>
                  <a:latin typeface="+mn-ea"/>
                  <a:cs typeface="Roboto Light" charset="0"/>
                </a:rPr>
                <a:t>예측분석 업무로 확장</a:t>
              </a:r>
              <a:endParaRPr lang="en-US" sz="1500" b="1" dirty="0">
                <a:solidFill>
                  <a:schemeClr val="bg1"/>
                </a:solidFill>
                <a:latin typeface="+mn-ea"/>
                <a:cs typeface="Roboto Light" charset="0"/>
              </a:endParaRPr>
            </a:p>
          </p:txBody>
        </p:sp>
        <p:grpSp>
          <p:nvGrpSpPr>
            <p:cNvPr id="8" name="Group 24"/>
            <p:cNvGrpSpPr/>
            <p:nvPr/>
          </p:nvGrpSpPr>
          <p:grpSpPr>
            <a:xfrm>
              <a:off x="2504469" y="3582458"/>
              <a:ext cx="1103112" cy="1103112"/>
              <a:chOff x="3988406" y="4741211"/>
              <a:chExt cx="303839" cy="303839"/>
            </a:xfrm>
            <a:solidFill>
              <a:schemeClr val="bg1"/>
            </a:solidFill>
          </p:grpSpPr>
          <p:sp>
            <p:nvSpPr>
              <p:cNvPr id="9" name="Freeform 104"/>
              <p:cNvSpPr>
                <a:spLocks noChangeArrowheads="1"/>
              </p:cNvSpPr>
              <p:nvPr/>
            </p:nvSpPr>
            <p:spPr bwMode="auto">
              <a:xfrm>
                <a:off x="3988406" y="4741211"/>
                <a:ext cx="303839" cy="303839"/>
              </a:xfrm>
              <a:custGeom>
                <a:avLst/>
                <a:gdLst>
                  <a:gd name="T0" fmla="*/ 712 w 725"/>
                  <a:gd name="T1" fmla="*/ 618 h 724"/>
                  <a:gd name="T2" fmla="*/ 712 w 725"/>
                  <a:gd name="T3" fmla="*/ 618 h 724"/>
                  <a:gd name="T4" fmla="*/ 105 w 725"/>
                  <a:gd name="T5" fmla="*/ 618 h 724"/>
                  <a:gd name="T6" fmla="*/ 105 w 725"/>
                  <a:gd name="T7" fmla="*/ 12 h 724"/>
                  <a:gd name="T8" fmla="*/ 94 w 725"/>
                  <a:gd name="T9" fmla="*/ 0 h 724"/>
                  <a:gd name="T10" fmla="*/ 82 w 725"/>
                  <a:gd name="T11" fmla="*/ 12 h 724"/>
                  <a:gd name="T12" fmla="*/ 82 w 725"/>
                  <a:gd name="T13" fmla="*/ 618 h 724"/>
                  <a:gd name="T14" fmla="*/ 13 w 725"/>
                  <a:gd name="T15" fmla="*/ 618 h 724"/>
                  <a:gd name="T16" fmla="*/ 0 w 725"/>
                  <a:gd name="T17" fmla="*/ 631 h 724"/>
                  <a:gd name="T18" fmla="*/ 13 w 725"/>
                  <a:gd name="T19" fmla="*/ 642 h 724"/>
                  <a:gd name="T20" fmla="*/ 82 w 725"/>
                  <a:gd name="T21" fmla="*/ 642 h 724"/>
                  <a:gd name="T22" fmla="*/ 82 w 725"/>
                  <a:gd name="T23" fmla="*/ 712 h 724"/>
                  <a:gd name="T24" fmla="*/ 94 w 725"/>
                  <a:gd name="T25" fmla="*/ 723 h 724"/>
                  <a:gd name="T26" fmla="*/ 105 w 725"/>
                  <a:gd name="T27" fmla="*/ 712 h 724"/>
                  <a:gd name="T28" fmla="*/ 105 w 725"/>
                  <a:gd name="T29" fmla="*/ 642 h 724"/>
                  <a:gd name="T30" fmla="*/ 712 w 725"/>
                  <a:gd name="T31" fmla="*/ 642 h 724"/>
                  <a:gd name="T32" fmla="*/ 724 w 725"/>
                  <a:gd name="T33" fmla="*/ 631 h 724"/>
                  <a:gd name="T34" fmla="*/ 712 w 725"/>
                  <a:gd name="T35" fmla="*/ 618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25" h="724">
                    <a:moveTo>
                      <a:pt x="712" y="618"/>
                    </a:moveTo>
                    <a:lnTo>
                      <a:pt x="712" y="618"/>
                    </a:lnTo>
                    <a:cubicBezTo>
                      <a:pt x="105" y="618"/>
                      <a:pt x="105" y="618"/>
                      <a:pt x="105" y="618"/>
                    </a:cubicBezTo>
                    <a:cubicBezTo>
                      <a:pt x="105" y="12"/>
                      <a:pt x="105" y="12"/>
                      <a:pt x="105" y="12"/>
                    </a:cubicBezTo>
                    <a:cubicBezTo>
                      <a:pt x="105" y="5"/>
                      <a:pt x="100" y="0"/>
                      <a:pt x="94" y="0"/>
                    </a:cubicBezTo>
                    <a:cubicBezTo>
                      <a:pt x="87" y="0"/>
                      <a:pt x="82" y="5"/>
                      <a:pt x="82" y="12"/>
                    </a:cubicBezTo>
                    <a:cubicBezTo>
                      <a:pt x="82" y="618"/>
                      <a:pt x="82" y="618"/>
                      <a:pt x="82" y="618"/>
                    </a:cubicBezTo>
                    <a:cubicBezTo>
                      <a:pt x="13" y="618"/>
                      <a:pt x="13" y="618"/>
                      <a:pt x="13" y="618"/>
                    </a:cubicBezTo>
                    <a:cubicBezTo>
                      <a:pt x="5" y="618"/>
                      <a:pt x="0" y="623"/>
                      <a:pt x="0" y="631"/>
                    </a:cubicBezTo>
                    <a:cubicBezTo>
                      <a:pt x="0" y="637"/>
                      <a:pt x="5" y="642"/>
                      <a:pt x="13" y="642"/>
                    </a:cubicBezTo>
                    <a:cubicBezTo>
                      <a:pt x="82" y="642"/>
                      <a:pt x="82" y="642"/>
                      <a:pt x="82" y="642"/>
                    </a:cubicBezTo>
                    <a:cubicBezTo>
                      <a:pt x="82" y="712"/>
                      <a:pt x="82" y="712"/>
                      <a:pt x="82" y="712"/>
                    </a:cubicBezTo>
                    <a:cubicBezTo>
                      <a:pt x="82" y="718"/>
                      <a:pt x="87" y="723"/>
                      <a:pt x="94" y="723"/>
                    </a:cubicBezTo>
                    <a:cubicBezTo>
                      <a:pt x="100" y="723"/>
                      <a:pt x="105" y="718"/>
                      <a:pt x="105" y="712"/>
                    </a:cubicBezTo>
                    <a:cubicBezTo>
                      <a:pt x="105" y="642"/>
                      <a:pt x="105" y="642"/>
                      <a:pt x="105" y="642"/>
                    </a:cubicBezTo>
                    <a:cubicBezTo>
                      <a:pt x="712" y="642"/>
                      <a:pt x="712" y="642"/>
                      <a:pt x="712" y="642"/>
                    </a:cubicBezTo>
                    <a:cubicBezTo>
                      <a:pt x="718" y="642"/>
                      <a:pt x="724" y="637"/>
                      <a:pt x="724" y="631"/>
                    </a:cubicBezTo>
                    <a:cubicBezTo>
                      <a:pt x="724" y="623"/>
                      <a:pt x="718" y="618"/>
                      <a:pt x="712" y="618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125"/>
              </a:p>
            </p:txBody>
          </p:sp>
          <p:sp>
            <p:nvSpPr>
              <p:cNvPr id="10" name="Freeform 105"/>
              <p:cNvSpPr>
                <a:spLocks noChangeArrowheads="1"/>
              </p:cNvSpPr>
              <p:nvPr/>
            </p:nvSpPr>
            <p:spPr bwMode="auto">
              <a:xfrm>
                <a:off x="4051397" y="4765297"/>
                <a:ext cx="218616" cy="218616"/>
              </a:xfrm>
              <a:custGeom>
                <a:avLst/>
                <a:gdLst>
                  <a:gd name="T0" fmla="*/ 11 w 521"/>
                  <a:gd name="T1" fmla="*/ 518 h 519"/>
                  <a:gd name="T2" fmla="*/ 11 w 521"/>
                  <a:gd name="T3" fmla="*/ 518 h 519"/>
                  <a:gd name="T4" fmla="*/ 520 w 521"/>
                  <a:gd name="T5" fmla="*/ 11 h 519"/>
                  <a:gd name="T6" fmla="*/ 508 w 521"/>
                  <a:gd name="T7" fmla="*/ 0 h 519"/>
                  <a:gd name="T8" fmla="*/ 496 w 521"/>
                  <a:gd name="T9" fmla="*/ 11 h 519"/>
                  <a:gd name="T10" fmla="*/ 11 w 521"/>
                  <a:gd name="T11" fmla="*/ 495 h 519"/>
                  <a:gd name="T12" fmla="*/ 0 w 521"/>
                  <a:gd name="T13" fmla="*/ 507 h 519"/>
                  <a:gd name="T14" fmla="*/ 11 w 521"/>
                  <a:gd name="T15" fmla="*/ 518 h 5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21" h="519">
                    <a:moveTo>
                      <a:pt x="11" y="518"/>
                    </a:moveTo>
                    <a:lnTo>
                      <a:pt x="11" y="518"/>
                    </a:lnTo>
                    <a:cubicBezTo>
                      <a:pt x="292" y="518"/>
                      <a:pt x="520" y="291"/>
                      <a:pt x="520" y="11"/>
                    </a:cubicBezTo>
                    <a:cubicBezTo>
                      <a:pt x="520" y="5"/>
                      <a:pt x="514" y="0"/>
                      <a:pt x="508" y="0"/>
                    </a:cubicBezTo>
                    <a:cubicBezTo>
                      <a:pt x="502" y="0"/>
                      <a:pt x="496" y="5"/>
                      <a:pt x="496" y="11"/>
                    </a:cubicBezTo>
                    <a:cubicBezTo>
                      <a:pt x="496" y="278"/>
                      <a:pt x="279" y="495"/>
                      <a:pt x="11" y="495"/>
                    </a:cubicBezTo>
                    <a:cubicBezTo>
                      <a:pt x="5" y="495"/>
                      <a:pt x="0" y="501"/>
                      <a:pt x="0" y="507"/>
                    </a:cubicBezTo>
                    <a:cubicBezTo>
                      <a:pt x="0" y="513"/>
                      <a:pt x="5" y="518"/>
                      <a:pt x="11" y="518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125"/>
              </a:p>
            </p:txBody>
          </p:sp>
        </p:grpSp>
      </p:grpSp>
      <p:grpSp>
        <p:nvGrpSpPr>
          <p:cNvPr id="4" name="그룹 3"/>
          <p:cNvGrpSpPr/>
          <p:nvPr/>
        </p:nvGrpSpPr>
        <p:grpSpPr>
          <a:xfrm>
            <a:off x="7727759" y="2189066"/>
            <a:ext cx="3522388" cy="3681926"/>
            <a:chOff x="8334252" y="2189066"/>
            <a:chExt cx="3522388" cy="3681926"/>
          </a:xfrm>
        </p:grpSpPr>
        <p:sp>
          <p:nvSpPr>
            <p:cNvPr id="12" name="TextBox 11"/>
            <p:cNvSpPr txBox="1"/>
            <p:nvPr/>
          </p:nvSpPr>
          <p:spPr>
            <a:xfrm>
              <a:off x="9186383" y="2189066"/>
              <a:ext cx="1818126" cy="553998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spAutoFit/>
            </a:bodyPr>
            <a:lstStyle/>
            <a:p>
              <a:pPr algn="ctr"/>
              <a:r>
                <a:rPr lang="en-GB" altLang="ko-KR" sz="3000" b="1" dirty="0">
                  <a:solidFill>
                    <a:schemeClr val="accent2">
                      <a:lumMod val="75000"/>
                    </a:schemeClr>
                  </a:solidFill>
                  <a:latin typeface="+mj-lt"/>
                  <a:ea typeface="Roboto Light" charset="0"/>
                </a:rPr>
                <a:t>Accuracy</a:t>
              </a:r>
              <a:endParaRPr lang="en-US" sz="3000" b="1" dirty="0">
                <a:solidFill>
                  <a:schemeClr val="accent2">
                    <a:lumMod val="75000"/>
                  </a:schemeClr>
                </a:solidFill>
                <a:latin typeface="+mj-lt"/>
                <a:ea typeface="Roboto Light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334252" y="4855329"/>
              <a:ext cx="3522388" cy="1015663"/>
            </a:xfrm>
            <a:prstGeom prst="rect">
              <a:avLst/>
            </a:prstGeom>
          </p:spPr>
          <p:txBody>
            <a:bodyPr vert="horz" wrap="square" lIns="91440" tIns="45720" rIns="91440" bIns="45720" rtlCol="0" anchor="t" anchorCtr="0">
              <a:spAutoFit/>
            </a:bodyPr>
            <a:lstStyle/>
            <a:p>
              <a:pPr algn="ctr"/>
              <a:r>
                <a:rPr lang="ko-KR" altLang="en-US" sz="1500" b="1" dirty="0">
                  <a:solidFill>
                    <a:schemeClr val="bg1"/>
                  </a:solidFill>
                  <a:latin typeface="+mn-ea"/>
                </a:rPr>
                <a:t>샘플링 된 데이터가 아닌</a:t>
              </a:r>
              <a:r>
                <a:rPr lang="en-US" altLang="ko-KR" sz="1500" b="1" dirty="0">
                  <a:solidFill>
                    <a:schemeClr val="bg1"/>
                  </a:solidFill>
                  <a:latin typeface="+mn-ea"/>
                </a:rPr>
                <a:t/>
              </a:r>
              <a:br>
                <a:rPr lang="en-US" altLang="ko-KR" sz="1500" b="1" dirty="0">
                  <a:solidFill>
                    <a:schemeClr val="bg1"/>
                  </a:solidFill>
                  <a:latin typeface="+mn-ea"/>
                </a:rPr>
              </a:br>
              <a:r>
                <a:rPr lang="ko-KR" altLang="en-US" sz="1500" b="1" dirty="0">
                  <a:solidFill>
                    <a:schemeClr val="bg1"/>
                  </a:solidFill>
                  <a:latin typeface="+mn-ea"/>
                </a:rPr>
                <a:t>전수 데이터에 대해</a:t>
              </a:r>
              <a:r>
                <a:rPr lang="en-US" altLang="ko-KR" sz="1500" b="1" dirty="0">
                  <a:solidFill>
                    <a:schemeClr val="bg1"/>
                  </a:solidFill>
                  <a:latin typeface="+mn-ea"/>
                </a:rPr>
                <a:t/>
              </a:r>
              <a:br>
                <a:rPr lang="en-US" altLang="ko-KR" sz="1500" b="1" dirty="0">
                  <a:solidFill>
                    <a:schemeClr val="bg1"/>
                  </a:solidFill>
                  <a:latin typeface="+mn-ea"/>
                </a:rPr>
              </a:br>
              <a:r>
                <a:rPr lang="ko-KR" altLang="en-US" sz="1500" b="1" dirty="0">
                  <a:solidFill>
                    <a:schemeClr val="bg1"/>
                  </a:solidFill>
                  <a:latin typeface="+mn-ea"/>
                </a:rPr>
                <a:t>지속적인 학습 수행으로</a:t>
              </a:r>
              <a:r>
                <a:rPr lang="en-US" altLang="ko-KR" sz="1500" b="1" dirty="0">
                  <a:solidFill>
                    <a:schemeClr val="bg1"/>
                  </a:solidFill>
                  <a:latin typeface="+mn-ea"/>
                </a:rPr>
                <a:t/>
              </a:r>
              <a:br>
                <a:rPr lang="en-US" altLang="ko-KR" sz="1500" b="1" dirty="0">
                  <a:solidFill>
                    <a:schemeClr val="bg1"/>
                  </a:solidFill>
                  <a:latin typeface="+mn-ea"/>
                </a:rPr>
              </a:br>
              <a:r>
                <a:rPr lang="ko-KR" altLang="en-US" sz="1500" b="1" dirty="0">
                  <a:solidFill>
                    <a:schemeClr val="bg1"/>
                  </a:solidFill>
                  <a:latin typeface="+mn-ea"/>
                </a:rPr>
                <a:t>높은 정확도 보장</a:t>
              </a:r>
              <a:endParaRPr lang="en-US" sz="15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973985" y="2717817"/>
              <a:ext cx="2242922" cy="553998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spAutoFit/>
            </a:bodyPr>
            <a:lstStyle/>
            <a:p>
              <a:pPr algn="ctr"/>
              <a:r>
                <a:rPr lang="ko-KR" altLang="en-US" sz="1500" b="1" dirty="0">
                  <a:solidFill>
                    <a:schemeClr val="bg1"/>
                  </a:solidFill>
                  <a:latin typeface="+mn-ea"/>
                </a:rPr>
                <a:t>지속 가능하게 정확도를</a:t>
              </a:r>
              <a:endParaRPr lang="en-US" altLang="ko-KR" sz="1500" b="1" dirty="0">
                <a:solidFill>
                  <a:schemeClr val="bg1"/>
                </a:solidFill>
                <a:latin typeface="+mn-ea"/>
              </a:endParaRPr>
            </a:p>
            <a:p>
              <a:pPr algn="ctr"/>
              <a:r>
                <a:rPr lang="ko-KR" altLang="en-US" sz="1500" b="1" dirty="0">
                  <a:solidFill>
                    <a:schemeClr val="bg1"/>
                  </a:solidFill>
                  <a:latin typeface="+mn-ea"/>
                </a:rPr>
                <a:t>높이는 반복 학습 수행</a:t>
              </a:r>
              <a:endParaRPr lang="en-US" sz="15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7" name="Freeform 225"/>
            <p:cNvSpPr>
              <a:spLocks noChangeArrowheads="1"/>
            </p:cNvSpPr>
            <p:nvPr/>
          </p:nvSpPr>
          <p:spPr bwMode="auto">
            <a:xfrm>
              <a:off x="9535514" y="3563796"/>
              <a:ext cx="1119864" cy="1119870"/>
            </a:xfrm>
            <a:custGeom>
              <a:avLst/>
              <a:gdLst>
                <a:gd name="T0" fmla="*/ 11 w 756"/>
                <a:gd name="T1" fmla="*/ 388 h 754"/>
                <a:gd name="T2" fmla="*/ 11 w 756"/>
                <a:gd name="T3" fmla="*/ 388 h 754"/>
                <a:gd name="T4" fmla="*/ 49 w 756"/>
                <a:gd name="T5" fmla="*/ 388 h 754"/>
                <a:gd name="T6" fmla="*/ 365 w 756"/>
                <a:gd name="T7" fmla="*/ 705 h 754"/>
                <a:gd name="T8" fmla="*/ 365 w 756"/>
                <a:gd name="T9" fmla="*/ 742 h 754"/>
                <a:gd name="T10" fmla="*/ 377 w 756"/>
                <a:gd name="T11" fmla="*/ 753 h 754"/>
                <a:gd name="T12" fmla="*/ 389 w 756"/>
                <a:gd name="T13" fmla="*/ 742 h 754"/>
                <a:gd name="T14" fmla="*/ 389 w 756"/>
                <a:gd name="T15" fmla="*/ 705 h 754"/>
                <a:gd name="T16" fmla="*/ 706 w 756"/>
                <a:gd name="T17" fmla="*/ 388 h 754"/>
                <a:gd name="T18" fmla="*/ 742 w 756"/>
                <a:gd name="T19" fmla="*/ 388 h 754"/>
                <a:gd name="T20" fmla="*/ 755 w 756"/>
                <a:gd name="T21" fmla="*/ 376 h 754"/>
                <a:gd name="T22" fmla="*/ 742 w 756"/>
                <a:gd name="T23" fmla="*/ 365 h 754"/>
                <a:gd name="T24" fmla="*/ 706 w 756"/>
                <a:gd name="T25" fmla="*/ 365 h 754"/>
                <a:gd name="T26" fmla="*/ 389 w 756"/>
                <a:gd name="T27" fmla="*/ 48 h 754"/>
                <a:gd name="T28" fmla="*/ 389 w 756"/>
                <a:gd name="T29" fmla="*/ 11 h 754"/>
                <a:gd name="T30" fmla="*/ 377 w 756"/>
                <a:gd name="T31" fmla="*/ 0 h 754"/>
                <a:gd name="T32" fmla="*/ 365 w 756"/>
                <a:gd name="T33" fmla="*/ 11 h 754"/>
                <a:gd name="T34" fmla="*/ 365 w 756"/>
                <a:gd name="T35" fmla="*/ 48 h 754"/>
                <a:gd name="T36" fmla="*/ 49 w 756"/>
                <a:gd name="T37" fmla="*/ 365 h 754"/>
                <a:gd name="T38" fmla="*/ 11 w 756"/>
                <a:gd name="T39" fmla="*/ 365 h 754"/>
                <a:gd name="T40" fmla="*/ 0 w 756"/>
                <a:gd name="T41" fmla="*/ 376 h 754"/>
                <a:gd name="T42" fmla="*/ 11 w 756"/>
                <a:gd name="T43" fmla="*/ 388 h 754"/>
                <a:gd name="T44" fmla="*/ 389 w 756"/>
                <a:gd name="T45" fmla="*/ 71 h 754"/>
                <a:gd name="T46" fmla="*/ 389 w 756"/>
                <a:gd name="T47" fmla="*/ 71 h 754"/>
                <a:gd name="T48" fmla="*/ 683 w 756"/>
                <a:gd name="T49" fmla="*/ 365 h 754"/>
                <a:gd name="T50" fmla="*/ 389 w 756"/>
                <a:gd name="T51" fmla="*/ 365 h 754"/>
                <a:gd name="T52" fmla="*/ 389 w 756"/>
                <a:gd name="T53" fmla="*/ 71 h 754"/>
                <a:gd name="T54" fmla="*/ 389 w 756"/>
                <a:gd name="T55" fmla="*/ 388 h 754"/>
                <a:gd name="T56" fmla="*/ 389 w 756"/>
                <a:gd name="T57" fmla="*/ 388 h 754"/>
                <a:gd name="T58" fmla="*/ 683 w 756"/>
                <a:gd name="T59" fmla="*/ 388 h 754"/>
                <a:gd name="T60" fmla="*/ 389 w 756"/>
                <a:gd name="T61" fmla="*/ 681 h 754"/>
                <a:gd name="T62" fmla="*/ 389 w 756"/>
                <a:gd name="T63" fmla="*/ 388 h 754"/>
                <a:gd name="T64" fmla="*/ 365 w 756"/>
                <a:gd name="T65" fmla="*/ 71 h 754"/>
                <a:gd name="T66" fmla="*/ 365 w 756"/>
                <a:gd name="T67" fmla="*/ 71 h 754"/>
                <a:gd name="T68" fmla="*/ 365 w 756"/>
                <a:gd name="T69" fmla="*/ 365 h 754"/>
                <a:gd name="T70" fmla="*/ 72 w 756"/>
                <a:gd name="T71" fmla="*/ 365 h 754"/>
                <a:gd name="T72" fmla="*/ 365 w 756"/>
                <a:gd name="T73" fmla="*/ 71 h 754"/>
                <a:gd name="T74" fmla="*/ 365 w 756"/>
                <a:gd name="T75" fmla="*/ 388 h 754"/>
                <a:gd name="T76" fmla="*/ 365 w 756"/>
                <a:gd name="T77" fmla="*/ 388 h 754"/>
                <a:gd name="T78" fmla="*/ 365 w 756"/>
                <a:gd name="T79" fmla="*/ 681 h 754"/>
                <a:gd name="T80" fmla="*/ 72 w 756"/>
                <a:gd name="T81" fmla="*/ 388 h 754"/>
                <a:gd name="T82" fmla="*/ 365 w 756"/>
                <a:gd name="T83" fmla="*/ 388 h 7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756" h="754">
                  <a:moveTo>
                    <a:pt x="11" y="388"/>
                  </a:moveTo>
                  <a:lnTo>
                    <a:pt x="11" y="388"/>
                  </a:lnTo>
                  <a:cubicBezTo>
                    <a:pt x="49" y="388"/>
                    <a:pt x="49" y="388"/>
                    <a:pt x="49" y="388"/>
                  </a:cubicBezTo>
                  <a:cubicBezTo>
                    <a:pt x="55" y="561"/>
                    <a:pt x="193" y="699"/>
                    <a:pt x="365" y="705"/>
                  </a:cubicBezTo>
                  <a:cubicBezTo>
                    <a:pt x="365" y="742"/>
                    <a:pt x="365" y="742"/>
                    <a:pt x="365" y="742"/>
                  </a:cubicBezTo>
                  <a:cubicBezTo>
                    <a:pt x="365" y="748"/>
                    <a:pt x="370" y="753"/>
                    <a:pt x="377" y="753"/>
                  </a:cubicBezTo>
                  <a:cubicBezTo>
                    <a:pt x="384" y="753"/>
                    <a:pt x="389" y="748"/>
                    <a:pt x="389" y="742"/>
                  </a:cubicBezTo>
                  <a:cubicBezTo>
                    <a:pt x="389" y="705"/>
                    <a:pt x="389" y="705"/>
                    <a:pt x="389" y="705"/>
                  </a:cubicBezTo>
                  <a:cubicBezTo>
                    <a:pt x="561" y="699"/>
                    <a:pt x="699" y="561"/>
                    <a:pt x="706" y="388"/>
                  </a:cubicBezTo>
                  <a:cubicBezTo>
                    <a:pt x="742" y="388"/>
                    <a:pt x="742" y="388"/>
                    <a:pt x="742" y="388"/>
                  </a:cubicBezTo>
                  <a:cubicBezTo>
                    <a:pt x="749" y="388"/>
                    <a:pt x="755" y="383"/>
                    <a:pt x="755" y="376"/>
                  </a:cubicBezTo>
                  <a:cubicBezTo>
                    <a:pt x="755" y="370"/>
                    <a:pt x="749" y="365"/>
                    <a:pt x="742" y="365"/>
                  </a:cubicBezTo>
                  <a:cubicBezTo>
                    <a:pt x="706" y="365"/>
                    <a:pt x="706" y="365"/>
                    <a:pt x="706" y="365"/>
                  </a:cubicBezTo>
                  <a:cubicBezTo>
                    <a:pt x="699" y="193"/>
                    <a:pt x="561" y="54"/>
                    <a:pt x="389" y="48"/>
                  </a:cubicBezTo>
                  <a:cubicBezTo>
                    <a:pt x="389" y="11"/>
                    <a:pt x="389" y="11"/>
                    <a:pt x="389" y="11"/>
                  </a:cubicBezTo>
                  <a:cubicBezTo>
                    <a:pt x="389" y="5"/>
                    <a:pt x="384" y="0"/>
                    <a:pt x="377" y="0"/>
                  </a:cubicBezTo>
                  <a:cubicBezTo>
                    <a:pt x="370" y="0"/>
                    <a:pt x="365" y="5"/>
                    <a:pt x="365" y="11"/>
                  </a:cubicBezTo>
                  <a:cubicBezTo>
                    <a:pt x="365" y="48"/>
                    <a:pt x="365" y="48"/>
                    <a:pt x="365" y="48"/>
                  </a:cubicBezTo>
                  <a:cubicBezTo>
                    <a:pt x="193" y="54"/>
                    <a:pt x="55" y="193"/>
                    <a:pt x="49" y="365"/>
                  </a:cubicBezTo>
                  <a:cubicBezTo>
                    <a:pt x="11" y="365"/>
                    <a:pt x="11" y="365"/>
                    <a:pt x="11" y="365"/>
                  </a:cubicBezTo>
                  <a:cubicBezTo>
                    <a:pt x="5" y="365"/>
                    <a:pt x="0" y="370"/>
                    <a:pt x="0" y="376"/>
                  </a:cubicBezTo>
                  <a:cubicBezTo>
                    <a:pt x="0" y="383"/>
                    <a:pt x="5" y="388"/>
                    <a:pt x="11" y="388"/>
                  </a:cubicBezTo>
                  <a:close/>
                  <a:moveTo>
                    <a:pt x="389" y="71"/>
                  </a:moveTo>
                  <a:lnTo>
                    <a:pt x="389" y="71"/>
                  </a:lnTo>
                  <a:cubicBezTo>
                    <a:pt x="549" y="78"/>
                    <a:pt x="677" y="206"/>
                    <a:pt x="683" y="365"/>
                  </a:cubicBezTo>
                  <a:cubicBezTo>
                    <a:pt x="389" y="365"/>
                    <a:pt x="389" y="365"/>
                    <a:pt x="389" y="365"/>
                  </a:cubicBezTo>
                  <a:lnTo>
                    <a:pt x="389" y="71"/>
                  </a:lnTo>
                  <a:close/>
                  <a:moveTo>
                    <a:pt x="389" y="388"/>
                  </a:moveTo>
                  <a:lnTo>
                    <a:pt x="389" y="388"/>
                  </a:lnTo>
                  <a:cubicBezTo>
                    <a:pt x="683" y="388"/>
                    <a:pt x="683" y="388"/>
                    <a:pt x="683" y="388"/>
                  </a:cubicBezTo>
                  <a:cubicBezTo>
                    <a:pt x="677" y="548"/>
                    <a:pt x="549" y="676"/>
                    <a:pt x="389" y="681"/>
                  </a:cubicBezTo>
                  <a:lnTo>
                    <a:pt x="389" y="388"/>
                  </a:lnTo>
                  <a:close/>
                  <a:moveTo>
                    <a:pt x="365" y="71"/>
                  </a:moveTo>
                  <a:lnTo>
                    <a:pt x="365" y="71"/>
                  </a:lnTo>
                  <a:cubicBezTo>
                    <a:pt x="365" y="365"/>
                    <a:pt x="365" y="365"/>
                    <a:pt x="365" y="365"/>
                  </a:cubicBezTo>
                  <a:cubicBezTo>
                    <a:pt x="72" y="365"/>
                    <a:pt x="72" y="365"/>
                    <a:pt x="72" y="365"/>
                  </a:cubicBezTo>
                  <a:cubicBezTo>
                    <a:pt x="78" y="206"/>
                    <a:pt x="206" y="78"/>
                    <a:pt x="365" y="71"/>
                  </a:cubicBezTo>
                  <a:close/>
                  <a:moveTo>
                    <a:pt x="365" y="388"/>
                  </a:moveTo>
                  <a:lnTo>
                    <a:pt x="365" y="388"/>
                  </a:lnTo>
                  <a:cubicBezTo>
                    <a:pt x="365" y="681"/>
                    <a:pt x="365" y="681"/>
                    <a:pt x="365" y="681"/>
                  </a:cubicBezTo>
                  <a:cubicBezTo>
                    <a:pt x="206" y="676"/>
                    <a:pt x="78" y="548"/>
                    <a:pt x="72" y="388"/>
                  </a:cubicBezTo>
                  <a:lnTo>
                    <a:pt x="365" y="3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algn="ctr"/>
              <a:endParaRPr lang="en-US" sz="1125"/>
            </a:p>
          </p:txBody>
        </p:sp>
      </p:grpSp>
      <p:grpSp>
        <p:nvGrpSpPr>
          <p:cNvPr id="22" name="그룹 21"/>
          <p:cNvGrpSpPr/>
          <p:nvPr/>
        </p:nvGrpSpPr>
        <p:grpSpPr>
          <a:xfrm>
            <a:off x="4500210" y="2189066"/>
            <a:ext cx="3227466" cy="3451093"/>
            <a:chOff x="4477940" y="2189066"/>
            <a:chExt cx="3227466" cy="3451093"/>
          </a:xfrm>
        </p:grpSpPr>
        <p:sp>
          <p:nvSpPr>
            <p:cNvPr id="11" name="TextBox 10"/>
            <p:cNvSpPr txBox="1"/>
            <p:nvPr/>
          </p:nvSpPr>
          <p:spPr>
            <a:xfrm>
              <a:off x="5438289" y="2189066"/>
              <a:ext cx="1306768" cy="553998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spAutoFit/>
            </a:bodyPr>
            <a:lstStyle/>
            <a:p>
              <a:pPr algn="ctr"/>
              <a:r>
                <a:rPr lang="en-GB" altLang="ko-KR" sz="3000" b="1" dirty="0">
                  <a:solidFill>
                    <a:schemeClr val="accent2">
                      <a:lumMod val="75000"/>
                    </a:schemeClr>
                  </a:solidFill>
                  <a:latin typeface="+mj-lt"/>
                  <a:ea typeface="Roboto Light" charset="0"/>
                </a:rPr>
                <a:t>Speed</a:t>
              </a:r>
              <a:endParaRPr lang="en-US" sz="3000" b="1" dirty="0">
                <a:solidFill>
                  <a:schemeClr val="accent2">
                    <a:lumMod val="75000"/>
                  </a:schemeClr>
                </a:solidFill>
                <a:latin typeface="+mj-lt"/>
                <a:ea typeface="Roboto Light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477940" y="4855329"/>
              <a:ext cx="3227466" cy="784830"/>
            </a:xfrm>
            <a:prstGeom prst="rect">
              <a:avLst/>
            </a:prstGeom>
          </p:spPr>
          <p:txBody>
            <a:bodyPr vert="horz" wrap="square" lIns="91440" tIns="45720" rIns="91440" bIns="45720" rtlCol="0" anchor="t" anchorCtr="0">
              <a:spAutoFit/>
            </a:bodyPr>
            <a:lstStyle/>
            <a:p>
              <a:pPr algn="ctr"/>
              <a:r>
                <a:rPr lang="ko-KR" altLang="en-US" sz="1500" b="1" dirty="0">
                  <a:solidFill>
                    <a:schemeClr val="bg1"/>
                  </a:solidFill>
                  <a:latin typeface="+mn-ea"/>
                </a:rPr>
                <a:t>버티카의 병렬 처리 기능을</a:t>
              </a:r>
              <a:r>
                <a:rPr lang="en-US" altLang="ko-KR" sz="1500" b="1" dirty="0">
                  <a:solidFill>
                    <a:schemeClr val="bg1"/>
                  </a:solidFill>
                  <a:latin typeface="+mn-ea"/>
                </a:rPr>
                <a:t/>
              </a:r>
              <a:br>
                <a:rPr lang="en-US" altLang="ko-KR" sz="1500" b="1" dirty="0">
                  <a:solidFill>
                    <a:schemeClr val="bg1"/>
                  </a:solidFill>
                  <a:latin typeface="+mn-ea"/>
                </a:rPr>
              </a:br>
              <a:r>
                <a:rPr lang="ko-KR" altLang="en-US" sz="1500" b="1" dirty="0">
                  <a:solidFill>
                    <a:schemeClr val="bg1"/>
                  </a:solidFill>
                  <a:latin typeface="+mn-ea"/>
                </a:rPr>
                <a:t>머신러닝에도 적용하여</a:t>
              </a:r>
              <a:r>
                <a:rPr lang="en-US" altLang="ko-KR" sz="1500" b="1" dirty="0">
                  <a:solidFill>
                    <a:schemeClr val="bg1"/>
                  </a:solidFill>
                  <a:latin typeface="+mn-ea"/>
                </a:rPr>
                <a:t/>
              </a:r>
              <a:br>
                <a:rPr lang="en-US" altLang="ko-KR" sz="1500" b="1" dirty="0">
                  <a:solidFill>
                    <a:schemeClr val="bg1"/>
                  </a:solidFill>
                  <a:latin typeface="+mn-ea"/>
                </a:rPr>
              </a:br>
              <a:r>
                <a:rPr lang="ko-KR" altLang="en-US" sz="1500" b="1" dirty="0">
                  <a:solidFill>
                    <a:schemeClr val="bg1"/>
                  </a:solidFill>
                  <a:latin typeface="+mn-ea"/>
                </a:rPr>
                <a:t>빠른 성능을 보장</a:t>
              </a:r>
              <a:endParaRPr lang="en-US" sz="15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032730" y="2717817"/>
              <a:ext cx="2117887" cy="553998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spAutoFit/>
            </a:bodyPr>
            <a:lstStyle/>
            <a:p>
              <a:pPr algn="ctr"/>
              <a:r>
                <a:rPr lang="ko-KR" altLang="en-US" sz="1500" b="1" dirty="0">
                  <a:solidFill>
                    <a:schemeClr val="bg1"/>
                  </a:solidFill>
                  <a:latin typeface="+mn-ea"/>
                </a:rPr>
                <a:t>머신 러닝 요건에 대한</a:t>
              </a:r>
              <a:endParaRPr lang="en-US" altLang="ko-KR" sz="1500" b="1" dirty="0">
                <a:solidFill>
                  <a:schemeClr val="bg1"/>
                </a:solidFill>
                <a:latin typeface="+mn-ea"/>
              </a:endParaRPr>
            </a:p>
            <a:p>
              <a:pPr algn="ctr"/>
              <a:r>
                <a:rPr lang="ko-KR" altLang="en-US" sz="1500" b="1" dirty="0">
                  <a:solidFill>
                    <a:schemeClr val="bg1"/>
                  </a:solidFill>
                  <a:latin typeface="+mn-ea"/>
                </a:rPr>
                <a:t>빠른 비즈니스 대응</a:t>
              </a:r>
              <a:endParaRPr lang="en-US" sz="1500" b="1" dirty="0">
                <a:solidFill>
                  <a:schemeClr val="bg1"/>
                </a:solidFill>
                <a:latin typeface="+mn-ea"/>
              </a:endParaRPr>
            </a:p>
          </p:txBody>
        </p:sp>
        <p:grpSp>
          <p:nvGrpSpPr>
            <p:cNvPr id="21" name="그룹 20"/>
            <p:cNvGrpSpPr/>
            <p:nvPr/>
          </p:nvGrpSpPr>
          <p:grpSpPr>
            <a:xfrm>
              <a:off x="5464174" y="3590804"/>
              <a:ext cx="1254999" cy="1129932"/>
              <a:chOff x="5464174" y="3590804"/>
              <a:chExt cx="1254999" cy="1129932"/>
            </a:xfrm>
          </p:grpSpPr>
          <p:sp>
            <p:nvSpPr>
              <p:cNvPr id="18" name="Freeform 251"/>
              <p:cNvSpPr>
                <a:spLocks noChangeArrowheads="1"/>
              </p:cNvSpPr>
              <p:nvPr/>
            </p:nvSpPr>
            <p:spPr bwMode="auto">
              <a:xfrm>
                <a:off x="5988514" y="3969148"/>
                <a:ext cx="523561" cy="354174"/>
              </a:xfrm>
              <a:custGeom>
                <a:avLst/>
                <a:gdLst>
                  <a:gd name="T0" fmla="*/ 137 w 300"/>
                  <a:gd name="T1" fmla="*/ 137 h 205"/>
                  <a:gd name="T2" fmla="*/ 137 w 300"/>
                  <a:gd name="T3" fmla="*/ 137 h 205"/>
                  <a:gd name="T4" fmla="*/ 299 w 300"/>
                  <a:gd name="T5" fmla="*/ 5 h 205"/>
                  <a:gd name="T6" fmla="*/ 296 w 300"/>
                  <a:gd name="T7" fmla="*/ 0 h 205"/>
                  <a:gd name="T8" fmla="*/ 105 w 300"/>
                  <a:gd name="T9" fmla="*/ 76 h 205"/>
                  <a:gd name="T10" fmla="*/ 69 w 300"/>
                  <a:gd name="T11" fmla="*/ 65 h 205"/>
                  <a:gd name="T12" fmla="*/ 0 w 300"/>
                  <a:gd name="T13" fmla="*/ 134 h 205"/>
                  <a:gd name="T14" fmla="*/ 69 w 300"/>
                  <a:gd name="T15" fmla="*/ 204 h 205"/>
                  <a:gd name="T16" fmla="*/ 137 w 300"/>
                  <a:gd name="T17" fmla="*/ 137 h 205"/>
                  <a:gd name="T18" fmla="*/ 23 w 300"/>
                  <a:gd name="T19" fmla="*/ 134 h 205"/>
                  <a:gd name="T20" fmla="*/ 23 w 300"/>
                  <a:gd name="T21" fmla="*/ 134 h 205"/>
                  <a:gd name="T22" fmla="*/ 69 w 300"/>
                  <a:gd name="T23" fmla="*/ 88 h 205"/>
                  <a:gd name="T24" fmla="*/ 115 w 300"/>
                  <a:gd name="T25" fmla="*/ 134 h 205"/>
                  <a:gd name="T26" fmla="*/ 69 w 300"/>
                  <a:gd name="T27" fmla="*/ 181 h 205"/>
                  <a:gd name="T28" fmla="*/ 23 w 300"/>
                  <a:gd name="T29" fmla="*/ 134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00" h="205">
                    <a:moveTo>
                      <a:pt x="137" y="137"/>
                    </a:moveTo>
                    <a:lnTo>
                      <a:pt x="137" y="137"/>
                    </a:lnTo>
                    <a:cubicBezTo>
                      <a:pt x="299" y="5"/>
                      <a:pt x="299" y="5"/>
                      <a:pt x="299" y="5"/>
                    </a:cubicBezTo>
                    <a:cubicBezTo>
                      <a:pt x="296" y="0"/>
                      <a:pt x="296" y="0"/>
                      <a:pt x="296" y="0"/>
                    </a:cubicBezTo>
                    <a:cubicBezTo>
                      <a:pt x="105" y="76"/>
                      <a:pt x="105" y="76"/>
                      <a:pt x="105" y="76"/>
                    </a:cubicBezTo>
                    <a:cubicBezTo>
                      <a:pt x="94" y="69"/>
                      <a:pt x="81" y="65"/>
                      <a:pt x="69" y="65"/>
                    </a:cubicBezTo>
                    <a:cubicBezTo>
                      <a:pt x="30" y="65"/>
                      <a:pt x="0" y="96"/>
                      <a:pt x="0" y="134"/>
                    </a:cubicBezTo>
                    <a:cubicBezTo>
                      <a:pt x="0" y="172"/>
                      <a:pt x="30" y="204"/>
                      <a:pt x="69" y="204"/>
                    </a:cubicBezTo>
                    <a:cubicBezTo>
                      <a:pt x="106" y="204"/>
                      <a:pt x="137" y="174"/>
                      <a:pt x="137" y="137"/>
                    </a:cubicBezTo>
                    <a:close/>
                    <a:moveTo>
                      <a:pt x="23" y="134"/>
                    </a:moveTo>
                    <a:lnTo>
                      <a:pt x="23" y="134"/>
                    </a:lnTo>
                    <a:cubicBezTo>
                      <a:pt x="23" y="110"/>
                      <a:pt x="43" y="88"/>
                      <a:pt x="69" y="88"/>
                    </a:cubicBezTo>
                    <a:cubicBezTo>
                      <a:pt x="94" y="88"/>
                      <a:pt x="115" y="110"/>
                      <a:pt x="115" y="134"/>
                    </a:cubicBezTo>
                    <a:cubicBezTo>
                      <a:pt x="115" y="160"/>
                      <a:pt x="94" y="181"/>
                      <a:pt x="69" y="181"/>
                    </a:cubicBezTo>
                    <a:cubicBezTo>
                      <a:pt x="43" y="181"/>
                      <a:pt x="23" y="160"/>
                      <a:pt x="23" y="13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750"/>
              </a:p>
            </p:txBody>
          </p:sp>
          <p:sp>
            <p:nvSpPr>
              <p:cNvPr id="19" name="Freeform 252"/>
              <p:cNvSpPr>
                <a:spLocks noChangeArrowheads="1"/>
              </p:cNvSpPr>
              <p:nvPr/>
            </p:nvSpPr>
            <p:spPr bwMode="auto">
              <a:xfrm>
                <a:off x="5464174" y="3590804"/>
                <a:ext cx="1254999" cy="985513"/>
              </a:xfrm>
              <a:custGeom>
                <a:avLst/>
                <a:gdLst>
                  <a:gd name="T0" fmla="*/ 48 w 718"/>
                  <a:gd name="T1" fmla="*/ 537 h 565"/>
                  <a:gd name="T2" fmla="*/ 61 w 718"/>
                  <a:gd name="T3" fmla="*/ 557 h 565"/>
                  <a:gd name="T4" fmla="*/ 80 w 718"/>
                  <a:gd name="T5" fmla="*/ 544 h 565"/>
                  <a:gd name="T6" fmla="*/ 102 w 718"/>
                  <a:gd name="T7" fmla="*/ 519 h 565"/>
                  <a:gd name="T8" fmla="*/ 90 w 718"/>
                  <a:gd name="T9" fmla="*/ 499 h 565"/>
                  <a:gd name="T10" fmla="*/ 25 w 718"/>
                  <a:gd name="T11" fmla="*/ 370 h 565"/>
                  <a:gd name="T12" fmla="*/ 67 w 718"/>
                  <a:gd name="T13" fmla="*/ 357 h 565"/>
                  <a:gd name="T14" fmla="*/ 25 w 718"/>
                  <a:gd name="T15" fmla="*/ 347 h 565"/>
                  <a:gd name="T16" fmla="*/ 90 w 718"/>
                  <a:gd name="T17" fmla="*/ 216 h 565"/>
                  <a:gd name="T18" fmla="*/ 106 w 718"/>
                  <a:gd name="T19" fmla="*/ 212 h 565"/>
                  <a:gd name="T20" fmla="*/ 75 w 718"/>
                  <a:gd name="T21" fmla="*/ 181 h 565"/>
                  <a:gd name="T22" fmla="*/ 197 w 718"/>
                  <a:gd name="T23" fmla="*/ 100 h 565"/>
                  <a:gd name="T24" fmla="*/ 212 w 718"/>
                  <a:gd name="T25" fmla="*/ 104 h 565"/>
                  <a:gd name="T26" fmla="*/ 201 w 718"/>
                  <a:gd name="T27" fmla="*/ 62 h 565"/>
                  <a:gd name="T28" fmla="*/ 347 w 718"/>
                  <a:gd name="T29" fmla="*/ 54 h 565"/>
                  <a:gd name="T30" fmla="*/ 370 w 718"/>
                  <a:gd name="T31" fmla="*/ 54 h 565"/>
                  <a:gd name="T32" fmla="*/ 516 w 718"/>
                  <a:gd name="T33" fmla="*/ 62 h 565"/>
                  <a:gd name="T34" fmla="*/ 505 w 718"/>
                  <a:gd name="T35" fmla="*/ 104 h 565"/>
                  <a:gd name="T36" fmla="*/ 520 w 718"/>
                  <a:gd name="T37" fmla="*/ 100 h 565"/>
                  <a:gd name="T38" fmla="*/ 642 w 718"/>
                  <a:gd name="T39" fmla="*/ 181 h 565"/>
                  <a:gd name="T40" fmla="*/ 611 w 718"/>
                  <a:gd name="T41" fmla="*/ 212 h 565"/>
                  <a:gd name="T42" fmla="*/ 627 w 718"/>
                  <a:gd name="T43" fmla="*/ 216 h 565"/>
                  <a:gd name="T44" fmla="*/ 694 w 718"/>
                  <a:gd name="T45" fmla="*/ 347 h 565"/>
                  <a:gd name="T46" fmla="*/ 650 w 718"/>
                  <a:gd name="T47" fmla="*/ 357 h 565"/>
                  <a:gd name="T48" fmla="*/ 693 w 718"/>
                  <a:gd name="T49" fmla="*/ 370 h 565"/>
                  <a:gd name="T50" fmla="*/ 627 w 718"/>
                  <a:gd name="T51" fmla="*/ 499 h 565"/>
                  <a:gd name="T52" fmla="*/ 615 w 718"/>
                  <a:gd name="T53" fmla="*/ 519 h 565"/>
                  <a:gd name="T54" fmla="*/ 638 w 718"/>
                  <a:gd name="T55" fmla="*/ 544 h 565"/>
                  <a:gd name="T56" fmla="*/ 648 w 718"/>
                  <a:gd name="T57" fmla="*/ 561 h 565"/>
                  <a:gd name="T58" fmla="*/ 667 w 718"/>
                  <a:gd name="T59" fmla="*/ 540 h 565"/>
                  <a:gd name="T60" fmla="*/ 669 w 718"/>
                  <a:gd name="T61" fmla="*/ 534 h 565"/>
                  <a:gd name="T62" fmla="*/ 669 w 718"/>
                  <a:gd name="T63" fmla="*/ 179 h 565"/>
                  <a:gd name="T64" fmla="*/ 668 w 718"/>
                  <a:gd name="T65" fmla="*/ 178 h 565"/>
                  <a:gd name="T66" fmla="*/ 537 w 718"/>
                  <a:gd name="T67" fmla="*/ 47 h 565"/>
                  <a:gd name="T68" fmla="*/ 359 w 718"/>
                  <a:gd name="T69" fmla="*/ 0 h 565"/>
                  <a:gd name="T70" fmla="*/ 180 w 718"/>
                  <a:gd name="T71" fmla="*/ 47 h 565"/>
                  <a:gd name="T72" fmla="*/ 49 w 718"/>
                  <a:gd name="T73" fmla="*/ 178 h 565"/>
                  <a:gd name="T74" fmla="*/ 48 w 718"/>
                  <a:gd name="T75" fmla="*/ 179 h 565"/>
                  <a:gd name="T76" fmla="*/ 48 w 718"/>
                  <a:gd name="T77" fmla="*/ 534 h 5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718" h="565">
                    <a:moveTo>
                      <a:pt x="48" y="537"/>
                    </a:moveTo>
                    <a:lnTo>
                      <a:pt x="48" y="537"/>
                    </a:lnTo>
                    <a:cubicBezTo>
                      <a:pt x="49" y="538"/>
                      <a:pt x="50" y="538"/>
                      <a:pt x="50" y="540"/>
                    </a:cubicBezTo>
                    <a:cubicBezTo>
                      <a:pt x="54" y="545"/>
                      <a:pt x="57" y="551"/>
                      <a:pt x="61" y="557"/>
                    </a:cubicBezTo>
                    <a:cubicBezTo>
                      <a:pt x="64" y="563"/>
                      <a:pt x="71" y="564"/>
                      <a:pt x="76" y="560"/>
                    </a:cubicBezTo>
                    <a:cubicBezTo>
                      <a:pt x="82" y="556"/>
                      <a:pt x="83" y="549"/>
                      <a:pt x="80" y="544"/>
                    </a:cubicBezTo>
                    <a:cubicBezTo>
                      <a:pt x="78" y="541"/>
                      <a:pt x="76" y="538"/>
                      <a:pt x="75" y="536"/>
                    </a:cubicBezTo>
                    <a:cubicBezTo>
                      <a:pt x="102" y="519"/>
                      <a:pt x="102" y="519"/>
                      <a:pt x="102" y="519"/>
                    </a:cubicBezTo>
                    <a:cubicBezTo>
                      <a:pt x="108" y="517"/>
                      <a:pt x="109" y="510"/>
                      <a:pt x="106" y="504"/>
                    </a:cubicBezTo>
                    <a:cubicBezTo>
                      <a:pt x="102" y="498"/>
                      <a:pt x="95" y="496"/>
                      <a:pt x="90" y="499"/>
                    </a:cubicBezTo>
                    <a:cubicBezTo>
                      <a:pt x="64" y="515"/>
                      <a:pt x="64" y="515"/>
                      <a:pt x="64" y="515"/>
                    </a:cubicBezTo>
                    <a:cubicBezTo>
                      <a:pt x="40" y="470"/>
                      <a:pt x="26" y="421"/>
                      <a:pt x="25" y="370"/>
                    </a:cubicBezTo>
                    <a:cubicBezTo>
                      <a:pt x="56" y="370"/>
                      <a:pt x="56" y="370"/>
                      <a:pt x="56" y="370"/>
                    </a:cubicBezTo>
                    <a:cubicBezTo>
                      <a:pt x="61" y="370"/>
                      <a:pt x="67" y="364"/>
                      <a:pt x="67" y="357"/>
                    </a:cubicBezTo>
                    <a:cubicBezTo>
                      <a:pt x="67" y="352"/>
                      <a:pt x="61" y="347"/>
                      <a:pt x="56" y="347"/>
                    </a:cubicBezTo>
                    <a:cubicBezTo>
                      <a:pt x="25" y="347"/>
                      <a:pt x="25" y="347"/>
                      <a:pt x="25" y="347"/>
                    </a:cubicBezTo>
                    <a:cubicBezTo>
                      <a:pt x="26" y="293"/>
                      <a:pt x="40" y="244"/>
                      <a:pt x="63" y="201"/>
                    </a:cubicBezTo>
                    <a:cubicBezTo>
                      <a:pt x="90" y="216"/>
                      <a:pt x="90" y="216"/>
                      <a:pt x="90" y="216"/>
                    </a:cubicBezTo>
                    <a:cubicBezTo>
                      <a:pt x="93" y="217"/>
                      <a:pt x="94" y="217"/>
                      <a:pt x="95" y="217"/>
                    </a:cubicBezTo>
                    <a:cubicBezTo>
                      <a:pt x="99" y="217"/>
                      <a:pt x="103" y="216"/>
                      <a:pt x="106" y="212"/>
                    </a:cubicBezTo>
                    <a:cubicBezTo>
                      <a:pt x="109" y="206"/>
                      <a:pt x="108" y="200"/>
                      <a:pt x="102" y="195"/>
                    </a:cubicBezTo>
                    <a:cubicBezTo>
                      <a:pt x="75" y="181"/>
                      <a:pt x="75" y="181"/>
                      <a:pt x="75" y="181"/>
                    </a:cubicBezTo>
                    <a:cubicBezTo>
                      <a:pt x="102" y="137"/>
                      <a:pt x="139" y="100"/>
                      <a:pt x="181" y="74"/>
                    </a:cubicBezTo>
                    <a:cubicBezTo>
                      <a:pt x="197" y="100"/>
                      <a:pt x="197" y="100"/>
                      <a:pt x="197" y="100"/>
                    </a:cubicBezTo>
                    <a:cubicBezTo>
                      <a:pt x="199" y="104"/>
                      <a:pt x="203" y="107"/>
                      <a:pt x="207" y="107"/>
                    </a:cubicBezTo>
                    <a:cubicBezTo>
                      <a:pt x="210" y="107"/>
                      <a:pt x="211" y="106"/>
                      <a:pt x="212" y="104"/>
                    </a:cubicBezTo>
                    <a:cubicBezTo>
                      <a:pt x="218" y="102"/>
                      <a:pt x="220" y="95"/>
                      <a:pt x="216" y="89"/>
                    </a:cubicBezTo>
                    <a:cubicBezTo>
                      <a:pt x="201" y="62"/>
                      <a:pt x="201" y="62"/>
                      <a:pt x="201" y="62"/>
                    </a:cubicBezTo>
                    <a:cubicBezTo>
                      <a:pt x="245" y="39"/>
                      <a:pt x="294" y="25"/>
                      <a:pt x="347" y="23"/>
                    </a:cubicBezTo>
                    <a:cubicBezTo>
                      <a:pt x="347" y="54"/>
                      <a:pt x="347" y="54"/>
                      <a:pt x="347" y="54"/>
                    </a:cubicBezTo>
                    <a:cubicBezTo>
                      <a:pt x="347" y="61"/>
                      <a:pt x="352" y="66"/>
                      <a:pt x="359" y="66"/>
                    </a:cubicBezTo>
                    <a:cubicBezTo>
                      <a:pt x="365" y="66"/>
                      <a:pt x="370" y="61"/>
                      <a:pt x="370" y="54"/>
                    </a:cubicBezTo>
                    <a:cubicBezTo>
                      <a:pt x="370" y="23"/>
                      <a:pt x="370" y="23"/>
                      <a:pt x="370" y="23"/>
                    </a:cubicBezTo>
                    <a:cubicBezTo>
                      <a:pt x="423" y="25"/>
                      <a:pt x="472" y="39"/>
                      <a:pt x="516" y="62"/>
                    </a:cubicBezTo>
                    <a:cubicBezTo>
                      <a:pt x="501" y="89"/>
                      <a:pt x="501" y="89"/>
                      <a:pt x="501" y="89"/>
                    </a:cubicBezTo>
                    <a:cubicBezTo>
                      <a:pt x="497" y="95"/>
                      <a:pt x="499" y="102"/>
                      <a:pt x="505" y="104"/>
                    </a:cubicBezTo>
                    <a:cubicBezTo>
                      <a:pt x="506" y="106"/>
                      <a:pt x="509" y="107"/>
                      <a:pt x="510" y="107"/>
                    </a:cubicBezTo>
                    <a:cubicBezTo>
                      <a:pt x="514" y="107"/>
                      <a:pt x="518" y="104"/>
                      <a:pt x="520" y="100"/>
                    </a:cubicBezTo>
                    <a:cubicBezTo>
                      <a:pt x="536" y="74"/>
                      <a:pt x="536" y="74"/>
                      <a:pt x="536" y="74"/>
                    </a:cubicBezTo>
                    <a:cubicBezTo>
                      <a:pt x="580" y="100"/>
                      <a:pt x="615" y="137"/>
                      <a:pt x="642" y="181"/>
                    </a:cubicBezTo>
                    <a:cubicBezTo>
                      <a:pt x="616" y="195"/>
                      <a:pt x="616" y="195"/>
                      <a:pt x="616" y="195"/>
                    </a:cubicBezTo>
                    <a:cubicBezTo>
                      <a:pt x="610" y="200"/>
                      <a:pt x="608" y="206"/>
                      <a:pt x="611" y="212"/>
                    </a:cubicBezTo>
                    <a:cubicBezTo>
                      <a:pt x="614" y="216"/>
                      <a:pt x="618" y="217"/>
                      <a:pt x="622" y="217"/>
                    </a:cubicBezTo>
                    <a:cubicBezTo>
                      <a:pt x="623" y="217"/>
                      <a:pt x="626" y="217"/>
                      <a:pt x="627" y="216"/>
                    </a:cubicBezTo>
                    <a:cubicBezTo>
                      <a:pt x="654" y="201"/>
                      <a:pt x="654" y="201"/>
                      <a:pt x="654" y="201"/>
                    </a:cubicBezTo>
                    <a:cubicBezTo>
                      <a:pt x="678" y="244"/>
                      <a:pt x="691" y="293"/>
                      <a:pt x="694" y="347"/>
                    </a:cubicBezTo>
                    <a:cubicBezTo>
                      <a:pt x="663" y="347"/>
                      <a:pt x="663" y="347"/>
                      <a:pt x="663" y="347"/>
                    </a:cubicBezTo>
                    <a:cubicBezTo>
                      <a:pt x="656" y="347"/>
                      <a:pt x="650" y="352"/>
                      <a:pt x="650" y="357"/>
                    </a:cubicBezTo>
                    <a:cubicBezTo>
                      <a:pt x="650" y="364"/>
                      <a:pt x="656" y="370"/>
                      <a:pt x="663" y="370"/>
                    </a:cubicBezTo>
                    <a:cubicBezTo>
                      <a:pt x="693" y="370"/>
                      <a:pt x="693" y="370"/>
                      <a:pt x="693" y="370"/>
                    </a:cubicBezTo>
                    <a:cubicBezTo>
                      <a:pt x="691" y="420"/>
                      <a:pt x="678" y="470"/>
                      <a:pt x="654" y="515"/>
                    </a:cubicBezTo>
                    <a:cubicBezTo>
                      <a:pt x="627" y="499"/>
                      <a:pt x="627" y="499"/>
                      <a:pt x="627" y="499"/>
                    </a:cubicBezTo>
                    <a:cubicBezTo>
                      <a:pt x="622" y="496"/>
                      <a:pt x="615" y="499"/>
                      <a:pt x="611" y="504"/>
                    </a:cubicBezTo>
                    <a:cubicBezTo>
                      <a:pt x="608" y="510"/>
                      <a:pt x="610" y="517"/>
                      <a:pt x="615" y="519"/>
                    </a:cubicBezTo>
                    <a:cubicBezTo>
                      <a:pt x="642" y="536"/>
                      <a:pt x="642" y="536"/>
                      <a:pt x="642" y="536"/>
                    </a:cubicBezTo>
                    <a:cubicBezTo>
                      <a:pt x="641" y="538"/>
                      <a:pt x="639" y="541"/>
                      <a:pt x="638" y="544"/>
                    </a:cubicBezTo>
                    <a:cubicBezTo>
                      <a:pt x="634" y="549"/>
                      <a:pt x="635" y="556"/>
                      <a:pt x="641" y="560"/>
                    </a:cubicBezTo>
                    <a:cubicBezTo>
                      <a:pt x="642" y="561"/>
                      <a:pt x="645" y="561"/>
                      <a:pt x="648" y="561"/>
                    </a:cubicBezTo>
                    <a:cubicBezTo>
                      <a:pt x="650" y="561"/>
                      <a:pt x="654" y="560"/>
                      <a:pt x="657" y="557"/>
                    </a:cubicBezTo>
                    <a:cubicBezTo>
                      <a:pt x="660" y="552"/>
                      <a:pt x="663" y="545"/>
                      <a:pt x="667" y="540"/>
                    </a:cubicBezTo>
                    <a:cubicBezTo>
                      <a:pt x="668" y="538"/>
                      <a:pt x="668" y="538"/>
                      <a:pt x="669" y="537"/>
                    </a:cubicBezTo>
                    <a:cubicBezTo>
                      <a:pt x="669" y="536"/>
                      <a:pt x="669" y="536"/>
                      <a:pt x="669" y="534"/>
                    </a:cubicBezTo>
                    <a:cubicBezTo>
                      <a:pt x="699" y="481"/>
                      <a:pt x="717" y="420"/>
                      <a:pt x="717" y="357"/>
                    </a:cubicBezTo>
                    <a:cubicBezTo>
                      <a:pt x="717" y="293"/>
                      <a:pt x="699" y="232"/>
                      <a:pt x="669" y="179"/>
                    </a:cubicBezTo>
                    <a:lnTo>
                      <a:pt x="669" y="179"/>
                    </a:lnTo>
                    <a:cubicBezTo>
                      <a:pt x="669" y="178"/>
                      <a:pt x="668" y="178"/>
                      <a:pt x="668" y="178"/>
                    </a:cubicBezTo>
                    <a:cubicBezTo>
                      <a:pt x="637" y="125"/>
                      <a:pt x="592" y="80"/>
                      <a:pt x="539" y="49"/>
                    </a:cubicBezTo>
                    <a:cubicBezTo>
                      <a:pt x="539" y="49"/>
                      <a:pt x="539" y="47"/>
                      <a:pt x="537" y="47"/>
                    </a:cubicBezTo>
                    <a:lnTo>
                      <a:pt x="537" y="47"/>
                    </a:lnTo>
                    <a:cubicBezTo>
                      <a:pt x="484" y="17"/>
                      <a:pt x="423" y="0"/>
                      <a:pt x="359" y="0"/>
                    </a:cubicBezTo>
                    <a:cubicBezTo>
                      <a:pt x="294" y="0"/>
                      <a:pt x="233" y="17"/>
                      <a:pt x="181" y="47"/>
                    </a:cubicBezTo>
                    <a:cubicBezTo>
                      <a:pt x="180" y="47"/>
                      <a:pt x="180" y="47"/>
                      <a:pt x="180" y="47"/>
                    </a:cubicBezTo>
                    <a:cubicBezTo>
                      <a:pt x="180" y="47"/>
                      <a:pt x="180" y="49"/>
                      <a:pt x="178" y="49"/>
                    </a:cubicBezTo>
                    <a:cubicBezTo>
                      <a:pt x="125" y="80"/>
                      <a:pt x="80" y="125"/>
                      <a:pt x="49" y="178"/>
                    </a:cubicBezTo>
                    <a:cubicBezTo>
                      <a:pt x="49" y="178"/>
                      <a:pt x="49" y="178"/>
                      <a:pt x="48" y="179"/>
                    </a:cubicBezTo>
                    <a:lnTo>
                      <a:pt x="48" y="179"/>
                    </a:lnTo>
                    <a:cubicBezTo>
                      <a:pt x="18" y="232"/>
                      <a:pt x="0" y="293"/>
                      <a:pt x="0" y="357"/>
                    </a:cubicBezTo>
                    <a:cubicBezTo>
                      <a:pt x="0" y="420"/>
                      <a:pt x="18" y="481"/>
                      <a:pt x="48" y="534"/>
                    </a:cubicBezTo>
                    <a:cubicBezTo>
                      <a:pt x="48" y="536"/>
                      <a:pt x="48" y="536"/>
                      <a:pt x="48" y="537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750"/>
              </a:p>
            </p:txBody>
          </p:sp>
          <p:sp>
            <p:nvSpPr>
              <p:cNvPr id="20" name="Freeform 253"/>
              <p:cNvSpPr>
                <a:spLocks noChangeArrowheads="1"/>
              </p:cNvSpPr>
              <p:nvPr/>
            </p:nvSpPr>
            <p:spPr bwMode="auto">
              <a:xfrm>
                <a:off x="5818343" y="4582148"/>
                <a:ext cx="546661" cy="138588"/>
              </a:xfrm>
              <a:custGeom>
                <a:avLst/>
                <a:gdLst>
                  <a:gd name="T0" fmla="*/ 0 w 312"/>
                  <a:gd name="T1" fmla="*/ 11 h 81"/>
                  <a:gd name="T2" fmla="*/ 0 w 312"/>
                  <a:gd name="T3" fmla="*/ 11 h 81"/>
                  <a:gd name="T4" fmla="*/ 0 w 312"/>
                  <a:gd name="T5" fmla="*/ 70 h 81"/>
                  <a:gd name="T6" fmla="*/ 11 w 312"/>
                  <a:gd name="T7" fmla="*/ 80 h 81"/>
                  <a:gd name="T8" fmla="*/ 300 w 312"/>
                  <a:gd name="T9" fmla="*/ 80 h 81"/>
                  <a:gd name="T10" fmla="*/ 311 w 312"/>
                  <a:gd name="T11" fmla="*/ 70 h 81"/>
                  <a:gd name="T12" fmla="*/ 311 w 312"/>
                  <a:gd name="T13" fmla="*/ 11 h 81"/>
                  <a:gd name="T14" fmla="*/ 300 w 312"/>
                  <a:gd name="T15" fmla="*/ 0 h 81"/>
                  <a:gd name="T16" fmla="*/ 11 w 312"/>
                  <a:gd name="T17" fmla="*/ 0 h 81"/>
                  <a:gd name="T18" fmla="*/ 0 w 312"/>
                  <a:gd name="T19" fmla="*/ 11 h 81"/>
                  <a:gd name="T20" fmla="*/ 23 w 312"/>
                  <a:gd name="T21" fmla="*/ 23 h 81"/>
                  <a:gd name="T22" fmla="*/ 23 w 312"/>
                  <a:gd name="T23" fmla="*/ 23 h 81"/>
                  <a:gd name="T24" fmla="*/ 288 w 312"/>
                  <a:gd name="T25" fmla="*/ 23 h 81"/>
                  <a:gd name="T26" fmla="*/ 288 w 312"/>
                  <a:gd name="T27" fmla="*/ 57 h 81"/>
                  <a:gd name="T28" fmla="*/ 23 w 312"/>
                  <a:gd name="T29" fmla="*/ 57 h 81"/>
                  <a:gd name="T30" fmla="*/ 23 w 312"/>
                  <a:gd name="T31" fmla="*/ 23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12" h="81">
                    <a:moveTo>
                      <a:pt x="0" y="11"/>
                    </a:moveTo>
                    <a:lnTo>
                      <a:pt x="0" y="11"/>
                    </a:lnTo>
                    <a:cubicBezTo>
                      <a:pt x="0" y="70"/>
                      <a:pt x="0" y="70"/>
                      <a:pt x="0" y="70"/>
                    </a:cubicBezTo>
                    <a:cubicBezTo>
                      <a:pt x="0" y="76"/>
                      <a:pt x="5" y="80"/>
                      <a:pt x="11" y="80"/>
                    </a:cubicBezTo>
                    <a:cubicBezTo>
                      <a:pt x="300" y="80"/>
                      <a:pt x="300" y="80"/>
                      <a:pt x="300" y="80"/>
                    </a:cubicBezTo>
                    <a:cubicBezTo>
                      <a:pt x="306" y="80"/>
                      <a:pt x="311" y="76"/>
                      <a:pt x="311" y="70"/>
                    </a:cubicBezTo>
                    <a:cubicBezTo>
                      <a:pt x="311" y="11"/>
                      <a:pt x="311" y="11"/>
                      <a:pt x="311" y="11"/>
                    </a:cubicBezTo>
                    <a:cubicBezTo>
                      <a:pt x="311" y="6"/>
                      <a:pt x="306" y="0"/>
                      <a:pt x="30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6"/>
                      <a:pt x="0" y="11"/>
                    </a:cubicBezTo>
                    <a:close/>
                    <a:moveTo>
                      <a:pt x="23" y="23"/>
                    </a:moveTo>
                    <a:lnTo>
                      <a:pt x="23" y="23"/>
                    </a:lnTo>
                    <a:cubicBezTo>
                      <a:pt x="288" y="23"/>
                      <a:pt x="288" y="23"/>
                      <a:pt x="288" y="23"/>
                    </a:cubicBezTo>
                    <a:cubicBezTo>
                      <a:pt x="288" y="57"/>
                      <a:pt x="288" y="57"/>
                      <a:pt x="288" y="57"/>
                    </a:cubicBezTo>
                    <a:cubicBezTo>
                      <a:pt x="23" y="57"/>
                      <a:pt x="23" y="57"/>
                      <a:pt x="23" y="57"/>
                    </a:cubicBezTo>
                    <a:lnTo>
                      <a:pt x="23" y="23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750"/>
              </a:p>
            </p:txBody>
          </p:sp>
        </p:grpSp>
      </p:grp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10276388" y="6372962"/>
            <a:ext cx="306355" cy="274324"/>
          </a:xfrm>
        </p:spPr>
        <p:txBody>
          <a:bodyPr/>
          <a:lstStyle/>
          <a:p>
            <a:fld id="{AFA02C0B-84B5-4CD2-A6CE-C6BD7D6F9045}" type="slidenum">
              <a:rPr lang="ko-KR" altLang="en-US" smtClean="0">
                <a:solidFill>
                  <a:schemeClr val="tx1"/>
                </a:solidFill>
              </a:rPr>
              <a:t>37</a:t>
            </a:fld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49664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>
          <a:xfrm>
            <a:off x="1524000" y="2702045"/>
            <a:ext cx="9144001" cy="76076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ko-KR" altLang="en-US" sz="3800" dirty="0">
                <a:solidFill>
                  <a:schemeClr val="bg1"/>
                </a:solidFill>
                <a:latin typeface="+mj-ea"/>
              </a:rPr>
              <a:t>도입 사례</a:t>
            </a:r>
          </a:p>
        </p:txBody>
      </p:sp>
      <p:sp>
        <p:nvSpPr>
          <p:cNvPr id="3" name="제목 1"/>
          <p:cNvSpPr txBox="1">
            <a:spLocks/>
          </p:cNvSpPr>
          <p:nvPr/>
        </p:nvSpPr>
        <p:spPr>
          <a:xfrm>
            <a:off x="5631825" y="3839619"/>
            <a:ext cx="928350" cy="42943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ko-KR" sz="1600" dirty="0">
                <a:solidFill>
                  <a:schemeClr val="bg1"/>
                </a:solidFill>
                <a:latin typeface="SB 어그로 Bold" panose="02020603020101020101" pitchFamily="18" charset="-127"/>
                <a:ea typeface="SB 어그로 Bold" panose="02020603020101020101" pitchFamily="18" charset="-127"/>
              </a:rPr>
              <a:t>07</a:t>
            </a:r>
            <a:endParaRPr lang="ko-KR" altLang="en-US" sz="1600" dirty="0">
              <a:solidFill>
                <a:schemeClr val="bg1"/>
              </a:solidFill>
              <a:latin typeface="SB 어그로 Bold" panose="02020603020101020101" pitchFamily="18" charset="-127"/>
              <a:ea typeface="SB 어그로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17491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S Bank : Vertica </a:t>
            </a:r>
            <a:r>
              <a:rPr lang="ko-KR" altLang="en-US" dirty="0">
                <a:latin typeface="+mj-ea"/>
                <a:ea typeface="+mj-ea"/>
              </a:rPr>
              <a:t>선정 배경</a:t>
            </a:r>
            <a:endParaRPr lang="ko-KR" altLang="en-US" sz="1400" dirty="0">
              <a:solidFill>
                <a:srgbClr val="0083CE"/>
              </a:solidFill>
              <a:latin typeface="+mj-ea"/>
              <a:ea typeface="+mj-ea"/>
            </a:endParaRPr>
          </a:p>
        </p:txBody>
      </p:sp>
      <p:grpSp>
        <p:nvGrpSpPr>
          <p:cNvPr id="75" name="그룹 74"/>
          <p:cNvGrpSpPr/>
          <p:nvPr/>
        </p:nvGrpSpPr>
        <p:grpSpPr>
          <a:xfrm>
            <a:off x="1159504" y="3659521"/>
            <a:ext cx="2953465" cy="2725200"/>
            <a:chOff x="1286569" y="3702651"/>
            <a:chExt cx="2953465" cy="2725200"/>
          </a:xfrm>
        </p:grpSpPr>
        <p:sp>
          <p:nvSpPr>
            <p:cNvPr id="37" name="모서리가 둥근 직사각형 28"/>
            <p:cNvSpPr/>
            <p:nvPr/>
          </p:nvSpPr>
          <p:spPr>
            <a:xfrm>
              <a:off x="1286569" y="3702651"/>
              <a:ext cx="2952000" cy="2725200"/>
            </a:xfrm>
            <a:prstGeom prst="roundRect">
              <a:avLst>
                <a:gd name="adj" fmla="val 11953"/>
              </a:avLst>
            </a:prstGeom>
            <a:solidFill>
              <a:schemeClr val="bg1"/>
            </a:solidFill>
            <a:ln w="1270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749"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grpSp>
          <p:nvGrpSpPr>
            <p:cNvPr id="38" name="그룹 29"/>
            <p:cNvGrpSpPr/>
            <p:nvPr/>
          </p:nvGrpSpPr>
          <p:grpSpPr>
            <a:xfrm>
              <a:off x="1286569" y="3702652"/>
              <a:ext cx="2953465" cy="464745"/>
              <a:chOff x="5596770" y="1863297"/>
              <a:chExt cx="2327800" cy="512403"/>
            </a:xfrm>
          </p:grpSpPr>
          <p:sp>
            <p:nvSpPr>
              <p:cNvPr id="39" name="모서리가 둥근 직사각형 30"/>
              <p:cNvSpPr/>
              <p:nvPr/>
            </p:nvSpPr>
            <p:spPr>
              <a:xfrm>
                <a:off x="5596770" y="1863297"/>
                <a:ext cx="2327800" cy="412877"/>
              </a:xfrm>
              <a:prstGeom prst="roundRect">
                <a:avLst>
                  <a:gd name="adj" fmla="val 50000"/>
                </a:avLst>
              </a:prstGeom>
              <a:solidFill>
                <a:srgbClr val="0070C0"/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749">
                  <a:latin typeface="나눔고딕" panose="020B0600000101010101" charset="-127"/>
                  <a:ea typeface="나눔고딕" panose="020B0600000101010101" charset="-127"/>
                </a:endParaRPr>
              </a:p>
            </p:txBody>
          </p:sp>
          <p:sp>
            <p:nvSpPr>
              <p:cNvPr id="40" name="모서리가 둥근 직사각형 31"/>
              <p:cNvSpPr/>
              <p:nvPr/>
            </p:nvSpPr>
            <p:spPr>
              <a:xfrm>
                <a:off x="5596770" y="2100447"/>
                <a:ext cx="2327800" cy="275253"/>
              </a:xfrm>
              <a:prstGeom prst="roundRect">
                <a:avLst>
                  <a:gd name="adj" fmla="val 0"/>
                </a:avLst>
              </a:prstGeom>
              <a:solidFill>
                <a:srgbClr val="0070C0"/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749">
                  <a:latin typeface="나눔고딕" panose="020B0600000101010101" charset="-127"/>
                  <a:ea typeface="나눔고딕" panose="020B0600000101010101" charset="-127"/>
                </a:endParaRPr>
              </a:p>
            </p:txBody>
          </p:sp>
        </p:grpSp>
        <p:sp>
          <p:nvSpPr>
            <p:cNvPr id="36" name="TextBox 35"/>
            <p:cNvSpPr txBox="1"/>
            <p:nvPr/>
          </p:nvSpPr>
          <p:spPr>
            <a:xfrm>
              <a:off x="1696207" y="3717844"/>
              <a:ext cx="2134189" cy="44627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0" algn="ctr"/>
              <a:r>
                <a:rPr lang="ko-KR" altLang="en-US" sz="1100" b="1" dirty="0">
                  <a:ln>
                    <a:solidFill>
                      <a:srgbClr val="8E8E8E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나눔고딕" panose="020B0600000101010101" charset="-127"/>
                  <a:ea typeface="나눔고딕" panose="020B0600000101010101" charset="-127"/>
                </a:rPr>
                <a:t>소프트웨어 기반의 </a:t>
              </a:r>
              <a:r>
                <a:rPr lang="en-US" altLang="ko-KR" sz="1200" b="1" dirty="0">
                  <a:ln>
                    <a:solidFill>
                      <a:srgbClr val="8E8E8E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나눔고딕" panose="020B0600000101010101" charset="-127"/>
                  <a:ea typeface="나눔고딕" panose="020B0600000101010101" charset="-127"/>
                </a:rPr>
                <a:t>C/S</a:t>
              </a:r>
              <a:r>
                <a:rPr lang="en-US" altLang="ko-KR" sz="1100" b="1" dirty="0">
                  <a:ln>
                    <a:solidFill>
                      <a:srgbClr val="8E8E8E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나눔고딕" panose="020B0600000101010101" charset="-127"/>
                  <a:ea typeface="나눔고딕" panose="020B0600000101010101" charset="-127"/>
                </a:rPr>
                <a:t> </a:t>
              </a:r>
              <a:r>
                <a:rPr lang="ko-KR" altLang="en-US" sz="1100" b="1" dirty="0">
                  <a:ln>
                    <a:solidFill>
                      <a:srgbClr val="8E8E8E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나눔고딕" panose="020B0600000101010101" charset="-127"/>
                  <a:ea typeface="나눔고딕" panose="020B0600000101010101" charset="-127"/>
                </a:rPr>
                <a:t>분리</a:t>
              </a:r>
              <a:endParaRPr lang="en-US" altLang="ko-KR" sz="1100" b="1" dirty="0">
                <a:ln>
                  <a:solidFill>
                    <a:srgbClr val="8E8E8E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  <a:p>
              <a:pPr lvl="0" algn="ctr"/>
              <a:r>
                <a:rPr lang="ko-KR" altLang="en-US" sz="1100" b="1" dirty="0">
                  <a:ln>
                    <a:solidFill>
                      <a:srgbClr val="8E8E8E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나눔고딕" panose="020B0600000101010101" charset="-127"/>
                  <a:ea typeface="나눔고딕" panose="020B0600000101010101" charset="-127"/>
                </a:rPr>
                <a:t>아키텍처 제공</a:t>
              </a:r>
            </a:p>
          </p:txBody>
        </p:sp>
        <p:sp>
          <p:nvSpPr>
            <p:cNvPr id="2" name="직사각형 1"/>
            <p:cNvSpPr/>
            <p:nvPr/>
          </p:nvSpPr>
          <p:spPr>
            <a:xfrm>
              <a:off x="1423651" y="4221558"/>
              <a:ext cx="2679300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80975" indent="-180975">
                <a:buFont typeface="Wingdings" panose="05000000000000000000" pitchFamily="2" charset="2"/>
                <a:buChar char="§"/>
              </a:pPr>
              <a:r>
                <a:rPr lang="ko-KR" altLang="en-US" sz="1100" dirty="0"/>
                <a:t>Software-only 제품으로 다양한 인프라 환경 지원</a:t>
              </a:r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1423651" y="4673715"/>
              <a:ext cx="2679300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80975" indent="-180975">
                <a:buFont typeface="Wingdings" panose="05000000000000000000" pitchFamily="2" charset="2"/>
                <a:buChar char="§"/>
              </a:pPr>
              <a:r>
                <a:rPr lang="ko-KR" altLang="en-US" sz="1100" dirty="0"/>
                <a:t>컴퓨팅과 스토리지가 분리되어 유연하고 효율적인 확장 지원</a:t>
              </a:r>
            </a:p>
          </p:txBody>
        </p:sp>
        <p:sp>
          <p:nvSpPr>
            <p:cNvPr id="60" name="직사각형 59"/>
            <p:cNvSpPr/>
            <p:nvPr/>
          </p:nvSpPr>
          <p:spPr>
            <a:xfrm>
              <a:off x="1423651" y="5125872"/>
              <a:ext cx="2679300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80975" indent="-180975">
                <a:buFont typeface="Wingdings" panose="05000000000000000000" pitchFamily="2" charset="2"/>
                <a:buChar char="§"/>
              </a:pPr>
              <a:r>
                <a:rPr lang="ko-KR" altLang="en-US" sz="1100" dirty="0"/>
                <a:t>오브젝트 </a:t>
              </a:r>
              <a:r>
                <a:rPr lang="ko-KR" altLang="en-US" sz="1100" dirty="0" err="1"/>
                <a:t>스토리지를</a:t>
              </a:r>
              <a:r>
                <a:rPr lang="ko-KR" altLang="en-US" sz="1100" dirty="0"/>
                <a:t> 데이터베이스로 활용함으로써 대용량 데이터를 비용 효율적으로 저장 및 관리</a:t>
              </a:r>
            </a:p>
          </p:txBody>
        </p:sp>
        <p:sp>
          <p:nvSpPr>
            <p:cNvPr id="63" name="직사각형 62"/>
            <p:cNvSpPr/>
            <p:nvPr/>
          </p:nvSpPr>
          <p:spPr>
            <a:xfrm>
              <a:off x="1423651" y="5739612"/>
              <a:ext cx="2679300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80975" indent="-180975">
                <a:buFont typeface="Wingdings" panose="05000000000000000000" pitchFamily="2" charset="2"/>
                <a:buChar char="§"/>
              </a:pPr>
              <a:r>
                <a:rPr lang="en-US" altLang="ko-KR" sz="1100" dirty="0"/>
                <a:t>Public Cloud</a:t>
              </a:r>
              <a:r>
                <a:rPr lang="ko-KR" altLang="en-US" sz="1100" dirty="0"/>
                <a:t>와 </a:t>
              </a:r>
              <a:r>
                <a:rPr lang="en-US" altLang="ko-KR" sz="1100" dirty="0"/>
                <a:t>On-premise</a:t>
              </a:r>
              <a:r>
                <a:rPr lang="ko-KR" altLang="en-US" sz="1100" dirty="0"/>
                <a:t>의 하이브리드 구성 지원하여 데이터 보안 위협 방지와 벤더 </a:t>
              </a:r>
              <a:r>
                <a:rPr lang="en-US" altLang="ko-KR" sz="1100" dirty="0"/>
                <a:t>Lock-in </a:t>
              </a:r>
              <a:r>
                <a:rPr lang="ko-KR" altLang="en-US" sz="1100" dirty="0"/>
                <a:t>제거</a:t>
              </a:r>
            </a:p>
          </p:txBody>
        </p:sp>
      </p:grpSp>
      <p:grpSp>
        <p:nvGrpSpPr>
          <p:cNvPr id="74" name="그룹 73"/>
          <p:cNvGrpSpPr/>
          <p:nvPr/>
        </p:nvGrpSpPr>
        <p:grpSpPr>
          <a:xfrm>
            <a:off x="4620733" y="3659523"/>
            <a:ext cx="2952000" cy="2724187"/>
            <a:chOff x="4789930" y="3702653"/>
            <a:chExt cx="2952000" cy="2724187"/>
          </a:xfrm>
        </p:grpSpPr>
        <p:sp>
          <p:nvSpPr>
            <p:cNvPr id="30" name="모서리가 둥근 직사각형 54"/>
            <p:cNvSpPr/>
            <p:nvPr/>
          </p:nvSpPr>
          <p:spPr>
            <a:xfrm>
              <a:off x="4789930" y="3702653"/>
              <a:ext cx="2952000" cy="2724187"/>
            </a:xfrm>
            <a:prstGeom prst="roundRect">
              <a:avLst>
                <a:gd name="adj" fmla="val 11953"/>
              </a:avLst>
            </a:prstGeom>
            <a:solidFill>
              <a:schemeClr val="bg1"/>
            </a:solidFill>
            <a:ln w="1270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749"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grpSp>
          <p:nvGrpSpPr>
            <p:cNvPr id="31" name="그룹 55"/>
            <p:cNvGrpSpPr/>
            <p:nvPr/>
          </p:nvGrpSpPr>
          <p:grpSpPr>
            <a:xfrm>
              <a:off x="4789930" y="3715132"/>
              <a:ext cx="2952000" cy="441708"/>
              <a:chOff x="5596770" y="1863296"/>
              <a:chExt cx="2327800" cy="487004"/>
            </a:xfrm>
          </p:grpSpPr>
          <p:sp>
            <p:nvSpPr>
              <p:cNvPr id="32" name="모서리가 둥근 직사각형 56"/>
              <p:cNvSpPr/>
              <p:nvPr/>
            </p:nvSpPr>
            <p:spPr>
              <a:xfrm>
                <a:off x="5596770" y="1863296"/>
                <a:ext cx="2327800" cy="461297"/>
              </a:xfrm>
              <a:prstGeom prst="roundRect">
                <a:avLst>
                  <a:gd name="adj" fmla="val 44463"/>
                </a:avLst>
              </a:prstGeom>
              <a:solidFill>
                <a:srgbClr val="009ED6"/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749">
                  <a:latin typeface="나눔고딕" panose="020B0600000101010101" charset="-127"/>
                  <a:ea typeface="나눔고딕" panose="020B0600000101010101" charset="-127"/>
                </a:endParaRPr>
              </a:p>
            </p:txBody>
          </p:sp>
          <p:sp>
            <p:nvSpPr>
              <p:cNvPr id="33" name="모서리가 둥근 직사각형 57"/>
              <p:cNvSpPr/>
              <p:nvPr/>
            </p:nvSpPr>
            <p:spPr>
              <a:xfrm>
                <a:off x="5596770" y="2075047"/>
                <a:ext cx="2327800" cy="275253"/>
              </a:xfrm>
              <a:prstGeom prst="roundRect">
                <a:avLst>
                  <a:gd name="adj" fmla="val 0"/>
                </a:avLst>
              </a:prstGeom>
              <a:solidFill>
                <a:srgbClr val="009ED6"/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749">
                  <a:latin typeface="나눔고딕" panose="020B0600000101010101" charset="-127"/>
                  <a:ea typeface="나눔고딕" panose="020B0600000101010101" charset="-127"/>
                </a:endParaRPr>
              </a:p>
            </p:txBody>
          </p:sp>
        </p:grpSp>
        <p:sp>
          <p:nvSpPr>
            <p:cNvPr id="29" name="TextBox 28"/>
            <p:cNvSpPr txBox="1"/>
            <p:nvPr/>
          </p:nvSpPr>
          <p:spPr>
            <a:xfrm>
              <a:off x="5491520" y="3705154"/>
              <a:ext cx="1548821" cy="46166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lvl="0" algn="ctr"/>
              <a:r>
                <a:rPr lang="ko-KR" altLang="en-US" sz="1200" b="1" dirty="0">
                  <a:ln>
                    <a:solidFill>
                      <a:srgbClr val="8E8E8E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나눔고딕" panose="020B0600000101010101" charset="-127"/>
                  <a:ea typeface="나눔고딕" panose="020B0600000101010101" charset="-127"/>
                </a:rPr>
                <a:t>멀티 클러스터를 통한</a:t>
              </a:r>
              <a:endParaRPr lang="en-US" altLang="ko-KR" sz="1200" b="1" dirty="0">
                <a:ln>
                  <a:solidFill>
                    <a:srgbClr val="8E8E8E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  <a:p>
              <a:pPr lvl="0" algn="ctr"/>
              <a:r>
                <a:rPr lang="ko-KR" altLang="en-US" sz="1200" b="1" dirty="0">
                  <a:ln>
                    <a:solidFill>
                      <a:srgbClr val="8E8E8E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나눔고딕" panose="020B0600000101010101" charset="-127"/>
                  <a:ea typeface="나눔고딕" panose="020B0600000101010101" charset="-127"/>
                </a:rPr>
                <a:t>워크로드 최적화</a:t>
              </a:r>
            </a:p>
          </p:txBody>
        </p:sp>
        <p:sp>
          <p:nvSpPr>
            <p:cNvPr id="67" name="직사각형 66"/>
            <p:cNvSpPr/>
            <p:nvPr/>
          </p:nvSpPr>
          <p:spPr>
            <a:xfrm>
              <a:off x="4929227" y="4221558"/>
              <a:ext cx="2673406" cy="7694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80975" indent="-180975">
                <a:buFont typeface="Wingdings" panose="05000000000000000000" pitchFamily="2" charset="2"/>
                <a:buChar char="§"/>
              </a:pPr>
              <a:r>
                <a:rPr lang="ko-KR" altLang="en-US" sz="1100" dirty="0"/>
                <a:t>단일 데이터베이스로 </a:t>
              </a:r>
              <a:r>
                <a:rPr lang="en-US" altLang="ko-KR" sz="1100" dirty="0"/>
                <a:t>Vertica</a:t>
              </a:r>
              <a:r>
                <a:rPr lang="ko-KR" altLang="en-US" sz="1100" dirty="0"/>
                <a:t>와 </a:t>
              </a:r>
              <a:r>
                <a:rPr lang="en-US" altLang="ko-KR" sz="1100" dirty="0"/>
                <a:t>Teradata </a:t>
              </a:r>
              <a:r>
                <a:rPr lang="ko-KR" altLang="en-US" sz="1100" dirty="0"/>
                <a:t>통합하지만 주요 워크로드를 물리적인 클러스터로 분리하여 주요 </a:t>
              </a:r>
              <a:r>
                <a:rPr lang="en-US" altLang="ko-KR" sz="1100" dirty="0"/>
                <a:t>SLA</a:t>
              </a:r>
              <a:r>
                <a:rPr lang="ko-KR" altLang="en-US" sz="1100" dirty="0"/>
                <a:t>를 충족</a:t>
              </a:r>
            </a:p>
          </p:txBody>
        </p:sp>
        <p:sp>
          <p:nvSpPr>
            <p:cNvPr id="68" name="직사각형 67"/>
            <p:cNvSpPr/>
            <p:nvPr/>
          </p:nvSpPr>
          <p:spPr>
            <a:xfrm>
              <a:off x="4929227" y="4982885"/>
              <a:ext cx="2673406" cy="7694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80975" indent="-180975">
                <a:buFont typeface="Wingdings" panose="05000000000000000000" pitchFamily="2" charset="2"/>
                <a:buChar char="§"/>
              </a:pPr>
              <a:r>
                <a:rPr lang="en-US" altLang="ko-KR" sz="1100" dirty="0"/>
                <a:t>Workload routing </a:t>
              </a:r>
              <a:r>
                <a:rPr lang="ko-KR" altLang="en-US" sz="1100" dirty="0"/>
                <a:t>을 통해 클라이언트들은 정의된 </a:t>
              </a:r>
              <a:r>
                <a:rPr lang="en-US" altLang="ko-KR" sz="1100" dirty="0"/>
                <a:t>rule</a:t>
              </a:r>
              <a:r>
                <a:rPr lang="ko-KR" altLang="en-US" sz="1100" dirty="0"/>
                <a:t>에 따라 각 클러스터로 자동으로 </a:t>
              </a:r>
              <a:r>
                <a:rPr lang="ko-KR" altLang="en-US" sz="1100" dirty="0" err="1"/>
                <a:t>라우팅되어</a:t>
              </a:r>
              <a:r>
                <a:rPr lang="ko-KR" altLang="en-US" sz="1100" dirty="0"/>
                <a:t> 효율적인 컴퓨팅 리소스 활용</a:t>
              </a:r>
            </a:p>
          </p:txBody>
        </p:sp>
        <p:sp>
          <p:nvSpPr>
            <p:cNvPr id="69" name="직사각형 68"/>
            <p:cNvSpPr/>
            <p:nvPr/>
          </p:nvSpPr>
          <p:spPr>
            <a:xfrm>
              <a:off x="4929227" y="5739612"/>
              <a:ext cx="2673406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80975" indent="-180975">
                <a:buFont typeface="Wingdings" panose="05000000000000000000" pitchFamily="2" charset="2"/>
                <a:buChar char="§"/>
              </a:pPr>
              <a:r>
                <a:rPr lang="ko-KR" altLang="en-US" sz="1100" dirty="0"/>
                <a:t>클러스터간 데이터 동기화가 별도로 필요치 않아 효율적인 클러스터 활용 지원</a:t>
              </a:r>
            </a:p>
          </p:txBody>
        </p:sp>
      </p:grpSp>
      <p:grpSp>
        <p:nvGrpSpPr>
          <p:cNvPr id="26" name="그룹 25"/>
          <p:cNvGrpSpPr/>
          <p:nvPr/>
        </p:nvGrpSpPr>
        <p:grpSpPr>
          <a:xfrm>
            <a:off x="8080497" y="3681099"/>
            <a:ext cx="2952000" cy="2702611"/>
            <a:chOff x="8340912" y="3724229"/>
            <a:chExt cx="2952000" cy="2702611"/>
          </a:xfrm>
        </p:grpSpPr>
        <p:sp>
          <p:nvSpPr>
            <p:cNvPr id="54" name="모서리가 둥근 직사각형 62"/>
            <p:cNvSpPr/>
            <p:nvPr/>
          </p:nvSpPr>
          <p:spPr>
            <a:xfrm>
              <a:off x="8340912" y="3724229"/>
              <a:ext cx="2952000" cy="2702611"/>
            </a:xfrm>
            <a:prstGeom prst="roundRect">
              <a:avLst>
                <a:gd name="adj" fmla="val 11953"/>
              </a:avLst>
            </a:prstGeom>
            <a:solidFill>
              <a:schemeClr val="bg1"/>
            </a:solidFill>
            <a:ln w="1270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749"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grpSp>
          <p:nvGrpSpPr>
            <p:cNvPr id="55" name="그룹 63"/>
            <p:cNvGrpSpPr/>
            <p:nvPr/>
          </p:nvGrpSpPr>
          <p:grpSpPr>
            <a:xfrm>
              <a:off x="8340912" y="3727288"/>
              <a:ext cx="2952000" cy="464746"/>
              <a:chOff x="5596770" y="1863296"/>
              <a:chExt cx="2327800" cy="512404"/>
            </a:xfrm>
          </p:grpSpPr>
          <p:sp>
            <p:nvSpPr>
              <p:cNvPr id="56" name="모서리가 둥근 직사각형 64"/>
              <p:cNvSpPr/>
              <p:nvPr/>
            </p:nvSpPr>
            <p:spPr>
              <a:xfrm>
                <a:off x="5596770" y="1863296"/>
                <a:ext cx="2327800" cy="412877"/>
              </a:xfrm>
              <a:prstGeom prst="roundRect">
                <a:avLst>
                  <a:gd name="adj" fmla="val 50000"/>
                </a:avLst>
              </a:prstGeom>
              <a:solidFill>
                <a:srgbClr val="1C4076"/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749">
                  <a:latin typeface="나눔고딕" panose="020B0600000101010101" charset="-127"/>
                  <a:ea typeface="나눔고딕" panose="020B0600000101010101" charset="-127"/>
                </a:endParaRPr>
              </a:p>
            </p:txBody>
          </p:sp>
          <p:sp>
            <p:nvSpPr>
              <p:cNvPr id="57" name="모서리가 둥근 직사각형 65"/>
              <p:cNvSpPr/>
              <p:nvPr/>
            </p:nvSpPr>
            <p:spPr>
              <a:xfrm>
                <a:off x="5596770" y="2100447"/>
                <a:ext cx="2327800" cy="275253"/>
              </a:xfrm>
              <a:prstGeom prst="roundRect">
                <a:avLst>
                  <a:gd name="adj" fmla="val 0"/>
                </a:avLst>
              </a:prstGeom>
              <a:solidFill>
                <a:srgbClr val="1C4076"/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749">
                  <a:latin typeface="나눔고딕" panose="020B0600000101010101" charset="-127"/>
                  <a:ea typeface="나눔고딕" panose="020B0600000101010101" charset="-127"/>
                </a:endParaRPr>
              </a:p>
            </p:txBody>
          </p:sp>
        </p:grpSp>
        <p:sp>
          <p:nvSpPr>
            <p:cNvPr id="53" name="TextBox 52"/>
            <p:cNvSpPr txBox="1"/>
            <p:nvPr/>
          </p:nvSpPr>
          <p:spPr>
            <a:xfrm>
              <a:off x="9276540" y="3728829"/>
              <a:ext cx="1080744" cy="46166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lvl="0" algn="ctr"/>
              <a:r>
                <a:rPr lang="ko-KR" altLang="en-US" sz="1200" b="1" dirty="0">
                  <a:ln>
                    <a:solidFill>
                      <a:srgbClr val="8E8E8E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나눔고딕" panose="020B0600000101010101" charset="-127"/>
                  <a:ea typeface="나눔고딕" panose="020B0600000101010101" charset="-127"/>
                </a:rPr>
                <a:t>효율적인</a:t>
              </a:r>
              <a:endParaRPr lang="en-US" altLang="ko-KR" sz="1200" b="1" dirty="0">
                <a:ln>
                  <a:solidFill>
                    <a:srgbClr val="8E8E8E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  <a:p>
              <a:pPr lvl="0" algn="ctr"/>
              <a:r>
                <a:rPr lang="ko-KR" altLang="en-US" sz="1200" b="1" dirty="0">
                  <a:ln>
                    <a:solidFill>
                      <a:srgbClr val="8E8E8E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나눔고딕" panose="020B0600000101010101" charset="-127"/>
                  <a:ea typeface="나눔고딕" panose="020B0600000101010101" charset="-127"/>
                </a:rPr>
                <a:t>빅데이터 연계</a:t>
              </a:r>
            </a:p>
          </p:txBody>
        </p:sp>
        <p:sp>
          <p:nvSpPr>
            <p:cNvPr id="70" name="직사각형 69"/>
            <p:cNvSpPr/>
            <p:nvPr/>
          </p:nvSpPr>
          <p:spPr>
            <a:xfrm>
              <a:off x="8450006" y="4267724"/>
              <a:ext cx="2718966" cy="9002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80975" indent="-180975">
                <a:buFont typeface="Wingdings" panose="05000000000000000000" pitchFamily="2" charset="2"/>
                <a:buChar char="§"/>
              </a:pPr>
              <a:r>
                <a:rPr lang="ko-KR" altLang="en-US" sz="1050" dirty="0"/>
                <a:t>엔진에 내장된 카프카 </a:t>
              </a:r>
              <a:r>
                <a:rPr lang="en-US" altLang="ko-KR" sz="1050" dirty="0"/>
                <a:t>Producer/Consumer </a:t>
              </a:r>
              <a:r>
                <a:rPr lang="ko-KR" altLang="en-US" sz="1050" dirty="0"/>
                <a:t>를 활용하여 신속하게 해당 업무를 배포함으로써 증가하는 카프카 연계 업무를 효율적으로 지원</a:t>
              </a:r>
            </a:p>
          </p:txBody>
        </p:sp>
        <p:sp>
          <p:nvSpPr>
            <p:cNvPr id="71" name="직사각형 70"/>
            <p:cNvSpPr/>
            <p:nvPr/>
          </p:nvSpPr>
          <p:spPr>
            <a:xfrm>
              <a:off x="8450006" y="5215595"/>
              <a:ext cx="2718966" cy="4154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80975" indent="-180975">
                <a:buFont typeface="Wingdings" panose="05000000000000000000" pitchFamily="2" charset="2"/>
                <a:buChar char="§"/>
              </a:pPr>
              <a:r>
                <a:rPr lang="ko-KR" altLang="en-US" sz="1050" dirty="0"/>
                <a:t>오브젝트 </a:t>
              </a:r>
              <a:r>
                <a:rPr lang="ko-KR" altLang="en-US" sz="1050" dirty="0" err="1"/>
                <a:t>스토리지를</a:t>
              </a:r>
              <a:r>
                <a:rPr lang="ko-KR" altLang="en-US" sz="1050" dirty="0"/>
                <a:t> 데이터 허브로 활용하기 위한 다양한 기능을 제공</a:t>
              </a:r>
            </a:p>
          </p:txBody>
        </p:sp>
        <p:sp>
          <p:nvSpPr>
            <p:cNvPr id="72" name="직사각형 71"/>
            <p:cNvSpPr/>
            <p:nvPr/>
          </p:nvSpPr>
          <p:spPr>
            <a:xfrm>
              <a:off x="8750853" y="5598178"/>
              <a:ext cx="2308699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>
                <a:buFontTx/>
                <a:buChar char="-"/>
              </a:pPr>
              <a:r>
                <a:rPr lang="en-US" altLang="ko-KR" sz="900" dirty="0"/>
                <a:t>External data(Parquet / </a:t>
              </a:r>
              <a:r>
                <a:rPr lang="en-US" altLang="ko-KR" sz="900" dirty="0" err="1"/>
                <a:t>Json</a:t>
              </a:r>
              <a:r>
                <a:rPr lang="en-US" altLang="ko-KR" sz="900" dirty="0"/>
                <a:t> </a:t>
              </a:r>
              <a:r>
                <a:rPr lang="ko-KR" altLang="en-US" sz="900" dirty="0"/>
                <a:t>등</a:t>
              </a:r>
              <a:r>
                <a:rPr lang="en-US" altLang="ko-KR" sz="900" dirty="0"/>
                <a:t>) </a:t>
              </a:r>
              <a:r>
                <a:rPr lang="ko-KR" altLang="en-US" sz="900" dirty="0"/>
                <a:t>직접 조회</a:t>
              </a:r>
              <a:endParaRPr lang="en-US" altLang="ko-KR" sz="900" dirty="0"/>
            </a:p>
            <a:p>
              <a:pPr marL="171450" indent="-171450">
                <a:buFontTx/>
                <a:buChar char="-"/>
              </a:pPr>
              <a:r>
                <a:rPr lang="en-US" altLang="ko-KR" sz="900" dirty="0"/>
                <a:t>Parquet / </a:t>
              </a:r>
              <a:r>
                <a:rPr lang="en-US" altLang="ko-KR" sz="900" dirty="0" err="1"/>
                <a:t>Json</a:t>
              </a:r>
              <a:r>
                <a:rPr lang="en-US" altLang="ko-KR" sz="900" dirty="0"/>
                <a:t> </a:t>
              </a:r>
              <a:r>
                <a:rPr lang="ko-KR" altLang="en-US" sz="900" dirty="0"/>
                <a:t>등의 다양한 포맷으로 데이터 병렬 추출</a:t>
              </a:r>
            </a:p>
          </p:txBody>
        </p:sp>
      </p:grpSp>
      <p:grpSp>
        <p:nvGrpSpPr>
          <p:cNvPr id="25" name="그룹 24"/>
          <p:cNvGrpSpPr/>
          <p:nvPr/>
        </p:nvGrpSpPr>
        <p:grpSpPr>
          <a:xfrm>
            <a:off x="1132449" y="1649384"/>
            <a:ext cx="10632013" cy="1607272"/>
            <a:chOff x="1169522" y="1506509"/>
            <a:chExt cx="10264826" cy="1607272"/>
          </a:xfrm>
        </p:grpSpPr>
        <p:sp>
          <p:nvSpPr>
            <p:cNvPr id="73" name="직사각형 25"/>
            <p:cNvSpPr/>
            <p:nvPr/>
          </p:nvSpPr>
          <p:spPr>
            <a:xfrm>
              <a:off x="1169522" y="1506509"/>
              <a:ext cx="1376024" cy="1607272"/>
            </a:xfrm>
            <a:prstGeom prst="rect">
              <a:avLst/>
            </a:prstGeom>
            <a:solidFill>
              <a:srgbClr val="1C40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ko-KR" altLang="en-US" b="1" dirty="0">
                  <a:latin typeface="+mn-ea"/>
                </a:rPr>
                <a:t>고객사</a:t>
              </a:r>
              <a:endParaRPr lang="en-US" altLang="ko-KR" b="1" dirty="0">
                <a:latin typeface="+mn-ea"/>
              </a:endParaRPr>
            </a:p>
            <a:p>
              <a:pPr algn="ctr">
                <a:lnSpc>
                  <a:spcPct val="130000"/>
                </a:lnSpc>
              </a:pPr>
              <a:r>
                <a:rPr lang="ko-KR" altLang="en-US" b="1" dirty="0">
                  <a:latin typeface="+mn-ea"/>
                </a:rPr>
                <a:t>주요 요건</a:t>
              </a:r>
            </a:p>
          </p:txBody>
        </p:sp>
        <p:sp>
          <p:nvSpPr>
            <p:cNvPr id="24" name="모서리가 둥근 직사각형 23"/>
            <p:cNvSpPr/>
            <p:nvPr/>
          </p:nvSpPr>
          <p:spPr>
            <a:xfrm>
              <a:off x="2564417" y="1506509"/>
              <a:ext cx="8869931" cy="1607272"/>
            </a:xfrm>
            <a:prstGeom prst="roundRect">
              <a:avLst>
                <a:gd name="adj" fmla="val 7123"/>
              </a:avLst>
            </a:prstGeom>
            <a:gradFill flip="none" rotWithShape="1">
              <a:gsLst>
                <a:gs pos="0">
                  <a:schemeClr val="bg1"/>
                </a:gs>
                <a:gs pos="66000">
                  <a:schemeClr val="bg1">
                    <a:lumMod val="95000"/>
                  </a:schemeClr>
                </a:gs>
                <a:gs pos="88000">
                  <a:schemeClr val="bg1">
                    <a:lumMod val="8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80975" indent="-180975">
                <a:spcAft>
                  <a:spcPts val="600"/>
                </a:spcAft>
                <a:buFont typeface="Wingdings" panose="05000000000000000000" pitchFamily="2" charset="2"/>
                <a:buChar char="§"/>
              </a:pPr>
              <a:r>
                <a:rPr lang="ko-KR" altLang="en-US" sz="1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빠르게 증가하는 데이터 및 다양한 분석 요건을 효율적으로 지원하는 데이터 플랫폼 필요</a:t>
              </a:r>
            </a:p>
            <a:p>
              <a:pPr marL="180975" indent="-180975">
                <a:spcAft>
                  <a:spcPts val="600"/>
                </a:spcAft>
                <a:buFont typeface="Wingdings" panose="05000000000000000000" pitchFamily="2" charset="2"/>
                <a:buChar char="§"/>
              </a:pPr>
              <a:r>
                <a:rPr lang="en-US" altLang="ko-KR" sz="1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Vertica</a:t>
              </a:r>
              <a:r>
                <a:rPr lang="ko-KR" altLang="en-US" sz="1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와 </a:t>
              </a:r>
              <a:r>
                <a:rPr lang="en-US" altLang="ko-KR" sz="1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Teradata </a:t>
              </a:r>
              <a:r>
                <a:rPr lang="ko-KR" altLang="en-US" sz="1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로 이원화되어 있던 </a:t>
              </a:r>
              <a:r>
                <a:rPr lang="en-US" altLang="ko-KR" sz="1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DW</a:t>
              </a:r>
              <a:r>
                <a:rPr lang="ko-KR" altLang="en-US" sz="1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를 안정적으로 통합하기 위한 미래 지향적인 아키텍처 및 </a:t>
              </a:r>
              <a:r>
                <a:rPr lang="en-US" altLang="ko-KR" sz="1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TCO </a:t>
              </a:r>
              <a:r>
                <a:rPr lang="ko-KR" altLang="en-US" sz="1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최적화 필요</a:t>
              </a:r>
            </a:p>
            <a:p>
              <a:pPr marL="180975" indent="-180975">
                <a:spcAft>
                  <a:spcPts val="600"/>
                </a:spcAft>
                <a:buFont typeface="Wingdings" panose="05000000000000000000" pitchFamily="2" charset="2"/>
                <a:buChar char="§"/>
              </a:pPr>
              <a:r>
                <a:rPr lang="en-US" altLang="ko-KR" sz="1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Data-driven business </a:t>
              </a:r>
              <a:r>
                <a:rPr lang="ko-KR" altLang="en-US" sz="1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가속화를 위해 </a:t>
              </a:r>
              <a:r>
                <a:rPr lang="en-US" altLang="ko-KR" sz="1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DW</a:t>
              </a:r>
              <a:r>
                <a:rPr lang="ko-KR" altLang="en-US" sz="1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를 확장하여 </a:t>
              </a:r>
              <a:r>
                <a:rPr lang="en-US" altLang="ko-KR" sz="1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Data Lakehouse </a:t>
              </a:r>
              <a:r>
                <a:rPr lang="ko-KR" altLang="en-US" sz="1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아키텍처 기반의 플랫폼 구축 필요</a:t>
              </a:r>
            </a:p>
            <a:p>
              <a:pPr marL="180975" indent="-180975">
                <a:spcAft>
                  <a:spcPts val="600"/>
                </a:spcAft>
                <a:buFont typeface="Wingdings" panose="05000000000000000000" pitchFamily="2" charset="2"/>
                <a:buChar char="§"/>
              </a:pPr>
              <a:r>
                <a:rPr lang="ko-KR" altLang="en-US" sz="1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인프라 환경 변화</a:t>
              </a:r>
              <a:r>
                <a:rPr lang="en-US" altLang="ko-KR" sz="1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(</a:t>
              </a:r>
              <a:r>
                <a:rPr lang="ko-KR" altLang="en-US" sz="1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클라우드 전환 등</a:t>
              </a:r>
              <a:r>
                <a:rPr lang="en-US" altLang="ko-KR" sz="1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)</a:t>
              </a:r>
              <a:r>
                <a:rPr lang="ko-KR" altLang="en-US" sz="1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에 유연하게 대응할 수 있는 아키텍처 필요</a:t>
              </a:r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1132449" y="3247726"/>
            <a:ext cx="9927103" cy="426603"/>
            <a:chOff x="1132449" y="3247726"/>
            <a:chExt cx="9927103" cy="426603"/>
          </a:xfrm>
        </p:grpSpPr>
        <p:sp>
          <p:nvSpPr>
            <p:cNvPr id="77" name="이등변 삼각형 76">
              <a:extLst>
                <a:ext uri="{FF2B5EF4-FFF2-40B4-BE49-F238E27FC236}">
                  <a16:creationId xmlns="" xmlns:a16="http://schemas.microsoft.com/office/drawing/2014/main" id="{A473B021-0071-8351-48B7-BB0FC8000FA6}"/>
                </a:ext>
              </a:extLst>
            </p:cNvPr>
            <p:cNvSpPr/>
            <p:nvPr/>
          </p:nvSpPr>
          <p:spPr>
            <a:xfrm rot="10800000">
              <a:off x="1132449" y="3257202"/>
              <a:ext cx="9927103" cy="417127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="" xmlns:a16="http://schemas.microsoft.com/office/drawing/2014/main" id="{D63DF649-5B84-C1CD-C431-601EB095A409}"/>
                </a:ext>
              </a:extLst>
            </p:cNvPr>
            <p:cNvSpPr txBox="1"/>
            <p:nvPr/>
          </p:nvSpPr>
          <p:spPr>
            <a:xfrm>
              <a:off x="4434936" y="3247726"/>
              <a:ext cx="3322127" cy="276999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spAutoFit/>
            </a:bodyPr>
            <a:lstStyle/>
            <a:p>
              <a:pPr algn="ctr"/>
              <a:r>
                <a:rPr lang="ko-KR" altLang="en-US" sz="1200" b="1" dirty="0">
                  <a:solidFill>
                    <a:schemeClr val="bg1"/>
                  </a:solidFill>
                  <a:latin typeface="+mj-lt"/>
                  <a:cs typeface="Arial" panose="020B0604020202020204" pitchFamily="34" charset="0"/>
                </a:rPr>
                <a:t>고객사 요건 대응을 위한 </a:t>
              </a:r>
              <a:r>
                <a:rPr lang="en-GB" altLang="ko-KR" sz="1200" b="1" dirty="0">
                  <a:solidFill>
                    <a:schemeClr val="bg1"/>
                  </a:solidFill>
                  <a:latin typeface="+mj-lt"/>
                  <a:cs typeface="Arial" panose="020B0604020202020204" pitchFamily="34" charset="0"/>
                </a:rPr>
                <a:t>Vertica </a:t>
              </a:r>
              <a:r>
                <a:rPr lang="ko-KR" altLang="en-US" sz="1200" b="1" dirty="0">
                  <a:solidFill>
                    <a:schemeClr val="bg1"/>
                  </a:solidFill>
                  <a:latin typeface="+mj-lt"/>
                  <a:cs typeface="Arial" panose="020B0604020202020204" pitchFamily="34" charset="0"/>
                </a:rPr>
                <a:t>주요 특장점</a:t>
              </a:r>
              <a:endParaRPr lang="en-GB" altLang="ko-KR" sz="14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sp>
        <p:nvSpPr>
          <p:cNvPr id="80" name="제목 1"/>
          <p:cNvSpPr txBox="1">
            <a:spLocks/>
          </p:cNvSpPr>
          <p:nvPr/>
        </p:nvSpPr>
        <p:spPr>
          <a:xfrm>
            <a:off x="1183820" y="3678747"/>
            <a:ext cx="392364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2300" b="1">
                <a:latin typeface="나눔스퀘어 Bold" pitchFamily="50" charset="-127"/>
                <a:ea typeface="나눔스퀘어 Bold" pitchFamily="50" charset="-127"/>
              </a:defRPr>
            </a:lvl1pPr>
          </a:lstStyle>
          <a:p>
            <a:pPr lvl="0" algn="r">
              <a:spcBef>
                <a:spcPct val="0"/>
              </a:spcBef>
              <a:buClr>
                <a:schemeClr val="tx1">
                  <a:lumMod val="75000"/>
                  <a:lumOff val="25000"/>
                </a:schemeClr>
              </a:buClr>
              <a:defRPr/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1</a:t>
            </a:r>
            <a:endParaRPr lang="ko-KR" altLang="en-US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81" name="제목 1"/>
          <p:cNvSpPr txBox="1">
            <a:spLocks/>
          </p:cNvSpPr>
          <p:nvPr/>
        </p:nvSpPr>
        <p:spPr>
          <a:xfrm>
            <a:off x="4638318" y="3676229"/>
            <a:ext cx="392364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2300" b="1">
                <a:latin typeface="나눔스퀘어 Bold" pitchFamily="50" charset="-127"/>
                <a:ea typeface="나눔스퀘어 Bold" pitchFamily="50" charset="-127"/>
              </a:defRPr>
            </a:lvl1pPr>
          </a:lstStyle>
          <a:p>
            <a:pPr lvl="0" algn="r">
              <a:spcBef>
                <a:spcPct val="0"/>
              </a:spcBef>
              <a:buClr>
                <a:schemeClr val="tx1">
                  <a:lumMod val="75000"/>
                  <a:lumOff val="25000"/>
                </a:schemeClr>
              </a:buClr>
              <a:defRPr/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2</a:t>
            </a:r>
            <a:endParaRPr lang="ko-KR" altLang="en-US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82" name="제목 1"/>
          <p:cNvSpPr txBox="1">
            <a:spLocks/>
          </p:cNvSpPr>
          <p:nvPr/>
        </p:nvSpPr>
        <p:spPr>
          <a:xfrm>
            <a:off x="8097191" y="3693889"/>
            <a:ext cx="392364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2300" b="1">
                <a:latin typeface="나눔스퀘어 Bold" pitchFamily="50" charset="-127"/>
                <a:ea typeface="나눔스퀘어 Bold" pitchFamily="50" charset="-127"/>
              </a:defRPr>
            </a:lvl1pPr>
          </a:lstStyle>
          <a:p>
            <a:pPr lvl="0" algn="r">
              <a:spcBef>
                <a:spcPct val="0"/>
              </a:spcBef>
              <a:buClr>
                <a:schemeClr val="tx1">
                  <a:lumMod val="75000"/>
                  <a:lumOff val="25000"/>
                </a:schemeClr>
              </a:buClr>
              <a:defRPr/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3</a:t>
            </a:r>
            <a:endParaRPr lang="ko-KR" altLang="en-US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10282977" y="6374536"/>
            <a:ext cx="278505" cy="249385"/>
          </a:xfrm>
        </p:spPr>
        <p:txBody>
          <a:bodyPr/>
          <a:lstStyle/>
          <a:p>
            <a:fld id="{AFA02C0B-84B5-4CD2-A6CE-C6BD7D6F9045}" type="slidenum">
              <a:rPr lang="ko-KR" altLang="en-US" smtClean="0">
                <a:solidFill>
                  <a:schemeClr val="bg1"/>
                </a:solidFill>
              </a:rPr>
              <a:t>39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8227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S Bank : </a:t>
            </a:r>
            <a:r>
              <a:rPr lang="ko-KR" altLang="en-US" sz="2800" dirty="0">
                <a:latin typeface="+mj-ea"/>
                <a:ea typeface="+mj-ea"/>
              </a:rPr>
              <a:t>버티카 기반의 통합 </a:t>
            </a:r>
            <a:r>
              <a:rPr lang="en-US" altLang="ko-KR" sz="2800" dirty="0">
                <a:latin typeface="+mj-ea"/>
                <a:ea typeface="+mj-ea"/>
              </a:rPr>
              <a:t>DW </a:t>
            </a:r>
            <a:r>
              <a:rPr lang="ko-KR" altLang="en-US" sz="2800" dirty="0">
                <a:latin typeface="+mj-ea"/>
                <a:ea typeface="+mj-ea"/>
              </a:rPr>
              <a:t>구축을 통한 주요 이점</a:t>
            </a:r>
            <a:endParaRPr lang="ko-KR" altLang="en-US" sz="1400" dirty="0">
              <a:solidFill>
                <a:srgbClr val="0083CE"/>
              </a:solidFill>
              <a:latin typeface="+mj-ea"/>
              <a:ea typeface="+mj-ea"/>
            </a:endParaRPr>
          </a:p>
        </p:txBody>
      </p:sp>
      <p:cxnSp>
        <p:nvCxnSpPr>
          <p:cNvPr id="10" name="직선 연결선 9"/>
          <p:cNvCxnSpPr/>
          <p:nvPr/>
        </p:nvCxnSpPr>
        <p:spPr>
          <a:xfrm>
            <a:off x="1247775" y="3921090"/>
            <a:ext cx="9696451" cy="0"/>
          </a:xfrm>
          <a:prstGeom prst="line">
            <a:avLst/>
          </a:prstGeom>
          <a:ln w="25400">
            <a:solidFill>
              <a:schemeClr val="accent1">
                <a:alpha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/>
          <p:cNvCxnSpPr/>
          <p:nvPr/>
        </p:nvCxnSpPr>
        <p:spPr>
          <a:xfrm flipH="1">
            <a:off x="6139953" y="1866900"/>
            <a:ext cx="28005" cy="4352925"/>
          </a:xfrm>
          <a:prstGeom prst="line">
            <a:avLst/>
          </a:prstGeom>
          <a:ln w="25400">
            <a:solidFill>
              <a:schemeClr val="accent1">
                <a:alpha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타원 18"/>
          <p:cNvSpPr/>
          <p:nvPr/>
        </p:nvSpPr>
        <p:spPr>
          <a:xfrm>
            <a:off x="5138936" y="2925994"/>
            <a:ext cx="1999688" cy="1999688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5189497" y="2977401"/>
            <a:ext cx="1898567" cy="1896875"/>
            <a:chOff x="4995122" y="2972653"/>
            <a:chExt cx="1898567" cy="1896875"/>
          </a:xfrm>
        </p:grpSpPr>
        <p:sp>
          <p:nvSpPr>
            <p:cNvPr id="42" name="Shape 276"/>
            <p:cNvSpPr/>
            <p:nvPr/>
          </p:nvSpPr>
          <p:spPr>
            <a:xfrm>
              <a:off x="5041491" y="3043500"/>
              <a:ext cx="1803509" cy="18035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4B5F68"/>
            </a:solidFill>
            <a:ln w="12700">
              <a:miter lim="400000"/>
            </a:ln>
            <a:effectLst>
              <a:outerShdw blurRad="38100" dist="12700" dir="5400000" algn="ctr" rotWithShape="0">
                <a:srgbClr val="000000">
                  <a:alpha val="3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 anchor="ctr"/>
            <a:lstStyle/>
            <a:p>
              <a:pPr algn="ctr">
                <a:lnSpc>
                  <a:spcPct val="120000"/>
                </a:lnSpc>
              </a:pPr>
              <a:endParaRPr sz="5867" dirty="0">
                <a:solidFill>
                  <a:srgbClr val="FFFFFF"/>
                </a:solidFill>
                <a:latin typeface="+mn-ea"/>
                <a:cs typeface="et-line"/>
              </a:endParaRPr>
            </a:p>
          </p:txBody>
        </p:sp>
        <p:grpSp>
          <p:nvGrpSpPr>
            <p:cNvPr id="43" name="Group 55"/>
            <p:cNvGrpSpPr/>
            <p:nvPr/>
          </p:nvGrpSpPr>
          <p:grpSpPr>
            <a:xfrm>
              <a:off x="4995122" y="2972653"/>
              <a:ext cx="1898567" cy="1896875"/>
              <a:chOff x="6389652" y="2285376"/>
              <a:chExt cx="2861942" cy="2859391"/>
            </a:xfrm>
          </p:grpSpPr>
          <p:sp>
            <p:nvSpPr>
              <p:cNvPr id="45" name="Block Arc 56"/>
              <p:cNvSpPr/>
              <p:nvPr/>
            </p:nvSpPr>
            <p:spPr>
              <a:xfrm flipV="1">
                <a:off x="6392196" y="2285376"/>
                <a:ext cx="2859397" cy="2859391"/>
              </a:xfrm>
              <a:prstGeom prst="blockArc">
                <a:avLst>
                  <a:gd name="adj1" fmla="val 10800000"/>
                  <a:gd name="adj2" fmla="val 39393"/>
                  <a:gd name="adj3" fmla="val 9996"/>
                </a:avLst>
              </a:prstGeom>
              <a:solidFill>
                <a:srgbClr val="4ABEE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46" name="Freeform 57"/>
              <p:cNvSpPr/>
              <p:nvPr/>
            </p:nvSpPr>
            <p:spPr>
              <a:xfrm rot="10800000">
                <a:off x="6392197" y="2325775"/>
                <a:ext cx="2859397" cy="1609667"/>
              </a:xfrm>
              <a:custGeom>
                <a:avLst/>
                <a:gdLst>
                  <a:gd name="connsiteX0" fmla="*/ 1114019 w 2240876"/>
                  <a:gd name="connsiteY0" fmla="*/ 1261462 h 1261480"/>
                  <a:gd name="connsiteX1" fmla="*/ 552823 w 2240876"/>
                  <a:gd name="connsiteY1" fmla="*/ 1107062 h 1261480"/>
                  <a:gd name="connsiteX2" fmla="*/ 8293 w 2240876"/>
                  <a:gd name="connsiteY2" fmla="*/ 277274 h 1261480"/>
                  <a:gd name="connsiteX3" fmla="*/ 274 w 2240876"/>
                  <a:gd name="connsiteY3" fmla="*/ 131830 h 1261480"/>
                  <a:gd name="connsiteX4" fmla="*/ 0 w 2240876"/>
                  <a:gd name="connsiteY4" fmla="*/ 131830 h 1261480"/>
                  <a:gd name="connsiteX5" fmla="*/ 258 w 2240876"/>
                  <a:gd name="connsiteY5" fmla="*/ 131531 h 1261480"/>
                  <a:gd name="connsiteX6" fmla="*/ 74 w 2240876"/>
                  <a:gd name="connsiteY6" fmla="*/ 128203 h 1261480"/>
                  <a:gd name="connsiteX7" fmla="*/ 3089 w 2240876"/>
                  <a:gd name="connsiteY7" fmla="*/ 128238 h 1261480"/>
                  <a:gd name="connsiteX8" fmla="*/ 113361 w 2240876"/>
                  <a:gd name="connsiteY8" fmla="*/ 0 h 1261480"/>
                  <a:gd name="connsiteX9" fmla="*/ 226721 w 2240876"/>
                  <a:gd name="connsiteY9" fmla="*/ 131830 h 1261480"/>
                  <a:gd name="connsiteX10" fmla="*/ 224116 w 2240876"/>
                  <a:gd name="connsiteY10" fmla="*/ 131830 h 1261480"/>
                  <a:gd name="connsiteX11" fmla="*/ 230633 w 2240876"/>
                  <a:gd name="connsiteY11" fmla="*/ 250039 h 1261480"/>
                  <a:gd name="connsiteX12" fmla="*/ 666301 w 2240876"/>
                  <a:gd name="connsiteY12" fmla="*/ 913935 h 1261480"/>
                  <a:gd name="connsiteX13" fmla="*/ 1565690 w 2240876"/>
                  <a:gd name="connsiteY13" fmla="*/ 919088 h 1261480"/>
                  <a:gd name="connsiteX14" fmla="*/ 2016879 w 2240876"/>
                  <a:gd name="connsiteY14" fmla="*/ 141042 h 1261480"/>
                  <a:gd name="connsiteX15" fmla="*/ 2240876 w 2240876"/>
                  <a:gd name="connsiteY15" fmla="*/ 141042 h 1261480"/>
                  <a:gd name="connsiteX16" fmla="*/ 1676947 w 2240876"/>
                  <a:gd name="connsiteY16" fmla="*/ 1113503 h 1261480"/>
                  <a:gd name="connsiteX17" fmla="*/ 1114019 w 2240876"/>
                  <a:gd name="connsiteY17" fmla="*/ 1261462 h 1261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240876" h="1261480">
                    <a:moveTo>
                      <a:pt x="1114019" y="1261462"/>
                    </a:moveTo>
                    <a:cubicBezTo>
                      <a:pt x="919888" y="1260350"/>
                      <a:pt x="726045" y="1208844"/>
                      <a:pt x="552823" y="1107062"/>
                    </a:cubicBezTo>
                    <a:cubicBezTo>
                      <a:pt x="249685" y="928944"/>
                      <a:pt x="50314" y="620719"/>
                      <a:pt x="8293" y="277274"/>
                    </a:cubicBezTo>
                    <a:lnTo>
                      <a:pt x="274" y="131830"/>
                    </a:lnTo>
                    <a:lnTo>
                      <a:pt x="0" y="131830"/>
                    </a:lnTo>
                    <a:lnTo>
                      <a:pt x="258" y="131531"/>
                    </a:lnTo>
                    <a:lnTo>
                      <a:pt x="74" y="128203"/>
                    </a:lnTo>
                    <a:lnTo>
                      <a:pt x="3089" y="128238"/>
                    </a:lnTo>
                    <a:lnTo>
                      <a:pt x="113361" y="0"/>
                    </a:lnTo>
                    <a:lnTo>
                      <a:pt x="226721" y="131830"/>
                    </a:lnTo>
                    <a:lnTo>
                      <a:pt x="224116" y="131830"/>
                    </a:lnTo>
                    <a:lnTo>
                      <a:pt x="230633" y="250039"/>
                    </a:lnTo>
                    <a:cubicBezTo>
                      <a:pt x="264254" y="524823"/>
                      <a:pt x="423765" y="771426"/>
                      <a:pt x="666301" y="913935"/>
                    </a:cubicBezTo>
                    <a:cubicBezTo>
                      <a:pt x="943484" y="1076803"/>
                      <a:pt x="1286659" y="1078769"/>
                      <a:pt x="1565690" y="919088"/>
                    </a:cubicBezTo>
                    <a:cubicBezTo>
                      <a:pt x="1844721" y="759407"/>
                      <a:pt x="2016879" y="462533"/>
                      <a:pt x="2016879" y="141042"/>
                    </a:cubicBezTo>
                    <a:lnTo>
                      <a:pt x="2240876" y="141042"/>
                    </a:lnTo>
                    <a:cubicBezTo>
                      <a:pt x="2240876" y="542865"/>
                      <a:pt x="2025701" y="913922"/>
                      <a:pt x="1676947" y="1113503"/>
                    </a:cubicBezTo>
                    <a:cubicBezTo>
                      <a:pt x="1502570" y="1213294"/>
                      <a:pt x="1308150" y="1262574"/>
                      <a:pt x="1114019" y="1261462"/>
                    </a:cubicBezTo>
                    <a:close/>
                  </a:path>
                </a:pathLst>
              </a:custGeom>
              <a:solidFill>
                <a:srgbClr val="4169A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3200">
                    <a:solidFill>
                      <a:srgbClr val="FFFFFF"/>
                    </a:solidFill>
                  </a:defRPr>
                </a:pPr>
                <a:endParaRPr sz="2800">
                  <a:latin typeface="+mn-ea"/>
                  <a:cs typeface="Roboto Light" charset="0"/>
                </a:endParaRPr>
              </a:p>
            </p:txBody>
          </p:sp>
          <p:sp>
            <p:nvSpPr>
              <p:cNvPr id="47" name="Freeform 58"/>
              <p:cNvSpPr/>
              <p:nvPr/>
            </p:nvSpPr>
            <p:spPr>
              <a:xfrm>
                <a:off x="6389652" y="3510974"/>
                <a:ext cx="2852954" cy="1609665"/>
              </a:xfrm>
              <a:custGeom>
                <a:avLst/>
                <a:gdLst>
                  <a:gd name="connsiteX0" fmla="*/ 1114019 w 2240876"/>
                  <a:gd name="connsiteY0" fmla="*/ 1261462 h 1261480"/>
                  <a:gd name="connsiteX1" fmla="*/ 552823 w 2240876"/>
                  <a:gd name="connsiteY1" fmla="*/ 1107062 h 1261480"/>
                  <a:gd name="connsiteX2" fmla="*/ 8293 w 2240876"/>
                  <a:gd name="connsiteY2" fmla="*/ 277274 h 1261480"/>
                  <a:gd name="connsiteX3" fmla="*/ 274 w 2240876"/>
                  <a:gd name="connsiteY3" fmla="*/ 131830 h 1261480"/>
                  <a:gd name="connsiteX4" fmla="*/ 0 w 2240876"/>
                  <a:gd name="connsiteY4" fmla="*/ 131830 h 1261480"/>
                  <a:gd name="connsiteX5" fmla="*/ 258 w 2240876"/>
                  <a:gd name="connsiteY5" fmla="*/ 131531 h 1261480"/>
                  <a:gd name="connsiteX6" fmla="*/ 74 w 2240876"/>
                  <a:gd name="connsiteY6" fmla="*/ 128203 h 1261480"/>
                  <a:gd name="connsiteX7" fmla="*/ 3089 w 2240876"/>
                  <a:gd name="connsiteY7" fmla="*/ 128238 h 1261480"/>
                  <a:gd name="connsiteX8" fmla="*/ 113361 w 2240876"/>
                  <a:gd name="connsiteY8" fmla="*/ 0 h 1261480"/>
                  <a:gd name="connsiteX9" fmla="*/ 226721 w 2240876"/>
                  <a:gd name="connsiteY9" fmla="*/ 131830 h 1261480"/>
                  <a:gd name="connsiteX10" fmla="*/ 224116 w 2240876"/>
                  <a:gd name="connsiteY10" fmla="*/ 131830 h 1261480"/>
                  <a:gd name="connsiteX11" fmla="*/ 230633 w 2240876"/>
                  <a:gd name="connsiteY11" fmla="*/ 250039 h 1261480"/>
                  <a:gd name="connsiteX12" fmla="*/ 666301 w 2240876"/>
                  <a:gd name="connsiteY12" fmla="*/ 913935 h 1261480"/>
                  <a:gd name="connsiteX13" fmla="*/ 1565690 w 2240876"/>
                  <a:gd name="connsiteY13" fmla="*/ 919088 h 1261480"/>
                  <a:gd name="connsiteX14" fmla="*/ 2016879 w 2240876"/>
                  <a:gd name="connsiteY14" fmla="*/ 141042 h 1261480"/>
                  <a:gd name="connsiteX15" fmla="*/ 2240876 w 2240876"/>
                  <a:gd name="connsiteY15" fmla="*/ 141042 h 1261480"/>
                  <a:gd name="connsiteX16" fmla="*/ 1676947 w 2240876"/>
                  <a:gd name="connsiteY16" fmla="*/ 1113503 h 1261480"/>
                  <a:gd name="connsiteX17" fmla="*/ 1114019 w 2240876"/>
                  <a:gd name="connsiteY17" fmla="*/ 1261462 h 1261480"/>
                  <a:gd name="connsiteX0" fmla="*/ 1114019 w 2240876"/>
                  <a:gd name="connsiteY0" fmla="*/ 1261462 h 1261480"/>
                  <a:gd name="connsiteX1" fmla="*/ 552823 w 2240876"/>
                  <a:gd name="connsiteY1" fmla="*/ 1107062 h 1261480"/>
                  <a:gd name="connsiteX2" fmla="*/ 8293 w 2240876"/>
                  <a:gd name="connsiteY2" fmla="*/ 277274 h 1261480"/>
                  <a:gd name="connsiteX3" fmla="*/ 274 w 2240876"/>
                  <a:gd name="connsiteY3" fmla="*/ 131830 h 1261480"/>
                  <a:gd name="connsiteX4" fmla="*/ 0 w 2240876"/>
                  <a:gd name="connsiteY4" fmla="*/ 131830 h 1261480"/>
                  <a:gd name="connsiteX5" fmla="*/ 258 w 2240876"/>
                  <a:gd name="connsiteY5" fmla="*/ 131531 h 1261480"/>
                  <a:gd name="connsiteX6" fmla="*/ 74 w 2240876"/>
                  <a:gd name="connsiteY6" fmla="*/ 128203 h 1261480"/>
                  <a:gd name="connsiteX7" fmla="*/ 3089 w 2240876"/>
                  <a:gd name="connsiteY7" fmla="*/ 128238 h 1261480"/>
                  <a:gd name="connsiteX8" fmla="*/ 113361 w 2240876"/>
                  <a:gd name="connsiteY8" fmla="*/ 0 h 1261480"/>
                  <a:gd name="connsiteX9" fmla="*/ 226721 w 2240876"/>
                  <a:gd name="connsiteY9" fmla="*/ 131830 h 1261480"/>
                  <a:gd name="connsiteX10" fmla="*/ 224116 w 2240876"/>
                  <a:gd name="connsiteY10" fmla="*/ 131830 h 1261480"/>
                  <a:gd name="connsiteX11" fmla="*/ 230633 w 2240876"/>
                  <a:gd name="connsiteY11" fmla="*/ 250039 h 1261480"/>
                  <a:gd name="connsiteX12" fmla="*/ 666301 w 2240876"/>
                  <a:gd name="connsiteY12" fmla="*/ 913935 h 1261480"/>
                  <a:gd name="connsiteX13" fmla="*/ 1565690 w 2240876"/>
                  <a:gd name="connsiteY13" fmla="*/ 919088 h 1261480"/>
                  <a:gd name="connsiteX14" fmla="*/ 2240876 w 2240876"/>
                  <a:gd name="connsiteY14" fmla="*/ 141042 h 1261480"/>
                  <a:gd name="connsiteX15" fmla="*/ 1676947 w 2240876"/>
                  <a:gd name="connsiteY15" fmla="*/ 1113503 h 1261480"/>
                  <a:gd name="connsiteX16" fmla="*/ 1114019 w 2240876"/>
                  <a:gd name="connsiteY16" fmla="*/ 1261462 h 1261480"/>
                  <a:gd name="connsiteX0" fmla="*/ 1114019 w 2206072"/>
                  <a:gd name="connsiteY0" fmla="*/ 1261462 h 1261480"/>
                  <a:gd name="connsiteX1" fmla="*/ 552823 w 2206072"/>
                  <a:gd name="connsiteY1" fmla="*/ 1107062 h 1261480"/>
                  <a:gd name="connsiteX2" fmla="*/ 8293 w 2206072"/>
                  <a:gd name="connsiteY2" fmla="*/ 277274 h 1261480"/>
                  <a:gd name="connsiteX3" fmla="*/ 274 w 2206072"/>
                  <a:gd name="connsiteY3" fmla="*/ 131830 h 1261480"/>
                  <a:gd name="connsiteX4" fmla="*/ 0 w 2206072"/>
                  <a:gd name="connsiteY4" fmla="*/ 131830 h 1261480"/>
                  <a:gd name="connsiteX5" fmla="*/ 258 w 2206072"/>
                  <a:gd name="connsiteY5" fmla="*/ 131531 h 1261480"/>
                  <a:gd name="connsiteX6" fmla="*/ 74 w 2206072"/>
                  <a:gd name="connsiteY6" fmla="*/ 128203 h 1261480"/>
                  <a:gd name="connsiteX7" fmla="*/ 3089 w 2206072"/>
                  <a:gd name="connsiteY7" fmla="*/ 128238 h 1261480"/>
                  <a:gd name="connsiteX8" fmla="*/ 113361 w 2206072"/>
                  <a:gd name="connsiteY8" fmla="*/ 0 h 1261480"/>
                  <a:gd name="connsiteX9" fmla="*/ 226721 w 2206072"/>
                  <a:gd name="connsiteY9" fmla="*/ 131830 h 1261480"/>
                  <a:gd name="connsiteX10" fmla="*/ 224116 w 2206072"/>
                  <a:gd name="connsiteY10" fmla="*/ 131830 h 1261480"/>
                  <a:gd name="connsiteX11" fmla="*/ 230633 w 2206072"/>
                  <a:gd name="connsiteY11" fmla="*/ 250039 h 1261480"/>
                  <a:gd name="connsiteX12" fmla="*/ 666301 w 2206072"/>
                  <a:gd name="connsiteY12" fmla="*/ 913935 h 1261480"/>
                  <a:gd name="connsiteX13" fmla="*/ 1565690 w 2206072"/>
                  <a:gd name="connsiteY13" fmla="*/ 919088 h 1261480"/>
                  <a:gd name="connsiteX14" fmla="*/ 2206072 w 2206072"/>
                  <a:gd name="connsiteY14" fmla="*/ 221092 h 1261480"/>
                  <a:gd name="connsiteX15" fmla="*/ 1676947 w 2206072"/>
                  <a:gd name="connsiteY15" fmla="*/ 1113503 h 1261480"/>
                  <a:gd name="connsiteX16" fmla="*/ 1114019 w 2206072"/>
                  <a:gd name="connsiteY16" fmla="*/ 1261462 h 1261480"/>
                  <a:gd name="connsiteX0" fmla="*/ 1114019 w 2206072"/>
                  <a:gd name="connsiteY0" fmla="*/ 1261462 h 1261480"/>
                  <a:gd name="connsiteX1" fmla="*/ 552823 w 2206072"/>
                  <a:gd name="connsiteY1" fmla="*/ 1107062 h 1261480"/>
                  <a:gd name="connsiteX2" fmla="*/ 8293 w 2206072"/>
                  <a:gd name="connsiteY2" fmla="*/ 277274 h 1261480"/>
                  <a:gd name="connsiteX3" fmla="*/ 274 w 2206072"/>
                  <a:gd name="connsiteY3" fmla="*/ 131830 h 1261480"/>
                  <a:gd name="connsiteX4" fmla="*/ 0 w 2206072"/>
                  <a:gd name="connsiteY4" fmla="*/ 131830 h 1261480"/>
                  <a:gd name="connsiteX5" fmla="*/ 258 w 2206072"/>
                  <a:gd name="connsiteY5" fmla="*/ 131531 h 1261480"/>
                  <a:gd name="connsiteX6" fmla="*/ 74 w 2206072"/>
                  <a:gd name="connsiteY6" fmla="*/ 128203 h 1261480"/>
                  <a:gd name="connsiteX7" fmla="*/ 3089 w 2206072"/>
                  <a:gd name="connsiteY7" fmla="*/ 128238 h 1261480"/>
                  <a:gd name="connsiteX8" fmla="*/ 113361 w 2206072"/>
                  <a:gd name="connsiteY8" fmla="*/ 0 h 1261480"/>
                  <a:gd name="connsiteX9" fmla="*/ 226721 w 2206072"/>
                  <a:gd name="connsiteY9" fmla="*/ 131830 h 1261480"/>
                  <a:gd name="connsiteX10" fmla="*/ 224116 w 2206072"/>
                  <a:gd name="connsiteY10" fmla="*/ 131830 h 1261480"/>
                  <a:gd name="connsiteX11" fmla="*/ 230633 w 2206072"/>
                  <a:gd name="connsiteY11" fmla="*/ 250039 h 1261480"/>
                  <a:gd name="connsiteX12" fmla="*/ 666301 w 2206072"/>
                  <a:gd name="connsiteY12" fmla="*/ 913935 h 1261480"/>
                  <a:gd name="connsiteX13" fmla="*/ 1565690 w 2206072"/>
                  <a:gd name="connsiteY13" fmla="*/ 919088 h 1261480"/>
                  <a:gd name="connsiteX14" fmla="*/ 2206072 w 2206072"/>
                  <a:gd name="connsiteY14" fmla="*/ 221092 h 1261480"/>
                  <a:gd name="connsiteX15" fmla="*/ 1676947 w 2206072"/>
                  <a:gd name="connsiteY15" fmla="*/ 1113503 h 1261480"/>
                  <a:gd name="connsiteX16" fmla="*/ 1114019 w 2206072"/>
                  <a:gd name="connsiteY16" fmla="*/ 1261462 h 1261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206072" h="1261480">
                    <a:moveTo>
                      <a:pt x="1114019" y="1261462"/>
                    </a:moveTo>
                    <a:cubicBezTo>
                      <a:pt x="919888" y="1260350"/>
                      <a:pt x="726045" y="1208844"/>
                      <a:pt x="552823" y="1107062"/>
                    </a:cubicBezTo>
                    <a:cubicBezTo>
                      <a:pt x="249685" y="928944"/>
                      <a:pt x="50314" y="620719"/>
                      <a:pt x="8293" y="277274"/>
                    </a:cubicBezTo>
                    <a:lnTo>
                      <a:pt x="274" y="131830"/>
                    </a:lnTo>
                    <a:lnTo>
                      <a:pt x="0" y="131830"/>
                    </a:lnTo>
                    <a:lnTo>
                      <a:pt x="258" y="131531"/>
                    </a:lnTo>
                    <a:cubicBezTo>
                      <a:pt x="197" y="130422"/>
                      <a:pt x="135" y="129312"/>
                      <a:pt x="74" y="128203"/>
                    </a:cubicBezTo>
                    <a:lnTo>
                      <a:pt x="3089" y="128238"/>
                    </a:lnTo>
                    <a:lnTo>
                      <a:pt x="113361" y="0"/>
                    </a:lnTo>
                    <a:lnTo>
                      <a:pt x="226721" y="131830"/>
                    </a:lnTo>
                    <a:lnTo>
                      <a:pt x="224116" y="131830"/>
                    </a:lnTo>
                    <a:lnTo>
                      <a:pt x="230633" y="250039"/>
                    </a:lnTo>
                    <a:cubicBezTo>
                      <a:pt x="264254" y="524823"/>
                      <a:pt x="423765" y="771426"/>
                      <a:pt x="666301" y="913935"/>
                    </a:cubicBezTo>
                    <a:cubicBezTo>
                      <a:pt x="943484" y="1076803"/>
                      <a:pt x="1309062" y="1034562"/>
                      <a:pt x="1565690" y="919088"/>
                    </a:cubicBezTo>
                    <a:cubicBezTo>
                      <a:pt x="1822318" y="803614"/>
                      <a:pt x="2187529" y="188690"/>
                      <a:pt x="2206072" y="221092"/>
                    </a:cubicBezTo>
                    <a:cubicBezTo>
                      <a:pt x="2192150" y="605512"/>
                      <a:pt x="2025701" y="913922"/>
                      <a:pt x="1676947" y="1113503"/>
                    </a:cubicBezTo>
                    <a:cubicBezTo>
                      <a:pt x="1502570" y="1213294"/>
                      <a:pt x="1308150" y="1262574"/>
                      <a:pt x="1114019" y="1261462"/>
                    </a:cubicBezTo>
                    <a:close/>
                  </a:path>
                </a:pathLst>
              </a:custGeom>
              <a:solidFill>
                <a:srgbClr val="4ABEE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3200">
                    <a:solidFill>
                      <a:srgbClr val="FFFFFF"/>
                    </a:solidFill>
                  </a:defRPr>
                </a:pPr>
                <a:endParaRPr sz="2800">
                  <a:latin typeface="+mn-ea"/>
                  <a:cs typeface="Roboto Light" charset="0"/>
                </a:endParaRPr>
              </a:p>
            </p:txBody>
          </p:sp>
        </p:grpSp>
        <p:pic>
          <p:nvPicPr>
            <p:cNvPr id="44" name="Picture 10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08641" y="3622649"/>
              <a:ext cx="1089364" cy="213278"/>
            </a:xfrm>
            <a:prstGeom prst="rect">
              <a:avLst/>
            </a:prstGeom>
          </p:spPr>
        </p:pic>
        <p:grpSp>
          <p:nvGrpSpPr>
            <p:cNvPr id="7" name="그룹 6"/>
            <p:cNvGrpSpPr/>
            <p:nvPr/>
          </p:nvGrpSpPr>
          <p:grpSpPr>
            <a:xfrm>
              <a:off x="5538092" y="3906974"/>
              <a:ext cx="1022176" cy="536769"/>
              <a:chOff x="6903260" y="4030799"/>
              <a:chExt cx="1022176" cy="536769"/>
            </a:xfrm>
          </p:grpSpPr>
          <p:sp>
            <p:nvSpPr>
              <p:cNvPr id="5" name="직사각형 4"/>
              <p:cNvSpPr/>
              <p:nvPr/>
            </p:nvSpPr>
            <p:spPr>
              <a:xfrm>
                <a:off x="6903260" y="4030799"/>
                <a:ext cx="1022176" cy="1662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85725" indent="-85725">
                  <a:buFont typeface="Arial" panose="020B0604020202020204" pitchFamily="34" charset="0"/>
                  <a:buChar char="•"/>
                </a:pPr>
                <a:r>
                  <a:rPr lang="en-US" altLang="ko-KR" sz="800" dirty="0">
                    <a:solidFill>
                      <a:schemeClr val="bg1"/>
                    </a:solidFill>
                    <a:latin typeface="+mn-ea"/>
                  </a:rPr>
                  <a:t>Eon Mode</a:t>
                </a:r>
                <a:endParaRPr lang="ko-KR" altLang="en-US" sz="800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0" name="직사각형 49"/>
              <p:cNvSpPr/>
              <p:nvPr/>
            </p:nvSpPr>
            <p:spPr>
              <a:xfrm>
                <a:off x="6903260" y="4217906"/>
                <a:ext cx="1022176" cy="1662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85725" indent="-85725">
                  <a:buFont typeface="Arial" panose="020B0604020202020204" pitchFamily="34" charset="0"/>
                  <a:buChar char="•"/>
                </a:pPr>
                <a:r>
                  <a:rPr lang="en-US" altLang="ko-KR" sz="800" dirty="0">
                    <a:solidFill>
                      <a:schemeClr val="bg1"/>
                    </a:solidFill>
                    <a:latin typeface="+mn-ea"/>
                  </a:rPr>
                  <a:t>Multi Cluster</a:t>
                </a:r>
                <a:endParaRPr lang="ko-KR" altLang="en-US" sz="800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1" name="직사각형 50"/>
              <p:cNvSpPr/>
              <p:nvPr/>
            </p:nvSpPr>
            <p:spPr>
              <a:xfrm>
                <a:off x="6903260" y="4401314"/>
                <a:ext cx="1022176" cy="1662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85725" indent="-85725">
                  <a:buFont typeface="Arial" panose="020B0604020202020204" pitchFamily="34" charset="0"/>
                  <a:buChar char="•"/>
                </a:pPr>
                <a:r>
                  <a:rPr lang="en-US" altLang="ko-KR" sz="800" dirty="0">
                    <a:solidFill>
                      <a:schemeClr val="bg1"/>
                    </a:solidFill>
                    <a:latin typeface="+mn-ea"/>
                  </a:rPr>
                  <a:t>BigData </a:t>
                </a:r>
                <a:r>
                  <a:rPr lang="ko-KR" altLang="en-US" sz="800" dirty="0">
                    <a:solidFill>
                      <a:schemeClr val="bg1"/>
                    </a:solidFill>
                    <a:latin typeface="+mn-ea"/>
                  </a:rPr>
                  <a:t>연계</a:t>
                </a:r>
              </a:p>
            </p:txBody>
          </p:sp>
        </p:grpSp>
      </p:grpSp>
      <p:grpSp>
        <p:nvGrpSpPr>
          <p:cNvPr id="17" name="그룹 16"/>
          <p:cNvGrpSpPr/>
          <p:nvPr/>
        </p:nvGrpSpPr>
        <p:grpSpPr>
          <a:xfrm>
            <a:off x="1185258" y="1949264"/>
            <a:ext cx="4451983" cy="1673385"/>
            <a:chOff x="1185258" y="1949264"/>
            <a:chExt cx="4451983" cy="1673385"/>
          </a:xfrm>
        </p:grpSpPr>
        <p:sp>
          <p:nvSpPr>
            <p:cNvPr id="89" name="제목 1"/>
            <p:cNvSpPr txBox="1">
              <a:spLocks/>
            </p:cNvSpPr>
            <p:nvPr/>
          </p:nvSpPr>
          <p:spPr>
            <a:xfrm>
              <a:off x="1766925" y="2089911"/>
              <a:ext cx="3771168" cy="276999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algn="l">
                <a:defRPr sz="2300" b="1">
                  <a:latin typeface="나눔스퀘어 Bold" pitchFamily="50" charset="-127"/>
                  <a:ea typeface="나눔스퀘어 Bold" pitchFamily="50" charset="-127"/>
                </a:defRPr>
              </a:lvl1pPr>
            </a:lstStyle>
            <a:p>
              <a:pPr lvl="0">
                <a:spcBef>
                  <a:spcPct val="0"/>
                </a:spcBef>
                <a:buClr>
                  <a:schemeClr val="tx1">
                    <a:lumMod val="75000"/>
                    <a:lumOff val="25000"/>
                  </a:schemeClr>
                </a:buClr>
                <a:defRPr/>
              </a:pPr>
              <a:r>
                <a:rPr lang="ko-KR" altLang="en-US" sz="1800" b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미래 지향적인 통합 분석 환경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1185258" y="1949264"/>
              <a:ext cx="441147" cy="65062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r"/>
              <a:r>
                <a:rPr lang="en-US" altLang="ko-KR" sz="3628" dirty="0">
                  <a:solidFill>
                    <a:srgbClr val="009ED6"/>
                  </a:solidFill>
                  <a:latin typeface="+mn-ea"/>
                </a:rPr>
                <a:t>1</a:t>
              </a:r>
              <a:endParaRPr lang="ko-KR" altLang="en-US" sz="3628" dirty="0">
                <a:solidFill>
                  <a:srgbClr val="009ED6"/>
                </a:solidFill>
                <a:latin typeface="+mn-ea"/>
              </a:endParaRPr>
            </a:p>
          </p:txBody>
        </p:sp>
        <p:cxnSp>
          <p:nvCxnSpPr>
            <p:cNvPr id="91" name="직선 연결선 2"/>
            <p:cNvCxnSpPr/>
            <p:nvPr/>
          </p:nvCxnSpPr>
          <p:spPr>
            <a:xfrm>
              <a:off x="1639943" y="1964386"/>
              <a:ext cx="0" cy="165826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직사각형 91"/>
            <p:cNvSpPr/>
            <p:nvPr/>
          </p:nvSpPr>
          <p:spPr>
            <a:xfrm>
              <a:off x="1866527" y="2447677"/>
              <a:ext cx="3770714" cy="8947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Data Warehouse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와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Data Lake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의 주요 장점이 결합된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Data Lakehouse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기반의 데이터 플랫폼을 구축함으로써 통합된 분석 환경 제공</a:t>
              </a:r>
            </a:p>
          </p:txBody>
        </p:sp>
      </p:grpSp>
      <p:grpSp>
        <p:nvGrpSpPr>
          <p:cNvPr id="18" name="그룹 17"/>
          <p:cNvGrpSpPr/>
          <p:nvPr/>
        </p:nvGrpSpPr>
        <p:grpSpPr>
          <a:xfrm>
            <a:off x="6290139" y="1970532"/>
            <a:ext cx="4788421" cy="1673385"/>
            <a:chOff x="6290139" y="1970532"/>
            <a:chExt cx="4788421" cy="1673385"/>
          </a:xfrm>
        </p:grpSpPr>
        <p:sp>
          <p:nvSpPr>
            <p:cNvPr id="93" name="제목 1"/>
            <p:cNvSpPr txBox="1">
              <a:spLocks/>
            </p:cNvSpPr>
            <p:nvPr/>
          </p:nvSpPr>
          <p:spPr>
            <a:xfrm>
              <a:off x="6290139" y="2089911"/>
              <a:ext cx="4214325" cy="276999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algn="l">
                <a:defRPr sz="2300" b="1">
                  <a:latin typeface="나눔스퀘어 Bold" pitchFamily="50" charset="-127"/>
                  <a:ea typeface="나눔스퀘어 Bold" pitchFamily="50" charset="-127"/>
                </a:defRPr>
              </a:lvl1pPr>
            </a:lstStyle>
            <a:p>
              <a:pPr lvl="0" algn="r">
                <a:spcBef>
                  <a:spcPct val="0"/>
                </a:spcBef>
                <a:buClr>
                  <a:schemeClr val="tx1">
                    <a:lumMod val="75000"/>
                    <a:lumOff val="25000"/>
                  </a:schemeClr>
                </a:buClr>
                <a:defRPr/>
              </a:pPr>
              <a:r>
                <a:rPr lang="ko-KR" altLang="en-US" sz="1800" b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대용량 데이터에 적합한 라이선스 체계</a:t>
              </a: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10637414" y="1970532"/>
              <a:ext cx="441146" cy="65062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sz="3628" dirty="0">
                  <a:solidFill>
                    <a:srgbClr val="009ED6"/>
                  </a:solidFill>
                  <a:latin typeface="+mn-ea"/>
                </a:rPr>
                <a:t>2</a:t>
              </a:r>
              <a:endParaRPr lang="ko-KR" altLang="en-US" sz="3628" dirty="0">
                <a:solidFill>
                  <a:srgbClr val="009ED6"/>
                </a:solidFill>
                <a:latin typeface="+mn-ea"/>
              </a:endParaRPr>
            </a:p>
          </p:txBody>
        </p:sp>
        <p:cxnSp>
          <p:nvCxnSpPr>
            <p:cNvPr id="95" name="직선 연결선 2"/>
            <p:cNvCxnSpPr/>
            <p:nvPr/>
          </p:nvCxnSpPr>
          <p:spPr>
            <a:xfrm>
              <a:off x="10620007" y="1985654"/>
              <a:ext cx="0" cy="165826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직사각형 95"/>
            <p:cNvSpPr/>
            <p:nvPr/>
          </p:nvSpPr>
          <p:spPr>
            <a:xfrm>
              <a:off x="6762325" y="2447677"/>
              <a:ext cx="3770714" cy="88761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초대용량 데이터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(2PB)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저장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/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관리를 위해 데이터 용량과 무관한 노드 라이선스 기반으로 전환하여 라이선스 비용 최적화</a:t>
              </a:r>
            </a:p>
          </p:txBody>
        </p:sp>
      </p:grpSp>
      <p:grpSp>
        <p:nvGrpSpPr>
          <p:cNvPr id="97" name="그룹 96"/>
          <p:cNvGrpSpPr/>
          <p:nvPr/>
        </p:nvGrpSpPr>
        <p:grpSpPr>
          <a:xfrm>
            <a:off x="1213719" y="4179874"/>
            <a:ext cx="4423522" cy="1673385"/>
            <a:chOff x="1213719" y="1949264"/>
            <a:chExt cx="4423522" cy="1673385"/>
          </a:xfrm>
        </p:grpSpPr>
        <p:sp>
          <p:nvSpPr>
            <p:cNvPr id="98" name="제목 1"/>
            <p:cNvSpPr txBox="1">
              <a:spLocks/>
            </p:cNvSpPr>
            <p:nvPr/>
          </p:nvSpPr>
          <p:spPr>
            <a:xfrm>
              <a:off x="1766925" y="2089911"/>
              <a:ext cx="3771168" cy="276999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algn="l">
                <a:defRPr sz="2300" b="1">
                  <a:latin typeface="나눔스퀘어 Bold" pitchFamily="50" charset="-127"/>
                  <a:ea typeface="나눔스퀘어 Bold" pitchFamily="50" charset="-127"/>
                </a:defRPr>
              </a:lvl1pPr>
            </a:lstStyle>
            <a:p>
              <a:pPr lvl="0">
                <a:spcBef>
                  <a:spcPct val="0"/>
                </a:spcBef>
                <a:buClr>
                  <a:schemeClr val="tx1">
                    <a:lumMod val="75000"/>
                    <a:lumOff val="25000"/>
                  </a:schemeClr>
                </a:buClr>
                <a:defRPr/>
              </a:pPr>
              <a:r>
                <a:rPr lang="ko-KR" altLang="en-US" sz="1800" b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효율적인 </a:t>
              </a:r>
              <a:r>
                <a:rPr lang="en-US" altLang="ko-KR" sz="1800" b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ILM </a:t>
              </a:r>
              <a:r>
                <a:rPr lang="ko-KR" altLang="en-US" sz="1800" b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데이터 관리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1213719" y="1949264"/>
              <a:ext cx="441146" cy="65062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r"/>
              <a:r>
                <a:rPr lang="en-US" altLang="ko-KR" sz="3628" dirty="0">
                  <a:solidFill>
                    <a:srgbClr val="009ED6"/>
                  </a:solidFill>
                  <a:latin typeface="+mn-ea"/>
                </a:rPr>
                <a:t>3</a:t>
              </a:r>
              <a:endParaRPr lang="ko-KR" altLang="en-US" sz="3628" dirty="0">
                <a:solidFill>
                  <a:srgbClr val="009ED6"/>
                </a:solidFill>
                <a:latin typeface="+mn-ea"/>
              </a:endParaRPr>
            </a:p>
          </p:txBody>
        </p:sp>
        <p:cxnSp>
          <p:nvCxnSpPr>
            <p:cNvPr id="100" name="직선 연결선 2"/>
            <p:cNvCxnSpPr/>
            <p:nvPr/>
          </p:nvCxnSpPr>
          <p:spPr>
            <a:xfrm>
              <a:off x="1639943" y="1964386"/>
              <a:ext cx="0" cy="165826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직사각형 100"/>
            <p:cNvSpPr/>
            <p:nvPr/>
          </p:nvSpPr>
          <p:spPr>
            <a:xfrm>
              <a:off x="1866527" y="2447677"/>
              <a:ext cx="3770714" cy="117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스토리지 비용 효율화를 위해 별도 플랫폼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(Hadoop)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으로 관리되던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ILM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데이터를 데이터베이스로 저장 및 관리하므로 탈퇴 고객정보 삭제 등의 컴플라이언스 요건을 효율적으로 대응</a:t>
              </a:r>
            </a:p>
          </p:txBody>
        </p:sp>
      </p:grpSp>
      <p:grpSp>
        <p:nvGrpSpPr>
          <p:cNvPr id="102" name="그룹 101"/>
          <p:cNvGrpSpPr/>
          <p:nvPr/>
        </p:nvGrpSpPr>
        <p:grpSpPr>
          <a:xfrm>
            <a:off x="6290139" y="4179874"/>
            <a:ext cx="4788421" cy="1673385"/>
            <a:chOff x="6290139" y="1970532"/>
            <a:chExt cx="4788421" cy="1673385"/>
          </a:xfrm>
        </p:grpSpPr>
        <p:sp>
          <p:nvSpPr>
            <p:cNvPr id="103" name="제목 1"/>
            <p:cNvSpPr txBox="1">
              <a:spLocks/>
            </p:cNvSpPr>
            <p:nvPr/>
          </p:nvSpPr>
          <p:spPr>
            <a:xfrm>
              <a:off x="6290139" y="2089911"/>
              <a:ext cx="4214325" cy="276999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algn="l">
                <a:defRPr sz="2300" b="1">
                  <a:latin typeface="나눔스퀘어 Bold" pitchFamily="50" charset="-127"/>
                  <a:ea typeface="나눔스퀘어 Bold" pitchFamily="50" charset="-127"/>
                </a:defRPr>
              </a:lvl1pPr>
            </a:lstStyle>
            <a:p>
              <a:pPr lvl="0" algn="r">
                <a:spcBef>
                  <a:spcPct val="0"/>
                </a:spcBef>
                <a:buClr>
                  <a:schemeClr val="tx1">
                    <a:lumMod val="75000"/>
                    <a:lumOff val="25000"/>
                  </a:schemeClr>
                </a:buClr>
                <a:defRPr/>
              </a:pPr>
              <a:r>
                <a:rPr lang="en-US" altLang="ko-KR" sz="1800" b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Data Silo </a:t>
              </a:r>
              <a:r>
                <a:rPr lang="ko-KR" altLang="en-US" sz="1800" b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제거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10637414" y="1970532"/>
              <a:ext cx="441146" cy="65062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sz="3628" dirty="0">
                  <a:solidFill>
                    <a:srgbClr val="009ED6"/>
                  </a:solidFill>
                  <a:latin typeface="+mn-ea"/>
                </a:rPr>
                <a:t>4</a:t>
              </a:r>
              <a:endParaRPr lang="ko-KR" altLang="en-US" sz="3628" dirty="0">
                <a:solidFill>
                  <a:srgbClr val="009ED6"/>
                </a:solidFill>
                <a:latin typeface="+mn-ea"/>
              </a:endParaRPr>
            </a:p>
          </p:txBody>
        </p:sp>
        <p:cxnSp>
          <p:nvCxnSpPr>
            <p:cNvPr id="105" name="직선 연결선 2"/>
            <p:cNvCxnSpPr/>
            <p:nvPr/>
          </p:nvCxnSpPr>
          <p:spPr>
            <a:xfrm>
              <a:off x="10620007" y="1985654"/>
              <a:ext cx="0" cy="165826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직사각형 105"/>
            <p:cNvSpPr/>
            <p:nvPr/>
          </p:nvSpPr>
          <p:spPr>
            <a:xfrm>
              <a:off x="6762325" y="2447677"/>
              <a:ext cx="3770714" cy="8947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오브젝트 스토리지 기반으로 데이터베이스 및 외부 데이터를 관리하는 스토리지 체계를 구축함으로써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Data Silo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없는 분석 환경 구축</a:t>
              </a:r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10271871" y="6358957"/>
            <a:ext cx="306355" cy="274324"/>
          </a:xfrm>
        </p:spPr>
        <p:txBody>
          <a:bodyPr/>
          <a:lstStyle/>
          <a:p>
            <a:fld id="{AFA02C0B-84B5-4CD2-A6CE-C6BD7D6F9045}" type="slidenum">
              <a:rPr lang="ko-KR" altLang="en-US" smtClean="0">
                <a:solidFill>
                  <a:schemeClr val="bg1"/>
                </a:solidFill>
              </a:rPr>
              <a:t>40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4263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K Telco</a:t>
            </a:r>
            <a:endParaRPr lang="ko-KR" altLang="en-US" sz="1400" dirty="0">
              <a:solidFill>
                <a:srgbClr val="0083CE"/>
              </a:solidFill>
              <a:latin typeface="+mj-ea"/>
              <a:ea typeface="+mj-ea"/>
            </a:endParaRPr>
          </a:p>
        </p:txBody>
      </p:sp>
      <p:pic>
        <p:nvPicPr>
          <p:cNvPr id="36" name="그림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86" y="1967002"/>
            <a:ext cx="4607937" cy="2860888"/>
          </a:xfrm>
          <a:prstGeom prst="rect">
            <a:avLst/>
          </a:prstGeom>
        </p:spPr>
      </p:pic>
      <p:sp>
        <p:nvSpPr>
          <p:cNvPr id="37" name="직사각형 36"/>
          <p:cNvSpPr/>
          <p:nvPr/>
        </p:nvSpPr>
        <p:spPr>
          <a:xfrm>
            <a:off x="715639" y="1387083"/>
            <a:ext cx="10891643" cy="6512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원천 시스템에서 준 실시간 연동을 통한 실적 제공을 위한 아키텍처 구성 및 현업 요구사항 기반 실적 데이터를 구성하여 현장 주도의 분석 환경을 제공합니다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Pretendard Variable Medium" panose="02000003000000020004" pitchFamily="2" charset="-127"/>
              </a:rPr>
              <a:t>.</a:t>
            </a: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Pretendard Variable Medium" panose="02000003000000020004" pitchFamily="2" charset="-127"/>
            </a:endParaRPr>
          </a:p>
        </p:txBody>
      </p:sp>
      <p:grpSp>
        <p:nvGrpSpPr>
          <p:cNvPr id="25" name="그룹 24"/>
          <p:cNvGrpSpPr/>
          <p:nvPr/>
        </p:nvGrpSpPr>
        <p:grpSpPr>
          <a:xfrm>
            <a:off x="5613526" y="1821438"/>
            <a:ext cx="5790605" cy="914399"/>
            <a:chOff x="5613526" y="1933576"/>
            <a:chExt cx="5790605" cy="914399"/>
          </a:xfrm>
        </p:grpSpPr>
        <p:grpSp>
          <p:nvGrpSpPr>
            <p:cNvPr id="24" name="그룹 23"/>
            <p:cNvGrpSpPr/>
            <p:nvPr/>
          </p:nvGrpSpPr>
          <p:grpSpPr>
            <a:xfrm>
              <a:off x="5613526" y="1933576"/>
              <a:ext cx="1891369" cy="440618"/>
              <a:chOff x="5613526" y="1933576"/>
              <a:chExt cx="1891369" cy="440618"/>
            </a:xfrm>
          </p:grpSpPr>
          <p:sp>
            <p:nvSpPr>
              <p:cNvPr id="48" name="타원 1"/>
              <p:cNvSpPr/>
              <p:nvPr/>
            </p:nvSpPr>
            <p:spPr>
              <a:xfrm>
                <a:off x="5613526" y="2074268"/>
                <a:ext cx="159235" cy="159235"/>
              </a:xfrm>
              <a:prstGeom prst="ellipse">
                <a:avLst/>
              </a:prstGeom>
              <a:solidFill>
                <a:srgbClr val="009ED6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749">
                  <a:latin typeface="+mn-ea"/>
                </a:endParaRPr>
              </a:p>
            </p:txBody>
          </p:sp>
          <p:sp>
            <p:nvSpPr>
              <p:cNvPr id="38" name="AutoShape 312"/>
              <p:cNvSpPr>
                <a:spLocks noChangeArrowheads="1"/>
              </p:cNvSpPr>
              <p:nvPr/>
            </p:nvSpPr>
            <p:spPr bwMode="auto">
              <a:xfrm>
                <a:off x="5769408" y="1933576"/>
                <a:ext cx="1735487" cy="440618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none" anchor="ctr"/>
              <a:lstStyle/>
              <a:p>
                <a:pPr defTabSz="829361"/>
                <a:r>
                  <a:rPr kumimoji="1" lang="ko-KR" altLang="en-US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latin typeface="+mn-ea"/>
                  </a:rPr>
                  <a:t>적용 방법</a:t>
                </a:r>
                <a:endParaRPr kumimoji="1" lang="en-US" altLang="ko-KR" sz="1088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+mn-ea"/>
                </a:endParaRPr>
              </a:p>
            </p:txBody>
          </p:sp>
        </p:grpSp>
        <p:sp>
          <p:nvSpPr>
            <p:cNvPr id="53" name="텍스트 개체 틀 3">
              <a:extLst>
                <a:ext uri="{FF2B5EF4-FFF2-40B4-BE49-F238E27FC236}">
                  <a16:creationId xmlns="" xmlns:a16="http://schemas.microsoft.com/office/drawing/2014/main" id="{BBA24C33-8076-5AF4-D04F-A5DA01A906B3}"/>
                </a:ext>
              </a:extLst>
            </p:cNvPr>
            <p:cNvSpPr txBox="1">
              <a:spLocks/>
            </p:cNvSpPr>
            <p:nvPr/>
          </p:nvSpPr>
          <p:spPr>
            <a:xfrm>
              <a:off x="5739964" y="2253885"/>
              <a:ext cx="5664167" cy="59409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Wingdings" panose="05000000000000000000" pitchFamily="2" charset="2"/>
                <a:buChar char="§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050" indent="-1714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Calibri" panose="020F0502020204030204" pitchFamily="34" charset="0"/>
                <a:buChar char="-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500" indent="-1714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Calibri" panose="020F0502020204030204" pitchFamily="34" charset="0"/>
                <a:buChar char="-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42950" indent="-1714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indent="-1714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430213">
                <a:lnSpc>
                  <a:spcPct val="130000"/>
                </a:lnSpc>
                <a:spcAft>
                  <a:spcPts val="0"/>
                </a:spcAft>
                <a:buSzPct val="100000"/>
              </a:pP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다양한 원천 데이터로부터 데이터를 수집하여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Vertica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로 데이터를 이관</a:t>
              </a: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  <a:p>
              <a:pPr defTabSz="430213">
                <a:lnSpc>
                  <a:spcPct val="130000"/>
                </a:lnSpc>
                <a:spcAft>
                  <a:spcPts val="0"/>
                </a:spcAft>
                <a:buSzPct val="100000"/>
              </a:pP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고성능 내부 처리를 통한 준 실시간성 데이터 결과 확인</a:t>
              </a: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26" name="그룹 25"/>
          <p:cNvGrpSpPr/>
          <p:nvPr/>
        </p:nvGrpSpPr>
        <p:grpSpPr>
          <a:xfrm>
            <a:off x="5613526" y="2745363"/>
            <a:ext cx="5790605" cy="2019299"/>
            <a:chOff x="5613526" y="2857501"/>
            <a:chExt cx="5790605" cy="2019299"/>
          </a:xfrm>
        </p:grpSpPr>
        <p:grpSp>
          <p:nvGrpSpPr>
            <p:cNvPr id="21" name="그룹 20"/>
            <p:cNvGrpSpPr/>
            <p:nvPr/>
          </p:nvGrpSpPr>
          <p:grpSpPr>
            <a:xfrm>
              <a:off x="5613526" y="2857501"/>
              <a:ext cx="1892174" cy="440618"/>
              <a:chOff x="5642970" y="2962276"/>
              <a:chExt cx="1892174" cy="440618"/>
            </a:xfrm>
          </p:grpSpPr>
          <p:sp>
            <p:nvSpPr>
              <p:cNvPr id="55" name="타원 1"/>
              <p:cNvSpPr/>
              <p:nvPr/>
            </p:nvSpPr>
            <p:spPr>
              <a:xfrm>
                <a:off x="5642970" y="3102968"/>
                <a:ext cx="159235" cy="159235"/>
              </a:xfrm>
              <a:prstGeom prst="ellipse">
                <a:avLst/>
              </a:prstGeom>
              <a:solidFill>
                <a:srgbClr val="1C4076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749">
                  <a:latin typeface="+mn-ea"/>
                </a:endParaRPr>
              </a:p>
            </p:txBody>
          </p:sp>
          <p:sp>
            <p:nvSpPr>
              <p:cNvPr id="54" name="AutoShape 312"/>
              <p:cNvSpPr>
                <a:spLocks noChangeArrowheads="1"/>
              </p:cNvSpPr>
              <p:nvPr/>
            </p:nvSpPr>
            <p:spPr bwMode="auto">
              <a:xfrm>
                <a:off x="5799657" y="2962276"/>
                <a:ext cx="1735487" cy="440618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none" anchor="ctr"/>
              <a:lstStyle/>
              <a:p>
                <a:pPr defTabSz="829361"/>
                <a:r>
                  <a:rPr kumimoji="1" lang="ko-KR" altLang="en-US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0000"/>
                    </a:solidFill>
                    <a:latin typeface="+mn-ea"/>
                  </a:rPr>
                  <a:t>기대 효과</a:t>
                </a:r>
                <a:endParaRPr kumimoji="1" lang="en-US" altLang="ko-KR" sz="1088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00"/>
                  </a:solidFill>
                  <a:latin typeface="+mn-ea"/>
                </a:endParaRPr>
              </a:p>
            </p:txBody>
          </p:sp>
        </p:grpSp>
        <p:sp>
          <p:nvSpPr>
            <p:cNvPr id="56" name="텍스트 개체 틀 3">
              <a:extLst>
                <a:ext uri="{FF2B5EF4-FFF2-40B4-BE49-F238E27FC236}">
                  <a16:creationId xmlns="" xmlns:a16="http://schemas.microsoft.com/office/drawing/2014/main" id="{BBA24C33-8076-5AF4-D04F-A5DA01A906B3}"/>
                </a:ext>
              </a:extLst>
            </p:cNvPr>
            <p:cNvSpPr txBox="1">
              <a:spLocks/>
            </p:cNvSpPr>
            <p:nvPr/>
          </p:nvSpPr>
          <p:spPr>
            <a:xfrm>
              <a:off x="5739964" y="3177809"/>
              <a:ext cx="5664167" cy="169899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Wingdings" panose="05000000000000000000" pitchFamily="2" charset="2"/>
                <a:buChar char="§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0050" indent="-1714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Calibri" panose="020F0502020204030204" pitchFamily="34" charset="0"/>
                <a:buChar char="-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500" indent="-1714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Calibri" panose="020F0502020204030204" pitchFamily="34" charset="0"/>
                <a:buChar char="-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42950" indent="-1714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indent="-1714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430213">
                <a:lnSpc>
                  <a:spcPct val="130000"/>
                </a:lnSpc>
                <a:spcAft>
                  <a:spcPts val="0"/>
                </a:spcAft>
                <a:buSzPct val="100000"/>
              </a:pPr>
              <a:r>
                <a:rPr lang="ko-KR" altLang="en-US" sz="1200" dirty="0">
                  <a:latin typeface="+mn-ea"/>
                </a:rPr>
                <a:t>사용자 리포트 처리 성능 향상으로 스케줄링 리포트 확대를 통해 업무 효율성 향상</a:t>
              </a:r>
            </a:p>
            <a:p>
              <a:pPr defTabSz="430213">
                <a:lnSpc>
                  <a:spcPct val="130000"/>
                </a:lnSpc>
                <a:spcAft>
                  <a:spcPts val="0"/>
                </a:spcAft>
                <a:buSzPct val="100000"/>
              </a:pPr>
              <a:r>
                <a:rPr lang="ko-KR" altLang="en-US" sz="1200" dirty="0">
                  <a:latin typeface="+mn-ea"/>
                </a:rPr>
                <a:t>준 실시간 영업실적 환경 구축에 따른 상품 판매 당일 실시간 분석 제공</a:t>
              </a:r>
            </a:p>
            <a:p>
              <a:pPr defTabSz="430213">
                <a:lnSpc>
                  <a:spcPct val="130000"/>
                </a:lnSpc>
                <a:spcAft>
                  <a:spcPts val="0"/>
                </a:spcAft>
                <a:buSzPct val="100000"/>
              </a:pPr>
              <a:r>
                <a:rPr lang="ko-KR" altLang="en-US" sz="1200" dirty="0">
                  <a:latin typeface="+mn-ea"/>
                </a:rPr>
                <a:t>배치 수행시간 단축으로 주요 정보제공 시스템까지 배치 업무가 개선되어 운영 생산성 향상</a:t>
              </a:r>
            </a:p>
            <a:p>
              <a:pPr defTabSz="430213">
                <a:lnSpc>
                  <a:spcPct val="130000"/>
                </a:lnSpc>
                <a:spcAft>
                  <a:spcPts val="0"/>
                </a:spcAft>
                <a:buSzPct val="100000"/>
              </a:pPr>
              <a:r>
                <a:rPr lang="en-US" altLang="ko-KR" sz="1200" dirty="0">
                  <a:latin typeface="+mn-ea"/>
                </a:rPr>
                <a:t>Object Storage </a:t>
              </a:r>
              <a:r>
                <a:rPr lang="ko-KR" altLang="en-US" sz="1200" dirty="0">
                  <a:latin typeface="+mn-ea"/>
                </a:rPr>
                <a:t>도입을 통한 데이터 폭증 대비 및 </a:t>
              </a:r>
              <a:r>
                <a:rPr lang="en-US" altLang="ko-KR" sz="1200" dirty="0">
                  <a:latin typeface="+mn-ea"/>
                </a:rPr>
                <a:t>Data </a:t>
              </a:r>
              <a:r>
                <a:rPr lang="en-US" altLang="ko-KR" sz="1200" dirty="0" err="1">
                  <a:latin typeface="+mn-ea"/>
                </a:rPr>
                <a:t>Tiering</a:t>
              </a:r>
              <a:r>
                <a:rPr lang="en-US" altLang="ko-KR" sz="1200" dirty="0">
                  <a:latin typeface="+mn-ea"/>
                </a:rPr>
                <a:t> </a:t>
              </a:r>
              <a:r>
                <a:rPr lang="ko-KR" altLang="en-US" sz="1200" dirty="0">
                  <a:latin typeface="+mn-ea"/>
                </a:rPr>
                <a:t>구조를 통한 비용 효율적인 데이터 저장소 구축</a:t>
              </a:r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5" name="그룹 4"/>
          <p:cNvGrpSpPr/>
          <p:nvPr/>
        </p:nvGrpSpPr>
        <p:grpSpPr>
          <a:xfrm>
            <a:off x="1876254" y="4823714"/>
            <a:ext cx="8439492" cy="1519764"/>
            <a:chOff x="2085632" y="4823714"/>
            <a:chExt cx="8439492" cy="1519764"/>
          </a:xfrm>
        </p:grpSpPr>
        <p:grpSp>
          <p:nvGrpSpPr>
            <p:cNvPr id="23" name="그룹 22"/>
            <p:cNvGrpSpPr/>
            <p:nvPr/>
          </p:nvGrpSpPr>
          <p:grpSpPr>
            <a:xfrm>
              <a:off x="10149777" y="5300728"/>
              <a:ext cx="229699" cy="850836"/>
              <a:chOff x="10045002" y="5481875"/>
              <a:chExt cx="229699" cy="850836"/>
            </a:xfrm>
          </p:grpSpPr>
          <p:sp>
            <p:nvSpPr>
              <p:cNvPr id="39" name="타원 159"/>
              <p:cNvSpPr/>
              <p:nvPr/>
            </p:nvSpPr>
            <p:spPr>
              <a:xfrm>
                <a:off x="10045495" y="5792690"/>
                <a:ext cx="229206" cy="229206"/>
              </a:xfrm>
              <a:prstGeom prst="ellipse">
                <a:avLst/>
              </a:prstGeom>
              <a:solidFill>
                <a:srgbClr val="02709C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749">
                  <a:latin typeface="나눔고딕" panose="020B0600000101010101" charset="-127"/>
                  <a:ea typeface="나눔고딕" panose="020B0600000101010101" charset="-127"/>
                </a:endParaRPr>
              </a:p>
            </p:txBody>
          </p:sp>
          <p:sp>
            <p:nvSpPr>
              <p:cNvPr id="49" name="타원 160"/>
              <p:cNvSpPr/>
              <p:nvPr/>
            </p:nvSpPr>
            <p:spPr>
              <a:xfrm>
                <a:off x="10045002" y="6103505"/>
                <a:ext cx="229206" cy="229206"/>
              </a:xfrm>
              <a:prstGeom prst="ellipse">
                <a:avLst/>
              </a:prstGeom>
              <a:solidFill>
                <a:srgbClr val="1C4076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749">
                  <a:latin typeface="나눔고딕" panose="020B0600000101010101" charset="-127"/>
                  <a:ea typeface="나눔고딕" panose="020B0600000101010101" charset="-127"/>
                </a:endParaRPr>
              </a:p>
            </p:txBody>
          </p:sp>
          <p:sp>
            <p:nvSpPr>
              <p:cNvPr id="52" name="타원 1"/>
              <p:cNvSpPr/>
              <p:nvPr/>
            </p:nvSpPr>
            <p:spPr>
              <a:xfrm>
                <a:off x="10045002" y="5481875"/>
                <a:ext cx="229206" cy="229206"/>
              </a:xfrm>
              <a:prstGeom prst="ellipse">
                <a:avLst/>
              </a:prstGeom>
              <a:solidFill>
                <a:srgbClr val="009ED6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749">
                  <a:latin typeface="나눔고딕" panose="020B0600000101010101" charset="-127"/>
                  <a:ea typeface="나눔고딕" panose="020B0600000101010101" charset="-127"/>
                </a:endParaRPr>
              </a:p>
            </p:txBody>
          </p:sp>
        </p:grpSp>
        <p:sp>
          <p:nvSpPr>
            <p:cNvPr id="118" name="모서리가 둥근 직사각형 84"/>
            <p:cNvSpPr/>
            <p:nvPr/>
          </p:nvSpPr>
          <p:spPr>
            <a:xfrm>
              <a:off x="2843781" y="4823716"/>
              <a:ext cx="7681343" cy="1519762"/>
            </a:xfrm>
            <a:prstGeom prst="roundRect">
              <a:avLst>
                <a:gd name="adj" fmla="val 2380"/>
              </a:avLst>
            </a:prstGeom>
            <a:solidFill>
              <a:srgbClr val="00518E">
                <a:alpha val="5000"/>
              </a:srgbClr>
            </a:solidFill>
            <a:ln w="0"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en-US" altLang="ko-KR" sz="1749" dirty="0">
                <a:solidFill>
                  <a:schemeClr val="bg1"/>
                </a:solidFill>
                <a:latin typeface="SB 어그로 Bold" panose="02020603020101020101" pitchFamily="18" charset="-127"/>
                <a:ea typeface="SB 어그로 Bold" panose="02020603020101020101" pitchFamily="18" charset="-127"/>
              </a:endParaRPr>
            </a:p>
          </p:txBody>
        </p:sp>
        <p:grpSp>
          <p:nvGrpSpPr>
            <p:cNvPr id="16" name="그룹 15"/>
            <p:cNvGrpSpPr/>
            <p:nvPr/>
          </p:nvGrpSpPr>
          <p:grpSpPr>
            <a:xfrm>
              <a:off x="2085632" y="4823714"/>
              <a:ext cx="8020737" cy="1519763"/>
              <a:chOff x="1898821" y="5004860"/>
              <a:chExt cx="8020737" cy="1519763"/>
            </a:xfrm>
          </p:grpSpPr>
          <p:sp>
            <p:nvSpPr>
              <p:cNvPr id="57" name="모서리가 둥근 직사각형 84"/>
              <p:cNvSpPr/>
              <p:nvPr/>
            </p:nvSpPr>
            <p:spPr>
              <a:xfrm>
                <a:off x="1898821" y="5004860"/>
                <a:ext cx="843875" cy="1519763"/>
              </a:xfrm>
              <a:prstGeom prst="roundRect">
                <a:avLst>
                  <a:gd name="adj" fmla="val 6633"/>
                </a:avLst>
              </a:prstGeom>
              <a:solidFill>
                <a:srgbClr val="005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1749" dirty="0">
                    <a:solidFill>
                      <a:schemeClr val="bg1"/>
                    </a:solidFill>
                    <a:latin typeface="SB 어그로 Bold" panose="02020603020101020101" pitchFamily="18" charset="-127"/>
                    <a:ea typeface="SB 어그로 Bold" panose="02020603020101020101" pitchFamily="18" charset="-127"/>
                  </a:rPr>
                  <a:t>기대</a:t>
                </a:r>
                <a:endParaRPr lang="en-US" altLang="ko-KR" sz="1749" dirty="0">
                  <a:solidFill>
                    <a:schemeClr val="bg1"/>
                  </a:solidFill>
                  <a:latin typeface="SB 어그로 Bold" panose="02020603020101020101" pitchFamily="18" charset="-127"/>
                  <a:ea typeface="SB 어그로 Bold" panose="02020603020101020101" pitchFamily="18" charset="-127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ko-KR" altLang="en-US" sz="1749" dirty="0">
                    <a:solidFill>
                      <a:schemeClr val="bg1"/>
                    </a:solidFill>
                    <a:latin typeface="SB 어그로 Bold" panose="02020603020101020101" pitchFamily="18" charset="-127"/>
                    <a:ea typeface="SB 어그로 Bold" panose="02020603020101020101" pitchFamily="18" charset="-127"/>
                  </a:rPr>
                  <a:t>효과</a:t>
                </a:r>
              </a:p>
            </p:txBody>
          </p:sp>
          <p:grpSp>
            <p:nvGrpSpPr>
              <p:cNvPr id="13" name="그룹 12"/>
              <p:cNvGrpSpPr/>
              <p:nvPr/>
            </p:nvGrpSpPr>
            <p:grpSpPr>
              <a:xfrm>
                <a:off x="2873552" y="5096615"/>
                <a:ext cx="1034013" cy="1347589"/>
                <a:chOff x="2830681" y="5096615"/>
                <a:chExt cx="1034013" cy="1347589"/>
              </a:xfrm>
            </p:grpSpPr>
            <p:sp>
              <p:nvSpPr>
                <p:cNvPr id="58" name="모서리가 둥근 직사각형 84"/>
                <p:cNvSpPr/>
                <p:nvPr/>
              </p:nvSpPr>
              <p:spPr>
                <a:xfrm>
                  <a:off x="2830681" y="5426963"/>
                  <a:ext cx="1034013" cy="1017241"/>
                </a:xfrm>
                <a:prstGeom prst="roundRect">
                  <a:avLst>
                    <a:gd name="adj" fmla="val 12957"/>
                  </a:avLst>
                </a:prstGeom>
                <a:solidFill>
                  <a:srgbClr val="009ED6">
                    <a:alpha val="30000"/>
                  </a:srgbClr>
                </a:solidFill>
                <a:ln w="0">
                  <a:solidFill>
                    <a:srgbClr val="709DC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749">
                    <a:solidFill>
                      <a:schemeClr val="bg1"/>
                    </a:solidFill>
                    <a:latin typeface="나눔고딕" panose="020B0600000101010101" charset="-127"/>
                    <a:ea typeface="나눔고딕" panose="020B0600000101010101" charset="-127"/>
                  </a:endParaRPr>
                </a:p>
              </p:txBody>
            </p:sp>
            <p:grpSp>
              <p:nvGrpSpPr>
                <p:cNvPr id="11" name="그룹 10"/>
                <p:cNvGrpSpPr/>
                <p:nvPr/>
              </p:nvGrpSpPr>
              <p:grpSpPr>
                <a:xfrm>
                  <a:off x="2938569" y="5096615"/>
                  <a:ext cx="818237" cy="259467"/>
                  <a:chOff x="2929549" y="5102691"/>
                  <a:chExt cx="818237" cy="285414"/>
                </a:xfrm>
              </p:grpSpPr>
              <p:sp>
                <p:nvSpPr>
                  <p:cNvPr id="59" name="타원 137"/>
                  <p:cNvSpPr/>
                  <p:nvPr/>
                </p:nvSpPr>
                <p:spPr>
                  <a:xfrm>
                    <a:off x="2929549" y="5195318"/>
                    <a:ext cx="100161" cy="100161"/>
                  </a:xfrm>
                  <a:prstGeom prst="ellipse">
                    <a:avLst/>
                  </a:prstGeom>
                  <a:solidFill>
                    <a:schemeClr val="bg1"/>
                  </a:solidFill>
                  <a:ln w="25400">
                    <a:solidFill>
                      <a:srgbClr val="02709C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749">
                      <a:latin typeface="나눔고딕" panose="020B0600000101010101" charset="-127"/>
                      <a:ea typeface="나눔고딕" panose="020B0600000101010101" charset="-127"/>
                    </a:endParaRPr>
                  </a:p>
                </p:txBody>
              </p:sp>
              <p:sp>
                <p:nvSpPr>
                  <p:cNvPr id="4" name="직사각형 3"/>
                  <p:cNvSpPr/>
                  <p:nvPr/>
                </p:nvSpPr>
                <p:spPr>
                  <a:xfrm>
                    <a:off x="3013327" y="5102691"/>
                    <a:ext cx="734459" cy="28541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b="1" dirty="0">
                        <a:solidFill>
                          <a:srgbClr val="1C4076"/>
                        </a:solidFill>
                      </a:rPr>
                      <a:t>일배치</a:t>
                    </a:r>
                    <a:endParaRPr lang="en-US" altLang="ko-KR" sz="1000" b="1" dirty="0">
                      <a:solidFill>
                        <a:srgbClr val="1C4076"/>
                      </a:solidFill>
                    </a:endParaRPr>
                  </a:p>
                  <a:p>
                    <a:pPr algn="ctr"/>
                    <a:r>
                      <a:rPr lang="ko-KR" altLang="en-US" sz="1000" b="1" dirty="0">
                        <a:solidFill>
                          <a:srgbClr val="1C4076"/>
                        </a:solidFill>
                      </a:rPr>
                      <a:t>수행시간</a:t>
                    </a:r>
                  </a:p>
                </p:txBody>
              </p:sp>
            </p:grpSp>
            <p:sp>
              <p:nvSpPr>
                <p:cNvPr id="60" name="제목 1"/>
                <p:cNvSpPr txBox="1">
                  <a:spLocks/>
                </p:cNvSpPr>
                <p:nvPr/>
              </p:nvSpPr>
              <p:spPr>
                <a:xfrm>
                  <a:off x="2937784" y="5601434"/>
                  <a:ext cx="819806" cy="246221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ctr">
                  <a:spAutoFit/>
                </a:bodyPr>
                <a:lstStyle>
                  <a:lvl1pPr algn="l">
                    <a:defRPr sz="2300" b="1">
                      <a:latin typeface="나눔스퀘어 Bold" pitchFamily="50" charset="-127"/>
                      <a:ea typeface="나눔스퀘어 Bold" pitchFamily="50" charset="-127"/>
                    </a:defRPr>
                  </a:lvl1pPr>
                </a:lstStyle>
                <a:p>
                  <a:pPr lvl="0" algn="ctr">
                    <a:spcBef>
                      <a:spcPct val="0"/>
                    </a:spcBef>
                    <a:buClr>
                      <a:schemeClr val="tx1">
                        <a:lumMod val="75000"/>
                        <a:lumOff val="25000"/>
                      </a:schemeClr>
                    </a:buClr>
                    <a:defRPr/>
                  </a:pPr>
                  <a:r>
                    <a:rPr lang="en-US" altLang="ko-KR" sz="16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C00000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30% </a:t>
                  </a:r>
                  <a:r>
                    <a:rPr lang="ko-KR" altLang="en-US" sz="16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C00000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▼</a:t>
                  </a:r>
                </a:p>
              </p:txBody>
            </p:sp>
            <p:sp>
              <p:nvSpPr>
                <p:cNvPr id="61" name="제목 1"/>
                <p:cNvSpPr txBox="1">
                  <a:spLocks/>
                </p:cNvSpPr>
                <p:nvPr/>
              </p:nvSpPr>
              <p:spPr>
                <a:xfrm>
                  <a:off x="2950657" y="6013476"/>
                  <a:ext cx="794061" cy="332399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ctr">
                  <a:spAutoFit/>
                </a:bodyPr>
                <a:lstStyle>
                  <a:lvl1pPr algn="l">
                    <a:defRPr sz="2300" b="1">
                      <a:latin typeface="나눔스퀘어 Bold" pitchFamily="50" charset="-127"/>
                      <a:ea typeface="나눔스퀘어 Bold" pitchFamily="50" charset="-127"/>
                    </a:defRPr>
                  </a:lvl1pPr>
                </a:lstStyle>
                <a:p>
                  <a:pPr lvl="0" algn="ctr">
                    <a:lnSpc>
                      <a:spcPct val="120000"/>
                    </a:lnSpc>
                    <a:spcBef>
                      <a:spcPct val="0"/>
                    </a:spcBef>
                    <a:buClr>
                      <a:schemeClr val="tx1">
                        <a:lumMod val="75000"/>
                        <a:lumOff val="25000"/>
                      </a:schemeClr>
                    </a:buClr>
                    <a:defRPr/>
                  </a:pPr>
                  <a:r>
                    <a:rPr lang="en-US" altLang="ko-KR" sz="9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0518E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6</a:t>
                  </a:r>
                  <a:r>
                    <a:rPr lang="ko-KR" altLang="en-US" sz="9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0518E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시간</a:t>
                  </a:r>
                  <a:r>
                    <a:rPr lang="en-US" altLang="ko-KR" sz="9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0518E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 </a:t>
                  </a:r>
                  <a:r>
                    <a:rPr lang="ko-KR" altLang="en-US" sz="9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0518E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→</a:t>
                  </a:r>
                  <a:r>
                    <a:rPr lang="en-US" altLang="ko-KR" sz="9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0518E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 4</a:t>
                  </a:r>
                  <a:r>
                    <a:rPr lang="ko-KR" altLang="en-US" sz="9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0518E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시간</a:t>
                  </a:r>
                  <a:endParaRPr lang="en-US" altLang="ko-KR" sz="9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518E"/>
                    </a:solidFill>
                    <a:latin typeface="나눔고딕" panose="020B0600000101010101" charset="-127"/>
                    <a:ea typeface="나눔고딕" panose="020B0600000101010101" charset="-127"/>
                  </a:endParaRPr>
                </a:p>
                <a:p>
                  <a:pPr lvl="0" algn="ctr">
                    <a:lnSpc>
                      <a:spcPct val="120000"/>
                    </a:lnSpc>
                    <a:spcBef>
                      <a:spcPct val="0"/>
                    </a:spcBef>
                    <a:buClr>
                      <a:schemeClr val="tx1">
                        <a:lumMod val="75000"/>
                        <a:lumOff val="25000"/>
                      </a:schemeClr>
                    </a:buClr>
                    <a:defRPr/>
                  </a:pPr>
                  <a:endParaRPr lang="ko-KR" altLang="en-US" sz="9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518E"/>
                    </a:solidFill>
                    <a:latin typeface="나눔고딕" panose="020B0600000101010101" charset="-127"/>
                    <a:ea typeface="나눔고딕" panose="020B0600000101010101" charset="-127"/>
                  </a:endParaRPr>
                </a:p>
              </p:txBody>
            </p:sp>
          </p:grpSp>
          <p:grpSp>
            <p:nvGrpSpPr>
              <p:cNvPr id="15" name="그룹 14"/>
              <p:cNvGrpSpPr/>
              <p:nvPr/>
            </p:nvGrpSpPr>
            <p:grpSpPr>
              <a:xfrm>
                <a:off x="4038420" y="5096615"/>
                <a:ext cx="1125132" cy="1347589"/>
                <a:chOff x="4073479" y="5096615"/>
                <a:chExt cx="1125132" cy="1347589"/>
              </a:xfrm>
            </p:grpSpPr>
            <p:sp>
              <p:nvSpPr>
                <p:cNvPr id="63" name="모서리가 둥근 직사각형 84"/>
                <p:cNvSpPr/>
                <p:nvPr/>
              </p:nvSpPr>
              <p:spPr>
                <a:xfrm>
                  <a:off x="4073479" y="5426977"/>
                  <a:ext cx="1034013" cy="1017227"/>
                </a:xfrm>
                <a:prstGeom prst="roundRect">
                  <a:avLst>
                    <a:gd name="adj" fmla="val 12957"/>
                  </a:avLst>
                </a:prstGeom>
                <a:solidFill>
                  <a:srgbClr val="009ED6">
                    <a:alpha val="30000"/>
                  </a:srgbClr>
                </a:solidFill>
                <a:ln w="0">
                  <a:solidFill>
                    <a:srgbClr val="709DC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749">
                    <a:solidFill>
                      <a:schemeClr val="bg1"/>
                    </a:solidFill>
                    <a:latin typeface="나눔고딕" panose="020B0600000101010101" charset="-127"/>
                    <a:ea typeface="나눔고딕" panose="020B0600000101010101" charset="-127"/>
                  </a:endParaRPr>
                </a:p>
              </p:txBody>
            </p:sp>
            <p:sp>
              <p:nvSpPr>
                <p:cNvPr id="65" name="제목 1"/>
                <p:cNvSpPr txBox="1">
                  <a:spLocks/>
                </p:cNvSpPr>
                <p:nvPr/>
              </p:nvSpPr>
              <p:spPr>
                <a:xfrm>
                  <a:off x="4180582" y="5601445"/>
                  <a:ext cx="819806" cy="246218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ctr">
                  <a:spAutoFit/>
                </a:bodyPr>
                <a:lstStyle>
                  <a:lvl1pPr algn="l">
                    <a:defRPr sz="2300" b="1">
                      <a:latin typeface="나눔스퀘어 Bold" pitchFamily="50" charset="-127"/>
                      <a:ea typeface="나눔스퀘어 Bold" pitchFamily="50" charset="-127"/>
                    </a:defRPr>
                  </a:lvl1pPr>
                </a:lstStyle>
                <a:p>
                  <a:pPr lvl="0" algn="ctr">
                    <a:spcBef>
                      <a:spcPct val="0"/>
                    </a:spcBef>
                    <a:buClr>
                      <a:schemeClr val="tx1">
                        <a:lumMod val="75000"/>
                        <a:lumOff val="25000"/>
                      </a:schemeClr>
                    </a:buClr>
                    <a:defRPr/>
                  </a:pPr>
                  <a:r>
                    <a:rPr lang="en-US" altLang="ko-KR" sz="16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C00000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10</a:t>
                  </a:r>
                  <a:r>
                    <a:rPr lang="ko-KR" altLang="en-US" sz="16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C00000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배</a:t>
                  </a:r>
                  <a:r>
                    <a:rPr lang="en-US" altLang="ko-KR" sz="16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C00000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 </a:t>
                  </a:r>
                  <a:r>
                    <a:rPr lang="ko-KR" altLang="en-US" sz="16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C00000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▲</a:t>
                  </a:r>
                </a:p>
              </p:txBody>
            </p:sp>
            <p:sp>
              <p:nvSpPr>
                <p:cNvPr id="66" name="제목 1"/>
                <p:cNvSpPr txBox="1">
                  <a:spLocks/>
                </p:cNvSpPr>
                <p:nvPr/>
              </p:nvSpPr>
              <p:spPr>
                <a:xfrm>
                  <a:off x="4193455" y="6031947"/>
                  <a:ext cx="794061" cy="295466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ctr">
                  <a:spAutoFit/>
                </a:bodyPr>
                <a:lstStyle>
                  <a:lvl1pPr algn="l">
                    <a:defRPr sz="2300" b="1">
                      <a:latin typeface="나눔스퀘어 Bold" pitchFamily="50" charset="-127"/>
                      <a:ea typeface="나눔스퀘어 Bold" pitchFamily="50" charset="-127"/>
                    </a:defRPr>
                  </a:lvl1pPr>
                </a:lstStyle>
                <a:p>
                  <a:pPr lvl="0" algn="ctr">
                    <a:lnSpc>
                      <a:spcPct val="120000"/>
                    </a:lnSpc>
                    <a:spcBef>
                      <a:spcPct val="0"/>
                    </a:spcBef>
                    <a:buClr>
                      <a:schemeClr val="tx1">
                        <a:lumMod val="75000"/>
                        <a:lumOff val="25000"/>
                      </a:schemeClr>
                    </a:buClr>
                    <a:defRPr/>
                  </a:pPr>
                  <a:r>
                    <a:rPr lang="en-US" altLang="ko-KR" sz="9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0518E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600</a:t>
                  </a:r>
                  <a:r>
                    <a:rPr lang="ko-KR" altLang="en-US" sz="9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0518E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초</a:t>
                  </a:r>
                  <a:r>
                    <a:rPr lang="en-US" altLang="ko-KR" sz="9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0518E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 </a:t>
                  </a:r>
                  <a:r>
                    <a:rPr lang="ko-KR" altLang="en-US" sz="9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0518E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→</a:t>
                  </a:r>
                  <a:r>
                    <a:rPr lang="en-US" altLang="ko-KR" sz="9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0518E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 60</a:t>
                  </a:r>
                  <a:r>
                    <a:rPr lang="ko-KR" altLang="en-US" sz="9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0518E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초</a:t>
                  </a:r>
                  <a:endParaRPr lang="en-US" altLang="ko-KR" sz="9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518E"/>
                    </a:solidFill>
                    <a:latin typeface="나눔고딕" panose="020B0600000101010101" charset="-127"/>
                    <a:ea typeface="나눔고딕" panose="020B0600000101010101" charset="-127"/>
                  </a:endParaRPr>
                </a:p>
                <a:p>
                  <a:pPr lvl="0" algn="ctr">
                    <a:lnSpc>
                      <a:spcPct val="120000"/>
                    </a:lnSpc>
                    <a:spcBef>
                      <a:spcPct val="0"/>
                    </a:spcBef>
                    <a:buClr>
                      <a:schemeClr val="tx1">
                        <a:lumMod val="75000"/>
                        <a:lumOff val="25000"/>
                      </a:schemeClr>
                    </a:buClr>
                    <a:defRPr/>
                  </a:pPr>
                  <a:r>
                    <a:rPr lang="en-US" altLang="ko-KR" sz="7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0518E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(</a:t>
                  </a:r>
                  <a:r>
                    <a:rPr lang="ko-KR" altLang="en-US" sz="7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0518E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평균리포트응답시간</a:t>
                  </a:r>
                  <a:r>
                    <a:rPr lang="en-US" altLang="ko-KR" sz="7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0518E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)</a:t>
                  </a:r>
                  <a:endParaRPr lang="ko-KR" altLang="en-US" sz="9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518E"/>
                    </a:solidFill>
                    <a:latin typeface="나눔고딕" panose="020B0600000101010101" charset="-127"/>
                    <a:ea typeface="나눔고딕" panose="020B0600000101010101" charset="-127"/>
                  </a:endParaRPr>
                </a:p>
              </p:txBody>
            </p:sp>
            <p:grpSp>
              <p:nvGrpSpPr>
                <p:cNvPr id="14" name="그룹 13"/>
                <p:cNvGrpSpPr/>
                <p:nvPr/>
              </p:nvGrpSpPr>
              <p:grpSpPr>
                <a:xfrm>
                  <a:off x="4093294" y="5096615"/>
                  <a:ext cx="1105317" cy="259463"/>
                  <a:chOff x="4093294" y="5096615"/>
                  <a:chExt cx="1105317" cy="259463"/>
                </a:xfrm>
              </p:grpSpPr>
              <p:sp>
                <p:nvSpPr>
                  <p:cNvPr id="68" name="직사각형 67"/>
                  <p:cNvSpPr/>
                  <p:nvPr/>
                </p:nvSpPr>
                <p:spPr>
                  <a:xfrm>
                    <a:off x="4123288" y="5096615"/>
                    <a:ext cx="1075323" cy="25946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b="1" dirty="0">
                        <a:solidFill>
                          <a:srgbClr val="1C4076"/>
                        </a:solidFill>
                      </a:rPr>
                      <a:t>리포트</a:t>
                    </a:r>
                    <a:endParaRPr lang="en-US" altLang="ko-KR" sz="1000" b="1" dirty="0">
                      <a:solidFill>
                        <a:srgbClr val="1C4076"/>
                      </a:solidFill>
                    </a:endParaRPr>
                  </a:p>
                  <a:p>
                    <a:pPr algn="ctr"/>
                    <a:r>
                      <a:rPr lang="ko-KR" altLang="en-US" sz="1000" b="1" dirty="0">
                        <a:solidFill>
                          <a:srgbClr val="1C4076"/>
                        </a:solidFill>
                      </a:rPr>
                      <a:t>건당 조회시간</a:t>
                    </a:r>
                  </a:p>
                </p:txBody>
              </p:sp>
              <p:sp>
                <p:nvSpPr>
                  <p:cNvPr id="69" name="타원 137"/>
                  <p:cNvSpPr/>
                  <p:nvPr/>
                </p:nvSpPr>
                <p:spPr>
                  <a:xfrm>
                    <a:off x="4093294" y="5180819"/>
                    <a:ext cx="100161" cy="91055"/>
                  </a:xfrm>
                  <a:prstGeom prst="ellipse">
                    <a:avLst/>
                  </a:prstGeom>
                  <a:solidFill>
                    <a:schemeClr val="bg1"/>
                  </a:solidFill>
                  <a:ln w="25400">
                    <a:solidFill>
                      <a:srgbClr val="02709C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749">
                      <a:latin typeface="나눔고딕" panose="020B0600000101010101" charset="-127"/>
                      <a:ea typeface="나눔고딕" panose="020B0600000101010101" charset="-127"/>
                    </a:endParaRPr>
                  </a:p>
                </p:txBody>
              </p:sp>
            </p:grpSp>
          </p:grpSp>
          <p:grpSp>
            <p:nvGrpSpPr>
              <p:cNvPr id="71" name="그룹 70"/>
              <p:cNvGrpSpPr/>
              <p:nvPr/>
            </p:nvGrpSpPr>
            <p:grpSpPr>
              <a:xfrm>
                <a:off x="5294408" y="5091648"/>
                <a:ext cx="1034013" cy="1347589"/>
                <a:chOff x="4073479" y="5096615"/>
                <a:chExt cx="1034013" cy="1347589"/>
              </a:xfrm>
            </p:grpSpPr>
            <p:sp>
              <p:nvSpPr>
                <p:cNvPr id="72" name="모서리가 둥근 직사각형 84"/>
                <p:cNvSpPr/>
                <p:nvPr/>
              </p:nvSpPr>
              <p:spPr>
                <a:xfrm>
                  <a:off x="4073479" y="5426977"/>
                  <a:ext cx="1034013" cy="1017227"/>
                </a:xfrm>
                <a:prstGeom prst="roundRect">
                  <a:avLst>
                    <a:gd name="adj" fmla="val 12957"/>
                  </a:avLst>
                </a:prstGeom>
                <a:solidFill>
                  <a:srgbClr val="009ED6">
                    <a:alpha val="30000"/>
                  </a:srgbClr>
                </a:solidFill>
                <a:ln w="0">
                  <a:solidFill>
                    <a:srgbClr val="709DC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749">
                    <a:solidFill>
                      <a:schemeClr val="bg1"/>
                    </a:solidFill>
                    <a:latin typeface="나눔고딕" panose="020B0600000101010101" charset="-127"/>
                    <a:ea typeface="나눔고딕" panose="020B0600000101010101" charset="-127"/>
                  </a:endParaRPr>
                </a:p>
              </p:txBody>
            </p:sp>
            <p:sp>
              <p:nvSpPr>
                <p:cNvPr id="73" name="제목 1"/>
                <p:cNvSpPr txBox="1">
                  <a:spLocks/>
                </p:cNvSpPr>
                <p:nvPr/>
              </p:nvSpPr>
              <p:spPr>
                <a:xfrm>
                  <a:off x="4180582" y="5601445"/>
                  <a:ext cx="819806" cy="246218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ctr">
                  <a:spAutoFit/>
                </a:bodyPr>
                <a:lstStyle>
                  <a:lvl1pPr algn="l">
                    <a:defRPr sz="2300" b="1">
                      <a:latin typeface="나눔스퀘어 Bold" pitchFamily="50" charset="-127"/>
                      <a:ea typeface="나눔스퀘어 Bold" pitchFamily="50" charset="-127"/>
                    </a:defRPr>
                  </a:lvl1pPr>
                </a:lstStyle>
                <a:p>
                  <a:pPr lvl="0" algn="ctr">
                    <a:spcBef>
                      <a:spcPct val="0"/>
                    </a:spcBef>
                    <a:buClr>
                      <a:schemeClr val="tx1">
                        <a:lumMod val="75000"/>
                        <a:lumOff val="25000"/>
                      </a:schemeClr>
                    </a:buClr>
                    <a:defRPr/>
                  </a:pPr>
                  <a:r>
                    <a:rPr lang="en-US" altLang="ko-KR" sz="16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C00000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43% </a:t>
                  </a:r>
                  <a:r>
                    <a:rPr lang="ko-KR" altLang="en-US" sz="16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C00000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▲</a:t>
                  </a:r>
                </a:p>
              </p:txBody>
            </p:sp>
            <p:sp>
              <p:nvSpPr>
                <p:cNvPr id="74" name="제목 1"/>
                <p:cNvSpPr txBox="1">
                  <a:spLocks/>
                </p:cNvSpPr>
                <p:nvPr/>
              </p:nvSpPr>
              <p:spPr>
                <a:xfrm>
                  <a:off x="4110078" y="6031948"/>
                  <a:ext cx="960814" cy="295466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ctr">
                  <a:spAutoFit/>
                </a:bodyPr>
                <a:lstStyle>
                  <a:lvl1pPr algn="l">
                    <a:defRPr sz="2300" b="1">
                      <a:latin typeface="나눔스퀘어 Bold" pitchFamily="50" charset="-127"/>
                      <a:ea typeface="나눔스퀘어 Bold" pitchFamily="50" charset="-127"/>
                    </a:defRPr>
                  </a:lvl1pPr>
                </a:lstStyle>
                <a:p>
                  <a:pPr lvl="0" algn="ctr">
                    <a:lnSpc>
                      <a:spcPct val="120000"/>
                    </a:lnSpc>
                    <a:spcBef>
                      <a:spcPct val="0"/>
                    </a:spcBef>
                    <a:buClr>
                      <a:schemeClr val="tx1">
                        <a:lumMod val="75000"/>
                        <a:lumOff val="25000"/>
                      </a:schemeClr>
                    </a:buClr>
                    <a:defRPr/>
                  </a:pPr>
                  <a:r>
                    <a:rPr lang="en-US" altLang="ko-KR" sz="9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0518E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700</a:t>
                  </a:r>
                  <a:r>
                    <a:rPr lang="ko-KR" altLang="en-US" sz="9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0518E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종</a:t>
                  </a:r>
                  <a:r>
                    <a:rPr lang="en-US" altLang="ko-KR" sz="9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0518E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 </a:t>
                  </a:r>
                  <a:r>
                    <a:rPr lang="ko-KR" altLang="en-US" sz="9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0518E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→</a:t>
                  </a:r>
                  <a:r>
                    <a:rPr lang="en-US" altLang="ko-KR" sz="9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0518E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 1,000</a:t>
                  </a:r>
                  <a:r>
                    <a:rPr lang="ko-KR" altLang="en-US" sz="9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0518E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종</a:t>
                  </a:r>
                  <a:endParaRPr lang="en-US" altLang="ko-KR" sz="9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518E"/>
                    </a:solidFill>
                    <a:latin typeface="나눔고딕" panose="020B0600000101010101" charset="-127"/>
                    <a:ea typeface="나눔고딕" panose="020B0600000101010101" charset="-127"/>
                  </a:endParaRPr>
                </a:p>
                <a:p>
                  <a:pPr lvl="0" algn="ctr">
                    <a:lnSpc>
                      <a:spcPct val="120000"/>
                    </a:lnSpc>
                    <a:spcBef>
                      <a:spcPct val="0"/>
                    </a:spcBef>
                    <a:buClr>
                      <a:schemeClr val="tx1">
                        <a:lumMod val="75000"/>
                        <a:lumOff val="25000"/>
                      </a:schemeClr>
                    </a:buClr>
                    <a:defRPr/>
                  </a:pPr>
                  <a:r>
                    <a:rPr lang="en-US" altLang="ko-KR" sz="7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0518E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(</a:t>
                  </a:r>
                  <a:r>
                    <a:rPr lang="ko-KR" altLang="en-US" sz="7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0518E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업무일 기준 평균 수행</a:t>
                  </a:r>
                  <a:r>
                    <a:rPr lang="en-US" altLang="ko-KR" sz="7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0518E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)</a:t>
                  </a:r>
                  <a:endParaRPr lang="ko-KR" altLang="en-US" sz="9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518E"/>
                    </a:solidFill>
                    <a:latin typeface="나눔고딕" panose="020B0600000101010101" charset="-127"/>
                    <a:ea typeface="나눔고딕" panose="020B0600000101010101" charset="-127"/>
                  </a:endParaRPr>
                </a:p>
              </p:txBody>
            </p:sp>
            <p:grpSp>
              <p:nvGrpSpPr>
                <p:cNvPr id="75" name="그룹 74"/>
                <p:cNvGrpSpPr/>
                <p:nvPr/>
              </p:nvGrpSpPr>
              <p:grpSpPr>
                <a:xfrm>
                  <a:off x="4159969" y="5096615"/>
                  <a:ext cx="910923" cy="259463"/>
                  <a:chOff x="4159969" y="5096615"/>
                  <a:chExt cx="910923" cy="259463"/>
                </a:xfrm>
              </p:grpSpPr>
              <p:sp>
                <p:nvSpPr>
                  <p:cNvPr id="76" name="직사각형 75"/>
                  <p:cNvSpPr/>
                  <p:nvPr/>
                </p:nvSpPr>
                <p:spPr>
                  <a:xfrm>
                    <a:off x="4197551" y="5096615"/>
                    <a:ext cx="873341" cy="25946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b="1" dirty="0">
                        <a:solidFill>
                          <a:srgbClr val="1C4076"/>
                        </a:solidFill>
                      </a:rPr>
                      <a:t>리포트</a:t>
                    </a:r>
                    <a:endParaRPr lang="en-US" altLang="ko-KR" sz="1000" b="1" dirty="0">
                      <a:solidFill>
                        <a:srgbClr val="1C4076"/>
                      </a:solidFill>
                    </a:endParaRPr>
                  </a:p>
                  <a:p>
                    <a:pPr algn="ctr"/>
                    <a:r>
                      <a:rPr lang="ko-KR" altLang="en-US" sz="1000" b="1" dirty="0">
                        <a:solidFill>
                          <a:srgbClr val="1C4076"/>
                        </a:solidFill>
                      </a:rPr>
                      <a:t>스케줄 확대</a:t>
                    </a:r>
                  </a:p>
                </p:txBody>
              </p:sp>
              <p:sp>
                <p:nvSpPr>
                  <p:cNvPr id="77" name="타원 137"/>
                  <p:cNvSpPr/>
                  <p:nvPr/>
                </p:nvSpPr>
                <p:spPr>
                  <a:xfrm>
                    <a:off x="4159969" y="5180819"/>
                    <a:ext cx="100161" cy="91055"/>
                  </a:xfrm>
                  <a:prstGeom prst="ellipse">
                    <a:avLst/>
                  </a:prstGeom>
                  <a:solidFill>
                    <a:schemeClr val="bg1"/>
                  </a:solidFill>
                  <a:ln w="25400">
                    <a:solidFill>
                      <a:srgbClr val="02709C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749">
                      <a:latin typeface="나눔고딕" panose="020B0600000101010101" charset="-127"/>
                      <a:ea typeface="나눔고딕" panose="020B0600000101010101" charset="-127"/>
                    </a:endParaRPr>
                  </a:p>
                </p:txBody>
              </p:sp>
            </p:grpSp>
          </p:grpSp>
          <p:grpSp>
            <p:nvGrpSpPr>
              <p:cNvPr id="78" name="그룹 77"/>
              <p:cNvGrpSpPr/>
              <p:nvPr/>
            </p:nvGrpSpPr>
            <p:grpSpPr>
              <a:xfrm>
                <a:off x="6459277" y="5072261"/>
                <a:ext cx="1034013" cy="1347589"/>
                <a:chOff x="4073479" y="5096615"/>
                <a:chExt cx="1034013" cy="1347589"/>
              </a:xfrm>
            </p:grpSpPr>
            <p:sp>
              <p:nvSpPr>
                <p:cNvPr id="79" name="모서리가 둥근 직사각형 84"/>
                <p:cNvSpPr/>
                <p:nvPr/>
              </p:nvSpPr>
              <p:spPr>
                <a:xfrm>
                  <a:off x="4073479" y="5426977"/>
                  <a:ext cx="1034013" cy="1017227"/>
                </a:xfrm>
                <a:prstGeom prst="roundRect">
                  <a:avLst>
                    <a:gd name="adj" fmla="val 12957"/>
                  </a:avLst>
                </a:prstGeom>
                <a:solidFill>
                  <a:srgbClr val="009ED6">
                    <a:alpha val="30000"/>
                  </a:srgbClr>
                </a:solidFill>
                <a:ln w="0">
                  <a:solidFill>
                    <a:srgbClr val="709DC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749">
                    <a:solidFill>
                      <a:schemeClr val="bg1"/>
                    </a:solidFill>
                    <a:latin typeface="나눔고딕" panose="020B0600000101010101" charset="-127"/>
                    <a:ea typeface="나눔고딕" panose="020B0600000101010101" charset="-127"/>
                  </a:endParaRPr>
                </a:p>
              </p:txBody>
            </p:sp>
            <p:sp>
              <p:nvSpPr>
                <p:cNvPr id="80" name="제목 1"/>
                <p:cNvSpPr txBox="1">
                  <a:spLocks/>
                </p:cNvSpPr>
                <p:nvPr/>
              </p:nvSpPr>
              <p:spPr>
                <a:xfrm>
                  <a:off x="4180582" y="5601445"/>
                  <a:ext cx="819806" cy="246218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ctr">
                  <a:spAutoFit/>
                </a:bodyPr>
                <a:lstStyle>
                  <a:lvl1pPr algn="l">
                    <a:defRPr sz="2300" b="1">
                      <a:latin typeface="나눔스퀘어 Bold" pitchFamily="50" charset="-127"/>
                      <a:ea typeface="나눔스퀘어 Bold" pitchFamily="50" charset="-127"/>
                    </a:defRPr>
                  </a:lvl1pPr>
                </a:lstStyle>
                <a:p>
                  <a:pPr lvl="0" algn="ctr">
                    <a:spcBef>
                      <a:spcPct val="0"/>
                    </a:spcBef>
                    <a:buClr>
                      <a:schemeClr val="tx1">
                        <a:lumMod val="75000"/>
                        <a:lumOff val="25000"/>
                      </a:schemeClr>
                    </a:buClr>
                    <a:defRPr/>
                  </a:pPr>
                  <a:r>
                    <a:rPr lang="en-US" altLang="ko-KR" sz="16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C00000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Good</a:t>
                  </a:r>
                  <a:endParaRPr lang="ko-KR" altLang="en-US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C00000"/>
                    </a:solidFill>
                    <a:latin typeface="나눔고딕" panose="020B0600000101010101" charset="-127"/>
                    <a:ea typeface="나눔고딕" panose="020B0600000101010101" charset="-127"/>
                  </a:endParaRPr>
                </a:p>
              </p:txBody>
            </p:sp>
            <p:sp>
              <p:nvSpPr>
                <p:cNvPr id="81" name="제목 1"/>
                <p:cNvSpPr txBox="1">
                  <a:spLocks/>
                </p:cNvSpPr>
                <p:nvPr/>
              </p:nvSpPr>
              <p:spPr>
                <a:xfrm>
                  <a:off x="4110078" y="5967316"/>
                  <a:ext cx="960814" cy="424732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ctr">
                  <a:spAutoFit/>
                </a:bodyPr>
                <a:lstStyle>
                  <a:lvl1pPr algn="l">
                    <a:defRPr sz="2300" b="1">
                      <a:latin typeface="나눔스퀘어 Bold" pitchFamily="50" charset="-127"/>
                      <a:ea typeface="나눔스퀘어 Bold" pitchFamily="50" charset="-127"/>
                    </a:defRPr>
                  </a:lvl1pPr>
                </a:lstStyle>
                <a:p>
                  <a:pPr lvl="0" algn="ctr">
                    <a:lnSpc>
                      <a:spcPct val="120000"/>
                    </a:lnSpc>
                    <a:spcBef>
                      <a:spcPct val="0"/>
                    </a:spcBef>
                    <a:buClr>
                      <a:schemeClr val="tx1">
                        <a:lumMod val="75000"/>
                        <a:lumOff val="25000"/>
                      </a:schemeClr>
                    </a:buClr>
                    <a:defRPr/>
                  </a:pPr>
                  <a:r>
                    <a:rPr lang="en-US" altLang="ko-KR" sz="9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0518E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100</a:t>
                  </a:r>
                  <a:r>
                    <a:rPr lang="ko-KR" altLang="en-US" sz="9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0518E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건</a:t>
                  </a:r>
                  <a:r>
                    <a:rPr lang="en-US" altLang="ko-KR" sz="9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0518E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 </a:t>
                  </a:r>
                  <a:r>
                    <a:rPr lang="ko-KR" altLang="en-US" sz="9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0518E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→</a:t>
                  </a:r>
                  <a:r>
                    <a:rPr lang="en-US" altLang="ko-KR" sz="9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0518E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 Zero</a:t>
                  </a:r>
                </a:p>
                <a:p>
                  <a:pPr lvl="0" algn="ctr">
                    <a:lnSpc>
                      <a:spcPct val="120000"/>
                    </a:lnSpc>
                    <a:spcBef>
                      <a:spcPct val="0"/>
                    </a:spcBef>
                    <a:buClr>
                      <a:schemeClr val="tx1">
                        <a:lumMod val="75000"/>
                        <a:lumOff val="25000"/>
                      </a:schemeClr>
                    </a:buClr>
                    <a:defRPr/>
                  </a:pPr>
                  <a:r>
                    <a:rPr lang="ko-KR" altLang="en-US" sz="7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0518E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평균 대기</a:t>
                  </a:r>
                  <a:endParaRPr lang="en-US" altLang="ko-KR" sz="9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518E"/>
                    </a:solidFill>
                    <a:latin typeface="나눔고딕" panose="020B0600000101010101" charset="-127"/>
                    <a:ea typeface="나눔고딕" panose="020B0600000101010101" charset="-127"/>
                  </a:endParaRPr>
                </a:p>
                <a:p>
                  <a:pPr lvl="0" algn="ctr">
                    <a:lnSpc>
                      <a:spcPct val="120000"/>
                    </a:lnSpc>
                    <a:spcBef>
                      <a:spcPct val="0"/>
                    </a:spcBef>
                    <a:buClr>
                      <a:schemeClr val="tx1">
                        <a:lumMod val="75000"/>
                        <a:lumOff val="25000"/>
                      </a:schemeClr>
                    </a:buClr>
                    <a:defRPr/>
                  </a:pPr>
                  <a:r>
                    <a:rPr lang="en-US" altLang="ko-KR" sz="7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0518E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(08:30 ~ 10:00)</a:t>
                  </a:r>
                  <a:endParaRPr lang="ko-KR" altLang="en-US" sz="9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518E"/>
                    </a:solidFill>
                    <a:latin typeface="나눔고딕" panose="020B0600000101010101" charset="-127"/>
                    <a:ea typeface="나눔고딕" panose="020B0600000101010101" charset="-127"/>
                  </a:endParaRPr>
                </a:p>
              </p:txBody>
            </p:sp>
            <p:grpSp>
              <p:nvGrpSpPr>
                <p:cNvPr id="82" name="그룹 81"/>
                <p:cNvGrpSpPr/>
                <p:nvPr/>
              </p:nvGrpSpPr>
              <p:grpSpPr>
                <a:xfrm>
                  <a:off x="4159969" y="5096615"/>
                  <a:ext cx="910923" cy="259463"/>
                  <a:chOff x="4159969" y="5096615"/>
                  <a:chExt cx="910923" cy="259463"/>
                </a:xfrm>
              </p:grpSpPr>
              <p:sp>
                <p:nvSpPr>
                  <p:cNvPr id="83" name="직사각형 82"/>
                  <p:cNvSpPr/>
                  <p:nvPr/>
                </p:nvSpPr>
                <p:spPr>
                  <a:xfrm>
                    <a:off x="4197551" y="5096615"/>
                    <a:ext cx="873341" cy="25946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b="1" dirty="0">
                        <a:solidFill>
                          <a:srgbClr val="1C4076"/>
                        </a:solidFill>
                      </a:rPr>
                      <a:t>Peak Time</a:t>
                    </a:r>
                  </a:p>
                  <a:p>
                    <a:pPr algn="ctr"/>
                    <a:r>
                      <a:rPr lang="ko-KR" altLang="en-US" sz="1000" b="1" dirty="0">
                        <a:solidFill>
                          <a:srgbClr val="1C4076"/>
                        </a:solidFill>
                      </a:rPr>
                      <a:t>시스템 현황</a:t>
                    </a:r>
                  </a:p>
                </p:txBody>
              </p:sp>
              <p:sp>
                <p:nvSpPr>
                  <p:cNvPr id="84" name="타원 137"/>
                  <p:cNvSpPr/>
                  <p:nvPr/>
                </p:nvSpPr>
                <p:spPr>
                  <a:xfrm>
                    <a:off x="4159969" y="5180819"/>
                    <a:ext cx="100161" cy="91055"/>
                  </a:xfrm>
                  <a:prstGeom prst="ellipse">
                    <a:avLst/>
                  </a:prstGeom>
                  <a:solidFill>
                    <a:schemeClr val="bg1"/>
                  </a:solidFill>
                  <a:ln w="25400">
                    <a:solidFill>
                      <a:srgbClr val="02709C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749">
                      <a:latin typeface="나눔고딕" panose="020B0600000101010101" charset="-127"/>
                      <a:ea typeface="나눔고딕" panose="020B0600000101010101" charset="-127"/>
                    </a:endParaRPr>
                  </a:p>
                </p:txBody>
              </p:sp>
            </p:grpSp>
          </p:grpSp>
          <p:grpSp>
            <p:nvGrpSpPr>
              <p:cNvPr id="85" name="그룹 84"/>
              <p:cNvGrpSpPr/>
              <p:nvPr/>
            </p:nvGrpSpPr>
            <p:grpSpPr>
              <a:xfrm>
                <a:off x="7624146" y="5072261"/>
                <a:ext cx="1082279" cy="1347589"/>
                <a:chOff x="4073479" y="5096615"/>
                <a:chExt cx="1082279" cy="1347589"/>
              </a:xfrm>
            </p:grpSpPr>
            <p:sp>
              <p:nvSpPr>
                <p:cNvPr id="86" name="모서리가 둥근 직사각형 84"/>
                <p:cNvSpPr/>
                <p:nvPr/>
              </p:nvSpPr>
              <p:spPr>
                <a:xfrm>
                  <a:off x="4073479" y="5426977"/>
                  <a:ext cx="1034013" cy="1017227"/>
                </a:xfrm>
                <a:prstGeom prst="roundRect">
                  <a:avLst>
                    <a:gd name="adj" fmla="val 12957"/>
                  </a:avLst>
                </a:prstGeom>
                <a:solidFill>
                  <a:srgbClr val="009ED6">
                    <a:alpha val="30000"/>
                  </a:srgbClr>
                </a:solidFill>
                <a:ln w="0">
                  <a:solidFill>
                    <a:srgbClr val="709DC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749">
                    <a:solidFill>
                      <a:schemeClr val="bg1"/>
                    </a:solidFill>
                    <a:latin typeface="나눔고딕" panose="020B0600000101010101" charset="-127"/>
                    <a:ea typeface="나눔고딕" panose="020B0600000101010101" charset="-127"/>
                  </a:endParaRPr>
                </a:p>
              </p:txBody>
            </p:sp>
            <p:sp>
              <p:nvSpPr>
                <p:cNvPr id="88" name="제목 1"/>
                <p:cNvSpPr txBox="1">
                  <a:spLocks/>
                </p:cNvSpPr>
                <p:nvPr/>
              </p:nvSpPr>
              <p:spPr>
                <a:xfrm>
                  <a:off x="4180582" y="5601445"/>
                  <a:ext cx="819806" cy="246218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ctr">
                  <a:spAutoFit/>
                </a:bodyPr>
                <a:lstStyle>
                  <a:lvl1pPr algn="l">
                    <a:defRPr sz="2300" b="1">
                      <a:latin typeface="나눔스퀘어 Bold" pitchFamily="50" charset="-127"/>
                      <a:ea typeface="나눔스퀘어 Bold" pitchFamily="50" charset="-127"/>
                    </a:defRPr>
                  </a:lvl1pPr>
                </a:lstStyle>
                <a:p>
                  <a:pPr lvl="0" algn="ctr">
                    <a:spcBef>
                      <a:spcPct val="0"/>
                    </a:spcBef>
                    <a:buClr>
                      <a:schemeClr val="tx1">
                        <a:lumMod val="75000"/>
                        <a:lumOff val="25000"/>
                      </a:schemeClr>
                    </a:buClr>
                    <a:defRPr/>
                  </a:pPr>
                  <a:r>
                    <a:rPr lang="en-US" altLang="ko-KR" sz="16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C00000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25% </a:t>
                  </a:r>
                  <a:r>
                    <a:rPr lang="ko-KR" altLang="en-US" sz="16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C00000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▲</a:t>
                  </a:r>
                </a:p>
              </p:txBody>
            </p:sp>
            <p:sp>
              <p:nvSpPr>
                <p:cNvPr id="107" name="제목 1"/>
                <p:cNvSpPr txBox="1">
                  <a:spLocks/>
                </p:cNvSpPr>
                <p:nvPr/>
              </p:nvSpPr>
              <p:spPr>
                <a:xfrm>
                  <a:off x="4110078" y="6031950"/>
                  <a:ext cx="960814" cy="295466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ctr">
                  <a:spAutoFit/>
                </a:bodyPr>
                <a:lstStyle>
                  <a:lvl1pPr algn="l">
                    <a:defRPr sz="2300" b="1">
                      <a:latin typeface="나눔스퀘어 Bold" pitchFamily="50" charset="-127"/>
                      <a:ea typeface="나눔스퀘어 Bold" pitchFamily="50" charset="-127"/>
                    </a:defRPr>
                  </a:lvl1pPr>
                </a:lstStyle>
                <a:p>
                  <a:pPr lvl="0" algn="ctr">
                    <a:lnSpc>
                      <a:spcPct val="120000"/>
                    </a:lnSpc>
                    <a:spcBef>
                      <a:spcPct val="0"/>
                    </a:spcBef>
                    <a:buClr>
                      <a:schemeClr val="tx1">
                        <a:lumMod val="75000"/>
                        <a:lumOff val="25000"/>
                      </a:schemeClr>
                    </a:buClr>
                    <a:defRPr/>
                  </a:pPr>
                  <a:r>
                    <a:rPr lang="en-US" altLang="ko-KR" sz="9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0518E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3</a:t>
                  </a:r>
                  <a:r>
                    <a:rPr lang="ko-KR" altLang="en-US" sz="9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0518E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년</a:t>
                  </a:r>
                  <a:r>
                    <a:rPr lang="en-US" altLang="ko-KR" sz="9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0518E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 </a:t>
                  </a:r>
                  <a:r>
                    <a:rPr lang="ko-KR" altLang="en-US" sz="9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0518E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→</a:t>
                  </a:r>
                  <a:r>
                    <a:rPr lang="en-US" altLang="ko-KR" sz="9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0518E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 4</a:t>
                  </a:r>
                  <a:r>
                    <a:rPr lang="ko-KR" altLang="en-US" sz="9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0518E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년</a:t>
                  </a:r>
                  <a:endParaRPr lang="en-US" altLang="ko-KR" sz="9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518E"/>
                    </a:solidFill>
                    <a:latin typeface="나눔고딕" panose="020B0600000101010101" charset="-127"/>
                    <a:ea typeface="나눔고딕" panose="020B0600000101010101" charset="-127"/>
                  </a:endParaRPr>
                </a:p>
                <a:p>
                  <a:pPr lvl="0" algn="ctr">
                    <a:lnSpc>
                      <a:spcPct val="120000"/>
                    </a:lnSpc>
                    <a:spcBef>
                      <a:spcPct val="0"/>
                    </a:spcBef>
                    <a:buClr>
                      <a:schemeClr val="tx1">
                        <a:lumMod val="75000"/>
                        <a:lumOff val="25000"/>
                      </a:schemeClr>
                    </a:buClr>
                    <a:defRPr/>
                  </a:pPr>
                  <a:r>
                    <a:rPr lang="en-US" altLang="ko-KR" sz="7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0518E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(Cold Data </a:t>
                  </a:r>
                  <a:r>
                    <a:rPr lang="ko-KR" altLang="en-US" sz="7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0518E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포함 기준</a:t>
                  </a:r>
                  <a:r>
                    <a:rPr lang="en-US" altLang="ko-KR" sz="7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0518E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)</a:t>
                  </a:r>
                  <a:endParaRPr lang="ko-KR" altLang="en-US" sz="9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518E"/>
                    </a:solidFill>
                    <a:latin typeface="나눔고딕" panose="020B0600000101010101" charset="-127"/>
                    <a:ea typeface="나눔고딕" panose="020B0600000101010101" charset="-127"/>
                  </a:endParaRPr>
                </a:p>
              </p:txBody>
            </p:sp>
            <p:grpSp>
              <p:nvGrpSpPr>
                <p:cNvPr id="108" name="그룹 107"/>
                <p:cNvGrpSpPr/>
                <p:nvPr/>
              </p:nvGrpSpPr>
              <p:grpSpPr>
                <a:xfrm>
                  <a:off x="4102819" y="5096615"/>
                  <a:ext cx="1052939" cy="259463"/>
                  <a:chOff x="4102819" y="5096615"/>
                  <a:chExt cx="1052939" cy="259463"/>
                </a:xfrm>
              </p:grpSpPr>
              <p:sp>
                <p:nvSpPr>
                  <p:cNvPr id="109" name="직사각형 108"/>
                  <p:cNvSpPr/>
                  <p:nvPr/>
                </p:nvSpPr>
                <p:spPr>
                  <a:xfrm>
                    <a:off x="4149926" y="5096615"/>
                    <a:ext cx="1005832" cy="25946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b="1" dirty="0">
                        <a:solidFill>
                          <a:srgbClr val="1C4076"/>
                        </a:solidFill>
                      </a:rPr>
                      <a:t>데이터</a:t>
                    </a:r>
                    <a:endParaRPr lang="en-US" altLang="ko-KR" sz="1000" b="1" dirty="0">
                      <a:solidFill>
                        <a:srgbClr val="1C4076"/>
                      </a:solidFill>
                    </a:endParaRPr>
                  </a:p>
                  <a:p>
                    <a:pPr algn="ctr"/>
                    <a:r>
                      <a:rPr lang="ko-KR" altLang="en-US" sz="1000" b="1" dirty="0">
                        <a:solidFill>
                          <a:srgbClr val="1C4076"/>
                        </a:solidFill>
                      </a:rPr>
                      <a:t>보관주기 확대</a:t>
                    </a:r>
                  </a:p>
                </p:txBody>
              </p:sp>
              <p:sp>
                <p:nvSpPr>
                  <p:cNvPr id="110" name="타원 137"/>
                  <p:cNvSpPr/>
                  <p:nvPr/>
                </p:nvSpPr>
                <p:spPr>
                  <a:xfrm>
                    <a:off x="4102819" y="5180819"/>
                    <a:ext cx="100161" cy="91055"/>
                  </a:xfrm>
                  <a:prstGeom prst="ellipse">
                    <a:avLst/>
                  </a:prstGeom>
                  <a:solidFill>
                    <a:schemeClr val="bg1"/>
                  </a:solidFill>
                  <a:ln w="25400">
                    <a:solidFill>
                      <a:srgbClr val="02709C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749">
                      <a:latin typeface="나눔고딕" panose="020B0600000101010101" charset="-127"/>
                      <a:ea typeface="나눔고딕" panose="020B0600000101010101" charset="-127"/>
                    </a:endParaRPr>
                  </a:p>
                </p:txBody>
              </p:sp>
            </p:grpSp>
          </p:grpSp>
          <p:grpSp>
            <p:nvGrpSpPr>
              <p:cNvPr id="111" name="그룹 110"/>
              <p:cNvGrpSpPr/>
              <p:nvPr/>
            </p:nvGrpSpPr>
            <p:grpSpPr>
              <a:xfrm>
                <a:off x="8837279" y="5072261"/>
                <a:ext cx="1082279" cy="1347589"/>
                <a:chOff x="4073479" y="5096615"/>
                <a:chExt cx="1082279" cy="1347589"/>
              </a:xfrm>
            </p:grpSpPr>
            <p:sp>
              <p:nvSpPr>
                <p:cNvPr id="112" name="모서리가 둥근 직사각형 84"/>
                <p:cNvSpPr/>
                <p:nvPr/>
              </p:nvSpPr>
              <p:spPr>
                <a:xfrm>
                  <a:off x="4073479" y="5426977"/>
                  <a:ext cx="1034013" cy="1017227"/>
                </a:xfrm>
                <a:prstGeom prst="roundRect">
                  <a:avLst>
                    <a:gd name="adj" fmla="val 12957"/>
                  </a:avLst>
                </a:prstGeom>
                <a:solidFill>
                  <a:srgbClr val="009ED6">
                    <a:alpha val="30000"/>
                  </a:srgbClr>
                </a:solidFill>
                <a:ln w="0">
                  <a:solidFill>
                    <a:srgbClr val="709DC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749">
                    <a:solidFill>
                      <a:schemeClr val="bg1"/>
                    </a:solidFill>
                    <a:latin typeface="나눔고딕" panose="020B0600000101010101" charset="-127"/>
                    <a:ea typeface="나눔고딕" panose="020B0600000101010101" charset="-127"/>
                  </a:endParaRPr>
                </a:p>
              </p:txBody>
            </p:sp>
            <p:sp>
              <p:nvSpPr>
                <p:cNvPr id="113" name="제목 1"/>
                <p:cNvSpPr txBox="1">
                  <a:spLocks/>
                </p:cNvSpPr>
                <p:nvPr/>
              </p:nvSpPr>
              <p:spPr>
                <a:xfrm>
                  <a:off x="4180582" y="5601445"/>
                  <a:ext cx="819806" cy="246218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ctr">
                  <a:spAutoFit/>
                </a:bodyPr>
                <a:lstStyle>
                  <a:lvl1pPr algn="l">
                    <a:defRPr sz="2300" b="1">
                      <a:latin typeface="나눔스퀘어 Bold" pitchFamily="50" charset="-127"/>
                      <a:ea typeface="나눔스퀘어 Bold" pitchFamily="50" charset="-127"/>
                    </a:defRPr>
                  </a:lvl1pPr>
                </a:lstStyle>
                <a:p>
                  <a:pPr lvl="0" algn="ctr">
                    <a:spcBef>
                      <a:spcPct val="0"/>
                    </a:spcBef>
                    <a:buClr>
                      <a:schemeClr val="tx1">
                        <a:lumMod val="75000"/>
                        <a:lumOff val="25000"/>
                      </a:schemeClr>
                    </a:buClr>
                    <a:defRPr/>
                  </a:pPr>
                  <a:r>
                    <a:rPr lang="en-US" altLang="ko-KR" sz="16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C00000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50% </a:t>
                  </a:r>
                  <a:r>
                    <a:rPr lang="ko-KR" altLang="en-US" sz="16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C00000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▲</a:t>
                  </a:r>
                </a:p>
              </p:txBody>
            </p:sp>
            <p:sp>
              <p:nvSpPr>
                <p:cNvPr id="114" name="제목 1"/>
                <p:cNvSpPr txBox="1">
                  <a:spLocks/>
                </p:cNvSpPr>
                <p:nvPr/>
              </p:nvSpPr>
              <p:spPr>
                <a:xfrm>
                  <a:off x="4110078" y="6031950"/>
                  <a:ext cx="960814" cy="295466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ctr">
                  <a:spAutoFit/>
                </a:bodyPr>
                <a:lstStyle>
                  <a:lvl1pPr algn="l">
                    <a:defRPr sz="2300" b="1">
                      <a:latin typeface="나눔스퀘어 Bold" pitchFamily="50" charset="-127"/>
                      <a:ea typeface="나눔스퀘어 Bold" pitchFamily="50" charset="-127"/>
                    </a:defRPr>
                  </a:lvl1pPr>
                </a:lstStyle>
                <a:p>
                  <a:pPr lvl="0" algn="ctr">
                    <a:lnSpc>
                      <a:spcPct val="120000"/>
                    </a:lnSpc>
                    <a:spcBef>
                      <a:spcPct val="0"/>
                    </a:spcBef>
                    <a:buClr>
                      <a:schemeClr val="tx1">
                        <a:lumMod val="75000"/>
                        <a:lumOff val="25000"/>
                      </a:schemeClr>
                    </a:buClr>
                    <a:defRPr/>
                  </a:pPr>
                  <a:r>
                    <a:rPr lang="en-US" altLang="ko-KR" sz="9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0518E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1</a:t>
                  </a:r>
                  <a:r>
                    <a:rPr lang="ko-KR" altLang="en-US" sz="9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0518E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개월</a:t>
                  </a:r>
                  <a:r>
                    <a:rPr lang="en-US" altLang="ko-KR" sz="9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0518E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 </a:t>
                  </a:r>
                  <a:r>
                    <a:rPr lang="ko-KR" altLang="en-US" sz="9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0518E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→</a:t>
                  </a:r>
                  <a:r>
                    <a:rPr lang="en-US" altLang="ko-KR" sz="9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0518E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 10</a:t>
                  </a:r>
                  <a:r>
                    <a:rPr lang="ko-KR" altLang="en-US" sz="9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0518E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일</a:t>
                  </a:r>
                  <a:endParaRPr lang="en-US" altLang="ko-KR" sz="9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518E"/>
                    </a:solidFill>
                    <a:latin typeface="나눔고딕" panose="020B0600000101010101" charset="-127"/>
                    <a:ea typeface="나눔고딕" panose="020B0600000101010101" charset="-127"/>
                  </a:endParaRPr>
                </a:p>
                <a:p>
                  <a:pPr lvl="0" algn="ctr">
                    <a:lnSpc>
                      <a:spcPct val="120000"/>
                    </a:lnSpc>
                    <a:spcBef>
                      <a:spcPct val="0"/>
                    </a:spcBef>
                    <a:buClr>
                      <a:schemeClr val="tx1">
                        <a:lumMod val="75000"/>
                        <a:lumOff val="25000"/>
                      </a:schemeClr>
                    </a:buClr>
                    <a:defRPr/>
                  </a:pPr>
                  <a:r>
                    <a:rPr lang="en-US" altLang="ko-KR" sz="7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0518E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(</a:t>
                  </a:r>
                  <a:r>
                    <a:rPr lang="ko-KR" altLang="en-US" sz="7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0518E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신규정보연동 기준</a:t>
                  </a:r>
                  <a:r>
                    <a:rPr lang="en-US" altLang="ko-KR" sz="7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0518E"/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)</a:t>
                  </a:r>
                  <a:endParaRPr lang="ko-KR" altLang="en-US" sz="9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00518E"/>
                    </a:solidFill>
                    <a:latin typeface="나눔고딕" panose="020B0600000101010101" charset="-127"/>
                    <a:ea typeface="나눔고딕" panose="020B0600000101010101" charset="-127"/>
                  </a:endParaRPr>
                </a:p>
              </p:txBody>
            </p:sp>
            <p:grpSp>
              <p:nvGrpSpPr>
                <p:cNvPr id="115" name="그룹 114"/>
                <p:cNvGrpSpPr/>
                <p:nvPr/>
              </p:nvGrpSpPr>
              <p:grpSpPr>
                <a:xfrm>
                  <a:off x="4102819" y="5096615"/>
                  <a:ext cx="1052939" cy="259463"/>
                  <a:chOff x="4102819" y="5096615"/>
                  <a:chExt cx="1052939" cy="259463"/>
                </a:xfrm>
              </p:grpSpPr>
              <p:sp>
                <p:nvSpPr>
                  <p:cNvPr id="116" name="직사각형 115"/>
                  <p:cNvSpPr/>
                  <p:nvPr/>
                </p:nvSpPr>
                <p:spPr>
                  <a:xfrm>
                    <a:off x="4149926" y="5096615"/>
                    <a:ext cx="1005832" cy="25946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b="1" dirty="0">
                        <a:solidFill>
                          <a:srgbClr val="1C4076"/>
                        </a:solidFill>
                      </a:rPr>
                      <a:t>데이터 연동</a:t>
                    </a:r>
                    <a:endParaRPr lang="en-US" altLang="ko-KR" sz="1000" b="1" dirty="0">
                      <a:solidFill>
                        <a:srgbClr val="1C4076"/>
                      </a:solidFill>
                    </a:endParaRPr>
                  </a:p>
                  <a:p>
                    <a:pPr algn="ctr"/>
                    <a:r>
                      <a:rPr lang="ko-KR" altLang="en-US" sz="1000" b="1" dirty="0">
                        <a:solidFill>
                          <a:srgbClr val="1C4076"/>
                        </a:solidFill>
                      </a:rPr>
                      <a:t>개발 생산성</a:t>
                    </a:r>
                  </a:p>
                </p:txBody>
              </p:sp>
              <p:sp>
                <p:nvSpPr>
                  <p:cNvPr id="117" name="타원 137"/>
                  <p:cNvSpPr/>
                  <p:nvPr/>
                </p:nvSpPr>
                <p:spPr>
                  <a:xfrm>
                    <a:off x="4102819" y="5180819"/>
                    <a:ext cx="100161" cy="91055"/>
                  </a:xfrm>
                  <a:prstGeom prst="ellipse">
                    <a:avLst/>
                  </a:prstGeom>
                  <a:solidFill>
                    <a:schemeClr val="bg1"/>
                  </a:solidFill>
                  <a:ln w="25400">
                    <a:solidFill>
                      <a:srgbClr val="02709C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749">
                      <a:latin typeface="나눔고딕" panose="020B0600000101010101" charset="-127"/>
                      <a:ea typeface="나눔고딕" panose="020B0600000101010101" charset="-127"/>
                    </a:endParaRPr>
                  </a:p>
                </p:txBody>
              </p:sp>
            </p:grpSp>
          </p:grpSp>
        </p:grpSp>
      </p:grp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10284411" y="6377018"/>
            <a:ext cx="278505" cy="249385"/>
          </a:xfrm>
        </p:spPr>
        <p:txBody>
          <a:bodyPr/>
          <a:lstStyle/>
          <a:p>
            <a:fld id="{AFA02C0B-84B5-4CD2-A6CE-C6BD7D6F9045}" type="slidenum">
              <a:rPr lang="ko-KR" altLang="en-US" smtClean="0">
                <a:solidFill>
                  <a:schemeClr val="bg1"/>
                </a:solidFill>
              </a:rPr>
              <a:t>41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1392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>
          <a:xfrm>
            <a:off x="1524000" y="2702045"/>
            <a:ext cx="9144001" cy="76076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ko-KR" altLang="en-US" sz="3800" dirty="0">
                <a:solidFill>
                  <a:schemeClr val="bg1"/>
                </a:solidFill>
                <a:latin typeface="+mj-ea"/>
              </a:rPr>
              <a:t>레퍼런스</a:t>
            </a:r>
          </a:p>
        </p:txBody>
      </p:sp>
      <p:sp>
        <p:nvSpPr>
          <p:cNvPr id="3" name="제목 1"/>
          <p:cNvSpPr txBox="1">
            <a:spLocks/>
          </p:cNvSpPr>
          <p:nvPr/>
        </p:nvSpPr>
        <p:spPr>
          <a:xfrm>
            <a:off x="5631825" y="3839619"/>
            <a:ext cx="928350" cy="42943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ko-KR" sz="1600" dirty="0">
                <a:solidFill>
                  <a:schemeClr val="bg1"/>
                </a:solidFill>
                <a:latin typeface="SB 어그로 Bold" panose="02020603020101020101" pitchFamily="18" charset="-127"/>
                <a:ea typeface="SB 어그로 Bold" panose="02020603020101020101" pitchFamily="18" charset="-127"/>
              </a:rPr>
              <a:t>08</a:t>
            </a:r>
            <a:endParaRPr lang="ko-KR" altLang="en-US" sz="1600" dirty="0">
              <a:solidFill>
                <a:schemeClr val="bg1"/>
              </a:solidFill>
              <a:latin typeface="SB 어그로 Bold" panose="02020603020101020101" pitchFamily="18" charset="-127"/>
              <a:ea typeface="SB 어그로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70279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금융 레퍼런스</a:t>
            </a:r>
            <a:endParaRPr lang="ko-KR" altLang="en-US" sz="1400" dirty="0">
              <a:solidFill>
                <a:srgbClr val="0083CE"/>
              </a:solidFill>
              <a:latin typeface="+mj-ea"/>
              <a:ea typeface="+mj-ea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206390"/>
              </p:ext>
            </p:extLst>
          </p:nvPr>
        </p:nvGraphicFramePr>
        <p:xfrm>
          <a:off x="1117936" y="1631654"/>
          <a:ext cx="7103831" cy="451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654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90832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57895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2963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0083CE"/>
                          </a:solidFill>
                          <a:latin typeface="+mn-ea"/>
                          <a:ea typeface="+mn-ea"/>
                        </a:rPr>
                        <a:t>발주처</a:t>
                      </a:r>
                    </a:p>
                  </a:txBody>
                  <a:tcPr anchor="ctr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0083CE"/>
                          </a:solidFill>
                          <a:latin typeface="+mn-ea"/>
                          <a:ea typeface="+mn-ea"/>
                        </a:rPr>
                        <a:t>사업내용</a:t>
                      </a:r>
                    </a:p>
                  </a:txBody>
                  <a:tcPr anchor="ctr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0083CE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anchor="ctr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94189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신한은행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통합 분석 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One DW / Machine Learning / AML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시스템 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/ </a:t>
                      </a: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마이데이터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Teradata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/ IBM DB2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대체 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Enterprise mode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에서 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EON Mode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로 전환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Multi cluster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64220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하나은행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분석 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DW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정보계 분석 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DW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EON Mode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구축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64220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한국신용정보원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빅데이터 분석 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빅데이터 분석 및 마이데이터 분석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564220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새마을금고연합회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상시감시 분석시스템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분석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/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통계 시스템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564220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빗썸 코리아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Enterprise Data Warehouse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신규 </a:t>
                      </a:r>
                      <a:r>
                        <a:rPr kumimoji="0" lang="en-GB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EDW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버티카</a:t>
                      </a: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라이선스 증설</a:t>
                      </a:r>
                      <a:endParaRPr kumimoji="0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564220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한화생명금융서비스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Open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통합영업플랫폼 구축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신규 </a:t>
                      </a: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EDW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564220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테크핀레이팅스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SemiBold" panose="02000003000000020004" pitchFamily="2" charset="-127"/>
                      </a:endParaRP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기업 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CB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등급 산출 및 분석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Postgresql</a:t>
                      </a: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</a:t>
                      </a: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대체</a:t>
                      </a:r>
                      <a:endParaRPr kumimoji="0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757568263"/>
                  </a:ext>
                </a:extLst>
              </a:tr>
            </a:tbl>
          </a:graphicData>
        </a:graphic>
      </p:graphicFrame>
      <p:pic>
        <p:nvPicPr>
          <p:cNvPr id="70" name="그림 69">
            <a:extLst>
              <a:ext uri="{FF2B5EF4-FFF2-40B4-BE49-F238E27FC236}">
                <a16:creationId xmlns="" xmlns:a16="http://schemas.microsoft.com/office/drawing/2014/main" id="{39E8787F-53D8-4DC8-AA4B-9086EEE11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1904" y="4216214"/>
            <a:ext cx="1930921" cy="577286"/>
          </a:xfrm>
          <a:prstGeom prst="rect">
            <a:avLst/>
          </a:prstGeom>
        </p:spPr>
      </p:pic>
      <p:pic>
        <p:nvPicPr>
          <p:cNvPr id="87" name="Picture 2">
            <a:extLst>
              <a:ext uri="{FF2B5EF4-FFF2-40B4-BE49-F238E27FC236}">
                <a16:creationId xmlns="" xmlns:a16="http://schemas.microsoft.com/office/drawing/2014/main" id="{E1D6FAB2-6CA7-4E1A-9D7B-FA7D270A7A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1104" y="3532660"/>
            <a:ext cx="1900482" cy="394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9" name="그림 88">
            <a:extLst>
              <a:ext uri="{FF2B5EF4-FFF2-40B4-BE49-F238E27FC236}">
                <a16:creationId xmlns="" xmlns:a16="http://schemas.microsoft.com/office/drawing/2014/main" id="{674FFF98-1418-4BED-BA58-9227A8A41B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1104" y="2049258"/>
            <a:ext cx="1837530" cy="531517"/>
          </a:xfrm>
          <a:prstGeom prst="rect">
            <a:avLst/>
          </a:prstGeom>
        </p:spPr>
      </p:pic>
      <p:pic>
        <p:nvPicPr>
          <p:cNvPr id="90" name="Picture 2" descr="Corporate Identity Guidelines (CIG) for KEB Hana Bank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1F1F1"/>
              </a:clrFrom>
              <a:clrTo>
                <a:srgbClr val="F1F1F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6296" y="2572530"/>
            <a:ext cx="1592774" cy="836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1" name="그림 90">
            <a:extLst>
              <a:ext uri="{FF2B5EF4-FFF2-40B4-BE49-F238E27FC236}">
                <a16:creationId xmlns="" xmlns:a16="http://schemas.microsoft.com/office/drawing/2014/main" id="{8480CA0B-6F4D-4BFB-8F68-61E78545FD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6874" y="4891238"/>
            <a:ext cx="1645874" cy="486282"/>
          </a:xfrm>
          <a:prstGeom prst="rect">
            <a:avLst/>
          </a:prstGeom>
        </p:spPr>
      </p:pic>
      <p:pic>
        <p:nvPicPr>
          <p:cNvPr id="92" name="그림 91"/>
          <p:cNvPicPr>
            <a:picLocks noChangeAspect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1593" y="5419322"/>
            <a:ext cx="2016436" cy="664238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10285798" y="6377234"/>
            <a:ext cx="278505" cy="249385"/>
          </a:xfrm>
        </p:spPr>
        <p:txBody>
          <a:bodyPr/>
          <a:lstStyle/>
          <a:p>
            <a:fld id="{AFA02C0B-84B5-4CD2-A6CE-C6BD7D6F9045}" type="slidenum">
              <a:rPr lang="ko-KR" altLang="en-US" smtClean="0">
                <a:solidFill>
                  <a:schemeClr val="bg1"/>
                </a:solidFill>
              </a:rPr>
              <a:t>43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679A1E04-F04B-D5E7-88EB-DECF86E8B1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79304" y="6008664"/>
            <a:ext cx="1157449" cy="233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5842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기업 레퍼런스</a:t>
            </a:r>
            <a:endParaRPr lang="ko-KR" altLang="en-US" sz="1400" dirty="0">
              <a:solidFill>
                <a:srgbClr val="0083CE"/>
              </a:solidFill>
              <a:latin typeface="+mj-ea"/>
              <a:ea typeface="+mj-ea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297612"/>
              </p:ext>
            </p:extLst>
          </p:nvPr>
        </p:nvGraphicFramePr>
        <p:xfrm>
          <a:off x="1117936" y="1620859"/>
          <a:ext cx="7106820" cy="4065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436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18122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88123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0083CE"/>
                          </a:solidFill>
                          <a:latin typeface="+mn-ea"/>
                          <a:ea typeface="+mn-ea"/>
                        </a:rPr>
                        <a:t>발주처</a:t>
                      </a:r>
                    </a:p>
                  </a:txBody>
                  <a:tcPr anchor="ctr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0083CE"/>
                          </a:solidFill>
                          <a:latin typeface="+mn-ea"/>
                          <a:ea typeface="+mn-ea"/>
                        </a:rPr>
                        <a:t>사업내용</a:t>
                      </a:r>
                    </a:p>
                  </a:txBody>
                  <a:tcPr anchor="ctr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0083CE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anchor="ctr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62551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삼성전자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워크로드 관리 플랫폼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Platform </a:t>
                      </a:r>
                      <a:r>
                        <a:rPr kumimoji="0" lang="en-US" altLang="ko-KR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LSF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- PA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용 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DBMS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ko-KR" alt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버티카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라이선스 증설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64779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삼성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SDS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SemiBold" panose="02000003000000020004" pitchFamily="2" charset="-127"/>
                      </a:endParaRP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운영 자동화 지원 </a:t>
                      </a:r>
                      <a:r>
                        <a:rPr kumimoji="0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DW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삼성</a:t>
                      </a: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SDS 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클라우드</a:t>
                      </a: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누리</a:t>
                      </a: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(Nuri) 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구축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ko-KR" alt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버티카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라이선스 증설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KT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SemiBold" panose="02000003000000020004" pitchFamily="2" charset="-127"/>
                      </a:endParaRP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차세대 </a:t>
                      </a:r>
                      <a:r>
                        <a:rPr kumimoji="0" lang="en-GB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BIDW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Teradata 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대체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64779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LG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유플러스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BS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통합 정보계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/ </a:t>
                      </a:r>
                      <a:r>
                        <a:rPr kumimoji="0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IFRS7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시스템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정보계 </a:t>
                      </a: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DBMS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Enterprise mode 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에서 </a:t>
                      </a: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EON Mode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로 전환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버티카 라이선스 증설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49555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한국조폐공사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신뢰 구축 플랫폼 구축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분석</a:t>
                      </a: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/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통계 시스템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64779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LG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전자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New BEST </a:t>
                      </a:r>
                      <a:r>
                        <a:rPr kumimoji="0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DW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LG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전자 한국 물류 </a:t>
                      </a:r>
                      <a:r>
                        <a:rPr kumimoji="0" lang="en-US" altLang="ko-KR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DW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Oracle Exadata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대체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95063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펑타이그레이트차이나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SemiBold" panose="02000003000000020004" pitchFamily="2" charset="-127"/>
                      </a:endParaRP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Enterprise Data Warehouse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AWS Eon Mode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구축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ko-KR" alt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버티카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라이선스 증설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295063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대검찰청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Enterprise Data Warehouse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분석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/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통계 시스템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295063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미스토홀딩스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(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구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.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휠라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)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SemiBold" panose="02000003000000020004" pitchFamily="2" charset="-127"/>
                      </a:endParaRP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Enterprise Data Warehouse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EDW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174830984"/>
                  </a:ext>
                </a:extLst>
              </a:tr>
              <a:tr h="295063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건설근로자공제회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Enterprise Data Warehouse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EDW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254849268"/>
                  </a:ext>
                </a:extLst>
              </a:tr>
              <a:tr h="295063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SH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서울주택도시공사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Enterprise Data Warehouse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EDW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891974251"/>
                  </a:ext>
                </a:extLst>
              </a:tr>
            </a:tbl>
          </a:graphicData>
        </a:graphic>
      </p:graphicFrame>
      <p:pic>
        <p:nvPicPr>
          <p:cNvPr id="11" name="Picture 2" descr="디지털캠페인 AE 인턴 채용 | 공모전 대외활동-링커리어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8884" y="4809763"/>
            <a:ext cx="819347" cy="579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그림 11">
            <a:extLst>
              <a:ext uri="{FF2B5EF4-FFF2-40B4-BE49-F238E27FC236}">
                <a16:creationId xmlns="" xmlns:a16="http://schemas.microsoft.com/office/drawing/2014/main" id="{567C6C7C-BEFB-475F-952B-7402E9223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1607" y="4359526"/>
            <a:ext cx="1941036" cy="46497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="" xmlns:a16="http://schemas.microsoft.com/office/drawing/2014/main" id="{E22075A5-CCE1-4885-9C50-99E4F06E2CD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425830" y="2466015"/>
            <a:ext cx="1190715" cy="270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2" descr="kt png 이미지 검색결과">
            <a:extLst>
              <a:ext uri="{FF2B5EF4-FFF2-40B4-BE49-F238E27FC236}">
                <a16:creationId xmlns="" xmlns:a16="http://schemas.microsoft.com/office/drawing/2014/main" id="{8A65C02F-DE05-4D3A-A71A-9DE0584F4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5511" y="2873459"/>
            <a:ext cx="366614" cy="299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9">
            <a:extLst>
              <a:ext uri="{FF2B5EF4-FFF2-40B4-BE49-F238E27FC236}">
                <a16:creationId xmlns="" xmlns:a16="http://schemas.microsoft.com/office/drawing/2014/main" id="{A51AA4B7-4ED7-4766-85D7-32FBC05AE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9531607" y="3472536"/>
            <a:ext cx="1175171" cy="3877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708978" y="3909222"/>
            <a:ext cx="871229" cy="355929"/>
          </a:xfrm>
          <a:prstGeom prst="rect">
            <a:avLst/>
          </a:prstGeom>
        </p:spPr>
      </p:pic>
      <p:pic>
        <p:nvPicPr>
          <p:cNvPr id="20" name="Picture 14" descr="검찰청 CI, 로고 &lt;2015.12&gt; : 네이버 블로그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5471" y="5074348"/>
            <a:ext cx="463736" cy="46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531607" y="2010173"/>
            <a:ext cx="927416" cy="349287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0286578" y="6360911"/>
            <a:ext cx="278505" cy="274324"/>
          </a:xfrm>
        </p:spPr>
        <p:txBody>
          <a:bodyPr/>
          <a:lstStyle/>
          <a:p>
            <a:fld id="{AFA02C0B-84B5-4CD2-A6CE-C6BD7D6F9045}" type="slidenum">
              <a:rPr lang="ko-KR" altLang="en-US" smtClean="0">
                <a:solidFill>
                  <a:schemeClr val="bg1"/>
                </a:solidFill>
              </a:rPr>
              <a:t>44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06399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841711" y="774440"/>
            <a:ext cx="4920914" cy="578499"/>
          </a:xfrm>
        </p:spPr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병원 레퍼런스</a:t>
            </a:r>
            <a:endParaRPr lang="ko-KR" altLang="en-US" sz="1400" dirty="0">
              <a:solidFill>
                <a:srgbClr val="0083CE"/>
              </a:solidFill>
              <a:latin typeface="+mj-ea"/>
              <a:ea typeface="+mj-ea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35241"/>
              </p:ext>
            </p:extLst>
          </p:nvPr>
        </p:nvGraphicFramePr>
        <p:xfrm>
          <a:off x="1117936" y="1630385"/>
          <a:ext cx="7127875" cy="478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293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38125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67368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2923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0083CE"/>
                          </a:solidFill>
                          <a:latin typeface="+mn-ea"/>
                          <a:ea typeface="+mn-ea"/>
                        </a:rPr>
                        <a:t>발주처</a:t>
                      </a:r>
                    </a:p>
                  </a:txBody>
                  <a:tcPr anchor="ctr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0083CE"/>
                          </a:solidFill>
                          <a:latin typeface="+mn-ea"/>
                          <a:ea typeface="+mn-ea"/>
                        </a:rPr>
                        <a:t>사업내용</a:t>
                      </a:r>
                    </a:p>
                  </a:txBody>
                  <a:tcPr anchor="ctr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0083CE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anchor="ctr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63118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삼성서울병원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의료정보분석</a:t>
                      </a: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</a:t>
                      </a: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시스템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CDW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63118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서울대학교병원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의료정보분석</a:t>
                      </a: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</a:t>
                      </a: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시스템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CDW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38529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고려대학교병원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의료정보분석</a:t>
                      </a: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</a:t>
                      </a: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시스템</a:t>
                      </a:r>
                      <a:endParaRPr kumimoji="0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CDW / EDW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ko-KR" altLang="en-US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버티카</a:t>
                      </a: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라이선스 및 노드 증설</a:t>
                      </a:r>
                      <a:endParaRPr kumimoji="0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63118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건국대학교병원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의료정보분석</a:t>
                      </a: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</a:t>
                      </a: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시스템</a:t>
                      </a:r>
                      <a:endParaRPr kumimoji="0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CDW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63118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경북대학병원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의료정보분석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시스템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CDW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263118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울산대학병원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의료정보분석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시스템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CDW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63118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서울의료원 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의료정보분석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시스템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CDW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438529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인하대학병원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의료정보분석</a:t>
                      </a: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</a:t>
                      </a: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시스템</a:t>
                      </a:r>
                      <a:endParaRPr kumimoji="0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AWS </a:t>
                      </a: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구축</a:t>
                      </a:r>
                      <a:endParaRPr kumimoji="0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CDW / EDW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263118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원주세브란스기독병원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의료정보분석</a:t>
                      </a: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</a:t>
                      </a: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시스템</a:t>
                      </a:r>
                      <a:endParaRPr kumimoji="0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CDW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63118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분당차병원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의료정보분석</a:t>
                      </a: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</a:t>
                      </a: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시스템</a:t>
                      </a:r>
                      <a:endParaRPr kumimoji="0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CDW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63118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국립병원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의료정보분석</a:t>
                      </a: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</a:t>
                      </a: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시스템</a:t>
                      </a:r>
                      <a:endParaRPr kumimoji="0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CDW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263118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충무병원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의료정보분석</a:t>
                      </a: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</a:t>
                      </a: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시스템</a:t>
                      </a:r>
                      <a:endParaRPr kumimoji="0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CDW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913449048"/>
                  </a:ext>
                </a:extLst>
              </a:tr>
              <a:tr h="263118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삼육대병원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의료정보분석</a:t>
                      </a: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</a:t>
                      </a: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시스템</a:t>
                      </a:r>
                      <a:endParaRPr kumimoji="0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CDW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907166578"/>
                  </a:ext>
                </a:extLst>
              </a:tr>
              <a:tr h="263118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강원대병원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의료정보분석</a:t>
                      </a: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</a:t>
                      </a: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시스템</a:t>
                      </a:r>
                      <a:endParaRPr kumimoji="0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CDW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522583133"/>
                  </a:ext>
                </a:extLst>
              </a:tr>
              <a:tr h="263118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삼광랩트리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SemiBold" panose="02000003000000020004" pitchFamily="2" charset="-127"/>
                      </a:endParaRP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의료정보분석</a:t>
                      </a: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</a:t>
                      </a: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시스템</a:t>
                      </a:r>
                      <a:endParaRPr kumimoji="0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CDW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376781956"/>
                  </a:ext>
                </a:extLst>
              </a:tr>
            </a:tbl>
          </a:graphicData>
        </a:graphic>
      </p:graphicFrame>
      <p:pic>
        <p:nvPicPr>
          <p:cNvPr id="15" name="그림 14">
            <a:extLst>
              <a:ext uri="{FF2B5EF4-FFF2-40B4-BE49-F238E27FC236}">
                <a16:creationId xmlns="" xmlns:a16="http://schemas.microsoft.com/office/drawing/2014/main" id="{0D30D4A2-F239-4902-A93F-E539F2144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6749" y="5611049"/>
            <a:ext cx="1232922" cy="337787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="" xmlns:a16="http://schemas.microsoft.com/office/drawing/2014/main" id="{7BE99C68-3F01-4EA9-980F-087F635FA3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6807" y="4416842"/>
            <a:ext cx="812464" cy="25206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="" xmlns:a16="http://schemas.microsoft.com/office/drawing/2014/main" id="{65836530-8145-479C-98AD-B53AA83E8E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3031" y="4795822"/>
            <a:ext cx="867915" cy="273322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="" xmlns:a16="http://schemas.microsoft.com/office/drawing/2014/main" id="{8619A116-A858-4B41-A8C7-96A7329E8E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4796" y="5221317"/>
            <a:ext cx="1621416" cy="311811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8129" y="6032003"/>
            <a:ext cx="1027986" cy="298243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="" xmlns:a16="http://schemas.microsoft.com/office/drawing/2014/main" id="{6387FAFA-4C74-4A02-A36C-B49A9C32BD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87484" y="3633770"/>
            <a:ext cx="639168" cy="222345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="" xmlns:a16="http://schemas.microsoft.com/office/drawing/2014/main" id="{D0094439-CFE5-4EB8-B3CB-2C034A1B54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73074" y="3995262"/>
            <a:ext cx="903357" cy="326945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="" xmlns:a16="http://schemas.microsoft.com/office/drawing/2014/main" id="{266FEB56-7C66-45C3-B6B4-E7718EFD025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67523" y="2825901"/>
            <a:ext cx="1109197" cy="319961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67523" y="2036985"/>
            <a:ext cx="1339275" cy="298603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73074" y="2380498"/>
            <a:ext cx="862805" cy="384691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35506" y="3155572"/>
            <a:ext cx="1002964" cy="326167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10289811" y="6365316"/>
            <a:ext cx="278505" cy="274324"/>
          </a:xfrm>
        </p:spPr>
        <p:txBody>
          <a:bodyPr/>
          <a:lstStyle/>
          <a:p>
            <a:fld id="{AFA02C0B-84B5-4CD2-A6CE-C6BD7D6F9045}" type="slidenum">
              <a:rPr lang="ko-KR" altLang="en-US" smtClean="0">
                <a:solidFill>
                  <a:schemeClr val="bg1"/>
                </a:solidFill>
              </a:rPr>
              <a:t>45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5575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>
          <a:xfrm>
            <a:off x="1524000" y="2746737"/>
            <a:ext cx="9144001" cy="134773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ko-KR" altLang="en-US" sz="6600" dirty="0">
                <a:solidFill>
                  <a:schemeClr val="bg1"/>
                </a:solidFill>
                <a:latin typeface="+mj-ea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524271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1513</TotalTime>
  <Words>3337</Words>
  <Application>Microsoft Office PowerPoint</Application>
  <PresentationFormat>와이드스크린</PresentationFormat>
  <Paragraphs>828</Paragraphs>
  <Slides>46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46</vt:i4>
      </vt:variant>
    </vt:vector>
  </HeadingPairs>
  <TitlesOfParts>
    <vt:vector size="66" baseType="lpstr">
      <vt:lpstr>et-line</vt:lpstr>
      <vt:lpstr>helium</vt:lpstr>
      <vt:lpstr>HP Simplified</vt:lpstr>
      <vt:lpstr>Mangal</vt:lpstr>
      <vt:lpstr>ＭＳ Ｐゴシック</vt:lpstr>
      <vt:lpstr>ＭＳ Ｐゴシック</vt:lpstr>
      <vt:lpstr>Pretendard Variable Light</vt:lpstr>
      <vt:lpstr>Pretendard Variable Medium</vt:lpstr>
      <vt:lpstr>Pretendard Variable SemiBold</vt:lpstr>
      <vt:lpstr>Roboto Light</vt:lpstr>
      <vt:lpstr>SB 어그로 Bold</vt:lpstr>
      <vt:lpstr>SB 어그로 Medium</vt:lpstr>
      <vt:lpstr>나눔고딕</vt:lpstr>
      <vt:lpstr>맑은 고딕</vt:lpstr>
      <vt:lpstr>Arial</vt:lpstr>
      <vt:lpstr>Calibri</vt:lpstr>
      <vt:lpstr>Century Gothic</vt:lpstr>
      <vt:lpstr>Courier New</vt:lpstr>
      <vt:lpstr>Wingdings</vt:lpstr>
      <vt:lpstr>Office 테마</vt:lpstr>
      <vt:lpstr>Vertica Analytics Platform</vt:lpstr>
      <vt:lpstr>PowerPoint 프레젠테이션</vt:lpstr>
      <vt:lpstr>What is VERTICA?</vt:lpstr>
      <vt:lpstr>VERTICA 5대 기술 요소</vt:lpstr>
      <vt:lpstr>Vertica 포트폴리오</vt:lpstr>
      <vt:lpstr>Public / Private Cloud support</vt:lpstr>
      <vt:lpstr>PowerPoint 프레젠테이션</vt:lpstr>
      <vt:lpstr>PowerPoint 프레젠테이션</vt:lpstr>
      <vt:lpstr>Vertica 아키텍처 특징 &gt; Pure-MPP (Massively Parallel Processing)</vt:lpstr>
      <vt:lpstr>Vertica 아키텍처 특징 &gt; Native Columnar</vt:lpstr>
      <vt:lpstr>Vertica 아키텍처 특징 &gt; 압축 및 인코딩으로 I/O 최소화</vt:lpstr>
      <vt:lpstr>Vertica 아키텍처 특징 &gt; 데이터 이중화로 무중단 서비스 제공</vt:lpstr>
      <vt:lpstr>Vertica 아키텍처 특징 &gt; Scale-out</vt:lpstr>
      <vt:lpstr>Vertica 아키텍처 특징 &gt; 대용량 백업 / 복구 아키텍처</vt:lpstr>
      <vt:lpstr>편리한 관리</vt:lpstr>
      <vt:lpstr>개발 용이성</vt:lpstr>
      <vt:lpstr>표준 인터페이스 지원</vt:lpstr>
      <vt:lpstr>PowerPoint 프레젠테이션</vt:lpstr>
      <vt:lpstr>Enterprise Mode vs. Eon Mode</vt:lpstr>
      <vt:lpstr>Scalability &gt; Rebalancing Time &amp; Recovery Time 불필요</vt:lpstr>
      <vt:lpstr>Scalability &gt; 서브클러스터를 통한 워크로드 분리</vt:lpstr>
      <vt:lpstr>Scalability &gt; 서브클러스터를 활용한 워크로드 분리 활용 예</vt:lpstr>
      <vt:lpstr>PowerPoint 프레젠테이션</vt:lpstr>
      <vt:lpstr>유연한 컴퓨팅 확장</vt:lpstr>
      <vt:lpstr>효율적인 스토리지 확장</vt:lpstr>
      <vt:lpstr>다양한 컴퓨팅 인프라 활용</vt:lpstr>
      <vt:lpstr>추가 기능 소개</vt:lpstr>
      <vt:lpstr>Vertica Eon Mode</vt:lpstr>
      <vt:lpstr>PowerPoint 프레젠테이션</vt:lpstr>
      <vt:lpstr>Kafka 연계</vt:lpstr>
      <vt:lpstr>HDFS 연계</vt:lpstr>
      <vt:lpstr>Object Storage 연계</vt:lpstr>
      <vt:lpstr>Vertica와 Data Lake 연계</vt:lpstr>
      <vt:lpstr>PowerPoint 프레젠테이션</vt:lpstr>
      <vt:lpstr>Machine Learning with Vertica</vt:lpstr>
      <vt:lpstr>Simple SQL execution</vt:lpstr>
      <vt:lpstr>버티카 In-DB Machine Learning의 장점</vt:lpstr>
      <vt:lpstr>PowerPoint 프레젠테이션</vt:lpstr>
      <vt:lpstr>S Bank : Vertica 선정 배경</vt:lpstr>
      <vt:lpstr>S Bank : 버티카 기반의 통합 DW 구축을 통한 주요 이점</vt:lpstr>
      <vt:lpstr>K Telco</vt:lpstr>
      <vt:lpstr>PowerPoint 프레젠테이션</vt:lpstr>
      <vt:lpstr>금융 레퍼런스</vt:lpstr>
      <vt:lpstr>기업 레퍼런스</vt:lpstr>
      <vt:lpstr>병원 레퍼런스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Vertica Analytics Platform</dc:title>
  <dc:creator>SungHyun.Kim</dc:creator>
  <cp:lastModifiedBy>SOO</cp:lastModifiedBy>
  <cp:revision>217</cp:revision>
  <dcterms:created xsi:type="dcterms:W3CDTF">2025-01-07T05:50:41Z</dcterms:created>
  <dcterms:modified xsi:type="dcterms:W3CDTF">2026-04-22T07:22:25Z</dcterms:modified>
</cp:coreProperties>
</file>