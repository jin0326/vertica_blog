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sldIdLst>
    <p:sldId id="4078" r:id="rId2"/>
    <p:sldId id="3995" r:id="rId3"/>
    <p:sldId id="3986" r:id="rId4"/>
    <p:sldId id="4080" r:id="rId5"/>
    <p:sldId id="4081" r:id="rId6"/>
    <p:sldId id="4082" r:id="rId7"/>
    <p:sldId id="4083" r:id="rId8"/>
    <p:sldId id="4084" r:id="rId9"/>
    <p:sldId id="4085" r:id="rId10"/>
    <p:sldId id="4086" r:id="rId11"/>
    <p:sldId id="4087" r:id="rId12"/>
    <p:sldId id="4088" r:id="rId13"/>
    <p:sldId id="4089" r:id="rId14"/>
    <p:sldId id="4090" r:id="rId15"/>
    <p:sldId id="4091" r:id="rId16"/>
    <p:sldId id="4093" r:id="rId17"/>
    <p:sldId id="4094" r:id="rId18"/>
    <p:sldId id="4095" r:id="rId19"/>
    <p:sldId id="4140" r:id="rId20"/>
    <p:sldId id="4139" r:id="rId21"/>
    <p:sldId id="4096" r:id="rId22"/>
    <p:sldId id="4097" r:id="rId23"/>
    <p:sldId id="4098" r:id="rId24"/>
    <p:sldId id="4099" r:id="rId25"/>
    <p:sldId id="4100" r:id="rId26"/>
    <p:sldId id="4101" r:id="rId27"/>
    <p:sldId id="4102" r:id="rId28"/>
    <p:sldId id="4103" r:id="rId29"/>
    <p:sldId id="4104" r:id="rId30"/>
    <p:sldId id="4105" r:id="rId31"/>
    <p:sldId id="4106" r:id="rId32"/>
    <p:sldId id="4107" r:id="rId33"/>
    <p:sldId id="4109" r:id="rId34"/>
    <p:sldId id="4110" r:id="rId35"/>
    <p:sldId id="4111" r:id="rId36"/>
    <p:sldId id="4112" r:id="rId37"/>
    <p:sldId id="4113" r:id="rId38"/>
    <p:sldId id="4114" r:id="rId39"/>
    <p:sldId id="4115" r:id="rId40"/>
    <p:sldId id="4142" r:id="rId41"/>
    <p:sldId id="4116" r:id="rId42"/>
    <p:sldId id="4117" r:id="rId43"/>
    <p:sldId id="4118" r:id="rId44"/>
    <p:sldId id="4119" r:id="rId45"/>
    <p:sldId id="4120" r:id="rId46"/>
    <p:sldId id="4121" r:id="rId47"/>
    <p:sldId id="4122" r:id="rId48"/>
    <p:sldId id="4123" r:id="rId49"/>
    <p:sldId id="4124" r:id="rId50"/>
    <p:sldId id="4125" r:id="rId51"/>
    <p:sldId id="4126" r:id="rId52"/>
    <p:sldId id="4127" r:id="rId53"/>
    <p:sldId id="4134" r:id="rId54"/>
    <p:sldId id="4135" r:id="rId55"/>
    <p:sldId id="4136" r:id="rId56"/>
    <p:sldId id="4137" r:id="rId57"/>
    <p:sldId id="4128" r:id="rId58"/>
    <p:sldId id="4079" r:id="rId59"/>
    <p:sldId id="4108" r:id="rId60"/>
    <p:sldId id="4129" r:id="rId61"/>
    <p:sldId id="4133" r:id="rId62"/>
    <p:sldId id="4138" r:id="rId63"/>
    <p:sldId id="4143" r:id="rId64"/>
    <p:sldId id="4144" r:id="rId65"/>
    <p:sldId id="4071" r:id="rId66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fo" id="{7E193029-6832-42CF-AE24-0AE0DA476A36}">
          <p14:sldIdLst/>
        </p14:section>
        <p14:section name="Template Slides" id="{C1FEBC00-2B1C-43C5-8FCB-28F13C33AD9D}">
          <p14:sldIdLst>
            <p14:sldId id="4078"/>
            <p14:sldId id="3995"/>
            <p14:sldId id="3986"/>
            <p14:sldId id="4080"/>
            <p14:sldId id="4081"/>
            <p14:sldId id="4082"/>
            <p14:sldId id="4083"/>
            <p14:sldId id="4084"/>
            <p14:sldId id="4085"/>
            <p14:sldId id="4086"/>
            <p14:sldId id="4087"/>
            <p14:sldId id="4088"/>
            <p14:sldId id="4089"/>
            <p14:sldId id="4090"/>
            <p14:sldId id="4091"/>
            <p14:sldId id="4093"/>
            <p14:sldId id="4094"/>
            <p14:sldId id="4095"/>
            <p14:sldId id="4140"/>
            <p14:sldId id="4139"/>
            <p14:sldId id="4096"/>
            <p14:sldId id="4097"/>
            <p14:sldId id="4098"/>
            <p14:sldId id="4099"/>
            <p14:sldId id="4100"/>
            <p14:sldId id="4101"/>
            <p14:sldId id="4102"/>
            <p14:sldId id="4103"/>
            <p14:sldId id="4104"/>
            <p14:sldId id="4105"/>
            <p14:sldId id="4106"/>
            <p14:sldId id="4107"/>
            <p14:sldId id="4109"/>
            <p14:sldId id="4110"/>
            <p14:sldId id="4111"/>
            <p14:sldId id="4112"/>
            <p14:sldId id="4113"/>
            <p14:sldId id="4114"/>
            <p14:sldId id="4115"/>
            <p14:sldId id="4142"/>
            <p14:sldId id="4116"/>
            <p14:sldId id="4117"/>
            <p14:sldId id="4118"/>
            <p14:sldId id="4119"/>
            <p14:sldId id="4120"/>
            <p14:sldId id="4121"/>
            <p14:sldId id="4122"/>
            <p14:sldId id="4123"/>
            <p14:sldId id="4124"/>
            <p14:sldId id="4125"/>
            <p14:sldId id="4126"/>
            <p14:sldId id="4127"/>
            <p14:sldId id="4134"/>
            <p14:sldId id="4135"/>
            <p14:sldId id="4136"/>
            <p14:sldId id="4137"/>
            <p14:sldId id="4128"/>
            <p14:sldId id="4079"/>
            <p14:sldId id="4108"/>
            <p14:sldId id="4129"/>
            <p14:sldId id="4133"/>
            <p14:sldId id="4138"/>
            <p14:sldId id="4143"/>
            <p14:sldId id="4144"/>
            <p14:sldId id="40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663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orient="horz" pos="1706">
          <p15:clr>
            <a:srgbClr val="A4A3A4"/>
          </p15:clr>
        </p15:guide>
        <p15:guide id="6" orient="horz" pos="4065">
          <p15:clr>
            <a:srgbClr val="A4A3A4"/>
          </p15:clr>
        </p15:guide>
        <p15:guide id="7" orient="horz" pos="799">
          <p15:clr>
            <a:srgbClr val="A4A3A4"/>
          </p15:clr>
        </p15:guide>
        <p15:guide id="8" pos="747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rlin Stokes" initials="KS" lastIdx="2" clrIdx="0"/>
  <p:cmAuthor id="2" name="david groom" initials="dg" lastIdx="1" clrIdx="1"/>
  <p:cmAuthor id="3" name="chano" initials="c" lastIdx="1" clrIdx="2">
    <p:extLst>
      <p:ext uri="{19B8F6BF-5375-455C-9EA6-DF929625EA0E}">
        <p15:presenceInfo xmlns:p15="http://schemas.microsoft.com/office/powerpoint/2012/main" userId="chan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66" d="100"/>
          <a:sy n="66" d="100"/>
        </p:scale>
        <p:origin x="632" y="52"/>
      </p:cViewPr>
      <p:guideLst>
        <p:guide orient="horz" pos="2160"/>
        <p:guide pos="3840"/>
        <p:guide orient="horz" pos="663"/>
        <p:guide pos="7469"/>
        <p:guide orient="horz" pos="1706"/>
        <p:guide orient="horz" pos="4065"/>
        <p:guide orient="horz" pos="799"/>
        <p:guide pos="74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64" d="100"/>
          <a:sy n="64" d="100"/>
        </p:scale>
        <p:origin x="3438" y="78"/>
      </p:cViewPr>
      <p:guideLst>
        <p:guide orient="horz" pos="2880"/>
        <p:guide pos="2160"/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F4137A-32A9-4E3E-80A1-313294284C14}" type="datetimeFigureOut">
              <a:rPr lang="en-US" smtClean="0"/>
              <a:t>10/7/2022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9EE70F-1332-4F82-9445-B7D5AEC6228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9405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8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1048005" y="1"/>
            <a:ext cx="1799697" cy="1518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grpSp>
        <p:nvGrpSpPr>
          <p:cNvPr id="9" name="Group 8"/>
          <p:cNvGrpSpPr/>
          <p:nvPr userDrawn="1"/>
        </p:nvGrpSpPr>
        <p:grpSpPr>
          <a:xfrm>
            <a:off x="1048005" y="766395"/>
            <a:ext cx="1930326" cy="467406"/>
            <a:chOff x="-504825" y="3757613"/>
            <a:chExt cx="1009650" cy="244475"/>
          </a:xfrm>
          <a:solidFill>
            <a:schemeClr val="bg1"/>
          </a:solidFill>
        </p:grpSpPr>
        <p:sp>
          <p:nvSpPr>
            <p:cNvPr id="10" name="Freeform 5"/>
            <p:cNvSpPr>
              <a:spLocks/>
            </p:cNvSpPr>
            <p:nvPr userDrawn="1"/>
          </p:nvSpPr>
          <p:spPr bwMode="auto">
            <a:xfrm>
              <a:off x="-504825" y="3808413"/>
              <a:ext cx="193675" cy="193675"/>
            </a:xfrm>
            <a:custGeom>
              <a:avLst/>
              <a:gdLst>
                <a:gd name="T0" fmla="*/ 0 w 122"/>
                <a:gd name="T1" fmla="*/ 122 h 122"/>
                <a:gd name="T2" fmla="*/ 0 w 122"/>
                <a:gd name="T3" fmla="*/ 0 h 122"/>
                <a:gd name="T4" fmla="*/ 30 w 122"/>
                <a:gd name="T5" fmla="*/ 0 h 122"/>
                <a:gd name="T6" fmla="*/ 30 w 122"/>
                <a:gd name="T7" fmla="*/ 92 h 122"/>
                <a:gd name="T8" fmla="*/ 122 w 122"/>
                <a:gd name="T9" fmla="*/ 92 h 122"/>
                <a:gd name="T10" fmla="*/ 122 w 122"/>
                <a:gd name="T11" fmla="*/ 122 h 122"/>
                <a:gd name="T12" fmla="*/ 0 w 122"/>
                <a:gd name="T13" fmla="*/ 122 h 122"/>
                <a:gd name="T14" fmla="*/ 0 w 122"/>
                <a:gd name="T15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2">
                  <a:moveTo>
                    <a:pt x="0" y="122"/>
                  </a:moveTo>
                  <a:lnTo>
                    <a:pt x="0" y="0"/>
                  </a:lnTo>
                  <a:lnTo>
                    <a:pt x="30" y="0"/>
                  </a:lnTo>
                  <a:lnTo>
                    <a:pt x="30" y="92"/>
                  </a:lnTo>
                  <a:lnTo>
                    <a:pt x="122" y="92"/>
                  </a:lnTo>
                  <a:lnTo>
                    <a:pt x="122" y="122"/>
                  </a:lnTo>
                  <a:lnTo>
                    <a:pt x="0" y="122"/>
                  </a:lnTo>
                  <a:lnTo>
                    <a:pt x="0" y="1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6"/>
            <p:cNvSpPr>
              <a:spLocks/>
            </p:cNvSpPr>
            <p:nvPr userDrawn="1"/>
          </p:nvSpPr>
          <p:spPr bwMode="auto">
            <a:xfrm>
              <a:off x="-457200" y="3763963"/>
              <a:ext cx="193675" cy="190500"/>
            </a:xfrm>
            <a:custGeom>
              <a:avLst/>
              <a:gdLst>
                <a:gd name="T0" fmla="*/ 0 w 122"/>
                <a:gd name="T1" fmla="*/ 28 h 120"/>
                <a:gd name="T2" fmla="*/ 0 w 122"/>
                <a:gd name="T3" fmla="*/ 0 h 120"/>
                <a:gd name="T4" fmla="*/ 122 w 122"/>
                <a:gd name="T5" fmla="*/ 0 h 120"/>
                <a:gd name="T6" fmla="*/ 122 w 122"/>
                <a:gd name="T7" fmla="*/ 120 h 120"/>
                <a:gd name="T8" fmla="*/ 92 w 122"/>
                <a:gd name="T9" fmla="*/ 120 h 120"/>
                <a:gd name="T10" fmla="*/ 92 w 122"/>
                <a:gd name="T11" fmla="*/ 28 h 120"/>
                <a:gd name="T12" fmla="*/ 0 w 122"/>
                <a:gd name="T13" fmla="*/ 28 h 120"/>
                <a:gd name="T14" fmla="*/ 0 w 122"/>
                <a:gd name="T15" fmla="*/ 2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0">
                  <a:moveTo>
                    <a:pt x="0" y="28"/>
                  </a:moveTo>
                  <a:lnTo>
                    <a:pt x="0" y="0"/>
                  </a:lnTo>
                  <a:lnTo>
                    <a:pt x="122" y="0"/>
                  </a:lnTo>
                  <a:lnTo>
                    <a:pt x="122" y="120"/>
                  </a:lnTo>
                  <a:lnTo>
                    <a:pt x="92" y="120"/>
                  </a:lnTo>
                  <a:lnTo>
                    <a:pt x="92" y="28"/>
                  </a:lnTo>
                  <a:lnTo>
                    <a:pt x="0" y="28"/>
                  </a:lnTo>
                  <a:lnTo>
                    <a:pt x="0" y="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-209550" y="3763963"/>
              <a:ext cx="111125" cy="101600"/>
            </a:xfrm>
            <a:custGeom>
              <a:avLst/>
              <a:gdLst>
                <a:gd name="T0" fmla="*/ 70 w 70"/>
                <a:gd name="T1" fmla="*/ 64 h 64"/>
                <a:gd name="T2" fmla="*/ 70 w 70"/>
                <a:gd name="T3" fmla="*/ 0 h 64"/>
                <a:gd name="T4" fmla="*/ 58 w 70"/>
                <a:gd name="T5" fmla="*/ 0 h 64"/>
                <a:gd name="T6" fmla="*/ 36 w 70"/>
                <a:gd name="T7" fmla="*/ 32 h 64"/>
                <a:gd name="T8" fmla="*/ 14 w 70"/>
                <a:gd name="T9" fmla="*/ 0 h 64"/>
                <a:gd name="T10" fmla="*/ 0 w 70"/>
                <a:gd name="T11" fmla="*/ 0 h 64"/>
                <a:gd name="T12" fmla="*/ 0 w 70"/>
                <a:gd name="T13" fmla="*/ 64 h 64"/>
                <a:gd name="T14" fmla="*/ 14 w 70"/>
                <a:gd name="T15" fmla="*/ 64 h 64"/>
                <a:gd name="T16" fmla="*/ 14 w 70"/>
                <a:gd name="T17" fmla="*/ 22 h 64"/>
                <a:gd name="T18" fmla="*/ 32 w 70"/>
                <a:gd name="T19" fmla="*/ 48 h 64"/>
                <a:gd name="T20" fmla="*/ 40 w 70"/>
                <a:gd name="T21" fmla="*/ 48 h 64"/>
                <a:gd name="T22" fmla="*/ 58 w 70"/>
                <a:gd name="T23" fmla="*/ 22 h 64"/>
                <a:gd name="T24" fmla="*/ 58 w 70"/>
                <a:gd name="T25" fmla="*/ 64 h 64"/>
                <a:gd name="T26" fmla="*/ 70 w 70"/>
                <a:gd name="T27" fmla="*/ 64 h 64"/>
                <a:gd name="T28" fmla="*/ 70 w 70"/>
                <a:gd name="T29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4">
                  <a:moveTo>
                    <a:pt x="70" y="64"/>
                  </a:moveTo>
                  <a:lnTo>
                    <a:pt x="70" y="0"/>
                  </a:lnTo>
                  <a:lnTo>
                    <a:pt x="58" y="0"/>
                  </a:lnTo>
                  <a:lnTo>
                    <a:pt x="36" y="32"/>
                  </a:lnTo>
                  <a:lnTo>
                    <a:pt x="14" y="0"/>
                  </a:lnTo>
                  <a:lnTo>
                    <a:pt x="0" y="0"/>
                  </a:lnTo>
                  <a:lnTo>
                    <a:pt x="0" y="64"/>
                  </a:lnTo>
                  <a:lnTo>
                    <a:pt x="14" y="64"/>
                  </a:lnTo>
                  <a:lnTo>
                    <a:pt x="14" y="22"/>
                  </a:lnTo>
                  <a:lnTo>
                    <a:pt x="32" y="48"/>
                  </a:lnTo>
                  <a:lnTo>
                    <a:pt x="40" y="48"/>
                  </a:lnTo>
                  <a:lnTo>
                    <a:pt x="58" y="22"/>
                  </a:lnTo>
                  <a:lnTo>
                    <a:pt x="58" y="64"/>
                  </a:lnTo>
                  <a:lnTo>
                    <a:pt x="70" y="64"/>
                  </a:lnTo>
                  <a:lnTo>
                    <a:pt x="70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-44450" y="3763963"/>
              <a:ext cx="19050" cy="101600"/>
            </a:xfrm>
            <a:custGeom>
              <a:avLst/>
              <a:gdLst>
                <a:gd name="T0" fmla="*/ 0 w 12"/>
                <a:gd name="T1" fmla="*/ 64 h 64"/>
                <a:gd name="T2" fmla="*/ 12 w 12"/>
                <a:gd name="T3" fmla="*/ 64 h 64"/>
                <a:gd name="T4" fmla="*/ 12 w 12"/>
                <a:gd name="T5" fmla="*/ 0 h 64"/>
                <a:gd name="T6" fmla="*/ 0 w 12"/>
                <a:gd name="T7" fmla="*/ 0 h 64"/>
                <a:gd name="T8" fmla="*/ 0 w 12"/>
                <a:gd name="T9" fmla="*/ 64 h 64"/>
                <a:gd name="T10" fmla="*/ 0 w 12"/>
                <a:gd name="T11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64">
                  <a:moveTo>
                    <a:pt x="0" y="64"/>
                  </a:moveTo>
                  <a:lnTo>
                    <a:pt x="12" y="64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64"/>
                  </a:lnTo>
                  <a:lnTo>
                    <a:pt x="0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28575" y="3763963"/>
              <a:ext cx="98425" cy="101600"/>
            </a:xfrm>
            <a:custGeom>
              <a:avLst/>
              <a:gdLst>
                <a:gd name="T0" fmla="*/ 62 w 62"/>
                <a:gd name="T1" fmla="*/ 58 h 64"/>
                <a:gd name="T2" fmla="*/ 62 w 62"/>
                <a:gd name="T3" fmla="*/ 44 h 64"/>
                <a:gd name="T4" fmla="*/ 50 w 62"/>
                <a:gd name="T5" fmla="*/ 44 h 64"/>
                <a:gd name="T6" fmla="*/ 50 w 62"/>
                <a:gd name="T7" fmla="*/ 52 h 64"/>
                <a:gd name="T8" fmla="*/ 12 w 62"/>
                <a:gd name="T9" fmla="*/ 52 h 64"/>
                <a:gd name="T10" fmla="*/ 12 w 62"/>
                <a:gd name="T11" fmla="*/ 12 h 64"/>
                <a:gd name="T12" fmla="*/ 50 w 62"/>
                <a:gd name="T13" fmla="*/ 12 h 64"/>
                <a:gd name="T14" fmla="*/ 50 w 62"/>
                <a:gd name="T15" fmla="*/ 18 h 64"/>
                <a:gd name="T16" fmla="*/ 62 w 62"/>
                <a:gd name="T17" fmla="*/ 20 h 64"/>
                <a:gd name="T18" fmla="*/ 62 w 62"/>
                <a:gd name="T19" fmla="*/ 6 h 64"/>
                <a:gd name="T20" fmla="*/ 62 w 62"/>
                <a:gd name="T21" fmla="*/ 6 h 64"/>
                <a:gd name="T22" fmla="*/ 62 w 62"/>
                <a:gd name="T23" fmla="*/ 0 h 64"/>
                <a:gd name="T24" fmla="*/ 56 w 62"/>
                <a:gd name="T25" fmla="*/ 0 h 64"/>
                <a:gd name="T26" fmla="*/ 6 w 62"/>
                <a:gd name="T27" fmla="*/ 0 h 64"/>
                <a:gd name="T28" fmla="*/ 6 w 62"/>
                <a:gd name="T29" fmla="*/ 0 h 64"/>
                <a:gd name="T30" fmla="*/ 0 w 62"/>
                <a:gd name="T31" fmla="*/ 0 h 64"/>
                <a:gd name="T32" fmla="*/ 0 w 62"/>
                <a:gd name="T33" fmla="*/ 6 h 64"/>
                <a:gd name="T34" fmla="*/ 0 w 62"/>
                <a:gd name="T35" fmla="*/ 58 h 64"/>
                <a:gd name="T36" fmla="*/ 0 w 62"/>
                <a:gd name="T37" fmla="*/ 58 h 64"/>
                <a:gd name="T38" fmla="*/ 0 w 62"/>
                <a:gd name="T39" fmla="*/ 62 h 64"/>
                <a:gd name="T40" fmla="*/ 6 w 62"/>
                <a:gd name="T41" fmla="*/ 64 h 64"/>
                <a:gd name="T42" fmla="*/ 56 w 62"/>
                <a:gd name="T43" fmla="*/ 64 h 64"/>
                <a:gd name="T44" fmla="*/ 56 w 62"/>
                <a:gd name="T45" fmla="*/ 64 h 64"/>
                <a:gd name="T46" fmla="*/ 62 w 62"/>
                <a:gd name="T47" fmla="*/ 62 h 64"/>
                <a:gd name="T48" fmla="*/ 62 w 62"/>
                <a:gd name="T49" fmla="*/ 58 h 64"/>
                <a:gd name="T50" fmla="*/ 62 w 62"/>
                <a:gd name="T51" fmla="*/ 5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2" h="64">
                  <a:moveTo>
                    <a:pt x="62" y="58"/>
                  </a:moveTo>
                  <a:lnTo>
                    <a:pt x="62" y="44"/>
                  </a:lnTo>
                  <a:lnTo>
                    <a:pt x="50" y="44"/>
                  </a:lnTo>
                  <a:lnTo>
                    <a:pt x="50" y="52"/>
                  </a:lnTo>
                  <a:lnTo>
                    <a:pt x="12" y="52"/>
                  </a:lnTo>
                  <a:lnTo>
                    <a:pt x="12" y="12"/>
                  </a:lnTo>
                  <a:lnTo>
                    <a:pt x="50" y="12"/>
                  </a:lnTo>
                  <a:lnTo>
                    <a:pt x="50" y="18"/>
                  </a:lnTo>
                  <a:lnTo>
                    <a:pt x="62" y="20"/>
                  </a:lnTo>
                  <a:lnTo>
                    <a:pt x="62" y="6"/>
                  </a:lnTo>
                  <a:lnTo>
                    <a:pt x="62" y="6"/>
                  </a:lnTo>
                  <a:lnTo>
                    <a:pt x="62" y="0"/>
                  </a:lnTo>
                  <a:lnTo>
                    <a:pt x="5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0" y="62"/>
                  </a:lnTo>
                  <a:lnTo>
                    <a:pt x="6" y="64"/>
                  </a:lnTo>
                  <a:lnTo>
                    <a:pt x="56" y="64"/>
                  </a:lnTo>
                  <a:lnTo>
                    <a:pt x="56" y="64"/>
                  </a:lnTo>
                  <a:lnTo>
                    <a:pt x="62" y="62"/>
                  </a:lnTo>
                  <a:lnTo>
                    <a:pt x="62" y="58"/>
                  </a:lnTo>
                  <a:lnTo>
                    <a:pt x="62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 noEditPoints="1"/>
            </p:cNvSpPr>
            <p:nvPr userDrawn="1"/>
          </p:nvSpPr>
          <p:spPr bwMode="auto">
            <a:xfrm>
              <a:off x="180975" y="3763963"/>
              <a:ext cx="101600" cy="101600"/>
            </a:xfrm>
            <a:custGeom>
              <a:avLst/>
              <a:gdLst>
                <a:gd name="T0" fmla="*/ 64 w 64"/>
                <a:gd name="T1" fmla="*/ 64 h 64"/>
                <a:gd name="T2" fmla="*/ 44 w 64"/>
                <a:gd name="T3" fmla="*/ 38 h 64"/>
                <a:gd name="T4" fmla="*/ 58 w 64"/>
                <a:gd name="T5" fmla="*/ 38 h 64"/>
                <a:gd name="T6" fmla="*/ 58 w 64"/>
                <a:gd name="T7" fmla="*/ 38 h 64"/>
                <a:gd name="T8" fmla="*/ 62 w 64"/>
                <a:gd name="T9" fmla="*/ 36 h 64"/>
                <a:gd name="T10" fmla="*/ 64 w 64"/>
                <a:gd name="T11" fmla="*/ 32 h 64"/>
                <a:gd name="T12" fmla="*/ 64 w 64"/>
                <a:gd name="T13" fmla="*/ 6 h 64"/>
                <a:gd name="T14" fmla="*/ 64 w 64"/>
                <a:gd name="T15" fmla="*/ 6 h 64"/>
                <a:gd name="T16" fmla="*/ 62 w 64"/>
                <a:gd name="T17" fmla="*/ 0 h 64"/>
                <a:gd name="T18" fmla="*/ 58 w 64"/>
                <a:gd name="T19" fmla="*/ 0 h 64"/>
                <a:gd name="T20" fmla="*/ 0 w 64"/>
                <a:gd name="T21" fmla="*/ 0 h 64"/>
                <a:gd name="T22" fmla="*/ 0 w 64"/>
                <a:gd name="T23" fmla="*/ 64 h 64"/>
                <a:gd name="T24" fmla="*/ 12 w 64"/>
                <a:gd name="T25" fmla="*/ 64 h 64"/>
                <a:gd name="T26" fmla="*/ 12 w 64"/>
                <a:gd name="T27" fmla="*/ 38 h 64"/>
                <a:gd name="T28" fmla="*/ 28 w 64"/>
                <a:gd name="T29" fmla="*/ 38 h 64"/>
                <a:gd name="T30" fmla="*/ 48 w 64"/>
                <a:gd name="T31" fmla="*/ 64 h 64"/>
                <a:gd name="T32" fmla="*/ 64 w 64"/>
                <a:gd name="T33" fmla="*/ 64 h 64"/>
                <a:gd name="T34" fmla="*/ 64 w 64"/>
                <a:gd name="T35" fmla="*/ 64 h 64"/>
                <a:gd name="T36" fmla="*/ 12 w 64"/>
                <a:gd name="T37" fmla="*/ 12 h 64"/>
                <a:gd name="T38" fmla="*/ 50 w 64"/>
                <a:gd name="T39" fmla="*/ 12 h 64"/>
                <a:gd name="T40" fmla="*/ 50 w 64"/>
                <a:gd name="T41" fmla="*/ 26 h 64"/>
                <a:gd name="T42" fmla="*/ 12 w 64"/>
                <a:gd name="T43" fmla="*/ 26 h 64"/>
                <a:gd name="T44" fmla="*/ 12 w 64"/>
                <a:gd name="T45" fmla="*/ 12 h 64"/>
                <a:gd name="T46" fmla="*/ 12 w 64"/>
                <a:gd name="T47" fmla="*/ 1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64">
                  <a:moveTo>
                    <a:pt x="64" y="64"/>
                  </a:moveTo>
                  <a:lnTo>
                    <a:pt x="44" y="38"/>
                  </a:lnTo>
                  <a:lnTo>
                    <a:pt x="58" y="38"/>
                  </a:lnTo>
                  <a:lnTo>
                    <a:pt x="58" y="38"/>
                  </a:lnTo>
                  <a:lnTo>
                    <a:pt x="62" y="36"/>
                  </a:lnTo>
                  <a:lnTo>
                    <a:pt x="64" y="32"/>
                  </a:lnTo>
                  <a:lnTo>
                    <a:pt x="64" y="6"/>
                  </a:lnTo>
                  <a:lnTo>
                    <a:pt x="64" y="6"/>
                  </a:lnTo>
                  <a:lnTo>
                    <a:pt x="62" y="0"/>
                  </a:lnTo>
                  <a:lnTo>
                    <a:pt x="58" y="0"/>
                  </a:lnTo>
                  <a:lnTo>
                    <a:pt x="0" y="0"/>
                  </a:lnTo>
                  <a:lnTo>
                    <a:pt x="0" y="64"/>
                  </a:lnTo>
                  <a:lnTo>
                    <a:pt x="12" y="64"/>
                  </a:lnTo>
                  <a:lnTo>
                    <a:pt x="12" y="38"/>
                  </a:lnTo>
                  <a:lnTo>
                    <a:pt x="28" y="38"/>
                  </a:lnTo>
                  <a:lnTo>
                    <a:pt x="48" y="64"/>
                  </a:lnTo>
                  <a:lnTo>
                    <a:pt x="64" y="64"/>
                  </a:lnTo>
                  <a:lnTo>
                    <a:pt x="64" y="64"/>
                  </a:lnTo>
                  <a:close/>
                  <a:moveTo>
                    <a:pt x="12" y="12"/>
                  </a:moveTo>
                  <a:lnTo>
                    <a:pt x="50" y="12"/>
                  </a:lnTo>
                  <a:lnTo>
                    <a:pt x="50" y="26"/>
                  </a:lnTo>
                  <a:lnTo>
                    <a:pt x="12" y="26"/>
                  </a:lnTo>
                  <a:lnTo>
                    <a:pt x="12" y="12"/>
                  </a:lnTo>
                  <a:lnTo>
                    <a:pt x="12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 noEditPoints="1"/>
            </p:cNvSpPr>
            <p:nvPr userDrawn="1"/>
          </p:nvSpPr>
          <p:spPr bwMode="auto">
            <a:xfrm>
              <a:off x="333375" y="3763963"/>
              <a:ext cx="101600" cy="101600"/>
            </a:xfrm>
            <a:custGeom>
              <a:avLst/>
              <a:gdLst>
                <a:gd name="T0" fmla="*/ 64 w 64"/>
                <a:gd name="T1" fmla="*/ 58 h 64"/>
                <a:gd name="T2" fmla="*/ 64 w 64"/>
                <a:gd name="T3" fmla="*/ 6 h 64"/>
                <a:gd name="T4" fmla="*/ 64 w 64"/>
                <a:gd name="T5" fmla="*/ 6 h 64"/>
                <a:gd name="T6" fmla="*/ 62 w 64"/>
                <a:gd name="T7" fmla="*/ 0 h 64"/>
                <a:gd name="T8" fmla="*/ 58 w 64"/>
                <a:gd name="T9" fmla="*/ 0 h 64"/>
                <a:gd name="T10" fmla="*/ 6 w 64"/>
                <a:gd name="T11" fmla="*/ 0 h 64"/>
                <a:gd name="T12" fmla="*/ 6 w 64"/>
                <a:gd name="T13" fmla="*/ 0 h 64"/>
                <a:gd name="T14" fmla="*/ 2 w 64"/>
                <a:gd name="T15" fmla="*/ 0 h 64"/>
                <a:gd name="T16" fmla="*/ 0 w 64"/>
                <a:gd name="T17" fmla="*/ 6 h 64"/>
                <a:gd name="T18" fmla="*/ 0 w 64"/>
                <a:gd name="T19" fmla="*/ 58 h 64"/>
                <a:gd name="T20" fmla="*/ 0 w 64"/>
                <a:gd name="T21" fmla="*/ 58 h 64"/>
                <a:gd name="T22" fmla="*/ 2 w 64"/>
                <a:gd name="T23" fmla="*/ 62 h 64"/>
                <a:gd name="T24" fmla="*/ 6 w 64"/>
                <a:gd name="T25" fmla="*/ 64 h 64"/>
                <a:gd name="T26" fmla="*/ 58 w 64"/>
                <a:gd name="T27" fmla="*/ 64 h 64"/>
                <a:gd name="T28" fmla="*/ 58 w 64"/>
                <a:gd name="T29" fmla="*/ 64 h 64"/>
                <a:gd name="T30" fmla="*/ 62 w 64"/>
                <a:gd name="T31" fmla="*/ 62 h 64"/>
                <a:gd name="T32" fmla="*/ 64 w 64"/>
                <a:gd name="T33" fmla="*/ 58 h 64"/>
                <a:gd name="T34" fmla="*/ 64 w 64"/>
                <a:gd name="T35" fmla="*/ 58 h 64"/>
                <a:gd name="T36" fmla="*/ 12 w 64"/>
                <a:gd name="T37" fmla="*/ 12 h 64"/>
                <a:gd name="T38" fmla="*/ 52 w 64"/>
                <a:gd name="T39" fmla="*/ 12 h 64"/>
                <a:gd name="T40" fmla="*/ 52 w 64"/>
                <a:gd name="T41" fmla="*/ 52 h 64"/>
                <a:gd name="T42" fmla="*/ 12 w 64"/>
                <a:gd name="T43" fmla="*/ 52 h 64"/>
                <a:gd name="T44" fmla="*/ 12 w 64"/>
                <a:gd name="T45" fmla="*/ 12 h 64"/>
                <a:gd name="T46" fmla="*/ 12 w 64"/>
                <a:gd name="T47" fmla="*/ 1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64">
                  <a:moveTo>
                    <a:pt x="64" y="58"/>
                  </a:moveTo>
                  <a:lnTo>
                    <a:pt x="64" y="6"/>
                  </a:lnTo>
                  <a:lnTo>
                    <a:pt x="64" y="6"/>
                  </a:lnTo>
                  <a:lnTo>
                    <a:pt x="62" y="0"/>
                  </a:lnTo>
                  <a:lnTo>
                    <a:pt x="58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2" y="0"/>
                  </a:lnTo>
                  <a:lnTo>
                    <a:pt x="0" y="6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2" y="62"/>
                  </a:lnTo>
                  <a:lnTo>
                    <a:pt x="6" y="64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2" y="62"/>
                  </a:lnTo>
                  <a:lnTo>
                    <a:pt x="64" y="58"/>
                  </a:lnTo>
                  <a:lnTo>
                    <a:pt x="64" y="58"/>
                  </a:lnTo>
                  <a:close/>
                  <a:moveTo>
                    <a:pt x="12" y="12"/>
                  </a:moveTo>
                  <a:lnTo>
                    <a:pt x="52" y="12"/>
                  </a:lnTo>
                  <a:lnTo>
                    <a:pt x="52" y="52"/>
                  </a:lnTo>
                  <a:lnTo>
                    <a:pt x="12" y="52"/>
                  </a:lnTo>
                  <a:lnTo>
                    <a:pt x="12" y="12"/>
                  </a:lnTo>
                  <a:lnTo>
                    <a:pt x="12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/>
            </p:cNvSpPr>
            <p:nvPr userDrawn="1"/>
          </p:nvSpPr>
          <p:spPr bwMode="auto">
            <a:xfrm>
              <a:off x="-209550" y="3897313"/>
              <a:ext cx="101600" cy="104775"/>
            </a:xfrm>
            <a:custGeom>
              <a:avLst/>
              <a:gdLst>
                <a:gd name="T0" fmla="*/ 64 w 64"/>
                <a:gd name="T1" fmla="*/ 14 h 66"/>
                <a:gd name="T2" fmla="*/ 64 w 64"/>
                <a:gd name="T3" fmla="*/ 0 h 66"/>
                <a:gd name="T4" fmla="*/ 0 w 64"/>
                <a:gd name="T5" fmla="*/ 0 h 66"/>
                <a:gd name="T6" fmla="*/ 0 w 64"/>
                <a:gd name="T7" fmla="*/ 66 h 66"/>
                <a:gd name="T8" fmla="*/ 14 w 64"/>
                <a:gd name="T9" fmla="*/ 66 h 66"/>
                <a:gd name="T10" fmla="*/ 14 w 64"/>
                <a:gd name="T11" fmla="*/ 40 h 66"/>
                <a:gd name="T12" fmla="*/ 52 w 64"/>
                <a:gd name="T13" fmla="*/ 40 h 66"/>
                <a:gd name="T14" fmla="*/ 52 w 64"/>
                <a:gd name="T15" fmla="*/ 26 h 66"/>
                <a:gd name="T16" fmla="*/ 14 w 64"/>
                <a:gd name="T17" fmla="*/ 26 h 66"/>
                <a:gd name="T18" fmla="*/ 14 w 64"/>
                <a:gd name="T19" fmla="*/ 14 h 66"/>
                <a:gd name="T20" fmla="*/ 64 w 64"/>
                <a:gd name="T21" fmla="*/ 14 h 66"/>
                <a:gd name="T22" fmla="*/ 64 w 64"/>
                <a:gd name="T23" fmla="*/ 1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4" h="66">
                  <a:moveTo>
                    <a:pt x="64" y="14"/>
                  </a:moveTo>
                  <a:lnTo>
                    <a:pt x="64" y="0"/>
                  </a:lnTo>
                  <a:lnTo>
                    <a:pt x="0" y="0"/>
                  </a:lnTo>
                  <a:lnTo>
                    <a:pt x="0" y="66"/>
                  </a:lnTo>
                  <a:lnTo>
                    <a:pt x="14" y="66"/>
                  </a:lnTo>
                  <a:lnTo>
                    <a:pt x="14" y="40"/>
                  </a:lnTo>
                  <a:lnTo>
                    <a:pt x="52" y="40"/>
                  </a:lnTo>
                  <a:lnTo>
                    <a:pt x="52" y="26"/>
                  </a:lnTo>
                  <a:lnTo>
                    <a:pt x="14" y="26"/>
                  </a:lnTo>
                  <a:lnTo>
                    <a:pt x="14" y="14"/>
                  </a:lnTo>
                  <a:lnTo>
                    <a:pt x="64" y="14"/>
                  </a:lnTo>
                  <a:lnTo>
                    <a:pt x="64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 noEditPoints="1"/>
            </p:cNvSpPr>
            <p:nvPr userDrawn="1"/>
          </p:nvSpPr>
          <p:spPr bwMode="auto">
            <a:xfrm>
              <a:off x="-79375" y="3897313"/>
              <a:ext cx="101600" cy="104775"/>
            </a:xfrm>
            <a:custGeom>
              <a:avLst/>
              <a:gdLst>
                <a:gd name="T0" fmla="*/ 64 w 64"/>
                <a:gd name="T1" fmla="*/ 60 h 66"/>
                <a:gd name="T2" fmla="*/ 64 w 64"/>
                <a:gd name="T3" fmla="*/ 8 h 66"/>
                <a:gd name="T4" fmla="*/ 64 w 64"/>
                <a:gd name="T5" fmla="*/ 8 h 66"/>
                <a:gd name="T6" fmla="*/ 62 w 64"/>
                <a:gd name="T7" fmla="*/ 2 h 66"/>
                <a:gd name="T8" fmla="*/ 58 w 64"/>
                <a:gd name="T9" fmla="*/ 0 h 66"/>
                <a:gd name="T10" fmla="*/ 6 w 64"/>
                <a:gd name="T11" fmla="*/ 0 h 66"/>
                <a:gd name="T12" fmla="*/ 6 w 64"/>
                <a:gd name="T13" fmla="*/ 0 h 66"/>
                <a:gd name="T14" fmla="*/ 2 w 64"/>
                <a:gd name="T15" fmla="*/ 2 h 66"/>
                <a:gd name="T16" fmla="*/ 0 w 64"/>
                <a:gd name="T17" fmla="*/ 8 h 66"/>
                <a:gd name="T18" fmla="*/ 0 w 64"/>
                <a:gd name="T19" fmla="*/ 60 h 66"/>
                <a:gd name="T20" fmla="*/ 0 w 64"/>
                <a:gd name="T21" fmla="*/ 60 h 66"/>
                <a:gd name="T22" fmla="*/ 2 w 64"/>
                <a:gd name="T23" fmla="*/ 64 h 66"/>
                <a:gd name="T24" fmla="*/ 6 w 64"/>
                <a:gd name="T25" fmla="*/ 66 h 66"/>
                <a:gd name="T26" fmla="*/ 58 w 64"/>
                <a:gd name="T27" fmla="*/ 66 h 66"/>
                <a:gd name="T28" fmla="*/ 58 w 64"/>
                <a:gd name="T29" fmla="*/ 66 h 66"/>
                <a:gd name="T30" fmla="*/ 62 w 64"/>
                <a:gd name="T31" fmla="*/ 64 h 66"/>
                <a:gd name="T32" fmla="*/ 64 w 64"/>
                <a:gd name="T33" fmla="*/ 60 h 66"/>
                <a:gd name="T34" fmla="*/ 64 w 64"/>
                <a:gd name="T35" fmla="*/ 60 h 66"/>
                <a:gd name="T36" fmla="*/ 12 w 64"/>
                <a:gd name="T37" fmla="*/ 14 h 66"/>
                <a:gd name="T38" fmla="*/ 52 w 64"/>
                <a:gd name="T39" fmla="*/ 14 h 66"/>
                <a:gd name="T40" fmla="*/ 52 w 64"/>
                <a:gd name="T41" fmla="*/ 52 h 66"/>
                <a:gd name="T42" fmla="*/ 12 w 64"/>
                <a:gd name="T43" fmla="*/ 52 h 66"/>
                <a:gd name="T44" fmla="*/ 12 w 64"/>
                <a:gd name="T45" fmla="*/ 14 h 66"/>
                <a:gd name="T46" fmla="*/ 12 w 64"/>
                <a:gd name="T47" fmla="*/ 1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66">
                  <a:moveTo>
                    <a:pt x="64" y="60"/>
                  </a:moveTo>
                  <a:lnTo>
                    <a:pt x="64" y="8"/>
                  </a:lnTo>
                  <a:lnTo>
                    <a:pt x="64" y="8"/>
                  </a:lnTo>
                  <a:lnTo>
                    <a:pt x="62" y="2"/>
                  </a:lnTo>
                  <a:lnTo>
                    <a:pt x="58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2" y="2"/>
                  </a:lnTo>
                  <a:lnTo>
                    <a:pt x="0" y="8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2" y="64"/>
                  </a:lnTo>
                  <a:lnTo>
                    <a:pt x="6" y="66"/>
                  </a:lnTo>
                  <a:lnTo>
                    <a:pt x="58" y="66"/>
                  </a:lnTo>
                  <a:lnTo>
                    <a:pt x="58" y="66"/>
                  </a:lnTo>
                  <a:lnTo>
                    <a:pt x="62" y="64"/>
                  </a:lnTo>
                  <a:lnTo>
                    <a:pt x="64" y="60"/>
                  </a:lnTo>
                  <a:lnTo>
                    <a:pt x="64" y="60"/>
                  </a:lnTo>
                  <a:close/>
                  <a:moveTo>
                    <a:pt x="12" y="14"/>
                  </a:moveTo>
                  <a:lnTo>
                    <a:pt x="52" y="14"/>
                  </a:lnTo>
                  <a:lnTo>
                    <a:pt x="52" y="52"/>
                  </a:lnTo>
                  <a:lnTo>
                    <a:pt x="12" y="52"/>
                  </a:lnTo>
                  <a:lnTo>
                    <a:pt x="12" y="14"/>
                  </a:lnTo>
                  <a:lnTo>
                    <a:pt x="12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57150" y="3897313"/>
              <a:ext cx="101600" cy="104775"/>
            </a:xfrm>
            <a:custGeom>
              <a:avLst/>
              <a:gdLst>
                <a:gd name="T0" fmla="*/ 64 w 64"/>
                <a:gd name="T1" fmla="*/ 60 h 66"/>
                <a:gd name="T2" fmla="*/ 64 w 64"/>
                <a:gd name="T3" fmla="*/ 44 h 66"/>
                <a:gd name="T4" fmla="*/ 52 w 64"/>
                <a:gd name="T5" fmla="*/ 46 h 66"/>
                <a:gd name="T6" fmla="*/ 52 w 64"/>
                <a:gd name="T7" fmla="*/ 52 h 66"/>
                <a:gd name="T8" fmla="*/ 14 w 64"/>
                <a:gd name="T9" fmla="*/ 52 h 66"/>
                <a:gd name="T10" fmla="*/ 14 w 64"/>
                <a:gd name="T11" fmla="*/ 14 h 66"/>
                <a:gd name="T12" fmla="*/ 52 w 64"/>
                <a:gd name="T13" fmla="*/ 14 h 66"/>
                <a:gd name="T14" fmla="*/ 52 w 64"/>
                <a:gd name="T15" fmla="*/ 20 h 66"/>
                <a:gd name="T16" fmla="*/ 64 w 64"/>
                <a:gd name="T17" fmla="*/ 22 h 66"/>
                <a:gd name="T18" fmla="*/ 64 w 64"/>
                <a:gd name="T19" fmla="*/ 8 h 66"/>
                <a:gd name="T20" fmla="*/ 64 w 64"/>
                <a:gd name="T21" fmla="*/ 8 h 66"/>
                <a:gd name="T22" fmla="*/ 62 w 64"/>
                <a:gd name="T23" fmla="*/ 2 h 66"/>
                <a:gd name="T24" fmla="*/ 58 w 64"/>
                <a:gd name="T25" fmla="*/ 0 h 66"/>
                <a:gd name="T26" fmla="*/ 8 w 64"/>
                <a:gd name="T27" fmla="*/ 0 h 66"/>
                <a:gd name="T28" fmla="*/ 8 w 64"/>
                <a:gd name="T29" fmla="*/ 0 h 66"/>
                <a:gd name="T30" fmla="*/ 2 w 64"/>
                <a:gd name="T31" fmla="*/ 2 h 66"/>
                <a:gd name="T32" fmla="*/ 0 w 64"/>
                <a:gd name="T33" fmla="*/ 8 h 66"/>
                <a:gd name="T34" fmla="*/ 0 w 64"/>
                <a:gd name="T35" fmla="*/ 60 h 66"/>
                <a:gd name="T36" fmla="*/ 0 w 64"/>
                <a:gd name="T37" fmla="*/ 60 h 66"/>
                <a:gd name="T38" fmla="*/ 2 w 64"/>
                <a:gd name="T39" fmla="*/ 64 h 66"/>
                <a:gd name="T40" fmla="*/ 8 w 64"/>
                <a:gd name="T41" fmla="*/ 66 h 66"/>
                <a:gd name="T42" fmla="*/ 58 w 64"/>
                <a:gd name="T43" fmla="*/ 66 h 66"/>
                <a:gd name="T44" fmla="*/ 58 w 64"/>
                <a:gd name="T45" fmla="*/ 66 h 66"/>
                <a:gd name="T46" fmla="*/ 62 w 64"/>
                <a:gd name="T47" fmla="*/ 64 h 66"/>
                <a:gd name="T48" fmla="*/ 64 w 64"/>
                <a:gd name="T49" fmla="*/ 60 h 66"/>
                <a:gd name="T50" fmla="*/ 64 w 64"/>
                <a:gd name="T51" fmla="*/ 6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4" h="66">
                  <a:moveTo>
                    <a:pt x="64" y="60"/>
                  </a:moveTo>
                  <a:lnTo>
                    <a:pt x="64" y="44"/>
                  </a:lnTo>
                  <a:lnTo>
                    <a:pt x="52" y="46"/>
                  </a:lnTo>
                  <a:lnTo>
                    <a:pt x="52" y="52"/>
                  </a:lnTo>
                  <a:lnTo>
                    <a:pt x="14" y="52"/>
                  </a:lnTo>
                  <a:lnTo>
                    <a:pt x="14" y="14"/>
                  </a:lnTo>
                  <a:lnTo>
                    <a:pt x="52" y="14"/>
                  </a:lnTo>
                  <a:lnTo>
                    <a:pt x="52" y="20"/>
                  </a:lnTo>
                  <a:lnTo>
                    <a:pt x="64" y="22"/>
                  </a:lnTo>
                  <a:lnTo>
                    <a:pt x="64" y="8"/>
                  </a:lnTo>
                  <a:lnTo>
                    <a:pt x="64" y="8"/>
                  </a:lnTo>
                  <a:lnTo>
                    <a:pt x="62" y="2"/>
                  </a:lnTo>
                  <a:lnTo>
                    <a:pt x="58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2" y="2"/>
                  </a:lnTo>
                  <a:lnTo>
                    <a:pt x="0" y="8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2" y="64"/>
                  </a:lnTo>
                  <a:lnTo>
                    <a:pt x="8" y="66"/>
                  </a:lnTo>
                  <a:lnTo>
                    <a:pt x="58" y="66"/>
                  </a:lnTo>
                  <a:lnTo>
                    <a:pt x="58" y="66"/>
                  </a:lnTo>
                  <a:lnTo>
                    <a:pt x="62" y="64"/>
                  </a:lnTo>
                  <a:lnTo>
                    <a:pt x="64" y="60"/>
                  </a:lnTo>
                  <a:lnTo>
                    <a:pt x="64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196850" y="3897313"/>
              <a:ext cx="101600" cy="104775"/>
            </a:xfrm>
            <a:custGeom>
              <a:avLst/>
              <a:gdLst>
                <a:gd name="T0" fmla="*/ 64 w 64"/>
                <a:gd name="T1" fmla="*/ 60 h 66"/>
                <a:gd name="T2" fmla="*/ 64 w 64"/>
                <a:gd name="T3" fmla="*/ 0 h 66"/>
                <a:gd name="T4" fmla="*/ 50 w 64"/>
                <a:gd name="T5" fmla="*/ 0 h 66"/>
                <a:gd name="T6" fmla="*/ 50 w 64"/>
                <a:gd name="T7" fmla="*/ 52 h 66"/>
                <a:gd name="T8" fmla="*/ 12 w 64"/>
                <a:gd name="T9" fmla="*/ 52 h 66"/>
                <a:gd name="T10" fmla="*/ 12 w 64"/>
                <a:gd name="T11" fmla="*/ 0 h 66"/>
                <a:gd name="T12" fmla="*/ 0 w 64"/>
                <a:gd name="T13" fmla="*/ 0 h 66"/>
                <a:gd name="T14" fmla="*/ 0 w 64"/>
                <a:gd name="T15" fmla="*/ 60 h 66"/>
                <a:gd name="T16" fmla="*/ 0 w 64"/>
                <a:gd name="T17" fmla="*/ 60 h 66"/>
                <a:gd name="T18" fmla="*/ 2 w 64"/>
                <a:gd name="T19" fmla="*/ 64 h 66"/>
                <a:gd name="T20" fmla="*/ 6 w 64"/>
                <a:gd name="T21" fmla="*/ 66 h 66"/>
                <a:gd name="T22" fmla="*/ 56 w 64"/>
                <a:gd name="T23" fmla="*/ 66 h 66"/>
                <a:gd name="T24" fmla="*/ 56 w 64"/>
                <a:gd name="T25" fmla="*/ 66 h 66"/>
                <a:gd name="T26" fmla="*/ 62 w 64"/>
                <a:gd name="T27" fmla="*/ 64 h 66"/>
                <a:gd name="T28" fmla="*/ 64 w 64"/>
                <a:gd name="T29" fmla="*/ 60 h 66"/>
                <a:gd name="T30" fmla="*/ 64 w 64"/>
                <a:gd name="T31" fmla="*/ 6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" h="66">
                  <a:moveTo>
                    <a:pt x="64" y="60"/>
                  </a:moveTo>
                  <a:lnTo>
                    <a:pt x="64" y="0"/>
                  </a:lnTo>
                  <a:lnTo>
                    <a:pt x="50" y="0"/>
                  </a:lnTo>
                  <a:lnTo>
                    <a:pt x="50" y="52"/>
                  </a:lnTo>
                  <a:lnTo>
                    <a:pt x="12" y="5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2" y="64"/>
                  </a:lnTo>
                  <a:lnTo>
                    <a:pt x="6" y="66"/>
                  </a:lnTo>
                  <a:lnTo>
                    <a:pt x="56" y="66"/>
                  </a:lnTo>
                  <a:lnTo>
                    <a:pt x="56" y="66"/>
                  </a:lnTo>
                  <a:lnTo>
                    <a:pt x="62" y="64"/>
                  </a:lnTo>
                  <a:lnTo>
                    <a:pt x="64" y="60"/>
                  </a:lnTo>
                  <a:lnTo>
                    <a:pt x="64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333375" y="3897313"/>
              <a:ext cx="101600" cy="104775"/>
            </a:xfrm>
            <a:custGeom>
              <a:avLst/>
              <a:gdLst>
                <a:gd name="T0" fmla="*/ 64 w 64"/>
                <a:gd name="T1" fmla="*/ 60 h 66"/>
                <a:gd name="T2" fmla="*/ 64 w 64"/>
                <a:gd name="T3" fmla="*/ 34 h 66"/>
                <a:gd name="T4" fmla="*/ 64 w 64"/>
                <a:gd name="T5" fmla="*/ 34 h 66"/>
                <a:gd name="T6" fmla="*/ 62 w 64"/>
                <a:gd name="T7" fmla="*/ 28 h 66"/>
                <a:gd name="T8" fmla="*/ 58 w 64"/>
                <a:gd name="T9" fmla="*/ 26 h 66"/>
                <a:gd name="T10" fmla="*/ 12 w 64"/>
                <a:gd name="T11" fmla="*/ 26 h 66"/>
                <a:gd name="T12" fmla="*/ 12 w 64"/>
                <a:gd name="T13" fmla="*/ 14 h 66"/>
                <a:gd name="T14" fmla="*/ 52 w 64"/>
                <a:gd name="T15" fmla="*/ 14 h 66"/>
                <a:gd name="T16" fmla="*/ 52 w 64"/>
                <a:gd name="T17" fmla="*/ 20 h 66"/>
                <a:gd name="T18" fmla="*/ 64 w 64"/>
                <a:gd name="T19" fmla="*/ 22 h 66"/>
                <a:gd name="T20" fmla="*/ 64 w 64"/>
                <a:gd name="T21" fmla="*/ 8 h 66"/>
                <a:gd name="T22" fmla="*/ 64 w 64"/>
                <a:gd name="T23" fmla="*/ 8 h 66"/>
                <a:gd name="T24" fmla="*/ 62 w 64"/>
                <a:gd name="T25" fmla="*/ 2 h 66"/>
                <a:gd name="T26" fmla="*/ 58 w 64"/>
                <a:gd name="T27" fmla="*/ 0 h 66"/>
                <a:gd name="T28" fmla="*/ 6 w 64"/>
                <a:gd name="T29" fmla="*/ 0 h 66"/>
                <a:gd name="T30" fmla="*/ 6 w 64"/>
                <a:gd name="T31" fmla="*/ 0 h 66"/>
                <a:gd name="T32" fmla="*/ 2 w 64"/>
                <a:gd name="T33" fmla="*/ 2 h 66"/>
                <a:gd name="T34" fmla="*/ 0 w 64"/>
                <a:gd name="T35" fmla="*/ 8 h 66"/>
                <a:gd name="T36" fmla="*/ 0 w 64"/>
                <a:gd name="T37" fmla="*/ 32 h 66"/>
                <a:gd name="T38" fmla="*/ 0 w 64"/>
                <a:gd name="T39" fmla="*/ 32 h 66"/>
                <a:gd name="T40" fmla="*/ 2 w 64"/>
                <a:gd name="T41" fmla="*/ 38 h 66"/>
                <a:gd name="T42" fmla="*/ 6 w 64"/>
                <a:gd name="T43" fmla="*/ 40 h 66"/>
                <a:gd name="T44" fmla="*/ 52 w 64"/>
                <a:gd name="T45" fmla="*/ 40 h 66"/>
                <a:gd name="T46" fmla="*/ 52 w 64"/>
                <a:gd name="T47" fmla="*/ 52 h 66"/>
                <a:gd name="T48" fmla="*/ 12 w 64"/>
                <a:gd name="T49" fmla="*/ 52 h 66"/>
                <a:gd name="T50" fmla="*/ 12 w 64"/>
                <a:gd name="T51" fmla="*/ 46 h 66"/>
                <a:gd name="T52" fmla="*/ 0 w 64"/>
                <a:gd name="T53" fmla="*/ 44 h 66"/>
                <a:gd name="T54" fmla="*/ 0 w 64"/>
                <a:gd name="T55" fmla="*/ 60 h 66"/>
                <a:gd name="T56" fmla="*/ 0 w 64"/>
                <a:gd name="T57" fmla="*/ 60 h 66"/>
                <a:gd name="T58" fmla="*/ 2 w 64"/>
                <a:gd name="T59" fmla="*/ 64 h 66"/>
                <a:gd name="T60" fmla="*/ 6 w 64"/>
                <a:gd name="T61" fmla="*/ 66 h 66"/>
                <a:gd name="T62" fmla="*/ 58 w 64"/>
                <a:gd name="T63" fmla="*/ 66 h 66"/>
                <a:gd name="T64" fmla="*/ 58 w 64"/>
                <a:gd name="T65" fmla="*/ 66 h 66"/>
                <a:gd name="T66" fmla="*/ 62 w 64"/>
                <a:gd name="T67" fmla="*/ 64 h 66"/>
                <a:gd name="T68" fmla="*/ 64 w 64"/>
                <a:gd name="T69" fmla="*/ 60 h 66"/>
                <a:gd name="T70" fmla="*/ 64 w 64"/>
                <a:gd name="T71" fmla="*/ 6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4" h="66">
                  <a:moveTo>
                    <a:pt x="64" y="60"/>
                  </a:moveTo>
                  <a:lnTo>
                    <a:pt x="64" y="34"/>
                  </a:lnTo>
                  <a:lnTo>
                    <a:pt x="64" y="34"/>
                  </a:lnTo>
                  <a:lnTo>
                    <a:pt x="62" y="28"/>
                  </a:lnTo>
                  <a:lnTo>
                    <a:pt x="58" y="26"/>
                  </a:lnTo>
                  <a:lnTo>
                    <a:pt x="12" y="26"/>
                  </a:lnTo>
                  <a:lnTo>
                    <a:pt x="12" y="14"/>
                  </a:lnTo>
                  <a:lnTo>
                    <a:pt x="52" y="14"/>
                  </a:lnTo>
                  <a:lnTo>
                    <a:pt x="52" y="20"/>
                  </a:lnTo>
                  <a:lnTo>
                    <a:pt x="64" y="22"/>
                  </a:lnTo>
                  <a:lnTo>
                    <a:pt x="64" y="8"/>
                  </a:lnTo>
                  <a:lnTo>
                    <a:pt x="64" y="8"/>
                  </a:lnTo>
                  <a:lnTo>
                    <a:pt x="62" y="2"/>
                  </a:lnTo>
                  <a:lnTo>
                    <a:pt x="58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2" y="2"/>
                  </a:lnTo>
                  <a:lnTo>
                    <a:pt x="0" y="8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2" y="38"/>
                  </a:lnTo>
                  <a:lnTo>
                    <a:pt x="6" y="40"/>
                  </a:lnTo>
                  <a:lnTo>
                    <a:pt x="52" y="40"/>
                  </a:lnTo>
                  <a:lnTo>
                    <a:pt x="52" y="52"/>
                  </a:lnTo>
                  <a:lnTo>
                    <a:pt x="12" y="52"/>
                  </a:lnTo>
                  <a:lnTo>
                    <a:pt x="12" y="46"/>
                  </a:lnTo>
                  <a:lnTo>
                    <a:pt x="0" y="44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2" y="64"/>
                  </a:lnTo>
                  <a:lnTo>
                    <a:pt x="6" y="66"/>
                  </a:lnTo>
                  <a:lnTo>
                    <a:pt x="58" y="66"/>
                  </a:lnTo>
                  <a:lnTo>
                    <a:pt x="58" y="66"/>
                  </a:lnTo>
                  <a:lnTo>
                    <a:pt x="62" y="64"/>
                  </a:lnTo>
                  <a:lnTo>
                    <a:pt x="64" y="60"/>
                  </a:lnTo>
                  <a:lnTo>
                    <a:pt x="64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 noEditPoints="1"/>
            </p:cNvSpPr>
            <p:nvPr userDrawn="1"/>
          </p:nvSpPr>
          <p:spPr bwMode="auto">
            <a:xfrm>
              <a:off x="460375" y="3757613"/>
              <a:ext cx="44450" cy="44450"/>
            </a:xfrm>
            <a:custGeom>
              <a:avLst/>
              <a:gdLst>
                <a:gd name="T0" fmla="*/ 14 w 28"/>
                <a:gd name="T1" fmla="*/ 28 h 28"/>
                <a:gd name="T2" fmla="*/ 4 w 28"/>
                <a:gd name="T3" fmla="*/ 24 h 28"/>
                <a:gd name="T4" fmla="*/ 0 w 28"/>
                <a:gd name="T5" fmla="*/ 14 h 28"/>
                <a:gd name="T6" fmla="*/ 0 w 28"/>
                <a:gd name="T7" fmla="*/ 8 h 28"/>
                <a:gd name="T8" fmla="*/ 8 w 28"/>
                <a:gd name="T9" fmla="*/ 0 h 28"/>
                <a:gd name="T10" fmla="*/ 14 w 28"/>
                <a:gd name="T11" fmla="*/ 0 h 28"/>
                <a:gd name="T12" fmla="*/ 24 w 28"/>
                <a:gd name="T13" fmla="*/ 4 h 28"/>
                <a:gd name="T14" fmla="*/ 28 w 28"/>
                <a:gd name="T15" fmla="*/ 14 h 28"/>
                <a:gd name="T16" fmla="*/ 26 w 28"/>
                <a:gd name="T17" fmla="*/ 18 h 28"/>
                <a:gd name="T18" fmla="*/ 18 w 28"/>
                <a:gd name="T19" fmla="*/ 26 h 28"/>
                <a:gd name="T20" fmla="*/ 14 w 28"/>
                <a:gd name="T21" fmla="*/ 28 h 28"/>
                <a:gd name="T22" fmla="*/ 14 w 28"/>
                <a:gd name="T23" fmla="*/ 0 h 28"/>
                <a:gd name="T24" fmla="*/ 4 w 28"/>
                <a:gd name="T25" fmla="*/ 4 h 28"/>
                <a:gd name="T26" fmla="*/ 0 w 28"/>
                <a:gd name="T27" fmla="*/ 14 h 28"/>
                <a:gd name="T28" fmla="*/ 2 w 28"/>
                <a:gd name="T29" fmla="*/ 18 h 28"/>
                <a:gd name="T30" fmla="*/ 8 w 28"/>
                <a:gd name="T31" fmla="*/ 24 h 28"/>
                <a:gd name="T32" fmla="*/ 14 w 28"/>
                <a:gd name="T33" fmla="*/ 26 h 28"/>
                <a:gd name="T34" fmla="*/ 22 w 28"/>
                <a:gd name="T35" fmla="*/ 22 h 28"/>
                <a:gd name="T36" fmla="*/ 26 w 28"/>
                <a:gd name="T37" fmla="*/ 14 h 28"/>
                <a:gd name="T38" fmla="*/ 24 w 28"/>
                <a:gd name="T39" fmla="*/ 8 h 28"/>
                <a:gd name="T40" fmla="*/ 18 w 28"/>
                <a:gd name="T41" fmla="*/ 2 h 28"/>
                <a:gd name="T42" fmla="*/ 14 w 28"/>
                <a:gd name="T43" fmla="*/ 0 h 28"/>
                <a:gd name="T44" fmla="*/ 14 w 28"/>
                <a:gd name="T45" fmla="*/ 14 h 28"/>
                <a:gd name="T46" fmla="*/ 10 w 28"/>
                <a:gd name="T47" fmla="*/ 22 h 28"/>
                <a:gd name="T48" fmla="*/ 8 w 28"/>
                <a:gd name="T49" fmla="*/ 4 h 28"/>
                <a:gd name="T50" fmla="*/ 14 w 28"/>
                <a:gd name="T51" fmla="*/ 4 h 28"/>
                <a:gd name="T52" fmla="*/ 18 w 28"/>
                <a:gd name="T53" fmla="*/ 10 h 28"/>
                <a:gd name="T54" fmla="*/ 18 w 28"/>
                <a:gd name="T55" fmla="*/ 12 h 28"/>
                <a:gd name="T56" fmla="*/ 18 w 28"/>
                <a:gd name="T57" fmla="*/ 22 h 28"/>
                <a:gd name="T58" fmla="*/ 10 w 28"/>
                <a:gd name="T59" fmla="*/ 12 h 28"/>
                <a:gd name="T60" fmla="*/ 14 w 28"/>
                <a:gd name="T61" fmla="*/ 12 h 28"/>
                <a:gd name="T62" fmla="*/ 16 w 28"/>
                <a:gd name="T63" fmla="*/ 10 h 28"/>
                <a:gd name="T64" fmla="*/ 16 w 28"/>
                <a:gd name="T65" fmla="*/ 8 h 28"/>
                <a:gd name="T66" fmla="*/ 10 w 28"/>
                <a:gd name="T6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8" h="28">
                  <a:moveTo>
                    <a:pt x="14" y="28"/>
                  </a:moveTo>
                  <a:lnTo>
                    <a:pt x="14" y="28"/>
                  </a:lnTo>
                  <a:lnTo>
                    <a:pt x="8" y="26"/>
                  </a:lnTo>
                  <a:lnTo>
                    <a:pt x="4" y="24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0" y="8"/>
                  </a:lnTo>
                  <a:lnTo>
                    <a:pt x="4" y="4"/>
                  </a:lnTo>
                  <a:lnTo>
                    <a:pt x="8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24" y="4"/>
                  </a:lnTo>
                  <a:lnTo>
                    <a:pt x="26" y="8"/>
                  </a:lnTo>
                  <a:lnTo>
                    <a:pt x="28" y="14"/>
                  </a:lnTo>
                  <a:lnTo>
                    <a:pt x="28" y="14"/>
                  </a:lnTo>
                  <a:lnTo>
                    <a:pt x="26" y="18"/>
                  </a:lnTo>
                  <a:lnTo>
                    <a:pt x="24" y="24"/>
                  </a:lnTo>
                  <a:lnTo>
                    <a:pt x="18" y="26"/>
                  </a:lnTo>
                  <a:lnTo>
                    <a:pt x="14" y="28"/>
                  </a:lnTo>
                  <a:lnTo>
                    <a:pt x="14" y="28"/>
                  </a:lnTo>
                  <a:close/>
                  <a:moveTo>
                    <a:pt x="14" y="0"/>
                  </a:moveTo>
                  <a:lnTo>
                    <a:pt x="14" y="0"/>
                  </a:lnTo>
                  <a:lnTo>
                    <a:pt x="8" y="2"/>
                  </a:lnTo>
                  <a:lnTo>
                    <a:pt x="4" y="4"/>
                  </a:lnTo>
                  <a:lnTo>
                    <a:pt x="2" y="8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2" y="18"/>
                  </a:lnTo>
                  <a:lnTo>
                    <a:pt x="4" y="22"/>
                  </a:lnTo>
                  <a:lnTo>
                    <a:pt x="8" y="24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18" y="24"/>
                  </a:lnTo>
                  <a:lnTo>
                    <a:pt x="22" y="22"/>
                  </a:lnTo>
                  <a:lnTo>
                    <a:pt x="24" y="18"/>
                  </a:lnTo>
                  <a:lnTo>
                    <a:pt x="26" y="14"/>
                  </a:lnTo>
                  <a:lnTo>
                    <a:pt x="26" y="14"/>
                  </a:lnTo>
                  <a:lnTo>
                    <a:pt x="24" y="8"/>
                  </a:lnTo>
                  <a:lnTo>
                    <a:pt x="22" y="4"/>
                  </a:lnTo>
                  <a:lnTo>
                    <a:pt x="18" y="2"/>
                  </a:lnTo>
                  <a:lnTo>
                    <a:pt x="14" y="0"/>
                  </a:lnTo>
                  <a:lnTo>
                    <a:pt x="14" y="0"/>
                  </a:lnTo>
                  <a:close/>
                  <a:moveTo>
                    <a:pt x="16" y="22"/>
                  </a:moveTo>
                  <a:lnTo>
                    <a:pt x="14" y="14"/>
                  </a:lnTo>
                  <a:lnTo>
                    <a:pt x="10" y="14"/>
                  </a:lnTo>
                  <a:lnTo>
                    <a:pt x="10" y="22"/>
                  </a:lnTo>
                  <a:lnTo>
                    <a:pt x="8" y="22"/>
                  </a:lnTo>
                  <a:lnTo>
                    <a:pt x="8" y="4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8" y="6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8" y="12"/>
                  </a:lnTo>
                  <a:lnTo>
                    <a:pt x="16" y="14"/>
                  </a:lnTo>
                  <a:lnTo>
                    <a:pt x="18" y="22"/>
                  </a:lnTo>
                  <a:lnTo>
                    <a:pt x="16" y="22"/>
                  </a:lnTo>
                  <a:close/>
                  <a:moveTo>
                    <a:pt x="10" y="12"/>
                  </a:moveTo>
                  <a:lnTo>
                    <a:pt x="14" y="12"/>
                  </a:lnTo>
                  <a:lnTo>
                    <a:pt x="14" y="12"/>
                  </a:lnTo>
                  <a:lnTo>
                    <a:pt x="16" y="12"/>
                  </a:lnTo>
                  <a:lnTo>
                    <a:pt x="16" y="10"/>
                  </a:lnTo>
                  <a:lnTo>
                    <a:pt x="16" y="10"/>
                  </a:lnTo>
                  <a:lnTo>
                    <a:pt x="16" y="8"/>
                  </a:lnTo>
                  <a:lnTo>
                    <a:pt x="12" y="6"/>
                  </a:lnTo>
                  <a:lnTo>
                    <a:pt x="10" y="6"/>
                  </a:lnTo>
                  <a:lnTo>
                    <a:pt x="1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3614237"/>
            <a:ext cx="10579609" cy="1645920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2" y="5260158"/>
            <a:ext cx="4270249" cy="861862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83970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 Title Slide_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8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1048005" y="1"/>
            <a:ext cx="1799697" cy="1518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grpSp>
        <p:nvGrpSpPr>
          <p:cNvPr id="9" name="Group 8"/>
          <p:cNvGrpSpPr/>
          <p:nvPr userDrawn="1"/>
        </p:nvGrpSpPr>
        <p:grpSpPr>
          <a:xfrm>
            <a:off x="1048005" y="766395"/>
            <a:ext cx="1930326" cy="467406"/>
            <a:chOff x="-504825" y="3757613"/>
            <a:chExt cx="1009650" cy="244475"/>
          </a:xfrm>
          <a:solidFill>
            <a:schemeClr val="bg1"/>
          </a:solidFill>
        </p:grpSpPr>
        <p:sp>
          <p:nvSpPr>
            <p:cNvPr id="10" name="Freeform 5"/>
            <p:cNvSpPr>
              <a:spLocks/>
            </p:cNvSpPr>
            <p:nvPr userDrawn="1"/>
          </p:nvSpPr>
          <p:spPr bwMode="auto">
            <a:xfrm>
              <a:off x="-504825" y="3808413"/>
              <a:ext cx="193675" cy="193675"/>
            </a:xfrm>
            <a:custGeom>
              <a:avLst/>
              <a:gdLst>
                <a:gd name="T0" fmla="*/ 0 w 122"/>
                <a:gd name="T1" fmla="*/ 122 h 122"/>
                <a:gd name="T2" fmla="*/ 0 w 122"/>
                <a:gd name="T3" fmla="*/ 0 h 122"/>
                <a:gd name="T4" fmla="*/ 30 w 122"/>
                <a:gd name="T5" fmla="*/ 0 h 122"/>
                <a:gd name="T6" fmla="*/ 30 w 122"/>
                <a:gd name="T7" fmla="*/ 92 h 122"/>
                <a:gd name="T8" fmla="*/ 122 w 122"/>
                <a:gd name="T9" fmla="*/ 92 h 122"/>
                <a:gd name="T10" fmla="*/ 122 w 122"/>
                <a:gd name="T11" fmla="*/ 122 h 122"/>
                <a:gd name="T12" fmla="*/ 0 w 122"/>
                <a:gd name="T13" fmla="*/ 122 h 122"/>
                <a:gd name="T14" fmla="*/ 0 w 122"/>
                <a:gd name="T15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2">
                  <a:moveTo>
                    <a:pt x="0" y="122"/>
                  </a:moveTo>
                  <a:lnTo>
                    <a:pt x="0" y="0"/>
                  </a:lnTo>
                  <a:lnTo>
                    <a:pt x="30" y="0"/>
                  </a:lnTo>
                  <a:lnTo>
                    <a:pt x="30" y="92"/>
                  </a:lnTo>
                  <a:lnTo>
                    <a:pt x="122" y="92"/>
                  </a:lnTo>
                  <a:lnTo>
                    <a:pt x="122" y="122"/>
                  </a:lnTo>
                  <a:lnTo>
                    <a:pt x="0" y="122"/>
                  </a:lnTo>
                  <a:lnTo>
                    <a:pt x="0" y="1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6"/>
            <p:cNvSpPr>
              <a:spLocks/>
            </p:cNvSpPr>
            <p:nvPr userDrawn="1"/>
          </p:nvSpPr>
          <p:spPr bwMode="auto">
            <a:xfrm>
              <a:off x="-457200" y="3763963"/>
              <a:ext cx="193675" cy="190500"/>
            </a:xfrm>
            <a:custGeom>
              <a:avLst/>
              <a:gdLst>
                <a:gd name="T0" fmla="*/ 0 w 122"/>
                <a:gd name="T1" fmla="*/ 28 h 120"/>
                <a:gd name="T2" fmla="*/ 0 w 122"/>
                <a:gd name="T3" fmla="*/ 0 h 120"/>
                <a:gd name="T4" fmla="*/ 122 w 122"/>
                <a:gd name="T5" fmla="*/ 0 h 120"/>
                <a:gd name="T6" fmla="*/ 122 w 122"/>
                <a:gd name="T7" fmla="*/ 120 h 120"/>
                <a:gd name="T8" fmla="*/ 92 w 122"/>
                <a:gd name="T9" fmla="*/ 120 h 120"/>
                <a:gd name="T10" fmla="*/ 92 w 122"/>
                <a:gd name="T11" fmla="*/ 28 h 120"/>
                <a:gd name="T12" fmla="*/ 0 w 122"/>
                <a:gd name="T13" fmla="*/ 28 h 120"/>
                <a:gd name="T14" fmla="*/ 0 w 122"/>
                <a:gd name="T15" fmla="*/ 2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0">
                  <a:moveTo>
                    <a:pt x="0" y="28"/>
                  </a:moveTo>
                  <a:lnTo>
                    <a:pt x="0" y="0"/>
                  </a:lnTo>
                  <a:lnTo>
                    <a:pt x="122" y="0"/>
                  </a:lnTo>
                  <a:lnTo>
                    <a:pt x="122" y="120"/>
                  </a:lnTo>
                  <a:lnTo>
                    <a:pt x="92" y="120"/>
                  </a:lnTo>
                  <a:lnTo>
                    <a:pt x="92" y="28"/>
                  </a:lnTo>
                  <a:lnTo>
                    <a:pt x="0" y="28"/>
                  </a:lnTo>
                  <a:lnTo>
                    <a:pt x="0" y="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-209550" y="3763963"/>
              <a:ext cx="111125" cy="101600"/>
            </a:xfrm>
            <a:custGeom>
              <a:avLst/>
              <a:gdLst>
                <a:gd name="T0" fmla="*/ 70 w 70"/>
                <a:gd name="T1" fmla="*/ 64 h 64"/>
                <a:gd name="T2" fmla="*/ 70 w 70"/>
                <a:gd name="T3" fmla="*/ 0 h 64"/>
                <a:gd name="T4" fmla="*/ 58 w 70"/>
                <a:gd name="T5" fmla="*/ 0 h 64"/>
                <a:gd name="T6" fmla="*/ 36 w 70"/>
                <a:gd name="T7" fmla="*/ 32 h 64"/>
                <a:gd name="T8" fmla="*/ 14 w 70"/>
                <a:gd name="T9" fmla="*/ 0 h 64"/>
                <a:gd name="T10" fmla="*/ 0 w 70"/>
                <a:gd name="T11" fmla="*/ 0 h 64"/>
                <a:gd name="T12" fmla="*/ 0 w 70"/>
                <a:gd name="T13" fmla="*/ 64 h 64"/>
                <a:gd name="T14" fmla="*/ 14 w 70"/>
                <a:gd name="T15" fmla="*/ 64 h 64"/>
                <a:gd name="T16" fmla="*/ 14 w 70"/>
                <a:gd name="T17" fmla="*/ 22 h 64"/>
                <a:gd name="T18" fmla="*/ 32 w 70"/>
                <a:gd name="T19" fmla="*/ 48 h 64"/>
                <a:gd name="T20" fmla="*/ 40 w 70"/>
                <a:gd name="T21" fmla="*/ 48 h 64"/>
                <a:gd name="T22" fmla="*/ 58 w 70"/>
                <a:gd name="T23" fmla="*/ 22 h 64"/>
                <a:gd name="T24" fmla="*/ 58 w 70"/>
                <a:gd name="T25" fmla="*/ 64 h 64"/>
                <a:gd name="T26" fmla="*/ 70 w 70"/>
                <a:gd name="T27" fmla="*/ 64 h 64"/>
                <a:gd name="T28" fmla="*/ 70 w 70"/>
                <a:gd name="T29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4">
                  <a:moveTo>
                    <a:pt x="70" y="64"/>
                  </a:moveTo>
                  <a:lnTo>
                    <a:pt x="70" y="0"/>
                  </a:lnTo>
                  <a:lnTo>
                    <a:pt x="58" y="0"/>
                  </a:lnTo>
                  <a:lnTo>
                    <a:pt x="36" y="32"/>
                  </a:lnTo>
                  <a:lnTo>
                    <a:pt x="14" y="0"/>
                  </a:lnTo>
                  <a:lnTo>
                    <a:pt x="0" y="0"/>
                  </a:lnTo>
                  <a:lnTo>
                    <a:pt x="0" y="64"/>
                  </a:lnTo>
                  <a:lnTo>
                    <a:pt x="14" y="64"/>
                  </a:lnTo>
                  <a:lnTo>
                    <a:pt x="14" y="22"/>
                  </a:lnTo>
                  <a:lnTo>
                    <a:pt x="32" y="48"/>
                  </a:lnTo>
                  <a:lnTo>
                    <a:pt x="40" y="48"/>
                  </a:lnTo>
                  <a:lnTo>
                    <a:pt x="58" y="22"/>
                  </a:lnTo>
                  <a:lnTo>
                    <a:pt x="58" y="64"/>
                  </a:lnTo>
                  <a:lnTo>
                    <a:pt x="70" y="64"/>
                  </a:lnTo>
                  <a:lnTo>
                    <a:pt x="70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-44450" y="3763963"/>
              <a:ext cx="19050" cy="101600"/>
            </a:xfrm>
            <a:custGeom>
              <a:avLst/>
              <a:gdLst>
                <a:gd name="T0" fmla="*/ 0 w 12"/>
                <a:gd name="T1" fmla="*/ 64 h 64"/>
                <a:gd name="T2" fmla="*/ 12 w 12"/>
                <a:gd name="T3" fmla="*/ 64 h 64"/>
                <a:gd name="T4" fmla="*/ 12 w 12"/>
                <a:gd name="T5" fmla="*/ 0 h 64"/>
                <a:gd name="T6" fmla="*/ 0 w 12"/>
                <a:gd name="T7" fmla="*/ 0 h 64"/>
                <a:gd name="T8" fmla="*/ 0 w 12"/>
                <a:gd name="T9" fmla="*/ 64 h 64"/>
                <a:gd name="T10" fmla="*/ 0 w 12"/>
                <a:gd name="T11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64">
                  <a:moveTo>
                    <a:pt x="0" y="64"/>
                  </a:moveTo>
                  <a:lnTo>
                    <a:pt x="12" y="64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64"/>
                  </a:lnTo>
                  <a:lnTo>
                    <a:pt x="0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28575" y="3763963"/>
              <a:ext cx="98425" cy="101600"/>
            </a:xfrm>
            <a:custGeom>
              <a:avLst/>
              <a:gdLst>
                <a:gd name="T0" fmla="*/ 62 w 62"/>
                <a:gd name="T1" fmla="*/ 58 h 64"/>
                <a:gd name="T2" fmla="*/ 62 w 62"/>
                <a:gd name="T3" fmla="*/ 44 h 64"/>
                <a:gd name="T4" fmla="*/ 50 w 62"/>
                <a:gd name="T5" fmla="*/ 44 h 64"/>
                <a:gd name="T6" fmla="*/ 50 w 62"/>
                <a:gd name="T7" fmla="*/ 52 h 64"/>
                <a:gd name="T8" fmla="*/ 12 w 62"/>
                <a:gd name="T9" fmla="*/ 52 h 64"/>
                <a:gd name="T10" fmla="*/ 12 w 62"/>
                <a:gd name="T11" fmla="*/ 12 h 64"/>
                <a:gd name="T12" fmla="*/ 50 w 62"/>
                <a:gd name="T13" fmla="*/ 12 h 64"/>
                <a:gd name="T14" fmla="*/ 50 w 62"/>
                <a:gd name="T15" fmla="*/ 18 h 64"/>
                <a:gd name="T16" fmla="*/ 62 w 62"/>
                <a:gd name="T17" fmla="*/ 20 h 64"/>
                <a:gd name="T18" fmla="*/ 62 w 62"/>
                <a:gd name="T19" fmla="*/ 6 h 64"/>
                <a:gd name="T20" fmla="*/ 62 w 62"/>
                <a:gd name="T21" fmla="*/ 6 h 64"/>
                <a:gd name="T22" fmla="*/ 62 w 62"/>
                <a:gd name="T23" fmla="*/ 0 h 64"/>
                <a:gd name="T24" fmla="*/ 56 w 62"/>
                <a:gd name="T25" fmla="*/ 0 h 64"/>
                <a:gd name="T26" fmla="*/ 6 w 62"/>
                <a:gd name="T27" fmla="*/ 0 h 64"/>
                <a:gd name="T28" fmla="*/ 6 w 62"/>
                <a:gd name="T29" fmla="*/ 0 h 64"/>
                <a:gd name="T30" fmla="*/ 0 w 62"/>
                <a:gd name="T31" fmla="*/ 0 h 64"/>
                <a:gd name="T32" fmla="*/ 0 w 62"/>
                <a:gd name="T33" fmla="*/ 6 h 64"/>
                <a:gd name="T34" fmla="*/ 0 w 62"/>
                <a:gd name="T35" fmla="*/ 58 h 64"/>
                <a:gd name="T36" fmla="*/ 0 w 62"/>
                <a:gd name="T37" fmla="*/ 58 h 64"/>
                <a:gd name="T38" fmla="*/ 0 w 62"/>
                <a:gd name="T39" fmla="*/ 62 h 64"/>
                <a:gd name="T40" fmla="*/ 6 w 62"/>
                <a:gd name="T41" fmla="*/ 64 h 64"/>
                <a:gd name="T42" fmla="*/ 56 w 62"/>
                <a:gd name="T43" fmla="*/ 64 h 64"/>
                <a:gd name="T44" fmla="*/ 56 w 62"/>
                <a:gd name="T45" fmla="*/ 64 h 64"/>
                <a:gd name="T46" fmla="*/ 62 w 62"/>
                <a:gd name="T47" fmla="*/ 62 h 64"/>
                <a:gd name="T48" fmla="*/ 62 w 62"/>
                <a:gd name="T49" fmla="*/ 58 h 64"/>
                <a:gd name="T50" fmla="*/ 62 w 62"/>
                <a:gd name="T51" fmla="*/ 5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2" h="64">
                  <a:moveTo>
                    <a:pt x="62" y="58"/>
                  </a:moveTo>
                  <a:lnTo>
                    <a:pt x="62" y="44"/>
                  </a:lnTo>
                  <a:lnTo>
                    <a:pt x="50" y="44"/>
                  </a:lnTo>
                  <a:lnTo>
                    <a:pt x="50" y="52"/>
                  </a:lnTo>
                  <a:lnTo>
                    <a:pt x="12" y="52"/>
                  </a:lnTo>
                  <a:lnTo>
                    <a:pt x="12" y="12"/>
                  </a:lnTo>
                  <a:lnTo>
                    <a:pt x="50" y="12"/>
                  </a:lnTo>
                  <a:lnTo>
                    <a:pt x="50" y="18"/>
                  </a:lnTo>
                  <a:lnTo>
                    <a:pt x="62" y="20"/>
                  </a:lnTo>
                  <a:lnTo>
                    <a:pt x="62" y="6"/>
                  </a:lnTo>
                  <a:lnTo>
                    <a:pt x="62" y="6"/>
                  </a:lnTo>
                  <a:lnTo>
                    <a:pt x="62" y="0"/>
                  </a:lnTo>
                  <a:lnTo>
                    <a:pt x="5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0" y="62"/>
                  </a:lnTo>
                  <a:lnTo>
                    <a:pt x="6" y="64"/>
                  </a:lnTo>
                  <a:lnTo>
                    <a:pt x="56" y="64"/>
                  </a:lnTo>
                  <a:lnTo>
                    <a:pt x="56" y="64"/>
                  </a:lnTo>
                  <a:lnTo>
                    <a:pt x="62" y="62"/>
                  </a:lnTo>
                  <a:lnTo>
                    <a:pt x="62" y="58"/>
                  </a:lnTo>
                  <a:lnTo>
                    <a:pt x="62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 noEditPoints="1"/>
            </p:cNvSpPr>
            <p:nvPr userDrawn="1"/>
          </p:nvSpPr>
          <p:spPr bwMode="auto">
            <a:xfrm>
              <a:off x="180975" y="3763963"/>
              <a:ext cx="101600" cy="101600"/>
            </a:xfrm>
            <a:custGeom>
              <a:avLst/>
              <a:gdLst>
                <a:gd name="T0" fmla="*/ 64 w 64"/>
                <a:gd name="T1" fmla="*/ 64 h 64"/>
                <a:gd name="T2" fmla="*/ 44 w 64"/>
                <a:gd name="T3" fmla="*/ 38 h 64"/>
                <a:gd name="T4" fmla="*/ 58 w 64"/>
                <a:gd name="T5" fmla="*/ 38 h 64"/>
                <a:gd name="T6" fmla="*/ 58 w 64"/>
                <a:gd name="T7" fmla="*/ 38 h 64"/>
                <a:gd name="T8" fmla="*/ 62 w 64"/>
                <a:gd name="T9" fmla="*/ 36 h 64"/>
                <a:gd name="T10" fmla="*/ 64 w 64"/>
                <a:gd name="T11" fmla="*/ 32 h 64"/>
                <a:gd name="T12" fmla="*/ 64 w 64"/>
                <a:gd name="T13" fmla="*/ 6 h 64"/>
                <a:gd name="T14" fmla="*/ 64 w 64"/>
                <a:gd name="T15" fmla="*/ 6 h 64"/>
                <a:gd name="T16" fmla="*/ 62 w 64"/>
                <a:gd name="T17" fmla="*/ 0 h 64"/>
                <a:gd name="T18" fmla="*/ 58 w 64"/>
                <a:gd name="T19" fmla="*/ 0 h 64"/>
                <a:gd name="T20" fmla="*/ 0 w 64"/>
                <a:gd name="T21" fmla="*/ 0 h 64"/>
                <a:gd name="T22" fmla="*/ 0 w 64"/>
                <a:gd name="T23" fmla="*/ 64 h 64"/>
                <a:gd name="T24" fmla="*/ 12 w 64"/>
                <a:gd name="T25" fmla="*/ 64 h 64"/>
                <a:gd name="T26" fmla="*/ 12 w 64"/>
                <a:gd name="T27" fmla="*/ 38 h 64"/>
                <a:gd name="T28" fmla="*/ 28 w 64"/>
                <a:gd name="T29" fmla="*/ 38 h 64"/>
                <a:gd name="T30" fmla="*/ 48 w 64"/>
                <a:gd name="T31" fmla="*/ 64 h 64"/>
                <a:gd name="T32" fmla="*/ 64 w 64"/>
                <a:gd name="T33" fmla="*/ 64 h 64"/>
                <a:gd name="T34" fmla="*/ 64 w 64"/>
                <a:gd name="T35" fmla="*/ 64 h 64"/>
                <a:gd name="T36" fmla="*/ 12 w 64"/>
                <a:gd name="T37" fmla="*/ 12 h 64"/>
                <a:gd name="T38" fmla="*/ 50 w 64"/>
                <a:gd name="T39" fmla="*/ 12 h 64"/>
                <a:gd name="T40" fmla="*/ 50 w 64"/>
                <a:gd name="T41" fmla="*/ 26 h 64"/>
                <a:gd name="T42" fmla="*/ 12 w 64"/>
                <a:gd name="T43" fmla="*/ 26 h 64"/>
                <a:gd name="T44" fmla="*/ 12 w 64"/>
                <a:gd name="T45" fmla="*/ 12 h 64"/>
                <a:gd name="T46" fmla="*/ 12 w 64"/>
                <a:gd name="T47" fmla="*/ 1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64">
                  <a:moveTo>
                    <a:pt x="64" y="64"/>
                  </a:moveTo>
                  <a:lnTo>
                    <a:pt x="44" y="38"/>
                  </a:lnTo>
                  <a:lnTo>
                    <a:pt x="58" y="38"/>
                  </a:lnTo>
                  <a:lnTo>
                    <a:pt x="58" y="38"/>
                  </a:lnTo>
                  <a:lnTo>
                    <a:pt x="62" y="36"/>
                  </a:lnTo>
                  <a:lnTo>
                    <a:pt x="64" y="32"/>
                  </a:lnTo>
                  <a:lnTo>
                    <a:pt x="64" y="6"/>
                  </a:lnTo>
                  <a:lnTo>
                    <a:pt x="64" y="6"/>
                  </a:lnTo>
                  <a:lnTo>
                    <a:pt x="62" y="0"/>
                  </a:lnTo>
                  <a:lnTo>
                    <a:pt x="58" y="0"/>
                  </a:lnTo>
                  <a:lnTo>
                    <a:pt x="0" y="0"/>
                  </a:lnTo>
                  <a:lnTo>
                    <a:pt x="0" y="64"/>
                  </a:lnTo>
                  <a:lnTo>
                    <a:pt x="12" y="64"/>
                  </a:lnTo>
                  <a:lnTo>
                    <a:pt x="12" y="38"/>
                  </a:lnTo>
                  <a:lnTo>
                    <a:pt x="28" y="38"/>
                  </a:lnTo>
                  <a:lnTo>
                    <a:pt x="48" y="64"/>
                  </a:lnTo>
                  <a:lnTo>
                    <a:pt x="64" y="64"/>
                  </a:lnTo>
                  <a:lnTo>
                    <a:pt x="64" y="64"/>
                  </a:lnTo>
                  <a:close/>
                  <a:moveTo>
                    <a:pt x="12" y="12"/>
                  </a:moveTo>
                  <a:lnTo>
                    <a:pt x="50" y="12"/>
                  </a:lnTo>
                  <a:lnTo>
                    <a:pt x="50" y="26"/>
                  </a:lnTo>
                  <a:lnTo>
                    <a:pt x="12" y="26"/>
                  </a:lnTo>
                  <a:lnTo>
                    <a:pt x="12" y="12"/>
                  </a:lnTo>
                  <a:lnTo>
                    <a:pt x="12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 noEditPoints="1"/>
            </p:cNvSpPr>
            <p:nvPr userDrawn="1"/>
          </p:nvSpPr>
          <p:spPr bwMode="auto">
            <a:xfrm>
              <a:off x="333375" y="3763963"/>
              <a:ext cx="101600" cy="101600"/>
            </a:xfrm>
            <a:custGeom>
              <a:avLst/>
              <a:gdLst>
                <a:gd name="T0" fmla="*/ 64 w 64"/>
                <a:gd name="T1" fmla="*/ 58 h 64"/>
                <a:gd name="T2" fmla="*/ 64 w 64"/>
                <a:gd name="T3" fmla="*/ 6 h 64"/>
                <a:gd name="T4" fmla="*/ 64 w 64"/>
                <a:gd name="T5" fmla="*/ 6 h 64"/>
                <a:gd name="T6" fmla="*/ 62 w 64"/>
                <a:gd name="T7" fmla="*/ 0 h 64"/>
                <a:gd name="T8" fmla="*/ 58 w 64"/>
                <a:gd name="T9" fmla="*/ 0 h 64"/>
                <a:gd name="T10" fmla="*/ 6 w 64"/>
                <a:gd name="T11" fmla="*/ 0 h 64"/>
                <a:gd name="T12" fmla="*/ 6 w 64"/>
                <a:gd name="T13" fmla="*/ 0 h 64"/>
                <a:gd name="T14" fmla="*/ 2 w 64"/>
                <a:gd name="T15" fmla="*/ 0 h 64"/>
                <a:gd name="T16" fmla="*/ 0 w 64"/>
                <a:gd name="T17" fmla="*/ 6 h 64"/>
                <a:gd name="T18" fmla="*/ 0 w 64"/>
                <a:gd name="T19" fmla="*/ 58 h 64"/>
                <a:gd name="T20" fmla="*/ 0 w 64"/>
                <a:gd name="T21" fmla="*/ 58 h 64"/>
                <a:gd name="T22" fmla="*/ 2 w 64"/>
                <a:gd name="T23" fmla="*/ 62 h 64"/>
                <a:gd name="T24" fmla="*/ 6 w 64"/>
                <a:gd name="T25" fmla="*/ 64 h 64"/>
                <a:gd name="T26" fmla="*/ 58 w 64"/>
                <a:gd name="T27" fmla="*/ 64 h 64"/>
                <a:gd name="T28" fmla="*/ 58 w 64"/>
                <a:gd name="T29" fmla="*/ 64 h 64"/>
                <a:gd name="T30" fmla="*/ 62 w 64"/>
                <a:gd name="T31" fmla="*/ 62 h 64"/>
                <a:gd name="T32" fmla="*/ 64 w 64"/>
                <a:gd name="T33" fmla="*/ 58 h 64"/>
                <a:gd name="T34" fmla="*/ 64 w 64"/>
                <a:gd name="T35" fmla="*/ 58 h 64"/>
                <a:gd name="T36" fmla="*/ 12 w 64"/>
                <a:gd name="T37" fmla="*/ 12 h 64"/>
                <a:gd name="T38" fmla="*/ 52 w 64"/>
                <a:gd name="T39" fmla="*/ 12 h 64"/>
                <a:gd name="T40" fmla="*/ 52 w 64"/>
                <a:gd name="T41" fmla="*/ 52 h 64"/>
                <a:gd name="T42" fmla="*/ 12 w 64"/>
                <a:gd name="T43" fmla="*/ 52 h 64"/>
                <a:gd name="T44" fmla="*/ 12 w 64"/>
                <a:gd name="T45" fmla="*/ 12 h 64"/>
                <a:gd name="T46" fmla="*/ 12 w 64"/>
                <a:gd name="T47" fmla="*/ 1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64">
                  <a:moveTo>
                    <a:pt x="64" y="58"/>
                  </a:moveTo>
                  <a:lnTo>
                    <a:pt x="64" y="6"/>
                  </a:lnTo>
                  <a:lnTo>
                    <a:pt x="64" y="6"/>
                  </a:lnTo>
                  <a:lnTo>
                    <a:pt x="62" y="0"/>
                  </a:lnTo>
                  <a:lnTo>
                    <a:pt x="58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2" y="0"/>
                  </a:lnTo>
                  <a:lnTo>
                    <a:pt x="0" y="6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2" y="62"/>
                  </a:lnTo>
                  <a:lnTo>
                    <a:pt x="6" y="64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2" y="62"/>
                  </a:lnTo>
                  <a:lnTo>
                    <a:pt x="64" y="58"/>
                  </a:lnTo>
                  <a:lnTo>
                    <a:pt x="64" y="58"/>
                  </a:lnTo>
                  <a:close/>
                  <a:moveTo>
                    <a:pt x="12" y="12"/>
                  </a:moveTo>
                  <a:lnTo>
                    <a:pt x="52" y="12"/>
                  </a:lnTo>
                  <a:lnTo>
                    <a:pt x="52" y="52"/>
                  </a:lnTo>
                  <a:lnTo>
                    <a:pt x="12" y="52"/>
                  </a:lnTo>
                  <a:lnTo>
                    <a:pt x="12" y="12"/>
                  </a:lnTo>
                  <a:lnTo>
                    <a:pt x="12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/>
            </p:cNvSpPr>
            <p:nvPr userDrawn="1"/>
          </p:nvSpPr>
          <p:spPr bwMode="auto">
            <a:xfrm>
              <a:off x="-209550" y="3897313"/>
              <a:ext cx="101600" cy="104775"/>
            </a:xfrm>
            <a:custGeom>
              <a:avLst/>
              <a:gdLst>
                <a:gd name="T0" fmla="*/ 64 w 64"/>
                <a:gd name="T1" fmla="*/ 14 h 66"/>
                <a:gd name="T2" fmla="*/ 64 w 64"/>
                <a:gd name="T3" fmla="*/ 0 h 66"/>
                <a:gd name="T4" fmla="*/ 0 w 64"/>
                <a:gd name="T5" fmla="*/ 0 h 66"/>
                <a:gd name="T6" fmla="*/ 0 w 64"/>
                <a:gd name="T7" fmla="*/ 66 h 66"/>
                <a:gd name="T8" fmla="*/ 14 w 64"/>
                <a:gd name="T9" fmla="*/ 66 h 66"/>
                <a:gd name="T10" fmla="*/ 14 w 64"/>
                <a:gd name="T11" fmla="*/ 40 h 66"/>
                <a:gd name="T12" fmla="*/ 52 w 64"/>
                <a:gd name="T13" fmla="*/ 40 h 66"/>
                <a:gd name="T14" fmla="*/ 52 w 64"/>
                <a:gd name="T15" fmla="*/ 26 h 66"/>
                <a:gd name="T16" fmla="*/ 14 w 64"/>
                <a:gd name="T17" fmla="*/ 26 h 66"/>
                <a:gd name="T18" fmla="*/ 14 w 64"/>
                <a:gd name="T19" fmla="*/ 14 h 66"/>
                <a:gd name="T20" fmla="*/ 64 w 64"/>
                <a:gd name="T21" fmla="*/ 14 h 66"/>
                <a:gd name="T22" fmla="*/ 64 w 64"/>
                <a:gd name="T23" fmla="*/ 1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4" h="66">
                  <a:moveTo>
                    <a:pt x="64" y="14"/>
                  </a:moveTo>
                  <a:lnTo>
                    <a:pt x="64" y="0"/>
                  </a:lnTo>
                  <a:lnTo>
                    <a:pt x="0" y="0"/>
                  </a:lnTo>
                  <a:lnTo>
                    <a:pt x="0" y="66"/>
                  </a:lnTo>
                  <a:lnTo>
                    <a:pt x="14" y="66"/>
                  </a:lnTo>
                  <a:lnTo>
                    <a:pt x="14" y="40"/>
                  </a:lnTo>
                  <a:lnTo>
                    <a:pt x="52" y="40"/>
                  </a:lnTo>
                  <a:lnTo>
                    <a:pt x="52" y="26"/>
                  </a:lnTo>
                  <a:lnTo>
                    <a:pt x="14" y="26"/>
                  </a:lnTo>
                  <a:lnTo>
                    <a:pt x="14" y="14"/>
                  </a:lnTo>
                  <a:lnTo>
                    <a:pt x="64" y="14"/>
                  </a:lnTo>
                  <a:lnTo>
                    <a:pt x="64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 noEditPoints="1"/>
            </p:cNvSpPr>
            <p:nvPr userDrawn="1"/>
          </p:nvSpPr>
          <p:spPr bwMode="auto">
            <a:xfrm>
              <a:off x="-79375" y="3897313"/>
              <a:ext cx="101600" cy="104775"/>
            </a:xfrm>
            <a:custGeom>
              <a:avLst/>
              <a:gdLst>
                <a:gd name="T0" fmla="*/ 64 w 64"/>
                <a:gd name="T1" fmla="*/ 60 h 66"/>
                <a:gd name="T2" fmla="*/ 64 w 64"/>
                <a:gd name="T3" fmla="*/ 8 h 66"/>
                <a:gd name="T4" fmla="*/ 64 w 64"/>
                <a:gd name="T5" fmla="*/ 8 h 66"/>
                <a:gd name="T6" fmla="*/ 62 w 64"/>
                <a:gd name="T7" fmla="*/ 2 h 66"/>
                <a:gd name="T8" fmla="*/ 58 w 64"/>
                <a:gd name="T9" fmla="*/ 0 h 66"/>
                <a:gd name="T10" fmla="*/ 6 w 64"/>
                <a:gd name="T11" fmla="*/ 0 h 66"/>
                <a:gd name="T12" fmla="*/ 6 w 64"/>
                <a:gd name="T13" fmla="*/ 0 h 66"/>
                <a:gd name="T14" fmla="*/ 2 w 64"/>
                <a:gd name="T15" fmla="*/ 2 h 66"/>
                <a:gd name="T16" fmla="*/ 0 w 64"/>
                <a:gd name="T17" fmla="*/ 8 h 66"/>
                <a:gd name="T18" fmla="*/ 0 w 64"/>
                <a:gd name="T19" fmla="*/ 60 h 66"/>
                <a:gd name="T20" fmla="*/ 0 w 64"/>
                <a:gd name="T21" fmla="*/ 60 h 66"/>
                <a:gd name="T22" fmla="*/ 2 w 64"/>
                <a:gd name="T23" fmla="*/ 64 h 66"/>
                <a:gd name="T24" fmla="*/ 6 w 64"/>
                <a:gd name="T25" fmla="*/ 66 h 66"/>
                <a:gd name="T26" fmla="*/ 58 w 64"/>
                <a:gd name="T27" fmla="*/ 66 h 66"/>
                <a:gd name="T28" fmla="*/ 58 w 64"/>
                <a:gd name="T29" fmla="*/ 66 h 66"/>
                <a:gd name="T30" fmla="*/ 62 w 64"/>
                <a:gd name="T31" fmla="*/ 64 h 66"/>
                <a:gd name="T32" fmla="*/ 64 w 64"/>
                <a:gd name="T33" fmla="*/ 60 h 66"/>
                <a:gd name="T34" fmla="*/ 64 w 64"/>
                <a:gd name="T35" fmla="*/ 60 h 66"/>
                <a:gd name="T36" fmla="*/ 12 w 64"/>
                <a:gd name="T37" fmla="*/ 14 h 66"/>
                <a:gd name="T38" fmla="*/ 52 w 64"/>
                <a:gd name="T39" fmla="*/ 14 h 66"/>
                <a:gd name="T40" fmla="*/ 52 w 64"/>
                <a:gd name="T41" fmla="*/ 52 h 66"/>
                <a:gd name="T42" fmla="*/ 12 w 64"/>
                <a:gd name="T43" fmla="*/ 52 h 66"/>
                <a:gd name="T44" fmla="*/ 12 w 64"/>
                <a:gd name="T45" fmla="*/ 14 h 66"/>
                <a:gd name="T46" fmla="*/ 12 w 64"/>
                <a:gd name="T47" fmla="*/ 1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66">
                  <a:moveTo>
                    <a:pt x="64" y="60"/>
                  </a:moveTo>
                  <a:lnTo>
                    <a:pt x="64" y="8"/>
                  </a:lnTo>
                  <a:lnTo>
                    <a:pt x="64" y="8"/>
                  </a:lnTo>
                  <a:lnTo>
                    <a:pt x="62" y="2"/>
                  </a:lnTo>
                  <a:lnTo>
                    <a:pt x="58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2" y="2"/>
                  </a:lnTo>
                  <a:lnTo>
                    <a:pt x="0" y="8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2" y="64"/>
                  </a:lnTo>
                  <a:lnTo>
                    <a:pt x="6" y="66"/>
                  </a:lnTo>
                  <a:lnTo>
                    <a:pt x="58" y="66"/>
                  </a:lnTo>
                  <a:lnTo>
                    <a:pt x="58" y="66"/>
                  </a:lnTo>
                  <a:lnTo>
                    <a:pt x="62" y="64"/>
                  </a:lnTo>
                  <a:lnTo>
                    <a:pt x="64" y="60"/>
                  </a:lnTo>
                  <a:lnTo>
                    <a:pt x="64" y="60"/>
                  </a:lnTo>
                  <a:close/>
                  <a:moveTo>
                    <a:pt x="12" y="14"/>
                  </a:moveTo>
                  <a:lnTo>
                    <a:pt x="52" y="14"/>
                  </a:lnTo>
                  <a:lnTo>
                    <a:pt x="52" y="52"/>
                  </a:lnTo>
                  <a:lnTo>
                    <a:pt x="12" y="52"/>
                  </a:lnTo>
                  <a:lnTo>
                    <a:pt x="12" y="14"/>
                  </a:lnTo>
                  <a:lnTo>
                    <a:pt x="12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57150" y="3897313"/>
              <a:ext cx="101600" cy="104775"/>
            </a:xfrm>
            <a:custGeom>
              <a:avLst/>
              <a:gdLst>
                <a:gd name="T0" fmla="*/ 64 w 64"/>
                <a:gd name="T1" fmla="*/ 60 h 66"/>
                <a:gd name="T2" fmla="*/ 64 w 64"/>
                <a:gd name="T3" fmla="*/ 44 h 66"/>
                <a:gd name="T4" fmla="*/ 52 w 64"/>
                <a:gd name="T5" fmla="*/ 46 h 66"/>
                <a:gd name="T6" fmla="*/ 52 w 64"/>
                <a:gd name="T7" fmla="*/ 52 h 66"/>
                <a:gd name="T8" fmla="*/ 14 w 64"/>
                <a:gd name="T9" fmla="*/ 52 h 66"/>
                <a:gd name="T10" fmla="*/ 14 w 64"/>
                <a:gd name="T11" fmla="*/ 14 h 66"/>
                <a:gd name="T12" fmla="*/ 52 w 64"/>
                <a:gd name="T13" fmla="*/ 14 h 66"/>
                <a:gd name="T14" fmla="*/ 52 w 64"/>
                <a:gd name="T15" fmla="*/ 20 h 66"/>
                <a:gd name="T16" fmla="*/ 64 w 64"/>
                <a:gd name="T17" fmla="*/ 22 h 66"/>
                <a:gd name="T18" fmla="*/ 64 w 64"/>
                <a:gd name="T19" fmla="*/ 8 h 66"/>
                <a:gd name="T20" fmla="*/ 64 w 64"/>
                <a:gd name="T21" fmla="*/ 8 h 66"/>
                <a:gd name="T22" fmla="*/ 62 w 64"/>
                <a:gd name="T23" fmla="*/ 2 h 66"/>
                <a:gd name="T24" fmla="*/ 58 w 64"/>
                <a:gd name="T25" fmla="*/ 0 h 66"/>
                <a:gd name="T26" fmla="*/ 8 w 64"/>
                <a:gd name="T27" fmla="*/ 0 h 66"/>
                <a:gd name="T28" fmla="*/ 8 w 64"/>
                <a:gd name="T29" fmla="*/ 0 h 66"/>
                <a:gd name="T30" fmla="*/ 2 w 64"/>
                <a:gd name="T31" fmla="*/ 2 h 66"/>
                <a:gd name="T32" fmla="*/ 0 w 64"/>
                <a:gd name="T33" fmla="*/ 8 h 66"/>
                <a:gd name="T34" fmla="*/ 0 w 64"/>
                <a:gd name="T35" fmla="*/ 60 h 66"/>
                <a:gd name="T36" fmla="*/ 0 w 64"/>
                <a:gd name="T37" fmla="*/ 60 h 66"/>
                <a:gd name="T38" fmla="*/ 2 w 64"/>
                <a:gd name="T39" fmla="*/ 64 h 66"/>
                <a:gd name="T40" fmla="*/ 8 w 64"/>
                <a:gd name="T41" fmla="*/ 66 h 66"/>
                <a:gd name="T42" fmla="*/ 58 w 64"/>
                <a:gd name="T43" fmla="*/ 66 h 66"/>
                <a:gd name="T44" fmla="*/ 58 w 64"/>
                <a:gd name="T45" fmla="*/ 66 h 66"/>
                <a:gd name="T46" fmla="*/ 62 w 64"/>
                <a:gd name="T47" fmla="*/ 64 h 66"/>
                <a:gd name="T48" fmla="*/ 64 w 64"/>
                <a:gd name="T49" fmla="*/ 60 h 66"/>
                <a:gd name="T50" fmla="*/ 64 w 64"/>
                <a:gd name="T51" fmla="*/ 6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4" h="66">
                  <a:moveTo>
                    <a:pt x="64" y="60"/>
                  </a:moveTo>
                  <a:lnTo>
                    <a:pt x="64" y="44"/>
                  </a:lnTo>
                  <a:lnTo>
                    <a:pt x="52" y="46"/>
                  </a:lnTo>
                  <a:lnTo>
                    <a:pt x="52" y="52"/>
                  </a:lnTo>
                  <a:lnTo>
                    <a:pt x="14" y="52"/>
                  </a:lnTo>
                  <a:lnTo>
                    <a:pt x="14" y="14"/>
                  </a:lnTo>
                  <a:lnTo>
                    <a:pt x="52" y="14"/>
                  </a:lnTo>
                  <a:lnTo>
                    <a:pt x="52" y="20"/>
                  </a:lnTo>
                  <a:lnTo>
                    <a:pt x="64" y="22"/>
                  </a:lnTo>
                  <a:lnTo>
                    <a:pt x="64" y="8"/>
                  </a:lnTo>
                  <a:lnTo>
                    <a:pt x="64" y="8"/>
                  </a:lnTo>
                  <a:lnTo>
                    <a:pt x="62" y="2"/>
                  </a:lnTo>
                  <a:lnTo>
                    <a:pt x="58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2" y="2"/>
                  </a:lnTo>
                  <a:lnTo>
                    <a:pt x="0" y="8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2" y="64"/>
                  </a:lnTo>
                  <a:lnTo>
                    <a:pt x="8" y="66"/>
                  </a:lnTo>
                  <a:lnTo>
                    <a:pt x="58" y="66"/>
                  </a:lnTo>
                  <a:lnTo>
                    <a:pt x="58" y="66"/>
                  </a:lnTo>
                  <a:lnTo>
                    <a:pt x="62" y="64"/>
                  </a:lnTo>
                  <a:lnTo>
                    <a:pt x="64" y="60"/>
                  </a:lnTo>
                  <a:lnTo>
                    <a:pt x="64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196850" y="3897313"/>
              <a:ext cx="101600" cy="104775"/>
            </a:xfrm>
            <a:custGeom>
              <a:avLst/>
              <a:gdLst>
                <a:gd name="T0" fmla="*/ 64 w 64"/>
                <a:gd name="T1" fmla="*/ 60 h 66"/>
                <a:gd name="T2" fmla="*/ 64 w 64"/>
                <a:gd name="T3" fmla="*/ 0 h 66"/>
                <a:gd name="T4" fmla="*/ 50 w 64"/>
                <a:gd name="T5" fmla="*/ 0 h 66"/>
                <a:gd name="T6" fmla="*/ 50 w 64"/>
                <a:gd name="T7" fmla="*/ 52 h 66"/>
                <a:gd name="T8" fmla="*/ 12 w 64"/>
                <a:gd name="T9" fmla="*/ 52 h 66"/>
                <a:gd name="T10" fmla="*/ 12 w 64"/>
                <a:gd name="T11" fmla="*/ 0 h 66"/>
                <a:gd name="T12" fmla="*/ 0 w 64"/>
                <a:gd name="T13" fmla="*/ 0 h 66"/>
                <a:gd name="T14" fmla="*/ 0 w 64"/>
                <a:gd name="T15" fmla="*/ 60 h 66"/>
                <a:gd name="T16" fmla="*/ 0 w 64"/>
                <a:gd name="T17" fmla="*/ 60 h 66"/>
                <a:gd name="T18" fmla="*/ 2 w 64"/>
                <a:gd name="T19" fmla="*/ 64 h 66"/>
                <a:gd name="T20" fmla="*/ 6 w 64"/>
                <a:gd name="T21" fmla="*/ 66 h 66"/>
                <a:gd name="T22" fmla="*/ 56 w 64"/>
                <a:gd name="T23" fmla="*/ 66 h 66"/>
                <a:gd name="T24" fmla="*/ 56 w 64"/>
                <a:gd name="T25" fmla="*/ 66 h 66"/>
                <a:gd name="T26" fmla="*/ 62 w 64"/>
                <a:gd name="T27" fmla="*/ 64 h 66"/>
                <a:gd name="T28" fmla="*/ 64 w 64"/>
                <a:gd name="T29" fmla="*/ 60 h 66"/>
                <a:gd name="T30" fmla="*/ 64 w 64"/>
                <a:gd name="T31" fmla="*/ 6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" h="66">
                  <a:moveTo>
                    <a:pt x="64" y="60"/>
                  </a:moveTo>
                  <a:lnTo>
                    <a:pt x="64" y="0"/>
                  </a:lnTo>
                  <a:lnTo>
                    <a:pt x="50" y="0"/>
                  </a:lnTo>
                  <a:lnTo>
                    <a:pt x="50" y="52"/>
                  </a:lnTo>
                  <a:lnTo>
                    <a:pt x="12" y="5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2" y="64"/>
                  </a:lnTo>
                  <a:lnTo>
                    <a:pt x="6" y="66"/>
                  </a:lnTo>
                  <a:lnTo>
                    <a:pt x="56" y="66"/>
                  </a:lnTo>
                  <a:lnTo>
                    <a:pt x="56" y="66"/>
                  </a:lnTo>
                  <a:lnTo>
                    <a:pt x="62" y="64"/>
                  </a:lnTo>
                  <a:lnTo>
                    <a:pt x="64" y="60"/>
                  </a:lnTo>
                  <a:lnTo>
                    <a:pt x="64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333375" y="3897313"/>
              <a:ext cx="101600" cy="104775"/>
            </a:xfrm>
            <a:custGeom>
              <a:avLst/>
              <a:gdLst>
                <a:gd name="T0" fmla="*/ 64 w 64"/>
                <a:gd name="T1" fmla="*/ 60 h 66"/>
                <a:gd name="T2" fmla="*/ 64 w 64"/>
                <a:gd name="T3" fmla="*/ 34 h 66"/>
                <a:gd name="T4" fmla="*/ 64 w 64"/>
                <a:gd name="T5" fmla="*/ 34 h 66"/>
                <a:gd name="T6" fmla="*/ 62 w 64"/>
                <a:gd name="T7" fmla="*/ 28 h 66"/>
                <a:gd name="T8" fmla="*/ 58 w 64"/>
                <a:gd name="T9" fmla="*/ 26 h 66"/>
                <a:gd name="T10" fmla="*/ 12 w 64"/>
                <a:gd name="T11" fmla="*/ 26 h 66"/>
                <a:gd name="T12" fmla="*/ 12 w 64"/>
                <a:gd name="T13" fmla="*/ 14 h 66"/>
                <a:gd name="T14" fmla="*/ 52 w 64"/>
                <a:gd name="T15" fmla="*/ 14 h 66"/>
                <a:gd name="T16" fmla="*/ 52 w 64"/>
                <a:gd name="T17" fmla="*/ 20 h 66"/>
                <a:gd name="T18" fmla="*/ 64 w 64"/>
                <a:gd name="T19" fmla="*/ 22 h 66"/>
                <a:gd name="T20" fmla="*/ 64 w 64"/>
                <a:gd name="T21" fmla="*/ 8 h 66"/>
                <a:gd name="T22" fmla="*/ 64 w 64"/>
                <a:gd name="T23" fmla="*/ 8 h 66"/>
                <a:gd name="T24" fmla="*/ 62 w 64"/>
                <a:gd name="T25" fmla="*/ 2 h 66"/>
                <a:gd name="T26" fmla="*/ 58 w 64"/>
                <a:gd name="T27" fmla="*/ 0 h 66"/>
                <a:gd name="T28" fmla="*/ 6 w 64"/>
                <a:gd name="T29" fmla="*/ 0 h 66"/>
                <a:gd name="T30" fmla="*/ 6 w 64"/>
                <a:gd name="T31" fmla="*/ 0 h 66"/>
                <a:gd name="T32" fmla="*/ 2 w 64"/>
                <a:gd name="T33" fmla="*/ 2 h 66"/>
                <a:gd name="T34" fmla="*/ 0 w 64"/>
                <a:gd name="T35" fmla="*/ 8 h 66"/>
                <a:gd name="T36" fmla="*/ 0 w 64"/>
                <a:gd name="T37" fmla="*/ 32 h 66"/>
                <a:gd name="T38" fmla="*/ 0 w 64"/>
                <a:gd name="T39" fmla="*/ 32 h 66"/>
                <a:gd name="T40" fmla="*/ 2 w 64"/>
                <a:gd name="T41" fmla="*/ 38 h 66"/>
                <a:gd name="T42" fmla="*/ 6 w 64"/>
                <a:gd name="T43" fmla="*/ 40 h 66"/>
                <a:gd name="T44" fmla="*/ 52 w 64"/>
                <a:gd name="T45" fmla="*/ 40 h 66"/>
                <a:gd name="T46" fmla="*/ 52 w 64"/>
                <a:gd name="T47" fmla="*/ 52 h 66"/>
                <a:gd name="T48" fmla="*/ 12 w 64"/>
                <a:gd name="T49" fmla="*/ 52 h 66"/>
                <a:gd name="T50" fmla="*/ 12 w 64"/>
                <a:gd name="T51" fmla="*/ 46 h 66"/>
                <a:gd name="T52" fmla="*/ 0 w 64"/>
                <a:gd name="T53" fmla="*/ 44 h 66"/>
                <a:gd name="T54" fmla="*/ 0 w 64"/>
                <a:gd name="T55" fmla="*/ 60 h 66"/>
                <a:gd name="T56" fmla="*/ 0 w 64"/>
                <a:gd name="T57" fmla="*/ 60 h 66"/>
                <a:gd name="T58" fmla="*/ 2 w 64"/>
                <a:gd name="T59" fmla="*/ 64 h 66"/>
                <a:gd name="T60" fmla="*/ 6 w 64"/>
                <a:gd name="T61" fmla="*/ 66 h 66"/>
                <a:gd name="T62" fmla="*/ 58 w 64"/>
                <a:gd name="T63" fmla="*/ 66 h 66"/>
                <a:gd name="T64" fmla="*/ 58 w 64"/>
                <a:gd name="T65" fmla="*/ 66 h 66"/>
                <a:gd name="T66" fmla="*/ 62 w 64"/>
                <a:gd name="T67" fmla="*/ 64 h 66"/>
                <a:gd name="T68" fmla="*/ 64 w 64"/>
                <a:gd name="T69" fmla="*/ 60 h 66"/>
                <a:gd name="T70" fmla="*/ 64 w 64"/>
                <a:gd name="T71" fmla="*/ 6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4" h="66">
                  <a:moveTo>
                    <a:pt x="64" y="60"/>
                  </a:moveTo>
                  <a:lnTo>
                    <a:pt x="64" y="34"/>
                  </a:lnTo>
                  <a:lnTo>
                    <a:pt x="64" y="34"/>
                  </a:lnTo>
                  <a:lnTo>
                    <a:pt x="62" y="28"/>
                  </a:lnTo>
                  <a:lnTo>
                    <a:pt x="58" y="26"/>
                  </a:lnTo>
                  <a:lnTo>
                    <a:pt x="12" y="26"/>
                  </a:lnTo>
                  <a:lnTo>
                    <a:pt x="12" y="14"/>
                  </a:lnTo>
                  <a:lnTo>
                    <a:pt x="52" y="14"/>
                  </a:lnTo>
                  <a:lnTo>
                    <a:pt x="52" y="20"/>
                  </a:lnTo>
                  <a:lnTo>
                    <a:pt x="64" y="22"/>
                  </a:lnTo>
                  <a:lnTo>
                    <a:pt x="64" y="8"/>
                  </a:lnTo>
                  <a:lnTo>
                    <a:pt x="64" y="8"/>
                  </a:lnTo>
                  <a:lnTo>
                    <a:pt x="62" y="2"/>
                  </a:lnTo>
                  <a:lnTo>
                    <a:pt x="58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2" y="2"/>
                  </a:lnTo>
                  <a:lnTo>
                    <a:pt x="0" y="8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2" y="38"/>
                  </a:lnTo>
                  <a:lnTo>
                    <a:pt x="6" y="40"/>
                  </a:lnTo>
                  <a:lnTo>
                    <a:pt x="52" y="40"/>
                  </a:lnTo>
                  <a:lnTo>
                    <a:pt x="52" y="52"/>
                  </a:lnTo>
                  <a:lnTo>
                    <a:pt x="12" y="52"/>
                  </a:lnTo>
                  <a:lnTo>
                    <a:pt x="12" y="46"/>
                  </a:lnTo>
                  <a:lnTo>
                    <a:pt x="0" y="44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2" y="64"/>
                  </a:lnTo>
                  <a:lnTo>
                    <a:pt x="6" y="66"/>
                  </a:lnTo>
                  <a:lnTo>
                    <a:pt x="58" y="66"/>
                  </a:lnTo>
                  <a:lnTo>
                    <a:pt x="58" y="66"/>
                  </a:lnTo>
                  <a:lnTo>
                    <a:pt x="62" y="64"/>
                  </a:lnTo>
                  <a:lnTo>
                    <a:pt x="64" y="60"/>
                  </a:lnTo>
                  <a:lnTo>
                    <a:pt x="64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 noEditPoints="1"/>
            </p:cNvSpPr>
            <p:nvPr userDrawn="1"/>
          </p:nvSpPr>
          <p:spPr bwMode="auto">
            <a:xfrm>
              <a:off x="460375" y="3757613"/>
              <a:ext cx="44450" cy="44450"/>
            </a:xfrm>
            <a:custGeom>
              <a:avLst/>
              <a:gdLst>
                <a:gd name="T0" fmla="*/ 14 w 28"/>
                <a:gd name="T1" fmla="*/ 28 h 28"/>
                <a:gd name="T2" fmla="*/ 4 w 28"/>
                <a:gd name="T3" fmla="*/ 24 h 28"/>
                <a:gd name="T4" fmla="*/ 0 w 28"/>
                <a:gd name="T5" fmla="*/ 14 h 28"/>
                <a:gd name="T6" fmla="*/ 0 w 28"/>
                <a:gd name="T7" fmla="*/ 8 h 28"/>
                <a:gd name="T8" fmla="*/ 8 w 28"/>
                <a:gd name="T9" fmla="*/ 0 h 28"/>
                <a:gd name="T10" fmla="*/ 14 w 28"/>
                <a:gd name="T11" fmla="*/ 0 h 28"/>
                <a:gd name="T12" fmla="*/ 24 w 28"/>
                <a:gd name="T13" fmla="*/ 4 h 28"/>
                <a:gd name="T14" fmla="*/ 28 w 28"/>
                <a:gd name="T15" fmla="*/ 14 h 28"/>
                <a:gd name="T16" fmla="*/ 26 w 28"/>
                <a:gd name="T17" fmla="*/ 18 h 28"/>
                <a:gd name="T18" fmla="*/ 18 w 28"/>
                <a:gd name="T19" fmla="*/ 26 h 28"/>
                <a:gd name="T20" fmla="*/ 14 w 28"/>
                <a:gd name="T21" fmla="*/ 28 h 28"/>
                <a:gd name="T22" fmla="*/ 14 w 28"/>
                <a:gd name="T23" fmla="*/ 0 h 28"/>
                <a:gd name="T24" fmla="*/ 4 w 28"/>
                <a:gd name="T25" fmla="*/ 4 h 28"/>
                <a:gd name="T26" fmla="*/ 0 w 28"/>
                <a:gd name="T27" fmla="*/ 14 h 28"/>
                <a:gd name="T28" fmla="*/ 2 w 28"/>
                <a:gd name="T29" fmla="*/ 18 h 28"/>
                <a:gd name="T30" fmla="*/ 8 w 28"/>
                <a:gd name="T31" fmla="*/ 24 h 28"/>
                <a:gd name="T32" fmla="*/ 14 w 28"/>
                <a:gd name="T33" fmla="*/ 26 h 28"/>
                <a:gd name="T34" fmla="*/ 22 w 28"/>
                <a:gd name="T35" fmla="*/ 22 h 28"/>
                <a:gd name="T36" fmla="*/ 26 w 28"/>
                <a:gd name="T37" fmla="*/ 14 h 28"/>
                <a:gd name="T38" fmla="*/ 24 w 28"/>
                <a:gd name="T39" fmla="*/ 8 h 28"/>
                <a:gd name="T40" fmla="*/ 18 w 28"/>
                <a:gd name="T41" fmla="*/ 2 h 28"/>
                <a:gd name="T42" fmla="*/ 14 w 28"/>
                <a:gd name="T43" fmla="*/ 0 h 28"/>
                <a:gd name="T44" fmla="*/ 14 w 28"/>
                <a:gd name="T45" fmla="*/ 14 h 28"/>
                <a:gd name="T46" fmla="*/ 10 w 28"/>
                <a:gd name="T47" fmla="*/ 22 h 28"/>
                <a:gd name="T48" fmla="*/ 8 w 28"/>
                <a:gd name="T49" fmla="*/ 4 h 28"/>
                <a:gd name="T50" fmla="*/ 14 w 28"/>
                <a:gd name="T51" fmla="*/ 4 h 28"/>
                <a:gd name="T52" fmla="*/ 18 w 28"/>
                <a:gd name="T53" fmla="*/ 10 h 28"/>
                <a:gd name="T54" fmla="*/ 18 w 28"/>
                <a:gd name="T55" fmla="*/ 12 h 28"/>
                <a:gd name="T56" fmla="*/ 18 w 28"/>
                <a:gd name="T57" fmla="*/ 22 h 28"/>
                <a:gd name="T58" fmla="*/ 10 w 28"/>
                <a:gd name="T59" fmla="*/ 12 h 28"/>
                <a:gd name="T60" fmla="*/ 14 w 28"/>
                <a:gd name="T61" fmla="*/ 12 h 28"/>
                <a:gd name="T62" fmla="*/ 16 w 28"/>
                <a:gd name="T63" fmla="*/ 10 h 28"/>
                <a:gd name="T64" fmla="*/ 16 w 28"/>
                <a:gd name="T65" fmla="*/ 8 h 28"/>
                <a:gd name="T66" fmla="*/ 10 w 28"/>
                <a:gd name="T6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8" h="28">
                  <a:moveTo>
                    <a:pt x="14" y="28"/>
                  </a:moveTo>
                  <a:lnTo>
                    <a:pt x="14" y="28"/>
                  </a:lnTo>
                  <a:lnTo>
                    <a:pt x="8" y="26"/>
                  </a:lnTo>
                  <a:lnTo>
                    <a:pt x="4" y="24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0" y="8"/>
                  </a:lnTo>
                  <a:lnTo>
                    <a:pt x="4" y="4"/>
                  </a:lnTo>
                  <a:lnTo>
                    <a:pt x="8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24" y="4"/>
                  </a:lnTo>
                  <a:lnTo>
                    <a:pt x="26" y="8"/>
                  </a:lnTo>
                  <a:lnTo>
                    <a:pt x="28" y="14"/>
                  </a:lnTo>
                  <a:lnTo>
                    <a:pt x="28" y="14"/>
                  </a:lnTo>
                  <a:lnTo>
                    <a:pt x="26" y="18"/>
                  </a:lnTo>
                  <a:lnTo>
                    <a:pt x="24" y="24"/>
                  </a:lnTo>
                  <a:lnTo>
                    <a:pt x="18" y="26"/>
                  </a:lnTo>
                  <a:lnTo>
                    <a:pt x="14" y="28"/>
                  </a:lnTo>
                  <a:lnTo>
                    <a:pt x="14" y="28"/>
                  </a:lnTo>
                  <a:close/>
                  <a:moveTo>
                    <a:pt x="14" y="0"/>
                  </a:moveTo>
                  <a:lnTo>
                    <a:pt x="14" y="0"/>
                  </a:lnTo>
                  <a:lnTo>
                    <a:pt x="8" y="2"/>
                  </a:lnTo>
                  <a:lnTo>
                    <a:pt x="4" y="4"/>
                  </a:lnTo>
                  <a:lnTo>
                    <a:pt x="2" y="8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2" y="18"/>
                  </a:lnTo>
                  <a:lnTo>
                    <a:pt x="4" y="22"/>
                  </a:lnTo>
                  <a:lnTo>
                    <a:pt x="8" y="24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18" y="24"/>
                  </a:lnTo>
                  <a:lnTo>
                    <a:pt x="22" y="22"/>
                  </a:lnTo>
                  <a:lnTo>
                    <a:pt x="24" y="18"/>
                  </a:lnTo>
                  <a:lnTo>
                    <a:pt x="26" y="14"/>
                  </a:lnTo>
                  <a:lnTo>
                    <a:pt x="26" y="14"/>
                  </a:lnTo>
                  <a:lnTo>
                    <a:pt x="24" y="8"/>
                  </a:lnTo>
                  <a:lnTo>
                    <a:pt x="22" y="4"/>
                  </a:lnTo>
                  <a:lnTo>
                    <a:pt x="18" y="2"/>
                  </a:lnTo>
                  <a:lnTo>
                    <a:pt x="14" y="0"/>
                  </a:lnTo>
                  <a:lnTo>
                    <a:pt x="14" y="0"/>
                  </a:lnTo>
                  <a:close/>
                  <a:moveTo>
                    <a:pt x="16" y="22"/>
                  </a:moveTo>
                  <a:lnTo>
                    <a:pt x="14" y="14"/>
                  </a:lnTo>
                  <a:lnTo>
                    <a:pt x="10" y="14"/>
                  </a:lnTo>
                  <a:lnTo>
                    <a:pt x="10" y="22"/>
                  </a:lnTo>
                  <a:lnTo>
                    <a:pt x="8" y="22"/>
                  </a:lnTo>
                  <a:lnTo>
                    <a:pt x="8" y="4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8" y="6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8" y="12"/>
                  </a:lnTo>
                  <a:lnTo>
                    <a:pt x="16" y="14"/>
                  </a:lnTo>
                  <a:lnTo>
                    <a:pt x="18" y="22"/>
                  </a:lnTo>
                  <a:lnTo>
                    <a:pt x="16" y="22"/>
                  </a:lnTo>
                  <a:close/>
                  <a:moveTo>
                    <a:pt x="10" y="12"/>
                  </a:moveTo>
                  <a:lnTo>
                    <a:pt x="14" y="12"/>
                  </a:lnTo>
                  <a:lnTo>
                    <a:pt x="14" y="12"/>
                  </a:lnTo>
                  <a:lnTo>
                    <a:pt x="16" y="12"/>
                  </a:lnTo>
                  <a:lnTo>
                    <a:pt x="16" y="10"/>
                  </a:lnTo>
                  <a:lnTo>
                    <a:pt x="16" y="10"/>
                  </a:lnTo>
                  <a:lnTo>
                    <a:pt x="16" y="8"/>
                  </a:lnTo>
                  <a:lnTo>
                    <a:pt x="12" y="6"/>
                  </a:lnTo>
                  <a:lnTo>
                    <a:pt x="10" y="6"/>
                  </a:lnTo>
                  <a:lnTo>
                    <a:pt x="1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2716506"/>
            <a:ext cx="10579609" cy="1645920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1" y="4370403"/>
            <a:ext cx="10579609" cy="861862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920537" y="5279568"/>
            <a:ext cx="4007404" cy="836319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00050" indent="0">
              <a:buNone/>
              <a:defRPr>
                <a:solidFill>
                  <a:schemeClr val="bg1"/>
                </a:solidFill>
              </a:defRPr>
            </a:lvl3pPr>
            <a:lvl4pPr marL="571500" indent="0">
              <a:buNone/>
              <a:defRPr>
                <a:solidFill>
                  <a:schemeClr val="bg1"/>
                </a:solidFill>
              </a:defRPr>
            </a:lvl4pPr>
            <a:lvl5pPr marL="74295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2"/>
            <a:ext cx="12191996" cy="6857998"/>
          </a:xfrm>
          <a:prstGeom prst="rect">
            <a:avLst/>
          </a:prstGeom>
        </p:spPr>
      </p:pic>
      <p:grpSp>
        <p:nvGrpSpPr>
          <p:cNvPr id="9" name="Group 8"/>
          <p:cNvGrpSpPr/>
          <p:nvPr userDrawn="1"/>
        </p:nvGrpSpPr>
        <p:grpSpPr>
          <a:xfrm>
            <a:off x="1048005" y="766395"/>
            <a:ext cx="1930326" cy="467406"/>
            <a:chOff x="-504825" y="3757613"/>
            <a:chExt cx="1009650" cy="244475"/>
          </a:xfrm>
          <a:solidFill>
            <a:schemeClr val="bg1"/>
          </a:solidFill>
        </p:grpSpPr>
        <p:sp>
          <p:nvSpPr>
            <p:cNvPr id="10" name="Freeform 5"/>
            <p:cNvSpPr>
              <a:spLocks/>
            </p:cNvSpPr>
            <p:nvPr userDrawn="1"/>
          </p:nvSpPr>
          <p:spPr bwMode="auto">
            <a:xfrm>
              <a:off x="-504825" y="3808413"/>
              <a:ext cx="193675" cy="193675"/>
            </a:xfrm>
            <a:custGeom>
              <a:avLst/>
              <a:gdLst>
                <a:gd name="T0" fmla="*/ 0 w 122"/>
                <a:gd name="T1" fmla="*/ 122 h 122"/>
                <a:gd name="T2" fmla="*/ 0 w 122"/>
                <a:gd name="T3" fmla="*/ 0 h 122"/>
                <a:gd name="T4" fmla="*/ 30 w 122"/>
                <a:gd name="T5" fmla="*/ 0 h 122"/>
                <a:gd name="T6" fmla="*/ 30 w 122"/>
                <a:gd name="T7" fmla="*/ 92 h 122"/>
                <a:gd name="T8" fmla="*/ 122 w 122"/>
                <a:gd name="T9" fmla="*/ 92 h 122"/>
                <a:gd name="T10" fmla="*/ 122 w 122"/>
                <a:gd name="T11" fmla="*/ 122 h 122"/>
                <a:gd name="T12" fmla="*/ 0 w 122"/>
                <a:gd name="T13" fmla="*/ 122 h 122"/>
                <a:gd name="T14" fmla="*/ 0 w 122"/>
                <a:gd name="T15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2">
                  <a:moveTo>
                    <a:pt x="0" y="122"/>
                  </a:moveTo>
                  <a:lnTo>
                    <a:pt x="0" y="0"/>
                  </a:lnTo>
                  <a:lnTo>
                    <a:pt x="30" y="0"/>
                  </a:lnTo>
                  <a:lnTo>
                    <a:pt x="30" y="92"/>
                  </a:lnTo>
                  <a:lnTo>
                    <a:pt x="122" y="92"/>
                  </a:lnTo>
                  <a:lnTo>
                    <a:pt x="122" y="122"/>
                  </a:lnTo>
                  <a:lnTo>
                    <a:pt x="0" y="122"/>
                  </a:lnTo>
                  <a:lnTo>
                    <a:pt x="0" y="1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6"/>
            <p:cNvSpPr>
              <a:spLocks/>
            </p:cNvSpPr>
            <p:nvPr userDrawn="1"/>
          </p:nvSpPr>
          <p:spPr bwMode="auto">
            <a:xfrm>
              <a:off x="-457200" y="3763963"/>
              <a:ext cx="193675" cy="190500"/>
            </a:xfrm>
            <a:custGeom>
              <a:avLst/>
              <a:gdLst>
                <a:gd name="T0" fmla="*/ 0 w 122"/>
                <a:gd name="T1" fmla="*/ 28 h 120"/>
                <a:gd name="T2" fmla="*/ 0 w 122"/>
                <a:gd name="T3" fmla="*/ 0 h 120"/>
                <a:gd name="T4" fmla="*/ 122 w 122"/>
                <a:gd name="T5" fmla="*/ 0 h 120"/>
                <a:gd name="T6" fmla="*/ 122 w 122"/>
                <a:gd name="T7" fmla="*/ 120 h 120"/>
                <a:gd name="T8" fmla="*/ 92 w 122"/>
                <a:gd name="T9" fmla="*/ 120 h 120"/>
                <a:gd name="T10" fmla="*/ 92 w 122"/>
                <a:gd name="T11" fmla="*/ 28 h 120"/>
                <a:gd name="T12" fmla="*/ 0 w 122"/>
                <a:gd name="T13" fmla="*/ 28 h 120"/>
                <a:gd name="T14" fmla="*/ 0 w 122"/>
                <a:gd name="T15" fmla="*/ 2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0">
                  <a:moveTo>
                    <a:pt x="0" y="28"/>
                  </a:moveTo>
                  <a:lnTo>
                    <a:pt x="0" y="0"/>
                  </a:lnTo>
                  <a:lnTo>
                    <a:pt x="122" y="0"/>
                  </a:lnTo>
                  <a:lnTo>
                    <a:pt x="122" y="120"/>
                  </a:lnTo>
                  <a:lnTo>
                    <a:pt x="92" y="120"/>
                  </a:lnTo>
                  <a:lnTo>
                    <a:pt x="92" y="28"/>
                  </a:lnTo>
                  <a:lnTo>
                    <a:pt x="0" y="28"/>
                  </a:lnTo>
                  <a:lnTo>
                    <a:pt x="0" y="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-209550" y="3763963"/>
              <a:ext cx="111125" cy="101600"/>
            </a:xfrm>
            <a:custGeom>
              <a:avLst/>
              <a:gdLst>
                <a:gd name="T0" fmla="*/ 70 w 70"/>
                <a:gd name="T1" fmla="*/ 64 h 64"/>
                <a:gd name="T2" fmla="*/ 70 w 70"/>
                <a:gd name="T3" fmla="*/ 0 h 64"/>
                <a:gd name="T4" fmla="*/ 58 w 70"/>
                <a:gd name="T5" fmla="*/ 0 h 64"/>
                <a:gd name="T6" fmla="*/ 36 w 70"/>
                <a:gd name="T7" fmla="*/ 32 h 64"/>
                <a:gd name="T8" fmla="*/ 14 w 70"/>
                <a:gd name="T9" fmla="*/ 0 h 64"/>
                <a:gd name="T10" fmla="*/ 0 w 70"/>
                <a:gd name="T11" fmla="*/ 0 h 64"/>
                <a:gd name="T12" fmla="*/ 0 w 70"/>
                <a:gd name="T13" fmla="*/ 64 h 64"/>
                <a:gd name="T14" fmla="*/ 14 w 70"/>
                <a:gd name="T15" fmla="*/ 64 h 64"/>
                <a:gd name="T16" fmla="*/ 14 w 70"/>
                <a:gd name="T17" fmla="*/ 22 h 64"/>
                <a:gd name="T18" fmla="*/ 32 w 70"/>
                <a:gd name="T19" fmla="*/ 48 h 64"/>
                <a:gd name="T20" fmla="*/ 40 w 70"/>
                <a:gd name="T21" fmla="*/ 48 h 64"/>
                <a:gd name="T22" fmla="*/ 58 w 70"/>
                <a:gd name="T23" fmla="*/ 22 h 64"/>
                <a:gd name="T24" fmla="*/ 58 w 70"/>
                <a:gd name="T25" fmla="*/ 64 h 64"/>
                <a:gd name="T26" fmla="*/ 70 w 70"/>
                <a:gd name="T27" fmla="*/ 64 h 64"/>
                <a:gd name="T28" fmla="*/ 70 w 70"/>
                <a:gd name="T29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4">
                  <a:moveTo>
                    <a:pt x="70" y="64"/>
                  </a:moveTo>
                  <a:lnTo>
                    <a:pt x="70" y="0"/>
                  </a:lnTo>
                  <a:lnTo>
                    <a:pt x="58" y="0"/>
                  </a:lnTo>
                  <a:lnTo>
                    <a:pt x="36" y="32"/>
                  </a:lnTo>
                  <a:lnTo>
                    <a:pt x="14" y="0"/>
                  </a:lnTo>
                  <a:lnTo>
                    <a:pt x="0" y="0"/>
                  </a:lnTo>
                  <a:lnTo>
                    <a:pt x="0" y="64"/>
                  </a:lnTo>
                  <a:lnTo>
                    <a:pt x="14" y="64"/>
                  </a:lnTo>
                  <a:lnTo>
                    <a:pt x="14" y="22"/>
                  </a:lnTo>
                  <a:lnTo>
                    <a:pt x="32" y="48"/>
                  </a:lnTo>
                  <a:lnTo>
                    <a:pt x="40" y="48"/>
                  </a:lnTo>
                  <a:lnTo>
                    <a:pt x="58" y="22"/>
                  </a:lnTo>
                  <a:lnTo>
                    <a:pt x="58" y="64"/>
                  </a:lnTo>
                  <a:lnTo>
                    <a:pt x="70" y="64"/>
                  </a:lnTo>
                  <a:lnTo>
                    <a:pt x="70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-44450" y="3763963"/>
              <a:ext cx="19050" cy="101600"/>
            </a:xfrm>
            <a:custGeom>
              <a:avLst/>
              <a:gdLst>
                <a:gd name="T0" fmla="*/ 0 w 12"/>
                <a:gd name="T1" fmla="*/ 64 h 64"/>
                <a:gd name="T2" fmla="*/ 12 w 12"/>
                <a:gd name="T3" fmla="*/ 64 h 64"/>
                <a:gd name="T4" fmla="*/ 12 w 12"/>
                <a:gd name="T5" fmla="*/ 0 h 64"/>
                <a:gd name="T6" fmla="*/ 0 w 12"/>
                <a:gd name="T7" fmla="*/ 0 h 64"/>
                <a:gd name="T8" fmla="*/ 0 w 12"/>
                <a:gd name="T9" fmla="*/ 64 h 64"/>
                <a:gd name="T10" fmla="*/ 0 w 12"/>
                <a:gd name="T11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64">
                  <a:moveTo>
                    <a:pt x="0" y="64"/>
                  </a:moveTo>
                  <a:lnTo>
                    <a:pt x="12" y="64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64"/>
                  </a:lnTo>
                  <a:lnTo>
                    <a:pt x="0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28575" y="3763963"/>
              <a:ext cx="98425" cy="101600"/>
            </a:xfrm>
            <a:custGeom>
              <a:avLst/>
              <a:gdLst>
                <a:gd name="T0" fmla="*/ 62 w 62"/>
                <a:gd name="T1" fmla="*/ 58 h 64"/>
                <a:gd name="T2" fmla="*/ 62 w 62"/>
                <a:gd name="T3" fmla="*/ 44 h 64"/>
                <a:gd name="T4" fmla="*/ 50 w 62"/>
                <a:gd name="T5" fmla="*/ 44 h 64"/>
                <a:gd name="T6" fmla="*/ 50 w 62"/>
                <a:gd name="T7" fmla="*/ 52 h 64"/>
                <a:gd name="T8" fmla="*/ 12 w 62"/>
                <a:gd name="T9" fmla="*/ 52 h 64"/>
                <a:gd name="T10" fmla="*/ 12 w 62"/>
                <a:gd name="T11" fmla="*/ 12 h 64"/>
                <a:gd name="T12" fmla="*/ 50 w 62"/>
                <a:gd name="T13" fmla="*/ 12 h 64"/>
                <a:gd name="T14" fmla="*/ 50 w 62"/>
                <a:gd name="T15" fmla="*/ 18 h 64"/>
                <a:gd name="T16" fmla="*/ 62 w 62"/>
                <a:gd name="T17" fmla="*/ 20 h 64"/>
                <a:gd name="T18" fmla="*/ 62 w 62"/>
                <a:gd name="T19" fmla="*/ 6 h 64"/>
                <a:gd name="T20" fmla="*/ 62 w 62"/>
                <a:gd name="T21" fmla="*/ 6 h 64"/>
                <a:gd name="T22" fmla="*/ 62 w 62"/>
                <a:gd name="T23" fmla="*/ 0 h 64"/>
                <a:gd name="T24" fmla="*/ 56 w 62"/>
                <a:gd name="T25" fmla="*/ 0 h 64"/>
                <a:gd name="T26" fmla="*/ 6 w 62"/>
                <a:gd name="T27" fmla="*/ 0 h 64"/>
                <a:gd name="T28" fmla="*/ 6 w 62"/>
                <a:gd name="T29" fmla="*/ 0 h 64"/>
                <a:gd name="T30" fmla="*/ 0 w 62"/>
                <a:gd name="T31" fmla="*/ 0 h 64"/>
                <a:gd name="T32" fmla="*/ 0 w 62"/>
                <a:gd name="T33" fmla="*/ 6 h 64"/>
                <a:gd name="T34" fmla="*/ 0 w 62"/>
                <a:gd name="T35" fmla="*/ 58 h 64"/>
                <a:gd name="T36" fmla="*/ 0 w 62"/>
                <a:gd name="T37" fmla="*/ 58 h 64"/>
                <a:gd name="T38" fmla="*/ 0 w 62"/>
                <a:gd name="T39" fmla="*/ 62 h 64"/>
                <a:gd name="T40" fmla="*/ 6 w 62"/>
                <a:gd name="T41" fmla="*/ 64 h 64"/>
                <a:gd name="T42" fmla="*/ 56 w 62"/>
                <a:gd name="T43" fmla="*/ 64 h 64"/>
                <a:gd name="T44" fmla="*/ 56 w 62"/>
                <a:gd name="T45" fmla="*/ 64 h 64"/>
                <a:gd name="T46" fmla="*/ 62 w 62"/>
                <a:gd name="T47" fmla="*/ 62 h 64"/>
                <a:gd name="T48" fmla="*/ 62 w 62"/>
                <a:gd name="T49" fmla="*/ 58 h 64"/>
                <a:gd name="T50" fmla="*/ 62 w 62"/>
                <a:gd name="T51" fmla="*/ 5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2" h="64">
                  <a:moveTo>
                    <a:pt x="62" y="58"/>
                  </a:moveTo>
                  <a:lnTo>
                    <a:pt x="62" y="44"/>
                  </a:lnTo>
                  <a:lnTo>
                    <a:pt x="50" y="44"/>
                  </a:lnTo>
                  <a:lnTo>
                    <a:pt x="50" y="52"/>
                  </a:lnTo>
                  <a:lnTo>
                    <a:pt x="12" y="52"/>
                  </a:lnTo>
                  <a:lnTo>
                    <a:pt x="12" y="12"/>
                  </a:lnTo>
                  <a:lnTo>
                    <a:pt x="50" y="12"/>
                  </a:lnTo>
                  <a:lnTo>
                    <a:pt x="50" y="18"/>
                  </a:lnTo>
                  <a:lnTo>
                    <a:pt x="62" y="20"/>
                  </a:lnTo>
                  <a:lnTo>
                    <a:pt x="62" y="6"/>
                  </a:lnTo>
                  <a:lnTo>
                    <a:pt x="62" y="6"/>
                  </a:lnTo>
                  <a:lnTo>
                    <a:pt x="62" y="0"/>
                  </a:lnTo>
                  <a:lnTo>
                    <a:pt x="5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0" y="62"/>
                  </a:lnTo>
                  <a:lnTo>
                    <a:pt x="6" y="64"/>
                  </a:lnTo>
                  <a:lnTo>
                    <a:pt x="56" y="64"/>
                  </a:lnTo>
                  <a:lnTo>
                    <a:pt x="56" y="64"/>
                  </a:lnTo>
                  <a:lnTo>
                    <a:pt x="62" y="62"/>
                  </a:lnTo>
                  <a:lnTo>
                    <a:pt x="62" y="58"/>
                  </a:lnTo>
                  <a:lnTo>
                    <a:pt x="62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 noEditPoints="1"/>
            </p:cNvSpPr>
            <p:nvPr userDrawn="1"/>
          </p:nvSpPr>
          <p:spPr bwMode="auto">
            <a:xfrm>
              <a:off x="180975" y="3763963"/>
              <a:ext cx="101600" cy="101600"/>
            </a:xfrm>
            <a:custGeom>
              <a:avLst/>
              <a:gdLst>
                <a:gd name="T0" fmla="*/ 64 w 64"/>
                <a:gd name="T1" fmla="*/ 64 h 64"/>
                <a:gd name="T2" fmla="*/ 44 w 64"/>
                <a:gd name="T3" fmla="*/ 38 h 64"/>
                <a:gd name="T4" fmla="*/ 58 w 64"/>
                <a:gd name="T5" fmla="*/ 38 h 64"/>
                <a:gd name="T6" fmla="*/ 58 w 64"/>
                <a:gd name="T7" fmla="*/ 38 h 64"/>
                <a:gd name="T8" fmla="*/ 62 w 64"/>
                <a:gd name="T9" fmla="*/ 36 h 64"/>
                <a:gd name="T10" fmla="*/ 64 w 64"/>
                <a:gd name="T11" fmla="*/ 32 h 64"/>
                <a:gd name="T12" fmla="*/ 64 w 64"/>
                <a:gd name="T13" fmla="*/ 6 h 64"/>
                <a:gd name="T14" fmla="*/ 64 w 64"/>
                <a:gd name="T15" fmla="*/ 6 h 64"/>
                <a:gd name="T16" fmla="*/ 62 w 64"/>
                <a:gd name="T17" fmla="*/ 0 h 64"/>
                <a:gd name="T18" fmla="*/ 58 w 64"/>
                <a:gd name="T19" fmla="*/ 0 h 64"/>
                <a:gd name="T20" fmla="*/ 0 w 64"/>
                <a:gd name="T21" fmla="*/ 0 h 64"/>
                <a:gd name="T22" fmla="*/ 0 w 64"/>
                <a:gd name="T23" fmla="*/ 64 h 64"/>
                <a:gd name="T24" fmla="*/ 12 w 64"/>
                <a:gd name="T25" fmla="*/ 64 h 64"/>
                <a:gd name="T26" fmla="*/ 12 w 64"/>
                <a:gd name="T27" fmla="*/ 38 h 64"/>
                <a:gd name="T28" fmla="*/ 28 w 64"/>
                <a:gd name="T29" fmla="*/ 38 h 64"/>
                <a:gd name="T30" fmla="*/ 48 w 64"/>
                <a:gd name="T31" fmla="*/ 64 h 64"/>
                <a:gd name="T32" fmla="*/ 64 w 64"/>
                <a:gd name="T33" fmla="*/ 64 h 64"/>
                <a:gd name="T34" fmla="*/ 64 w 64"/>
                <a:gd name="T35" fmla="*/ 64 h 64"/>
                <a:gd name="T36" fmla="*/ 12 w 64"/>
                <a:gd name="T37" fmla="*/ 12 h 64"/>
                <a:gd name="T38" fmla="*/ 50 w 64"/>
                <a:gd name="T39" fmla="*/ 12 h 64"/>
                <a:gd name="T40" fmla="*/ 50 w 64"/>
                <a:gd name="T41" fmla="*/ 26 h 64"/>
                <a:gd name="T42" fmla="*/ 12 w 64"/>
                <a:gd name="T43" fmla="*/ 26 h 64"/>
                <a:gd name="T44" fmla="*/ 12 w 64"/>
                <a:gd name="T45" fmla="*/ 12 h 64"/>
                <a:gd name="T46" fmla="*/ 12 w 64"/>
                <a:gd name="T47" fmla="*/ 1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64">
                  <a:moveTo>
                    <a:pt x="64" y="64"/>
                  </a:moveTo>
                  <a:lnTo>
                    <a:pt x="44" y="38"/>
                  </a:lnTo>
                  <a:lnTo>
                    <a:pt x="58" y="38"/>
                  </a:lnTo>
                  <a:lnTo>
                    <a:pt x="58" y="38"/>
                  </a:lnTo>
                  <a:lnTo>
                    <a:pt x="62" y="36"/>
                  </a:lnTo>
                  <a:lnTo>
                    <a:pt x="64" y="32"/>
                  </a:lnTo>
                  <a:lnTo>
                    <a:pt x="64" y="6"/>
                  </a:lnTo>
                  <a:lnTo>
                    <a:pt x="64" y="6"/>
                  </a:lnTo>
                  <a:lnTo>
                    <a:pt x="62" y="0"/>
                  </a:lnTo>
                  <a:lnTo>
                    <a:pt x="58" y="0"/>
                  </a:lnTo>
                  <a:lnTo>
                    <a:pt x="0" y="0"/>
                  </a:lnTo>
                  <a:lnTo>
                    <a:pt x="0" y="64"/>
                  </a:lnTo>
                  <a:lnTo>
                    <a:pt x="12" y="64"/>
                  </a:lnTo>
                  <a:lnTo>
                    <a:pt x="12" y="38"/>
                  </a:lnTo>
                  <a:lnTo>
                    <a:pt x="28" y="38"/>
                  </a:lnTo>
                  <a:lnTo>
                    <a:pt x="48" y="64"/>
                  </a:lnTo>
                  <a:lnTo>
                    <a:pt x="64" y="64"/>
                  </a:lnTo>
                  <a:lnTo>
                    <a:pt x="64" y="64"/>
                  </a:lnTo>
                  <a:close/>
                  <a:moveTo>
                    <a:pt x="12" y="12"/>
                  </a:moveTo>
                  <a:lnTo>
                    <a:pt x="50" y="12"/>
                  </a:lnTo>
                  <a:lnTo>
                    <a:pt x="50" y="26"/>
                  </a:lnTo>
                  <a:lnTo>
                    <a:pt x="12" y="26"/>
                  </a:lnTo>
                  <a:lnTo>
                    <a:pt x="12" y="12"/>
                  </a:lnTo>
                  <a:lnTo>
                    <a:pt x="12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 noEditPoints="1"/>
            </p:cNvSpPr>
            <p:nvPr userDrawn="1"/>
          </p:nvSpPr>
          <p:spPr bwMode="auto">
            <a:xfrm>
              <a:off x="333375" y="3763963"/>
              <a:ext cx="101600" cy="101600"/>
            </a:xfrm>
            <a:custGeom>
              <a:avLst/>
              <a:gdLst>
                <a:gd name="T0" fmla="*/ 64 w 64"/>
                <a:gd name="T1" fmla="*/ 58 h 64"/>
                <a:gd name="T2" fmla="*/ 64 w 64"/>
                <a:gd name="T3" fmla="*/ 6 h 64"/>
                <a:gd name="T4" fmla="*/ 64 w 64"/>
                <a:gd name="T5" fmla="*/ 6 h 64"/>
                <a:gd name="T6" fmla="*/ 62 w 64"/>
                <a:gd name="T7" fmla="*/ 0 h 64"/>
                <a:gd name="T8" fmla="*/ 58 w 64"/>
                <a:gd name="T9" fmla="*/ 0 h 64"/>
                <a:gd name="T10" fmla="*/ 6 w 64"/>
                <a:gd name="T11" fmla="*/ 0 h 64"/>
                <a:gd name="T12" fmla="*/ 6 w 64"/>
                <a:gd name="T13" fmla="*/ 0 h 64"/>
                <a:gd name="T14" fmla="*/ 2 w 64"/>
                <a:gd name="T15" fmla="*/ 0 h 64"/>
                <a:gd name="T16" fmla="*/ 0 w 64"/>
                <a:gd name="T17" fmla="*/ 6 h 64"/>
                <a:gd name="T18" fmla="*/ 0 w 64"/>
                <a:gd name="T19" fmla="*/ 58 h 64"/>
                <a:gd name="T20" fmla="*/ 0 w 64"/>
                <a:gd name="T21" fmla="*/ 58 h 64"/>
                <a:gd name="T22" fmla="*/ 2 w 64"/>
                <a:gd name="T23" fmla="*/ 62 h 64"/>
                <a:gd name="T24" fmla="*/ 6 w 64"/>
                <a:gd name="T25" fmla="*/ 64 h 64"/>
                <a:gd name="T26" fmla="*/ 58 w 64"/>
                <a:gd name="T27" fmla="*/ 64 h 64"/>
                <a:gd name="T28" fmla="*/ 58 w 64"/>
                <a:gd name="T29" fmla="*/ 64 h 64"/>
                <a:gd name="T30" fmla="*/ 62 w 64"/>
                <a:gd name="T31" fmla="*/ 62 h 64"/>
                <a:gd name="T32" fmla="*/ 64 w 64"/>
                <a:gd name="T33" fmla="*/ 58 h 64"/>
                <a:gd name="T34" fmla="*/ 64 w 64"/>
                <a:gd name="T35" fmla="*/ 58 h 64"/>
                <a:gd name="T36" fmla="*/ 12 w 64"/>
                <a:gd name="T37" fmla="*/ 12 h 64"/>
                <a:gd name="T38" fmla="*/ 52 w 64"/>
                <a:gd name="T39" fmla="*/ 12 h 64"/>
                <a:gd name="T40" fmla="*/ 52 w 64"/>
                <a:gd name="T41" fmla="*/ 52 h 64"/>
                <a:gd name="T42" fmla="*/ 12 w 64"/>
                <a:gd name="T43" fmla="*/ 52 h 64"/>
                <a:gd name="T44" fmla="*/ 12 w 64"/>
                <a:gd name="T45" fmla="*/ 12 h 64"/>
                <a:gd name="T46" fmla="*/ 12 w 64"/>
                <a:gd name="T47" fmla="*/ 1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64">
                  <a:moveTo>
                    <a:pt x="64" y="58"/>
                  </a:moveTo>
                  <a:lnTo>
                    <a:pt x="64" y="6"/>
                  </a:lnTo>
                  <a:lnTo>
                    <a:pt x="64" y="6"/>
                  </a:lnTo>
                  <a:lnTo>
                    <a:pt x="62" y="0"/>
                  </a:lnTo>
                  <a:lnTo>
                    <a:pt x="58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2" y="0"/>
                  </a:lnTo>
                  <a:lnTo>
                    <a:pt x="0" y="6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2" y="62"/>
                  </a:lnTo>
                  <a:lnTo>
                    <a:pt x="6" y="64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2" y="62"/>
                  </a:lnTo>
                  <a:lnTo>
                    <a:pt x="64" y="58"/>
                  </a:lnTo>
                  <a:lnTo>
                    <a:pt x="64" y="58"/>
                  </a:lnTo>
                  <a:close/>
                  <a:moveTo>
                    <a:pt x="12" y="12"/>
                  </a:moveTo>
                  <a:lnTo>
                    <a:pt x="52" y="12"/>
                  </a:lnTo>
                  <a:lnTo>
                    <a:pt x="52" y="52"/>
                  </a:lnTo>
                  <a:lnTo>
                    <a:pt x="12" y="52"/>
                  </a:lnTo>
                  <a:lnTo>
                    <a:pt x="12" y="12"/>
                  </a:lnTo>
                  <a:lnTo>
                    <a:pt x="12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/>
            </p:cNvSpPr>
            <p:nvPr userDrawn="1"/>
          </p:nvSpPr>
          <p:spPr bwMode="auto">
            <a:xfrm>
              <a:off x="-209550" y="3897313"/>
              <a:ext cx="101600" cy="104775"/>
            </a:xfrm>
            <a:custGeom>
              <a:avLst/>
              <a:gdLst>
                <a:gd name="T0" fmla="*/ 64 w 64"/>
                <a:gd name="T1" fmla="*/ 14 h 66"/>
                <a:gd name="T2" fmla="*/ 64 w 64"/>
                <a:gd name="T3" fmla="*/ 0 h 66"/>
                <a:gd name="T4" fmla="*/ 0 w 64"/>
                <a:gd name="T5" fmla="*/ 0 h 66"/>
                <a:gd name="T6" fmla="*/ 0 w 64"/>
                <a:gd name="T7" fmla="*/ 66 h 66"/>
                <a:gd name="T8" fmla="*/ 14 w 64"/>
                <a:gd name="T9" fmla="*/ 66 h 66"/>
                <a:gd name="T10" fmla="*/ 14 w 64"/>
                <a:gd name="T11" fmla="*/ 40 h 66"/>
                <a:gd name="T12" fmla="*/ 52 w 64"/>
                <a:gd name="T13" fmla="*/ 40 h 66"/>
                <a:gd name="T14" fmla="*/ 52 w 64"/>
                <a:gd name="T15" fmla="*/ 26 h 66"/>
                <a:gd name="T16" fmla="*/ 14 w 64"/>
                <a:gd name="T17" fmla="*/ 26 h 66"/>
                <a:gd name="T18" fmla="*/ 14 w 64"/>
                <a:gd name="T19" fmla="*/ 14 h 66"/>
                <a:gd name="T20" fmla="*/ 64 w 64"/>
                <a:gd name="T21" fmla="*/ 14 h 66"/>
                <a:gd name="T22" fmla="*/ 64 w 64"/>
                <a:gd name="T23" fmla="*/ 1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4" h="66">
                  <a:moveTo>
                    <a:pt x="64" y="14"/>
                  </a:moveTo>
                  <a:lnTo>
                    <a:pt x="64" y="0"/>
                  </a:lnTo>
                  <a:lnTo>
                    <a:pt x="0" y="0"/>
                  </a:lnTo>
                  <a:lnTo>
                    <a:pt x="0" y="66"/>
                  </a:lnTo>
                  <a:lnTo>
                    <a:pt x="14" y="66"/>
                  </a:lnTo>
                  <a:lnTo>
                    <a:pt x="14" y="40"/>
                  </a:lnTo>
                  <a:lnTo>
                    <a:pt x="52" y="40"/>
                  </a:lnTo>
                  <a:lnTo>
                    <a:pt x="52" y="26"/>
                  </a:lnTo>
                  <a:lnTo>
                    <a:pt x="14" y="26"/>
                  </a:lnTo>
                  <a:lnTo>
                    <a:pt x="14" y="14"/>
                  </a:lnTo>
                  <a:lnTo>
                    <a:pt x="64" y="14"/>
                  </a:lnTo>
                  <a:lnTo>
                    <a:pt x="64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 noEditPoints="1"/>
            </p:cNvSpPr>
            <p:nvPr userDrawn="1"/>
          </p:nvSpPr>
          <p:spPr bwMode="auto">
            <a:xfrm>
              <a:off x="-79375" y="3897313"/>
              <a:ext cx="101600" cy="104775"/>
            </a:xfrm>
            <a:custGeom>
              <a:avLst/>
              <a:gdLst>
                <a:gd name="T0" fmla="*/ 64 w 64"/>
                <a:gd name="T1" fmla="*/ 60 h 66"/>
                <a:gd name="T2" fmla="*/ 64 w 64"/>
                <a:gd name="T3" fmla="*/ 8 h 66"/>
                <a:gd name="T4" fmla="*/ 64 w 64"/>
                <a:gd name="T5" fmla="*/ 8 h 66"/>
                <a:gd name="T6" fmla="*/ 62 w 64"/>
                <a:gd name="T7" fmla="*/ 2 h 66"/>
                <a:gd name="T8" fmla="*/ 58 w 64"/>
                <a:gd name="T9" fmla="*/ 0 h 66"/>
                <a:gd name="T10" fmla="*/ 6 w 64"/>
                <a:gd name="T11" fmla="*/ 0 h 66"/>
                <a:gd name="T12" fmla="*/ 6 w 64"/>
                <a:gd name="T13" fmla="*/ 0 h 66"/>
                <a:gd name="T14" fmla="*/ 2 w 64"/>
                <a:gd name="T15" fmla="*/ 2 h 66"/>
                <a:gd name="T16" fmla="*/ 0 w 64"/>
                <a:gd name="T17" fmla="*/ 8 h 66"/>
                <a:gd name="T18" fmla="*/ 0 w 64"/>
                <a:gd name="T19" fmla="*/ 60 h 66"/>
                <a:gd name="T20" fmla="*/ 0 w 64"/>
                <a:gd name="T21" fmla="*/ 60 h 66"/>
                <a:gd name="T22" fmla="*/ 2 w 64"/>
                <a:gd name="T23" fmla="*/ 64 h 66"/>
                <a:gd name="T24" fmla="*/ 6 w 64"/>
                <a:gd name="T25" fmla="*/ 66 h 66"/>
                <a:gd name="T26" fmla="*/ 58 w 64"/>
                <a:gd name="T27" fmla="*/ 66 h 66"/>
                <a:gd name="T28" fmla="*/ 58 w 64"/>
                <a:gd name="T29" fmla="*/ 66 h 66"/>
                <a:gd name="T30" fmla="*/ 62 w 64"/>
                <a:gd name="T31" fmla="*/ 64 h 66"/>
                <a:gd name="T32" fmla="*/ 64 w 64"/>
                <a:gd name="T33" fmla="*/ 60 h 66"/>
                <a:gd name="T34" fmla="*/ 64 w 64"/>
                <a:gd name="T35" fmla="*/ 60 h 66"/>
                <a:gd name="T36" fmla="*/ 12 w 64"/>
                <a:gd name="T37" fmla="*/ 14 h 66"/>
                <a:gd name="T38" fmla="*/ 52 w 64"/>
                <a:gd name="T39" fmla="*/ 14 h 66"/>
                <a:gd name="T40" fmla="*/ 52 w 64"/>
                <a:gd name="T41" fmla="*/ 52 h 66"/>
                <a:gd name="T42" fmla="*/ 12 w 64"/>
                <a:gd name="T43" fmla="*/ 52 h 66"/>
                <a:gd name="T44" fmla="*/ 12 w 64"/>
                <a:gd name="T45" fmla="*/ 14 h 66"/>
                <a:gd name="T46" fmla="*/ 12 w 64"/>
                <a:gd name="T47" fmla="*/ 1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66">
                  <a:moveTo>
                    <a:pt x="64" y="60"/>
                  </a:moveTo>
                  <a:lnTo>
                    <a:pt x="64" y="8"/>
                  </a:lnTo>
                  <a:lnTo>
                    <a:pt x="64" y="8"/>
                  </a:lnTo>
                  <a:lnTo>
                    <a:pt x="62" y="2"/>
                  </a:lnTo>
                  <a:lnTo>
                    <a:pt x="58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2" y="2"/>
                  </a:lnTo>
                  <a:lnTo>
                    <a:pt x="0" y="8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2" y="64"/>
                  </a:lnTo>
                  <a:lnTo>
                    <a:pt x="6" y="66"/>
                  </a:lnTo>
                  <a:lnTo>
                    <a:pt x="58" y="66"/>
                  </a:lnTo>
                  <a:lnTo>
                    <a:pt x="58" y="66"/>
                  </a:lnTo>
                  <a:lnTo>
                    <a:pt x="62" y="64"/>
                  </a:lnTo>
                  <a:lnTo>
                    <a:pt x="64" y="60"/>
                  </a:lnTo>
                  <a:lnTo>
                    <a:pt x="64" y="60"/>
                  </a:lnTo>
                  <a:close/>
                  <a:moveTo>
                    <a:pt x="12" y="14"/>
                  </a:moveTo>
                  <a:lnTo>
                    <a:pt x="52" y="14"/>
                  </a:lnTo>
                  <a:lnTo>
                    <a:pt x="52" y="52"/>
                  </a:lnTo>
                  <a:lnTo>
                    <a:pt x="12" y="52"/>
                  </a:lnTo>
                  <a:lnTo>
                    <a:pt x="12" y="14"/>
                  </a:lnTo>
                  <a:lnTo>
                    <a:pt x="12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57150" y="3897313"/>
              <a:ext cx="101600" cy="104775"/>
            </a:xfrm>
            <a:custGeom>
              <a:avLst/>
              <a:gdLst>
                <a:gd name="T0" fmla="*/ 64 w 64"/>
                <a:gd name="T1" fmla="*/ 60 h 66"/>
                <a:gd name="T2" fmla="*/ 64 w 64"/>
                <a:gd name="T3" fmla="*/ 44 h 66"/>
                <a:gd name="T4" fmla="*/ 52 w 64"/>
                <a:gd name="T5" fmla="*/ 46 h 66"/>
                <a:gd name="T6" fmla="*/ 52 w 64"/>
                <a:gd name="T7" fmla="*/ 52 h 66"/>
                <a:gd name="T8" fmla="*/ 14 w 64"/>
                <a:gd name="T9" fmla="*/ 52 h 66"/>
                <a:gd name="T10" fmla="*/ 14 w 64"/>
                <a:gd name="T11" fmla="*/ 14 h 66"/>
                <a:gd name="T12" fmla="*/ 52 w 64"/>
                <a:gd name="T13" fmla="*/ 14 h 66"/>
                <a:gd name="T14" fmla="*/ 52 w 64"/>
                <a:gd name="T15" fmla="*/ 20 h 66"/>
                <a:gd name="T16" fmla="*/ 64 w 64"/>
                <a:gd name="T17" fmla="*/ 22 h 66"/>
                <a:gd name="T18" fmla="*/ 64 w 64"/>
                <a:gd name="T19" fmla="*/ 8 h 66"/>
                <a:gd name="T20" fmla="*/ 64 w 64"/>
                <a:gd name="T21" fmla="*/ 8 h 66"/>
                <a:gd name="T22" fmla="*/ 62 w 64"/>
                <a:gd name="T23" fmla="*/ 2 h 66"/>
                <a:gd name="T24" fmla="*/ 58 w 64"/>
                <a:gd name="T25" fmla="*/ 0 h 66"/>
                <a:gd name="T26" fmla="*/ 8 w 64"/>
                <a:gd name="T27" fmla="*/ 0 h 66"/>
                <a:gd name="T28" fmla="*/ 8 w 64"/>
                <a:gd name="T29" fmla="*/ 0 h 66"/>
                <a:gd name="T30" fmla="*/ 2 w 64"/>
                <a:gd name="T31" fmla="*/ 2 h 66"/>
                <a:gd name="T32" fmla="*/ 0 w 64"/>
                <a:gd name="T33" fmla="*/ 8 h 66"/>
                <a:gd name="T34" fmla="*/ 0 w 64"/>
                <a:gd name="T35" fmla="*/ 60 h 66"/>
                <a:gd name="T36" fmla="*/ 0 w 64"/>
                <a:gd name="T37" fmla="*/ 60 h 66"/>
                <a:gd name="T38" fmla="*/ 2 w 64"/>
                <a:gd name="T39" fmla="*/ 64 h 66"/>
                <a:gd name="T40" fmla="*/ 8 w 64"/>
                <a:gd name="T41" fmla="*/ 66 h 66"/>
                <a:gd name="T42" fmla="*/ 58 w 64"/>
                <a:gd name="T43" fmla="*/ 66 h 66"/>
                <a:gd name="T44" fmla="*/ 58 w 64"/>
                <a:gd name="T45" fmla="*/ 66 h 66"/>
                <a:gd name="T46" fmla="*/ 62 w 64"/>
                <a:gd name="T47" fmla="*/ 64 h 66"/>
                <a:gd name="T48" fmla="*/ 64 w 64"/>
                <a:gd name="T49" fmla="*/ 60 h 66"/>
                <a:gd name="T50" fmla="*/ 64 w 64"/>
                <a:gd name="T51" fmla="*/ 6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4" h="66">
                  <a:moveTo>
                    <a:pt x="64" y="60"/>
                  </a:moveTo>
                  <a:lnTo>
                    <a:pt x="64" y="44"/>
                  </a:lnTo>
                  <a:lnTo>
                    <a:pt x="52" y="46"/>
                  </a:lnTo>
                  <a:lnTo>
                    <a:pt x="52" y="52"/>
                  </a:lnTo>
                  <a:lnTo>
                    <a:pt x="14" y="52"/>
                  </a:lnTo>
                  <a:lnTo>
                    <a:pt x="14" y="14"/>
                  </a:lnTo>
                  <a:lnTo>
                    <a:pt x="52" y="14"/>
                  </a:lnTo>
                  <a:lnTo>
                    <a:pt x="52" y="20"/>
                  </a:lnTo>
                  <a:lnTo>
                    <a:pt x="64" y="22"/>
                  </a:lnTo>
                  <a:lnTo>
                    <a:pt x="64" y="8"/>
                  </a:lnTo>
                  <a:lnTo>
                    <a:pt x="64" y="8"/>
                  </a:lnTo>
                  <a:lnTo>
                    <a:pt x="62" y="2"/>
                  </a:lnTo>
                  <a:lnTo>
                    <a:pt x="58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2" y="2"/>
                  </a:lnTo>
                  <a:lnTo>
                    <a:pt x="0" y="8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2" y="64"/>
                  </a:lnTo>
                  <a:lnTo>
                    <a:pt x="8" y="66"/>
                  </a:lnTo>
                  <a:lnTo>
                    <a:pt x="58" y="66"/>
                  </a:lnTo>
                  <a:lnTo>
                    <a:pt x="58" y="66"/>
                  </a:lnTo>
                  <a:lnTo>
                    <a:pt x="62" y="64"/>
                  </a:lnTo>
                  <a:lnTo>
                    <a:pt x="64" y="60"/>
                  </a:lnTo>
                  <a:lnTo>
                    <a:pt x="64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196850" y="3897313"/>
              <a:ext cx="101600" cy="104775"/>
            </a:xfrm>
            <a:custGeom>
              <a:avLst/>
              <a:gdLst>
                <a:gd name="T0" fmla="*/ 64 w 64"/>
                <a:gd name="T1" fmla="*/ 60 h 66"/>
                <a:gd name="T2" fmla="*/ 64 w 64"/>
                <a:gd name="T3" fmla="*/ 0 h 66"/>
                <a:gd name="T4" fmla="*/ 50 w 64"/>
                <a:gd name="T5" fmla="*/ 0 h 66"/>
                <a:gd name="T6" fmla="*/ 50 w 64"/>
                <a:gd name="T7" fmla="*/ 52 h 66"/>
                <a:gd name="T8" fmla="*/ 12 w 64"/>
                <a:gd name="T9" fmla="*/ 52 h 66"/>
                <a:gd name="T10" fmla="*/ 12 w 64"/>
                <a:gd name="T11" fmla="*/ 0 h 66"/>
                <a:gd name="T12" fmla="*/ 0 w 64"/>
                <a:gd name="T13" fmla="*/ 0 h 66"/>
                <a:gd name="T14" fmla="*/ 0 w 64"/>
                <a:gd name="T15" fmla="*/ 60 h 66"/>
                <a:gd name="T16" fmla="*/ 0 w 64"/>
                <a:gd name="T17" fmla="*/ 60 h 66"/>
                <a:gd name="T18" fmla="*/ 2 w 64"/>
                <a:gd name="T19" fmla="*/ 64 h 66"/>
                <a:gd name="T20" fmla="*/ 6 w 64"/>
                <a:gd name="T21" fmla="*/ 66 h 66"/>
                <a:gd name="T22" fmla="*/ 56 w 64"/>
                <a:gd name="T23" fmla="*/ 66 h 66"/>
                <a:gd name="T24" fmla="*/ 56 w 64"/>
                <a:gd name="T25" fmla="*/ 66 h 66"/>
                <a:gd name="T26" fmla="*/ 62 w 64"/>
                <a:gd name="T27" fmla="*/ 64 h 66"/>
                <a:gd name="T28" fmla="*/ 64 w 64"/>
                <a:gd name="T29" fmla="*/ 60 h 66"/>
                <a:gd name="T30" fmla="*/ 64 w 64"/>
                <a:gd name="T31" fmla="*/ 6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" h="66">
                  <a:moveTo>
                    <a:pt x="64" y="60"/>
                  </a:moveTo>
                  <a:lnTo>
                    <a:pt x="64" y="0"/>
                  </a:lnTo>
                  <a:lnTo>
                    <a:pt x="50" y="0"/>
                  </a:lnTo>
                  <a:lnTo>
                    <a:pt x="50" y="52"/>
                  </a:lnTo>
                  <a:lnTo>
                    <a:pt x="12" y="5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2" y="64"/>
                  </a:lnTo>
                  <a:lnTo>
                    <a:pt x="6" y="66"/>
                  </a:lnTo>
                  <a:lnTo>
                    <a:pt x="56" y="66"/>
                  </a:lnTo>
                  <a:lnTo>
                    <a:pt x="56" y="66"/>
                  </a:lnTo>
                  <a:lnTo>
                    <a:pt x="62" y="64"/>
                  </a:lnTo>
                  <a:lnTo>
                    <a:pt x="64" y="60"/>
                  </a:lnTo>
                  <a:lnTo>
                    <a:pt x="64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333375" y="3897313"/>
              <a:ext cx="101600" cy="104775"/>
            </a:xfrm>
            <a:custGeom>
              <a:avLst/>
              <a:gdLst>
                <a:gd name="T0" fmla="*/ 64 w 64"/>
                <a:gd name="T1" fmla="*/ 60 h 66"/>
                <a:gd name="T2" fmla="*/ 64 w 64"/>
                <a:gd name="T3" fmla="*/ 34 h 66"/>
                <a:gd name="T4" fmla="*/ 64 w 64"/>
                <a:gd name="T5" fmla="*/ 34 h 66"/>
                <a:gd name="T6" fmla="*/ 62 w 64"/>
                <a:gd name="T7" fmla="*/ 28 h 66"/>
                <a:gd name="T8" fmla="*/ 58 w 64"/>
                <a:gd name="T9" fmla="*/ 26 h 66"/>
                <a:gd name="T10" fmla="*/ 12 w 64"/>
                <a:gd name="T11" fmla="*/ 26 h 66"/>
                <a:gd name="T12" fmla="*/ 12 w 64"/>
                <a:gd name="T13" fmla="*/ 14 h 66"/>
                <a:gd name="T14" fmla="*/ 52 w 64"/>
                <a:gd name="T15" fmla="*/ 14 h 66"/>
                <a:gd name="T16" fmla="*/ 52 w 64"/>
                <a:gd name="T17" fmla="*/ 20 h 66"/>
                <a:gd name="T18" fmla="*/ 64 w 64"/>
                <a:gd name="T19" fmla="*/ 22 h 66"/>
                <a:gd name="T20" fmla="*/ 64 w 64"/>
                <a:gd name="T21" fmla="*/ 8 h 66"/>
                <a:gd name="T22" fmla="*/ 64 w 64"/>
                <a:gd name="T23" fmla="*/ 8 h 66"/>
                <a:gd name="T24" fmla="*/ 62 w 64"/>
                <a:gd name="T25" fmla="*/ 2 h 66"/>
                <a:gd name="T26" fmla="*/ 58 w 64"/>
                <a:gd name="T27" fmla="*/ 0 h 66"/>
                <a:gd name="T28" fmla="*/ 6 w 64"/>
                <a:gd name="T29" fmla="*/ 0 h 66"/>
                <a:gd name="T30" fmla="*/ 6 w 64"/>
                <a:gd name="T31" fmla="*/ 0 h 66"/>
                <a:gd name="T32" fmla="*/ 2 w 64"/>
                <a:gd name="T33" fmla="*/ 2 h 66"/>
                <a:gd name="T34" fmla="*/ 0 w 64"/>
                <a:gd name="T35" fmla="*/ 8 h 66"/>
                <a:gd name="T36" fmla="*/ 0 w 64"/>
                <a:gd name="T37" fmla="*/ 32 h 66"/>
                <a:gd name="T38" fmla="*/ 0 w 64"/>
                <a:gd name="T39" fmla="*/ 32 h 66"/>
                <a:gd name="T40" fmla="*/ 2 w 64"/>
                <a:gd name="T41" fmla="*/ 38 h 66"/>
                <a:gd name="T42" fmla="*/ 6 w 64"/>
                <a:gd name="T43" fmla="*/ 40 h 66"/>
                <a:gd name="T44" fmla="*/ 52 w 64"/>
                <a:gd name="T45" fmla="*/ 40 h 66"/>
                <a:gd name="T46" fmla="*/ 52 w 64"/>
                <a:gd name="T47" fmla="*/ 52 h 66"/>
                <a:gd name="T48" fmla="*/ 12 w 64"/>
                <a:gd name="T49" fmla="*/ 52 h 66"/>
                <a:gd name="T50" fmla="*/ 12 w 64"/>
                <a:gd name="T51" fmla="*/ 46 h 66"/>
                <a:gd name="T52" fmla="*/ 0 w 64"/>
                <a:gd name="T53" fmla="*/ 44 h 66"/>
                <a:gd name="T54" fmla="*/ 0 w 64"/>
                <a:gd name="T55" fmla="*/ 60 h 66"/>
                <a:gd name="T56" fmla="*/ 0 w 64"/>
                <a:gd name="T57" fmla="*/ 60 h 66"/>
                <a:gd name="T58" fmla="*/ 2 w 64"/>
                <a:gd name="T59" fmla="*/ 64 h 66"/>
                <a:gd name="T60" fmla="*/ 6 w 64"/>
                <a:gd name="T61" fmla="*/ 66 h 66"/>
                <a:gd name="T62" fmla="*/ 58 w 64"/>
                <a:gd name="T63" fmla="*/ 66 h 66"/>
                <a:gd name="T64" fmla="*/ 58 w 64"/>
                <a:gd name="T65" fmla="*/ 66 h 66"/>
                <a:gd name="T66" fmla="*/ 62 w 64"/>
                <a:gd name="T67" fmla="*/ 64 h 66"/>
                <a:gd name="T68" fmla="*/ 64 w 64"/>
                <a:gd name="T69" fmla="*/ 60 h 66"/>
                <a:gd name="T70" fmla="*/ 64 w 64"/>
                <a:gd name="T71" fmla="*/ 6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4" h="66">
                  <a:moveTo>
                    <a:pt x="64" y="60"/>
                  </a:moveTo>
                  <a:lnTo>
                    <a:pt x="64" y="34"/>
                  </a:lnTo>
                  <a:lnTo>
                    <a:pt x="64" y="34"/>
                  </a:lnTo>
                  <a:lnTo>
                    <a:pt x="62" y="28"/>
                  </a:lnTo>
                  <a:lnTo>
                    <a:pt x="58" y="26"/>
                  </a:lnTo>
                  <a:lnTo>
                    <a:pt x="12" y="26"/>
                  </a:lnTo>
                  <a:lnTo>
                    <a:pt x="12" y="14"/>
                  </a:lnTo>
                  <a:lnTo>
                    <a:pt x="52" y="14"/>
                  </a:lnTo>
                  <a:lnTo>
                    <a:pt x="52" y="20"/>
                  </a:lnTo>
                  <a:lnTo>
                    <a:pt x="64" y="22"/>
                  </a:lnTo>
                  <a:lnTo>
                    <a:pt x="64" y="8"/>
                  </a:lnTo>
                  <a:lnTo>
                    <a:pt x="64" y="8"/>
                  </a:lnTo>
                  <a:lnTo>
                    <a:pt x="62" y="2"/>
                  </a:lnTo>
                  <a:lnTo>
                    <a:pt x="58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2" y="2"/>
                  </a:lnTo>
                  <a:lnTo>
                    <a:pt x="0" y="8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2" y="38"/>
                  </a:lnTo>
                  <a:lnTo>
                    <a:pt x="6" y="40"/>
                  </a:lnTo>
                  <a:lnTo>
                    <a:pt x="52" y="40"/>
                  </a:lnTo>
                  <a:lnTo>
                    <a:pt x="52" y="52"/>
                  </a:lnTo>
                  <a:lnTo>
                    <a:pt x="12" y="52"/>
                  </a:lnTo>
                  <a:lnTo>
                    <a:pt x="12" y="46"/>
                  </a:lnTo>
                  <a:lnTo>
                    <a:pt x="0" y="44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2" y="64"/>
                  </a:lnTo>
                  <a:lnTo>
                    <a:pt x="6" y="66"/>
                  </a:lnTo>
                  <a:lnTo>
                    <a:pt x="58" y="66"/>
                  </a:lnTo>
                  <a:lnTo>
                    <a:pt x="58" y="66"/>
                  </a:lnTo>
                  <a:lnTo>
                    <a:pt x="62" y="64"/>
                  </a:lnTo>
                  <a:lnTo>
                    <a:pt x="64" y="60"/>
                  </a:lnTo>
                  <a:lnTo>
                    <a:pt x="64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 noEditPoints="1"/>
            </p:cNvSpPr>
            <p:nvPr userDrawn="1"/>
          </p:nvSpPr>
          <p:spPr bwMode="auto">
            <a:xfrm>
              <a:off x="460375" y="3757613"/>
              <a:ext cx="44450" cy="44450"/>
            </a:xfrm>
            <a:custGeom>
              <a:avLst/>
              <a:gdLst>
                <a:gd name="T0" fmla="*/ 14 w 28"/>
                <a:gd name="T1" fmla="*/ 28 h 28"/>
                <a:gd name="T2" fmla="*/ 4 w 28"/>
                <a:gd name="T3" fmla="*/ 24 h 28"/>
                <a:gd name="T4" fmla="*/ 0 w 28"/>
                <a:gd name="T5" fmla="*/ 14 h 28"/>
                <a:gd name="T6" fmla="*/ 0 w 28"/>
                <a:gd name="T7" fmla="*/ 8 h 28"/>
                <a:gd name="T8" fmla="*/ 8 w 28"/>
                <a:gd name="T9" fmla="*/ 0 h 28"/>
                <a:gd name="T10" fmla="*/ 14 w 28"/>
                <a:gd name="T11" fmla="*/ 0 h 28"/>
                <a:gd name="T12" fmla="*/ 24 w 28"/>
                <a:gd name="T13" fmla="*/ 4 h 28"/>
                <a:gd name="T14" fmla="*/ 28 w 28"/>
                <a:gd name="T15" fmla="*/ 14 h 28"/>
                <a:gd name="T16" fmla="*/ 26 w 28"/>
                <a:gd name="T17" fmla="*/ 18 h 28"/>
                <a:gd name="T18" fmla="*/ 18 w 28"/>
                <a:gd name="T19" fmla="*/ 26 h 28"/>
                <a:gd name="T20" fmla="*/ 14 w 28"/>
                <a:gd name="T21" fmla="*/ 28 h 28"/>
                <a:gd name="T22" fmla="*/ 14 w 28"/>
                <a:gd name="T23" fmla="*/ 0 h 28"/>
                <a:gd name="T24" fmla="*/ 4 w 28"/>
                <a:gd name="T25" fmla="*/ 4 h 28"/>
                <a:gd name="T26" fmla="*/ 0 w 28"/>
                <a:gd name="T27" fmla="*/ 14 h 28"/>
                <a:gd name="T28" fmla="*/ 2 w 28"/>
                <a:gd name="T29" fmla="*/ 18 h 28"/>
                <a:gd name="T30" fmla="*/ 8 w 28"/>
                <a:gd name="T31" fmla="*/ 24 h 28"/>
                <a:gd name="T32" fmla="*/ 14 w 28"/>
                <a:gd name="T33" fmla="*/ 26 h 28"/>
                <a:gd name="T34" fmla="*/ 22 w 28"/>
                <a:gd name="T35" fmla="*/ 22 h 28"/>
                <a:gd name="T36" fmla="*/ 26 w 28"/>
                <a:gd name="T37" fmla="*/ 14 h 28"/>
                <a:gd name="T38" fmla="*/ 24 w 28"/>
                <a:gd name="T39" fmla="*/ 8 h 28"/>
                <a:gd name="T40" fmla="*/ 18 w 28"/>
                <a:gd name="T41" fmla="*/ 2 h 28"/>
                <a:gd name="T42" fmla="*/ 14 w 28"/>
                <a:gd name="T43" fmla="*/ 0 h 28"/>
                <a:gd name="T44" fmla="*/ 14 w 28"/>
                <a:gd name="T45" fmla="*/ 14 h 28"/>
                <a:gd name="T46" fmla="*/ 10 w 28"/>
                <a:gd name="T47" fmla="*/ 22 h 28"/>
                <a:gd name="T48" fmla="*/ 8 w 28"/>
                <a:gd name="T49" fmla="*/ 4 h 28"/>
                <a:gd name="T50" fmla="*/ 14 w 28"/>
                <a:gd name="T51" fmla="*/ 4 h 28"/>
                <a:gd name="T52" fmla="*/ 18 w 28"/>
                <a:gd name="T53" fmla="*/ 10 h 28"/>
                <a:gd name="T54" fmla="*/ 18 w 28"/>
                <a:gd name="T55" fmla="*/ 12 h 28"/>
                <a:gd name="T56" fmla="*/ 18 w 28"/>
                <a:gd name="T57" fmla="*/ 22 h 28"/>
                <a:gd name="T58" fmla="*/ 10 w 28"/>
                <a:gd name="T59" fmla="*/ 12 h 28"/>
                <a:gd name="T60" fmla="*/ 14 w 28"/>
                <a:gd name="T61" fmla="*/ 12 h 28"/>
                <a:gd name="T62" fmla="*/ 16 w 28"/>
                <a:gd name="T63" fmla="*/ 10 h 28"/>
                <a:gd name="T64" fmla="*/ 16 w 28"/>
                <a:gd name="T65" fmla="*/ 8 h 28"/>
                <a:gd name="T66" fmla="*/ 10 w 28"/>
                <a:gd name="T6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8" h="28">
                  <a:moveTo>
                    <a:pt x="14" y="28"/>
                  </a:moveTo>
                  <a:lnTo>
                    <a:pt x="14" y="28"/>
                  </a:lnTo>
                  <a:lnTo>
                    <a:pt x="8" y="26"/>
                  </a:lnTo>
                  <a:lnTo>
                    <a:pt x="4" y="24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0" y="8"/>
                  </a:lnTo>
                  <a:lnTo>
                    <a:pt x="4" y="4"/>
                  </a:lnTo>
                  <a:lnTo>
                    <a:pt x="8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24" y="4"/>
                  </a:lnTo>
                  <a:lnTo>
                    <a:pt x="26" y="8"/>
                  </a:lnTo>
                  <a:lnTo>
                    <a:pt x="28" y="14"/>
                  </a:lnTo>
                  <a:lnTo>
                    <a:pt x="28" y="14"/>
                  </a:lnTo>
                  <a:lnTo>
                    <a:pt x="26" y="18"/>
                  </a:lnTo>
                  <a:lnTo>
                    <a:pt x="24" y="24"/>
                  </a:lnTo>
                  <a:lnTo>
                    <a:pt x="18" y="26"/>
                  </a:lnTo>
                  <a:lnTo>
                    <a:pt x="14" y="28"/>
                  </a:lnTo>
                  <a:lnTo>
                    <a:pt x="14" y="28"/>
                  </a:lnTo>
                  <a:close/>
                  <a:moveTo>
                    <a:pt x="14" y="0"/>
                  </a:moveTo>
                  <a:lnTo>
                    <a:pt x="14" y="0"/>
                  </a:lnTo>
                  <a:lnTo>
                    <a:pt x="8" y="2"/>
                  </a:lnTo>
                  <a:lnTo>
                    <a:pt x="4" y="4"/>
                  </a:lnTo>
                  <a:lnTo>
                    <a:pt x="2" y="8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2" y="18"/>
                  </a:lnTo>
                  <a:lnTo>
                    <a:pt x="4" y="22"/>
                  </a:lnTo>
                  <a:lnTo>
                    <a:pt x="8" y="24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18" y="24"/>
                  </a:lnTo>
                  <a:lnTo>
                    <a:pt x="22" y="22"/>
                  </a:lnTo>
                  <a:lnTo>
                    <a:pt x="24" y="18"/>
                  </a:lnTo>
                  <a:lnTo>
                    <a:pt x="26" y="14"/>
                  </a:lnTo>
                  <a:lnTo>
                    <a:pt x="26" y="14"/>
                  </a:lnTo>
                  <a:lnTo>
                    <a:pt x="24" y="8"/>
                  </a:lnTo>
                  <a:lnTo>
                    <a:pt x="22" y="4"/>
                  </a:lnTo>
                  <a:lnTo>
                    <a:pt x="18" y="2"/>
                  </a:lnTo>
                  <a:lnTo>
                    <a:pt x="14" y="0"/>
                  </a:lnTo>
                  <a:lnTo>
                    <a:pt x="14" y="0"/>
                  </a:lnTo>
                  <a:close/>
                  <a:moveTo>
                    <a:pt x="16" y="22"/>
                  </a:moveTo>
                  <a:lnTo>
                    <a:pt x="14" y="14"/>
                  </a:lnTo>
                  <a:lnTo>
                    <a:pt x="10" y="14"/>
                  </a:lnTo>
                  <a:lnTo>
                    <a:pt x="10" y="22"/>
                  </a:lnTo>
                  <a:lnTo>
                    <a:pt x="8" y="22"/>
                  </a:lnTo>
                  <a:lnTo>
                    <a:pt x="8" y="4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8" y="6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8" y="12"/>
                  </a:lnTo>
                  <a:lnTo>
                    <a:pt x="16" y="14"/>
                  </a:lnTo>
                  <a:lnTo>
                    <a:pt x="18" y="22"/>
                  </a:lnTo>
                  <a:lnTo>
                    <a:pt x="16" y="22"/>
                  </a:lnTo>
                  <a:close/>
                  <a:moveTo>
                    <a:pt x="10" y="12"/>
                  </a:moveTo>
                  <a:lnTo>
                    <a:pt x="14" y="12"/>
                  </a:lnTo>
                  <a:lnTo>
                    <a:pt x="14" y="12"/>
                  </a:lnTo>
                  <a:lnTo>
                    <a:pt x="16" y="12"/>
                  </a:lnTo>
                  <a:lnTo>
                    <a:pt x="16" y="10"/>
                  </a:lnTo>
                  <a:lnTo>
                    <a:pt x="16" y="10"/>
                  </a:lnTo>
                  <a:lnTo>
                    <a:pt x="16" y="8"/>
                  </a:lnTo>
                  <a:lnTo>
                    <a:pt x="12" y="6"/>
                  </a:lnTo>
                  <a:lnTo>
                    <a:pt x="10" y="6"/>
                  </a:lnTo>
                  <a:lnTo>
                    <a:pt x="1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3614237"/>
            <a:ext cx="10579609" cy="1645920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2" y="5260158"/>
            <a:ext cx="4270249" cy="861862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2"/>
            <a:ext cx="12191996" cy="68579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3614237"/>
            <a:ext cx="10579609" cy="1645920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2" y="5260158"/>
            <a:ext cx="4270249" cy="861862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 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2"/>
            <a:ext cx="12191996" cy="68579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3614237"/>
            <a:ext cx="10579609" cy="1645920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2" y="5260158"/>
            <a:ext cx="4270249" cy="861862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48426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Separate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787" y="429274"/>
            <a:ext cx="10311765" cy="1076223"/>
          </a:xfrm>
        </p:spPr>
        <p:txBody>
          <a:bodyPr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902461" y="6448255"/>
            <a:ext cx="365760" cy="365125"/>
          </a:xfrm>
          <a:prstGeom prst="rect">
            <a:avLst/>
          </a:prstGeom>
        </p:spPr>
        <p:txBody>
          <a:bodyPr anchor="ctr"/>
          <a:lstStyle>
            <a:lvl1pPr>
              <a:defRPr sz="1100" b="1">
                <a:solidFill>
                  <a:schemeClr val="tx2"/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6787" y="967383"/>
            <a:ext cx="10311765" cy="538112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000" b="0" kern="1200" baseline="0" smtClean="0">
                <a:solidFill>
                  <a:schemeClr val="tx1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>
              <a:defRPr lang="en-US" sz="2000" b="1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subhead text (20pt)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946787" y="2043606"/>
            <a:ext cx="10311765" cy="41333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직선 연결선 3"/>
          <p:cNvCxnSpPr>
            <a:stCxn id="2" idx="1"/>
          </p:cNvCxnSpPr>
          <p:nvPr userDrawn="1"/>
        </p:nvCxnSpPr>
        <p:spPr>
          <a:xfrm>
            <a:off x="946787" y="967384"/>
            <a:ext cx="10902315" cy="10516"/>
          </a:xfrm>
          <a:prstGeom prst="line">
            <a:avLst/>
          </a:prstGeom>
          <a:ln>
            <a:solidFill>
              <a:srgbClr val="0079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D2CCC611-F664-434B-8C21-6F865E553A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79576" y="99033"/>
            <a:ext cx="3600722" cy="319618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500" b="1">
                <a:latin typeface="+mj-lt"/>
                <a:ea typeface="+mj-ea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24750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1106152" y="6272217"/>
            <a:ext cx="1085850" cy="5857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5875EC2-73DC-4ADE-800B-1FB9E0C0DC01}"/>
              </a:ext>
            </a:extLst>
          </p:cNvPr>
          <p:cNvGrpSpPr/>
          <p:nvPr userDrawn="1"/>
        </p:nvGrpSpPr>
        <p:grpSpPr>
          <a:xfrm>
            <a:off x="0" y="3"/>
            <a:ext cx="12293598" cy="6961943"/>
            <a:chOff x="0" y="0"/>
            <a:chExt cx="12293598" cy="6961943"/>
          </a:xfrm>
          <a:solidFill>
            <a:schemeClr val="tx2"/>
          </a:solidFill>
        </p:grpSpPr>
        <p:sp>
          <p:nvSpPr>
            <p:cNvPr id="10" name="Rectangle 9"/>
            <p:cNvSpPr/>
            <p:nvPr/>
          </p:nvSpPr>
          <p:spPr>
            <a:xfrm>
              <a:off x="0" y="0"/>
              <a:ext cx="85471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10353498" y="5021881"/>
              <a:ext cx="1940100" cy="1940062"/>
              <a:chOff x="9313687" y="3627192"/>
              <a:chExt cx="1940100" cy="1940062"/>
            </a:xfrm>
            <a:grpFill/>
          </p:grpSpPr>
          <p:sp>
            <p:nvSpPr>
              <p:cNvPr id="12" name="Oval 11"/>
              <p:cNvSpPr/>
              <p:nvPr/>
            </p:nvSpPr>
            <p:spPr>
              <a:xfrm>
                <a:off x="10188575" y="4492625"/>
                <a:ext cx="184150" cy="18415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10617200" y="4492625"/>
                <a:ext cx="184150" cy="18415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10617200" y="4064000"/>
                <a:ext cx="184150" cy="18415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10626726" y="4925943"/>
                <a:ext cx="184150" cy="18415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10193338" y="4925943"/>
                <a:ext cx="184150" cy="18415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9759950" y="4925943"/>
                <a:ext cx="184150" cy="18415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Pie 17"/>
              <p:cNvSpPr/>
              <p:nvPr/>
            </p:nvSpPr>
            <p:spPr>
              <a:xfrm rot="5400000">
                <a:off x="9750425" y="5373580"/>
                <a:ext cx="193674" cy="193674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Pie 18"/>
              <p:cNvSpPr/>
              <p:nvPr/>
            </p:nvSpPr>
            <p:spPr>
              <a:xfrm rot="5400000">
                <a:off x="10174113" y="5373580"/>
                <a:ext cx="193674" cy="193674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Pie 19"/>
              <p:cNvSpPr/>
              <p:nvPr/>
            </p:nvSpPr>
            <p:spPr>
              <a:xfrm rot="5400000">
                <a:off x="10607676" y="5373580"/>
                <a:ext cx="193674" cy="193674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Pie 20"/>
              <p:cNvSpPr/>
              <p:nvPr/>
            </p:nvSpPr>
            <p:spPr>
              <a:xfrm rot="5400000">
                <a:off x="11060113" y="5373580"/>
                <a:ext cx="193674" cy="193674"/>
              </a:xfrm>
              <a:prstGeom prst="pie">
                <a:avLst>
                  <a:gd name="adj1" fmla="val 5400000"/>
                  <a:gd name="adj2" fmla="val 10750877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Pie 21"/>
              <p:cNvSpPr/>
              <p:nvPr/>
            </p:nvSpPr>
            <p:spPr>
              <a:xfrm rot="5400000">
                <a:off x="9313687" y="5373580"/>
                <a:ext cx="193674" cy="193674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Pie 22"/>
              <p:cNvSpPr/>
              <p:nvPr/>
            </p:nvSpPr>
            <p:spPr>
              <a:xfrm>
                <a:off x="11060113" y="4484443"/>
                <a:ext cx="193674" cy="193674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Pie 23"/>
              <p:cNvSpPr/>
              <p:nvPr/>
            </p:nvSpPr>
            <p:spPr>
              <a:xfrm>
                <a:off x="11060113" y="4060755"/>
                <a:ext cx="193674" cy="193674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Pie 24"/>
              <p:cNvSpPr/>
              <p:nvPr/>
            </p:nvSpPr>
            <p:spPr>
              <a:xfrm>
                <a:off x="11060113" y="3627192"/>
                <a:ext cx="193674" cy="193674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Pie 25"/>
              <p:cNvSpPr/>
              <p:nvPr/>
            </p:nvSpPr>
            <p:spPr>
              <a:xfrm>
                <a:off x="11060113" y="4921181"/>
                <a:ext cx="193674" cy="193674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4733926"/>
            <a:ext cx="7897814" cy="1471786"/>
          </a:xfrm>
        </p:spPr>
        <p:txBody>
          <a:bodyPr anchor="ctr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Rectangle 26"/>
          <p:cNvSpPr/>
          <p:nvPr userDrawn="1"/>
        </p:nvSpPr>
        <p:spPr>
          <a:xfrm rot="16200000">
            <a:off x="-506425" y="5418152"/>
            <a:ext cx="1115449" cy="1025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76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3_Blu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1048005" y="1"/>
            <a:ext cx="1799697" cy="1518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3614237"/>
            <a:ext cx="10579609" cy="1645920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2" y="5260158"/>
            <a:ext cx="4270249" cy="861862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787" y="429273"/>
            <a:ext cx="10311765" cy="9746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787" y="1825625"/>
            <a:ext cx="1031176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/>
          <p:cNvSpPr/>
          <p:nvPr/>
        </p:nvSpPr>
        <p:spPr>
          <a:xfrm rot="10800000">
            <a:off x="-2" y="-4"/>
            <a:ext cx="1050134" cy="156755"/>
          </a:xfrm>
          <a:prstGeom prst="rect">
            <a:avLst/>
          </a:prstGeom>
          <a:solidFill>
            <a:srgbClr val="0078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" y="6498236"/>
            <a:ext cx="231632" cy="8244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902461" y="6352244"/>
            <a:ext cx="365760" cy="365125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0" name="Picture 19">
            <a:extLst>
              <a:ext uri="{FF2B5EF4-FFF2-40B4-BE49-F238E27FC236}">
                <a16:creationId xmlns:a16="http://schemas.microsoft.com/office/drawing/2014/main" id="{CE91646A-F341-425A-99ED-8AE32B0B2D24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duotone>
              <a:prstClr val="black"/>
              <a:srgbClr val="00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4392" y="6478681"/>
            <a:ext cx="786632" cy="169913"/>
          </a:xfrm>
          <a:prstGeom prst="rect">
            <a:avLst/>
          </a:prstGeom>
        </p:spPr>
      </p:pic>
      <p:pic>
        <p:nvPicPr>
          <p:cNvPr id="41" name="Picture 2">
            <a:extLst>
              <a:ext uri="{FF2B5EF4-FFF2-40B4-BE49-F238E27FC236}">
                <a16:creationId xmlns:a16="http://schemas.microsoft.com/office/drawing/2014/main" id="{844D0847-6671-4D63-9594-B0667648658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4719" y="6482223"/>
            <a:ext cx="1114425" cy="157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6004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10" r:id="rId2"/>
    <p:sldLayoutId id="2147483690" r:id="rId3"/>
    <p:sldLayoutId id="2147483694" r:id="rId4"/>
    <p:sldLayoutId id="2147483712" r:id="rId5"/>
    <p:sldLayoutId id="2147483709" r:id="rId6"/>
    <p:sldLayoutId id="2147483651" r:id="rId7"/>
    <p:sldLayoutId id="2147483698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000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Calibri" panose="020F0502020204030204" pitchFamily="34" charset="0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Calibri" panose="020F050202020403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7429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660" userDrawn="1">
          <p15:clr>
            <a:srgbClr val="F26B43"/>
          </p15:clr>
        </p15:guide>
        <p15:guide id="3" pos="7092" userDrawn="1">
          <p15:clr>
            <a:srgbClr val="F26B43"/>
          </p15:clr>
        </p15:guide>
        <p15:guide id="4" pos="594" userDrawn="1">
          <p15:clr>
            <a:srgbClr val="F26B43"/>
          </p15:clr>
        </p15:guide>
        <p15:guide id="5" orient="horz" pos="540" userDrawn="1">
          <p15:clr>
            <a:srgbClr val="F26B43"/>
          </p15:clr>
        </p15:guide>
        <p15:guide id="6" orient="horz" pos="96" userDrawn="1">
          <p15:clr>
            <a:srgbClr val="F26B43"/>
          </p15:clr>
        </p15:guide>
        <p15:guide id="7" orient="horz" pos="4224" userDrawn="1">
          <p15:clr>
            <a:srgbClr val="F26B43"/>
          </p15:clr>
        </p15:guide>
        <p15:guide id="8" orient="horz" pos="114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file:///C:\Users\hongjon\Documents\Product\Vertica_UserDoc(7.0)\HTML\Content\Authoring\ProgrammersGuide\vsql\Meta-Commands\o.htm" TargetMode="External"/><Relationship Id="rId3" Type="http://schemas.openxmlformats.org/officeDocument/2006/relationships/hyperlink" Target="file:///C:\Users\hongjon\Documents\Product\Vertica_UserDoc(7.0)\HTML\Content\Authoring\ProgrammersGuide\vsql\CommandLineOptions\A--no-align.htm" TargetMode="External"/><Relationship Id="rId7" Type="http://schemas.openxmlformats.org/officeDocument/2006/relationships/hyperlink" Target="file:///C:\Users\hongjon\Documents\Product\Vertica_UserDoc(7.0)\HTML\Content\Authoring\ProgrammersGuide\vsql\CommandLineOptions\FSeparator--field-separatorSeparator.htm" TargetMode="External"/><Relationship Id="rId2" Type="http://schemas.openxmlformats.org/officeDocument/2006/relationships/hyperlink" Target="file:///C:\Users\hongjon\Documents\Product\Vertica_UserDoc(7.0)\HTML\Content\Authoring\ProgrammersGuide\vsql\Meta-Commands\a.htm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file:///C:\Users\hongjon\Documents\Product\Vertica_UserDoc(7.0)\HTML\Content\Authoring\ProgrammersGuide\vsql\Meta-Commands\psetNAMEVALUE.htm" TargetMode="External"/><Relationship Id="rId5" Type="http://schemas.openxmlformats.org/officeDocument/2006/relationships/hyperlink" Target="file:///C:\Users\hongjon\Documents\Product\Vertica_UserDoc(7.0)\HTML\Content\Authoring\ProgrammersGuide\vsql\CommandLineOptions\t--tuples-only.htm" TargetMode="External"/><Relationship Id="rId10" Type="http://schemas.openxmlformats.org/officeDocument/2006/relationships/hyperlink" Target="file:///C:\Users\hongjon\Documents\Product\Vertica_UserDoc(7.0)\HTML\Content\Authoring\ProgrammersGuide\vsql\CommandLineOptions\cCommand--commandCommand.htm" TargetMode="External"/><Relationship Id="rId4" Type="http://schemas.openxmlformats.org/officeDocument/2006/relationships/hyperlink" Target="file:///C:\Users\hongjon\Documents\Product\Vertica_UserDoc(7.0)\HTML\Content\Authoring\ProgrammersGuide\vsql\Meta-Commands\t.htm" TargetMode="External"/><Relationship Id="rId9" Type="http://schemas.openxmlformats.org/officeDocument/2006/relationships/hyperlink" Target="file:///C:\Users\hongjon\Documents\Product\Vertica_UserDoc(7.0)\HTML\Content\Authoring\ProgrammersGuide\vsql\CommandLineOptions\oFilename--outputFilename.htm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Vertica</a:t>
            </a:r>
            <a:r>
              <a:rPr lang="en-US" dirty="0"/>
              <a:t> </a:t>
            </a:r>
            <a:r>
              <a:rPr lang="ko-KR" altLang="en-US" dirty="0"/>
              <a:t>개발자 가이드</a:t>
            </a:r>
            <a:endParaRPr lang="en-US" dirty="0"/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B7DBD54F-203E-4ADE-BC42-0BEDEF832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5260158"/>
            <a:ext cx="9867900" cy="861862"/>
          </a:xfrm>
        </p:spPr>
        <p:txBody>
          <a:bodyPr/>
          <a:lstStyle/>
          <a:p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872865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07367" y="1093961"/>
            <a:ext cx="10579609" cy="1038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000" dirty="0" err="1"/>
              <a:t>Vertica</a:t>
            </a:r>
            <a:r>
              <a:rPr lang="en-US" altLang="ko-KR" sz="3000" dirty="0"/>
              <a:t> </a:t>
            </a:r>
            <a:r>
              <a:rPr lang="ko-KR" altLang="en-US" sz="3000" dirty="0" err="1"/>
              <a:t>아키텍쳐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354834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VERTICA</a:t>
            </a:r>
            <a:r>
              <a:rPr lang="ko-KR" altLang="en-US" sz="2800" dirty="0"/>
              <a:t> 아키텍처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err="1"/>
              <a:t>Vertica</a:t>
            </a:r>
            <a:r>
              <a:rPr lang="en-US" altLang="ko-KR" dirty="0"/>
              <a:t> </a:t>
            </a:r>
            <a:r>
              <a:rPr lang="ko-KR" altLang="en-US" dirty="0"/>
              <a:t>아키텍처</a:t>
            </a:r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sz="1100" b="1" dirty="0"/>
              <a:t>MPP </a:t>
            </a:r>
            <a:r>
              <a:rPr lang="ko-KR" altLang="en-US" sz="1100" b="1" dirty="0"/>
              <a:t>구조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Wingdings" pitchFamily="2" charset="2"/>
              <a:buChar char="§"/>
            </a:pPr>
            <a:r>
              <a:rPr lang="ko-KR" altLang="en-US" sz="1100" dirty="0"/>
              <a:t>모든 노드가 각자의 메모리</a:t>
            </a:r>
            <a:r>
              <a:rPr lang="en-US" altLang="ko-KR" sz="1100" dirty="0"/>
              <a:t>, CPU, </a:t>
            </a:r>
            <a:r>
              <a:rPr lang="ko-KR" altLang="en-US" sz="1100" dirty="0"/>
              <a:t>디스크를 가지고 병렬로 처리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Wingdings" pitchFamily="2" charset="2"/>
              <a:buChar char="§"/>
            </a:pPr>
            <a:r>
              <a:rPr lang="en-US" altLang="ko-KR" sz="1100" dirty="0"/>
              <a:t>Application</a:t>
            </a:r>
            <a:r>
              <a:rPr lang="ko-KR" altLang="en-US" sz="1100" dirty="0"/>
              <a:t>은 어느 노드에 연결하더라도 상관없음</a:t>
            </a:r>
            <a:endParaRPr lang="en-US" altLang="ko-KR" sz="1100" dirty="0"/>
          </a:p>
          <a:p>
            <a:pPr lvl="1">
              <a:lnSpc>
                <a:spcPct val="100000"/>
              </a:lnSpc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buFont typeface="Arial" pitchFamily="34" charset="0"/>
              <a:buChar char="•"/>
            </a:pPr>
            <a:endParaRPr lang="en-US" altLang="ko-KR" sz="1100" dirty="0"/>
          </a:p>
          <a:p>
            <a:pPr lvl="2">
              <a:lnSpc>
                <a:spcPct val="100000"/>
              </a:lnSpc>
              <a:buFont typeface="Arial" pitchFamily="34" charset="0"/>
              <a:buChar char="•"/>
            </a:pPr>
            <a:endParaRPr lang="en-US" altLang="ko-KR" sz="1100" dirty="0"/>
          </a:p>
          <a:p>
            <a:pPr lvl="2">
              <a:lnSpc>
                <a:spcPct val="100000"/>
              </a:lnSpc>
              <a:buFont typeface="Arial" pitchFamily="34" charset="0"/>
              <a:buChar char="•"/>
            </a:pPr>
            <a:endParaRPr lang="en-US" altLang="ko-KR" sz="1100" dirty="0"/>
          </a:p>
          <a:p>
            <a:pPr lvl="2">
              <a:lnSpc>
                <a:spcPct val="100000"/>
              </a:lnSpc>
              <a:buFont typeface="Arial" pitchFamily="34" charset="0"/>
              <a:buChar char="•"/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Application</a:t>
            </a:r>
            <a:r>
              <a:rPr lang="ko-KR" altLang="en-US" sz="1100" dirty="0"/>
              <a:t>이 접속되는 노드는 </a:t>
            </a:r>
            <a:r>
              <a:rPr lang="en-US" altLang="ko-KR" sz="1100" dirty="0"/>
              <a:t>initiator</a:t>
            </a:r>
            <a:r>
              <a:rPr lang="ko-KR" altLang="en-US" sz="1100" dirty="0"/>
              <a:t>가 되고</a:t>
            </a:r>
            <a:r>
              <a:rPr lang="en-US" altLang="ko-KR" sz="1100" dirty="0"/>
              <a:t>, </a:t>
            </a:r>
            <a:r>
              <a:rPr lang="ko-KR" altLang="en-US" sz="1100" dirty="0"/>
              <a:t>다른 </a:t>
            </a:r>
            <a:r>
              <a:rPr lang="en-US" altLang="ko-KR" sz="1100" dirty="0"/>
              <a:t>executor </a:t>
            </a:r>
            <a:r>
              <a:rPr lang="ko-KR" altLang="en-US" sz="1100" dirty="0"/>
              <a:t>노드에게 쿼리 플랜을 전달하여 수행하도록 함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모든 </a:t>
            </a:r>
            <a:r>
              <a:rPr lang="en-US" altLang="ko-KR" sz="1100" dirty="0"/>
              <a:t>Executor </a:t>
            </a:r>
            <a:r>
              <a:rPr lang="ko-KR" altLang="en-US" sz="1100" dirty="0"/>
              <a:t>노드가 작업을 마치고 해당 결과를 </a:t>
            </a:r>
            <a:r>
              <a:rPr lang="en-US" altLang="ko-KR" sz="1100" dirty="0"/>
              <a:t>initiator</a:t>
            </a:r>
            <a:r>
              <a:rPr lang="ko-KR" altLang="en-US" sz="1100" dirty="0"/>
              <a:t>로 다시 보내면면 최종 결과를 만들어 </a:t>
            </a:r>
            <a:r>
              <a:rPr lang="en-US" altLang="ko-KR" sz="1100" dirty="0"/>
              <a:t>application</a:t>
            </a:r>
            <a:r>
              <a:rPr lang="ko-KR" altLang="en-US" sz="1100" dirty="0"/>
              <a:t>으로 전달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모든 노드는 </a:t>
            </a:r>
            <a:r>
              <a:rPr lang="en-US" altLang="ko-KR" sz="1100" dirty="0"/>
              <a:t>initiator</a:t>
            </a:r>
            <a:r>
              <a:rPr lang="ko-KR" altLang="en-US" sz="1100" dirty="0"/>
              <a:t>가 될 수 있음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initiator </a:t>
            </a:r>
            <a:r>
              <a:rPr lang="ko-KR" altLang="en-US" sz="1100" dirty="0"/>
              <a:t>역시 </a:t>
            </a:r>
            <a:r>
              <a:rPr lang="en-US" altLang="ko-KR" sz="1100" dirty="0"/>
              <a:t>executor</a:t>
            </a:r>
            <a:r>
              <a:rPr lang="ko-KR" altLang="en-US" sz="1100" dirty="0"/>
              <a:t>로서 작업 처리</a:t>
            </a:r>
            <a:endParaRPr lang="en-US" altLang="ko-KR" sz="1100" dirty="0"/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MPP </a:t>
            </a:r>
            <a:r>
              <a:rPr lang="ko-KR" altLang="en-US" sz="1100" b="1" dirty="0"/>
              <a:t>구조에서 데이터 저장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Wingdings" pitchFamily="2" charset="2"/>
              <a:buChar char="§"/>
            </a:pPr>
            <a:r>
              <a:rPr lang="ko-KR" altLang="en-US" sz="1100" dirty="0"/>
              <a:t>기본적으로 한 테이블의 데이터는 모든 </a:t>
            </a:r>
            <a:r>
              <a:rPr lang="ko-KR" altLang="en-US" sz="1100" dirty="0" err="1"/>
              <a:t>노드에</a:t>
            </a:r>
            <a:r>
              <a:rPr lang="ko-KR" altLang="en-US" sz="1100" dirty="0"/>
              <a:t> 분산되어 저장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Segment key </a:t>
            </a:r>
            <a:r>
              <a:rPr lang="ko-KR" altLang="en-US" sz="1100" dirty="0"/>
              <a:t>정의에 의해 </a:t>
            </a:r>
            <a:r>
              <a:rPr lang="ko-KR" altLang="en-US" sz="1100" dirty="0" err="1"/>
              <a:t>노드별로</a:t>
            </a:r>
            <a:r>
              <a:rPr lang="ko-KR" altLang="en-US" sz="1100" dirty="0"/>
              <a:t> 데이터 분산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Wingdings" pitchFamily="2" charset="2"/>
              <a:buChar char="§"/>
            </a:pPr>
            <a:r>
              <a:rPr lang="ko-KR" altLang="en-US" sz="1100" dirty="0"/>
              <a:t>필요에 따라 </a:t>
            </a:r>
            <a:r>
              <a:rPr lang="en-US" altLang="ko-KR" sz="1100" dirty="0"/>
              <a:t>dimension </a:t>
            </a:r>
            <a:r>
              <a:rPr lang="ko-KR" altLang="en-US" sz="1100" dirty="0"/>
              <a:t>성격의 테이블은 모든 </a:t>
            </a:r>
            <a:r>
              <a:rPr lang="ko-KR" altLang="en-US" sz="1100" dirty="0" err="1"/>
              <a:t>노드에</a:t>
            </a:r>
            <a:r>
              <a:rPr lang="ko-KR" altLang="en-US" sz="1100" dirty="0"/>
              <a:t> 복제하여 저장하도록 지정 가능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ko-KR" altLang="en-US" sz="1100" dirty="0"/>
          </a:p>
        </p:txBody>
      </p:sp>
      <p:sp>
        <p:nvSpPr>
          <p:cNvPr id="38" name="Rounded Rectangle 9"/>
          <p:cNvSpPr/>
          <p:nvPr/>
        </p:nvSpPr>
        <p:spPr>
          <a:xfrm>
            <a:off x="1695743" y="3068960"/>
            <a:ext cx="720080" cy="72008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1000" dirty="0">
                <a:solidFill>
                  <a:schemeClr val="tx1"/>
                </a:solidFill>
              </a:rPr>
              <a:t>노드</a:t>
            </a:r>
            <a:r>
              <a:rPr lang="en-US" altLang="ko-KR" sz="1000" dirty="0">
                <a:solidFill>
                  <a:schemeClr val="tx1"/>
                </a:solidFill>
              </a:rPr>
              <a:t>1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9" name="Rounded Rectangle 10"/>
          <p:cNvSpPr/>
          <p:nvPr/>
        </p:nvSpPr>
        <p:spPr>
          <a:xfrm>
            <a:off x="2572202" y="3068960"/>
            <a:ext cx="720080" cy="72008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1000" dirty="0">
                <a:solidFill>
                  <a:schemeClr val="tx1"/>
                </a:solidFill>
              </a:rPr>
              <a:t>노드</a:t>
            </a:r>
            <a:r>
              <a:rPr lang="en-US" altLang="ko-KR" sz="1000" dirty="0">
                <a:solidFill>
                  <a:schemeClr val="tx1"/>
                </a:solidFill>
              </a:rPr>
              <a:t>2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0" name="Rounded Rectangle 11"/>
          <p:cNvSpPr/>
          <p:nvPr/>
        </p:nvSpPr>
        <p:spPr>
          <a:xfrm>
            <a:off x="3448661" y="3068960"/>
            <a:ext cx="720080" cy="72008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1000" dirty="0">
                <a:solidFill>
                  <a:schemeClr val="tx1"/>
                </a:solidFill>
              </a:rPr>
              <a:t>노드</a:t>
            </a:r>
            <a:r>
              <a:rPr lang="en-US" altLang="ko-KR" sz="1000" dirty="0">
                <a:solidFill>
                  <a:schemeClr val="tx1"/>
                </a:solidFill>
              </a:rPr>
              <a:t>3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1" name="Oval 12"/>
          <p:cNvSpPr/>
          <p:nvPr/>
        </p:nvSpPr>
        <p:spPr>
          <a:xfrm>
            <a:off x="2277988" y="2348880"/>
            <a:ext cx="1308507" cy="2160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application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725455" y="2885410"/>
            <a:ext cx="413575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000" dirty="0"/>
              <a:t>initiator</a:t>
            </a:r>
            <a:endParaRPr lang="ko-KR" altLang="en-US" sz="1000" dirty="0" err="1"/>
          </a:p>
        </p:txBody>
      </p:sp>
      <p:sp>
        <p:nvSpPr>
          <p:cNvPr id="43" name="TextBox 42"/>
          <p:cNvSpPr txBox="1"/>
          <p:nvPr/>
        </p:nvSpPr>
        <p:spPr>
          <a:xfrm>
            <a:off x="3577868" y="2885410"/>
            <a:ext cx="461665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000" dirty="0"/>
              <a:t>executor</a:t>
            </a:r>
            <a:endParaRPr lang="ko-KR" altLang="en-US" sz="1000" dirty="0" err="1"/>
          </a:p>
        </p:txBody>
      </p:sp>
      <p:sp>
        <p:nvSpPr>
          <p:cNvPr id="44" name="TextBox 43"/>
          <p:cNvSpPr txBox="1"/>
          <p:nvPr/>
        </p:nvSpPr>
        <p:spPr>
          <a:xfrm>
            <a:off x="1858498" y="2885410"/>
            <a:ext cx="461665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000" dirty="0"/>
              <a:t>executor</a:t>
            </a:r>
            <a:endParaRPr lang="ko-KR" altLang="en-US" sz="1000" dirty="0" err="1"/>
          </a:p>
        </p:txBody>
      </p:sp>
      <p:cxnSp>
        <p:nvCxnSpPr>
          <p:cNvPr id="45" name="Straight Arrow Connector 17"/>
          <p:cNvCxnSpPr>
            <a:stCxn id="41" idx="4"/>
            <a:endCxn id="42" idx="0"/>
          </p:cNvCxnSpPr>
          <p:nvPr/>
        </p:nvCxnSpPr>
        <p:spPr>
          <a:xfrm>
            <a:off x="2932242" y="2564905"/>
            <a:ext cx="1" cy="320505"/>
          </a:xfrm>
          <a:prstGeom prst="straightConnector1">
            <a:avLst/>
          </a:prstGeom>
          <a:ln w="19050">
            <a:solidFill>
              <a:schemeClr val="tx2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18"/>
          <p:cNvCxnSpPr/>
          <p:nvPr/>
        </p:nvCxnSpPr>
        <p:spPr>
          <a:xfrm flipH="1">
            <a:off x="2251489" y="3141264"/>
            <a:ext cx="420171" cy="189088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21"/>
          <p:cNvCxnSpPr/>
          <p:nvPr/>
        </p:nvCxnSpPr>
        <p:spPr>
          <a:xfrm>
            <a:off x="3209663" y="3141264"/>
            <a:ext cx="376832" cy="189088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24"/>
          <p:cNvCxnSpPr/>
          <p:nvPr/>
        </p:nvCxnSpPr>
        <p:spPr>
          <a:xfrm>
            <a:off x="2932241" y="3155326"/>
            <a:ext cx="0" cy="175026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26"/>
          <p:cNvCxnSpPr/>
          <p:nvPr/>
        </p:nvCxnSpPr>
        <p:spPr>
          <a:xfrm>
            <a:off x="2275020" y="3573016"/>
            <a:ext cx="432802" cy="0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29"/>
          <p:cNvCxnSpPr/>
          <p:nvPr/>
        </p:nvCxnSpPr>
        <p:spPr>
          <a:xfrm flipH="1">
            <a:off x="3132868" y="3573016"/>
            <a:ext cx="426566" cy="872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32"/>
          <p:cNvCxnSpPr/>
          <p:nvPr/>
        </p:nvCxnSpPr>
        <p:spPr>
          <a:xfrm flipV="1">
            <a:off x="3044453" y="2598438"/>
            <a:ext cx="1" cy="253439"/>
          </a:xfrm>
          <a:prstGeom prst="straightConnector1">
            <a:avLst/>
          </a:prstGeom>
          <a:ln w="19050">
            <a:solidFill>
              <a:schemeClr val="tx2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35"/>
          <p:cNvSpPr/>
          <p:nvPr/>
        </p:nvSpPr>
        <p:spPr>
          <a:xfrm>
            <a:off x="7390556" y="2231710"/>
            <a:ext cx="720080" cy="72008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1000" dirty="0">
                <a:solidFill>
                  <a:schemeClr val="tx1"/>
                </a:solidFill>
              </a:rPr>
              <a:t>노드</a:t>
            </a:r>
            <a:r>
              <a:rPr lang="en-US" altLang="ko-KR" sz="1000" dirty="0">
                <a:solidFill>
                  <a:schemeClr val="tx1"/>
                </a:solidFill>
              </a:rPr>
              <a:t>1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3" name="Rounded Rectangle 36"/>
          <p:cNvSpPr/>
          <p:nvPr/>
        </p:nvSpPr>
        <p:spPr>
          <a:xfrm>
            <a:off x="8267015" y="2231710"/>
            <a:ext cx="720080" cy="72008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1000" dirty="0">
                <a:solidFill>
                  <a:schemeClr val="tx1"/>
                </a:solidFill>
              </a:rPr>
              <a:t>노드</a:t>
            </a:r>
            <a:r>
              <a:rPr lang="en-US" altLang="ko-KR" sz="1000" dirty="0">
                <a:solidFill>
                  <a:schemeClr val="tx1"/>
                </a:solidFill>
              </a:rPr>
              <a:t>2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4" name="Rounded Rectangle 37"/>
          <p:cNvSpPr/>
          <p:nvPr/>
        </p:nvSpPr>
        <p:spPr>
          <a:xfrm>
            <a:off x="9143474" y="2231710"/>
            <a:ext cx="720080" cy="72008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1000" dirty="0">
                <a:solidFill>
                  <a:schemeClr val="tx1"/>
                </a:solidFill>
              </a:rPr>
              <a:t>노드</a:t>
            </a:r>
            <a:r>
              <a:rPr lang="en-US" altLang="ko-KR" sz="1000" dirty="0">
                <a:solidFill>
                  <a:schemeClr val="tx1"/>
                </a:solidFill>
              </a:rPr>
              <a:t>3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461945" y="3938573"/>
            <a:ext cx="330219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000" dirty="0"/>
              <a:t>table1</a:t>
            </a:r>
            <a:endParaRPr lang="ko-KR" altLang="en-US" sz="1000" dirty="0" err="1"/>
          </a:p>
        </p:txBody>
      </p:sp>
      <p:cxnSp>
        <p:nvCxnSpPr>
          <p:cNvPr id="62" name="Straight Arrow Connector 45"/>
          <p:cNvCxnSpPr/>
          <p:nvPr/>
        </p:nvCxnSpPr>
        <p:spPr>
          <a:xfrm flipH="1" flipV="1">
            <a:off x="7814772" y="2854899"/>
            <a:ext cx="549842" cy="784497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48"/>
          <p:cNvCxnSpPr/>
          <p:nvPr/>
        </p:nvCxnSpPr>
        <p:spPr>
          <a:xfrm flipH="1" flipV="1">
            <a:off x="8620480" y="2854899"/>
            <a:ext cx="31946" cy="575267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50"/>
          <p:cNvCxnSpPr/>
          <p:nvPr/>
        </p:nvCxnSpPr>
        <p:spPr>
          <a:xfrm flipV="1">
            <a:off x="8967086" y="2854897"/>
            <a:ext cx="556650" cy="937378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9343138" y="3335471"/>
            <a:ext cx="452047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000" dirty="0"/>
              <a:t>segment</a:t>
            </a:r>
            <a:endParaRPr lang="ko-KR" altLang="en-US" sz="1000" dirty="0" err="1"/>
          </a:p>
        </p:txBody>
      </p:sp>
      <p:sp>
        <p:nvSpPr>
          <p:cNvPr id="66" name="Rounded Rectangle 55"/>
          <p:cNvSpPr/>
          <p:nvPr/>
        </p:nvSpPr>
        <p:spPr>
          <a:xfrm>
            <a:off x="7390556" y="4601881"/>
            <a:ext cx="720080" cy="72008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1000" dirty="0">
                <a:solidFill>
                  <a:schemeClr val="tx1"/>
                </a:solidFill>
              </a:rPr>
              <a:t>노드</a:t>
            </a:r>
            <a:r>
              <a:rPr lang="en-US" altLang="ko-KR" sz="1000" dirty="0">
                <a:solidFill>
                  <a:schemeClr val="tx1"/>
                </a:solidFill>
              </a:rPr>
              <a:t>1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7" name="Rounded Rectangle 56"/>
          <p:cNvSpPr/>
          <p:nvPr/>
        </p:nvSpPr>
        <p:spPr>
          <a:xfrm>
            <a:off x="8267015" y="4601881"/>
            <a:ext cx="720080" cy="72008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1000" dirty="0">
                <a:solidFill>
                  <a:schemeClr val="tx1"/>
                </a:solidFill>
              </a:rPr>
              <a:t>노드</a:t>
            </a:r>
            <a:r>
              <a:rPr lang="en-US" altLang="ko-KR" sz="1000" dirty="0">
                <a:solidFill>
                  <a:schemeClr val="tx1"/>
                </a:solidFill>
              </a:rPr>
              <a:t>2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8" name="Rounded Rectangle 57"/>
          <p:cNvSpPr/>
          <p:nvPr/>
        </p:nvSpPr>
        <p:spPr>
          <a:xfrm>
            <a:off x="9143474" y="4601881"/>
            <a:ext cx="720080" cy="72008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1000" dirty="0">
                <a:solidFill>
                  <a:schemeClr val="tx1"/>
                </a:solidFill>
              </a:rPr>
              <a:t>노드</a:t>
            </a:r>
            <a:r>
              <a:rPr lang="en-US" altLang="ko-KR" sz="1000" dirty="0">
                <a:solidFill>
                  <a:schemeClr val="tx1"/>
                </a:solidFill>
              </a:rPr>
              <a:t>3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8487316" y="6061395"/>
            <a:ext cx="330219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000" dirty="0"/>
              <a:t>table2</a:t>
            </a:r>
            <a:endParaRPr lang="ko-KR" altLang="en-US" sz="1000" dirty="0" err="1"/>
          </a:p>
        </p:txBody>
      </p:sp>
      <p:sp>
        <p:nvSpPr>
          <p:cNvPr id="70" name="Rectangle 59"/>
          <p:cNvSpPr/>
          <p:nvPr/>
        </p:nvSpPr>
        <p:spPr>
          <a:xfrm>
            <a:off x="8398668" y="5849146"/>
            <a:ext cx="522994" cy="126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1" name="Rectangle 62"/>
          <p:cNvSpPr/>
          <p:nvPr/>
        </p:nvSpPr>
        <p:spPr>
          <a:xfrm>
            <a:off x="8376630" y="5098348"/>
            <a:ext cx="522994" cy="126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72" name="Straight Arrow Connector 65"/>
          <p:cNvCxnSpPr/>
          <p:nvPr/>
        </p:nvCxnSpPr>
        <p:spPr>
          <a:xfrm flipH="1" flipV="1">
            <a:off x="7814772" y="5225071"/>
            <a:ext cx="474387" cy="687435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66"/>
          <p:cNvCxnSpPr/>
          <p:nvPr/>
        </p:nvCxnSpPr>
        <p:spPr>
          <a:xfrm flipH="1" flipV="1">
            <a:off x="8620480" y="5225070"/>
            <a:ext cx="31946" cy="575267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67"/>
          <p:cNvCxnSpPr/>
          <p:nvPr/>
        </p:nvCxnSpPr>
        <p:spPr>
          <a:xfrm flipV="1">
            <a:off x="9020205" y="5225068"/>
            <a:ext cx="503531" cy="687438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9275812" y="5705642"/>
            <a:ext cx="586699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000" dirty="0"/>
              <a:t>unsegment</a:t>
            </a:r>
            <a:endParaRPr lang="ko-KR" altLang="en-US" sz="1000" dirty="0" err="1"/>
          </a:p>
        </p:txBody>
      </p:sp>
      <p:sp>
        <p:nvSpPr>
          <p:cNvPr id="76" name="Rectangle 69"/>
          <p:cNvSpPr/>
          <p:nvPr/>
        </p:nvSpPr>
        <p:spPr>
          <a:xfrm>
            <a:off x="7484103" y="5098348"/>
            <a:ext cx="522994" cy="126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7" name="Rectangle 70"/>
          <p:cNvSpPr/>
          <p:nvPr/>
        </p:nvSpPr>
        <p:spPr>
          <a:xfrm>
            <a:off x="9242017" y="5098348"/>
            <a:ext cx="522994" cy="126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78" name="Picture 13" descr="C:\Users\hongjon\Documents\Proposal\ICON\Business_Icons\Business_Icons\Innovation\Innovation_RGB\Innovation_RGB_blue_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0876" y="2169810"/>
            <a:ext cx="196427" cy="322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" name="TextBox 78"/>
          <p:cNvSpPr txBox="1"/>
          <p:nvPr/>
        </p:nvSpPr>
        <p:spPr>
          <a:xfrm>
            <a:off x="10492867" y="2227567"/>
            <a:ext cx="859210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000" dirty="0">
                <a:solidFill>
                  <a:schemeClr val="tx2"/>
                </a:solidFill>
              </a:rPr>
              <a:t>프로젝션 참조</a:t>
            </a:r>
            <a:endParaRPr lang="en-US" altLang="ko-KR" sz="10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r>
              <a:rPr lang="ko-KR" altLang="en-US" sz="1000" dirty="0">
                <a:solidFill>
                  <a:schemeClr val="tx2"/>
                </a:solidFill>
              </a:rPr>
              <a:t>쿼리 튜닝 참조</a:t>
            </a:r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39"/>
          <p:cNvSpPr/>
          <p:nvPr/>
        </p:nvSpPr>
        <p:spPr>
          <a:xfrm>
            <a:off x="8396097" y="3484388"/>
            <a:ext cx="522994" cy="126720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HP Simplified"/>
              <a:ea typeface="+mn-ea"/>
              <a:cs typeface="+mn-cs"/>
            </a:endParaRPr>
          </a:p>
        </p:txBody>
      </p:sp>
      <p:sp>
        <p:nvSpPr>
          <p:cNvPr id="100" name="Rectangle 40"/>
          <p:cNvSpPr/>
          <p:nvPr/>
        </p:nvSpPr>
        <p:spPr>
          <a:xfrm>
            <a:off x="8396097" y="3611108"/>
            <a:ext cx="522994" cy="126720"/>
          </a:xfrm>
          <a:prstGeom prst="rect">
            <a:avLst/>
          </a:prstGeom>
          <a:pattFill prst="ltUpDiag">
            <a:fgClr>
              <a:srgbClr val="B9B8BB">
                <a:lumMod val="50000"/>
              </a:srgbClr>
            </a:fgClr>
            <a:bgClr>
              <a:sysClr val="window" lastClr="FFFFFF"/>
            </a:bgClr>
          </a:pattFill>
          <a:ln w="1905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HP Simplified"/>
              <a:ea typeface="+mn-ea"/>
              <a:cs typeface="+mn-cs"/>
            </a:endParaRPr>
          </a:p>
        </p:txBody>
      </p:sp>
      <p:sp>
        <p:nvSpPr>
          <p:cNvPr id="101" name="Rectangle 41"/>
          <p:cNvSpPr/>
          <p:nvPr/>
        </p:nvSpPr>
        <p:spPr>
          <a:xfrm>
            <a:off x="8396097" y="3734328"/>
            <a:ext cx="522994" cy="126720"/>
          </a:xfrm>
          <a:prstGeom prst="rect">
            <a:avLst/>
          </a:prstGeom>
          <a:pattFill prst="pct80">
            <a:fgClr>
              <a:srgbClr val="B9B8BB">
                <a:lumMod val="50000"/>
              </a:srgbClr>
            </a:fgClr>
            <a:bgClr>
              <a:sysClr val="window" lastClr="FFFFFF"/>
            </a:bgClr>
          </a:pattFill>
          <a:ln w="1905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HP Simplified"/>
              <a:ea typeface="+mn-ea"/>
              <a:cs typeface="+mn-cs"/>
            </a:endParaRPr>
          </a:p>
        </p:txBody>
      </p:sp>
      <p:sp>
        <p:nvSpPr>
          <p:cNvPr id="102" name="Rectangle 42"/>
          <p:cNvSpPr/>
          <p:nvPr/>
        </p:nvSpPr>
        <p:spPr>
          <a:xfrm>
            <a:off x="8374059" y="2733590"/>
            <a:ext cx="522994" cy="126720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HP Simplified"/>
              <a:ea typeface="+mn-ea"/>
              <a:cs typeface="+mn-cs"/>
            </a:endParaRPr>
          </a:p>
        </p:txBody>
      </p:sp>
      <p:sp>
        <p:nvSpPr>
          <p:cNvPr id="103" name="Rectangle 43"/>
          <p:cNvSpPr/>
          <p:nvPr/>
        </p:nvSpPr>
        <p:spPr>
          <a:xfrm>
            <a:off x="7485584" y="2733590"/>
            <a:ext cx="522994" cy="126720"/>
          </a:xfrm>
          <a:prstGeom prst="rect">
            <a:avLst/>
          </a:prstGeom>
          <a:pattFill prst="ltUpDiag">
            <a:fgClr>
              <a:srgbClr val="B9B8BB">
                <a:lumMod val="50000"/>
              </a:srgbClr>
            </a:fgClr>
            <a:bgClr>
              <a:sysClr val="window" lastClr="FFFFFF"/>
            </a:bgClr>
          </a:pattFill>
          <a:ln w="1905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HP Simplified"/>
              <a:ea typeface="+mn-ea"/>
              <a:cs typeface="+mn-cs"/>
            </a:endParaRPr>
          </a:p>
        </p:txBody>
      </p:sp>
      <p:sp>
        <p:nvSpPr>
          <p:cNvPr id="104" name="Rectangle 44"/>
          <p:cNvSpPr/>
          <p:nvPr/>
        </p:nvSpPr>
        <p:spPr>
          <a:xfrm>
            <a:off x="9259668" y="2733590"/>
            <a:ext cx="522994" cy="126720"/>
          </a:xfrm>
          <a:prstGeom prst="rect">
            <a:avLst/>
          </a:prstGeom>
          <a:pattFill prst="pct80">
            <a:fgClr>
              <a:srgbClr val="B9B8BB">
                <a:lumMod val="50000"/>
              </a:srgbClr>
            </a:fgClr>
            <a:bgClr>
              <a:sysClr val="window" lastClr="FFFFFF"/>
            </a:bgClr>
          </a:pattFill>
          <a:ln w="1905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HP Simplifie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5988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err="1"/>
              <a:t>하이브리드</a:t>
            </a:r>
            <a:r>
              <a:rPr lang="ko-KR" altLang="en-US" sz="2800" dirty="0"/>
              <a:t> 데이터 저장 구조</a:t>
            </a:r>
            <a:endParaRPr lang="ko-KR" altLang="en-US" sz="25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err="1"/>
              <a:t>Vertica</a:t>
            </a:r>
            <a:r>
              <a:rPr lang="en-US" altLang="ko-KR" dirty="0"/>
              <a:t> </a:t>
            </a:r>
            <a:r>
              <a:rPr lang="ko-KR" altLang="en-US" dirty="0"/>
              <a:t>아키텍처</a:t>
            </a:r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디스크 저장 영역 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ROS – Read Optimized Store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Column </a:t>
            </a:r>
            <a:r>
              <a:rPr lang="ko-KR" altLang="en-US" sz="1100" dirty="0"/>
              <a:t>단위로 물리적 파일 형태로 저장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별도의 테이블스페이스 지정 및 관리가 필요하지 않음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필요한 </a:t>
            </a:r>
            <a:r>
              <a:rPr lang="ko-KR" altLang="en-US" sz="1100" dirty="0" err="1"/>
              <a:t>컬럼만</a:t>
            </a:r>
            <a:r>
              <a:rPr lang="ko-KR" altLang="en-US" sz="1100" dirty="0"/>
              <a:t> 물리적으로 </a:t>
            </a:r>
            <a:r>
              <a:rPr lang="en-US" altLang="ko-KR" sz="1100" dirty="0"/>
              <a:t>I/O</a:t>
            </a:r>
            <a:r>
              <a:rPr lang="ko-KR" altLang="en-US" sz="1100" dirty="0"/>
              <a:t>를 발생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대용량 </a:t>
            </a:r>
            <a:r>
              <a:rPr lang="en-US" altLang="ko-KR" sz="1100" dirty="0"/>
              <a:t>DW </a:t>
            </a:r>
            <a:r>
              <a:rPr lang="ko-KR" altLang="en-US" sz="1100" dirty="0"/>
              <a:t>업무 처리에 최적화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DML </a:t>
            </a:r>
            <a:r>
              <a:rPr lang="ko-KR" altLang="en-US" sz="1100" dirty="0"/>
              <a:t>및 </a:t>
            </a:r>
            <a:r>
              <a:rPr lang="en-US" altLang="ko-KR" sz="1100" dirty="0"/>
              <a:t>Copy </a:t>
            </a:r>
            <a:r>
              <a:rPr lang="ko-KR" altLang="en-US" sz="1100" dirty="0"/>
              <a:t>구문에 </a:t>
            </a:r>
            <a:r>
              <a:rPr lang="en-US" altLang="ko-KR" sz="1100" dirty="0"/>
              <a:t>Direct </a:t>
            </a:r>
            <a:r>
              <a:rPr lang="ko-KR" altLang="en-US" sz="1100" dirty="0"/>
              <a:t>옵션을 사용할 때 바로 </a:t>
            </a:r>
            <a:r>
              <a:rPr lang="en-US" altLang="ko-KR" sz="1100" dirty="0"/>
              <a:t>ROS</a:t>
            </a:r>
            <a:r>
              <a:rPr lang="ko-KR" altLang="en-US" sz="1100" dirty="0"/>
              <a:t>로 저장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데이터는 자동으로 </a:t>
            </a:r>
            <a:r>
              <a:rPr lang="ko-KR" altLang="en-US" sz="1100" dirty="0" err="1"/>
              <a:t>인코딩</a:t>
            </a:r>
            <a:r>
              <a:rPr lang="en-US" altLang="ko-KR" sz="1100" dirty="0"/>
              <a:t>/</a:t>
            </a:r>
            <a:r>
              <a:rPr lang="ko-KR" altLang="en-US" sz="1100" dirty="0"/>
              <a:t>압축되므로 별도의 옵션이 </a:t>
            </a:r>
            <a:r>
              <a:rPr lang="ko-KR" altLang="en-US" sz="1100" dirty="0" err="1"/>
              <a:t>필요없음</a:t>
            </a: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메모리 저장 영역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WOS – Write Optimized Store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실시간 데이터 </a:t>
            </a:r>
            <a:r>
              <a:rPr lang="en-US" altLang="ko-KR" sz="1100" dirty="0"/>
              <a:t>DML </a:t>
            </a:r>
            <a:r>
              <a:rPr lang="ko-KR" altLang="en-US" sz="1100" dirty="0"/>
              <a:t>처리에 최적화된 메모리 기반 </a:t>
            </a:r>
            <a:r>
              <a:rPr lang="en-US" altLang="ko-KR" sz="1100" dirty="0"/>
              <a:t>DB </a:t>
            </a:r>
            <a:r>
              <a:rPr lang="ko-KR" altLang="en-US" sz="1100" dirty="0"/>
              <a:t>영역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Record </a:t>
            </a:r>
            <a:r>
              <a:rPr lang="ko-KR" altLang="en-US" sz="1100" dirty="0"/>
              <a:t>형태로 저장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WOS</a:t>
            </a:r>
            <a:r>
              <a:rPr lang="ko-KR" altLang="en-US" sz="1100" dirty="0"/>
              <a:t>에 저장된 데이터는 </a:t>
            </a:r>
            <a:r>
              <a:rPr lang="en-US" altLang="ko-KR" sz="1100" dirty="0"/>
              <a:t>Tuple Mover</a:t>
            </a:r>
            <a:r>
              <a:rPr lang="ko-KR" altLang="en-US" sz="1100" dirty="0"/>
              <a:t>에 의해 자동으로 </a:t>
            </a:r>
            <a:r>
              <a:rPr lang="en-US" altLang="ko-KR" sz="1100" dirty="0"/>
              <a:t>ROS</a:t>
            </a:r>
            <a:r>
              <a:rPr lang="ko-KR" altLang="en-US" sz="1100" dirty="0"/>
              <a:t>로 이동</a:t>
            </a:r>
            <a:endParaRPr lang="en-US" altLang="ko-KR" sz="1100" dirty="0"/>
          </a:p>
          <a:p>
            <a:pPr lvl="1"/>
            <a:endParaRPr lang="ko-KR" altLang="en-US" sz="1100" dirty="0"/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buFont typeface="Arial" pitchFamily="34" charset="0"/>
              <a:buChar char="•"/>
            </a:pPr>
            <a:endParaRPr lang="ko-KR" altLang="en-US" sz="1100" dirty="0"/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7"/>
          <p:cNvSpPr/>
          <p:nvPr/>
        </p:nvSpPr>
        <p:spPr>
          <a:xfrm>
            <a:off x="7966620" y="1988840"/>
            <a:ext cx="720080" cy="72008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1100" dirty="0">
                <a:solidFill>
                  <a:schemeClr val="tx1"/>
                </a:solidFill>
                <a:ea typeface="맑은 고딕" panose="020B0503020000020004" pitchFamily="50" charset="-127"/>
              </a:rPr>
              <a:t>WOS</a:t>
            </a:r>
            <a:endParaRPr lang="ko-KR" altLang="en-US" sz="1100" dirty="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7015928" y="2431921"/>
            <a:ext cx="556563" cy="6093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ea typeface="맑은 고딕" panose="020B0503020000020004" pitchFamily="50" charset="-127"/>
              </a:rPr>
              <a:t>INSERT</a:t>
            </a:r>
          </a:p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ea typeface="맑은 고딕" panose="020B0503020000020004" pitchFamily="50" charset="-127"/>
              </a:rPr>
              <a:t>UPDATE</a:t>
            </a:r>
          </a:p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ea typeface="맑은 고딕" panose="020B0503020000020004" pitchFamily="50" charset="-127"/>
              </a:rPr>
              <a:t>DELETE</a:t>
            </a:r>
          </a:p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ea typeface="맑은 고딕" panose="020B0503020000020004" pitchFamily="50" charset="-127"/>
              </a:rPr>
              <a:t>COPY</a:t>
            </a:r>
            <a:endParaRPr lang="ko-KR" altLang="en-US" sz="1100" dirty="0" err="1">
              <a:ea typeface="맑은 고딕" panose="020B0503020000020004" pitchFamily="50" charset="-127"/>
            </a:endParaRPr>
          </a:p>
        </p:txBody>
      </p:sp>
      <p:cxnSp>
        <p:nvCxnSpPr>
          <p:cNvPr id="83" name="Straight Arrow Connector 13"/>
          <p:cNvCxnSpPr>
            <a:stCxn id="81" idx="2"/>
            <a:endCxn id="89" idx="2"/>
          </p:cNvCxnSpPr>
          <p:nvPr/>
        </p:nvCxnSpPr>
        <p:spPr>
          <a:xfrm>
            <a:off x="8326660" y="2708920"/>
            <a:ext cx="298172" cy="219284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19"/>
          <p:cNvSpPr/>
          <p:nvPr/>
        </p:nvSpPr>
        <p:spPr>
          <a:xfrm>
            <a:off x="9331056" y="1988840"/>
            <a:ext cx="1547415" cy="72008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1100" dirty="0">
                <a:solidFill>
                  <a:schemeClr val="tx1"/>
                </a:solidFill>
                <a:ea typeface="맑은 고딕" panose="020B0503020000020004" pitchFamily="50" charset="-127"/>
              </a:rPr>
              <a:t>ROS</a:t>
            </a:r>
            <a:endParaRPr lang="ko-KR" altLang="en-US" sz="1100" dirty="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sp>
        <p:nvSpPr>
          <p:cNvPr id="85" name="Oval 20"/>
          <p:cNvSpPr/>
          <p:nvPr/>
        </p:nvSpPr>
        <p:spPr>
          <a:xfrm>
            <a:off x="6267673" y="3198725"/>
            <a:ext cx="1308507" cy="2160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application</a:t>
            </a:r>
            <a:endParaRPr lang="ko-KR" altLang="en-US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6" name="Elbow Connector 22"/>
          <p:cNvCxnSpPr>
            <a:stCxn id="85" idx="0"/>
            <a:endCxn id="81" idx="1"/>
          </p:cNvCxnSpPr>
          <p:nvPr/>
        </p:nvCxnSpPr>
        <p:spPr>
          <a:xfrm rot="5400000" flipH="1" flipV="1">
            <a:off x="7019351" y="2251457"/>
            <a:ext cx="849845" cy="1044693"/>
          </a:xfrm>
          <a:prstGeom prst="bentConnector2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Elbow Connector 24"/>
          <p:cNvCxnSpPr>
            <a:stCxn id="85" idx="6"/>
            <a:endCxn id="84" idx="2"/>
          </p:cNvCxnSpPr>
          <p:nvPr/>
        </p:nvCxnSpPr>
        <p:spPr>
          <a:xfrm flipV="1">
            <a:off x="7576180" y="2708920"/>
            <a:ext cx="2528584" cy="597818"/>
          </a:xfrm>
          <a:prstGeom prst="bentConnector2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10225445" y="2794719"/>
            <a:ext cx="1576072" cy="6093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ea typeface="맑은 고딕" panose="020B0503020000020004" pitchFamily="50" charset="-127"/>
              </a:rPr>
              <a:t>INSERT /*+ direct */</a:t>
            </a:r>
          </a:p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ea typeface="맑은 고딕" panose="020B0503020000020004" pitchFamily="50" charset="-127"/>
              </a:rPr>
              <a:t>UPDATE /*+ direct */</a:t>
            </a:r>
          </a:p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ea typeface="맑은 고딕" panose="020B0503020000020004" pitchFamily="50" charset="-127"/>
              </a:rPr>
              <a:t>DELETE /*+ direct */</a:t>
            </a:r>
          </a:p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ea typeface="맑은 고딕" panose="020B0503020000020004" pitchFamily="50" charset="-127"/>
              </a:rPr>
              <a:t>COPY With DIRECT Option</a:t>
            </a:r>
            <a:endParaRPr lang="ko-KR" altLang="en-US" sz="1100" dirty="0" err="1">
              <a:ea typeface="맑은 고딕" panose="020B0503020000020004" pitchFamily="50" charset="-127"/>
            </a:endParaRPr>
          </a:p>
        </p:txBody>
      </p:sp>
      <p:sp>
        <p:nvSpPr>
          <p:cNvPr id="89" name="Oval 32"/>
          <p:cNvSpPr/>
          <p:nvPr/>
        </p:nvSpPr>
        <p:spPr>
          <a:xfrm>
            <a:off x="8624832" y="2710539"/>
            <a:ext cx="816814" cy="43532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1100" dirty="0">
                <a:solidFill>
                  <a:schemeClr val="tx1"/>
                </a:solidFill>
                <a:ea typeface="맑은 고딕" panose="020B0503020000020004" pitchFamily="50" charset="-127"/>
              </a:rPr>
              <a:t>Tuple</a:t>
            </a:r>
          </a:p>
          <a:p>
            <a:pPr algn="ctr">
              <a:lnSpc>
                <a:spcPct val="90000"/>
              </a:lnSpc>
            </a:pPr>
            <a:r>
              <a:rPr lang="en-US" altLang="ko-KR" sz="1100" dirty="0">
                <a:solidFill>
                  <a:schemeClr val="tx1"/>
                </a:solidFill>
                <a:ea typeface="맑은 고딕" panose="020B0503020000020004" pitchFamily="50" charset="-127"/>
              </a:rPr>
              <a:t>Mover</a:t>
            </a:r>
            <a:endParaRPr lang="ko-KR" altLang="en-US" sz="1100" dirty="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cxnSp>
        <p:nvCxnSpPr>
          <p:cNvPr id="90" name="Straight Arrow Connector 35"/>
          <p:cNvCxnSpPr>
            <a:stCxn id="89" idx="6"/>
          </p:cNvCxnSpPr>
          <p:nvPr/>
        </p:nvCxnSpPr>
        <p:spPr>
          <a:xfrm flipV="1">
            <a:off x="9441646" y="2708920"/>
            <a:ext cx="218438" cy="219284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ight Bracket 40"/>
          <p:cNvSpPr/>
          <p:nvPr/>
        </p:nvSpPr>
        <p:spPr>
          <a:xfrm rot="16200000">
            <a:off x="9002715" y="901766"/>
            <a:ext cx="180020" cy="1778104"/>
          </a:xfrm>
          <a:prstGeom prst="rightBracket">
            <a:avLst/>
          </a:prstGeom>
          <a:ln w="19050">
            <a:solidFill>
              <a:schemeClr val="tx2"/>
            </a:solidFill>
            <a:prstDash val="sys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cxnSp>
        <p:nvCxnSpPr>
          <p:cNvPr id="92" name="Elbow Connector 43"/>
          <p:cNvCxnSpPr/>
          <p:nvPr/>
        </p:nvCxnSpPr>
        <p:spPr>
          <a:xfrm rot="5400000">
            <a:off x="7150933" y="1364367"/>
            <a:ext cx="1497917" cy="2170798"/>
          </a:xfrm>
          <a:prstGeom prst="bentConnector3">
            <a:avLst>
              <a:gd name="adj1" fmla="val -15864"/>
            </a:avLst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6870935" y="1513819"/>
            <a:ext cx="494046" cy="1523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ea typeface="맑은 고딕" panose="020B0503020000020004" pitchFamily="50" charset="-127"/>
              </a:rPr>
              <a:t>SELECT</a:t>
            </a:r>
            <a:endParaRPr lang="ko-KR" altLang="en-US" sz="1100" dirty="0" err="1">
              <a:ea typeface="맑은 고딕" panose="020B0503020000020004" pitchFamily="50" charset="-127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831432" y="3942501"/>
            <a:ext cx="88966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WOS/ROS </a:t>
            </a:r>
            <a:r>
              <a:rPr lang="ko-KR" altLang="en-US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참조</a:t>
            </a:r>
          </a:p>
        </p:txBody>
      </p:sp>
      <p:pic>
        <p:nvPicPr>
          <p:cNvPr id="96" name="Picture 13" descr="C:\Users\hongjon\Documents\Proposal\ICON\Business_Icons\Business_Icons\Innovation\Innovation_RGB\Innovation_RGB_blue_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5" y="3826104"/>
            <a:ext cx="196427" cy="322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말풍선: 사각형 22">
            <a:extLst>
              <a:ext uri="{FF2B5EF4-FFF2-40B4-BE49-F238E27FC236}">
                <a16:creationId xmlns:a16="http://schemas.microsoft.com/office/drawing/2014/main" id="{00057646-3484-4FEE-9CF3-0EF9E08CF118}"/>
              </a:ext>
            </a:extLst>
          </p:cNvPr>
          <p:cNvSpPr/>
          <p:nvPr/>
        </p:nvSpPr>
        <p:spPr>
          <a:xfrm>
            <a:off x="9192344" y="1224594"/>
            <a:ext cx="1104109" cy="232348"/>
          </a:xfrm>
          <a:prstGeom prst="wedgeRectCallout">
            <a:avLst>
              <a:gd name="adj1" fmla="val -124425"/>
              <a:gd name="adj2" fmla="val 33348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 dirty="0">
                <a:solidFill>
                  <a:schemeClr val="bg1"/>
                </a:solidFill>
              </a:rPr>
              <a:t>Deprecated in 9.3</a:t>
            </a:r>
          </a:p>
        </p:txBody>
      </p:sp>
      <p:sp>
        <p:nvSpPr>
          <p:cNvPr id="24" name="말풍선: 사각형 23">
            <a:extLst>
              <a:ext uri="{FF2B5EF4-FFF2-40B4-BE49-F238E27FC236}">
                <a16:creationId xmlns:a16="http://schemas.microsoft.com/office/drawing/2014/main" id="{C63302F7-D62C-43C9-8644-7974CA813BB7}"/>
              </a:ext>
            </a:extLst>
          </p:cNvPr>
          <p:cNvSpPr/>
          <p:nvPr/>
        </p:nvSpPr>
        <p:spPr>
          <a:xfrm>
            <a:off x="2120132" y="2818562"/>
            <a:ext cx="1104109" cy="232348"/>
          </a:xfrm>
          <a:prstGeom prst="wedgeRectCallout">
            <a:avLst>
              <a:gd name="adj1" fmla="val -78328"/>
              <a:gd name="adj2" fmla="val 736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 dirty="0">
                <a:solidFill>
                  <a:schemeClr val="bg1"/>
                </a:solidFill>
              </a:rPr>
              <a:t>Deprecated in 9.3</a:t>
            </a:r>
          </a:p>
        </p:txBody>
      </p:sp>
    </p:spTree>
    <p:extLst>
      <p:ext uri="{BB962C8B-B14F-4D97-AF65-F5344CB8AC3E}">
        <p14:creationId xmlns:p14="http://schemas.microsoft.com/office/powerpoint/2010/main" val="2411291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ular Callout 28"/>
          <p:cNvSpPr/>
          <p:nvPr/>
        </p:nvSpPr>
        <p:spPr>
          <a:xfrm>
            <a:off x="9262764" y="2099322"/>
            <a:ext cx="2657907" cy="1280409"/>
          </a:xfrm>
          <a:prstGeom prst="wedgeRectCallout">
            <a:avLst>
              <a:gd name="adj1" fmla="val -39268"/>
              <a:gd name="adj2" fmla="val 97110"/>
            </a:avLst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en-US" altLang="ko-KR" sz="1000" i="1" dirty="0">
                <a:solidFill>
                  <a:prstClr val="black"/>
                </a:solidFill>
              </a:rPr>
              <a:t>NUMERIC, DECIMAL, NUMBER, MONEY</a:t>
            </a:r>
            <a:r>
              <a:rPr lang="ko-KR" altLang="en-US" sz="1000" i="1" dirty="0">
                <a:solidFill>
                  <a:prstClr val="black"/>
                </a:solidFill>
              </a:rPr>
              <a:t>는 모두</a:t>
            </a:r>
            <a:r>
              <a:rPr lang="en-US" altLang="ko-KR" sz="1000" i="1" dirty="0">
                <a:solidFill>
                  <a:prstClr val="black"/>
                </a:solidFill>
              </a:rPr>
              <a:t>NUMERIC </a:t>
            </a:r>
            <a:r>
              <a:rPr lang="ko-KR" altLang="en-US" sz="1000" i="1" dirty="0">
                <a:solidFill>
                  <a:prstClr val="black"/>
                </a:solidFill>
              </a:rPr>
              <a:t>타입의 동의어이지만 </a:t>
            </a:r>
            <a:r>
              <a:rPr lang="en-US" altLang="ko-KR" sz="1000" i="1" dirty="0">
                <a:solidFill>
                  <a:prstClr val="black"/>
                </a:solidFill>
              </a:rPr>
              <a:t>default </a:t>
            </a:r>
            <a:r>
              <a:rPr lang="ko-KR" altLang="en-US" sz="1000" i="1" dirty="0">
                <a:solidFill>
                  <a:prstClr val="black"/>
                </a:solidFill>
              </a:rPr>
              <a:t>값은 데이터 타입에 따라 상이함</a:t>
            </a:r>
            <a:endParaRPr lang="en-US" altLang="ko-KR" sz="1000" i="1" dirty="0">
              <a:solidFill>
                <a:prstClr val="black"/>
              </a:solidFill>
            </a:endParaRPr>
          </a:p>
          <a:p>
            <a:pPr marL="171450" lvl="0" indent="-171450">
              <a:lnSpc>
                <a:spcPts val="1200"/>
              </a:lnSpc>
              <a:buFontTx/>
              <a:buChar char="-"/>
            </a:pPr>
            <a:r>
              <a:rPr lang="en-US" altLang="ko-KR" sz="1000" i="1" dirty="0">
                <a:solidFill>
                  <a:prstClr val="black"/>
                </a:solidFill>
              </a:rPr>
              <a:t>NUMERIC (37, 15)</a:t>
            </a:r>
          </a:p>
          <a:p>
            <a:pPr marL="171450" lvl="0" indent="-171450">
              <a:lnSpc>
                <a:spcPts val="1200"/>
              </a:lnSpc>
              <a:buFontTx/>
              <a:buChar char="-"/>
            </a:pPr>
            <a:r>
              <a:rPr lang="en-US" altLang="ko-KR" sz="1000" i="1" dirty="0">
                <a:solidFill>
                  <a:prstClr val="black"/>
                </a:solidFill>
              </a:rPr>
              <a:t>DECIMAL (37, 15)</a:t>
            </a:r>
          </a:p>
          <a:p>
            <a:pPr marL="171450" lvl="0" indent="-171450">
              <a:lnSpc>
                <a:spcPts val="1200"/>
              </a:lnSpc>
              <a:buFontTx/>
              <a:buChar char="-"/>
            </a:pPr>
            <a:r>
              <a:rPr lang="en-US" altLang="ko-KR" sz="1000" i="1" dirty="0">
                <a:solidFill>
                  <a:prstClr val="black"/>
                </a:solidFill>
              </a:rPr>
              <a:t>NUMBER (38, 0)</a:t>
            </a:r>
          </a:p>
          <a:p>
            <a:pPr marL="171450" lvl="0" indent="-171450">
              <a:lnSpc>
                <a:spcPts val="1200"/>
              </a:lnSpc>
              <a:buFontTx/>
              <a:buChar char="-"/>
            </a:pPr>
            <a:r>
              <a:rPr lang="en-US" altLang="ko-KR" sz="1000" i="1" dirty="0">
                <a:solidFill>
                  <a:prstClr val="black"/>
                </a:solidFill>
              </a:rPr>
              <a:t>MONEY (18, 4)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데이터베이스 논리 오브젝트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err="1"/>
              <a:t>Vertica</a:t>
            </a:r>
            <a:r>
              <a:rPr lang="en-US" altLang="ko-KR" dirty="0"/>
              <a:t> </a:t>
            </a:r>
            <a:r>
              <a:rPr lang="ko-KR" altLang="en-US" dirty="0"/>
              <a:t>아키텍처</a:t>
            </a:r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데이터베이스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단일 </a:t>
            </a:r>
            <a:r>
              <a:rPr lang="ko-KR" altLang="en-US" sz="1100" dirty="0" err="1"/>
              <a:t>인스턴스</a:t>
            </a:r>
            <a:r>
              <a:rPr lang="ko-KR" altLang="en-US" sz="1100" dirty="0"/>
              <a:t> 단일 데이터베이스 사용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데이터베이스 사용자 </a:t>
            </a:r>
            <a:r>
              <a:rPr lang="en-US" altLang="ko-KR" sz="1100" b="1" dirty="0"/>
              <a:t>(User)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데이터베이스 관리자 계정은 설치 단계에서 결정 </a:t>
            </a:r>
            <a:r>
              <a:rPr lang="en-US" altLang="ko-KR" sz="1100" dirty="0"/>
              <a:t>(</a:t>
            </a:r>
            <a:r>
              <a:rPr lang="ko-KR" altLang="en-US" sz="1100" dirty="0"/>
              <a:t>기본</a:t>
            </a:r>
            <a:r>
              <a:rPr lang="en-US" altLang="ko-KR" sz="1100" dirty="0"/>
              <a:t>: </a:t>
            </a:r>
            <a:r>
              <a:rPr lang="en-US" altLang="ko-KR" sz="1100" dirty="0" err="1"/>
              <a:t>dbadmin</a:t>
            </a:r>
            <a:r>
              <a:rPr lang="en-US" altLang="ko-KR" sz="1100" dirty="0"/>
              <a:t>)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관리자 계정은 </a:t>
            </a:r>
            <a:r>
              <a:rPr lang="en-US" altLang="ko-KR" sz="1100" dirty="0"/>
              <a:t>OS </a:t>
            </a:r>
            <a:r>
              <a:rPr lang="ko-KR" altLang="en-US" sz="1100" dirty="0"/>
              <a:t>계정과 동일하게 생성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나머지 사용자 계정은 데이터베이스 안에서 </a:t>
            </a:r>
            <a:r>
              <a:rPr lang="en-US" altLang="ko-KR" sz="1100" dirty="0"/>
              <a:t>User </a:t>
            </a:r>
            <a:r>
              <a:rPr lang="ko-KR" altLang="en-US" sz="1100" dirty="0"/>
              <a:t>오브젝트로 생성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 err="1"/>
              <a:t>사용자별로</a:t>
            </a:r>
            <a:r>
              <a:rPr lang="ko-KR" altLang="en-US" sz="1100" dirty="0"/>
              <a:t> 패스워드 관리</a:t>
            </a:r>
            <a:r>
              <a:rPr lang="en-US" altLang="ko-KR" sz="1100" dirty="0"/>
              <a:t>, </a:t>
            </a:r>
            <a:r>
              <a:rPr lang="ko-KR" altLang="en-US" sz="1100" dirty="0"/>
              <a:t>리소스</a:t>
            </a:r>
            <a:r>
              <a:rPr lang="en-US" altLang="ko-KR" sz="1100" dirty="0"/>
              <a:t>, </a:t>
            </a:r>
            <a:r>
              <a:rPr lang="ko-KR" altLang="en-US" sz="1100" dirty="0"/>
              <a:t>런타임 등 관리 가능</a:t>
            </a: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스키마 </a:t>
            </a:r>
            <a:r>
              <a:rPr lang="en-US" altLang="ko-KR" sz="1100" b="1" dirty="0"/>
              <a:t>(Schema)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논리적인 데이터 오브젝트의 묶음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기본 스키마는 </a:t>
            </a:r>
            <a:r>
              <a:rPr lang="en-US" altLang="ko-KR" sz="1100" dirty="0"/>
              <a:t>public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스키마를 만드는 권한은 </a:t>
            </a:r>
            <a:r>
              <a:rPr lang="en-US" altLang="ko-KR" sz="1100" dirty="0"/>
              <a:t>DB</a:t>
            </a:r>
            <a:r>
              <a:rPr lang="ko-KR" altLang="en-US" sz="1100" dirty="0"/>
              <a:t>슈퍼유저만 가능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 err="1"/>
              <a:t>오라클과</a:t>
            </a:r>
            <a:r>
              <a:rPr lang="ko-KR" altLang="en-US" sz="1100" dirty="0"/>
              <a:t> 같이 </a:t>
            </a:r>
            <a:r>
              <a:rPr lang="en-US" altLang="ko-KR" sz="1100" dirty="0"/>
              <a:t>user</a:t>
            </a:r>
            <a:r>
              <a:rPr lang="ko-KR" altLang="en-US" sz="1100" dirty="0"/>
              <a:t>와 </a:t>
            </a:r>
            <a:r>
              <a:rPr lang="en-US" altLang="ko-KR" sz="1100" dirty="0"/>
              <a:t>schema</a:t>
            </a:r>
            <a:r>
              <a:rPr lang="ko-KR" altLang="en-US" sz="1100" dirty="0"/>
              <a:t>가</a:t>
            </a:r>
            <a:r>
              <a:rPr lang="en-US" altLang="ko-KR" sz="1100" dirty="0"/>
              <a:t> </a:t>
            </a:r>
            <a:r>
              <a:rPr lang="ko-KR" altLang="en-US" sz="1100" dirty="0"/>
              <a:t>동의어 관계가 아님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  <a:buFont typeface="Calibri" pitchFamily="34" charset="0"/>
              <a:buChar char="⁻"/>
            </a:pPr>
            <a:r>
              <a:rPr lang="ko-KR" altLang="en-US" sz="1100" dirty="0"/>
              <a:t>일반 유저는 스키마에 테이블과 같은 오브젝트를 생성하거나 사용할 수 있는 권한을 부여 받아야 한다</a:t>
            </a:r>
            <a:r>
              <a:rPr lang="en-US" altLang="ko-KR" sz="1100" dirty="0"/>
              <a:t>.</a:t>
            </a:r>
          </a:p>
          <a:p>
            <a:pPr lvl="2">
              <a:lnSpc>
                <a:spcPct val="100000"/>
              </a:lnSpc>
              <a:spcAft>
                <a:spcPts val="0"/>
              </a:spcAft>
              <a:buFont typeface="Calibri" pitchFamily="34" charset="0"/>
              <a:buChar char="⁻"/>
            </a:pPr>
            <a:r>
              <a:rPr lang="ko-KR" altLang="en-US" sz="1100" dirty="0" err="1"/>
              <a:t>스키마명이</a:t>
            </a:r>
            <a:r>
              <a:rPr lang="ko-KR" altLang="en-US" sz="1100" dirty="0"/>
              <a:t> 명시적으로 사용되지 않을 경우 </a:t>
            </a:r>
            <a:r>
              <a:rPr lang="en-US" altLang="ko-KR" sz="1100" dirty="0"/>
              <a:t>SEARCH_PATH </a:t>
            </a:r>
            <a:r>
              <a:rPr lang="ko-KR" altLang="en-US" sz="1100" dirty="0"/>
              <a:t>값에 의해 테이블의 스키마가 순서대로 선택됨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스키마를 </a:t>
            </a:r>
            <a:r>
              <a:rPr lang="en-US" altLang="ko-KR" sz="1100" dirty="0"/>
              <a:t>drop</a:t>
            </a:r>
            <a:r>
              <a:rPr lang="ko-KR" altLang="en-US" sz="1100" dirty="0"/>
              <a:t>하면 해당 스키마에 생성된 모든 테이블이 함께 </a:t>
            </a:r>
            <a:r>
              <a:rPr lang="en-US" altLang="ko-KR" sz="1100" dirty="0"/>
              <a:t>drop (cascade option </a:t>
            </a:r>
            <a:r>
              <a:rPr lang="ko-KR" altLang="en-US" sz="1100" dirty="0"/>
              <a:t>지정</a:t>
            </a:r>
            <a:r>
              <a:rPr lang="en-US" altLang="ko-KR" sz="1100" dirty="0"/>
              <a:t>)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search path </a:t>
            </a:r>
            <a:r>
              <a:rPr lang="ko-KR" altLang="en-US" sz="1100" b="1" dirty="0"/>
              <a:t>설정 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 err="1"/>
              <a:t>스카마명을</a:t>
            </a:r>
            <a:r>
              <a:rPr lang="ko-KR" altLang="en-US" sz="1100" dirty="0"/>
              <a:t> 명시적으로 지정하지 않고 사용하고자 하는 경우 </a:t>
            </a:r>
            <a:r>
              <a:rPr lang="en-US" altLang="ko-KR" sz="1100" dirty="0"/>
              <a:t>search path</a:t>
            </a:r>
            <a:r>
              <a:rPr lang="ko-KR" altLang="en-US" sz="1100" dirty="0"/>
              <a:t>를 설정해서 사용하면 된다</a:t>
            </a:r>
            <a:r>
              <a:rPr lang="en-US" altLang="ko-KR" sz="1100" dirty="0"/>
              <a:t>.(</a:t>
            </a:r>
            <a:r>
              <a:rPr lang="ko-KR" altLang="en-US" sz="1100" dirty="0"/>
              <a:t>권장하지 않음</a:t>
            </a:r>
            <a:r>
              <a:rPr lang="en-US" altLang="ko-KR" sz="1100" dirty="0"/>
              <a:t>)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지정된 </a:t>
            </a:r>
            <a:r>
              <a:rPr lang="en-US" altLang="ko-KR" sz="1100" dirty="0"/>
              <a:t>search path </a:t>
            </a:r>
            <a:r>
              <a:rPr lang="ko-KR" altLang="en-US" sz="1100" dirty="0"/>
              <a:t>값의 순서대로 테이블의 스키마가 선택된다</a:t>
            </a:r>
            <a:r>
              <a:rPr lang="en-US" altLang="ko-KR" sz="1100" dirty="0"/>
              <a:t>.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Search path </a:t>
            </a:r>
            <a:r>
              <a:rPr lang="ko-KR" altLang="en-US" sz="1100" dirty="0"/>
              <a:t>확인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b="1" dirty="0"/>
              <a:t>show </a:t>
            </a:r>
            <a:r>
              <a:rPr lang="en-US" altLang="ko-KR" sz="1100" b="1" dirty="0" err="1"/>
              <a:t>search_path</a:t>
            </a:r>
            <a:r>
              <a:rPr lang="en-US" altLang="ko-KR" sz="1100" b="1" dirty="0"/>
              <a:t>; 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Search path </a:t>
            </a:r>
            <a:r>
              <a:rPr lang="ko-KR" altLang="en-US" sz="1100" dirty="0"/>
              <a:t>지정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alter user tester </a:t>
            </a:r>
            <a:r>
              <a:rPr lang="en-US" altLang="ko-KR" sz="1100" b="1" dirty="0" err="1"/>
              <a:t>search_path</a:t>
            </a:r>
            <a:r>
              <a:rPr lang="en-US" altLang="ko-KR" sz="1100" dirty="0"/>
              <a:t> s1, s2, "$user", public, </a:t>
            </a:r>
            <a:r>
              <a:rPr lang="en-US" altLang="ko-KR" sz="1100" dirty="0" err="1"/>
              <a:t>v_catalog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v_monitor</a:t>
            </a:r>
            <a:r>
              <a:rPr lang="en-US" altLang="ko-KR" sz="1100" dirty="0"/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테이블 </a:t>
            </a:r>
            <a:r>
              <a:rPr lang="en-US" altLang="ko-KR" sz="1100" b="1" dirty="0"/>
              <a:t>(Table)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데이터 논리 모델링의 오브젝트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대부분의 상용 </a:t>
            </a:r>
            <a:r>
              <a:rPr lang="en-US" altLang="ko-KR" sz="1100" dirty="0"/>
              <a:t>DB</a:t>
            </a:r>
            <a:r>
              <a:rPr lang="ko-KR" altLang="en-US" sz="1100" dirty="0"/>
              <a:t>의 데이터 타입과 호환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데이터 타입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Character Type</a:t>
            </a:r>
          </a:p>
          <a:p>
            <a:pPr lvl="3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CHAR : 1-65,000</a:t>
            </a:r>
          </a:p>
          <a:p>
            <a:pPr lvl="3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VARCHAR : 1-65,000</a:t>
            </a:r>
          </a:p>
          <a:p>
            <a:pPr lvl="3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LONG VARCHAR : 1-32,000,000 </a:t>
            </a:r>
          </a:p>
          <a:p>
            <a:pPr lvl="2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Date/Time Type</a:t>
            </a:r>
          </a:p>
          <a:p>
            <a:pPr lvl="3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DATE </a:t>
            </a:r>
          </a:p>
          <a:p>
            <a:pPr lvl="3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DATETIME = TIMESTAMP</a:t>
            </a:r>
          </a:p>
          <a:p>
            <a:pPr lvl="3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INTERVAL</a:t>
            </a:r>
          </a:p>
          <a:p>
            <a:pPr lvl="2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Approximate numeric types  </a:t>
            </a:r>
          </a:p>
          <a:p>
            <a:pPr lvl="3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Signed 64-bit IEEE floating point number</a:t>
            </a:r>
          </a:p>
          <a:p>
            <a:pPr lvl="3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DOUBLE PRECISION</a:t>
            </a:r>
          </a:p>
          <a:p>
            <a:pPr lvl="3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FLOAT / FLOAT(n) / FLOAT8 / REAL</a:t>
            </a:r>
          </a:p>
          <a:p>
            <a:pPr lvl="2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Exact numeric types  </a:t>
            </a:r>
          </a:p>
          <a:p>
            <a:pPr lvl="3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INT / INTEGER / BIGINT / INT8 / SMALLINT / TINYINT</a:t>
            </a:r>
          </a:p>
          <a:p>
            <a:pPr lvl="3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DECIMAL / NUMERIC / NUMBER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테이블 정의에 특별한 옵션이 필요하지 않고</a:t>
            </a:r>
            <a:r>
              <a:rPr lang="en-US" altLang="ko-KR" sz="1100" dirty="0"/>
              <a:t>, </a:t>
            </a:r>
            <a:r>
              <a:rPr lang="ko-KR" altLang="en-US" sz="1100" dirty="0"/>
              <a:t>대부분 </a:t>
            </a:r>
            <a:r>
              <a:rPr lang="ko-KR" altLang="en-US" sz="1100" dirty="0" err="1"/>
              <a:t>프로젝션</a:t>
            </a:r>
            <a:r>
              <a:rPr lang="ko-KR" altLang="en-US" sz="1100" dirty="0"/>
              <a:t> 생성 단계에서 정의하고 테이블 생성 단계에서 필요한 부가적인 옵션은 파티션 구문 정도</a:t>
            </a: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16"/>
          <p:cNvSpPr/>
          <p:nvPr/>
        </p:nvSpPr>
        <p:spPr>
          <a:xfrm>
            <a:off x="4355378" y="1665031"/>
            <a:ext cx="1518987" cy="251801"/>
          </a:xfrm>
          <a:prstGeom prst="roundRect">
            <a:avLst/>
          </a:prstGeom>
          <a:solidFill>
            <a:schemeClr val="tx2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90000"/>
              </a:lnSpc>
            </a:pPr>
            <a:r>
              <a:rPr lang="en-US" altLang="ko-KR" sz="900" dirty="0">
                <a:solidFill>
                  <a:schemeClr val="bg1"/>
                </a:solidFill>
              </a:rPr>
              <a:t>CREATE/ALTER USER</a:t>
            </a:r>
          </a:p>
        </p:txBody>
      </p:sp>
      <p:pic>
        <p:nvPicPr>
          <p:cNvPr id="9" name="Picture 27" descr="C:\Users\hongjon\Documents\Proposal\ICON\Common_Icons\Common_Icons\Magnifying_glass\Magnifying_glass_RGB\Magnifying_glass_RGB_blue_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428" y="1701262"/>
            <a:ext cx="222460" cy="215570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10" name="Rounded Rectangle 18"/>
          <p:cNvSpPr/>
          <p:nvPr/>
        </p:nvSpPr>
        <p:spPr>
          <a:xfrm>
            <a:off x="4466609" y="2780928"/>
            <a:ext cx="1368152" cy="249276"/>
          </a:xfrm>
          <a:prstGeom prst="roundRect">
            <a:avLst/>
          </a:prstGeom>
          <a:solidFill>
            <a:schemeClr val="tx2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90000"/>
              </a:lnSpc>
            </a:pPr>
            <a:r>
              <a:rPr lang="en-US" altLang="ko-KR" sz="900" dirty="0">
                <a:solidFill>
                  <a:schemeClr val="bg1"/>
                </a:solidFill>
              </a:rPr>
              <a:t>CREATE SCHEMA </a:t>
            </a:r>
          </a:p>
        </p:txBody>
      </p:sp>
      <p:pic>
        <p:nvPicPr>
          <p:cNvPr id="11" name="Picture 27" descr="C:\Users\hongjon\Documents\Proposal\ICON\Common_Icons\Common_Icons\Magnifying_glass\Magnifying_glass_RGB\Magnifying_glass_RGB_blue_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9658" y="2816056"/>
            <a:ext cx="222460" cy="215570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14" name="Rounded Rectangle 23"/>
          <p:cNvSpPr/>
          <p:nvPr/>
        </p:nvSpPr>
        <p:spPr>
          <a:xfrm>
            <a:off x="4006635" y="4725144"/>
            <a:ext cx="1828126" cy="250698"/>
          </a:xfrm>
          <a:prstGeom prst="roundRect">
            <a:avLst/>
          </a:prstGeom>
          <a:solidFill>
            <a:schemeClr val="tx2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90000"/>
              </a:lnSpc>
            </a:pPr>
            <a:r>
              <a:rPr lang="en-US" altLang="ko-KR" sz="900" dirty="0">
                <a:solidFill>
                  <a:schemeClr val="bg1"/>
                </a:solidFill>
              </a:rPr>
              <a:t>SET/SHOW SEARCH_PATH</a:t>
            </a:r>
          </a:p>
        </p:txBody>
      </p:sp>
      <p:pic>
        <p:nvPicPr>
          <p:cNvPr id="15" name="Picture 27" descr="C:\Users\hongjon\Documents\Proposal\ICON\Common_Icons\Common_Icons\Magnifying_glass\Magnifying_glass_RGB\Magnifying_glass_RGB_blue_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9684" y="4760272"/>
            <a:ext cx="222460" cy="215570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16" name="Rounded Rectangle 26"/>
          <p:cNvSpPr/>
          <p:nvPr/>
        </p:nvSpPr>
        <p:spPr>
          <a:xfrm>
            <a:off x="10288864" y="1331260"/>
            <a:ext cx="1631807" cy="251801"/>
          </a:xfrm>
          <a:prstGeom prst="roundRect">
            <a:avLst/>
          </a:prstGeom>
          <a:solidFill>
            <a:schemeClr val="tx2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90000"/>
              </a:lnSpc>
            </a:pPr>
            <a:r>
              <a:rPr lang="en-US" altLang="ko-KR" sz="900" dirty="0">
                <a:solidFill>
                  <a:schemeClr val="bg1"/>
                </a:solidFill>
              </a:rPr>
              <a:t>CREATE/ALTER TABLE</a:t>
            </a:r>
          </a:p>
        </p:txBody>
      </p:sp>
      <p:pic>
        <p:nvPicPr>
          <p:cNvPr id="18" name="Picture 27" descr="C:\Users\hongjon\Documents\Proposal\ICON\Common_Icons\Common_Icons\Magnifying_glass\Magnifying_glass_RGB\Magnifying_glass_RGB_blue_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257" y="1367491"/>
            <a:ext cx="222460" cy="215570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19" name="TextBox 18"/>
          <p:cNvSpPr txBox="1"/>
          <p:nvPr/>
        </p:nvSpPr>
        <p:spPr>
          <a:xfrm>
            <a:off x="6964475" y="4952201"/>
            <a:ext cx="81432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000" dirty="0">
                <a:solidFill>
                  <a:schemeClr val="tx2"/>
                </a:solidFill>
              </a:rPr>
              <a:t>프로젝션 참조</a:t>
            </a:r>
            <a:endParaRPr lang="en-US" altLang="ko-KR" sz="10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r>
              <a:rPr lang="ko-KR" altLang="en-US" sz="1000" dirty="0">
                <a:solidFill>
                  <a:schemeClr val="tx2"/>
                </a:solidFill>
              </a:rPr>
              <a:t>파티션 참조</a:t>
            </a:r>
          </a:p>
        </p:txBody>
      </p:sp>
      <p:pic>
        <p:nvPicPr>
          <p:cNvPr id="20" name="Picture 13" descr="C:\Users\hongjon\Documents\Proposal\ICON\Business_Icons\Business_Icons\Innovation\Innovation_RGB\Innovation_RGB_blue_NT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0158" y="4934525"/>
            <a:ext cx="196427" cy="322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0596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데이터베이스 논리 오브젝트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err="1"/>
              <a:t>Vertica</a:t>
            </a:r>
            <a:r>
              <a:rPr lang="en-US" altLang="ko-KR" dirty="0"/>
              <a:t> </a:t>
            </a:r>
            <a:r>
              <a:rPr lang="ko-KR" altLang="en-US" dirty="0"/>
              <a:t>아키텍처</a:t>
            </a:r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 err="1"/>
              <a:t>뷰</a:t>
            </a:r>
            <a:r>
              <a:rPr lang="ko-KR" altLang="en-US" sz="1100" b="1" dirty="0"/>
              <a:t> </a:t>
            </a:r>
            <a:r>
              <a:rPr lang="en-US" altLang="ko-KR" sz="1100" b="1" dirty="0"/>
              <a:t>(View)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 err="1"/>
              <a:t>뷰는</a:t>
            </a:r>
            <a:r>
              <a:rPr lang="ko-KR" altLang="en-US" sz="1100" dirty="0"/>
              <a:t> </a:t>
            </a:r>
            <a:r>
              <a:rPr lang="en-US" altLang="ko-KR" sz="1100" dirty="0"/>
              <a:t>read only</a:t>
            </a:r>
            <a:r>
              <a:rPr lang="ko-KR" altLang="en-US" sz="1100" dirty="0"/>
              <a:t>로 </a:t>
            </a:r>
            <a:r>
              <a:rPr lang="en-US" altLang="ko-KR" sz="1100" dirty="0"/>
              <a:t>DML </a:t>
            </a:r>
            <a:r>
              <a:rPr lang="ko-KR" altLang="en-US" sz="1100" dirty="0"/>
              <a:t>처리는 불가능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CREATE VIEW</a:t>
            </a:r>
            <a:r>
              <a:rPr lang="ko-KR" altLang="en-US" sz="1100" dirty="0"/>
              <a:t>로 </a:t>
            </a:r>
            <a:r>
              <a:rPr lang="ko-KR" altLang="en-US" sz="1100" dirty="0" err="1"/>
              <a:t>뷰</a:t>
            </a:r>
            <a:r>
              <a:rPr lang="ko-KR" altLang="en-US" sz="1100" dirty="0"/>
              <a:t> 오브젝트를 만들거나 </a:t>
            </a:r>
            <a:r>
              <a:rPr lang="en-US" altLang="ko-KR" sz="1100" dirty="0"/>
              <a:t>SELECT</a:t>
            </a:r>
            <a:r>
              <a:rPr lang="ko-KR" altLang="en-US" sz="1100" dirty="0"/>
              <a:t>의 </a:t>
            </a:r>
            <a:r>
              <a:rPr lang="en-US" altLang="ko-KR" sz="1100" dirty="0"/>
              <a:t>FROM</a:t>
            </a:r>
            <a:r>
              <a:rPr lang="ko-KR" altLang="en-US" sz="1100" dirty="0"/>
              <a:t>절에서 직접 사용 가능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 err="1"/>
              <a:t>뷰</a:t>
            </a:r>
            <a:r>
              <a:rPr lang="ko-KR" altLang="en-US" sz="1100" dirty="0"/>
              <a:t> </a:t>
            </a:r>
            <a:r>
              <a:rPr lang="en-US" altLang="ko-KR" sz="1100" dirty="0"/>
              <a:t>drop</a:t>
            </a:r>
            <a:r>
              <a:rPr lang="ko-KR" altLang="en-US" sz="1100" dirty="0"/>
              <a:t>에는 </a:t>
            </a:r>
            <a:r>
              <a:rPr lang="en-US" altLang="ko-KR" sz="1100" dirty="0"/>
              <a:t>cascade </a:t>
            </a:r>
            <a:r>
              <a:rPr lang="ko-KR" altLang="en-US" sz="1100" dirty="0"/>
              <a:t>옵션이 없으므로 </a:t>
            </a:r>
            <a:r>
              <a:rPr lang="en-US" altLang="ko-KR" sz="1100" dirty="0"/>
              <a:t>drop</a:t>
            </a:r>
            <a:r>
              <a:rPr lang="ko-KR" altLang="en-US" sz="1100" dirty="0"/>
              <a:t>된 </a:t>
            </a:r>
            <a:r>
              <a:rPr lang="ko-KR" altLang="en-US" sz="1100" dirty="0" err="1"/>
              <a:t>뷰를</a:t>
            </a:r>
            <a:r>
              <a:rPr lang="ko-KR" altLang="en-US" sz="1100" dirty="0"/>
              <a:t> 참조하는 다른 </a:t>
            </a:r>
            <a:r>
              <a:rPr lang="ko-KR" altLang="en-US" sz="1100" dirty="0" err="1"/>
              <a:t>뷰는</a:t>
            </a:r>
            <a:r>
              <a:rPr lang="ko-KR" altLang="en-US" sz="1100" dirty="0"/>
              <a:t> 조회 시에 에러 발생하므로 주의</a:t>
            </a: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제약 속성 </a:t>
            </a:r>
            <a:r>
              <a:rPr lang="en-US" altLang="ko-KR" sz="1100" b="1" dirty="0"/>
              <a:t>(Constraints)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테이블을 생성하거나 속성을 변경 </a:t>
            </a:r>
            <a:r>
              <a:rPr lang="en-US" altLang="ko-KR" sz="1100" dirty="0"/>
              <a:t>(Alter)</a:t>
            </a:r>
            <a:r>
              <a:rPr lang="ko-KR" altLang="en-US" sz="1100" dirty="0"/>
              <a:t>할 때 지정 가능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종류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000" dirty="0"/>
              <a:t>PK(Primary Key) </a:t>
            </a:r>
          </a:p>
          <a:p>
            <a:pPr marL="571500" lvl="3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000" dirty="0"/>
              <a:t>PK </a:t>
            </a:r>
            <a:r>
              <a:rPr lang="ko-KR" altLang="en-US" sz="1000" dirty="0"/>
              <a:t>속성을 부여할 때 암시적으로 </a:t>
            </a:r>
            <a:r>
              <a:rPr lang="en-US" altLang="ko-KR" sz="1000" dirty="0"/>
              <a:t>Not Null</a:t>
            </a:r>
            <a:r>
              <a:rPr lang="ko-KR" altLang="en-US" sz="1000" dirty="0"/>
              <a:t>과 </a:t>
            </a:r>
            <a:r>
              <a:rPr lang="en-US" altLang="ko-KR" sz="1000" dirty="0"/>
              <a:t>Unique </a:t>
            </a:r>
            <a:r>
              <a:rPr lang="ko-KR" altLang="en-US" sz="1000" dirty="0"/>
              <a:t>속성이 함께 적용됨</a:t>
            </a:r>
            <a:endParaRPr lang="en-US" altLang="ko-KR" sz="1000" dirty="0"/>
          </a:p>
          <a:p>
            <a:pPr lvl="2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000" dirty="0"/>
              <a:t>FK(Foreign Key)</a:t>
            </a:r>
          </a:p>
          <a:p>
            <a:pPr marL="571500" lvl="3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000" dirty="0"/>
              <a:t>PK</a:t>
            </a:r>
            <a:r>
              <a:rPr lang="ko-KR" altLang="en-US" sz="1000" dirty="0"/>
              <a:t>의 데이터를 참조하는 속성</a:t>
            </a:r>
            <a:endParaRPr lang="en-US" altLang="ko-KR" sz="1000" dirty="0"/>
          </a:p>
          <a:p>
            <a:pPr lvl="2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000" dirty="0"/>
              <a:t>Unique</a:t>
            </a:r>
          </a:p>
          <a:p>
            <a:pPr lvl="2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000" dirty="0"/>
              <a:t>NOT NULL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 err="1"/>
              <a:t>버티카는</a:t>
            </a:r>
            <a:r>
              <a:rPr lang="ko-KR" altLang="en-US" sz="1100" dirty="0"/>
              <a:t> 최초 설치 시 </a:t>
            </a:r>
            <a:r>
              <a:rPr lang="en-US" altLang="ko-KR" sz="1100" dirty="0"/>
              <a:t>PK, Unique</a:t>
            </a:r>
            <a:r>
              <a:rPr lang="ko-KR" altLang="en-US" sz="1100" dirty="0"/>
              <a:t> 체크가 비활성화 되어 있으므로 활성화 필요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000" dirty="0"/>
              <a:t>PK </a:t>
            </a:r>
            <a:r>
              <a:rPr lang="ko-KR" altLang="en-US" sz="1000" dirty="0"/>
              <a:t>체크 활성화를 위해 구성 </a:t>
            </a:r>
            <a:r>
              <a:rPr lang="ko-KR" altLang="en-US" sz="1000" dirty="0" err="1"/>
              <a:t>파라미터</a:t>
            </a:r>
            <a:r>
              <a:rPr lang="ko-KR" altLang="en-US" sz="1000" dirty="0"/>
              <a:t> </a:t>
            </a:r>
            <a:r>
              <a:rPr lang="en-US" altLang="ko-KR" sz="1000" dirty="0" err="1"/>
              <a:t>EnableNewUniqueKeysByDefault</a:t>
            </a:r>
            <a:r>
              <a:rPr lang="en-US" altLang="ko-KR" sz="1000" dirty="0"/>
              <a:t> = 1 </a:t>
            </a:r>
            <a:r>
              <a:rPr lang="ko-KR" altLang="en-US" sz="1000" dirty="0"/>
              <a:t>설정</a:t>
            </a:r>
            <a:endParaRPr lang="en-US" altLang="ko-KR" sz="1000" dirty="0"/>
          </a:p>
          <a:p>
            <a:pPr lvl="2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000" dirty="0"/>
              <a:t>Unique </a:t>
            </a:r>
            <a:r>
              <a:rPr lang="ko-KR" altLang="en-US" sz="1000" dirty="0"/>
              <a:t>체크 활성화를 위해 구성 </a:t>
            </a:r>
            <a:r>
              <a:rPr lang="ko-KR" altLang="en-US" sz="1000" dirty="0" err="1"/>
              <a:t>파라미터</a:t>
            </a:r>
            <a:r>
              <a:rPr lang="ko-KR" altLang="en-US" sz="1000" dirty="0"/>
              <a:t> </a:t>
            </a:r>
            <a:r>
              <a:rPr lang="en-US" altLang="ko-KR" sz="1000" dirty="0" err="1"/>
              <a:t>EnableNewPrimaryKeysByDefault</a:t>
            </a:r>
            <a:r>
              <a:rPr lang="en-US" altLang="ko-KR" sz="1000" dirty="0"/>
              <a:t> =1 </a:t>
            </a:r>
            <a:r>
              <a:rPr lang="ko-KR" altLang="en-US" sz="1000" dirty="0"/>
              <a:t>설정</a:t>
            </a:r>
            <a:endParaRPr lang="en-US" altLang="ko-KR" sz="1000" dirty="0"/>
          </a:p>
          <a:p>
            <a:pPr lvl="2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000" dirty="0"/>
              <a:t>제약 조건 위배 상태를 검증하기 위해서는 </a:t>
            </a:r>
            <a:r>
              <a:rPr lang="en-US" altLang="ko-KR" sz="1000" dirty="0"/>
              <a:t>ANALYZE_CONSTRAINTS()</a:t>
            </a:r>
            <a:r>
              <a:rPr lang="ko-KR" altLang="en-US" sz="1000"/>
              <a:t>함수 </a:t>
            </a:r>
            <a:r>
              <a:rPr lang="ko-KR" altLang="en-US" sz="1000" dirty="0"/>
              <a:t>사용</a:t>
            </a:r>
            <a:endParaRPr lang="en-US" altLang="ko-KR" sz="10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 </a:t>
            </a:r>
            <a:r>
              <a:rPr lang="ko-KR" altLang="en-US" sz="1100" b="1" dirty="0"/>
              <a:t>시퀀스 </a:t>
            </a:r>
            <a:r>
              <a:rPr lang="en-US" altLang="ko-KR" sz="1100" b="1" dirty="0"/>
              <a:t>(Sequence)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일련번호를 생성하는 오브젝트</a:t>
            </a:r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4"/>
          <p:cNvSpPr/>
          <p:nvPr/>
        </p:nvSpPr>
        <p:spPr>
          <a:xfrm>
            <a:off x="4438228" y="1304991"/>
            <a:ext cx="1430175" cy="251801"/>
          </a:xfrm>
          <a:prstGeom prst="roundRect">
            <a:avLst/>
          </a:prstGeom>
          <a:solidFill>
            <a:schemeClr val="tx2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90000"/>
              </a:lnSpc>
            </a:pPr>
            <a:r>
              <a:rPr lang="en-US" altLang="ko-KR" sz="900" dirty="0"/>
              <a:t>CREATE/DROP VIEW</a:t>
            </a:r>
          </a:p>
        </p:txBody>
      </p:sp>
      <p:pic>
        <p:nvPicPr>
          <p:cNvPr id="22" name="Picture 27" descr="C:\Users\hongjon\Documents\Proposal\ICON\Common_Icons\Common_Icons\Magnifying_glass\Magnifying_glass_RGB\Magnifying_glass_RGB_blue_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0141" y="1341222"/>
            <a:ext cx="222460" cy="215570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23" name="Rounded Rectangle 6"/>
          <p:cNvSpPr/>
          <p:nvPr/>
        </p:nvSpPr>
        <p:spPr>
          <a:xfrm>
            <a:off x="4339646" y="2391525"/>
            <a:ext cx="1528757" cy="251801"/>
          </a:xfrm>
          <a:prstGeom prst="roundRect">
            <a:avLst/>
          </a:prstGeom>
          <a:solidFill>
            <a:schemeClr val="tx2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90000"/>
              </a:lnSpc>
            </a:pPr>
            <a:r>
              <a:rPr lang="en-US" altLang="ko-KR" sz="900" dirty="0"/>
              <a:t>CREATE/ALTER TABLE</a:t>
            </a:r>
          </a:p>
        </p:txBody>
      </p:sp>
      <p:pic>
        <p:nvPicPr>
          <p:cNvPr id="24" name="Picture 7" descr="C:\Users\hongjon\Documents\Proposal\ICON\Common_Icons\Common_Icons\Magnifying_glass\Magnifying_glass_RGB\Magnifying_glass_RGB_blue_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1792" y="2427756"/>
            <a:ext cx="222460" cy="215570"/>
          </a:xfrm>
          <a:prstGeom prst="rect">
            <a:avLst/>
          </a:prstGeom>
          <a:solidFill>
            <a:schemeClr val="tx2"/>
          </a:solidFill>
        </p:spPr>
      </p:pic>
      <p:grpSp>
        <p:nvGrpSpPr>
          <p:cNvPr id="4" name="그룹 3"/>
          <p:cNvGrpSpPr/>
          <p:nvPr/>
        </p:nvGrpSpPr>
        <p:grpSpPr>
          <a:xfrm>
            <a:off x="4078188" y="4833383"/>
            <a:ext cx="1790215" cy="251801"/>
            <a:chOff x="4078188" y="4293096"/>
            <a:chExt cx="1790215" cy="251801"/>
          </a:xfrm>
        </p:grpSpPr>
        <p:sp>
          <p:nvSpPr>
            <p:cNvPr id="25" name="Rounded Rectangle 11"/>
            <p:cNvSpPr/>
            <p:nvPr/>
          </p:nvSpPr>
          <p:spPr>
            <a:xfrm>
              <a:off x="4078188" y="4293096"/>
              <a:ext cx="1790215" cy="251801"/>
            </a:xfrm>
            <a:prstGeom prst="roundRect">
              <a:avLst/>
            </a:prstGeom>
            <a:solidFill>
              <a:schemeClr val="tx2"/>
            </a:solidFill>
            <a:ln w="19050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>
                <a:lnSpc>
                  <a:spcPct val="90000"/>
                </a:lnSpc>
              </a:pPr>
              <a:r>
                <a:rPr lang="en-US" altLang="ko-KR" sz="900" dirty="0"/>
                <a:t>CREATE/ALTER SEQUENCE</a:t>
              </a:r>
            </a:p>
          </p:txBody>
        </p:sp>
        <p:pic>
          <p:nvPicPr>
            <p:cNvPr id="26" name="Picture 12" descr="C:\Users\hongjon\Documents\Proposal\ICON\Common_Icons\Common_Icons\Magnifying_glass\Magnifying_glass_RGB\Magnifying_glass_RGB_blue_NT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3760" y="4318035"/>
              <a:ext cx="222460" cy="215570"/>
            </a:xfrm>
            <a:prstGeom prst="rect">
              <a:avLst/>
            </a:prstGeom>
            <a:solidFill>
              <a:schemeClr val="tx2"/>
            </a:solidFill>
          </p:spPr>
        </p:pic>
      </p:grpSp>
      <p:sp>
        <p:nvSpPr>
          <p:cNvPr id="15" name="Content Placeholder 4"/>
          <p:cNvSpPr txBox="1">
            <a:spLocks/>
          </p:cNvSpPr>
          <p:nvPr/>
        </p:nvSpPr>
        <p:spPr>
          <a:xfrm>
            <a:off x="6417456" y="14478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권한</a:t>
            </a:r>
            <a:r>
              <a:rPr lang="en-US" altLang="ko-KR" sz="1100" b="1" dirty="0"/>
              <a:t>(Grant)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사용자 생성 후에는 데이터베이스 </a:t>
            </a:r>
            <a:r>
              <a:rPr lang="en-US" altLang="ko-KR" sz="1100" dirty="0"/>
              <a:t>OBJECT</a:t>
            </a:r>
            <a:r>
              <a:rPr lang="ko-KR" altLang="en-US" sz="1100" dirty="0"/>
              <a:t>에 대한 액세스 권한을 부여 해야함</a:t>
            </a:r>
            <a:r>
              <a:rPr lang="en-US" altLang="ko-KR" sz="1100" dirty="0"/>
              <a:t>. 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사용자가 테이블에 접근하기 위해서는 해당 테이블의 스키마 및 테이블에 대한 액세스 권한 필요 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신규 생성된 사용자는 기본적으로 </a:t>
            </a:r>
            <a:r>
              <a:rPr lang="en-US" altLang="ko-KR" sz="1100" dirty="0"/>
              <a:t>public </a:t>
            </a:r>
            <a:r>
              <a:rPr lang="ko-KR" altLang="en-US" sz="1100" dirty="0"/>
              <a:t>스키마에 대한 액세스 권한이 없음</a:t>
            </a:r>
            <a:r>
              <a:rPr lang="en-US" altLang="ko-KR" sz="1100" dirty="0"/>
              <a:t>.</a:t>
            </a:r>
            <a:r>
              <a:rPr lang="ko-KR" altLang="en-US" sz="1100" dirty="0"/>
              <a:t> 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스키마 권한을 상속할 수 있도록 하면</a:t>
            </a:r>
            <a:r>
              <a:rPr lang="en-US" altLang="ko-KR" sz="1100" dirty="0"/>
              <a:t>, </a:t>
            </a:r>
            <a:r>
              <a:rPr lang="ko-KR" altLang="en-US" sz="1100" dirty="0"/>
              <a:t>스키마에 속하는 </a:t>
            </a:r>
            <a:r>
              <a:rPr lang="en-US" altLang="ko-KR" sz="1100" dirty="0"/>
              <a:t>object</a:t>
            </a:r>
            <a:r>
              <a:rPr lang="ko-KR" altLang="en-US" sz="1100" dirty="0"/>
              <a:t>에 대한 별도 권한 부여 없이 스키마에 주어진 권한을 부여 할 수 있다</a:t>
            </a:r>
            <a:r>
              <a:rPr lang="en-US" altLang="ko-KR" sz="1100" dirty="0"/>
              <a:t>. </a:t>
            </a:r>
          </a:p>
          <a:p>
            <a:pPr marL="400050" lvl="2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000" dirty="0"/>
              <a:t>- CREATE SCHEMA s1 </a:t>
            </a:r>
            <a:r>
              <a:rPr lang="en-US" altLang="ko-KR" sz="1000" b="1" dirty="0"/>
              <a:t>DEFAULT INCLUDE PRIVILEGES;</a:t>
            </a:r>
            <a:endParaRPr lang="en-US" altLang="ko-KR" sz="10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스키마에 대한 권한 부여</a:t>
            </a:r>
            <a:endParaRPr lang="en-US" altLang="ko-KR" sz="1100" dirty="0"/>
          </a:p>
          <a:p>
            <a:pPr marL="400050" lvl="2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000" dirty="0"/>
              <a:t>- GRANT </a:t>
            </a:r>
            <a:r>
              <a:rPr lang="en-US" altLang="ko-KR" sz="1000" b="1" dirty="0"/>
              <a:t>USAGE, CREATE</a:t>
            </a:r>
            <a:r>
              <a:rPr lang="en-US" altLang="ko-KR" sz="1000" dirty="0"/>
              <a:t> ON SCHEMA PUBLIC TO USER1 ;</a:t>
            </a:r>
          </a:p>
          <a:p>
            <a:pPr marL="400050" lvl="2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000" dirty="0"/>
              <a:t>- OBJECT </a:t>
            </a:r>
            <a:r>
              <a:rPr lang="ko-KR" altLang="en-US" sz="1000" dirty="0"/>
              <a:t>관리를 단일화 하기 위해 </a:t>
            </a:r>
            <a:r>
              <a:rPr lang="en-US" altLang="ko-KR" sz="1000" dirty="0"/>
              <a:t>CREATE</a:t>
            </a:r>
            <a:r>
              <a:rPr lang="ko-KR" altLang="en-US" sz="1000" dirty="0"/>
              <a:t>권한을 일반 사용자에게 부여하지 않을 것을 권장한다</a:t>
            </a:r>
            <a:r>
              <a:rPr lang="en-US" altLang="ko-KR" sz="1000" dirty="0"/>
              <a:t>.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스키마 권한 상속을 통한 테이블 권한 부여</a:t>
            </a:r>
            <a:endParaRPr lang="en-US" altLang="ko-KR" sz="1100" dirty="0"/>
          </a:p>
          <a:p>
            <a:pPr marL="400050" lvl="2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000" dirty="0"/>
              <a:t>- GRANT </a:t>
            </a:r>
            <a:r>
              <a:rPr lang="en-US" altLang="ko-KR" sz="1000" b="1" dirty="0"/>
              <a:t>USAGE </a:t>
            </a:r>
            <a:r>
              <a:rPr lang="en-US" altLang="ko-KR" sz="1000" dirty="0"/>
              <a:t>ON SCHEMA s1 TO USER1 ;</a:t>
            </a:r>
          </a:p>
          <a:p>
            <a:pPr marL="400050" lvl="2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000" dirty="0"/>
              <a:t>- GRANT </a:t>
            </a:r>
            <a:r>
              <a:rPr lang="en-US" altLang="ko-KR" sz="1000" b="1" dirty="0"/>
              <a:t>SELECT, INSERT, UPDATE, DELETE </a:t>
            </a:r>
            <a:r>
              <a:rPr lang="en-US" altLang="ko-KR" sz="1000" dirty="0"/>
              <a:t>ON SCHEMA s1 TO USER1 ;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테이블에 대한 권한 부여</a:t>
            </a:r>
            <a:endParaRPr lang="en-US" altLang="ko-KR" sz="1100" dirty="0"/>
          </a:p>
          <a:p>
            <a:pPr marL="400050" lvl="2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000" dirty="0"/>
              <a:t>- GRANT </a:t>
            </a:r>
            <a:r>
              <a:rPr lang="en-US" altLang="ko-KR" sz="1000" b="1" dirty="0"/>
              <a:t>SELECT, INSERT, UPDATE, DELETE</a:t>
            </a:r>
            <a:r>
              <a:rPr lang="en-US" altLang="ko-KR" sz="1000" dirty="0"/>
              <a:t> ON ALL TABLE IN SCHEMA PUBLIC TO USER1 ;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스키마 생성시 권한 상속을 지정하지 않고 만들어진 </a:t>
            </a:r>
            <a:r>
              <a:rPr lang="en-US" altLang="ko-KR" sz="1100" dirty="0"/>
              <a:t>object</a:t>
            </a:r>
            <a:r>
              <a:rPr lang="ko-KR" altLang="en-US" sz="1100" dirty="0"/>
              <a:t>들에 대한 권한은 상속 되지 않으므로 명시적으로 권한 부여를 해야한다</a:t>
            </a:r>
            <a:r>
              <a:rPr lang="en-US" altLang="ko-KR" sz="1100" dirty="0"/>
              <a:t>.</a:t>
            </a:r>
          </a:p>
          <a:p>
            <a:pPr marL="400050" lvl="2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900" dirty="0"/>
              <a:t>- ALTER SCHEMA s1 </a:t>
            </a:r>
            <a:r>
              <a:rPr lang="en-US" altLang="ko-KR" sz="900" b="1" dirty="0"/>
              <a:t>DEFAULT INCLUDE PRIVILEGES; </a:t>
            </a:r>
            <a:endParaRPr lang="en-US" altLang="ko-KR" sz="900" dirty="0"/>
          </a:p>
          <a:p>
            <a:pPr marL="400050" lvl="2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900" dirty="0"/>
              <a:t>- GRANT </a:t>
            </a:r>
            <a:r>
              <a:rPr lang="en-US" altLang="ko-KR" sz="900" b="1" dirty="0"/>
              <a:t>USAGE </a:t>
            </a:r>
            <a:r>
              <a:rPr lang="en-US" altLang="ko-KR" sz="900" dirty="0"/>
              <a:t>ON SCHEMA s1 TO USER1 ;</a:t>
            </a:r>
          </a:p>
          <a:p>
            <a:pPr marL="400050" lvl="2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900" dirty="0"/>
              <a:t>- GRANT </a:t>
            </a:r>
            <a:r>
              <a:rPr lang="en-US" altLang="ko-KR" sz="900" b="1" dirty="0"/>
              <a:t>SELECT, INSERT, UPDATE, DELETE PRIVILEGES</a:t>
            </a:r>
            <a:r>
              <a:rPr lang="en-US" altLang="ko-KR" sz="900" dirty="0"/>
              <a:t> ON SCHEMA PUBLIC TO USER1 ;</a:t>
            </a:r>
            <a:endParaRPr lang="en-US" altLang="ko-KR" sz="1050" dirty="0"/>
          </a:p>
          <a:p>
            <a:pPr lvl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OBJECT</a:t>
            </a:r>
            <a:r>
              <a:rPr lang="ko-KR" altLang="en-US" sz="1100" dirty="0"/>
              <a:t>별 할당 가능한 권한</a:t>
            </a:r>
            <a:endParaRPr lang="en-US" altLang="ko-KR" sz="1100" dirty="0"/>
          </a:p>
        </p:txBody>
      </p:sp>
      <p:sp>
        <p:nvSpPr>
          <p:cNvPr id="27" name="Rounded Rectangle 21"/>
          <p:cNvSpPr/>
          <p:nvPr/>
        </p:nvSpPr>
        <p:spPr>
          <a:xfrm>
            <a:off x="10266028" y="1268760"/>
            <a:ext cx="1518604" cy="250698"/>
          </a:xfrm>
          <a:prstGeom prst="roundRect">
            <a:avLst/>
          </a:prstGeom>
          <a:solidFill>
            <a:schemeClr val="tx2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90000"/>
              </a:lnSpc>
            </a:pPr>
            <a:r>
              <a:rPr lang="en-US" altLang="ko-KR" sz="900" dirty="0">
                <a:solidFill>
                  <a:schemeClr val="bg1"/>
                </a:solidFill>
              </a:rPr>
              <a:t>GRANT SCHEMA/TABLE </a:t>
            </a:r>
          </a:p>
        </p:txBody>
      </p:sp>
      <p:pic>
        <p:nvPicPr>
          <p:cNvPr id="28" name="Picture 27" descr="C:\Users\hongjon\Documents\Proposal\ICON\Common_Icons\Common_Icons\Magnifying_glass\Magnifying_glass_RGB\Magnifying_glass_RGB_blue_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8036" y="1303888"/>
            <a:ext cx="222460" cy="215570"/>
          </a:xfrm>
          <a:prstGeom prst="rect">
            <a:avLst/>
          </a:prstGeom>
          <a:solidFill>
            <a:schemeClr val="tx2"/>
          </a:solidFill>
        </p:spPr>
      </p:pic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B568CE07-ADAD-4A46-AEEA-CC0D3CB7E8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219495"/>
              </p:ext>
            </p:extLst>
          </p:nvPr>
        </p:nvGraphicFramePr>
        <p:xfrm>
          <a:off x="6738495" y="5229200"/>
          <a:ext cx="4990122" cy="109728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54458">
                  <a:extLst>
                    <a:ext uri="{9D8B030D-6E8A-4147-A177-3AD203B41FA5}">
                      <a16:colId xmlns:a16="http://schemas.microsoft.com/office/drawing/2014/main" val="3895150385"/>
                    </a:ext>
                  </a:extLst>
                </a:gridCol>
                <a:gridCol w="554458">
                  <a:extLst>
                    <a:ext uri="{9D8B030D-6E8A-4147-A177-3AD203B41FA5}">
                      <a16:colId xmlns:a16="http://schemas.microsoft.com/office/drawing/2014/main" val="4057999904"/>
                    </a:ext>
                  </a:extLst>
                </a:gridCol>
                <a:gridCol w="554458">
                  <a:extLst>
                    <a:ext uri="{9D8B030D-6E8A-4147-A177-3AD203B41FA5}">
                      <a16:colId xmlns:a16="http://schemas.microsoft.com/office/drawing/2014/main" val="2507766030"/>
                    </a:ext>
                  </a:extLst>
                </a:gridCol>
                <a:gridCol w="554458">
                  <a:extLst>
                    <a:ext uri="{9D8B030D-6E8A-4147-A177-3AD203B41FA5}">
                      <a16:colId xmlns:a16="http://schemas.microsoft.com/office/drawing/2014/main" val="2678590713"/>
                    </a:ext>
                  </a:extLst>
                </a:gridCol>
                <a:gridCol w="554458">
                  <a:extLst>
                    <a:ext uri="{9D8B030D-6E8A-4147-A177-3AD203B41FA5}">
                      <a16:colId xmlns:a16="http://schemas.microsoft.com/office/drawing/2014/main" val="3183776640"/>
                    </a:ext>
                  </a:extLst>
                </a:gridCol>
                <a:gridCol w="554458">
                  <a:extLst>
                    <a:ext uri="{9D8B030D-6E8A-4147-A177-3AD203B41FA5}">
                      <a16:colId xmlns:a16="http://schemas.microsoft.com/office/drawing/2014/main" val="2684638116"/>
                    </a:ext>
                  </a:extLst>
                </a:gridCol>
                <a:gridCol w="554458">
                  <a:extLst>
                    <a:ext uri="{9D8B030D-6E8A-4147-A177-3AD203B41FA5}">
                      <a16:colId xmlns:a16="http://schemas.microsoft.com/office/drawing/2014/main" val="2873814188"/>
                    </a:ext>
                  </a:extLst>
                </a:gridCol>
                <a:gridCol w="554458">
                  <a:extLst>
                    <a:ext uri="{9D8B030D-6E8A-4147-A177-3AD203B41FA5}">
                      <a16:colId xmlns:a16="http://schemas.microsoft.com/office/drawing/2014/main" val="117376914"/>
                    </a:ext>
                  </a:extLst>
                </a:gridCol>
                <a:gridCol w="554458">
                  <a:extLst>
                    <a:ext uri="{9D8B030D-6E8A-4147-A177-3AD203B41FA5}">
                      <a16:colId xmlns:a16="http://schemas.microsoft.com/office/drawing/2014/main" val="4081616949"/>
                    </a:ext>
                  </a:extLst>
                </a:gridCol>
              </a:tblGrid>
              <a:tr h="182881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Object</a:t>
                      </a: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CREATE</a:t>
                      </a:r>
                      <a:endParaRPr 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ALTER</a:t>
                      </a: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DROP</a:t>
                      </a:r>
                      <a:endParaRPr 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  <a:endParaRPr 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INSERT</a:t>
                      </a:r>
                      <a:endParaRPr 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UPDATE</a:t>
                      </a:r>
                      <a:endParaRPr 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TRUNCATE</a:t>
                      </a: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DELETE</a:t>
                      </a:r>
                      <a:endParaRPr 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179440"/>
                  </a:ext>
                </a:extLst>
              </a:tr>
              <a:tr h="1828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Schema</a:t>
                      </a: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O</a:t>
                      </a: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●</a:t>
                      </a: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 panose="020B0503020000020004" pitchFamily="50" charset="-127"/>
                          <a:ea typeface="Malgun Gothic" panose="020B0503020000020004" pitchFamily="50" charset="-127"/>
                          <a:cs typeface="+mn-cs"/>
                        </a:rPr>
                        <a:t>●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 panose="020B0503020000020004" pitchFamily="50" charset="-127"/>
                          <a:ea typeface="Malgun Gothic" panose="020B0503020000020004" pitchFamily="50" charset="-127"/>
                          <a:cs typeface="+mn-cs"/>
                        </a:rPr>
                        <a:t>●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 panose="020B0503020000020004" pitchFamily="50" charset="-127"/>
                          <a:ea typeface="Malgun Gothic" panose="020B0503020000020004" pitchFamily="50" charset="-127"/>
                          <a:cs typeface="+mn-cs"/>
                        </a:rPr>
                        <a:t>●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 panose="020B0503020000020004" pitchFamily="50" charset="-127"/>
                          <a:ea typeface="Malgun Gothic" panose="020B0503020000020004" pitchFamily="50" charset="-127"/>
                          <a:cs typeface="+mn-cs"/>
                        </a:rPr>
                        <a:t>●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 panose="020B0503020000020004" pitchFamily="50" charset="-127"/>
                          <a:ea typeface="Malgun Gothic" panose="020B0503020000020004" pitchFamily="50" charset="-127"/>
                          <a:cs typeface="+mn-cs"/>
                        </a:rPr>
                        <a:t>●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 panose="020B0503020000020004" pitchFamily="50" charset="-127"/>
                          <a:ea typeface="Malgun Gothic" panose="020B0503020000020004" pitchFamily="50" charset="-127"/>
                          <a:cs typeface="+mn-cs"/>
                        </a:rPr>
                        <a:t>●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784941"/>
                  </a:ext>
                </a:extLst>
              </a:tr>
              <a:tr h="1828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Table</a:t>
                      </a: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O</a:t>
                      </a: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O</a:t>
                      </a: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O</a:t>
                      </a: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O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O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O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O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1826718"/>
                  </a:ext>
                </a:extLst>
              </a:tr>
              <a:tr h="1828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View</a:t>
                      </a: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O</a:t>
                      </a: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O</a:t>
                      </a: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O</a:t>
                      </a: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6239115"/>
                  </a:ext>
                </a:extLst>
              </a:tr>
              <a:tr h="1828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Sequence</a:t>
                      </a: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O</a:t>
                      </a: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O</a:t>
                      </a: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O</a:t>
                      </a: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4065966"/>
                  </a:ext>
                </a:extLst>
              </a:tr>
              <a:tr h="182881">
                <a:tc gridSpan="9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●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는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스키마에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속한 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table, view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에 권한 상속 가능한 권한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4065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0284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데이터베이스 물리 오브젝트 </a:t>
            </a:r>
            <a:r>
              <a:rPr lang="en-US" altLang="ko-KR" sz="2800" dirty="0"/>
              <a:t>- </a:t>
            </a:r>
            <a:r>
              <a:rPr lang="ko-KR" altLang="en-US" sz="2800" dirty="0" err="1"/>
              <a:t>프로젝션</a:t>
            </a:r>
            <a:endParaRPr lang="ko-KR" altLang="en-US" sz="28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err="1"/>
              <a:t>Vertica</a:t>
            </a:r>
            <a:r>
              <a:rPr lang="en-US" altLang="ko-KR" dirty="0"/>
              <a:t> </a:t>
            </a:r>
            <a:r>
              <a:rPr lang="ko-KR" altLang="en-US" dirty="0"/>
              <a:t>아키텍처</a:t>
            </a:r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 err="1"/>
              <a:t>프로젝션</a:t>
            </a:r>
            <a:r>
              <a:rPr lang="ko-KR" altLang="en-US" sz="1100" b="1" dirty="0"/>
              <a:t> </a:t>
            </a:r>
            <a:r>
              <a:rPr lang="en-US" altLang="ko-KR" sz="1100" b="1" dirty="0"/>
              <a:t>(Projection)</a:t>
            </a:r>
            <a:r>
              <a:rPr lang="ko-KR" altLang="en-US" sz="1100" b="1" dirty="0"/>
              <a:t>의 개요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실제 테이블 데이터가 저장되는 오브젝트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 err="1"/>
              <a:t>프로젝션이</a:t>
            </a:r>
            <a:r>
              <a:rPr lang="ko-KR" altLang="en-US" sz="1100" dirty="0"/>
              <a:t> 만들어지는 시기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  <a:buFont typeface="Calibri" pitchFamily="34" charset="0"/>
              <a:buChar char="⁻"/>
            </a:pPr>
            <a:r>
              <a:rPr lang="ko-KR" altLang="en-US" sz="1100" dirty="0"/>
              <a:t>테이블 생성 후 처음으로 데이터가 저장될 때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  <a:buFont typeface="Calibri" pitchFamily="34" charset="0"/>
              <a:buChar char="⁻"/>
            </a:pPr>
            <a:r>
              <a:rPr lang="ko-KR" altLang="en-US" sz="1100" dirty="0"/>
              <a:t>명시적으로 </a:t>
            </a:r>
            <a:r>
              <a:rPr lang="ko-KR" altLang="en-US" sz="1100" dirty="0" err="1"/>
              <a:t>프로젝션을</a:t>
            </a:r>
            <a:r>
              <a:rPr lang="ko-KR" altLang="en-US" sz="1100" dirty="0"/>
              <a:t> 생성할 때 </a:t>
            </a:r>
            <a:r>
              <a:rPr lang="en-US" altLang="ko-KR" sz="1100" dirty="0"/>
              <a:t>(CREATE PROJECTION)</a:t>
            </a:r>
          </a:p>
          <a:p>
            <a:pPr lvl="2">
              <a:lnSpc>
                <a:spcPct val="100000"/>
              </a:lnSpc>
              <a:spcAft>
                <a:spcPts val="0"/>
              </a:spcAft>
              <a:buFont typeface="Calibri" pitchFamily="34" charset="0"/>
              <a:buChar char="⁻"/>
            </a:pPr>
            <a:r>
              <a:rPr lang="en-US" altLang="ko-KR" sz="1100" dirty="0"/>
              <a:t>Database Designer (DBD)</a:t>
            </a:r>
            <a:r>
              <a:rPr lang="ko-KR" altLang="en-US" sz="1100" dirty="0"/>
              <a:t>에 의해 생성될 때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  <a:buFont typeface="Calibri" pitchFamily="34" charset="0"/>
              <a:buChar char="⁻"/>
            </a:pPr>
            <a:r>
              <a:rPr lang="ko-KR" altLang="en-US" sz="1100" dirty="0"/>
              <a:t>테이블을 생성할 때 </a:t>
            </a:r>
            <a:r>
              <a:rPr lang="ko-KR" altLang="en-US" sz="1100" dirty="0" err="1"/>
              <a:t>프로젝션</a:t>
            </a:r>
            <a:r>
              <a:rPr lang="ko-KR" altLang="en-US" sz="1100" dirty="0"/>
              <a:t> 속성을 함께 지정할 때 </a:t>
            </a:r>
            <a:r>
              <a:rPr lang="en-US" altLang="ko-KR" sz="1100" dirty="0"/>
              <a:t>(</a:t>
            </a:r>
            <a:r>
              <a:rPr lang="ko-KR" altLang="en-US" sz="1100" dirty="0"/>
              <a:t>예</a:t>
            </a:r>
            <a:r>
              <a:rPr lang="en-US" altLang="ko-KR" sz="1100" dirty="0"/>
              <a:t>, Segment, Order, </a:t>
            </a:r>
            <a:r>
              <a:rPr lang="en-US" altLang="ko-KR" sz="1100" dirty="0" err="1"/>
              <a:t>Ksafe</a:t>
            </a:r>
            <a:r>
              <a:rPr lang="en-US" altLang="ko-KR" sz="1100" dirty="0"/>
              <a:t> </a:t>
            </a:r>
            <a:r>
              <a:rPr lang="ko-KR" altLang="en-US" sz="1100" dirty="0"/>
              <a:t>등</a:t>
            </a:r>
            <a:r>
              <a:rPr lang="en-US" altLang="ko-KR" sz="1100" dirty="0"/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 err="1"/>
              <a:t>프로젝션의</a:t>
            </a:r>
            <a:r>
              <a:rPr lang="ko-KR" altLang="en-US" sz="1100" b="1" dirty="0"/>
              <a:t> 속성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 err="1"/>
              <a:t>컬럼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인코딩</a:t>
            </a:r>
            <a:r>
              <a:rPr lang="ko-KR" altLang="en-US" sz="1100" dirty="0"/>
              <a:t> 및 압축 정의 </a:t>
            </a:r>
            <a:r>
              <a:rPr lang="en-US" altLang="ko-KR" sz="1100" dirty="0"/>
              <a:t>(encoding)</a:t>
            </a:r>
          </a:p>
          <a:p>
            <a:pPr lvl="2">
              <a:lnSpc>
                <a:spcPct val="100000"/>
              </a:lnSpc>
              <a:spcAft>
                <a:spcPts val="0"/>
              </a:spcAft>
              <a:buFont typeface="Calibri" pitchFamily="34" charset="0"/>
              <a:buChar char="⁻"/>
            </a:pPr>
            <a:r>
              <a:rPr lang="ko-KR" altLang="en-US" sz="1100" dirty="0" err="1"/>
              <a:t>매뉴얼하게</a:t>
            </a:r>
            <a:r>
              <a:rPr lang="ko-KR" altLang="en-US" sz="1100" dirty="0"/>
              <a:t> 정의 가능하지만 보통 </a:t>
            </a:r>
            <a:r>
              <a:rPr lang="en-US" altLang="ko-KR" sz="1100" dirty="0"/>
              <a:t>DBD</a:t>
            </a:r>
            <a:r>
              <a:rPr lang="ko-KR" altLang="en-US" sz="1100" dirty="0"/>
              <a:t>의 가이드로 재 정의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  <a:buFont typeface="Calibri" pitchFamily="34" charset="0"/>
              <a:buChar char="⁻"/>
            </a:pPr>
            <a:r>
              <a:rPr lang="en-US" altLang="ko-KR" sz="1100" dirty="0"/>
              <a:t>DBD</a:t>
            </a:r>
            <a:r>
              <a:rPr lang="ko-KR" altLang="en-US" sz="1100" dirty="0"/>
              <a:t>가 </a:t>
            </a:r>
            <a:r>
              <a:rPr lang="ko-KR" altLang="en-US" sz="1100" dirty="0" err="1"/>
              <a:t>인코딩</a:t>
            </a:r>
            <a:r>
              <a:rPr lang="ko-KR" altLang="en-US" sz="1100" dirty="0"/>
              <a:t> 정보를 정확히 추천하기 위해서는 데이터가 적절히 저장되어 있어야 함 </a:t>
            </a:r>
            <a:r>
              <a:rPr lang="en-US" altLang="ko-KR" sz="1100" dirty="0"/>
              <a:t>(</a:t>
            </a:r>
            <a:r>
              <a:rPr lang="ko-KR" altLang="en-US" sz="1100" dirty="0"/>
              <a:t>실제 데이터 값</a:t>
            </a:r>
            <a:r>
              <a:rPr lang="en-US" altLang="ko-KR" sz="1100" dirty="0"/>
              <a:t>, </a:t>
            </a:r>
            <a:r>
              <a:rPr lang="ko-KR" altLang="en-US" sz="1100" dirty="0"/>
              <a:t>데이터의 분포 고려</a:t>
            </a:r>
            <a:r>
              <a:rPr lang="en-US" altLang="ko-KR" sz="1100" dirty="0"/>
              <a:t>)</a:t>
            </a:r>
          </a:p>
          <a:p>
            <a:pPr lvl="2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 err="1"/>
              <a:t>컬럼</a:t>
            </a:r>
            <a:r>
              <a:rPr lang="ko-KR" altLang="en-US" sz="1100" dirty="0"/>
              <a:t> 정렬 저장 순서 </a:t>
            </a:r>
            <a:r>
              <a:rPr lang="en-US" altLang="ko-KR" sz="1100" dirty="0"/>
              <a:t>(order by)</a:t>
            </a:r>
          </a:p>
          <a:p>
            <a:pPr lvl="2">
              <a:lnSpc>
                <a:spcPct val="100000"/>
              </a:lnSpc>
              <a:spcAft>
                <a:spcPts val="0"/>
              </a:spcAft>
              <a:buFont typeface="Calibri" pitchFamily="34" charset="0"/>
              <a:buChar char="⁻"/>
            </a:pPr>
            <a:r>
              <a:rPr lang="ko-KR" altLang="en-US" sz="1100" dirty="0"/>
              <a:t>데이터가 물리적으로 정렬되어 저장하여 조회 및 조인 속도를 높일 때 사용한다</a:t>
            </a:r>
            <a:r>
              <a:rPr lang="en-US" altLang="ko-KR" sz="1100" dirty="0"/>
              <a:t>. 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데이터 분산 정책 </a:t>
            </a:r>
            <a:r>
              <a:rPr lang="en-US" altLang="ko-KR" sz="1100" dirty="0"/>
              <a:t>(segmentation)</a:t>
            </a:r>
          </a:p>
          <a:p>
            <a:pPr lvl="2">
              <a:lnSpc>
                <a:spcPct val="100000"/>
              </a:lnSpc>
              <a:spcAft>
                <a:spcPts val="0"/>
              </a:spcAft>
              <a:buFont typeface="Calibri" pitchFamily="34" charset="0"/>
              <a:buChar char="⁻"/>
            </a:pPr>
            <a:r>
              <a:rPr lang="ko-KR" altLang="en-US" sz="1100" dirty="0"/>
              <a:t>멀티 </a:t>
            </a:r>
            <a:r>
              <a:rPr lang="ko-KR" altLang="en-US" sz="1100" dirty="0" err="1"/>
              <a:t>노드에</a:t>
            </a:r>
            <a:r>
              <a:rPr lang="ko-KR" altLang="en-US" sz="1100" dirty="0"/>
              <a:t> 데이터를 분산시키기 위한 기준 </a:t>
            </a:r>
            <a:r>
              <a:rPr lang="ko-KR" altLang="en-US" sz="1100" dirty="0" err="1"/>
              <a:t>컬럼을</a:t>
            </a:r>
            <a:r>
              <a:rPr lang="ko-KR" altLang="en-US" sz="1100" dirty="0"/>
              <a:t> 지정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  <a:buFont typeface="Calibri" pitchFamily="34" charset="0"/>
              <a:buChar char="⁻"/>
            </a:pPr>
            <a:r>
              <a:rPr lang="ko-KR" altLang="en-US" sz="1100" dirty="0"/>
              <a:t>데이터를 모든 </a:t>
            </a:r>
            <a:r>
              <a:rPr lang="ko-KR" altLang="en-US" sz="1100" dirty="0" err="1"/>
              <a:t>노드</a:t>
            </a:r>
            <a:r>
              <a:rPr lang="ko-KR" altLang="en-US" sz="1100" dirty="0"/>
              <a:t> 또는 일부 </a:t>
            </a:r>
            <a:r>
              <a:rPr lang="ko-KR" altLang="en-US" sz="1100" dirty="0" err="1"/>
              <a:t>노드에</a:t>
            </a:r>
            <a:r>
              <a:rPr lang="ko-KR" altLang="en-US" sz="1100" dirty="0"/>
              <a:t> 복제 가능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ko-KR" altLang="en-US" sz="1100" dirty="0"/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 err="1"/>
              <a:t>프로젝션의</a:t>
            </a:r>
            <a:r>
              <a:rPr lang="ko-KR" altLang="en-US" sz="1100" b="1" dirty="0"/>
              <a:t> 종류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Super </a:t>
            </a:r>
            <a:r>
              <a:rPr lang="ko-KR" altLang="en-US" sz="1100" dirty="0" err="1"/>
              <a:t>프로젝션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테이블의 모든 </a:t>
            </a:r>
            <a:r>
              <a:rPr lang="ko-KR" altLang="en-US" sz="1100" dirty="0" err="1"/>
              <a:t>컬럼을</a:t>
            </a:r>
            <a:r>
              <a:rPr lang="ko-KR" altLang="en-US" sz="1100" dirty="0"/>
              <a:t> 포함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다른 속성의 </a:t>
            </a:r>
            <a:r>
              <a:rPr lang="en-US" altLang="ko-KR" sz="1100" dirty="0"/>
              <a:t>Super</a:t>
            </a:r>
            <a:r>
              <a:rPr lang="ko-KR" altLang="en-US" sz="1100" dirty="0" err="1"/>
              <a:t>프로젝션을</a:t>
            </a:r>
            <a:r>
              <a:rPr lang="ko-KR" altLang="en-US" sz="1100" dirty="0"/>
              <a:t> 만들어 데이터를 동기화 시킨 후에 만 기존 </a:t>
            </a:r>
            <a:r>
              <a:rPr lang="en-US" altLang="ko-KR" sz="1100" dirty="0"/>
              <a:t>Super</a:t>
            </a:r>
            <a:r>
              <a:rPr lang="ko-KR" altLang="en-US" sz="1100" dirty="0" err="1"/>
              <a:t>프로젝션</a:t>
            </a:r>
            <a:r>
              <a:rPr lang="ko-KR" altLang="en-US" sz="1100" dirty="0"/>
              <a:t> 삭제 가능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Query-specific </a:t>
            </a:r>
            <a:r>
              <a:rPr lang="ko-KR" altLang="en-US" sz="1100" dirty="0" err="1"/>
              <a:t>프로젝션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특정 쿼리 튜닝을 위해 추가된 </a:t>
            </a:r>
            <a:r>
              <a:rPr lang="ko-KR" altLang="en-US" sz="1100" dirty="0" err="1"/>
              <a:t>프로젝션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일부 </a:t>
            </a:r>
            <a:r>
              <a:rPr lang="ko-KR" altLang="en-US" sz="1100" dirty="0" err="1"/>
              <a:t>컬럼만으로</a:t>
            </a:r>
            <a:r>
              <a:rPr lang="ko-KR" altLang="en-US" sz="1100" dirty="0"/>
              <a:t> 생성 가능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Aggregate </a:t>
            </a:r>
            <a:r>
              <a:rPr lang="ko-KR" altLang="en-US" sz="1100" dirty="0" err="1"/>
              <a:t>프로젝션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SUM, COUNT</a:t>
            </a:r>
            <a:r>
              <a:rPr lang="ko-KR" altLang="en-US" sz="1100" dirty="0"/>
              <a:t>와 같은 </a:t>
            </a:r>
            <a:r>
              <a:rPr lang="ko-KR" altLang="en-US" sz="1100" dirty="0" err="1"/>
              <a:t>표현식</a:t>
            </a:r>
            <a:r>
              <a:rPr lang="ko-KR" altLang="en-US" sz="1100" dirty="0"/>
              <a:t> 또는 집계함수를 포함하고 있는 </a:t>
            </a:r>
            <a:r>
              <a:rPr lang="ko-KR" altLang="en-US" sz="1100" dirty="0" err="1"/>
              <a:t>프로젝션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이미 집계된 데이터가 포함되어 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Buddy </a:t>
            </a:r>
            <a:r>
              <a:rPr lang="ko-KR" altLang="en-US" sz="1100" dirty="0" err="1"/>
              <a:t>프로젝션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 err="1"/>
              <a:t>프로젝션</a:t>
            </a:r>
            <a:r>
              <a:rPr lang="ko-KR" altLang="en-US" sz="1100" dirty="0"/>
              <a:t> 속성의 </a:t>
            </a:r>
            <a:r>
              <a:rPr lang="en-US" altLang="ko-KR" sz="1100" dirty="0"/>
              <a:t>KSAFE </a:t>
            </a:r>
            <a:r>
              <a:rPr lang="ko-KR" altLang="en-US" sz="1100" dirty="0"/>
              <a:t>로 데이터를 이중화 또는 삼중화할 때 다른 </a:t>
            </a:r>
            <a:r>
              <a:rPr lang="ko-KR" altLang="en-US" sz="1100" dirty="0" err="1"/>
              <a:t>노드에</a:t>
            </a:r>
            <a:r>
              <a:rPr lang="ko-KR" altLang="en-US" sz="1100" dirty="0"/>
              <a:t> 복제되는 </a:t>
            </a:r>
            <a:r>
              <a:rPr lang="ko-KR" altLang="en-US" sz="1100" dirty="0" err="1"/>
              <a:t>프로젝션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 err="1"/>
              <a:t>프로젝션</a:t>
            </a:r>
            <a:r>
              <a:rPr lang="ko-KR" altLang="en-US" sz="1100" b="1" dirty="0"/>
              <a:t> 관리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 err="1"/>
              <a:t>프로젝션은</a:t>
            </a:r>
            <a:r>
              <a:rPr lang="ko-KR" altLang="en-US" sz="1100" dirty="0"/>
              <a:t> 테이블 당 복수개가 가능하지만 너무 많은 </a:t>
            </a:r>
            <a:r>
              <a:rPr lang="ko-KR" altLang="en-US" sz="1100" dirty="0" err="1"/>
              <a:t>프로젝션은</a:t>
            </a:r>
            <a:r>
              <a:rPr lang="ko-KR" altLang="en-US" sz="1100" dirty="0"/>
              <a:t> 데이터 적재 속도에 영향을 미침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테이블 당 </a:t>
            </a:r>
            <a:r>
              <a:rPr lang="en-US" altLang="ko-KR" sz="1100" dirty="0"/>
              <a:t>2-4</a:t>
            </a:r>
            <a:r>
              <a:rPr lang="ko-KR" altLang="en-US" sz="1100" dirty="0"/>
              <a:t>개 이내의 </a:t>
            </a:r>
            <a:r>
              <a:rPr lang="ko-KR" altLang="en-US" sz="1100" dirty="0" err="1"/>
              <a:t>프로젝션</a:t>
            </a:r>
            <a:r>
              <a:rPr lang="ko-KR" altLang="en-US" sz="1100" dirty="0"/>
              <a:t> 권장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 err="1"/>
              <a:t>프로젝션</a:t>
            </a:r>
            <a:r>
              <a:rPr lang="ko-KR" altLang="en-US" sz="1100" dirty="0"/>
              <a:t> 추가 생성 및 동기화</a:t>
            </a:r>
            <a:r>
              <a:rPr lang="en-US" altLang="ko-KR" sz="1100" dirty="0"/>
              <a:t>, </a:t>
            </a:r>
            <a:r>
              <a:rPr lang="ko-KR" altLang="en-US" sz="1100" dirty="0"/>
              <a:t>삭제 등의 과정은 기존 </a:t>
            </a:r>
            <a:r>
              <a:rPr lang="ko-KR" altLang="en-US" sz="1100" dirty="0" err="1"/>
              <a:t>프로젝션이</a:t>
            </a:r>
            <a:r>
              <a:rPr lang="ko-KR" altLang="en-US" sz="1100" dirty="0"/>
              <a:t> 사용 중인 상태에서 가능한 온라인 작업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4"/>
          <p:cNvSpPr/>
          <p:nvPr/>
        </p:nvSpPr>
        <p:spPr>
          <a:xfrm>
            <a:off x="4349631" y="1319663"/>
            <a:ext cx="1528757" cy="251801"/>
          </a:xfrm>
          <a:prstGeom prst="roundRect">
            <a:avLst/>
          </a:prstGeom>
          <a:solidFill>
            <a:schemeClr val="tx2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90000"/>
              </a:lnSpc>
            </a:pPr>
            <a:r>
              <a:rPr lang="en-US" altLang="ko-KR" sz="900" dirty="0"/>
              <a:t>CREATE PROJECTION</a:t>
            </a:r>
          </a:p>
        </p:txBody>
      </p:sp>
      <p:pic>
        <p:nvPicPr>
          <p:cNvPr id="9" name="Picture 5" descr="C:\Users\hongjon\Documents\Proposal\ICON\Common_Icons\Common_Icons\Magnifying_glass\Magnifying_glass_RGB\Magnifying_glass_RGB_blue_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777" y="1355894"/>
            <a:ext cx="222460" cy="215570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10" name="Rounded Rectangle 7"/>
          <p:cNvSpPr/>
          <p:nvPr/>
        </p:nvSpPr>
        <p:spPr>
          <a:xfrm>
            <a:off x="3287688" y="3727448"/>
            <a:ext cx="2590700" cy="251801"/>
          </a:xfrm>
          <a:prstGeom prst="roundRect">
            <a:avLst/>
          </a:prstGeom>
          <a:solidFill>
            <a:schemeClr val="tx2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90000"/>
              </a:lnSpc>
            </a:pPr>
            <a:r>
              <a:rPr lang="en-US" altLang="ko-KR" sz="900" dirty="0"/>
              <a:t>DESIGNER_DESIGN_PROJECTION_ENCODINGS </a:t>
            </a:r>
          </a:p>
        </p:txBody>
      </p:sp>
      <p:pic>
        <p:nvPicPr>
          <p:cNvPr id="11" name="Picture 8" descr="C:\Users\hongjon\Documents\Proposal\ICON\Common_Icons\Common_Icons\Magnifying_glass\Magnifying_glass_RGB\Magnifying_glass_RGB_blue_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260" y="3763679"/>
            <a:ext cx="222460" cy="215570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12" name="TextBox 11"/>
          <p:cNvSpPr txBox="1"/>
          <p:nvPr/>
        </p:nvSpPr>
        <p:spPr>
          <a:xfrm>
            <a:off x="1347851" y="4577293"/>
            <a:ext cx="85921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000" dirty="0">
                <a:solidFill>
                  <a:schemeClr val="tx2"/>
                </a:solidFill>
              </a:rPr>
              <a:t>쿼리 튜닝 참조</a:t>
            </a:r>
          </a:p>
        </p:txBody>
      </p:sp>
      <p:pic>
        <p:nvPicPr>
          <p:cNvPr id="13" name="Picture 13" descr="C:\Users\hongjon\Documents\Proposal\ICON\Business_Icons\Business_Icons\Innovation\Innovation_RGB\Innovation_RGB_blue_NT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852" y="4474638"/>
            <a:ext cx="196427" cy="322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ounded Rectangle 11"/>
          <p:cNvSpPr/>
          <p:nvPr/>
        </p:nvSpPr>
        <p:spPr>
          <a:xfrm>
            <a:off x="6717813" y="5507910"/>
            <a:ext cx="1008112" cy="31053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1000" dirty="0">
                <a:solidFill>
                  <a:schemeClr val="tx1"/>
                </a:solidFill>
              </a:rPr>
              <a:t>프로젝션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19428" y="5898840"/>
            <a:ext cx="121668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000" dirty="0"/>
              <a:t>1) CREATE PROJECTION</a:t>
            </a:r>
            <a:endParaRPr lang="ko-KR" altLang="en-US" sz="1000" dirty="0" err="1"/>
          </a:p>
        </p:txBody>
      </p:sp>
      <p:sp>
        <p:nvSpPr>
          <p:cNvPr id="16" name="TextBox 15"/>
          <p:cNvSpPr txBox="1"/>
          <p:nvPr/>
        </p:nvSpPr>
        <p:spPr>
          <a:xfrm>
            <a:off x="7916014" y="5450759"/>
            <a:ext cx="384722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 dirty="0"/>
              <a:t>동기화</a:t>
            </a:r>
          </a:p>
        </p:txBody>
      </p:sp>
      <p:sp>
        <p:nvSpPr>
          <p:cNvPr id="17" name="Rounded Rectangle 23"/>
          <p:cNvSpPr/>
          <p:nvPr/>
        </p:nvSpPr>
        <p:spPr>
          <a:xfrm>
            <a:off x="8497576" y="5507909"/>
            <a:ext cx="1008112" cy="31053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1000" dirty="0">
                <a:solidFill>
                  <a:schemeClr val="tx1"/>
                </a:solidFill>
              </a:rPr>
              <a:t>추가프로젝션</a:t>
            </a:r>
          </a:p>
        </p:txBody>
      </p:sp>
      <p:cxnSp>
        <p:nvCxnSpPr>
          <p:cNvPr id="18" name="Straight Arrow Connector 24"/>
          <p:cNvCxnSpPr>
            <a:stCxn id="14" idx="3"/>
            <a:endCxn id="17" idx="1"/>
          </p:cNvCxnSpPr>
          <p:nvPr/>
        </p:nvCxnSpPr>
        <p:spPr>
          <a:xfrm flipV="1">
            <a:off x="7725925" y="5663176"/>
            <a:ext cx="771651" cy="1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96013" y="5711890"/>
            <a:ext cx="594715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000" dirty="0"/>
              <a:t>2) REFRESH</a:t>
            </a:r>
            <a:endParaRPr lang="ko-KR" altLang="en-US" sz="1000" dirty="0" err="1"/>
          </a:p>
        </p:txBody>
      </p:sp>
      <p:sp>
        <p:nvSpPr>
          <p:cNvPr id="20" name="TextBox 19"/>
          <p:cNvSpPr txBox="1"/>
          <p:nvPr/>
        </p:nvSpPr>
        <p:spPr>
          <a:xfrm>
            <a:off x="7093629" y="5898840"/>
            <a:ext cx="25648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000" dirty="0"/>
              <a:t>제거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8859" y="6078990"/>
            <a:ext cx="111889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000" dirty="0"/>
              <a:t>3) MAKE_AHM_NOW</a:t>
            </a:r>
          </a:p>
          <a:p>
            <a:pPr>
              <a:lnSpc>
                <a:spcPct val="90000"/>
              </a:lnSpc>
            </a:pPr>
            <a:r>
              <a:rPr lang="en-US" altLang="ko-KR" sz="1000" dirty="0"/>
              <a:t>4) DROP PROJECTION</a:t>
            </a:r>
            <a:endParaRPr lang="ko-KR" altLang="en-US" sz="1000" dirty="0" err="1"/>
          </a:p>
        </p:txBody>
      </p:sp>
      <p:sp>
        <p:nvSpPr>
          <p:cNvPr id="22" name="Rounded Rectangle 32"/>
          <p:cNvSpPr/>
          <p:nvPr/>
        </p:nvSpPr>
        <p:spPr>
          <a:xfrm>
            <a:off x="9264351" y="6201535"/>
            <a:ext cx="2656319" cy="251801"/>
          </a:xfrm>
          <a:prstGeom prst="roundRect">
            <a:avLst/>
          </a:prstGeom>
          <a:solidFill>
            <a:schemeClr val="tx2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90000"/>
              </a:lnSpc>
            </a:pPr>
            <a:r>
              <a:rPr lang="en-US" altLang="ko-KR" sz="900" dirty="0">
                <a:solidFill>
                  <a:schemeClr val="bg1"/>
                </a:solidFill>
              </a:rPr>
              <a:t>REFRESH / START_REFRESH / CANCEL_REFRESH</a:t>
            </a:r>
          </a:p>
        </p:txBody>
      </p:sp>
      <p:pic>
        <p:nvPicPr>
          <p:cNvPr id="23" name="Picture 33" descr="C:\Users\hongjon\Documents\Proposal\ICON\Common_Icons\Common_Icons\Magnifying_glass\Magnifying_glass_RGB\Magnifying_glass_RGB_blue_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9924" y="6237766"/>
            <a:ext cx="222460" cy="215570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24" name="Rounded Rectangle 34"/>
          <p:cNvSpPr/>
          <p:nvPr/>
        </p:nvSpPr>
        <p:spPr>
          <a:xfrm>
            <a:off x="10157993" y="5846394"/>
            <a:ext cx="1762677" cy="251801"/>
          </a:xfrm>
          <a:prstGeom prst="roundRect">
            <a:avLst/>
          </a:prstGeom>
          <a:solidFill>
            <a:schemeClr val="tx2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90000"/>
              </a:lnSpc>
            </a:pPr>
            <a:r>
              <a:rPr lang="en-US" altLang="ko-KR" sz="900" dirty="0">
                <a:solidFill>
                  <a:schemeClr val="bg1"/>
                </a:solidFill>
              </a:rPr>
              <a:t>PROJECTION_REFRESHES</a:t>
            </a:r>
          </a:p>
        </p:txBody>
      </p:sp>
      <p:pic>
        <p:nvPicPr>
          <p:cNvPr id="25" name="Picture 35" descr="C:\Users\hongjon\Documents\Proposal\ICON\Common_Icons\Common_Icons\Magnifying_glass\Magnifying_glass_RGB\Magnifying_glass_RGB_blue_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4440" y="5882625"/>
            <a:ext cx="222460" cy="215570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26" name="Rounded Rectangle 36"/>
          <p:cNvSpPr/>
          <p:nvPr/>
        </p:nvSpPr>
        <p:spPr>
          <a:xfrm>
            <a:off x="10486900" y="5491893"/>
            <a:ext cx="1433770" cy="251162"/>
          </a:xfrm>
          <a:prstGeom prst="roundRect">
            <a:avLst/>
          </a:prstGeom>
          <a:solidFill>
            <a:schemeClr val="tx2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90000"/>
              </a:lnSpc>
            </a:pPr>
            <a:r>
              <a:rPr lang="en-US" altLang="ko-KR" sz="900" dirty="0">
                <a:solidFill>
                  <a:schemeClr val="bg1"/>
                </a:solidFill>
              </a:rPr>
              <a:t>MAKE_AHM_NOW</a:t>
            </a:r>
          </a:p>
        </p:txBody>
      </p:sp>
      <p:pic>
        <p:nvPicPr>
          <p:cNvPr id="27" name="Picture 37" descr="C:\Users\hongjon\Documents\Proposal\ICON\Common_Icons\Common_Icons\Magnifying_glass\Magnifying_glass_RGB\Magnifying_glass_RGB_blue_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4480" y="5528123"/>
            <a:ext cx="222460" cy="215570"/>
          </a:xfrm>
          <a:prstGeom prst="rect">
            <a:avLst/>
          </a:prstGeom>
          <a:solidFill>
            <a:schemeClr val="tx2"/>
          </a:solidFill>
        </p:spPr>
      </p:pic>
    </p:spTree>
    <p:extLst>
      <p:ext uri="{BB962C8B-B14F-4D97-AF65-F5344CB8AC3E}">
        <p14:creationId xmlns:p14="http://schemas.microsoft.com/office/powerpoint/2010/main" val="3649460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데이터베이스 물리 오브젝트 </a:t>
            </a:r>
            <a:r>
              <a:rPr lang="en-US" altLang="ko-KR" sz="2800" dirty="0"/>
              <a:t>- </a:t>
            </a:r>
            <a:r>
              <a:rPr lang="ko-KR" altLang="en-US" sz="2800" dirty="0" err="1"/>
              <a:t>프로젝션</a:t>
            </a:r>
            <a:endParaRPr lang="ko-KR" altLang="en-US" sz="28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err="1"/>
              <a:t>Vertica</a:t>
            </a:r>
            <a:r>
              <a:rPr lang="en-US" altLang="ko-KR" dirty="0"/>
              <a:t> </a:t>
            </a:r>
            <a:r>
              <a:rPr lang="ko-KR" altLang="en-US" dirty="0"/>
              <a:t>아키텍처</a:t>
            </a:r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 err="1"/>
              <a:t>프로젝션</a:t>
            </a:r>
            <a:r>
              <a:rPr lang="ko-KR" altLang="en-US" sz="1100" b="1" dirty="0"/>
              <a:t> 분산 저장 방법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Segmentation 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segment key </a:t>
            </a:r>
            <a:r>
              <a:rPr lang="ko-KR" altLang="en-US" sz="1100" dirty="0" err="1"/>
              <a:t>컬럼</a:t>
            </a:r>
            <a:r>
              <a:rPr lang="ko-KR" altLang="en-US" sz="1100" dirty="0"/>
              <a:t> 데이터의 </a:t>
            </a:r>
            <a:r>
              <a:rPr lang="ko-KR" altLang="en-US" sz="1100" dirty="0" err="1"/>
              <a:t>해시값에</a:t>
            </a:r>
            <a:r>
              <a:rPr lang="ko-KR" altLang="en-US" sz="1100" dirty="0"/>
              <a:t> 의해 모든 </a:t>
            </a:r>
            <a:r>
              <a:rPr lang="ko-KR" altLang="en-US" sz="1100" dirty="0" err="1"/>
              <a:t>노드에</a:t>
            </a:r>
            <a:r>
              <a:rPr lang="ko-KR" altLang="en-US" sz="1100" dirty="0"/>
              <a:t> 분산 저장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특정 </a:t>
            </a:r>
            <a:r>
              <a:rPr lang="ko-KR" altLang="en-US" sz="1100" dirty="0" err="1"/>
              <a:t>노드로</a:t>
            </a:r>
            <a:r>
              <a:rPr lang="ko-KR" altLang="en-US" sz="1100" dirty="0"/>
              <a:t> 데이터가 몰리는 </a:t>
            </a:r>
            <a:r>
              <a:rPr lang="en-US" altLang="ko-KR" sz="1100" dirty="0"/>
              <a:t>skew </a:t>
            </a:r>
            <a:r>
              <a:rPr lang="ko-KR" altLang="en-US" sz="1100" dirty="0"/>
              <a:t>현상 주의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Skew </a:t>
            </a:r>
            <a:r>
              <a:rPr lang="ko-KR" altLang="en-US" sz="1100" dirty="0"/>
              <a:t>현상을 최소화하기 위한 </a:t>
            </a:r>
            <a:r>
              <a:rPr lang="en-US" altLang="ko-KR" sz="1100" dirty="0"/>
              <a:t>Modular hash </a:t>
            </a:r>
            <a:r>
              <a:rPr lang="ko-KR" altLang="en-US" sz="1100" dirty="0"/>
              <a:t>기법 제공</a:t>
            </a:r>
            <a:r>
              <a:rPr lang="en-US" altLang="ko-KR" sz="1100" dirty="0"/>
              <a:t> 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동일한 </a:t>
            </a:r>
            <a:r>
              <a:rPr lang="en-US" altLang="ko-KR" sz="1100" dirty="0"/>
              <a:t>Segment key </a:t>
            </a:r>
            <a:r>
              <a:rPr lang="ko-KR" altLang="en-US" sz="1100" dirty="0"/>
              <a:t>를 가진 테이블간의 조인 성능이 우수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Replication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Dimension</a:t>
            </a:r>
            <a:r>
              <a:rPr lang="ko-KR" altLang="en-US" sz="1100" dirty="0"/>
              <a:t>과 같이 작은 </a:t>
            </a:r>
            <a:r>
              <a:rPr lang="ko-KR" altLang="en-US" sz="1100" dirty="0" err="1"/>
              <a:t>프로젝션은</a:t>
            </a:r>
            <a:r>
              <a:rPr lang="ko-KR" altLang="en-US" sz="1100" dirty="0"/>
              <a:t> 모든 </a:t>
            </a:r>
            <a:r>
              <a:rPr lang="ko-KR" altLang="en-US" sz="1100" dirty="0" err="1"/>
              <a:t>노드에</a:t>
            </a:r>
            <a:r>
              <a:rPr lang="ko-KR" altLang="en-US" sz="1100" dirty="0"/>
              <a:t> 복제시켜 </a:t>
            </a:r>
            <a:r>
              <a:rPr lang="en-US" altLang="ko-KR" sz="1100" dirty="0"/>
              <a:t>Fact </a:t>
            </a:r>
            <a:r>
              <a:rPr lang="ko-KR" altLang="en-US" sz="1100" dirty="0"/>
              <a:t>테이블간의 조인 성능을 높임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데이터가 항상 복제되어 있으므로 </a:t>
            </a:r>
            <a:r>
              <a:rPr lang="ko-KR" altLang="en-US" sz="1100" dirty="0" err="1"/>
              <a:t>노드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장애시에도</a:t>
            </a:r>
            <a:r>
              <a:rPr lang="ko-KR" altLang="en-US" sz="1100" dirty="0"/>
              <a:t> </a:t>
            </a:r>
            <a:r>
              <a:rPr lang="ko-KR" altLang="en-US" sz="1100" dirty="0" err="1"/>
              <a:t>고가용성</a:t>
            </a:r>
            <a:r>
              <a:rPr lang="ko-KR" altLang="en-US" sz="1100" dirty="0"/>
              <a:t> 제공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UNSEGMENTED </a:t>
            </a:r>
            <a:r>
              <a:rPr lang="ko-KR" altLang="en-US" sz="1100" dirty="0"/>
              <a:t>구문이 없을 경우 기본으로 </a:t>
            </a:r>
            <a:r>
              <a:rPr lang="en-US" altLang="ko-KR" sz="1100" dirty="0"/>
              <a:t>segmentation </a:t>
            </a:r>
            <a:r>
              <a:rPr lang="ko-KR" altLang="en-US" sz="1100" dirty="0"/>
              <a:t>으로 생성</a:t>
            </a:r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특정 </a:t>
            </a:r>
            <a:r>
              <a:rPr lang="ko-KR" altLang="en-US" sz="1100" dirty="0" err="1"/>
              <a:t>노드에</a:t>
            </a:r>
            <a:r>
              <a:rPr lang="ko-KR" altLang="en-US" sz="1100" dirty="0"/>
              <a:t> </a:t>
            </a:r>
            <a:r>
              <a:rPr lang="ko-KR" altLang="en-US" sz="1100" dirty="0" err="1"/>
              <a:t>프로젝션</a:t>
            </a:r>
            <a:r>
              <a:rPr lang="ko-KR" altLang="en-US" sz="1100" dirty="0"/>
              <a:t> 생성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경우에 따라 </a:t>
            </a:r>
            <a:r>
              <a:rPr lang="ko-KR" altLang="en-US" sz="1100" dirty="0" err="1"/>
              <a:t>노드간</a:t>
            </a:r>
            <a:r>
              <a:rPr lang="ko-KR" altLang="en-US" sz="1100" dirty="0"/>
              <a:t> 네트워크 부하 및 복제 부하를 최소화하여 입출력 처리가 필요한 경우 특정 </a:t>
            </a:r>
            <a:r>
              <a:rPr lang="ko-KR" altLang="en-US" sz="1100" dirty="0" err="1"/>
              <a:t>노드에만</a:t>
            </a:r>
            <a:r>
              <a:rPr lang="ko-KR" altLang="en-US" sz="1100" dirty="0"/>
              <a:t> 데이터를 저장할 수 있다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 err="1"/>
              <a:t>노드명은</a:t>
            </a:r>
            <a:r>
              <a:rPr lang="ko-KR" altLang="en-US" sz="1100" dirty="0"/>
              <a:t> </a:t>
            </a:r>
            <a:r>
              <a:rPr lang="en-US" altLang="ko-KR" sz="1100" dirty="0"/>
              <a:t>nodes </a:t>
            </a:r>
            <a:r>
              <a:rPr lang="ko-KR" altLang="en-US" sz="1100" dirty="0"/>
              <a:t>테이블에 저장된 이름을 사용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 err="1"/>
              <a:t>고가용성을</a:t>
            </a:r>
            <a:r>
              <a:rPr lang="ko-KR" altLang="en-US" sz="1100" dirty="0"/>
              <a:t> 위한 데이터 이중화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Segment </a:t>
            </a:r>
            <a:r>
              <a:rPr lang="ko-KR" altLang="en-US" sz="1100" dirty="0" err="1"/>
              <a:t>프로젝션은</a:t>
            </a:r>
            <a:r>
              <a:rPr lang="ko-KR" altLang="en-US" sz="1100" dirty="0"/>
              <a:t> 각 </a:t>
            </a:r>
            <a:r>
              <a:rPr lang="ko-KR" altLang="en-US" sz="1100" dirty="0" err="1"/>
              <a:t>노드에</a:t>
            </a:r>
            <a:r>
              <a:rPr lang="ko-KR" altLang="en-US" sz="1100" dirty="0"/>
              <a:t> 전체 데이터의 일부가 저장되어 있으므로 이에 대한 </a:t>
            </a:r>
            <a:r>
              <a:rPr lang="ko-KR" altLang="en-US" sz="1100" dirty="0" err="1"/>
              <a:t>고가용성을</a:t>
            </a:r>
            <a:r>
              <a:rPr lang="ko-KR" altLang="en-US" sz="1100" dirty="0"/>
              <a:t> 제공하기 위해 다른 </a:t>
            </a:r>
            <a:r>
              <a:rPr lang="ko-KR" altLang="en-US" sz="1100" dirty="0" err="1"/>
              <a:t>노드로</a:t>
            </a:r>
            <a:r>
              <a:rPr lang="ko-KR" altLang="en-US" sz="1100" dirty="0"/>
              <a:t> </a:t>
            </a:r>
            <a:r>
              <a:rPr lang="ko-KR" altLang="en-US" sz="1100" dirty="0" err="1"/>
              <a:t>프로젝션을</a:t>
            </a:r>
            <a:r>
              <a:rPr lang="ko-KR" altLang="en-US" sz="1100" dirty="0"/>
              <a:t> 복제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항상 버디 </a:t>
            </a:r>
            <a:r>
              <a:rPr lang="ko-KR" altLang="en-US" sz="1100" dirty="0" err="1"/>
              <a:t>프로젝션으로</a:t>
            </a:r>
            <a:r>
              <a:rPr lang="ko-KR" altLang="en-US" sz="1100" dirty="0"/>
              <a:t> 데이터가 동기화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노드 장애 시 복제된 버디 </a:t>
            </a:r>
            <a:r>
              <a:rPr lang="ko-KR" altLang="en-US" sz="1100" dirty="0" err="1"/>
              <a:t>프로젝션에서</a:t>
            </a:r>
            <a:r>
              <a:rPr lang="ko-KR" altLang="en-US" sz="1100" dirty="0"/>
              <a:t> 데이터 변경이 발생하면 변경된 데이터는 장애 노드가 복구된 후 자동으로 동기화됨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6"/>
          <p:cNvSpPr/>
          <p:nvPr/>
        </p:nvSpPr>
        <p:spPr>
          <a:xfrm>
            <a:off x="1597297" y="2552649"/>
            <a:ext cx="720080" cy="51540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90000"/>
              </a:lnSpc>
            </a:pPr>
            <a:r>
              <a:rPr lang="ko-KR" altLang="en-US" sz="1000" dirty="0">
                <a:solidFill>
                  <a:schemeClr val="tx1"/>
                </a:solidFill>
              </a:rPr>
              <a:t>노드</a:t>
            </a:r>
            <a:r>
              <a:rPr lang="en-US" altLang="ko-KR" sz="1000" dirty="0">
                <a:solidFill>
                  <a:schemeClr val="tx1"/>
                </a:solidFill>
              </a:rPr>
              <a:t>1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" name="Rounded Rectangle 7"/>
          <p:cNvSpPr/>
          <p:nvPr/>
        </p:nvSpPr>
        <p:spPr>
          <a:xfrm>
            <a:off x="2473756" y="2552649"/>
            <a:ext cx="720080" cy="51540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90000"/>
              </a:lnSpc>
            </a:pPr>
            <a:r>
              <a:rPr lang="ko-KR" altLang="en-US" sz="1000" dirty="0">
                <a:solidFill>
                  <a:schemeClr val="tx1"/>
                </a:solidFill>
              </a:rPr>
              <a:t>노드</a:t>
            </a:r>
            <a:r>
              <a:rPr lang="en-US" altLang="ko-KR" sz="1000" dirty="0">
                <a:solidFill>
                  <a:schemeClr val="tx1"/>
                </a:solidFill>
              </a:rPr>
              <a:t>2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1" name="Rounded Rectangle 8"/>
          <p:cNvSpPr/>
          <p:nvPr/>
        </p:nvSpPr>
        <p:spPr>
          <a:xfrm>
            <a:off x="3350215" y="2552649"/>
            <a:ext cx="720080" cy="51540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90000"/>
              </a:lnSpc>
            </a:pPr>
            <a:r>
              <a:rPr lang="ko-KR" altLang="en-US" sz="1000" dirty="0">
                <a:solidFill>
                  <a:schemeClr val="tx1"/>
                </a:solidFill>
              </a:rPr>
              <a:t>노드</a:t>
            </a:r>
            <a:r>
              <a:rPr lang="en-US" altLang="ko-KR" sz="1000" dirty="0">
                <a:solidFill>
                  <a:schemeClr val="tx1"/>
                </a:solidFill>
              </a:rPr>
              <a:t>3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79509" y="3722549"/>
            <a:ext cx="264496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000" dirty="0"/>
              <a:t>table</a:t>
            </a:r>
            <a:endParaRPr lang="ko-KR" altLang="en-US" sz="1000" dirty="0" err="1"/>
          </a:p>
        </p:txBody>
      </p:sp>
      <p:sp>
        <p:nvSpPr>
          <p:cNvPr id="13" name="Rectangle 10"/>
          <p:cNvSpPr/>
          <p:nvPr/>
        </p:nvSpPr>
        <p:spPr>
          <a:xfrm>
            <a:off x="2583371" y="3262951"/>
            <a:ext cx="522994" cy="126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Rectangle 11"/>
          <p:cNvSpPr/>
          <p:nvPr/>
        </p:nvSpPr>
        <p:spPr>
          <a:xfrm>
            <a:off x="2583371" y="3389671"/>
            <a:ext cx="522994" cy="126720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Rectangle 12"/>
          <p:cNvSpPr/>
          <p:nvPr/>
        </p:nvSpPr>
        <p:spPr>
          <a:xfrm>
            <a:off x="2583371" y="3512891"/>
            <a:ext cx="522994" cy="126720"/>
          </a:xfrm>
          <a:prstGeom prst="rect">
            <a:avLst/>
          </a:prstGeom>
          <a:pattFill prst="pct80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Rectangle 13"/>
          <p:cNvSpPr/>
          <p:nvPr/>
        </p:nvSpPr>
        <p:spPr>
          <a:xfrm>
            <a:off x="2583371" y="2844440"/>
            <a:ext cx="522994" cy="126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Rectangle 14"/>
          <p:cNvSpPr/>
          <p:nvPr/>
        </p:nvSpPr>
        <p:spPr>
          <a:xfrm>
            <a:off x="1694896" y="2844440"/>
            <a:ext cx="522994" cy="126720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/>
          </a:p>
        </p:txBody>
      </p:sp>
      <p:sp>
        <p:nvSpPr>
          <p:cNvPr id="18" name="Rectangle 15"/>
          <p:cNvSpPr/>
          <p:nvPr/>
        </p:nvSpPr>
        <p:spPr>
          <a:xfrm>
            <a:off x="3468980" y="2844440"/>
            <a:ext cx="522994" cy="126720"/>
          </a:xfrm>
          <a:prstGeom prst="rect">
            <a:avLst/>
          </a:prstGeom>
          <a:pattFill prst="pct80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9" name="Straight Arrow Connector 16"/>
          <p:cNvCxnSpPr>
            <a:stCxn id="14" idx="1"/>
            <a:endCxn id="17" idx="2"/>
          </p:cNvCxnSpPr>
          <p:nvPr/>
        </p:nvCxnSpPr>
        <p:spPr>
          <a:xfrm flipH="1" flipV="1">
            <a:off x="1956393" y="2971160"/>
            <a:ext cx="626978" cy="481871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7"/>
          <p:cNvCxnSpPr>
            <a:stCxn id="13" idx="0"/>
          </p:cNvCxnSpPr>
          <p:nvPr/>
        </p:nvCxnSpPr>
        <p:spPr>
          <a:xfrm flipH="1" flipV="1">
            <a:off x="2827221" y="2971163"/>
            <a:ext cx="17647" cy="291788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18"/>
          <p:cNvCxnSpPr>
            <a:stCxn id="15" idx="3"/>
            <a:endCxn id="18" idx="2"/>
          </p:cNvCxnSpPr>
          <p:nvPr/>
        </p:nvCxnSpPr>
        <p:spPr>
          <a:xfrm flipV="1">
            <a:off x="3106365" y="2971160"/>
            <a:ext cx="624112" cy="605091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344009" y="3348064"/>
            <a:ext cx="2223366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000" dirty="0"/>
              <a:t>CREATE PROJECTION …</a:t>
            </a:r>
          </a:p>
          <a:p>
            <a:pPr>
              <a:lnSpc>
                <a:spcPct val="90000"/>
              </a:lnSpc>
            </a:pPr>
            <a:r>
              <a:rPr lang="en-US" altLang="ko-KR" sz="1000" dirty="0"/>
              <a:t>SEGMENTED BY HASH (C1,C2) ALL NODES; </a:t>
            </a:r>
            <a:endParaRPr lang="ko-KR" altLang="en-US" sz="1000" dirty="0" err="1"/>
          </a:p>
        </p:txBody>
      </p:sp>
      <p:sp>
        <p:nvSpPr>
          <p:cNvPr id="23" name="TextBox 22"/>
          <p:cNvSpPr txBox="1"/>
          <p:nvPr/>
        </p:nvSpPr>
        <p:spPr>
          <a:xfrm>
            <a:off x="1000406" y="2815126"/>
            <a:ext cx="535403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000" dirty="0"/>
              <a:t>projection</a:t>
            </a:r>
            <a:endParaRPr lang="ko-KR" altLang="en-US" sz="1000" dirty="0" err="1"/>
          </a:p>
        </p:txBody>
      </p:sp>
      <p:sp>
        <p:nvSpPr>
          <p:cNvPr id="24" name="Rounded Rectangle 32"/>
          <p:cNvSpPr/>
          <p:nvPr/>
        </p:nvSpPr>
        <p:spPr>
          <a:xfrm>
            <a:off x="1596353" y="5013136"/>
            <a:ext cx="720080" cy="51540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90000"/>
              </a:lnSpc>
            </a:pPr>
            <a:r>
              <a:rPr lang="ko-KR" altLang="en-US" sz="1000" dirty="0">
                <a:solidFill>
                  <a:schemeClr val="tx1"/>
                </a:solidFill>
              </a:rPr>
              <a:t>노드</a:t>
            </a:r>
            <a:r>
              <a:rPr lang="en-US" altLang="ko-KR" sz="1000" dirty="0">
                <a:solidFill>
                  <a:schemeClr val="tx1"/>
                </a:solidFill>
              </a:rPr>
              <a:t>1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5" name="Rounded Rectangle 33"/>
          <p:cNvSpPr/>
          <p:nvPr/>
        </p:nvSpPr>
        <p:spPr>
          <a:xfrm>
            <a:off x="2472812" y="5013136"/>
            <a:ext cx="720080" cy="51540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90000"/>
              </a:lnSpc>
            </a:pPr>
            <a:r>
              <a:rPr lang="ko-KR" altLang="en-US" sz="1000" dirty="0">
                <a:solidFill>
                  <a:schemeClr val="tx1"/>
                </a:solidFill>
              </a:rPr>
              <a:t>노드</a:t>
            </a:r>
            <a:r>
              <a:rPr lang="en-US" altLang="ko-KR" sz="1000" dirty="0">
                <a:solidFill>
                  <a:schemeClr val="tx1"/>
                </a:solidFill>
              </a:rPr>
              <a:t>2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6" name="Rounded Rectangle 34"/>
          <p:cNvSpPr/>
          <p:nvPr/>
        </p:nvSpPr>
        <p:spPr>
          <a:xfrm>
            <a:off x="3349271" y="5013136"/>
            <a:ext cx="720080" cy="51540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90000"/>
              </a:lnSpc>
            </a:pPr>
            <a:r>
              <a:rPr lang="ko-KR" altLang="en-US" sz="1000" dirty="0">
                <a:solidFill>
                  <a:schemeClr val="tx1"/>
                </a:solidFill>
              </a:rPr>
              <a:t>노드</a:t>
            </a:r>
            <a:r>
              <a:rPr lang="en-US" altLang="ko-KR" sz="1000" dirty="0">
                <a:solidFill>
                  <a:schemeClr val="tx1"/>
                </a:solidFill>
              </a:rPr>
              <a:t>3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711675" y="5882789"/>
            <a:ext cx="264496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000" dirty="0"/>
              <a:t>table</a:t>
            </a:r>
            <a:endParaRPr lang="ko-KR" altLang="en-US" sz="1000" dirty="0" err="1"/>
          </a:p>
        </p:txBody>
      </p:sp>
      <p:sp>
        <p:nvSpPr>
          <p:cNvPr id="28" name="Rectangle 36"/>
          <p:cNvSpPr/>
          <p:nvPr/>
        </p:nvSpPr>
        <p:spPr>
          <a:xfrm>
            <a:off x="2582427" y="5723438"/>
            <a:ext cx="522994" cy="126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Rectangle 39"/>
          <p:cNvSpPr/>
          <p:nvPr/>
        </p:nvSpPr>
        <p:spPr>
          <a:xfrm>
            <a:off x="2582427" y="5304927"/>
            <a:ext cx="522994" cy="126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30" name="Straight Arrow Connector 42"/>
          <p:cNvCxnSpPr>
            <a:stCxn id="28" idx="1"/>
            <a:endCxn id="34" idx="2"/>
          </p:cNvCxnSpPr>
          <p:nvPr/>
        </p:nvCxnSpPr>
        <p:spPr>
          <a:xfrm flipH="1" flipV="1">
            <a:off x="1963348" y="5431647"/>
            <a:ext cx="619079" cy="355151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43"/>
          <p:cNvCxnSpPr>
            <a:stCxn id="28" idx="0"/>
          </p:cNvCxnSpPr>
          <p:nvPr/>
        </p:nvCxnSpPr>
        <p:spPr>
          <a:xfrm flipH="1" flipV="1">
            <a:off x="2826277" y="5431650"/>
            <a:ext cx="17647" cy="291788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44"/>
          <p:cNvCxnSpPr>
            <a:stCxn id="28" idx="3"/>
            <a:endCxn id="35" idx="2"/>
          </p:cNvCxnSpPr>
          <p:nvPr/>
        </p:nvCxnSpPr>
        <p:spPr>
          <a:xfrm flipV="1">
            <a:off x="3105421" y="5431647"/>
            <a:ext cx="602784" cy="355151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99462" y="5275613"/>
            <a:ext cx="535403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000" dirty="0"/>
              <a:t>projection</a:t>
            </a:r>
            <a:endParaRPr lang="ko-KR" altLang="en-US" sz="1000" dirty="0" err="1"/>
          </a:p>
        </p:txBody>
      </p:sp>
      <p:sp>
        <p:nvSpPr>
          <p:cNvPr id="34" name="Rectangle 46"/>
          <p:cNvSpPr/>
          <p:nvPr/>
        </p:nvSpPr>
        <p:spPr>
          <a:xfrm>
            <a:off x="1701851" y="5304927"/>
            <a:ext cx="522994" cy="126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5" name="Rectangle 47"/>
          <p:cNvSpPr/>
          <p:nvPr/>
        </p:nvSpPr>
        <p:spPr>
          <a:xfrm>
            <a:off x="3446708" y="5304927"/>
            <a:ext cx="522994" cy="126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344009" y="5670052"/>
            <a:ext cx="1497205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000" dirty="0"/>
              <a:t>CREATE PROJECTION …</a:t>
            </a:r>
          </a:p>
          <a:p>
            <a:pPr>
              <a:lnSpc>
                <a:spcPct val="90000"/>
              </a:lnSpc>
            </a:pPr>
            <a:r>
              <a:rPr lang="en-US" altLang="ko-KR" sz="1000" dirty="0"/>
              <a:t>UNSEGMENTED ALL NODES; </a:t>
            </a:r>
            <a:endParaRPr lang="ko-KR" altLang="en-US" sz="1000" dirty="0" err="1"/>
          </a:p>
        </p:txBody>
      </p:sp>
      <p:sp>
        <p:nvSpPr>
          <p:cNvPr id="40" name="Rounded Rectangle 53"/>
          <p:cNvSpPr/>
          <p:nvPr/>
        </p:nvSpPr>
        <p:spPr>
          <a:xfrm>
            <a:off x="7298951" y="2276832"/>
            <a:ext cx="720080" cy="51540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90000"/>
              </a:lnSpc>
            </a:pPr>
            <a:r>
              <a:rPr lang="ko-KR" altLang="en-US" sz="1000" dirty="0">
                <a:solidFill>
                  <a:schemeClr val="tx1"/>
                </a:solidFill>
              </a:rPr>
              <a:t>노드</a:t>
            </a:r>
            <a:r>
              <a:rPr lang="en-US" altLang="ko-KR" sz="1000" dirty="0">
                <a:solidFill>
                  <a:schemeClr val="tx1"/>
                </a:solidFill>
              </a:rPr>
              <a:t>1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1" name="Rounded Rectangle 54"/>
          <p:cNvSpPr/>
          <p:nvPr/>
        </p:nvSpPr>
        <p:spPr>
          <a:xfrm>
            <a:off x="8175410" y="2276832"/>
            <a:ext cx="720080" cy="51540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90000"/>
              </a:lnSpc>
            </a:pPr>
            <a:r>
              <a:rPr lang="ko-KR" altLang="en-US" sz="1000" dirty="0">
                <a:solidFill>
                  <a:schemeClr val="tx1"/>
                </a:solidFill>
              </a:rPr>
              <a:t>노드</a:t>
            </a:r>
            <a:r>
              <a:rPr lang="en-US" altLang="ko-KR" sz="1000" dirty="0">
                <a:solidFill>
                  <a:schemeClr val="tx1"/>
                </a:solidFill>
              </a:rPr>
              <a:t>2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2" name="Rounded Rectangle 55"/>
          <p:cNvSpPr/>
          <p:nvPr/>
        </p:nvSpPr>
        <p:spPr>
          <a:xfrm>
            <a:off x="9051869" y="2276832"/>
            <a:ext cx="720080" cy="51540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90000"/>
              </a:lnSpc>
            </a:pPr>
            <a:r>
              <a:rPr lang="ko-KR" altLang="en-US" sz="1000" dirty="0">
                <a:solidFill>
                  <a:schemeClr val="tx1"/>
                </a:solidFill>
              </a:rPr>
              <a:t>노드</a:t>
            </a:r>
            <a:r>
              <a:rPr lang="en-US" altLang="ko-KR" sz="1000" dirty="0">
                <a:solidFill>
                  <a:schemeClr val="tx1"/>
                </a:solidFill>
              </a:rPr>
              <a:t>3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414273" y="3146485"/>
            <a:ext cx="264496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000" dirty="0"/>
              <a:t>table</a:t>
            </a:r>
            <a:endParaRPr lang="ko-KR" altLang="en-US" sz="1000" dirty="0" err="1"/>
          </a:p>
        </p:txBody>
      </p:sp>
      <p:sp>
        <p:nvSpPr>
          <p:cNvPr id="44" name="Rectangle 57"/>
          <p:cNvSpPr/>
          <p:nvPr/>
        </p:nvSpPr>
        <p:spPr>
          <a:xfrm>
            <a:off x="8285025" y="2987134"/>
            <a:ext cx="522994" cy="126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61"/>
          <p:cNvCxnSpPr>
            <a:stCxn id="44" idx="3"/>
            <a:endCxn id="47" idx="2"/>
          </p:cNvCxnSpPr>
          <p:nvPr/>
        </p:nvCxnSpPr>
        <p:spPr>
          <a:xfrm flipV="1">
            <a:off x="8808019" y="2695343"/>
            <a:ext cx="602784" cy="355151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702060" y="2539309"/>
            <a:ext cx="535403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000" dirty="0"/>
              <a:t>projection</a:t>
            </a:r>
            <a:endParaRPr lang="ko-KR" altLang="en-US" sz="1000" dirty="0" err="1"/>
          </a:p>
        </p:txBody>
      </p:sp>
      <p:sp>
        <p:nvSpPr>
          <p:cNvPr id="47" name="Rectangle 64"/>
          <p:cNvSpPr/>
          <p:nvPr/>
        </p:nvSpPr>
        <p:spPr>
          <a:xfrm>
            <a:off x="9149306" y="2568623"/>
            <a:ext cx="522994" cy="126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046607" y="2933748"/>
            <a:ext cx="1606209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000" dirty="0"/>
              <a:t>CREATE PROJECTION …</a:t>
            </a:r>
          </a:p>
          <a:p>
            <a:pPr>
              <a:lnSpc>
                <a:spcPct val="90000"/>
              </a:lnSpc>
            </a:pPr>
            <a:r>
              <a:rPr lang="en-US" altLang="ko-KR" sz="1000" dirty="0"/>
              <a:t>UNSEGMENTED NODE </a:t>
            </a:r>
            <a:r>
              <a:rPr lang="ko-KR" altLang="en-US" sz="1000" dirty="0"/>
              <a:t>노드</a:t>
            </a:r>
            <a:r>
              <a:rPr lang="en-US" altLang="ko-KR" sz="1000" dirty="0"/>
              <a:t>3 ; </a:t>
            </a:r>
            <a:endParaRPr lang="ko-KR" altLang="en-US" sz="1000" dirty="0" err="1"/>
          </a:p>
        </p:txBody>
      </p:sp>
      <p:sp>
        <p:nvSpPr>
          <p:cNvPr id="49" name="Rounded Rectangle 66"/>
          <p:cNvSpPr/>
          <p:nvPr/>
        </p:nvSpPr>
        <p:spPr>
          <a:xfrm>
            <a:off x="7298951" y="4856905"/>
            <a:ext cx="720080" cy="51540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90000"/>
              </a:lnSpc>
            </a:pPr>
            <a:r>
              <a:rPr lang="ko-KR" altLang="en-US" sz="1000" dirty="0">
                <a:solidFill>
                  <a:schemeClr val="tx1"/>
                </a:solidFill>
              </a:rPr>
              <a:t>노드</a:t>
            </a:r>
            <a:r>
              <a:rPr lang="en-US" altLang="ko-KR" sz="1000" dirty="0">
                <a:solidFill>
                  <a:schemeClr val="tx1"/>
                </a:solidFill>
              </a:rPr>
              <a:t>1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0" name="Rounded Rectangle 67"/>
          <p:cNvSpPr/>
          <p:nvPr/>
        </p:nvSpPr>
        <p:spPr>
          <a:xfrm>
            <a:off x="8175410" y="4856905"/>
            <a:ext cx="720080" cy="51540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90000"/>
              </a:lnSpc>
            </a:pPr>
            <a:r>
              <a:rPr lang="ko-KR" altLang="en-US" sz="1000" dirty="0">
                <a:solidFill>
                  <a:schemeClr val="tx1"/>
                </a:solidFill>
              </a:rPr>
              <a:t>노드</a:t>
            </a:r>
            <a:r>
              <a:rPr lang="en-US" altLang="ko-KR" sz="1000" dirty="0">
                <a:solidFill>
                  <a:schemeClr val="tx1"/>
                </a:solidFill>
              </a:rPr>
              <a:t>2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1" name="Rounded Rectangle 68"/>
          <p:cNvSpPr/>
          <p:nvPr/>
        </p:nvSpPr>
        <p:spPr>
          <a:xfrm>
            <a:off x="9051869" y="4856905"/>
            <a:ext cx="720080" cy="51540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90000"/>
              </a:lnSpc>
            </a:pPr>
            <a:r>
              <a:rPr lang="ko-KR" altLang="en-US" sz="1000" dirty="0">
                <a:solidFill>
                  <a:schemeClr val="tx1"/>
                </a:solidFill>
              </a:rPr>
              <a:t>노드</a:t>
            </a:r>
            <a:r>
              <a:rPr lang="en-US" altLang="ko-KR" sz="1000" dirty="0">
                <a:solidFill>
                  <a:schemeClr val="tx1"/>
                </a:solidFill>
              </a:rPr>
              <a:t>3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381163" y="6026805"/>
            <a:ext cx="264496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000" dirty="0"/>
              <a:t>table</a:t>
            </a:r>
            <a:endParaRPr lang="ko-KR" altLang="en-US" sz="1000" dirty="0" err="1"/>
          </a:p>
        </p:txBody>
      </p:sp>
      <p:sp>
        <p:nvSpPr>
          <p:cNvPr id="53" name="Rectangle 70"/>
          <p:cNvSpPr/>
          <p:nvPr/>
        </p:nvSpPr>
        <p:spPr>
          <a:xfrm>
            <a:off x="8285025" y="5567207"/>
            <a:ext cx="522994" cy="126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4" name="Rectangle 71"/>
          <p:cNvSpPr/>
          <p:nvPr/>
        </p:nvSpPr>
        <p:spPr>
          <a:xfrm>
            <a:off x="8285025" y="5693927"/>
            <a:ext cx="522994" cy="126720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5" name="Rectangle 72"/>
          <p:cNvSpPr/>
          <p:nvPr/>
        </p:nvSpPr>
        <p:spPr>
          <a:xfrm>
            <a:off x="8285025" y="5817147"/>
            <a:ext cx="522994" cy="126720"/>
          </a:xfrm>
          <a:prstGeom prst="rect">
            <a:avLst/>
          </a:prstGeom>
          <a:pattFill prst="pct80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6" name="Rectangle 73"/>
          <p:cNvSpPr/>
          <p:nvPr/>
        </p:nvSpPr>
        <p:spPr>
          <a:xfrm>
            <a:off x="8285025" y="5148696"/>
            <a:ext cx="522994" cy="126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7" name="Rectangle 74"/>
          <p:cNvSpPr/>
          <p:nvPr/>
        </p:nvSpPr>
        <p:spPr>
          <a:xfrm>
            <a:off x="7396550" y="5148696"/>
            <a:ext cx="522994" cy="126720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8" name="Rectangle 75"/>
          <p:cNvSpPr/>
          <p:nvPr/>
        </p:nvSpPr>
        <p:spPr>
          <a:xfrm>
            <a:off x="9170634" y="5148696"/>
            <a:ext cx="522994" cy="126720"/>
          </a:xfrm>
          <a:prstGeom prst="rect">
            <a:avLst/>
          </a:prstGeom>
          <a:pattFill prst="pct80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59" name="Straight Arrow Connector 76"/>
          <p:cNvCxnSpPr>
            <a:stCxn id="54" idx="1"/>
            <a:endCxn id="57" idx="2"/>
          </p:cNvCxnSpPr>
          <p:nvPr/>
        </p:nvCxnSpPr>
        <p:spPr>
          <a:xfrm flipH="1" flipV="1">
            <a:off x="7658047" y="5275416"/>
            <a:ext cx="626978" cy="481871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77"/>
          <p:cNvCxnSpPr>
            <a:stCxn id="53" idx="0"/>
          </p:cNvCxnSpPr>
          <p:nvPr/>
        </p:nvCxnSpPr>
        <p:spPr>
          <a:xfrm flipH="1" flipV="1">
            <a:off x="8528875" y="5275419"/>
            <a:ext cx="17647" cy="291788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78"/>
          <p:cNvCxnSpPr>
            <a:stCxn id="55" idx="3"/>
            <a:endCxn id="58" idx="2"/>
          </p:cNvCxnSpPr>
          <p:nvPr/>
        </p:nvCxnSpPr>
        <p:spPr>
          <a:xfrm flipV="1">
            <a:off x="8808019" y="5275416"/>
            <a:ext cx="624112" cy="605091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9045663" y="5652320"/>
            <a:ext cx="2160848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000" dirty="0"/>
              <a:t>CREATE PROJECTION …</a:t>
            </a:r>
          </a:p>
          <a:p>
            <a:pPr>
              <a:lnSpc>
                <a:spcPct val="90000"/>
              </a:lnSpc>
            </a:pPr>
            <a:r>
              <a:rPr lang="en-US" altLang="ko-KR" sz="1000" dirty="0"/>
              <a:t>SEGMENTED BY HASH (C1,C2) ALL NODES</a:t>
            </a:r>
          </a:p>
          <a:p>
            <a:pPr>
              <a:lnSpc>
                <a:spcPct val="90000"/>
              </a:lnSpc>
            </a:pPr>
            <a:r>
              <a:rPr lang="en-US" altLang="ko-KR" sz="1000" dirty="0"/>
              <a:t>KSAFE 1;</a:t>
            </a:r>
            <a:endParaRPr lang="ko-KR" altLang="en-US" sz="1000" dirty="0" err="1"/>
          </a:p>
        </p:txBody>
      </p:sp>
      <p:sp>
        <p:nvSpPr>
          <p:cNvPr id="63" name="TextBox 62"/>
          <p:cNvSpPr txBox="1"/>
          <p:nvPr/>
        </p:nvSpPr>
        <p:spPr>
          <a:xfrm>
            <a:off x="6675610" y="5119382"/>
            <a:ext cx="535403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000" dirty="0"/>
              <a:t>projection</a:t>
            </a:r>
            <a:endParaRPr lang="ko-KR" altLang="en-US" sz="1000" dirty="0" err="1"/>
          </a:p>
        </p:txBody>
      </p:sp>
      <p:sp>
        <p:nvSpPr>
          <p:cNvPr id="64" name="Rectangle 82"/>
          <p:cNvSpPr/>
          <p:nvPr/>
        </p:nvSpPr>
        <p:spPr>
          <a:xfrm>
            <a:off x="8277662" y="4779817"/>
            <a:ext cx="522994" cy="126720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5" name="Rectangle 83"/>
          <p:cNvSpPr/>
          <p:nvPr/>
        </p:nvSpPr>
        <p:spPr>
          <a:xfrm>
            <a:off x="9154199" y="4779817"/>
            <a:ext cx="522994" cy="126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6" name="Rectangle 85"/>
          <p:cNvSpPr/>
          <p:nvPr/>
        </p:nvSpPr>
        <p:spPr>
          <a:xfrm>
            <a:off x="7391493" y="4779817"/>
            <a:ext cx="522994" cy="126720"/>
          </a:xfrm>
          <a:prstGeom prst="rect">
            <a:avLst/>
          </a:prstGeom>
          <a:pattFill prst="pct80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675610" y="4641317"/>
            <a:ext cx="535403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000" dirty="0"/>
              <a:t>Buddy</a:t>
            </a:r>
          </a:p>
          <a:p>
            <a:pPr>
              <a:lnSpc>
                <a:spcPct val="90000"/>
              </a:lnSpc>
            </a:pPr>
            <a:r>
              <a:rPr lang="en-US" altLang="ko-KR" sz="1000" dirty="0"/>
              <a:t>projection</a:t>
            </a:r>
            <a:endParaRPr lang="ko-KR" altLang="en-US" sz="1000" dirty="0" err="1"/>
          </a:p>
        </p:txBody>
      </p:sp>
    </p:spTree>
    <p:extLst>
      <p:ext uri="{BB962C8B-B14F-4D97-AF65-F5344CB8AC3E}">
        <p14:creationId xmlns:p14="http://schemas.microsoft.com/office/powerpoint/2010/main" val="190863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07367" y="1093961"/>
            <a:ext cx="10579609" cy="1038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000"/>
              <a:t>클라이언트 연결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418229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클라이언트 연결 개요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클라이언트 연결</a:t>
            </a:r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접속 방법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 err="1"/>
              <a:t>vsql</a:t>
            </a:r>
            <a:r>
              <a:rPr lang="en-US" altLang="ko-KR" sz="1100" dirty="0"/>
              <a:t> </a:t>
            </a:r>
            <a:r>
              <a:rPr lang="ko-KR" altLang="en-US" sz="1100" dirty="0"/>
              <a:t>사용 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스크립트 작업에 많이 사용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서버 또는 클라이언트에서 사용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클라이언트에서 사용하기 위해서는 </a:t>
            </a:r>
            <a:r>
              <a:rPr lang="en-US" altLang="ko-KR" sz="1100" dirty="0" err="1"/>
              <a:t>vertica</a:t>
            </a:r>
            <a:r>
              <a:rPr lang="en-US" altLang="ko-KR" sz="1100" dirty="0"/>
              <a:t> client</a:t>
            </a:r>
            <a:r>
              <a:rPr lang="ko-KR" altLang="en-US" sz="1100" dirty="0"/>
              <a:t>를 설치해야 함 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각종 클라이언트 연결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ODBC </a:t>
            </a:r>
            <a:r>
              <a:rPr lang="ko-KR" altLang="en-US" sz="1100" dirty="0"/>
              <a:t>접속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JDBC </a:t>
            </a:r>
            <a:r>
              <a:rPr lang="ko-KR" altLang="en-US" sz="1100" dirty="0"/>
              <a:t>접속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ADO.net </a:t>
            </a:r>
            <a:r>
              <a:rPr lang="ko-KR" altLang="en-US" sz="1100" dirty="0"/>
              <a:t>접속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Python / Perl / PHP </a:t>
            </a:r>
            <a:r>
              <a:rPr lang="ko-KR" altLang="en-US" sz="1100" dirty="0"/>
              <a:t>접속 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클라이언트 설치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www.vertica.com </a:t>
            </a:r>
            <a:r>
              <a:rPr lang="ko-KR" altLang="en-US" sz="1100" dirty="0"/>
              <a:t>에서 다운로드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Client package</a:t>
            </a:r>
            <a:r>
              <a:rPr lang="ko-KR" altLang="en-US" sz="1100" dirty="0"/>
              <a:t>에는 </a:t>
            </a:r>
            <a:r>
              <a:rPr lang="en-US" altLang="ko-KR" sz="1100" dirty="0"/>
              <a:t>ODBC, JDBC, </a:t>
            </a:r>
            <a:r>
              <a:rPr lang="en-US" altLang="ko-KR" sz="1100" dirty="0" err="1"/>
              <a:t>vsql</a:t>
            </a:r>
            <a:r>
              <a:rPr lang="en-US" altLang="ko-KR" sz="1100" dirty="0"/>
              <a:t> </a:t>
            </a:r>
            <a:r>
              <a:rPr lang="ko-KR" altLang="en-US" sz="1100" dirty="0"/>
              <a:t>이 포함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ADO.net</a:t>
            </a:r>
            <a:r>
              <a:rPr lang="ko-KR" altLang="en-US" sz="1100" dirty="0"/>
              <a:t>은 </a:t>
            </a:r>
            <a:r>
              <a:rPr lang="en-US" altLang="ko-KR" sz="1100" dirty="0"/>
              <a:t>Microsoft Connectivity pack</a:t>
            </a:r>
            <a:r>
              <a:rPr lang="ko-KR" altLang="en-US" sz="1100" dirty="0"/>
              <a:t>에 포함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ODBC, JDBC</a:t>
            </a:r>
            <a:r>
              <a:rPr lang="ko-KR" altLang="en-US" sz="1100" dirty="0"/>
              <a:t>는 각각 다운로드 가능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각 </a:t>
            </a:r>
            <a:r>
              <a:rPr lang="en-US" altLang="ko-KR" sz="1100" dirty="0"/>
              <a:t>connectivity </a:t>
            </a:r>
            <a:r>
              <a:rPr lang="ko-KR" altLang="en-US" sz="1100" dirty="0"/>
              <a:t>라이브러리의 </a:t>
            </a:r>
            <a:r>
              <a:rPr lang="en-US" altLang="ko-KR" sz="1100" dirty="0"/>
              <a:t>pre-</a:t>
            </a:r>
            <a:r>
              <a:rPr lang="en-US" altLang="ko-KR" sz="1100" dirty="0" err="1"/>
              <a:t>req</a:t>
            </a:r>
            <a:r>
              <a:rPr lang="ko-KR" altLang="en-US" sz="1100" dirty="0"/>
              <a:t>은 매뉴얼 참조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UNIX/LINUX ODBC </a:t>
            </a:r>
            <a:r>
              <a:rPr lang="ko-KR" altLang="en-US" sz="1100" b="1" dirty="0"/>
              <a:t>구성 시 주의사항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ODBC driver manager</a:t>
            </a:r>
            <a:r>
              <a:rPr lang="ko-KR" altLang="en-US" sz="1100" dirty="0"/>
              <a:t>가 설치되어야 함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아래 사이트에서 다운로드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pl-PL" altLang="ko-KR" sz="1100" dirty="0"/>
              <a:t>UnixODBC: http://www.unixodbc.org/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pl-PL" altLang="ko-KR" sz="1100" dirty="0"/>
              <a:t>iODBC: http://www.iodbc.org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VSQL </a:t>
            </a:r>
            <a:r>
              <a:rPr lang="ko-KR" altLang="en-US" sz="1100" b="1" dirty="0"/>
              <a:t>사용 시 주의사항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터미널 에뮬레이터의 </a:t>
            </a:r>
            <a:r>
              <a:rPr lang="ko-KR" altLang="en-US" sz="1100" dirty="0" err="1"/>
              <a:t>인코딩을</a:t>
            </a:r>
            <a:r>
              <a:rPr lang="ko-KR" altLang="en-US" sz="1100" dirty="0"/>
              <a:t> </a:t>
            </a:r>
            <a:r>
              <a:rPr lang="en-US" altLang="ko-KR" sz="1100" dirty="0"/>
              <a:t>UTF-8</a:t>
            </a:r>
            <a:r>
              <a:rPr lang="ko-KR" altLang="en-US" sz="1100" dirty="0"/>
              <a:t>로 설정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PuTTY terminal UTF-8 transl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258" y="2752262"/>
            <a:ext cx="2200962" cy="2099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5375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ODBC </a:t>
            </a:r>
            <a:r>
              <a:rPr lang="ko-KR" altLang="en-US" sz="2800" dirty="0"/>
              <a:t>연결 구성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클라이언트 연결</a:t>
            </a:r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Linux, Unix (AIX, HP-UX, Solaris) </a:t>
            </a:r>
            <a:r>
              <a:rPr lang="ko-KR" altLang="en-US" sz="1100" b="1" dirty="0"/>
              <a:t>환경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텍스트 파일로 </a:t>
            </a:r>
            <a:r>
              <a:rPr lang="en-US" altLang="ko-KR" sz="1100" dirty="0"/>
              <a:t>DSN </a:t>
            </a:r>
            <a:r>
              <a:rPr lang="ko-KR" altLang="en-US" sz="1100" dirty="0"/>
              <a:t>설정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ODBC Driver Manager</a:t>
            </a:r>
            <a:r>
              <a:rPr lang="ko-KR" altLang="en-US" sz="1100" dirty="0"/>
              <a:t>가 다음 파일을 찾아 </a:t>
            </a:r>
            <a:r>
              <a:rPr lang="en-US" altLang="ko-KR" sz="1100" dirty="0"/>
              <a:t>ODBC </a:t>
            </a:r>
            <a:r>
              <a:rPr lang="ko-KR" altLang="en-US" sz="1100" dirty="0"/>
              <a:t>구성을 읽는다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/</a:t>
            </a:r>
            <a:r>
              <a:rPr lang="en-US" altLang="ko-KR" sz="1100" dirty="0" err="1"/>
              <a:t>etc</a:t>
            </a:r>
            <a:r>
              <a:rPr lang="en-US" altLang="ko-KR" sz="1100" dirty="0"/>
              <a:t>/odbc.ini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~/.odbc.ini (</a:t>
            </a:r>
            <a:r>
              <a:rPr lang="ko-KR" altLang="en-US" sz="1100" dirty="0"/>
              <a:t>각 </a:t>
            </a:r>
            <a:r>
              <a:rPr lang="en-US" altLang="ko-KR" sz="1100" dirty="0"/>
              <a:t>user</a:t>
            </a:r>
            <a:r>
              <a:rPr lang="ko-KR" altLang="en-US" sz="1100" dirty="0"/>
              <a:t>의 </a:t>
            </a:r>
            <a:r>
              <a:rPr lang="ko-KR" altLang="en-US" sz="1100" dirty="0" err="1"/>
              <a:t>홈디렉토리</a:t>
            </a:r>
            <a:r>
              <a:rPr lang="en-US" altLang="ko-KR" sz="1100" dirty="0"/>
              <a:t>)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odbc.ini </a:t>
            </a:r>
            <a:r>
              <a:rPr lang="ko-KR" altLang="en-US" sz="1100" dirty="0"/>
              <a:t>샘플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vertica.ini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variable export</a:t>
            </a:r>
            <a:endParaRPr lang="ko-KR" altLang="en-US" sz="1100" dirty="0"/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Windows </a:t>
            </a:r>
            <a:r>
              <a:rPr lang="ko-KR" altLang="en-US" sz="1100" b="1" dirty="0"/>
              <a:t>환경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Start &gt; windows </a:t>
            </a:r>
            <a:r>
              <a:rPr lang="ko-KR" altLang="en-US" sz="1100" dirty="0"/>
              <a:t>관리 도구 </a:t>
            </a:r>
            <a:r>
              <a:rPr lang="en-US" altLang="ko-KR" sz="1100" dirty="0"/>
              <a:t>&gt; ODBC </a:t>
            </a:r>
            <a:r>
              <a:rPr lang="ko-KR" altLang="en-US" sz="1100" dirty="0"/>
              <a:t>데이터 원본 관리자</a:t>
            </a:r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4"/>
          <p:cNvSpPr/>
          <p:nvPr/>
        </p:nvSpPr>
        <p:spPr>
          <a:xfrm>
            <a:off x="693737" y="2348880"/>
            <a:ext cx="4967021" cy="2016224"/>
          </a:xfrm>
          <a:prstGeom prst="roundRect">
            <a:avLst>
              <a:gd name="adj" fmla="val 6581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solidFill>
                  <a:schemeClr val="bg1"/>
                </a:solidFill>
                <a:ea typeface="굴림체" panose="020B0609000101010101" pitchFamily="49" charset="-127"/>
                <a:cs typeface="Courier New" panose="02070309020205020404" pitchFamily="49" charset="0"/>
              </a:rPr>
              <a:t>[</a:t>
            </a:r>
            <a:r>
              <a:rPr lang="en-US" sz="900" dirty="0" err="1">
                <a:solidFill>
                  <a:schemeClr val="bg1"/>
                </a:solidFill>
                <a:ea typeface="굴림체" panose="020B0609000101010101" pitchFamily="49" charset="-127"/>
                <a:cs typeface="Courier New" panose="02070309020205020404" pitchFamily="49" charset="0"/>
              </a:rPr>
              <a:t>VMart</a:t>
            </a:r>
            <a:r>
              <a:rPr lang="en-US" sz="900" dirty="0">
                <a:solidFill>
                  <a:schemeClr val="bg1"/>
                </a:solidFill>
                <a:ea typeface="굴림체" panose="020B0609000101010101" pitchFamily="49" charset="-127"/>
                <a:cs typeface="Courier New" panose="02070309020205020404" pitchFamily="49" charset="0"/>
              </a:rPr>
              <a:t>]</a:t>
            </a:r>
          </a:p>
          <a:p>
            <a:r>
              <a:rPr lang="en-US" sz="900" dirty="0">
                <a:solidFill>
                  <a:schemeClr val="bg1"/>
                </a:solidFill>
                <a:ea typeface="굴림체" panose="020B0609000101010101" pitchFamily="49" charset="-127"/>
                <a:cs typeface="Courier New" panose="02070309020205020404" pitchFamily="49" charset="0"/>
              </a:rPr>
              <a:t>Description = </a:t>
            </a:r>
            <a:r>
              <a:rPr lang="en-US" sz="900" dirty="0" err="1">
                <a:solidFill>
                  <a:schemeClr val="bg1"/>
                </a:solidFill>
                <a:ea typeface="굴림체" panose="020B0609000101010101" pitchFamily="49" charset="-127"/>
                <a:cs typeface="Courier New" panose="02070309020205020404" pitchFamily="49" charset="0"/>
              </a:rPr>
              <a:t>Vmart</a:t>
            </a:r>
            <a:r>
              <a:rPr lang="en-US" sz="900" dirty="0">
                <a:solidFill>
                  <a:schemeClr val="bg1"/>
                </a:solidFill>
                <a:ea typeface="굴림체" panose="020B0609000101010101" pitchFamily="49" charset="-127"/>
                <a:cs typeface="Courier New" panose="02070309020205020404" pitchFamily="49" charset="0"/>
              </a:rPr>
              <a:t> Database</a:t>
            </a:r>
          </a:p>
          <a:p>
            <a:r>
              <a:rPr lang="en-US" sz="900" dirty="0">
                <a:solidFill>
                  <a:schemeClr val="bg1"/>
                </a:solidFill>
                <a:ea typeface="굴림체" panose="020B0609000101010101" pitchFamily="49" charset="-127"/>
                <a:cs typeface="Courier New" panose="02070309020205020404" pitchFamily="49" charset="0"/>
              </a:rPr>
              <a:t>Driver = /opt/vertica/lib64/libverticaodbc.so</a:t>
            </a:r>
          </a:p>
          <a:p>
            <a:r>
              <a:rPr lang="en-US" sz="900" dirty="0">
                <a:solidFill>
                  <a:schemeClr val="bg1"/>
                </a:solidFill>
                <a:ea typeface="굴림체" panose="020B0609000101010101" pitchFamily="49" charset="-127"/>
                <a:cs typeface="Courier New" panose="02070309020205020404" pitchFamily="49" charset="0"/>
              </a:rPr>
              <a:t>Database = </a:t>
            </a:r>
            <a:r>
              <a:rPr lang="en-US" sz="900" dirty="0" err="1">
                <a:solidFill>
                  <a:schemeClr val="bg1"/>
                </a:solidFill>
                <a:ea typeface="굴림체" panose="020B0609000101010101" pitchFamily="49" charset="-127"/>
                <a:cs typeface="Courier New" panose="02070309020205020404" pitchFamily="49" charset="0"/>
              </a:rPr>
              <a:t>vmartdb</a:t>
            </a:r>
            <a:endParaRPr lang="en-US" sz="900" dirty="0">
              <a:solidFill>
                <a:schemeClr val="bg1"/>
              </a:solidFill>
              <a:ea typeface="굴림체" panose="020B0609000101010101" pitchFamily="49" charset="-127"/>
              <a:cs typeface="Courier New" panose="02070309020205020404" pitchFamily="49" charset="0"/>
            </a:endParaRPr>
          </a:p>
          <a:p>
            <a:r>
              <a:rPr lang="en-US" sz="900" dirty="0" err="1">
                <a:solidFill>
                  <a:schemeClr val="bg1"/>
                </a:solidFill>
                <a:ea typeface="굴림체" panose="020B0609000101010101" pitchFamily="49" charset="-127"/>
                <a:cs typeface="Courier New" panose="02070309020205020404" pitchFamily="49" charset="0"/>
              </a:rPr>
              <a:t>Servername</a:t>
            </a:r>
            <a:r>
              <a:rPr lang="en-US" sz="900" dirty="0">
                <a:solidFill>
                  <a:schemeClr val="bg1"/>
                </a:solidFill>
                <a:ea typeface="굴림체" panose="020B0609000101010101" pitchFamily="49" charset="-127"/>
                <a:cs typeface="Courier New" panose="02070309020205020404" pitchFamily="49" charset="0"/>
              </a:rPr>
              <a:t> = host01</a:t>
            </a:r>
          </a:p>
          <a:p>
            <a:r>
              <a:rPr lang="en-US" sz="900" dirty="0">
                <a:solidFill>
                  <a:schemeClr val="bg1"/>
                </a:solidFill>
                <a:ea typeface="굴림체" panose="020B0609000101010101" pitchFamily="49" charset="-127"/>
                <a:cs typeface="Courier New" panose="02070309020205020404" pitchFamily="49" charset="0"/>
              </a:rPr>
              <a:t>UID = </a:t>
            </a:r>
            <a:r>
              <a:rPr lang="en-US" sz="900" dirty="0" err="1">
                <a:solidFill>
                  <a:schemeClr val="bg1"/>
                </a:solidFill>
                <a:ea typeface="굴림체" panose="020B0609000101010101" pitchFamily="49" charset="-127"/>
                <a:cs typeface="Courier New" panose="02070309020205020404" pitchFamily="49" charset="0"/>
              </a:rPr>
              <a:t>dbadmin</a:t>
            </a:r>
            <a:endParaRPr lang="en-US" sz="900" dirty="0">
              <a:solidFill>
                <a:schemeClr val="bg1"/>
              </a:solidFill>
              <a:ea typeface="굴림체" panose="020B0609000101010101" pitchFamily="49" charset="-127"/>
              <a:cs typeface="Courier New" panose="02070309020205020404" pitchFamily="49" charset="0"/>
            </a:endParaRPr>
          </a:p>
          <a:p>
            <a:r>
              <a:rPr lang="en-US" sz="900" dirty="0">
                <a:solidFill>
                  <a:schemeClr val="bg1"/>
                </a:solidFill>
                <a:ea typeface="굴림체" panose="020B0609000101010101" pitchFamily="49" charset="-127"/>
                <a:cs typeface="Courier New" panose="02070309020205020404" pitchFamily="49" charset="0"/>
              </a:rPr>
              <a:t>PWD = </a:t>
            </a:r>
          </a:p>
          <a:p>
            <a:r>
              <a:rPr lang="en-US" sz="900" dirty="0">
                <a:solidFill>
                  <a:schemeClr val="bg1"/>
                </a:solidFill>
                <a:ea typeface="굴림체" panose="020B0609000101010101" pitchFamily="49" charset="-127"/>
                <a:cs typeface="Courier New" panose="02070309020205020404" pitchFamily="49" charset="0"/>
              </a:rPr>
              <a:t>Port = 5433</a:t>
            </a:r>
          </a:p>
          <a:p>
            <a:r>
              <a:rPr lang="en-US" sz="900" dirty="0" err="1">
                <a:solidFill>
                  <a:schemeClr val="bg1"/>
                </a:solidFill>
                <a:ea typeface="굴림체" panose="020B0609000101010101" pitchFamily="49" charset="-127"/>
                <a:cs typeface="Courier New" panose="02070309020205020404" pitchFamily="49" charset="0"/>
              </a:rPr>
              <a:t>ConnSettings</a:t>
            </a:r>
            <a:r>
              <a:rPr lang="en-US" sz="900" dirty="0">
                <a:solidFill>
                  <a:schemeClr val="bg1"/>
                </a:solidFill>
                <a:ea typeface="굴림체" panose="020B0609000101010101" pitchFamily="49" charset="-127"/>
                <a:cs typeface="Courier New" panose="02070309020205020404" pitchFamily="49" charset="0"/>
              </a:rPr>
              <a:t> =</a:t>
            </a:r>
          </a:p>
          <a:p>
            <a:r>
              <a:rPr lang="en-US" sz="900" dirty="0" err="1">
                <a:solidFill>
                  <a:schemeClr val="bg1"/>
                </a:solidFill>
                <a:ea typeface="굴림체" panose="020B0609000101010101" pitchFamily="49" charset="-127"/>
                <a:cs typeface="Courier New" panose="02070309020205020404" pitchFamily="49" charset="0"/>
              </a:rPr>
              <a:t>ConnectionLoadBalance</a:t>
            </a:r>
            <a:r>
              <a:rPr lang="en-US" sz="900" dirty="0">
                <a:solidFill>
                  <a:schemeClr val="bg1"/>
                </a:solidFill>
                <a:ea typeface="굴림체" panose="020B0609000101010101" pitchFamily="49" charset="-127"/>
                <a:cs typeface="Courier New" panose="02070309020205020404" pitchFamily="49" charset="0"/>
              </a:rPr>
              <a:t> = true</a:t>
            </a:r>
          </a:p>
          <a:p>
            <a:r>
              <a:rPr lang="en-US" sz="900" dirty="0">
                <a:solidFill>
                  <a:schemeClr val="bg1"/>
                </a:solidFill>
                <a:ea typeface="굴림체" panose="020B0609000101010101" pitchFamily="49" charset="-127"/>
                <a:cs typeface="Courier New" panose="02070309020205020404" pitchFamily="49" charset="0"/>
              </a:rPr>
              <a:t>Locale = </a:t>
            </a:r>
            <a:r>
              <a:rPr lang="en-US" sz="900" dirty="0" err="1">
                <a:solidFill>
                  <a:schemeClr val="bg1"/>
                </a:solidFill>
                <a:ea typeface="굴림체" panose="020B0609000101010101" pitchFamily="49" charset="-127"/>
                <a:cs typeface="Courier New" panose="02070309020205020404" pitchFamily="49" charset="0"/>
              </a:rPr>
              <a:t>en_US@collation</a:t>
            </a:r>
            <a:r>
              <a:rPr lang="en-US" sz="900" dirty="0">
                <a:solidFill>
                  <a:schemeClr val="bg1"/>
                </a:solidFill>
                <a:ea typeface="굴림체" panose="020B0609000101010101" pitchFamily="49" charset="-127"/>
                <a:cs typeface="Courier New" panose="02070309020205020404" pitchFamily="49" charset="0"/>
              </a:rPr>
              <a:t>=binary</a:t>
            </a:r>
          </a:p>
          <a:p>
            <a:r>
              <a:rPr lang="en-US" sz="900" dirty="0" err="1">
                <a:solidFill>
                  <a:schemeClr val="bg1"/>
                </a:solidFill>
                <a:ea typeface="굴림체" panose="020B0609000101010101" pitchFamily="49" charset="-127"/>
                <a:cs typeface="Courier New" panose="02070309020205020404" pitchFamily="49" charset="0"/>
              </a:rPr>
              <a:t>BackupServerNode</a:t>
            </a:r>
            <a:r>
              <a:rPr lang="en-US" sz="900" dirty="0">
                <a:solidFill>
                  <a:schemeClr val="bg1"/>
                </a:solidFill>
                <a:ea typeface="굴림체" panose="020B0609000101010101" pitchFamily="49" charset="-127"/>
                <a:cs typeface="Courier New" panose="02070309020205020404" pitchFamily="49" charset="0"/>
              </a:rPr>
              <a:t> = v001,v002,v003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5602" y="4670896"/>
            <a:ext cx="2680718" cy="1854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그룹 4"/>
          <p:cNvGrpSpPr/>
          <p:nvPr/>
        </p:nvGrpSpPr>
        <p:grpSpPr>
          <a:xfrm>
            <a:off x="6295602" y="1791369"/>
            <a:ext cx="2680718" cy="1854448"/>
            <a:chOff x="6295602" y="1791369"/>
            <a:chExt cx="2680718" cy="1854448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5602" y="1791369"/>
              <a:ext cx="2680718" cy="18544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직사각형 3"/>
            <p:cNvSpPr/>
            <p:nvPr/>
          </p:nvSpPr>
          <p:spPr>
            <a:xfrm>
              <a:off x="6412226" y="2269311"/>
              <a:ext cx="545330" cy="871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 err="1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9086" y="1794817"/>
            <a:ext cx="2250298" cy="166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4" name="Straight Arrow Connector 10"/>
          <p:cNvCxnSpPr/>
          <p:nvPr/>
        </p:nvCxnSpPr>
        <p:spPr>
          <a:xfrm>
            <a:off x="8904312" y="2243408"/>
            <a:ext cx="436900" cy="4888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4432" y="3717032"/>
            <a:ext cx="1559380" cy="2759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Straight Arrow Connector 10"/>
          <p:cNvCxnSpPr/>
          <p:nvPr/>
        </p:nvCxnSpPr>
        <p:spPr>
          <a:xfrm>
            <a:off x="10920536" y="3422127"/>
            <a:ext cx="0" cy="438921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0"/>
          <p:cNvCxnSpPr/>
          <p:nvPr/>
        </p:nvCxnSpPr>
        <p:spPr>
          <a:xfrm flipH="1">
            <a:off x="9048328" y="6381328"/>
            <a:ext cx="1727824" cy="0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4">
            <a:extLst>
              <a:ext uri="{FF2B5EF4-FFF2-40B4-BE49-F238E27FC236}">
                <a16:creationId xmlns:a16="http://schemas.microsoft.com/office/drawing/2014/main" id="{75C1BD10-88BA-40A8-BA70-08B913846158}"/>
              </a:ext>
            </a:extLst>
          </p:cNvPr>
          <p:cNvSpPr/>
          <p:nvPr/>
        </p:nvSpPr>
        <p:spPr>
          <a:xfrm>
            <a:off x="693737" y="4725144"/>
            <a:ext cx="4967021" cy="837455"/>
          </a:xfrm>
          <a:prstGeom prst="roundRect">
            <a:avLst>
              <a:gd name="adj" fmla="val 6581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solidFill>
                  <a:schemeClr val="bg1"/>
                </a:solidFill>
                <a:ea typeface="굴림체" panose="020B0609000101010101" pitchFamily="49" charset="-127"/>
                <a:cs typeface="Courier New" panose="02070309020205020404" pitchFamily="49" charset="0"/>
              </a:rPr>
              <a:t>[Driver]</a:t>
            </a:r>
          </a:p>
          <a:p>
            <a:r>
              <a:rPr lang="en-US" sz="900" dirty="0" err="1">
                <a:solidFill>
                  <a:schemeClr val="bg1"/>
                </a:solidFill>
                <a:ea typeface="굴림체" panose="020B0609000101010101" pitchFamily="49" charset="-127"/>
                <a:cs typeface="Courier New" panose="02070309020205020404" pitchFamily="49" charset="0"/>
              </a:rPr>
              <a:t>DriverManagerEncoding</a:t>
            </a:r>
            <a:r>
              <a:rPr lang="en-US" sz="900" dirty="0">
                <a:solidFill>
                  <a:schemeClr val="bg1"/>
                </a:solidFill>
                <a:ea typeface="굴림체" panose="020B0609000101010101" pitchFamily="49" charset="-127"/>
                <a:cs typeface="Courier New" panose="02070309020205020404" pitchFamily="49" charset="0"/>
              </a:rPr>
              <a:t>=UTF-16</a:t>
            </a:r>
          </a:p>
          <a:p>
            <a:r>
              <a:rPr lang="en-US" sz="900" dirty="0">
                <a:solidFill>
                  <a:schemeClr val="bg1"/>
                </a:solidFill>
                <a:ea typeface="굴림체" panose="020B0609000101010101" pitchFamily="49" charset="-127"/>
                <a:cs typeface="Courier New" panose="02070309020205020404" pitchFamily="49" charset="0"/>
              </a:rPr>
              <a:t>ODBCInstLib=/usr/local/odbc/lib/libodbcinst.so</a:t>
            </a:r>
          </a:p>
          <a:p>
            <a:r>
              <a:rPr lang="en-US" sz="900" dirty="0" err="1">
                <a:solidFill>
                  <a:schemeClr val="bg1"/>
                </a:solidFill>
                <a:ea typeface="굴림체" panose="020B0609000101010101" pitchFamily="49" charset="-127"/>
                <a:cs typeface="Courier New" panose="02070309020205020404" pitchFamily="49" charset="0"/>
              </a:rPr>
              <a:t>ErrorMessagesPath</a:t>
            </a:r>
            <a:r>
              <a:rPr lang="en-US" sz="900" dirty="0">
                <a:solidFill>
                  <a:schemeClr val="bg1"/>
                </a:solidFill>
                <a:ea typeface="굴림체" panose="020B0609000101010101" pitchFamily="49" charset="-127"/>
                <a:cs typeface="Courier New" panose="02070309020205020404" pitchFamily="49" charset="0"/>
              </a:rPr>
              <a:t>=/opt/</a:t>
            </a:r>
            <a:r>
              <a:rPr lang="en-US" sz="900" dirty="0" err="1">
                <a:solidFill>
                  <a:schemeClr val="bg1"/>
                </a:solidFill>
                <a:ea typeface="굴림체" panose="020B0609000101010101" pitchFamily="49" charset="-127"/>
                <a:cs typeface="Courier New" panose="02070309020205020404" pitchFamily="49" charset="0"/>
              </a:rPr>
              <a:t>vertica</a:t>
            </a:r>
            <a:endParaRPr lang="en-US" sz="900" dirty="0">
              <a:solidFill>
                <a:schemeClr val="bg1"/>
              </a:solidFill>
              <a:ea typeface="굴림체" panose="020B0609000101010101" pitchFamily="49" charset="-127"/>
              <a:cs typeface="Courier New" panose="02070309020205020404" pitchFamily="49" charset="0"/>
            </a:endParaRPr>
          </a:p>
          <a:p>
            <a:r>
              <a:rPr lang="en-US" sz="900" dirty="0" err="1">
                <a:solidFill>
                  <a:schemeClr val="bg1"/>
                </a:solidFill>
                <a:ea typeface="굴림체" panose="020B0609000101010101" pitchFamily="49" charset="-127"/>
                <a:cs typeface="Courier New" panose="02070309020205020404" pitchFamily="49" charset="0"/>
              </a:rPr>
              <a:t>LogLevel</a:t>
            </a:r>
            <a:r>
              <a:rPr lang="en-US" sz="900" dirty="0">
                <a:solidFill>
                  <a:schemeClr val="bg1"/>
                </a:solidFill>
                <a:ea typeface="굴림체" panose="020B0609000101010101" pitchFamily="49" charset="-127"/>
                <a:cs typeface="Courier New" panose="02070309020205020404" pitchFamily="49" charset="0"/>
              </a:rPr>
              <a:t>=4</a:t>
            </a:r>
          </a:p>
          <a:p>
            <a:r>
              <a:rPr lang="en-US" sz="900" dirty="0" err="1">
                <a:solidFill>
                  <a:schemeClr val="bg1"/>
                </a:solidFill>
                <a:ea typeface="굴림체" panose="020B0609000101010101" pitchFamily="49" charset="-127"/>
                <a:cs typeface="Courier New" panose="02070309020205020404" pitchFamily="49" charset="0"/>
              </a:rPr>
              <a:t>LogPath</a:t>
            </a:r>
            <a:r>
              <a:rPr lang="en-US" sz="900" dirty="0">
                <a:solidFill>
                  <a:schemeClr val="bg1"/>
                </a:solidFill>
                <a:ea typeface="굴림체" panose="020B0609000101010101" pitchFamily="49" charset="-127"/>
                <a:cs typeface="Courier New" panose="02070309020205020404" pitchFamily="49" charset="0"/>
              </a:rPr>
              <a:t>=/</a:t>
            </a:r>
            <a:r>
              <a:rPr lang="en-US" sz="900" dirty="0" err="1">
                <a:solidFill>
                  <a:schemeClr val="bg1"/>
                </a:solidFill>
                <a:ea typeface="굴림체" panose="020B0609000101010101" pitchFamily="49" charset="-127"/>
                <a:cs typeface="Courier New" panose="02070309020205020404" pitchFamily="49" charset="0"/>
              </a:rPr>
              <a:t>tmp</a:t>
            </a:r>
            <a:endParaRPr lang="en-US" sz="900" dirty="0">
              <a:solidFill>
                <a:schemeClr val="bg1"/>
              </a:solidFill>
              <a:ea typeface="굴림체" panose="020B0609000101010101" pitchFamily="49" charset="-127"/>
              <a:cs typeface="Courier New" panose="02070309020205020404" pitchFamily="49" charset="0"/>
            </a:endParaRPr>
          </a:p>
        </p:txBody>
      </p:sp>
      <p:sp>
        <p:nvSpPr>
          <p:cNvPr id="7" name="말풍선: 사각형 6">
            <a:extLst>
              <a:ext uri="{FF2B5EF4-FFF2-40B4-BE49-F238E27FC236}">
                <a16:creationId xmlns:a16="http://schemas.microsoft.com/office/drawing/2014/main" id="{922F2BD0-7C3D-49AD-ADC9-E73093937974}"/>
              </a:ext>
            </a:extLst>
          </p:cNvPr>
          <p:cNvSpPr/>
          <p:nvPr/>
        </p:nvSpPr>
        <p:spPr>
          <a:xfrm>
            <a:off x="3605282" y="4230683"/>
            <a:ext cx="1914654" cy="628883"/>
          </a:xfrm>
          <a:prstGeom prst="wedgeRectCallout">
            <a:avLst>
              <a:gd name="adj1" fmla="val -85662"/>
              <a:gd name="adj2" fmla="val 8410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 dirty="0">
                <a:solidFill>
                  <a:schemeClr val="bg1"/>
                </a:solidFill>
              </a:rPr>
              <a:t>* </a:t>
            </a:r>
            <a:r>
              <a:rPr lang="en-US" altLang="ko-KR" sz="1000" dirty="0" err="1">
                <a:solidFill>
                  <a:schemeClr val="bg1"/>
                </a:solidFill>
              </a:rPr>
              <a:t>UnixODBC</a:t>
            </a:r>
            <a:r>
              <a:rPr lang="en-US" altLang="ko-KR" sz="1000" dirty="0">
                <a:solidFill>
                  <a:schemeClr val="bg1"/>
                </a:solidFill>
              </a:rPr>
              <a:t>: libodbcinst.so</a:t>
            </a:r>
          </a:p>
          <a:p>
            <a:r>
              <a:rPr lang="en-US" altLang="ko-KR" sz="1000" dirty="0">
                <a:solidFill>
                  <a:schemeClr val="bg1"/>
                </a:solidFill>
              </a:rPr>
              <a:t>* </a:t>
            </a:r>
            <a:r>
              <a:rPr lang="en-US" altLang="ko-KR" sz="1000" dirty="0" err="1">
                <a:solidFill>
                  <a:schemeClr val="bg1"/>
                </a:solidFill>
              </a:rPr>
              <a:t>iODBC</a:t>
            </a:r>
            <a:r>
              <a:rPr lang="en-US" altLang="ko-KR" sz="1000" dirty="0">
                <a:solidFill>
                  <a:schemeClr val="bg1"/>
                </a:solidFill>
              </a:rPr>
              <a:t>: libiodbcinst.so </a:t>
            </a:r>
            <a:br>
              <a:rPr lang="en-US" altLang="ko-KR" sz="1000" dirty="0">
                <a:solidFill>
                  <a:schemeClr val="bg1"/>
                </a:solidFill>
              </a:rPr>
            </a:br>
            <a:r>
              <a:rPr lang="en-US" altLang="ko-KR" sz="1000" dirty="0">
                <a:solidFill>
                  <a:schemeClr val="bg1"/>
                </a:solidFill>
              </a:rPr>
              <a:t>* </a:t>
            </a:r>
            <a:r>
              <a:rPr lang="en-US" altLang="ko-KR" sz="1000" dirty="0" err="1">
                <a:solidFill>
                  <a:schemeClr val="bg1"/>
                </a:solidFill>
              </a:rPr>
              <a:t>DataDirect</a:t>
            </a:r>
            <a:r>
              <a:rPr lang="en-US" altLang="ko-KR" sz="1000" dirty="0">
                <a:solidFill>
                  <a:schemeClr val="bg1"/>
                </a:solidFill>
              </a:rPr>
              <a:t>: libodbcinst.so</a:t>
            </a:r>
            <a:endParaRPr lang="ko-KR" altLang="en-US" sz="1000" dirty="0" err="1">
              <a:solidFill>
                <a:schemeClr val="bg1"/>
              </a:solidFill>
            </a:endParaRPr>
          </a:p>
        </p:txBody>
      </p:sp>
      <p:sp>
        <p:nvSpPr>
          <p:cNvPr id="20" name="Rounded Rectangle 4">
            <a:extLst>
              <a:ext uri="{FF2B5EF4-FFF2-40B4-BE49-F238E27FC236}">
                <a16:creationId xmlns:a16="http://schemas.microsoft.com/office/drawing/2014/main" id="{B0ADA628-336C-4DBD-B918-E19DC90C64C7}"/>
              </a:ext>
            </a:extLst>
          </p:cNvPr>
          <p:cNvSpPr/>
          <p:nvPr/>
        </p:nvSpPr>
        <p:spPr>
          <a:xfrm>
            <a:off x="693737" y="5877272"/>
            <a:ext cx="4967021" cy="575916"/>
          </a:xfrm>
          <a:prstGeom prst="roundRect">
            <a:avLst>
              <a:gd name="adj" fmla="val 6581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/>
              <a:t>export ODBCSYSINI=/</a:t>
            </a:r>
            <a:r>
              <a:rPr lang="en-US" altLang="ko-KR" sz="900" dirty="0" err="1"/>
              <a:t>etc</a:t>
            </a:r>
            <a:endParaRPr lang="en-US" altLang="ko-KR" sz="900" dirty="0"/>
          </a:p>
          <a:p>
            <a:r>
              <a:rPr lang="en-US" altLang="ko-KR" sz="900" dirty="0"/>
              <a:t>export ODBCINI=/</a:t>
            </a:r>
            <a:r>
              <a:rPr lang="en-US" altLang="ko-KR" sz="900" dirty="0" err="1"/>
              <a:t>etc</a:t>
            </a:r>
            <a:r>
              <a:rPr lang="en-US" altLang="ko-KR" sz="900" dirty="0"/>
              <a:t>/odbc.ini</a:t>
            </a:r>
          </a:p>
          <a:p>
            <a:r>
              <a:rPr lang="en-US" altLang="ko-KR" sz="900" dirty="0"/>
              <a:t>export VERTICAINI=/</a:t>
            </a:r>
            <a:r>
              <a:rPr lang="en-US" altLang="ko-KR" sz="900" dirty="0" err="1"/>
              <a:t>etc</a:t>
            </a:r>
            <a:r>
              <a:rPr lang="en-US" altLang="ko-KR" sz="900" dirty="0"/>
              <a:t>/vertica.ini</a:t>
            </a:r>
          </a:p>
        </p:txBody>
      </p:sp>
      <p:sp>
        <p:nvSpPr>
          <p:cNvPr id="21" name="말풍선: 사각형 20">
            <a:extLst>
              <a:ext uri="{FF2B5EF4-FFF2-40B4-BE49-F238E27FC236}">
                <a16:creationId xmlns:a16="http://schemas.microsoft.com/office/drawing/2014/main" id="{DE34BF66-F35A-416C-A436-6F362F4C76B8}"/>
              </a:ext>
            </a:extLst>
          </p:cNvPr>
          <p:cNvSpPr/>
          <p:nvPr/>
        </p:nvSpPr>
        <p:spPr>
          <a:xfrm>
            <a:off x="3605282" y="5003481"/>
            <a:ext cx="1914654" cy="1243426"/>
          </a:xfrm>
          <a:prstGeom prst="wedgeRectCallout">
            <a:avLst>
              <a:gd name="adj1" fmla="val -167268"/>
              <a:gd name="adj2" fmla="val -2138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 dirty="0">
                <a:solidFill>
                  <a:schemeClr val="bg1"/>
                </a:solidFill>
              </a:rPr>
              <a:t>* Log Level</a:t>
            </a:r>
          </a:p>
          <a:p>
            <a:r>
              <a:rPr lang="en-US" altLang="ko-KR" sz="1000" dirty="0">
                <a:solidFill>
                  <a:schemeClr val="bg1"/>
                </a:solidFill>
              </a:rPr>
              <a:t>0 No logging</a:t>
            </a:r>
          </a:p>
          <a:p>
            <a:r>
              <a:rPr lang="en-US" altLang="ko-KR" sz="1000" dirty="0">
                <a:solidFill>
                  <a:schemeClr val="bg1"/>
                </a:solidFill>
              </a:rPr>
              <a:t>1 Fatal Errors</a:t>
            </a:r>
          </a:p>
          <a:p>
            <a:r>
              <a:rPr lang="en-US" altLang="ko-KR" sz="1000" dirty="0">
                <a:solidFill>
                  <a:schemeClr val="bg1"/>
                </a:solidFill>
              </a:rPr>
              <a:t>2 Errors</a:t>
            </a:r>
          </a:p>
          <a:p>
            <a:r>
              <a:rPr lang="en-US" altLang="ko-KR" sz="1000" dirty="0">
                <a:solidFill>
                  <a:schemeClr val="bg1"/>
                </a:solidFill>
              </a:rPr>
              <a:t>3 Warnings</a:t>
            </a:r>
          </a:p>
          <a:p>
            <a:r>
              <a:rPr lang="en-US" altLang="ko-KR" sz="1000" dirty="0">
                <a:solidFill>
                  <a:schemeClr val="bg1"/>
                </a:solidFill>
              </a:rPr>
              <a:t>4 Info</a:t>
            </a:r>
          </a:p>
          <a:p>
            <a:r>
              <a:rPr lang="en-US" altLang="ko-KR" sz="1000" dirty="0">
                <a:solidFill>
                  <a:schemeClr val="bg1"/>
                </a:solidFill>
              </a:rPr>
              <a:t>5 Debug</a:t>
            </a:r>
          </a:p>
          <a:p>
            <a:r>
              <a:rPr lang="en-US" altLang="ko-KR" sz="1000" dirty="0">
                <a:solidFill>
                  <a:schemeClr val="bg1"/>
                </a:solidFill>
              </a:rPr>
              <a:t>6 Trace(all messages)</a:t>
            </a:r>
            <a:endParaRPr lang="ko-KR" altLang="en-US" sz="1000" dirty="0" err="1">
              <a:solidFill>
                <a:schemeClr val="bg1"/>
              </a:solidFill>
            </a:endParaRPr>
          </a:p>
        </p:txBody>
      </p:sp>
      <p:sp>
        <p:nvSpPr>
          <p:cNvPr id="22" name="말풍선: 사각형 21">
            <a:extLst>
              <a:ext uri="{FF2B5EF4-FFF2-40B4-BE49-F238E27FC236}">
                <a16:creationId xmlns:a16="http://schemas.microsoft.com/office/drawing/2014/main" id="{CD826D03-4208-4E1C-B50C-D5528EB51230}"/>
              </a:ext>
            </a:extLst>
          </p:cNvPr>
          <p:cNvSpPr/>
          <p:nvPr/>
        </p:nvSpPr>
        <p:spPr>
          <a:xfrm>
            <a:off x="3722339" y="1056793"/>
            <a:ext cx="1914654" cy="355983"/>
          </a:xfrm>
          <a:prstGeom prst="wedgeRectCallout">
            <a:avLst>
              <a:gd name="adj1" fmla="val -89717"/>
              <a:gd name="adj2" fmla="val 6229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 dirty="0">
                <a:solidFill>
                  <a:schemeClr val="bg1"/>
                </a:solidFill>
              </a:rPr>
              <a:t>Vertica 9.2 </a:t>
            </a:r>
            <a:r>
              <a:rPr lang="ko-KR" altLang="en-US" sz="1000" dirty="0">
                <a:solidFill>
                  <a:schemeClr val="bg1"/>
                </a:solidFill>
              </a:rPr>
              <a:t>부터 </a:t>
            </a:r>
            <a:endParaRPr lang="en-US" altLang="ko-KR" sz="1000" dirty="0">
              <a:solidFill>
                <a:schemeClr val="bg1"/>
              </a:solidFill>
            </a:endParaRPr>
          </a:p>
          <a:p>
            <a:r>
              <a:rPr lang="en-US" altLang="ko-KR" sz="1000" dirty="0">
                <a:solidFill>
                  <a:schemeClr val="bg1"/>
                </a:solidFill>
              </a:rPr>
              <a:t>Unix Client Driver Deprecated</a:t>
            </a:r>
          </a:p>
        </p:txBody>
      </p:sp>
    </p:spTree>
    <p:extLst>
      <p:ext uri="{BB962C8B-B14F-4D97-AF65-F5344CB8AC3E}">
        <p14:creationId xmlns:p14="http://schemas.microsoft.com/office/powerpoint/2010/main" val="4081346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JDBC </a:t>
            </a:r>
            <a:r>
              <a:rPr lang="ko-KR" altLang="en-US" sz="2800" dirty="0"/>
              <a:t>연결 구성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클라이언트 연결</a:t>
            </a:r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CLASSPATH </a:t>
            </a:r>
            <a:r>
              <a:rPr lang="ko-KR" altLang="en-US" sz="1100" b="1" dirty="0"/>
              <a:t>환경 구성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Linux, UNIX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Windows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CLASSPATH</a:t>
            </a:r>
            <a:r>
              <a:rPr lang="ko-KR" altLang="en-US" sz="1100" dirty="0"/>
              <a:t>를 계속 고정하려면 제어판</a:t>
            </a:r>
            <a:r>
              <a:rPr lang="en-US" altLang="ko-KR" sz="1100" dirty="0"/>
              <a:t>&gt;</a:t>
            </a:r>
            <a:r>
              <a:rPr lang="ko-KR" altLang="en-US" sz="1100" dirty="0"/>
              <a:t>시스템에서 환경변수에 설정</a:t>
            </a: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연결설정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Connection string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 err="1"/>
              <a:t>DriverManager.getConnection</a:t>
            </a:r>
            <a:r>
              <a:rPr lang="en-US" altLang="ko-KR" sz="1100" dirty="0"/>
              <a:t>() </a:t>
            </a:r>
            <a:r>
              <a:rPr lang="ko-KR" altLang="en-US" sz="1100" dirty="0" err="1"/>
              <a:t>파라매터</a:t>
            </a:r>
            <a:r>
              <a:rPr lang="ko-KR" altLang="en-US" sz="1100" dirty="0"/>
              <a:t> 분리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Properties </a:t>
            </a:r>
            <a:r>
              <a:rPr lang="ko-KR" altLang="en-US" sz="1100" dirty="0"/>
              <a:t>오브젝트 사용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샘플소스</a:t>
            </a:r>
            <a:endParaRPr lang="en-US" altLang="ko-KR" sz="1100" b="1" dirty="0"/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4"/>
          <p:cNvSpPr/>
          <p:nvPr/>
        </p:nvSpPr>
        <p:spPr>
          <a:xfrm>
            <a:off x="981844" y="1722240"/>
            <a:ext cx="4824536" cy="504056"/>
          </a:xfrm>
          <a:prstGeom prst="roundRect">
            <a:avLst>
              <a:gd name="adj" fmla="val 17604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export CLASSPATH=$CLASSPATH:/opt/</a:t>
            </a:r>
            <a:r>
              <a:rPr lang="en-US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vertica</a:t>
            </a:r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/java/lib/vertica-jdbc.jar </a:t>
            </a:r>
          </a:p>
        </p:txBody>
      </p:sp>
      <p:sp>
        <p:nvSpPr>
          <p:cNvPr id="9" name="Rounded Rectangle 6"/>
          <p:cNvSpPr/>
          <p:nvPr/>
        </p:nvSpPr>
        <p:spPr>
          <a:xfrm>
            <a:off x="981844" y="2514328"/>
            <a:ext cx="4824536" cy="504056"/>
          </a:xfrm>
          <a:prstGeom prst="roundRect">
            <a:avLst>
              <a:gd name="adj" fmla="val 17604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SET CLASSPATH=C:\java\MyClasses\vertica_jdbc.jar 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981844" y="3849751"/>
            <a:ext cx="4824536" cy="504056"/>
          </a:xfrm>
          <a:prstGeom prst="roundRect">
            <a:avLst>
              <a:gd name="adj" fmla="val 17604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"</a:t>
            </a:r>
            <a:r>
              <a:rPr lang="en-US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jdbc:vertica</a:t>
            </a:r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://</a:t>
            </a:r>
            <a:r>
              <a:rPr lang="en-US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VerticaHost:portNumber</a:t>
            </a:r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/</a:t>
            </a:r>
            <a:r>
              <a:rPr lang="en-US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databaseName?user</a:t>
            </a:r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=</a:t>
            </a:r>
            <a:r>
              <a:rPr lang="en-US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username&amp;password</a:t>
            </a:r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=password"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1844" y="4746576"/>
            <a:ext cx="4824536" cy="504056"/>
          </a:xfrm>
          <a:prstGeom prst="roundRect">
            <a:avLst>
              <a:gd name="adj" fmla="val 17604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Connection conn = </a:t>
            </a:r>
            <a:r>
              <a:rPr lang="en-US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DriverManager.getConnection</a:t>
            </a:r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(      </a:t>
            </a:r>
          </a:p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     "</a:t>
            </a:r>
            <a:r>
              <a:rPr lang="en-US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jdbc:vertica</a:t>
            </a:r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://</a:t>
            </a:r>
            <a:r>
              <a:rPr lang="en-US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VerticaHost:portNumber</a:t>
            </a:r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/</a:t>
            </a:r>
            <a:r>
              <a:rPr lang="en-US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databaseName</a:t>
            </a:r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", </a:t>
            </a:r>
          </a:p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     "username", "password"); </a:t>
            </a:r>
          </a:p>
        </p:txBody>
      </p:sp>
      <p:sp>
        <p:nvSpPr>
          <p:cNvPr id="12" name="Rounded Rectangle 13"/>
          <p:cNvSpPr/>
          <p:nvPr/>
        </p:nvSpPr>
        <p:spPr>
          <a:xfrm>
            <a:off x="981844" y="5538366"/>
            <a:ext cx="4824536" cy="1020392"/>
          </a:xfrm>
          <a:prstGeom prst="roundRect">
            <a:avLst>
              <a:gd name="adj" fmla="val 10136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Properties </a:t>
            </a:r>
            <a:r>
              <a:rPr lang="en-US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myProp</a:t>
            </a:r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 = new Properties(); </a:t>
            </a:r>
          </a:p>
          <a:p>
            <a:r>
              <a:rPr lang="en-US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myProp.put</a:t>
            </a:r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("user", "username"); </a:t>
            </a:r>
          </a:p>
          <a:p>
            <a:r>
              <a:rPr lang="en-US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myProp.put</a:t>
            </a:r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("password", "password"); </a:t>
            </a:r>
          </a:p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Connection conn = </a:t>
            </a:r>
            <a:r>
              <a:rPr lang="en-US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DriverManager.getConnection</a:t>
            </a:r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( </a:t>
            </a:r>
          </a:p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     "</a:t>
            </a:r>
            <a:r>
              <a:rPr lang="en-US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jdbc:vertica</a:t>
            </a:r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://</a:t>
            </a:r>
            <a:r>
              <a:rPr lang="en-US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VerticaHost:portNumber</a:t>
            </a:r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/</a:t>
            </a:r>
            <a:r>
              <a:rPr lang="en-US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databaseName</a:t>
            </a:r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", </a:t>
            </a:r>
          </a:p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     </a:t>
            </a:r>
            <a:r>
              <a:rPr lang="en-US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myProp</a:t>
            </a:r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); </a:t>
            </a:r>
          </a:p>
        </p:txBody>
      </p:sp>
      <p:sp>
        <p:nvSpPr>
          <p:cNvPr id="13" name="Rounded Rectangle 15"/>
          <p:cNvSpPr/>
          <p:nvPr/>
        </p:nvSpPr>
        <p:spPr>
          <a:xfrm>
            <a:off x="6265056" y="1556792"/>
            <a:ext cx="5445980" cy="4680520"/>
          </a:xfrm>
          <a:prstGeom prst="roundRect">
            <a:avLst>
              <a:gd name="adj" fmla="val 1935"/>
            </a:avLst>
          </a:prstGeom>
          <a:solidFill>
            <a:schemeClr val="bg1"/>
          </a:solidFill>
          <a:ln>
            <a:solidFill>
              <a:schemeClr val="tx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import </a:t>
            </a:r>
            <a:r>
              <a:rPr lang="en-US" sz="900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java.sql</a:t>
            </a:r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.*;</a:t>
            </a:r>
          </a:p>
          <a:p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import </a:t>
            </a:r>
            <a:r>
              <a:rPr lang="en-US" sz="900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java.util.Properties</a:t>
            </a:r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900" dirty="0">
              <a:solidFill>
                <a:schemeClr val="tx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public class </a:t>
            </a:r>
            <a:r>
              <a:rPr lang="en-US" sz="900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VerySimpleVerticaJDBCExample</a:t>
            </a:r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public static void main(String[] </a:t>
            </a:r>
            <a:r>
              <a:rPr lang="en-US" sz="900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args</a:t>
            </a:r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Properties </a:t>
            </a:r>
            <a:r>
              <a:rPr lang="en-US" sz="900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myProp</a:t>
            </a:r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new Properties();</a:t>
            </a:r>
          </a:p>
          <a:p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</a:t>
            </a:r>
            <a:r>
              <a:rPr lang="en-US" sz="900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myProp.put</a:t>
            </a:r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("user", "</a:t>
            </a:r>
            <a:r>
              <a:rPr lang="en-US" sz="900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dbadmin</a:t>
            </a:r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");</a:t>
            </a:r>
          </a:p>
          <a:p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</a:t>
            </a:r>
            <a:r>
              <a:rPr lang="en-US" sz="900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myProp.put</a:t>
            </a:r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("password", "</a:t>
            </a:r>
            <a:r>
              <a:rPr lang="en-US" sz="900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vertica</a:t>
            </a:r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");</a:t>
            </a:r>
          </a:p>
          <a:p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</a:t>
            </a:r>
            <a:r>
              <a:rPr lang="en-US" sz="900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myProp.put</a:t>
            </a:r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("</a:t>
            </a:r>
            <a:r>
              <a:rPr lang="en-US" sz="900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loginTimeout</a:t>
            </a:r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", "35");</a:t>
            </a:r>
          </a:p>
          <a:p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</a:t>
            </a:r>
            <a:r>
              <a:rPr lang="en-US" sz="900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myProp.put</a:t>
            </a:r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("</a:t>
            </a:r>
            <a:r>
              <a:rPr lang="en-US" sz="900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binaryBatchInsert</a:t>
            </a:r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", "true");</a:t>
            </a:r>
          </a:p>
          <a:p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Connection conn;</a:t>
            </a:r>
          </a:p>
          <a:p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try {</a:t>
            </a:r>
          </a:p>
          <a:p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conn = </a:t>
            </a:r>
            <a:r>
              <a:rPr lang="en-US" sz="900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DriverManager.getConnection</a:t>
            </a:r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       "</a:t>
            </a:r>
            <a:r>
              <a:rPr lang="en-US" sz="900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jdbc:vertica</a:t>
            </a:r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://demohost:5433/</a:t>
            </a:r>
            <a:r>
              <a:rPr lang="en-US" sz="900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vmart</a:t>
            </a:r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", </a:t>
            </a:r>
            <a:r>
              <a:rPr lang="en-US" sz="900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myProp</a:t>
            </a:r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</a:t>
            </a:r>
            <a:r>
              <a:rPr lang="en-US" sz="900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("Connected!");</a:t>
            </a:r>
          </a:p>
          <a:p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</a:t>
            </a:r>
            <a:r>
              <a:rPr lang="en-US" sz="900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conn.close</a:t>
            </a:r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} catch (</a:t>
            </a:r>
            <a:r>
              <a:rPr lang="en-US" sz="900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SQLTransientConnectionException</a:t>
            </a:r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connException</a:t>
            </a:r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</a:t>
            </a:r>
            <a:r>
              <a:rPr lang="en-US" sz="900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("Network connection issue: ");</a:t>
            </a:r>
          </a:p>
          <a:p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</a:t>
            </a:r>
            <a:r>
              <a:rPr lang="en-US" sz="900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900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connException.getMessage</a:t>
            </a:r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return;</a:t>
            </a:r>
          </a:p>
          <a:p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} catch (</a:t>
            </a:r>
            <a:r>
              <a:rPr lang="en-US" sz="900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SQLInvalidAuthorizationSpecException</a:t>
            </a:r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authException</a:t>
            </a:r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</a:t>
            </a:r>
            <a:r>
              <a:rPr lang="en-US" sz="900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("Could not log into database: ");</a:t>
            </a:r>
          </a:p>
          <a:p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</a:t>
            </a:r>
            <a:r>
              <a:rPr lang="en-US" sz="900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900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authException.getMessage</a:t>
            </a:r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return;</a:t>
            </a:r>
          </a:p>
          <a:p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} catch (</a:t>
            </a:r>
            <a:r>
              <a:rPr lang="en-US" sz="900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SQLException</a:t>
            </a:r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e) {</a:t>
            </a:r>
          </a:p>
          <a:p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</a:t>
            </a:r>
            <a:r>
              <a:rPr lang="en-US" sz="900" dirty="0" err="1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e.printStackTrace</a:t>
            </a:r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}</a:t>
            </a:r>
          </a:p>
          <a:p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56602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 err="1"/>
              <a:t>Vsql</a:t>
            </a:r>
            <a:r>
              <a:rPr lang="en-US" altLang="ko-KR" sz="2800" dirty="0"/>
              <a:t> </a:t>
            </a:r>
            <a:r>
              <a:rPr lang="ko-KR" altLang="en-US" sz="2800" dirty="0"/>
              <a:t>사용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클라이언트 연결</a:t>
            </a:r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 err="1"/>
              <a:t>vsql</a:t>
            </a:r>
            <a:r>
              <a:rPr lang="en-US" altLang="ko-KR" sz="1100" b="1" dirty="0"/>
              <a:t> </a:t>
            </a:r>
            <a:r>
              <a:rPr lang="ko-KR" altLang="en-US" sz="1100" b="1" dirty="0"/>
              <a:t>시작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Interactive mode </a:t>
            </a:r>
            <a:r>
              <a:rPr lang="ko-KR" altLang="en-US" sz="1100" dirty="0"/>
              <a:t>와 </a:t>
            </a:r>
            <a:r>
              <a:rPr lang="en-US" altLang="ko-KR" sz="1100" dirty="0"/>
              <a:t>Command line mode </a:t>
            </a:r>
            <a:r>
              <a:rPr lang="ko-KR" altLang="en-US" sz="1100" dirty="0"/>
              <a:t>가 있음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Script </a:t>
            </a:r>
            <a:r>
              <a:rPr lang="ko-KR" altLang="en-US" sz="1100" dirty="0"/>
              <a:t>작성시 </a:t>
            </a:r>
            <a:r>
              <a:rPr lang="en-US" altLang="ko-KR" sz="1100" dirty="0"/>
              <a:t>interactive mode</a:t>
            </a:r>
            <a:r>
              <a:rPr lang="ko-KR" altLang="en-US" sz="1100" dirty="0"/>
              <a:t>를 주로 사용함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 err="1"/>
              <a:t>vsql</a:t>
            </a:r>
            <a:r>
              <a:rPr lang="ko-KR" altLang="en-US" sz="1100" b="1" dirty="0"/>
              <a:t>로 데이터베이스 연결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-h : </a:t>
            </a:r>
            <a:r>
              <a:rPr lang="ko-KR" altLang="en-US" sz="1100" dirty="0"/>
              <a:t>클라이언트에서 </a:t>
            </a:r>
            <a:r>
              <a:rPr lang="en-US" altLang="ko-KR" sz="1100" dirty="0"/>
              <a:t>DB</a:t>
            </a:r>
            <a:r>
              <a:rPr lang="ko-KR" altLang="en-US" sz="1100" dirty="0"/>
              <a:t>서버에 연결할 때 </a:t>
            </a:r>
            <a:r>
              <a:rPr lang="en-US" altLang="ko-KR" sz="1100" dirty="0"/>
              <a:t>node</a:t>
            </a:r>
            <a:r>
              <a:rPr lang="ko-KR" altLang="en-US" sz="1100" dirty="0"/>
              <a:t>의 </a:t>
            </a:r>
            <a:r>
              <a:rPr lang="en-US" altLang="ko-KR" sz="1100" dirty="0"/>
              <a:t>IP</a:t>
            </a:r>
            <a:r>
              <a:rPr lang="ko-KR" altLang="en-US" sz="1100" dirty="0"/>
              <a:t>또는 </a:t>
            </a:r>
            <a:r>
              <a:rPr lang="en-US" altLang="ko-KR" sz="1100" dirty="0"/>
              <a:t>host</a:t>
            </a:r>
            <a:r>
              <a:rPr lang="ko-KR" altLang="en-US" sz="1100" dirty="0"/>
              <a:t>명 지정 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-C : connection load balancing</a:t>
            </a:r>
            <a:r>
              <a:rPr lang="ko-KR" altLang="en-US" sz="1100" dirty="0"/>
              <a:t>을 설정했을 때 사용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-B : connection load balancing</a:t>
            </a:r>
            <a:r>
              <a:rPr lang="ko-KR" altLang="en-US" sz="1100" dirty="0"/>
              <a:t>을 사용할 때 </a:t>
            </a:r>
            <a:r>
              <a:rPr lang="en-US" altLang="ko-KR" sz="1100" dirty="0"/>
              <a:t>–h </a:t>
            </a:r>
            <a:r>
              <a:rPr lang="ko-KR" altLang="en-US" sz="1100" dirty="0"/>
              <a:t>옵션으로 지정한 서버에 연결이 안될 때 연결할 대체 </a:t>
            </a:r>
            <a:r>
              <a:rPr lang="ko-KR" altLang="en-US" sz="1100" dirty="0" err="1"/>
              <a:t>노드</a:t>
            </a:r>
            <a:r>
              <a:rPr lang="ko-KR" altLang="en-US" sz="1100" dirty="0"/>
              <a:t> 지정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-U : </a:t>
            </a:r>
            <a:r>
              <a:rPr lang="ko-KR" altLang="en-US" sz="1100" dirty="0"/>
              <a:t>접속할 </a:t>
            </a:r>
            <a:r>
              <a:rPr lang="ko-KR" altLang="en-US" sz="1100" dirty="0" err="1"/>
              <a:t>유저명</a:t>
            </a:r>
            <a:r>
              <a:rPr lang="ko-KR" altLang="en-US" sz="1100" dirty="0"/>
              <a:t> 지정 </a:t>
            </a:r>
            <a:r>
              <a:rPr lang="en-US" altLang="ko-KR" sz="1100" dirty="0"/>
              <a:t>(default</a:t>
            </a:r>
            <a:r>
              <a:rPr lang="ko-KR" altLang="en-US" sz="1100" dirty="0"/>
              <a:t>는 </a:t>
            </a:r>
            <a:r>
              <a:rPr lang="en-US" altLang="ko-KR" sz="1100" dirty="0" err="1"/>
              <a:t>dbadmin</a:t>
            </a:r>
            <a:r>
              <a:rPr lang="en-US" altLang="ko-KR" sz="1100" dirty="0"/>
              <a:t>)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-w : </a:t>
            </a:r>
            <a:r>
              <a:rPr lang="ko-KR" altLang="en-US" sz="1100" dirty="0"/>
              <a:t>유저의 </a:t>
            </a:r>
            <a:r>
              <a:rPr lang="en-US" altLang="ko-KR" sz="1100" dirty="0"/>
              <a:t>DB </a:t>
            </a:r>
            <a:r>
              <a:rPr lang="ko-KR" altLang="en-US" sz="1100" dirty="0"/>
              <a:t>패스워드 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b="1" dirty="0"/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ko-KR" altLang="en-US" sz="1100" b="1" dirty="0"/>
              <a:t>사용 예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Interactive mode</a:t>
            </a:r>
            <a:r>
              <a:rPr lang="ko-KR" altLang="en-US" sz="1100" dirty="0"/>
              <a:t>로 사용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Command line mode </a:t>
            </a:r>
            <a:r>
              <a:rPr lang="ko-KR" altLang="en-US" sz="1100" dirty="0"/>
              <a:t>로 사용</a:t>
            </a:r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4"/>
          <p:cNvSpPr/>
          <p:nvPr/>
        </p:nvSpPr>
        <p:spPr>
          <a:xfrm>
            <a:off x="693738" y="2229751"/>
            <a:ext cx="5040634" cy="504056"/>
          </a:xfrm>
          <a:prstGeom prst="roundRect">
            <a:avLst>
              <a:gd name="adj" fmla="val 17604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vsql</a:t>
            </a:r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 –h &lt;hostname&gt; -B &lt;hostname&gt;:&lt;port&gt; -C</a:t>
            </a:r>
          </a:p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     -U &lt;username&gt; -w &lt;password&gt;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448" y="3967931"/>
            <a:ext cx="1384995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000" dirty="0">
                <a:solidFill>
                  <a:schemeClr val="tx2"/>
                </a:solidFill>
              </a:rPr>
              <a:t>VSQL </a:t>
            </a:r>
            <a:r>
              <a:rPr lang="ko-KR" altLang="en-US" sz="1000" dirty="0">
                <a:solidFill>
                  <a:schemeClr val="tx2"/>
                </a:solidFill>
              </a:rPr>
              <a:t>스크립트 작성 참조</a:t>
            </a:r>
          </a:p>
        </p:txBody>
      </p:sp>
      <p:pic>
        <p:nvPicPr>
          <p:cNvPr id="10" name="Picture 13" descr="C:\Users\hongjon\Documents\Proposal\ICON\Business_Icons\Business_Icons\Innovation\Innovation_RGB\Innovation_RGB_blue_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524" y="3888933"/>
            <a:ext cx="196427" cy="322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ounded Rectangle 5"/>
          <p:cNvSpPr/>
          <p:nvPr/>
        </p:nvSpPr>
        <p:spPr>
          <a:xfrm>
            <a:off x="6454774" y="1772816"/>
            <a:ext cx="5124609" cy="2520280"/>
          </a:xfrm>
          <a:prstGeom prst="roundRect">
            <a:avLst>
              <a:gd name="adj" fmla="val 3524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$ </a:t>
            </a:r>
            <a:r>
              <a:rPr lang="en-US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vsql</a:t>
            </a:r>
            <a:endParaRPr lang="en-US" sz="9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Welcome to </a:t>
            </a:r>
            <a:r>
              <a:rPr lang="en-US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vsql</a:t>
            </a:r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, the Vertica Analytic Database interactive terminal.</a:t>
            </a:r>
          </a:p>
          <a:p>
            <a:endParaRPr lang="en-US" sz="9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Type:  \h or \? for help with </a:t>
            </a:r>
            <a:r>
              <a:rPr lang="en-US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vsql</a:t>
            </a:r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 commands</a:t>
            </a:r>
          </a:p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            \g or terminate with semicolon to execute query</a:t>
            </a:r>
          </a:p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            \q to quit</a:t>
            </a:r>
          </a:p>
          <a:p>
            <a:endParaRPr lang="en-US" sz="9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r>
              <a:rPr lang="en-US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dbadmin</a:t>
            </a:r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=&gt; select count(*) from tables;</a:t>
            </a:r>
          </a:p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 count</a:t>
            </a:r>
          </a:p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-------</a:t>
            </a:r>
          </a:p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    29</a:t>
            </a:r>
          </a:p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(1 row)</a:t>
            </a:r>
          </a:p>
          <a:p>
            <a:endParaRPr lang="en-US" sz="9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r>
              <a:rPr lang="en-US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dbadmin</a:t>
            </a:r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=&gt; \q</a:t>
            </a:r>
          </a:p>
        </p:txBody>
      </p:sp>
      <p:sp>
        <p:nvSpPr>
          <p:cNvPr id="12" name="Rounded Rectangle 8"/>
          <p:cNvSpPr/>
          <p:nvPr/>
        </p:nvSpPr>
        <p:spPr>
          <a:xfrm>
            <a:off x="6454775" y="4581128"/>
            <a:ext cx="5124608" cy="504056"/>
          </a:xfrm>
          <a:prstGeom prst="roundRect">
            <a:avLst>
              <a:gd name="adj" fmla="val 17604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vsql</a:t>
            </a:r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 –c "select count(*) from tables"</a:t>
            </a:r>
          </a:p>
        </p:txBody>
      </p:sp>
    </p:spTree>
    <p:extLst>
      <p:ext uri="{BB962C8B-B14F-4D97-AF65-F5344CB8AC3E}">
        <p14:creationId xmlns:p14="http://schemas.microsoft.com/office/powerpoint/2010/main" val="204031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07367" y="1093961"/>
            <a:ext cx="10579609" cy="1038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000" dirty="0"/>
              <a:t>VSQL</a:t>
            </a:r>
            <a:r>
              <a:rPr lang="ko-KR" altLang="en-US" sz="3000" dirty="0"/>
              <a:t>로 스크립트 작성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718759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VSQL </a:t>
            </a:r>
            <a:r>
              <a:rPr lang="ko-KR" altLang="en-US" sz="2800" dirty="0"/>
              <a:t>옵션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VSQL</a:t>
            </a:r>
            <a:r>
              <a:rPr lang="ko-KR" altLang="en-US" dirty="0"/>
              <a:t>로 스크립트 작성</a:t>
            </a:r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 err="1"/>
              <a:t>vsql</a:t>
            </a:r>
            <a:r>
              <a:rPr lang="ko-KR" altLang="en-US" sz="1100" b="1" dirty="0"/>
              <a:t>의 에러코드 리턴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에러코드 값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0 : </a:t>
            </a:r>
            <a:r>
              <a:rPr lang="en-US" altLang="ko-KR" sz="1100" dirty="0" err="1"/>
              <a:t>vsql</a:t>
            </a:r>
            <a:r>
              <a:rPr lang="en-US" altLang="ko-KR" sz="1100" dirty="0"/>
              <a:t> </a:t>
            </a:r>
            <a:r>
              <a:rPr lang="ko-KR" altLang="en-US" sz="1100" dirty="0"/>
              <a:t>수행 완료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1 : fatal error</a:t>
            </a:r>
            <a:r>
              <a:rPr lang="ko-KR" altLang="en-US" sz="1100" dirty="0"/>
              <a:t>로 </a:t>
            </a:r>
            <a:r>
              <a:rPr lang="en-US" altLang="ko-KR" sz="1100" dirty="0" err="1"/>
              <a:t>vsql</a:t>
            </a:r>
            <a:r>
              <a:rPr lang="ko-KR" altLang="en-US" sz="1100" dirty="0"/>
              <a:t>이 종료 </a:t>
            </a:r>
            <a:r>
              <a:rPr lang="en-US" altLang="ko-KR" sz="1100" dirty="0"/>
              <a:t>(</a:t>
            </a:r>
            <a:r>
              <a:rPr lang="ko-KR" altLang="en-US" sz="1100" dirty="0"/>
              <a:t>메모리부족</a:t>
            </a:r>
            <a:r>
              <a:rPr lang="en-US" altLang="ko-KR" sz="1100" dirty="0"/>
              <a:t>, file not found </a:t>
            </a:r>
            <a:r>
              <a:rPr lang="ko-KR" altLang="en-US" sz="1100" dirty="0"/>
              <a:t>등</a:t>
            </a:r>
            <a:r>
              <a:rPr lang="en-US" altLang="ko-KR" sz="1100" dirty="0"/>
              <a:t>)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2 : connection</a:t>
            </a:r>
            <a:r>
              <a:rPr lang="ko-KR" altLang="en-US" sz="1100" dirty="0"/>
              <a:t>이 이루어지지 못해 종료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3 : ON_ERROR_STOP</a:t>
            </a:r>
            <a:r>
              <a:rPr lang="ko-KR" altLang="en-US" sz="1100" dirty="0"/>
              <a:t>으로 </a:t>
            </a:r>
            <a:r>
              <a:rPr lang="en-US" altLang="ko-KR" sz="1100" dirty="0" err="1"/>
              <a:t>vsql</a:t>
            </a:r>
            <a:r>
              <a:rPr lang="en-US" altLang="ko-KR" sz="1100" dirty="0"/>
              <a:t> </a:t>
            </a:r>
            <a:r>
              <a:rPr lang="ko-KR" altLang="en-US" sz="1100" dirty="0"/>
              <a:t>스크립트 종료</a:t>
            </a: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주요변수설정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AUTOCOMMIT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\set AUTOCOMMIT on </a:t>
            </a:r>
            <a:r>
              <a:rPr lang="ko-KR" altLang="en-US" sz="1100" dirty="0"/>
              <a:t>또는 </a:t>
            </a:r>
            <a:r>
              <a:rPr lang="en-US" altLang="ko-KR" sz="1100" dirty="0"/>
              <a:t>off (default</a:t>
            </a:r>
            <a:r>
              <a:rPr lang="ko-KR" altLang="en-US" sz="1100" dirty="0"/>
              <a:t>는 </a:t>
            </a:r>
            <a:r>
              <a:rPr lang="en-US" altLang="ko-KR" sz="1100" dirty="0"/>
              <a:t>off)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변수는 대문자</a:t>
            </a:r>
            <a:r>
              <a:rPr lang="en-US" altLang="ko-KR" sz="1100" dirty="0"/>
              <a:t>, on/off</a:t>
            </a:r>
            <a:r>
              <a:rPr lang="ko-KR" altLang="en-US" sz="1100" dirty="0"/>
              <a:t>는 대소문자 가리지 않음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AUTOCOMMIT </a:t>
            </a:r>
            <a:r>
              <a:rPr lang="ko-KR" altLang="en-US" sz="1100" dirty="0"/>
              <a:t>변수 설정과 상관없이 </a:t>
            </a:r>
            <a:r>
              <a:rPr lang="en-US" altLang="ko-KR" sz="1100" dirty="0"/>
              <a:t>copy </a:t>
            </a:r>
            <a:r>
              <a:rPr lang="ko-KR" altLang="en-US" sz="1100" dirty="0"/>
              <a:t>구문은 </a:t>
            </a:r>
            <a:r>
              <a:rPr lang="en-US" altLang="ko-KR" sz="1100" dirty="0"/>
              <a:t>commit</a:t>
            </a:r>
            <a:r>
              <a:rPr lang="ko-KR" altLang="en-US" sz="1100" dirty="0"/>
              <a:t>이 기본 동작 </a:t>
            </a:r>
            <a:endParaRPr lang="en-US" altLang="ko-KR" sz="1100" dirty="0"/>
          </a:p>
          <a:p>
            <a:pPr marL="400050" lvl="2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dirty="0"/>
              <a:t>     (copy no commit</a:t>
            </a:r>
            <a:r>
              <a:rPr lang="ko-KR" altLang="en-US" sz="1100" dirty="0"/>
              <a:t>을 사용하지 않을 경우</a:t>
            </a:r>
            <a:r>
              <a:rPr lang="en-US" altLang="ko-KR" sz="1100" dirty="0"/>
              <a:t>)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ON_ERROR_STOP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\set ON_ERROR_STOP on </a:t>
            </a:r>
            <a:r>
              <a:rPr lang="ko-KR" altLang="en-US" sz="1100" dirty="0"/>
              <a:t>또는 </a:t>
            </a:r>
            <a:r>
              <a:rPr lang="en-US" altLang="ko-KR" sz="1100" dirty="0"/>
              <a:t>off (default</a:t>
            </a:r>
            <a:r>
              <a:rPr lang="ko-KR" altLang="en-US" sz="1100" dirty="0"/>
              <a:t>는 </a:t>
            </a:r>
            <a:r>
              <a:rPr lang="en-US" altLang="ko-KR" sz="1100" dirty="0"/>
              <a:t>off)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여러 </a:t>
            </a:r>
            <a:r>
              <a:rPr lang="en-US" altLang="ko-KR" sz="1100" dirty="0"/>
              <a:t>SQL</a:t>
            </a:r>
            <a:r>
              <a:rPr lang="ko-KR" altLang="en-US" sz="1100" dirty="0"/>
              <a:t>이 포함된 파일을 실행할 때 에러가 발생하는 즉시 다음 </a:t>
            </a:r>
            <a:r>
              <a:rPr lang="en-US" altLang="ko-KR" sz="1100" dirty="0"/>
              <a:t>SQL</a:t>
            </a:r>
            <a:r>
              <a:rPr lang="ko-KR" altLang="en-US" sz="1100" dirty="0"/>
              <a:t>을 실행하지 않고 </a:t>
            </a:r>
            <a:r>
              <a:rPr lang="en-US" altLang="ko-KR" sz="1100" dirty="0" err="1"/>
              <a:t>vsql</a:t>
            </a:r>
            <a:r>
              <a:rPr lang="ko-KR" altLang="en-US" sz="1100" dirty="0"/>
              <a:t>을 종료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사용 예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ON_ERROR_STOP</a:t>
            </a:r>
            <a:endParaRPr lang="ko-KR" altLang="en-US" sz="1100" dirty="0"/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5"/>
          <p:cNvSpPr/>
          <p:nvPr/>
        </p:nvSpPr>
        <p:spPr>
          <a:xfrm>
            <a:off x="6456656" y="1700213"/>
            <a:ext cx="5122728" cy="3456384"/>
          </a:xfrm>
          <a:prstGeom prst="roundRect">
            <a:avLst>
              <a:gd name="adj" fmla="val 3524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$ </a:t>
            </a:r>
            <a:r>
              <a:rPr lang="en-US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vsql</a:t>
            </a:r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 &lt;&lt; +</a:t>
            </a:r>
          </a:p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&gt; select count(*) from tab ;</a:t>
            </a:r>
          </a:p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&gt; select count(*) from tables ;</a:t>
            </a:r>
          </a:p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&gt; +</a:t>
            </a:r>
          </a:p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ERROR 4566:  Relation "tab" does not exist</a:t>
            </a:r>
          </a:p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 count</a:t>
            </a:r>
          </a:p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-------</a:t>
            </a:r>
          </a:p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    29</a:t>
            </a:r>
          </a:p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(1 row)</a:t>
            </a:r>
          </a:p>
          <a:p>
            <a:endParaRPr lang="en-US" sz="9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$ echo $?</a:t>
            </a:r>
          </a:p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0</a:t>
            </a:r>
          </a:p>
          <a:p>
            <a:endParaRPr lang="en-US" sz="9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$ </a:t>
            </a:r>
            <a:r>
              <a:rPr lang="en-US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vsql</a:t>
            </a:r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 &lt;&lt; +</a:t>
            </a:r>
          </a:p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&gt; \set ON_ERROR_STOP on</a:t>
            </a:r>
          </a:p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&gt; select count(*) from tab ;</a:t>
            </a:r>
          </a:p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&gt; select count(*) from tables ;</a:t>
            </a:r>
          </a:p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&gt; +</a:t>
            </a:r>
          </a:p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ERROR 4566:  Relation "tab" does not exist</a:t>
            </a:r>
          </a:p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$ echo $?</a:t>
            </a:r>
          </a:p>
          <a:p>
            <a:r>
              <a:rPr lang="en-US" sz="900" dirty="0">
                <a:solidFill>
                  <a:schemeClr val="bg1"/>
                </a:solidFill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9" name="Rectangular Callout 6"/>
          <p:cNvSpPr/>
          <p:nvPr/>
        </p:nvSpPr>
        <p:spPr>
          <a:xfrm>
            <a:off x="8976937" y="4092807"/>
            <a:ext cx="1440160" cy="272297"/>
          </a:xfrm>
          <a:prstGeom prst="wedgeRectCallout">
            <a:avLst>
              <a:gd name="adj1" fmla="val -54763"/>
              <a:gd name="adj2" fmla="val 24080"/>
            </a:avLst>
          </a:prstGeom>
          <a:solidFill>
            <a:schemeClr val="bg1"/>
          </a:solidFill>
          <a:ln w="1905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ko-KR" altLang="en-US" sz="900" i="1" dirty="0">
                <a:solidFill>
                  <a:prstClr val="black"/>
                </a:solidFill>
              </a:rPr>
              <a:t>더이상 실행되지 않음</a:t>
            </a:r>
            <a:endParaRPr lang="en-US" altLang="ko-KR" sz="900" i="1" dirty="0">
              <a:solidFill>
                <a:prstClr val="black"/>
              </a:solidFill>
            </a:endParaRPr>
          </a:p>
        </p:txBody>
      </p:sp>
      <p:sp>
        <p:nvSpPr>
          <p:cNvPr id="10" name="Rectangular Callout 7"/>
          <p:cNvSpPr/>
          <p:nvPr/>
        </p:nvSpPr>
        <p:spPr>
          <a:xfrm>
            <a:off x="7429893" y="3010421"/>
            <a:ext cx="1656184" cy="417984"/>
          </a:xfrm>
          <a:prstGeom prst="wedgeRectCallout">
            <a:avLst>
              <a:gd name="adj1" fmla="val -54763"/>
              <a:gd name="adj2" fmla="val 24080"/>
            </a:avLst>
          </a:prstGeom>
          <a:solidFill>
            <a:schemeClr val="bg1"/>
          </a:solidFill>
          <a:ln w="1905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ko-KR" altLang="en-US" sz="900" i="1" dirty="0">
                <a:solidFill>
                  <a:prstClr val="black"/>
                </a:solidFill>
              </a:rPr>
              <a:t>마지막 </a:t>
            </a:r>
            <a:r>
              <a:rPr lang="en-US" altLang="ko-KR" sz="900" i="1" dirty="0">
                <a:solidFill>
                  <a:prstClr val="black"/>
                </a:solidFill>
              </a:rPr>
              <a:t>SQL</a:t>
            </a:r>
            <a:r>
              <a:rPr lang="ko-KR" altLang="en-US" sz="900" i="1" dirty="0">
                <a:solidFill>
                  <a:prstClr val="black"/>
                </a:solidFill>
              </a:rPr>
              <a:t>이 실행되어 정상 종료된 것으로 판단</a:t>
            </a:r>
            <a:endParaRPr lang="en-US" altLang="ko-KR" sz="900" i="1" dirty="0">
              <a:solidFill>
                <a:prstClr val="black"/>
              </a:solidFill>
            </a:endParaRPr>
          </a:p>
        </p:txBody>
      </p:sp>
      <p:sp>
        <p:nvSpPr>
          <p:cNvPr id="11" name="Rectangular Callout 8"/>
          <p:cNvSpPr/>
          <p:nvPr/>
        </p:nvSpPr>
        <p:spPr>
          <a:xfrm>
            <a:off x="7440940" y="4470009"/>
            <a:ext cx="986865" cy="272297"/>
          </a:xfrm>
          <a:prstGeom prst="wedgeRectCallout">
            <a:avLst>
              <a:gd name="adj1" fmla="val -54763"/>
              <a:gd name="adj2" fmla="val 24080"/>
            </a:avLst>
          </a:prstGeom>
          <a:solidFill>
            <a:schemeClr val="bg1"/>
          </a:solidFill>
          <a:ln w="1905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ko-KR" altLang="en-US" sz="900" i="1" dirty="0">
                <a:solidFill>
                  <a:prstClr val="black"/>
                </a:solidFill>
              </a:rPr>
              <a:t>비정상 종료</a:t>
            </a:r>
            <a:endParaRPr lang="en-US" altLang="ko-KR" sz="900" i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954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VSQL</a:t>
            </a:r>
            <a:r>
              <a:rPr lang="ko-KR" altLang="en-US" dirty="0"/>
              <a:t>로 스크립트 작성</a:t>
            </a:r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개요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 err="1"/>
              <a:t>vsql</a:t>
            </a:r>
            <a:r>
              <a:rPr lang="en-US" altLang="ko-KR" sz="1100" dirty="0"/>
              <a:t> </a:t>
            </a:r>
            <a:r>
              <a:rPr lang="ko-KR" altLang="en-US" sz="1100" dirty="0"/>
              <a:t>세션 내에서 백슬래시</a:t>
            </a:r>
            <a:r>
              <a:rPr lang="en-US" altLang="ko-KR" sz="1100" dirty="0"/>
              <a:t>(\) </a:t>
            </a:r>
            <a:r>
              <a:rPr lang="ko-KR" altLang="en-US" sz="1100" dirty="0"/>
              <a:t>후 메타커맨드 사용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 err="1"/>
              <a:t>vsql</a:t>
            </a:r>
            <a:r>
              <a:rPr lang="en-US" altLang="ko-KR" sz="1100" dirty="0"/>
              <a:t> </a:t>
            </a:r>
            <a:r>
              <a:rPr lang="ko-KR" altLang="en-US" sz="1100" dirty="0"/>
              <a:t>세션 내의 매개변수 내용은 </a:t>
            </a:r>
            <a:r>
              <a:rPr lang="en-US" altLang="ko-KR" sz="1100" dirty="0"/>
              <a:t>single quote</a:t>
            </a:r>
            <a:r>
              <a:rPr lang="ko-KR" altLang="en-US" sz="1100" dirty="0"/>
              <a:t>안에 문자열 입력 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C</a:t>
            </a:r>
            <a:r>
              <a:rPr lang="ko-KR" altLang="en-US" sz="1100" dirty="0"/>
              <a:t>구문과 유사하게 </a:t>
            </a:r>
            <a:r>
              <a:rPr lang="en-US" altLang="ko-KR" sz="1100" dirty="0"/>
              <a:t>\n(new line), \t(tab), \digit(decimal), \0digit(Octal), \0xdigit(</a:t>
            </a:r>
            <a:r>
              <a:rPr lang="en-US" altLang="ko-KR" sz="1100" dirty="0" err="1"/>
              <a:t>hexa</a:t>
            </a:r>
            <a:r>
              <a:rPr lang="en-US" altLang="ko-KR" sz="1100" dirty="0"/>
              <a:t>) </a:t>
            </a:r>
            <a:r>
              <a:rPr lang="ko-KR" altLang="en-US" sz="1100" dirty="0"/>
              <a:t>사용 가능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변수 사용은 콜론</a:t>
            </a:r>
            <a:r>
              <a:rPr lang="en-US" altLang="ko-KR" sz="1100" dirty="0"/>
              <a:t>(:) </a:t>
            </a:r>
            <a:r>
              <a:rPr lang="ko-KR" altLang="en-US" sz="1100" dirty="0"/>
              <a:t>뒤에 사용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옵션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기본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 err="1"/>
              <a:t>카타로그</a:t>
            </a:r>
            <a:r>
              <a:rPr lang="ko-KR" altLang="en-US" sz="1100" dirty="0"/>
              <a:t> 조회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출력 화면 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옵션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파일 처리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 err="1"/>
              <a:t>스크립팅</a:t>
            </a:r>
            <a:r>
              <a:rPr lang="ko-KR" altLang="en-US" sz="1100" dirty="0"/>
              <a:t> 및 작업 편의 기능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메타 명령어</a:t>
            </a:r>
          </a:p>
        </p:txBody>
      </p:sp>
      <p:graphicFrame>
        <p:nvGraphicFramePr>
          <p:cNvPr id="9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83699"/>
              </p:ext>
            </p:extLst>
          </p:nvPr>
        </p:nvGraphicFramePr>
        <p:xfrm>
          <a:off x="981844" y="2852936"/>
          <a:ext cx="4824536" cy="883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11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3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008">
                <a:tc>
                  <a:txBody>
                    <a:bodyPr/>
                    <a:lstStyle/>
                    <a:p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또는 </a:t>
                      </a: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</a:t>
                      </a:r>
                    </a:p>
                  </a:txBody>
                  <a:tcPr marL="91005" marR="9100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도움말</a:t>
                      </a:r>
                    </a:p>
                  </a:txBody>
                  <a:tcPr marL="91005" marR="91005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 (or \connect) </a:t>
                      </a:r>
                    </a:p>
                  </a:txBody>
                  <a:tcPr marL="91005" marR="9100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dbname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[ username ] ] :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데이터베이스 접속 전환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는 현재 데이터베이스</a:t>
                      </a:r>
                    </a:p>
                  </a:txBody>
                  <a:tcPr marL="91005" marR="91005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종료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8373363"/>
              </p:ext>
            </p:extLst>
          </p:nvPr>
        </p:nvGraphicFramePr>
        <p:xfrm>
          <a:off x="981844" y="4077072"/>
          <a:ext cx="4824536" cy="487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11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3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 |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df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| </a:t>
                      </a:r>
                      <a:r>
                        <a:rPr lang="en-US" altLang="ko-KR" sz="10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dj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| </a:t>
                      </a:r>
                      <a:r>
                        <a:rPr lang="en-US" altLang="ko-KR" sz="10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| </a:t>
                      </a:r>
                      <a:r>
                        <a:rPr lang="en-US" altLang="ko-KR" sz="10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dp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| ds | </a:t>
                      </a:r>
                      <a:r>
                        <a:rPr lang="en-US" altLang="ko-KR" sz="10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dS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| </a:t>
                      </a:r>
                      <a:r>
                        <a:rPr lang="en-US" altLang="ko-KR" sz="10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dt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| </a:t>
                      </a:r>
                      <a:r>
                        <a:rPr lang="en-US" altLang="ko-KR" sz="10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dT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| </a:t>
                      </a:r>
                      <a:r>
                        <a:rPr lang="en-US" altLang="ko-KR" sz="10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dtv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| du | dv [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패턴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 :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각종 오브젝트 정보</a:t>
                      </a:r>
                    </a:p>
                  </a:txBody>
                  <a:tcPr marL="91005" marR="9100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005" marR="91005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</a:t>
                      </a:r>
                    </a:p>
                  </a:txBody>
                  <a:tcPr marL="91005" marR="9100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데이터베이스 목록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005" marR="91005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0729736"/>
              </p:ext>
            </p:extLst>
          </p:nvPr>
        </p:nvGraphicFramePr>
        <p:xfrm>
          <a:off x="981844" y="4921886"/>
          <a:ext cx="4824536" cy="1615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11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3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</a:p>
                  </a:txBody>
                  <a:tcPr marL="91005" marR="9100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출력 포맷 공백 제거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(toggle)</a:t>
                      </a:r>
                    </a:p>
                  </a:txBody>
                  <a:tcPr marL="91005" marR="91005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pset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NAME [ VALUE ] :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출력 양식 지정 </a:t>
                      </a:r>
                    </a:p>
                    <a:p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expanded,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fieldsep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footer, null,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recordsep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tuples_only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title 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컬럼 헤더와 처리 건수 제거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(toggle)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timing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처리 시간 출력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(toggle)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extended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포맷으로 출력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(toggle)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 [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endParaRPr 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005" marR="9100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필드 구분자 설정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(default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| 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005" marR="91005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ounded Rectangle 7"/>
          <p:cNvSpPr/>
          <p:nvPr/>
        </p:nvSpPr>
        <p:spPr>
          <a:xfrm>
            <a:off x="6411345" y="5876677"/>
            <a:ext cx="2403999" cy="432048"/>
          </a:xfrm>
          <a:prstGeom prst="roundRect">
            <a:avLst>
              <a:gd name="adj" fmla="val 16084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1200"/>
              </a:lnSpc>
            </a:pPr>
            <a:r>
              <a:rPr lang="en-US" sz="1000" dirty="0">
                <a:solidFill>
                  <a:schemeClr val="bg1"/>
                </a:solidFill>
                <a:cs typeface="Courier New" panose="02070309020205020404" pitchFamily="49" charset="0"/>
              </a:rPr>
              <a:t>$ </a:t>
            </a:r>
            <a:r>
              <a:rPr lang="en-US" altLang="ko-KR" sz="1000" dirty="0">
                <a:solidFill>
                  <a:schemeClr val="bg1"/>
                </a:solidFill>
                <a:cs typeface="Courier New" panose="02070309020205020404" pitchFamily="49" charset="0"/>
              </a:rPr>
              <a:t>vi </a:t>
            </a:r>
            <a:r>
              <a:rPr lang="en-US" altLang="ko-KR" sz="1000" dirty="0" err="1">
                <a:solidFill>
                  <a:schemeClr val="bg1"/>
                </a:solidFill>
                <a:cs typeface="Courier New" panose="02070309020205020404" pitchFamily="49" charset="0"/>
              </a:rPr>
              <a:t>test.sql</a:t>
            </a:r>
            <a:endParaRPr lang="en-US" altLang="ko-KR" sz="10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>
                <a:solidFill>
                  <a:schemeClr val="bg1"/>
                </a:solidFill>
                <a:cs typeface="Courier New" panose="02070309020205020404" pitchFamily="49" charset="0"/>
              </a:rPr>
              <a:t>select :</a:t>
            </a:r>
            <a:r>
              <a:rPr lang="en-US" altLang="ko-KR" sz="1000" dirty="0" err="1">
                <a:solidFill>
                  <a:schemeClr val="bg1"/>
                </a:solidFill>
                <a:cs typeface="Courier New" panose="02070309020205020404" pitchFamily="49" charset="0"/>
              </a:rPr>
              <a:t>var</a:t>
            </a:r>
            <a:r>
              <a:rPr lang="en-US" altLang="ko-KR" sz="1000" dirty="0">
                <a:solidFill>
                  <a:schemeClr val="bg1"/>
                </a:solidFill>
                <a:cs typeface="Courier New" panose="02070309020205020404" pitchFamily="49" charset="0"/>
              </a:rPr>
              <a:t> from test ;</a:t>
            </a:r>
          </a:p>
        </p:txBody>
      </p:sp>
      <p:graphicFrame>
        <p:nvGraphicFramePr>
          <p:cNvPr id="13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8026173"/>
              </p:ext>
            </p:extLst>
          </p:nvPr>
        </p:nvGraphicFramePr>
        <p:xfrm>
          <a:off x="6511088" y="1682565"/>
          <a:ext cx="4824536" cy="731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11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3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[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005" marR="9100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외부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SQL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수행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005" marR="91005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 [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수행 결과를 파일로 저장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종료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3690170"/>
              </p:ext>
            </p:extLst>
          </p:nvPr>
        </p:nvGraphicFramePr>
        <p:xfrm>
          <a:off x="6511088" y="2924944"/>
          <a:ext cx="4824536" cy="28346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11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3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!</a:t>
                      </a:r>
                    </a:p>
                  </a:txBody>
                  <a:tcPr marL="91005" marR="9100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리눅스 쉘 커맨드 사용</a:t>
                      </a:r>
                    </a:p>
                  </a:txBody>
                  <a:tcPr marL="91005" marR="91005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 [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디렉토리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005" marR="9100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작업디렉토리 전환</a:t>
                      </a:r>
                    </a:p>
                  </a:txBody>
                  <a:tcPr marL="91005" marR="91005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echo [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endParaRPr 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005" marR="9100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문자열 출력</a:t>
                      </a:r>
                    </a:p>
                  </a:txBody>
                  <a:tcPr marL="91005" marR="91005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 [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endParaRPr 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005" marR="9100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쿼리문 버퍼에 있는 내용을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 editor (vi)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편집</a:t>
                      </a:r>
                    </a:p>
                  </a:txBody>
                  <a:tcPr marL="91005" marR="91005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</a:t>
                      </a:r>
                    </a:p>
                  </a:txBody>
                  <a:tcPr marL="91005" marR="9100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쿼리문 버퍼 내용을 재실행</a:t>
                      </a:r>
                    </a:p>
                    <a:p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\g | OS command </a:t>
                      </a:r>
                    </a:p>
                  </a:txBody>
                  <a:tcPr marL="91005" marR="91005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쿼리문 버퍼 내용 출력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쿼리 버퍼 초기화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 [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endParaRPr 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버퍼에 있는 쿼리문 저장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 [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endParaRPr 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커맨드라인 히스토리 정보 저장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 NAME [ VALUE ] ] :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변수값 설정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unset [ name ]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변수 제거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5" name="Rounded Rectangle 16"/>
          <p:cNvSpPr/>
          <p:nvPr/>
        </p:nvSpPr>
        <p:spPr>
          <a:xfrm>
            <a:off x="8902724" y="5876677"/>
            <a:ext cx="1224136" cy="864691"/>
          </a:xfrm>
          <a:prstGeom prst="roundRect">
            <a:avLst>
              <a:gd name="adj" fmla="val 8699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1200"/>
              </a:lnSpc>
            </a:pPr>
            <a:r>
              <a:rPr lang="en-US" altLang="ko-KR" sz="1000" dirty="0">
                <a:solidFill>
                  <a:schemeClr val="bg1"/>
                </a:solidFill>
                <a:cs typeface="Courier New" panose="02070309020205020404" pitchFamily="49" charset="0"/>
              </a:rPr>
              <a:t>$ </a:t>
            </a:r>
            <a:r>
              <a:rPr lang="en-US" altLang="ko-KR" sz="1000" dirty="0" err="1">
                <a:solidFill>
                  <a:schemeClr val="bg1"/>
                </a:solidFill>
                <a:cs typeface="Courier New" panose="02070309020205020404" pitchFamily="49" charset="0"/>
              </a:rPr>
              <a:t>vsql</a:t>
            </a:r>
            <a:r>
              <a:rPr lang="en-US" altLang="ko-KR" sz="1000" dirty="0">
                <a:solidFill>
                  <a:schemeClr val="bg1"/>
                </a:solidFill>
                <a:cs typeface="Courier New" panose="02070309020205020404" pitchFamily="49" charset="0"/>
              </a:rPr>
              <a:t> </a:t>
            </a:r>
          </a:p>
          <a:p>
            <a:pPr>
              <a:lnSpc>
                <a:spcPts val="1200"/>
              </a:lnSpc>
            </a:pPr>
            <a:r>
              <a:rPr lang="en-US" altLang="ko-KR" sz="1000" dirty="0">
                <a:solidFill>
                  <a:schemeClr val="bg1"/>
                </a:solidFill>
                <a:cs typeface="Courier New" panose="02070309020205020404" pitchFamily="49" charset="0"/>
              </a:rPr>
              <a:t>\set </a:t>
            </a:r>
            <a:r>
              <a:rPr lang="en-US" altLang="ko-KR" sz="1000" dirty="0" err="1">
                <a:solidFill>
                  <a:schemeClr val="bg1"/>
                </a:solidFill>
                <a:cs typeface="Courier New" panose="02070309020205020404" pitchFamily="49" charset="0"/>
              </a:rPr>
              <a:t>var</a:t>
            </a:r>
            <a:r>
              <a:rPr lang="en-US" altLang="ko-KR" sz="1000" dirty="0">
                <a:solidFill>
                  <a:schemeClr val="bg1"/>
                </a:solidFill>
                <a:cs typeface="Courier New" panose="02070309020205020404" pitchFamily="49" charset="0"/>
              </a:rPr>
              <a:t> col1</a:t>
            </a:r>
          </a:p>
          <a:p>
            <a:pPr>
              <a:lnSpc>
                <a:spcPts val="1200"/>
              </a:lnSpc>
            </a:pPr>
            <a:r>
              <a:rPr lang="en-US" altLang="ko-KR" sz="1000" dirty="0">
                <a:solidFill>
                  <a:schemeClr val="bg1"/>
                </a:solidFill>
                <a:cs typeface="Courier New" panose="02070309020205020404" pitchFamily="49" charset="0"/>
              </a:rPr>
              <a:t>\</a:t>
            </a:r>
            <a:r>
              <a:rPr lang="en-US" altLang="ko-KR" sz="1000" dirty="0" err="1">
                <a:solidFill>
                  <a:schemeClr val="bg1"/>
                </a:solidFill>
                <a:cs typeface="Courier New" panose="02070309020205020404" pitchFamily="49" charset="0"/>
              </a:rPr>
              <a:t>i</a:t>
            </a:r>
            <a:r>
              <a:rPr lang="en-US" altLang="ko-KR" sz="1000" dirty="0">
                <a:solidFill>
                  <a:schemeClr val="bg1"/>
                </a:solidFill>
                <a:cs typeface="Courier New" panose="02070309020205020404" pitchFamily="49" charset="0"/>
              </a:rPr>
              <a:t> </a:t>
            </a:r>
            <a:r>
              <a:rPr lang="en-US" altLang="ko-KR" sz="1000" dirty="0" err="1">
                <a:solidFill>
                  <a:schemeClr val="bg1"/>
                </a:solidFill>
                <a:cs typeface="Courier New" panose="02070309020205020404" pitchFamily="49" charset="0"/>
              </a:rPr>
              <a:t>test.sql</a:t>
            </a:r>
            <a:endParaRPr lang="en-US" altLang="ko-KR" sz="10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pPr>
              <a:lnSpc>
                <a:spcPts val="1200"/>
              </a:lnSpc>
            </a:pPr>
            <a:r>
              <a:rPr lang="en-US" altLang="ko-KR" sz="1000" dirty="0">
                <a:solidFill>
                  <a:schemeClr val="bg1"/>
                </a:solidFill>
                <a:cs typeface="Courier New" panose="02070309020205020404" pitchFamily="49" charset="0"/>
              </a:rPr>
              <a:t>\set </a:t>
            </a:r>
            <a:r>
              <a:rPr lang="en-US" altLang="ko-KR" sz="1000" dirty="0" err="1">
                <a:solidFill>
                  <a:schemeClr val="bg1"/>
                </a:solidFill>
                <a:cs typeface="Courier New" panose="02070309020205020404" pitchFamily="49" charset="0"/>
              </a:rPr>
              <a:t>var</a:t>
            </a:r>
            <a:r>
              <a:rPr lang="en-US" altLang="ko-KR" sz="1000" dirty="0">
                <a:solidFill>
                  <a:schemeClr val="bg1"/>
                </a:solidFill>
                <a:cs typeface="Courier New" panose="02070309020205020404" pitchFamily="49" charset="0"/>
              </a:rPr>
              <a:t> col2</a:t>
            </a:r>
          </a:p>
          <a:p>
            <a:pPr>
              <a:lnSpc>
                <a:spcPts val="1200"/>
              </a:lnSpc>
            </a:pPr>
            <a:r>
              <a:rPr lang="en-US" altLang="ko-KR" sz="1000" dirty="0">
                <a:solidFill>
                  <a:schemeClr val="bg1"/>
                </a:solidFill>
                <a:cs typeface="Courier New" panose="02070309020205020404" pitchFamily="49" charset="0"/>
              </a:rPr>
              <a:t>\</a:t>
            </a:r>
            <a:r>
              <a:rPr lang="en-US" altLang="ko-KR" sz="1000" dirty="0" err="1">
                <a:solidFill>
                  <a:schemeClr val="bg1"/>
                </a:solidFill>
                <a:cs typeface="Courier New" panose="02070309020205020404" pitchFamily="49" charset="0"/>
              </a:rPr>
              <a:t>i</a:t>
            </a:r>
            <a:r>
              <a:rPr lang="en-US" altLang="ko-KR" sz="1000" dirty="0">
                <a:solidFill>
                  <a:schemeClr val="bg1"/>
                </a:solidFill>
                <a:cs typeface="Courier New" panose="02070309020205020404" pitchFamily="49" charset="0"/>
              </a:rPr>
              <a:t> </a:t>
            </a:r>
            <a:r>
              <a:rPr lang="en-US" altLang="ko-KR" sz="1000" dirty="0" err="1">
                <a:solidFill>
                  <a:schemeClr val="bg1"/>
                </a:solidFill>
                <a:cs typeface="Courier New" panose="02070309020205020404" pitchFamily="49" charset="0"/>
              </a:rPr>
              <a:t>test.sql</a:t>
            </a:r>
            <a:r>
              <a:rPr lang="en-US" altLang="ko-KR" sz="1000" dirty="0">
                <a:solidFill>
                  <a:schemeClr val="bg1"/>
                </a:solidFill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278308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활용 예제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VSQL</a:t>
            </a:r>
            <a:r>
              <a:rPr lang="ko-KR" altLang="en-US" dirty="0"/>
              <a:t>로 스크립트 작성</a:t>
            </a:r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altLang="ko-KR" sz="1100" dirty="0"/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ko-KR" altLang="en-US" sz="1100" dirty="0"/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4"/>
          <p:cNvSpPr txBox="1">
            <a:spLocks/>
          </p:cNvSpPr>
          <p:nvPr/>
        </p:nvSpPr>
        <p:spPr>
          <a:xfrm>
            <a:off x="477788" y="1295401"/>
            <a:ext cx="5314950" cy="5013325"/>
          </a:xfrm>
          <a:prstGeom prst="roundRect">
            <a:avLst>
              <a:gd name="adj" fmla="val 1935"/>
            </a:avLst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dash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9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9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9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9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COUNT=`</a:t>
            </a:r>
            <a:r>
              <a:rPr lang="en-US" sz="900" dirty="0" err="1">
                <a:solidFill>
                  <a:schemeClr val="tx1"/>
                </a:solidFill>
                <a:cs typeface="Courier New" panose="02070309020205020404" pitchFamily="49" charset="0"/>
              </a:rPr>
              <a:t>vsql</a:t>
            </a: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 -At -c "select count(*) from tables where </a:t>
            </a:r>
            <a:r>
              <a:rPr lang="en-US" sz="900" dirty="0" err="1">
                <a:solidFill>
                  <a:schemeClr val="tx1"/>
                </a:solidFill>
                <a:cs typeface="Courier New" panose="02070309020205020404" pitchFamily="49" charset="0"/>
              </a:rPr>
              <a:t>table_name</a:t>
            </a: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 = 'test'"`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if [ $COUNT -ne 0 ] ; then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    </a:t>
            </a:r>
            <a:r>
              <a:rPr lang="en-US" sz="900" dirty="0" err="1">
                <a:solidFill>
                  <a:schemeClr val="tx1"/>
                </a:solidFill>
                <a:cs typeface="Courier New" panose="02070309020205020404" pitchFamily="49" charset="0"/>
              </a:rPr>
              <a:t>vsql</a:t>
            </a: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 -c "drop table test cascade "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fi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900" dirty="0" err="1">
                <a:solidFill>
                  <a:schemeClr val="tx1"/>
                </a:solidFill>
                <a:cs typeface="Courier New" panose="02070309020205020404" pitchFamily="49" charset="0"/>
              </a:rPr>
              <a:t>vsql</a:t>
            </a: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 -c "create table test (col1 </a:t>
            </a:r>
            <a:r>
              <a:rPr lang="en-US" sz="900" dirty="0" err="1">
                <a:solidFill>
                  <a:schemeClr val="tx1"/>
                </a:solidFill>
                <a:cs typeface="Courier New" panose="02070309020205020404" pitchFamily="49" charset="0"/>
              </a:rPr>
              <a:t>int</a:t>
            </a: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, col2 </a:t>
            </a:r>
            <a:r>
              <a:rPr lang="en-US" sz="900" dirty="0" err="1">
                <a:solidFill>
                  <a:schemeClr val="tx1"/>
                </a:solidFill>
                <a:cs typeface="Courier New" panose="02070309020205020404" pitchFamily="49" charset="0"/>
              </a:rPr>
              <a:t>varchar</a:t>
            </a: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(100), col3 timestamp)"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9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900" dirty="0" err="1">
                <a:solidFill>
                  <a:schemeClr val="tx1"/>
                </a:solidFill>
                <a:cs typeface="Courier New" panose="02070309020205020404" pitchFamily="49" charset="0"/>
              </a:rPr>
              <a:t>vsql</a:t>
            </a: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 &lt;&lt; +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\set ON_ERROR_STOP on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\set AUTOCOMMIT on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9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insert into test values (1,'A',current_timestamp) 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insert into test values (2,'B',current_timestamp) 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9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+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9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if [ $? -</a:t>
            </a:r>
            <a:r>
              <a:rPr lang="en-US" sz="900" dirty="0" err="1">
                <a:solidFill>
                  <a:schemeClr val="tx1"/>
                </a:solidFill>
                <a:cs typeface="Courier New" panose="02070309020205020404" pitchFamily="49" charset="0"/>
              </a:rPr>
              <a:t>eq</a:t>
            </a: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 0 ]; then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    echo "Success"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else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    echo "Error“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    exit 1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fi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9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9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900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9" name="Content Placeholder 4"/>
          <p:cNvSpPr txBox="1">
            <a:spLocks/>
          </p:cNvSpPr>
          <p:nvPr/>
        </p:nvSpPr>
        <p:spPr>
          <a:xfrm>
            <a:off x="6397674" y="1277621"/>
            <a:ext cx="5314950" cy="5013325"/>
          </a:xfrm>
          <a:prstGeom prst="roundRect">
            <a:avLst>
              <a:gd name="adj" fmla="val 1935"/>
            </a:avLst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dash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9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900" dirty="0" err="1">
                <a:solidFill>
                  <a:schemeClr val="tx1"/>
                </a:solidFill>
                <a:cs typeface="Courier New" panose="02070309020205020404" pitchFamily="49" charset="0"/>
              </a:rPr>
              <a:t>vsql</a:t>
            </a:r>
            <a:r>
              <a:rPr lang="en-US" altLang="ko-KR" sz="900" dirty="0">
                <a:solidFill>
                  <a:schemeClr val="tx1"/>
                </a:solidFill>
                <a:cs typeface="Courier New" panose="02070309020205020404" pitchFamily="49" charset="0"/>
              </a:rPr>
              <a:t> -At &lt;&lt; + &gt; /</a:t>
            </a:r>
            <a:r>
              <a:rPr lang="en-US" altLang="ko-KR" sz="900" dirty="0" err="1">
                <a:solidFill>
                  <a:schemeClr val="tx1"/>
                </a:solidFill>
                <a:cs typeface="Courier New" panose="02070309020205020404" pitchFamily="49" charset="0"/>
              </a:rPr>
              <a:t>tmp</a:t>
            </a:r>
            <a:r>
              <a:rPr lang="en-US" altLang="ko-KR" sz="900" dirty="0">
                <a:solidFill>
                  <a:schemeClr val="tx1"/>
                </a:solidFill>
                <a:cs typeface="Courier New" panose="02070309020205020404" pitchFamily="49" charset="0"/>
              </a:rPr>
              <a:t>/</a:t>
            </a:r>
            <a:r>
              <a:rPr lang="en-US" altLang="ko-KR" sz="900" dirty="0" err="1">
                <a:solidFill>
                  <a:schemeClr val="tx1"/>
                </a:solidFill>
                <a:cs typeface="Courier New" panose="02070309020205020404" pitchFamily="49" charset="0"/>
              </a:rPr>
              <a:t>work.tmp</a:t>
            </a:r>
            <a:r>
              <a:rPr lang="en-US" altLang="ko-KR" sz="900" dirty="0">
                <a:solidFill>
                  <a:schemeClr val="tx1"/>
                </a:solidFill>
                <a:cs typeface="Courier New" panose="02070309020205020404" pitchFamily="49" charset="0"/>
              </a:rPr>
              <a:t> 2&gt;&amp;1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900" dirty="0">
                <a:solidFill>
                  <a:schemeClr val="tx1"/>
                </a:solidFill>
                <a:cs typeface="Courier New" panose="02070309020205020404" pitchFamily="49" charset="0"/>
              </a:rPr>
              <a:t>\set ON_ERROR_STOP on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900" dirty="0">
                <a:solidFill>
                  <a:schemeClr val="tx1"/>
                </a:solidFill>
                <a:cs typeface="Courier New" panose="02070309020205020404" pitchFamily="49" charset="0"/>
              </a:rPr>
              <a:t>\timing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altLang="ko-KR" sz="9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altLang="ko-KR" sz="9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900" dirty="0">
                <a:solidFill>
                  <a:schemeClr val="tx1"/>
                </a:solidFill>
                <a:cs typeface="Courier New" panose="02070309020205020404" pitchFamily="49" charset="0"/>
              </a:rPr>
              <a:t>\echo UNLOAD COL1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900" dirty="0">
                <a:solidFill>
                  <a:schemeClr val="tx1"/>
                </a:solidFill>
                <a:cs typeface="Courier New" panose="02070309020205020404" pitchFamily="49" charset="0"/>
              </a:rPr>
              <a:t>\!date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900" dirty="0">
                <a:solidFill>
                  <a:schemeClr val="tx1"/>
                </a:solidFill>
                <a:cs typeface="Courier New" panose="02070309020205020404" pitchFamily="49" charset="0"/>
              </a:rPr>
              <a:t>\o /</a:t>
            </a:r>
            <a:r>
              <a:rPr lang="en-US" altLang="ko-KR" sz="900" dirty="0" err="1">
                <a:solidFill>
                  <a:schemeClr val="tx1"/>
                </a:solidFill>
                <a:cs typeface="Courier New" panose="02070309020205020404" pitchFamily="49" charset="0"/>
              </a:rPr>
              <a:t>tmp</a:t>
            </a:r>
            <a:r>
              <a:rPr lang="en-US" altLang="ko-KR" sz="900" dirty="0">
                <a:solidFill>
                  <a:schemeClr val="tx1"/>
                </a:solidFill>
                <a:cs typeface="Courier New" panose="02070309020205020404" pitchFamily="49" charset="0"/>
              </a:rPr>
              <a:t>/output_col1.txt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900" dirty="0">
                <a:solidFill>
                  <a:schemeClr val="tx1"/>
                </a:solidFill>
                <a:cs typeface="Courier New" panose="02070309020205020404" pitchFamily="49" charset="0"/>
              </a:rPr>
              <a:t>select col1 from test 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9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9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\o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\echo INSERT 1 ROW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\!date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insert into test values (3,'C',current_timestamp) 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commit 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9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\echo UNLOAD COL ALL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\!date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\o /</a:t>
            </a:r>
            <a:r>
              <a:rPr lang="en-US" sz="900" dirty="0" err="1">
                <a:solidFill>
                  <a:schemeClr val="tx1"/>
                </a:solidFill>
                <a:cs typeface="Courier New" panose="02070309020205020404" pitchFamily="49" charset="0"/>
              </a:rPr>
              <a:t>tmp</a:t>
            </a: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/output_all.txt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select * from test 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9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\echo FINISH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\!date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+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9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cat /</a:t>
            </a:r>
            <a:r>
              <a:rPr lang="en-US" sz="900" dirty="0" err="1">
                <a:solidFill>
                  <a:schemeClr val="tx1"/>
                </a:solidFill>
                <a:cs typeface="Courier New" panose="02070309020205020404" pitchFamily="49" charset="0"/>
              </a:rPr>
              <a:t>tmp</a:t>
            </a:r>
            <a:r>
              <a:rPr lang="en-US" sz="900" dirty="0">
                <a:solidFill>
                  <a:schemeClr val="tx1"/>
                </a:solidFill>
                <a:cs typeface="Courier New" panose="02070309020205020404" pitchFamily="49" charset="0"/>
              </a:rPr>
              <a:t>/</a:t>
            </a:r>
            <a:r>
              <a:rPr lang="en-US" sz="900" dirty="0" err="1">
                <a:solidFill>
                  <a:schemeClr val="tx1"/>
                </a:solidFill>
                <a:cs typeface="Courier New" panose="02070309020205020404" pitchFamily="49" charset="0"/>
              </a:rPr>
              <a:t>work.tmp</a:t>
            </a:r>
            <a:endParaRPr lang="en-US" sz="900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10" name="Rectangular Callout 6"/>
          <p:cNvSpPr/>
          <p:nvPr/>
        </p:nvSpPr>
        <p:spPr>
          <a:xfrm>
            <a:off x="609441" y="1396381"/>
            <a:ext cx="2016224" cy="216024"/>
          </a:xfrm>
          <a:prstGeom prst="wedgeRectCallout">
            <a:avLst>
              <a:gd name="adj1" fmla="val -43771"/>
              <a:gd name="adj2" fmla="val 249743"/>
            </a:avLst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en-US" altLang="ko-KR" sz="900" i="1" dirty="0">
                <a:solidFill>
                  <a:prstClr val="black"/>
                </a:solidFill>
              </a:rPr>
              <a:t>COUNT</a:t>
            </a:r>
            <a:r>
              <a:rPr lang="ko-KR" altLang="en-US" sz="900" i="1" dirty="0">
                <a:solidFill>
                  <a:prstClr val="black"/>
                </a:solidFill>
              </a:rPr>
              <a:t>변수에 쿼리결과값 대입</a:t>
            </a:r>
            <a:endParaRPr lang="en-US" altLang="ko-KR" sz="900" i="1" dirty="0">
              <a:solidFill>
                <a:prstClr val="black"/>
              </a:solidFill>
            </a:endParaRPr>
          </a:p>
        </p:txBody>
      </p:sp>
      <p:sp>
        <p:nvSpPr>
          <p:cNvPr id="11" name="Rectangular Callout 7"/>
          <p:cNvSpPr/>
          <p:nvPr/>
        </p:nvSpPr>
        <p:spPr>
          <a:xfrm>
            <a:off x="1343472" y="1713385"/>
            <a:ext cx="1584176" cy="203447"/>
          </a:xfrm>
          <a:prstGeom prst="wedgeRectCallout">
            <a:avLst>
              <a:gd name="adj1" fmla="val -46593"/>
              <a:gd name="adj2" fmla="val 112263"/>
            </a:avLst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ko-KR" altLang="en-US" sz="900" i="1" dirty="0">
                <a:solidFill>
                  <a:prstClr val="black"/>
                </a:solidFill>
              </a:rPr>
              <a:t>데이터만 공백없이 출력</a:t>
            </a:r>
            <a:endParaRPr lang="en-US" altLang="ko-KR" sz="900" i="1" dirty="0">
              <a:solidFill>
                <a:prstClr val="black"/>
              </a:solidFill>
            </a:endParaRPr>
          </a:p>
        </p:txBody>
      </p:sp>
      <p:sp>
        <p:nvSpPr>
          <p:cNvPr id="12" name="Rectangular Callout 8"/>
          <p:cNvSpPr/>
          <p:nvPr/>
        </p:nvSpPr>
        <p:spPr>
          <a:xfrm>
            <a:off x="1991544" y="2996952"/>
            <a:ext cx="2016224" cy="216024"/>
          </a:xfrm>
          <a:prstGeom prst="wedgeRectCallout">
            <a:avLst>
              <a:gd name="adj1" fmla="val -56346"/>
              <a:gd name="adj2" fmla="val 41946"/>
            </a:avLst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ko-KR" altLang="en-US" sz="900" i="1" dirty="0">
                <a:solidFill>
                  <a:prstClr val="black"/>
                </a:solidFill>
              </a:rPr>
              <a:t>에러 발생시 </a:t>
            </a:r>
            <a:r>
              <a:rPr lang="en-US" altLang="ko-KR" sz="900" i="1" dirty="0" err="1">
                <a:solidFill>
                  <a:prstClr val="black"/>
                </a:solidFill>
              </a:rPr>
              <a:t>vsql</a:t>
            </a:r>
            <a:r>
              <a:rPr lang="en-US" altLang="ko-KR" sz="900" i="1" dirty="0">
                <a:solidFill>
                  <a:prstClr val="black"/>
                </a:solidFill>
              </a:rPr>
              <a:t> </a:t>
            </a:r>
            <a:r>
              <a:rPr lang="ko-KR" altLang="en-US" sz="900" i="1" dirty="0">
                <a:solidFill>
                  <a:prstClr val="black"/>
                </a:solidFill>
              </a:rPr>
              <a:t>처리 중단</a:t>
            </a:r>
            <a:endParaRPr lang="en-US" altLang="ko-KR" sz="900" i="1" dirty="0">
              <a:solidFill>
                <a:prstClr val="black"/>
              </a:solidFill>
            </a:endParaRPr>
          </a:p>
        </p:txBody>
      </p:sp>
      <p:sp>
        <p:nvSpPr>
          <p:cNvPr id="13" name="Rectangular Callout 9"/>
          <p:cNvSpPr/>
          <p:nvPr/>
        </p:nvSpPr>
        <p:spPr>
          <a:xfrm>
            <a:off x="1991544" y="3287077"/>
            <a:ext cx="2016224" cy="216024"/>
          </a:xfrm>
          <a:prstGeom prst="wedgeRectCallout">
            <a:avLst>
              <a:gd name="adj1" fmla="val -56346"/>
              <a:gd name="adj2" fmla="val -2352"/>
            </a:avLst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en-US" altLang="ko-KR" sz="900" i="1" dirty="0">
                <a:solidFill>
                  <a:prstClr val="black"/>
                </a:solidFill>
              </a:rPr>
              <a:t>Auto commit </a:t>
            </a:r>
            <a:r>
              <a:rPr lang="ko-KR" altLang="en-US" sz="900" i="1" dirty="0">
                <a:solidFill>
                  <a:prstClr val="black"/>
                </a:solidFill>
              </a:rPr>
              <a:t>설정</a:t>
            </a:r>
            <a:endParaRPr lang="en-US" altLang="ko-KR" sz="900" i="1" dirty="0">
              <a:solidFill>
                <a:prstClr val="black"/>
              </a:solidFill>
            </a:endParaRPr>
          </a:p>
        </p:txBody>
      </p:sp>
      <p:sp>
        <p:nvSpPr>
          <p:cNvPr id="14" name="Rectangular Callout 10"/>
          <p:cNvSpPr/>
          <p:nvPr/>
        </p:nvSpPr>
        <p:spPr>
          <a:xfrm>
            <a:off x="1153921" y="4126394"/>
            <a:ext cx="1471744" cy="216024"/>
          </a:xfrm>
          <a:prstGeom prst="wedgeRectCallout">
            <a:avLst>
              <a:gd name="adj1" fmla="val -56346"/>
              <a:gd name="adj2" fmla="val -46649"/>
            </a:avLst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en-US" altLang="ko-KR" sz="900" i="1">
                <a:solidFill>
                  <a:prstClr val="black"/>
                </a:solidFill>
              </a:rPr>
              <a:t>Commit </a:t>
            </a:r>
            <a:r>
              <a:rPr lang="ko-KR" altLang="en-US" sz="900" i="1" dirty="0">
                <a:solidFill>
                  <a:prstClr val="black"/>
                </a:solidFill>
              </a:rPr>
              <a:t>문장 불필요</a:t>
            </a:r>
            <a:endParaRPr lang="en-US" altLang="ko-KR" sz="900" i="1" dirty="0">
              <a:solidFill>
                <a:prstClr val="black"/>
              </a:solidFill>
            </a:endParaRPr>
          </a:p>
        </p:txBody>
      </p:sp>
      <p:sp>
        <p:nvSpPr>
          <p:cNvPr id="15" name="Rectangular Callout 11"/>
          <p:cNvSpPr/>
          <p:nvPr/>
        </p:nvSpPr>
        <p:spPr>
          <a:xfrm>
            <a:off x="2149764" y="4580007"/>
            <a:ext cx="1408576" cy="361161"/>
          </a:xfrm>
          <a:prstGeom prst="wedgeRectCallout">
            <a:avLst>
              <a:gd name="adj1" fmla="val -93876"/>
              <a:gd name="adj2" fmla="val -40715"/>
            </a:avLst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ko-KR" altLang="en-US" sz="900" i="1" dirty="0">
                <a:solidFill>
                  <a:prstClr val="black"/>
                </a:solidFill>
              </a:rPr>
              <a:t>실행 중 중단될 경우 </a:t>
            </a:r>
            <a:r>
              <a:rPr lang="en-US" altLang="ko-KR" sz="900" i="1" dirty="0">
                <a:solidFill>
                  <a:prstClr val="black"/>
                </a:solidFill>
              </a:rPr>
              <a:t>0</a:t>
            </a:r>
            <a:r>
              <a:rPr lang="ko-KR" altLang="en-US" sz="900" i="1" dirty="0">
                <a:solidFill>
                  <a:prstClr val="black"/>
                </a:solidFill>
              </a:rPr>
              <a:t>이 아닌값 리턴</a:t>
            </a:r>
            <a:endParaRPr lang="en-US" altLang="ko-KR" sz="900" i="1" dirty="0">
              <a:solidFill>
                <a:prstClr val="black"/>
              </a:solidFill>
            </a:endParaRPr>
          </a:p>
        </p:txBody>
      </p:sp>
      <p:sp>
        <p:nvSpPr>
          <p:cNvPr id="16" name="Rectangular Callout 12"/>
          <p:cNvSpPr/>
          <p:nvPr/>
        </p:nvSpPr>
        <p:spPr>
          <a:xfrm>
            <a:off x="8703320" y="1976135"/>
            <a:ext cx="1800200" cy="188764"/>
          </a:xfrm>
          <a:prstGeom prst="wedgeRectCallout">
            <a:avLst>
              <a:gd name="adj1" fmla="val -146621"/>
              <a:gd name="adj2" fmla="val -107289"/>
            </a:avLst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ko-KR" altLang="en-US" sz="900" i="1" dirty="0">
                <a:solidFill>
                  <a:prstClr val="black"/>
                </a:solidFill>
              </a:rPr>
              <a:t>쿼리 실행 시간 표시</a:t>
            </a:r>
            <a:endParaRPr lang="en-US" altLang="ko-KR" sz="900" i="1" dirty="0">
              <a:solidFill>
                <a:prstClr val="black"/>
              </a:solidFill>
            </a:endParaRPr>
          </a:p>
        </p:txBody>
      </p:sp>
      <p:sp>
        <p:nvSpPr>
          <p:cNvPr id="17" name="Rectangular Callout 13"/>
          <p:cNvSpPr/>
          <p:nvPr/>
        </p:nvSpPr>
        <p:spPr>
          <a:xfrm>
            <a:off x="7965509" y="2297488"/>
            <a:ext cx="1039476" cy="221227"/>
          </a:xfrm>
          <a:prstGeom prst="wedgeRectCallout">
            <a:avLst>
              <a:gd name="adj1" fmla="val -145989"/>
              <a:gd name="adj2" fmla="val -17055"/>
            </a:avLst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en-US" altLang="ko-KR" sz="900" i="1" dirty="0">
                <a:solidFill>
                  <a:prstClr val="black"/>
                </a:solidFill>
              </a:rPr>
              <a:t>OS</a:t>
            </a:r>
            <a:r>
              <a:rPr lang="ko-KR" altLang="en-US" sz="900" i="1" dirty="0">
                <a:solidFill>
                  <a:prstClr val="black"/>
                </a:solidFill>
              </a:rPr>
              <a:t>명령어 실행</a:t>
            </a:r>
            <a:endParaRPr lang="en-US" altLang="ko-KR" sz="900" i="1" dirty="0">
              <a:solidFill>
                <a:prstClr val="black"/>
              </a:solidFill>
            </a:endParaRPr>
          </a:p>
        </p:txBody>
      </p:sp>
      <p:sp>
        <p:nvSpPr>
          <p:cNvPr id="18" name="Rectangular Callout 14"/>
          <p:cNvSpPr/>
          <p:nvPr/>
        </p:nvSpPr>
        <p:spPr>
          <a:xfrm>
            <a:off x="7803220" y="3112268"/>
            <a:ext cx="1800200" cy="188764"/>
          </a:xfrm>
          <a:prstGeom prst="wedgeRectCallout">
            <a:avLst>
              <a:gd name="adj1" fmla="val -61699"/>
              <a:gd name="adj2" fmla="val -5108"/>
            </a:avLst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ko-KR" altLang="en-US" sz="900" i="1" dirty="0">
                <a:solidFill>
                  <a:prstClr val="black"/>
                </a:solidFill>
              </a:rPr>
              <a:t>단계별 </a:t>
            </a:r>
            <a:r>
              <a:rPr lang="en-US" altLang="ko-KR" sz="900" i="1" dirty="0">
                <a:solidFill>
                  <a:prstClr val="black"/>
                </a:solidFill>
              </a:rPr>
              <a:t>comment </a:t>
            </a:r>
            <a:r>
              <a:rPr lang="ko-KR" altLang="en-US" sz="900" i="1" dirty="0">
                <a:solidFill>
                  <a:prstClr val="black"/>
                </a:solidFill>
              </a:rPr>
              <a:t>표시</a:t>
            </a:r>
            <a:endParaRPr lang="en-US" altLang="ko-KR" sz="900" i="1" dirty="0">
              <a:solidFill>
                <a:prstClr val="black"/>
              </a:solidFill>
            </a:endParaRPr>
          </a:p>
        </p:txBody>
      </p:sp>
      <p:sp>
        <p:nvSpPr>
          <p:cNvPr id="19" name="Rectangular Callout 15"/>
          <p:cNvSpPr/>
          <p:nvPr/>
        </p:nvSpPr>
        <p:spPr>
          <a:xfrm>
            <a:off x="8893501" y="2671535"/>
            <a:ext cx="1419838" cy="234808"/>
          </a:xfrm>
          <a:prstGeom prst="wedgeRectCallout">
            <a:avLst>
              <a:gd name="adj1" fmla="val -132736"/>
              <a:gd name="adj2" fmla="val -95099"/>
            </a:avLst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ko-KR" altLang="en-US" sz="900" i="1" dirty="0">
                <a:solidFill>
                  <a:prstClr val="black"/>
                </a:solidFill>
              </a:rPr>
              <a:t>출력결과파일 지정</a:t>
            </a:r>
            <a:endParaRPr lang="en-US" altLang="ko-KR" sz="900" i="1" dirty="0">
              <a:solidFill>
                <a:prstClr val="black"/>
              </a:solidFill>
            </a:endParaRPr>
          </a:p>
        </p:txBody>
      </p:sp>
      <p:sp>
        <p:nvSpPr>
          <p:cNvPr id="20" name="Rectangular Callout 16"/>
          <p:cNvSpPr/>
          <p:nvPr/>
        </p:nvSpPr>
        <p:spPr>
          <a:xfrm>
            <a:off x="7176120" y="2762144"/>
            <a:ext cx="1419838" cy="234808"/>
          </a:xfrm>
          <a:prstGeom prst="wedgeRectCallout">
            <a:avLst>
              <a:gd name="adj1" fmla="val -80175"/>
              <a:gd name="adj2" fmla="val 51926"/>
            </a:avLst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ko-KR" altLang="en-US" sz="900" i="1" dirty="0">
                <a:solidFill>
                  <a:prstClr val="black"/>
                </a:solidFill>
              </a:rPr>
              <a:t>출력결과파일 리셋</a:t>
            </a:r>
            <a:endParaRPr lang="en-US" altLang="ko-KR" sz="900" i="1" dirty="0">
              <a:solidFill>
                <a:prstClr val="black"/>
              </a:solidFill>
            </a:endParaRPr>
          </a:p>
        </p:txBody>
      </p:sp>
      <p:sp>
        <p:nvSpPr>
          <p:cNvPr id="21" name="Rectangular Callout 17"/>
          <p:cNvSpPr/>
          <p:nvPr/>
        </p:nvSpPr>
        <p:spPr>
          <a:xfrm>
            <a:off x="9046740" y="1504392"/>
            <a:ext cx="1800200" cy="412439"/>
          </a:xfrm>
          <a:prstGeom prst="wedgeRectCallout">
            <a:avLst>
              <a:gd name="adj1" fmla="val -89874"/>
              <a:gd name="adj2" fmla="val -35384"/>
            </a:avLst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ko-KR" altLang="en-US" sz="900" i="1" dirty="0">
                <a:solidFill>
                  <a:prstClr val="black"/>
                </a:solidFill>
              </a:rPr>
              <a:t>쿼리 결과를 제외한 모든 화면 출력을 파일로 저장</a:t>
            </a:r>
            <a:endParaRPr lang="en-US" altLang="ko-KR" sz="900" i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5226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 err="1"/>
              <a:t>vsql</a:t>
            </a:r>
            <a:r>
              <a:rPr lang="en-US" altLang="ko-KR" sz="1100" b="1" dirty="0"/>
              <a:t> </a:t>
            </a:r>
            <a:r>
              <a:rPr lang="ko-KR" altLang="en-US" sz="1100" b="1" dirty="0"/>
              <a:t>옵션 응용</a:t>
            </a:r>
            <a:endParaRPr lang="en-US" altLang="ko-KR" sz="1100" b="1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1C7AAFC3-614C-4F80-8D11-8AD486AFD089}"/>
              </a:ext>
            </a:extLst>
          </p:cNvPr>
          <p:cNvSpPr txBox="1">
            <a:spLocks/>
          </p:cNvSpPr>
          <p:nvPr/>
        </p:nvSpPr>
        <p:spPr>
          <a:xfrm>
            <a:off x="609441" y="3861048"/>
            <a:ext cx="5314328" cy="24989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필드 및 레코드 구분자를 컨트롤 캐릭터로 설정하는 방법</a:t>
            </a:r>
            <a:r>
              <a:rPr lang="en-US" altLang="ko-KR" sz="1100" b="1" dirty="0"/>
              <a:t>(non printable characters)</a:t>
            </a:r>
          </a:p>
          <a:p>
            <a:pPr>
              <a:lnSpc>
                <a:spcPct val="100000"/>
              </a:lnSpc>
              <a:spcAft>
                <a:spcPts val="0"/>
              </a:spcAft>
              <a:buAutoNum type="arabicPeriod"/>
            </a:pPr>
            <a:r>
              <a:rPr lang="en-US" altLang="ko-KR" sz="1100" dirty="0" err="1"/>
              <a:t>vsql</a:t>
            </a:r>
            <a:r>
              <a:rPr lang="en-US" altLang="ko-KR" sz="1100" dirty="0"/>
              <a:t> </a:t>
            </a:r>
            <a:r>
              <a:rPr lang="ko-KR" altLang="en-US" sz="1100" dirty="0"/>
              <a:t>내에서 설정</a:t>
            </a: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  <a:buAutoNum type="arabicPeriod"/>
            </a:pPr>
            <a:endParaRPr lang="en-US" altLang="ko-KR" sz="1100" b="1" dirty="0"/>
          </a:p>
          <a:p>
            <a:pPr>
              <a:lnSpc>
                <a:spcPct val="100000"/>
              </a:lnSpc>
              <a:spcAft>
                <a:spcPts val="0"/>
              </a:spcAft>
              <a:buAutoNum type="arabicPeriod"/>
            </a:pPr>
            <a:endParaRPr lang="en-US" altLang="ko-KR" sz="1100" b="1" dirty="0"/>
          </a:p>
          <a:p>
            <a:pPr>
              <a:lnSpc>
                <a:spcPct val="100000"/>
              </a:lnSpc>
              <a:spcAft>
                <a:spcPts val="0"/>
              </a:spcAft>
              <a:buAutoNum type="arabicPeriod"/>
            </a:pPr>
            <a:endParaRPr lang="en-US" altLang="ko-KR" sz="1100" b="1" dirty="0"/>
          </a:p>
          <a:p>
            <a:pPr>
              <a:lnSpc>
                <a:spcPct val="100000"/>
              </a:lnSpc>
              <a:spcAft>
                <a:spcPts val="0"/>
              </a:spcAft>
              <a:buAutoNum type="arabicPeriod"/>
            </a:pPr>
            <a:endParaRPr lang="en-US" altLang="ko-KR" sz="1100" b="1" dirty="0"/>
          </a:p>
          <a:p>
            <a:pPr>
              <a:lnSpc>
                <a:spcPct val="100000"/>
              </a:lnSpc>
              <a:spcAft>
                <a:spcPts val="0"/>
              </a:spcAft>
              <a:buAutoNum type="arabicPeriod"/>
            </a:pPr>
            <a:endParaRPr lang="en-US" altLang="ko-KR" sz="1100" b="1" dirty="0"/>
          </a:p>
          <a:p>
            <a:pPr>
              <a:lnSpc>
                <a:spcPct val="100000"/>
              </a:lnSpc>
              <a:spcAft>
                <a:spcPts val="0"/>
              </a:spcAft>
              <a:buAutoNum type="arabicPeriod"/>
            </a:pPr>
            <a:r>
              <a:rPr lang="en-US" altLang="ko-KR" sz="1100" dirty="0" err="1"/>
              <a:t>vsql</a:t>
            </a:r>
            <a:r>
              <a:rPr lang="en-US" altLang="ko-KR" sz="1100" dirty="0"/>
              <a:t> </a:t>
            </a:r>
            <a:r>
              <a:rPr lang="ko-KR" altLang="en-US" sz="1100" dirty="0"/>
              <a:t>옵션으로 설정</a:t>
            </a: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  <a:buAutoNum type="arabicPeriod"/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  <a:buAutoNum type="arabicPeriod"/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  <a:buAutoNum type="arabicPeriod"/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  <a:buAutoNum type="arabicPeriod"/>
            </a:pPr>
            <a:r>
              <a:rPr lang="ko-KR" altLang="en-US" sz="1100" dirty="0"/>
              <a:t>위에서 </a:t>
            </a:r>
            <a:r>
              <a:rPr lang="en-US" altLang="ko-KR" sz="1100" dirty="0"/>
              <a:t>export </a:t>
            </a:r>
            <a:r>
              <a:rPr lang="ko-KR" altLang="en-US" sz="1100" dirty="0"/>
              <a:t>한 데이터를 </a:t>
            </a:r>
            <a:r>
              <a:rPr lang="en-US" altLang="ko-KR" sz="1100" dirty="0"/>
              <a:t>import </a:t>
            </a:r>
            <a:r>
              <a:rPr lang="ko-KR" altLang="en-US" sz="1100" dirty="0"/>
              <a:t>할 경우</a:t>
            </a:r>
            <a:endParaRPr lang="en-US" altLang="ko-KR" sz="1100" dirty="0"/>
          </a:p>
        </p:txBody>
      </p:sp>
      <p:sp>
        <p:nvSpPr>
          <p:cNvPr id="18" name="Rounded Rectangle 7">
            <a:extLst>
              <a:ext uri="{FF2B5EF4-FFF2-40B4-BE49-F238E27FC236}">
                <a16:creationId xmlns:a16="http://schemas.microsoft.com/office/drawing/2014/main" id="{7DDC7225-A381-433C-B3FB-51AC9C44D8D1}"/>
              </a:ext>
            </a:extLst>
          </p:cNvPr>
          <p:cNvSpPr/>
          <p:nvPr/>
        </p:nvSpPr>
        <p:spPr>
          <a:xfrm>
            <a:off x="624289" y="5966058"/>
            <a:ext cx="5124931" cy="268436"/>
          </a:xfrm>
          <a:prstGeom prst="roundRect">
            <a:avLst>
              <a:gd name="adj" fmla="val 714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 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vsql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–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c”copy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t from ‘/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/1’ delimiter </a:t>
            </a:r>
            <a:r>
              <a:rPr lang="en-US" altLang="ko-KR" sz="900" b="1" dirty="0">
                <a:solidFill>
                  <a:schemeClr val="accent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E’\033’</a:t>
            </a:r>
          </a:p>
          <a:p>
            <a:pPr>
              <a:lnSpc>
                <a:spcPts val="1200"/>
              </a:lnSpc>
            </a:pPr>
            <a:endParaRPr lang="en-US" altLang="ko-KR" sz="900" dirty="0">
              <a:solidFill>
                <a:schemeClr val="bg1"/>
              </a:solidFill>
              <a:cs typeface="Courier New" panose="02070309020205020404" pitchFamily="49" charset="0"/>
            </a:endParaRPr>
          </a:p>
        </p:txBody>
      </p:sp>
      <p:sp>
        <p:nvSpPr>
          <p:cNvPr id="16" name="Rounded Rectangle 7">
            <a:extLst>
              <a:ext uri="{FF2B5EF4-FFF2-40B4-BE49-F238E27FC236}">
                <a16:creationId xmlns:a16="http://schemas.microsoft.com/office/drawing/2014/main" id="{65890A86-0636-49D1-B89C-99AF0F84BB51}"/>
              </a:ext>
            </a:extLst>
          </p:cNvPr>
          <p:cNvSpPr/>
          <p:nvPr/>
        </p:nvSpPr>
        <p:spPr>
          <a:xfrm>
            <a:off x="624289" y="5280058"/>
            <a:ext cx="5124931" cy="268436"/>
          </a:xfrm>
          <a:prstGeom prst="roundRect">
            <a:avLst>
              <a:gd name="adj" fmla="val 714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 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vsql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-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tqAF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900" b="1" dirty="0">
                <a:solidFill>
                  <a:schemeClr val="accent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$'\033'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-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c"select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1,2" -o /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/1 </a:t>
            </a:r>
          </a:p>
          <a:p>
            <a:pPr>
              <a:lnSpc>
                <a:spcPts val="1200"/>
              </a:lnSpc>
            </a:pPr>
            <a:endParaRPr lang="en-US" altLang="ko-KR" sz="900" dirty="0">
              <a:solidFill>
                <a:schemeClr val="bg1"/>
              </a:solidFill>
              <a:cs typeface="Courier New" panose="02070309020205020404" pitchFamily="49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 err="1"/>
              <a:t>vsql</a:t>
            </a:r>
            <a:r>
              <a:rPr lang="ko-KR" altLang="en-US" sz="2800" dirty="0"/>
              <a:t>을 이용하여 데이터 </a:t>
            </a:r>
            <a:r>
              <a:rPr lang="en-US" altLang="ko-KR" sz="2800" dirty="0"/>
              <a:t>Export</a:t>
            </a:r>
            <a:endParaRPr lang="ko-KR" altLang="en-US" sz="28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VSQL</a:t>
            </a:r>
            <a:r>
              <a:rPr lang="ko-KR" altLang="en-US" dirty="0"/>
              <a:t>로 스크립트 작성</a:t>
            </a:r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ko-KR" altLang="en-US" sz="1100" dirty="0"/>
          </a:p>
        </p:txBody>
      </p:sp>
      <p:graphicFrame>
        <p:nvGraphicFramePr>
          <p:cNvPr id="8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9651285"/>
              </p:ext>
            </p:extLst>
          </p:nvPr>
        </p:nvGraphicFramePr>
        <p:xfrm>
          <a:off x="602452" y="1556792"/>
          <a:ext cx="5662602" cy="204539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17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1222">
                  <a:extLst>
                    <a:ext uri="{9D8B030D-6E8A-4147-A177-3AD203B41FA5}">
                      <a16:colId xmlns:a16="http://schemas.microsoft.com/office/drawing/2014/main" val="41129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메타 명령어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커맨드라인 명령어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공백 제거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990" marR="85990" marT="42995" marB="4299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2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\a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990" marR="85990" marT="42995" marB="42995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3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-A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 or </a:t>
                      </a:r>
                      <a:r>
                        <a:rPr lang="en-US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--no-align</a:t>
                      </a:r>
                    </a:p>
                  </a:txBody>
                  <a:tcPr marL="85990" marR="85990" marT="42995" marB="42995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990" marR="85990" marT="42995" marB="42995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데이터만 출력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990" marR="85990" marT="42995" marB="4299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4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\t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990" marR="85990" marT="42995" marB="42995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5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-t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 </a:t>
                      </a:r>
                      <a:r>
                        <a:rPr lang="en-US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or --tuples-only</a:t>
                      </a:r>
                    </a:p>
                  </a:txBody>
                  <a:tcPr marL="85990" marR="85990" marT="42995" marB="42995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endParaRPr lang="en-US" sz="100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990" marR="85990" marT="42995" marB="42995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995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필드 구분자 설정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990" marR="85990" marT="42995" marB="429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6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\</a:t>
                      </a:r>
                      <a:r>
                        <a:rPr lang="en-US" sz="100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6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pset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 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fieldsep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990" marR="85990" marT="42995" marB="42995"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7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-F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 or -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Pfieldsep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990" marR="85990" marT="42995" marB="42995"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t"/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format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unaligned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설정되어야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구분자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설정 변경 가능</a:t>
                      </a:r>
                      <a:endParaRPr lang="en-US" altLang="ko-KR" sz="10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fontAlgn="t"/>
                      <a:endParaRPr lang="en-US" altLang="ko-KR" sz="10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fontAlgn="t"/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\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pset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format unaligned</a:t>
                      </a:r>
                    </a:p>
                  </a:txBody>
                  <a:tcPr marL="85990" marR="85990" marT="42995" marB="42995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995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레코드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구분자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설정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990" marR="85990" marT="42995" marB="429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\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pset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recordsep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990" marR="85990" marT="42995" marB="42995"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-R or -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Precordsep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990" marR="85990" marT="42995" marB="42995"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t"/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990" marR="85990" marT="42995" marB="42995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987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출력 파일 설정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990" marR="85990" marT="42995" marB="4299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8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\o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990" marR="85990" marT="42995" marB="42995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9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-o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 or --output</a:t>
                      </a:r>
                    </a:p>
                  </a:txBody>
                  <a:tcPr marL="85990" marR="85990" marT="42995" marB="42995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990" marR="85990" marT="42995" marB="42995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SQL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구문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990" marR="85990" marT="42995" marB="4299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85990" marR="85990" marT="42995" marB="42995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10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-c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 or --command</a:t>
                      </a:r>
                    </a:p>
                  </a:txBody>
                  <a:tcPr marL="85990" marR="85990" marT="42995" marB="42995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990" marR="85990" marT="42995" marB="42995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7"/>
          <p:cNvSpPr/>
          <p:nvPr/>
        </p:nvSpPr>
        <p:spPr>
          <a:xfrm>
            <a:off x="6415161" y="1213622"/>
            <a:ext cx="5124931" cy="1153525"/>
          </a:xfrm>
          <a:prstGeom prst="roundRect">
            <a:avLst>
              <a:gd name="adj" fmla="val 714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 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vsql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-F $'\t' -At -o dumpfile.txt -c "SELECT * FROM 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my_table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 cat dumpfile.txt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       one     1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       two     2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       three   3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       four    4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       five    5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6454453" y="2502695"/>
            <a:ext cx="5124931" cy="3925252"/>
          </a:xfrm>
          <a:prstGeom prst="roundRect">
            <a:avLst>
              <a:gd name="adj" fmla="val 3257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 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vsql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=&gt; SELECT * FROM 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my_table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a |   b   | c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---+-------+---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a | one   | 1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b | two   | 2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c | three | 3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d | four  | 4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e | five  | 5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(5 rows)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=&gt; \a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Output format is unaligned.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=&gt; \t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Showing only tuples.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=&gt; \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pset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fieldsep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'\t'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Field separator is "    ".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=&gt; \o dumpfile.txt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=&gt; select * from 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my_table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=&gt; \o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=&gt; \! cat dumpfile.txt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       one     1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       two     2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       three   3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       four    4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       five    5</a:t>
            </a:r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65D633B1-6D45-4CCD-B369-BA52B3FBD42B}"/>
              </a:ext>
            </a:extLst>
          </p:cNvPr>
          <p:cNvSpPr/>
          <p:nvPr/>
        </p:nvSpPr>
        <p:spPr>
          <a:xfrm>
            <a:off x="624289" y="4233220"/>
            <a:ext cx="5124931" cy="707948"/>
          </a:xfrm>
          <a:prstGeom prst="roundRect">
            <a:avLst>
              <a:gd name="adj" fmla="val 714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1200"/>
              </a:lnSpc>
            </a:pP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vertica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=&gt;  \o /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output.txt</a:t>
            </a:r>
            <a:endParaRPr lang="en-US" altLang="ko-KR" sz="9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lnSpc>
                <a:spcPts val="1200"/>
              </a:lnSpc>
            </a:pP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vertica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=&gt; \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pset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format unaligned</a:t>
            </a:r>
          </a:p>
          <a:p>
            <a:pPr>
              <a:lnSpc>
                <a:spcPts val="1200"/>
              </a:lnSpc>
            </a:pP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vertica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=&gt; \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pset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fieldsep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900" b="1" dirty="0">
                <a:solidFill>
                  <a:schemeClr val="accent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'\033'</a:t>
            </a:r>
          </a:p>
          <a:p>
            <a:pPr>
              <a:lnSpc>
                <a:spcPts val="1200"/>
              </a:lnSpc>
            </a:pP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vertica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=&gt;\o</a:t>
            </a:r>
          </a:p>
          <a:p>
            <a:pPr>
              <a:lnSpc>
                <a:spcPts val="1200"/>
              </a:lnSpc>
            </a:pPr>
            <a:endParaRPr lang="en-US" altLang="ko-KR" sz="900" dirty="0">
              <a:solidFill>
                <a:schemeClr val="bg1"/>
              </a:solidFill>
              <a:cs typeface="Courier New" panose="02070309020205020404" pitchFamily="49" charset="0"/>
            </a:endParaRPr>
          </a:p>
        </p:txBody>
      </p:sp>
      <p:sp>
        <p:nvSpPr>
          <p:cNvPr id="13" name="Rectangular Callout 17">
            <a:extLst>
              <a:ext uri="{FF2B5EF4-FFF2-40B4-BE49-F238E27FC236}">
                <a16:creationId xmlns:a16="http://schemas.microsoft.com/office/drawing/2014/main" id="{AAF86BC2-F20D-4CDE-8F50-ED4F91783E18}"/>
              </a:ext>
            </a:extLst>
          </p:cNvPr>
          <p:cNvSpPr/>
          <p:nvPr/>
        </p:nvSpPr>
        <p:spPr>
          <a:xfrm>
            <a:off x="3288916" y="4321341"/>
            <a:ext cx="1800200" cy="412439"/>
          </a:xfrm>
          <a:prstGeom prst="wedgeRectCallout">
            <a:avLst>
              <a:gd name="adj1" fmla="val -80372"/>
              <a:gd name="adj2" fmla="val 35806"/>
            </a:avLst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en-US" altLang="ko-KR" sz="900" i="1" dirty="0">
                <a:solidFill>
                  <a:prstClr val="black"/>
                </a:solidFill>
              </a:rPr>
              <a:t>Escape </a:t>
            </a:r>
            <a:r>
              <a:rPr lang="ko-KR" altLang="en-US" sz="900" i="1" dirty="0">
                <a:solidFill>
                  <a:prstClr val="black"/>
                </a:solidFill>
              </a:rPr>
              <a:t>컨트롤 캐릭터를 의미하는 </a:t>
            </a:r>
            <a:r>
              <a:rPr lang="en-US" altLang="ko-KR" sz="900" i="1" dirty="0">
                <a:solidFill>
                  <a:prstClr val="black"/>
                </a:solidFill>
              </a:rPr>
              <a:t>octal value = 033</a:t>
            </a:r>
          </a:p>
        </p:txBody>
      </p:sp>
      <p:sp>
        <p:nvSpPr>
          <p:cNvPr id="19" name="Rectangular Callout 17">
            <a:extLst>
              <a:ext uri="{FF2B5EF4-FFF2-40B4-BE49-F238E27FC236}">
                <a16:creationId xmlns:a16="http://schemas.microsoft.com/office/drawing/2014/main" id="{98673173-2156-4B2E-BE3B-631A28DFB58D}"/>
              </a:ext>
            </a:extLst>
          </p:cNvPr>
          <p:cNvSpPr/>
          <p:nvPr/>
        </p:nvSpPr>
        <p:spPr>
          <a:xfrm>
            <a:off x="4388911" y="5678956"/>
            <a:ext cx="1800200" cy="412439"/>
          </a:xfrm>
          <a:prstGeom prst="wedgeRectCallout">
            <a:avLst>
              <a:gd name="adj1" fmla="val -80838"/>
              <a:gd name="adj2" fmla="val 50044"/>
            </a:avLst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en-US" altLang="ko-KR" sz="900" i="1" dirty="0">
                <a:solidFill>
                  <a:prstClr val="black"/>
                </a:solidFill>
              </a:rPr>
              <a:t>export</a:t>
            </a:r>
            <a:r>
              <a:rPr lang="ko-KR" altLang="en-US" sz="900" i="1" dirty="0">
                <a:solidFill>
                  <a:prstClr val="black"/>
                </a:solidFill>
              </a:rPr>
              <a:t> 시 설정한 구분자를</a:t>
            </a:r>
            <a:endParaRPr lang="en-US" altLang="ko-KR" sz="900" i="1" dirty="0">
              <a:solidFill>
                <a:prstClr val="black"/>
              </a:solidFill>
            </a:endParaRPr>
          </a:p>
          <a:p>
            <a:pPr lvl="0">
              <a:lnSpc>
                <a:spcPts val="1200"/>
              </a:lnSpc>
            </a:pPr>
            <a:r>
              <a:rPr lang="en-US" altLang="ko-KR" sz="900" i="1" dirty="0">
                <a:solidFill>
                  <a:prstClr val="black"/>
                </a:solidFill>
              </a:rPr>
              <a:t>extended string </a:t>
            </a:r>
            <a:r>
              <a:rPr lang="ko-KR" altLang="en-US" sz="900" i="1" dirty="0">
                <a:solidFill>
                  <a:prstClr val="black"/>
                </a:solidFill>
              </a:rPr>
              <a:t>옵션으로 지정</a:t>
            </a:r>
            <a:endParaRPr lang="en-US" altLang="ko-KR" sz="900" i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04810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 err="1"/>
              <a:t>vsql</a:t>
            </a:r>
            <a:r>
              <a:rPr lang="ko-KR" altLang="en-US" sz="2800" dirty="0"/>
              <a:t>을 이용하여 데이터 </a:t>
            </a:r>
            <a:r>
              <a:rPr lang="en-US" altLang="ko-KR" sz="2800" dirty="0"/>
              <a:t>Export </a:t>
            </a:r>
            <a:r>
              <a:rPr lang="en-US" altLang="ko-KR" sz="1500" dirty="0"/>
              <a:t>– cont.</a:t>
            </a:r>
            <a:endParaRPr lang="ko-KR" altLang="en-US" sz="15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VSQL</a:t>
            </a:r>
            <a:r>
              <a:rPr lang="ko-KR" altLang="en-US" dirty="0"/>
              <a:t>로 스크립트 작성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5DF15ECF-A8D7-4D63-96AA-52E1D5030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 err="1"/>
              <a:t>Paralle</a:t>
            </a:r>
            <a:r>
              <a:rPr lang="en-US" altLang="ko-KR" sz="1100" b="1" dirty="0"/>
              <a:t> export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dirty="0" err="1"/>
              <a:t>카디널리티가</a:t>
            </a:r>
            <a:r>
              <a:rPr lang="ko-KR" altLang="en-US" sz="1100" dirty="0"/>
              <a:t> 높은 데이터가 포함된 컬럼에 </a:t>
            </a:r>
            <a:r>
              <a:rPr lang="en-US" altLang="ko-KR" sz="1100" dirty="0"/>
              <a:t>hash </a:t>
            </a:r>
            <a:r>
              <a:rPr lang="ko-KR" altLang="en-US" sz="1100" dirty="0"/>
              <a:t>함수를 적용하여 </a:t>
            </a:r>
            <a:r>
              <a:rPr lang="en-US" altLang="ko-KR" sz="1100" dirty="0"/>
              <a:t>n </a:t>
            </a:r>
            <a:r>
              <a:rPr lang="ko-KR" altLang="en-US" sz="1100" dirty="0"/>
              <a:t>건으로 나누어 추출</a:t>
            </a:r>
            <a:endParaRPr lang="en-US" altLang="ko-KR" sz="1100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038F61E-CC5A-49E8-BD0B-4986EE7E1037}"/>
              </a:ext>
            </a:extLst>
          </p:cNvPr>
          <p:cNvSpPr/>
          <p:nvPr/>
        </p:nvSpPr>
        <p:spPr>
          <a:xfrm>
            <a:off x="636857" y="1916832"/>
            <a:ext cx="5963199" cy="1153525"/>
          </a:xfrm>
          <a:prstGeom prst="roundRect">
            <a:avLst>
              <a:gd name="adj" fmla="val 714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 for n in {0..3}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do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vsql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-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tqAc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"SELECT * FROM &lt;table&gt; WHERE </a:t>
            </a:r>
            <a:r>
              <a:rPr lang="en-US" altLang="ko-KR" sz="900" b="1" dirty="0">
                <a:solidFill>
                  <a:schemeClr val="accent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hash(&lt;column&gt;) % 4 = ${n}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 –o file_${n} </a:t>
            </a:r>
            <a:r>
              <a:rPr lang="en-US" altLang="ko-KR" sz="900" b="1" dirty="0">
                <a:solidFill>
                  <a:schemeClr val="accent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27713769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 err="1"/>
              <a:t>vsql</a:t>
            </a:r>
            <a:r>
              <a:rPr lang="ko-KR" altLang="en-US" sz="2800" dirty="0"/>
              <a:t>을 이용하여 데이터 </a:t>
            </a:r>
            <a:r>
              <a:rPr lang="en-US" altLang="ko-KR" sz="2800" dirty="0"/>
              <a:t>Export </a:t>
            </a:r>
            <a:r>
              <a:rPr lang="en-US" altLang="ko-KR" sz="1500" dirty="0"/>
              <a:t>– cont.</a:t>
            </a:r>
            <a:endParaRPr lang="ko-KR" altLang="en-US" sz="15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VSQL</a:t>
            </a:r>
            <a:r>
              <a:rPr lang="ko-KR" altLang="en-US" dirty="0"/>
              <a:t>로 스크립트 작성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568CE07-ADAD-4A46-AEEA-CC0D3CB7E8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508188"/>
              </p:ext>
            </p:extLst>
          </p:nvPr>
        </p:nvGraphicFramePr>
        <p:xfrm>
          <a:off x="695400" y="1542623"/>
          <a:ext cx="6912769" cy="478435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20673">
                  <a:extLst>
                    <a:ext uri="{9D8B030D-6E8A-4147-A177-3AD203B41FA5}">
                      <a16:colId xmlns:a16="http://schemas.microsoft.com/office/drawing/2014/main" val="3895150385"/>
                    </a:ext>
                  </a:extLst>
                </a:gridCol>
                <a:gridCol w="644436">
                  <a:extLst>
                    <a:ext uri="{9D8B030D-6E8A-4147-A177-3AD203B41FA5}">
                      <a16:colId xmlns:a16="http://schemas.microsoft.com/office/drawing/2014/main" val="4057999904"/>
                    </a:ext>
                  </a:extLst>
                </a:gridCol>
                <a:gridCol w="644436">
                  <a:extLst>
                    <a:ext uri="{9D8B030D-6E8A-4147-A177-3AD203B41FA5}">
                      <a16:colId xmlns:a16="http://schemas.microsoft.com/office/drawing/2014/main" val="2678590713"/>
                    </a:ext>
                  </a:extLst>
                </a:gridCol>
                <a:gridCol w="644436">
                  <a:extLst>
                    <a:ext uri="{9D8B030D-6E8A-4147-A177-3AD203B41FA5}">
                      <a16:colId xmlns:a16="http://schemas.microsoft.com/office/drawing/2014/main" val="3183776640"/>
                    </a:ext>
                  </a:extLst>
                </a:gridCol>
                <a:gridCol w="958387">
                  <a:extLst>
                    <a:ext uri="{9D8B030D-6E8A-4147-A177-3AD203B41FA5}">
                      <a16:colId xmlns:a16="http://schemas.microsoft.com/office/drawing/2014/main" val="2684638116"/>
                    </a:ext>
                  </a:extLst>
                </a:gridCol>
                <a:gridCol w="3600401">
                  <a:extLst>
                    <a:ext uri="{9D8B030D-6E8A-4147-A177-3AD203B41FA5}">
                      <a16:colId xmlns:a16="http://schemas.microsoft.com/office/drawing/2014/main" val="3815682363"/>
                    </a:ext>
                  </a:extLst>
                </a:gridCol>
              </a:tblGrid>
              <a:tr h="11229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Char</a:t>
                      </a: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Oct</a:t>
                      </a: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Dec</a:t>
                      </a: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Hex</a:t>
                      </a: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Control-Key</a:t>
                      </a: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Control Action</a:t>
                      </a: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179440"/>
                  </a:ext>
                </a:extLst>
              </a:tr>
              <a:tr h="141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NUL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^@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Null character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784941"/>
                  </a:ext>
                </a:extLst>
              </a:tr>
              <a:tr h="141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SOH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1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^A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Start of heading, = console interrupt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1826718"/>
                  </a:ext>
                </a:extLst>
              </a:tr>
              <a:tr h="141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STX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2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^B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Start of text, maintenance mode on HP console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6239115"/>
                  </a:ext>
                </a:extLst>
              </a:tr>
              <a:tr h="141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ETX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3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^C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End of text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4065966"/>
                  </a:ext>
                </a:extLst>
              </a:tr>
              <a:tr h="141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EOT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4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4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^D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End of transmission, not the same as ETB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484349"/>
                  </a:ext>
                </a:extLst>
              </a:tr>
              <a:tr h="141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ENQ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5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^E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Enquiry, goes with ACK; old HP flow control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0780385"/>
                  </a:ext>
                </a:extLst>
              </a:tr>
              <a:tr h="141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ACK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^F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Acknowledge, clears </a:t>
                      </a:r>
                      <a:r>
                        <a:rPr lang="en-US" sz="900" u="none" strike="noStrike" dirty="0" err="1">
                          <a:effectLst/>
                        </a:rPr>
                        <a:t>ENQ</a:t>
                      </a:r>
                      <a:r>
                        <a:rPr lang="en-US" sz="900" u="none" strike="noStrike" dirty="0">
                          <a:effectLst/>
                        </a:rPr>
                        <a:t> logon hand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4924267"/>
                  </a:ext>
                </a:extLst>
              </a:tr>
              <a:tr h="141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BEL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^G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Bell, rings the bell...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1464439"/>
                  </a:ext>
                </a:extLst>
              </a:tr>
              <a:tr h="141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BS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^H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Backspace, works on HP terminals/computers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2598906"/>
                  </a:ext>
                </a:extLst>
              </a:tr>
              <a:tr h="141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HT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9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9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^I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Horizontal tab, move to next tab stop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8856447"/>
                  </a:ext>
                </a:extLst>
              </a:tr>
              <a:tr h="141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LF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^J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Line Feed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339066"/>
                  </a:ext>
                </a:extLst>
              </a:tr>
              <a:tr h="141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VT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b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^K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Vertical tab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6438833"/>
                  </a:ext>
                </a:extLst>
              </a:tr>
              <a:tr h="141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FF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c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^L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Form Feed, page eject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6948835"/>
                  </a:ext>
                </a:extLst>
              </a:tr>
              <a:tr h="141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CR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^M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Carriage Return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5455743"/>
                  </a:ext>
                </a:extLst>
              </a:tr>
              <a:tr h="141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SO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^N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Shift Out, alternate character set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1319679"/>
                  </a:ext>
                </a:extLst>
              </a:tr>
              <a:tr h="141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SI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f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^O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Shift In, resume defaultn character set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144932"/>
                  </a:ext>
                </a:extLst>
              </a:tr>
              <a:tr h="141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DLE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20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^P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Data link escape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861726"/>
                  </a:ext>
                </a:extLst>
              </a:tr>
              <a:tr h="141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DC1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21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^Q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 err="1">
                          <a:effectLst/>
                        </a:rPr>
                        <a:t>XON</a:t>
                      </a:r>
                      <a:r>
                        <a:rPr lang="en-US" sz="900" u="none" strike="noStrike" dirty="0">
                          <a:effectLst/>
                        </a:rPr>
                        <a:t>, with </a:t>
                      </a:r>
                      <a:r>
                        <a:rPr lang="en-US" sz="900" u="none" strike="noStrike" dirty="0" err="1">
                          <a:effectLst/>
                        </a:rPr>
                        <a:t>XOFF</a:t>
                      </a:r>
                      <a:r>
                        <a:rPr lang="en-US" sz="900" u="none" strike="noStrike" dirty="0">
                          <a:effectLst/>
                        </a:rPr>
                        <a:t> to pause listings; ":okay to send".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1719514"/>
                  </a:ext>
                </a:extLst>
              </a:tr>
              <a:tr h="141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DC2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22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^R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Device control 2, block-mode flow control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1146900"/>
                  </a:ext>
                </a:extLst>
              </a:tr>
              <a:tr h="141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DC3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23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19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^S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 err="1">
                          <a:effectLst/>
                        </a:rPr>
                        <a:t>XOFF</a:t>
                      </a:r>
                      <a:r>
                        <a:rPr lang="en-US" sz="900" u="none" strike="noStrike" dirty="0">
                          <a:effectLst/>
                        </a:rPr>
                        <a:t>, with </a:t>
                      </a:r>
                      <a:r>
                        <a:rPr lang="en-US" sz="900" u="none" strike="noStrike" dirty="0" err="1">
                          <a:effectLst/>
                        </a:rPr>
                        <a:t>XON</a:t>
                      </a:r>
                      <a:r>
                        <a:rPr lang="en-US" sz="900" u="none" strike="noStrike" dirty="0">
                          <a:effectLst/>
                        </a:rPr>
                        <a:t> is TERM=18 flow control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3196795"/>
                  </a:ext>
                </a:extLst>
              </a:tr>
              <a:tr h="141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DC4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24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20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^T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Device control 4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227378"/>
                  </a:ext>
                </a:extLst>
              </a:tr>
              <a:tr h="141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NAK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25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21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^U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Negative acknowledge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6405140"/>
                  </a:ext>
                </a:extLst>
              </a:tr>
              <a:tr h="141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SYN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26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22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^V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Synchronous idle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0517817"/>
                  </a:ext>
                </a:extLst>
              </a:tr>
              <a:tr h="141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ETB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27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23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^W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End transmission block, not the same as </a:t>
                      </a:r>
                      <a:r>
                        <a:rPr lang="en-US" sz="900" u="none" strike="noStrike" dirty="0" err="1">
                          <a:effectLst/>
                        </a:rPr>
                        <a:t>EOT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612837"/>
                  </a:ext>
                </a:extLst>
              </a:tr>
              <a:tr h="141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CAN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30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24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^X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Cancel line, </a:t>
                      </a:r>
                      <a:r>
                        <a:rPr lang="en-US" sz="900" u="none" strike="noStrike" dirty="0" err="1">
                          <a:effectLst/>
                        </a:rPr>
                        <a:t>MPE</a:t>
                      </a:r>
                      <a:r>
                        <a:rPr lang="en-US" sz="900" u="none" strike="noStrike" dirty="0">
                          <a:effectLst/>
                        </a:rPr>
                        <a:t> echoes !!!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1823001"/>
                  </a:ext>
                </a:extLst>
              </a:tr>
              <a:tr h="141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EM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31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25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19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^Y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End of medium, Control-Y interrupt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235905"/>
                  </a:ext>
                </a:extLst>
              </a:tr>
              <a:tr h="141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SUB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32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26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^Z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Substitute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561430"/>
                  </a:ext>
                </a:extLst>
              </a:tr>
              <a:tr h="141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ESC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33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27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1b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^[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Escape, next character is not echoed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8729065"/>
                  </a:ext>
                </a:extLst>
              </a:tr>
              <a:tr h="141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FS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34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28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1c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^\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File separator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948332"/>
                  </a:ext>
                </a:extLst>
              </a:tr>
              <a:tr h="141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GS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35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29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^]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Group separator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5962394"/>
                  </a:ext>
                </a:extLst>
              </a:tr>
              <a:tr h="141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RS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36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30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^^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Record separator, block-mode terminator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4802695"/>
                  </a:ext>
                </a:extLst>
              </a:tr>
              <a:tr h="141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US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37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31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1f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^_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Unit separator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6148395"/>
                  </a:ext>
                </a:extLst>
              </a:tr>
            </a:tbl>
          </a:graphicData>
        </a:graphic>
      </p:graphicFrame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5DF15ECF-A8D7-4D63-96AA-52E1D5030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control character set</a:t>
            </a:r>
          </a:p>
        </p:txBody>
      </p:sp>
    </p:spTree>
    <p:extLst>
      <p:ext uri="{BB962C8B-B14F-4D97-AF65-F5344CB8AC3E}">
        <p14:creationId xmlns:p14="http://schemas.microsoft.com/office/powerpoint/2010/main" val="8523325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07367" y="1093961"/>
            <a:ext cx="10579609" cy="1038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000" dirty="0"/>
              <a:t>데이터 로드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0080839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err="1"/>
              <a:t>하이브리드</a:t>
            </a:r>
            <a:r>
              <a:rPr lang="ko-KR" altLang="en-US" sz="2800" dirty="0"/>
              <a:t> 데이터 저장 구조 </a:t>
            </a:r>
            <a:r>
              <a:rPr lang="en-US" altLang="ko-KR" sz="2800" dirty="0"/>
              <a:t>(WOS/ROS)</a:t>
            </a:r>
            <a:endParaRPr lang="ko-KR" altLang="en-US" sz="28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데이터 로드</a:t>
            </a:r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요약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WOS (Write Optimized Store)</a:t>
            </a:r>
            <a:endParaRPr lang="en-US" altLang="ko-KR" sz="800" dirty="0">
              <a:solidFill>
                <a:srgbClr val="FF0000"/>
              </a:solidFill>
            </a:endParaRP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 err="1"/>
              <a:t>인메모리</a:t>
            </a:r>
            <a:r>
              <a:rPr lang="ko-KR" altLang="en-US" sz="1100" dirty="0"/>
              <a:t> 저장 영역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짧고 빈번한 주기의 데이터 적재에 최적화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ROS (Read Optimized Store)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 err="1"/>
              <a:t>온디스크</a:t>
            </a:r>
            <a:r>
              <a:rPr lang="ko-KR" altLang="en-US" sz="1100" dirty="0"/>
              <a:t> 저장 영역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대량 데이터 읽기 처리에 최적화</a:t>
            </a: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Tuple Mover</a:t>
            </a:r>
            <a:r>
              <a:rPr lang="ko-KR" altLang="en-US" sz="1100" b="1" dirty="0"/>
              <a:t>에 의해 </a:t>
            </a:r>
            <a:r>
              <a:rPr lang="en-US" altLang="ko-KR" sz="1100" b="1" dirty="0"/>
              <a:t>WOS</a:t>
            </a:r>
            <a:r>
              <a:rPr lang="ko-KR" altLang="en-US" sz="1100" b="1" dirty="0"/>
              <a:t>에서 </a:t>
            </a:r>
            <a:r>
              <a:rPr lang="en-US" altLang="ko-KR" sz="1100" b="1" dirty="0"/>
              <a:t>ROS</a:t>
            </a:r>
            <a:r>
              <a:rPr lang="ko-KR" altLang="en-US" sz="1100" b="1" dirty="0"/>
              <a:t>로 데이터 이동 </a:t>
            </a:r>
            <a:r>
              <a:rPr lang="en-US" altLang="ko-KR" sz="1100" b="1" dirty="0"/>
              <a:t>(</a:t>
            </a:r>
            <a:r>
              <a:rPr lang="en-US" altLang="ko-KR" sz="1100" b="1" dirty="0" err="1"/>
              <a:t>Moveout</a:t>
            </a:r>
            <a:r>
              <a:rPr lang="en-US" altLang="ko-KR" sz="1100" b="1" dirty="0"/>
              <a:t>)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자동으로 </a:t>
            </a:r>
            <a:r>
              <a:rPr lang="en-US" altLang="ko-KR" sz="1100" dirty="0"/>
              <a:t>Tuple mover </a:t>
            </a:r>
            <a:r>
              <a:rPr lang="ko-KR" altLang="en-US" sz="1100" dirty="0"/>
              <a:t>실행됨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비동기적</a:t>
            </a:r>
            <a:r>
              <a:rPr lang="en-US" altLang="ko-KR" sz="1100" dirty="0"/>
              <a:t>, </a:t>
            </a:r>
            <a:r>
              <a:rPr lang="ko-KR" altLang="en-US" sz="1100" dirty="0"/>
              <a:t>온라인 작업으로 수행됨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필요에 따라 매뉴얼 작업으로도 수행 가능 </a:t>
            </a:r>
            <a:r>
              <a:rPr lang="en-US" altLang="ko-KR" sz="1100" dirty="0"/>
              <a:t>(</a:t>
            </a:r>
            <a:r>
              <a:rPr lang="ko-KR" altLang="en-US" sz="1100" dirty="0"/>
              <a:t>관리자만</a:t>
            </a:r>
            <a:r>
              <a:rPr lang="en-US" altLang="ko-KR" sz="1100" dirty="0"/>
              <a:t>)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select DO_TM_TASK(‘</a:t>
            </a:r>
            <a:r>
              <a:rPr lang="en-US" altLang="ko-KR" sz="1100" dirty="0" err="1"/>
              <a:t>moveout</a:t>
            </a:r>
            <a:r>
              <a:rPr lang="en-US" altLang="ko-KR" sz="1100" dirty="0"/>
              <a:t>’) ; </a:t>
            </a:r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Tuple Mover</a:t>
            </a:r>
            <a:r>
              <a:rPr lang="ko-KR" altLang="en-US" sz="1100" b="1" dirty="0"/>
              <a:t>에 의해 </a:t>
            </a:r>
            <a:r>
              <a:rPr lang="en-US" altLang="ko-KR" sz="1100" b="1" dirty="0"/>
              <a:t>ROS</a:t>
            </a:r>
            <a:r>
              <a:rPr lang="ko-KR" altLang="en-US" sz="1100" b="1" dirty="0"/>
              <a:t>의 </a:t>
            </a:r>
            <a:r>
              <a:rPr lang="en-US" altLang="ko-KR" sz="1100" b="1" dirty="0"/>
              <a:t>container</a:t>
            </a:r>
            <a:r>
              <a:rPr lang="ko-KR" altLang="en-US" sz="1100" b="1" dirty="0"/>
              <a:t>를 병합 </a:t>
            </a:r>
            <a:r>
              <a:rPr lang="en-US" altLang="ko-KR" sz="1100" b="1" dirty="0"/>
              <a:t>(</a:t>
            </a:r>
            <a:r>
              <a:rPr lang="en-US" altLang="ko-KR" sz="1100" b="1" dirty="0" err="1"/>
              <a:t>Mergeout</a:t>
            </a:r>
            <a:r>
              <a:rPr lang="en-US" altLang="ko-KR" sz="1100" b="1" dirty="0"/>
              <a:t>)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자동으로 </a:t>
            </a:r>
            <a:r>
              <a:rPr lang="en-US" altLang="ko-KR" sz="1100" dirty="0"/>
              <a:t>Tuple mover </a:t>
            </a:r>
            <a:r>
              <a:rPr lang="ko-KR" altLang="en-US" sz="1100" dirty="0"/>
              <a:t>실행됨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비동기적</a:t>
            </a:r>
            <a:r>
              <a:rPr lang="en-US" altLang="ko-KR" sz="1100" dirty="0"/>
              <a:t>, </a:t>
            </a:r>
            <a:r>
              <a:rPr lang="ko-KR" altLang="en-US" sz="1100" dirty="0"/>
              <a:t>온라인 작업으로 수행됨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필요에 따라 매뉴얼 작업으로도 수행 가능 </a:t>
            </a:r>
            <a:r>
              <a:rPr lang="en-US" altLang="ko-KR" sz="1100" dirty="0"/>
              <a:t>(</a:t>
            </a:r>
            <a:r>
              <a:rPr lang="ko-KR" altLang="en-US" sz="1100" dirty="0"/>
              <a:t>관리자만</a:t>
            </a:r>
            <a:r>
              <a:rPr lang="en-US" altLang="ko-KR" sz="1100" dirty="0"/>
              <a:t>)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select DO_TM_TASK(‘</a:t>
            </a:r>
            <a:r>
              <a:rPr lang="en-US" altLang="ko-KR" sz="1100" dirty="0" err="1"/>
              <a:t>mergeout</a:t>
            </a:r>
            <a:r>
              <a:rPr lang="en-US" altLang="ko-KR" sz="1100" dirty="0"/>
              <a:t>’) ; 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데이터 처리 작업 영역</a:t>
            </a:r>
            <a:endParaRPr lang="en-US" altLang="ko-KR" sz="1100" b="1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46668" y="4009764"/>
            <a:ext cx="909223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INSERT</a:t>
            </a:r>
          </a:p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UPDATE</a:t>
            </a:r>
          </a:p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DELETE</a:t>
            </a:r>
          </a:p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COPY .. TRICKLE</a:t>
            </a:r>
            <a:endParaRPr lang="ko-KR" altLang="en-US" sz="1000" dirty="0" err="1"/>
          </a:p>
        </p:txBody>
      </p:sp>
      <p:cxnSp>
        <p:nvCxnSpPr>
          <p:cNvPr id="9" name="Straight Arrow Connector 6"/>
          <p:cNvCxnSpPr>
            <a:stCxn id="11" idx="3"/>
            <a:endCxn id="12" idx="1"/>
          </p:cNvCxnSpPr>
          <p:nvPr/>
        </p:nvCxnSpPr>
        <p:spPr>
          <a:xfrm>
            <a:off x="1812975" y="2996952"/>
            <a:ext cx="1473125" cy="0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/>
          <p:cNvCxnSpPr>
            <a:endCxn id="76" idx="1"/>
          </p:cNvCxnSpPr>
          <p:nvPr/>
        </p:nvCxnSpPr>
        <p:spPr>
          <a:xfrm>
            <a:off x="8144310" y="4163084"/>
            <a:ext cx="1519528" cy="247359"/>
          </a:xfrm>
          <a:prstGeom prst="bentConnector3">
            <a:avLst>
              <a:gd name="adj1" fmla="val 50000"/>
            </a:avLst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9"/>
          <p:cNvSpPr/>
          <p:nvPr/>
        </p:nvSpPr>
        <p:spPr>
          <a:xfrm>
            <a:off x="1092895" y="2636912"/>
            <a:ext cx="720080" cy="72008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9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WOS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Rounded Rectangle 21"/>
          <p:cNvSpPr/>
          <p:nvPr/>
        </p:nvSpPr>
        <p:spPr>
          <a:xfrm>
            <a:off x="3286100" y="2636912"/>
            <a:ext cx="874656" cy="72008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9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ROS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3" name="Rectangle 22"/>
          <p:cNvSpPr/>
          <p:nvPr/>
        </p:nvSpPr>
        <p:spPr>
          <a:xfrm>
            <a:off x="1208838" y="2885306"/>
            <a:ext cx="522994" cy="10070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Rectangle 23"/>
          <p:cNvSpPr/>
          <p:nvPr/>
        </p:nvSpPr>
        <p:spPr>
          <a:xfrm>
            <a:off x="1208838" y="3034407"/>
            <a:ext cx="522994" cy="10070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Rectangle 24"/>
          <p:cNvSpPr/>
          <p:nvPr/>
        </p:nvSpPr>
        <p:spPr>
          <a:xfrm>
            <a:off x="1208838" y="3185250"/>
            <a:ext cx="522994" cy="10070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Rectangle 26"/>
          <p:cNvSpPr/>
          <p:nvPr/>
        </p:nvSpPr>
        <p:spPr>
          <a:xfrm>
            <a:off x="3462997" y="2937396"/>
            <a:ext cx="72008" cy="2982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Rectangle 27"/>
          <p:cNvSpPr/>
          <p:nvPr/>
        </p:nvSpPr>
        <p:spPr>
          <a:xfrm>
            <a:off x="3595518" y="2937396"/>
            <a:ext cx="72008" cy="2982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Rectangle 28"/>
          <p:cNvSpPr/>
          <p:nvPr/>
        </p:nvSpPr>
        <p:spPr>
          <a:xfrm>
            <a:off x="3722797" y="2937396"/>
            <a:ext cx="72008" cy="2982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Rectangle 29"/>
          <p:cNvSpPr/>
          <p:nvPr/>
        </p:nvSpPr>
        <p:spPr>
          <a:xfrm>
            <a:off x="3850076" y="2935407"/>
            <a:ext cx="72008" cy="2982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Rectangle 30"/>
          <p:cNvSpPr/>
          <p:nvPr/>
        </p:nvSpPr>
        <p:spPr>
          <a:xfrm>
            <a:off x="3977355" y="2935407"/>
            <a:ext cx="72008" cy="2982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57446" y="3404030"/>
            <a:ext cx="1351652" cy="4154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Sorted / Compressed</a:t>
            </a:r>
          </a:p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Segmented </a:t>
            </a:r>
          </a:p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Large data loaded direct</a:t>
            </a:r>
            <a:endParaRPr lang="ko-KR" altLang="en-US" sz="1000" dirty="0" err="1"/>
          </a:p>
        </p:txBody>
      </p:sp>
      <p:sp>
        <p:nvSpPr>
          <p:cNvPr id="22" name="TextBox 21"/>
          <p:cNvSpPr txBox="1"/>
          <p:nvPr/>
        </p:nvSpPr>
        <p:spPr>
          <a:xfrm>
            <a:off x="1095396" y="3404030"/>
            <a:ext cx="1776448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Unsorted / Uncompressed</a:t>
            </a:r>
          </a:p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Segmented</a:t>
            </a:r>
          </a:p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K safe</a:t>
            </a:r>
          </a:p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Low latency / Small quick inserts</a:t>
            </a:r>
            <a:endParaRPr lang="ko-KR" altLang="en-US" sz="1000" dirty="0" err="1"/>
          </a:p>
        </p:txBody>
      </p:sp>
      <p:sp>
        <p:nvSpPr>
          <p:cNvPr id="23" name="Oval 37"/>
          <p:cNvSpPr/>
          <p:nvPr/>
        </p:nvSpPr>
        <p:spPr>
          <a:xfrm>
            <a:off x="2046903" y="2818760"/>
            <a:ext cx="972798" cy="3345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Tuple</a:t>
            </a:r>
          </a:p>
          <a:p>
            <a:pPr algn="ctr">
              <a:lnSpc>
                <a:spcPct val="9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Mover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24" name="Straight Arrow Connector 38"/>
          <p:cNvCxnSpPr>
            <a:stCxn id="25" idx="3"/>
            <a:endCxn id="35" idx="2"/>
          </p:cNvCxnSpPr>
          <p:nvPr/>
        </p:nvCxnSpPr>
        <p:spPr>
          <a:xfrm flipV="1">
            <a:off x="1848007" y="5377859"/>
            <a:ext cx="284303" cy="136658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39"/>
          <p:cNvSpPr/>
          <p:nvPr/>
        </p:nvSpPr>
        <p:spPr>
          <a:xfrm>
            <a:off x="1127927" y="5154477"/>
            <a:ext cx="720080" cy="72008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9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WOS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6" name="Rounded Rectangle 40"/>
          <p:cNvSpPr/>
          <p:nvPr/>
        </p:nvSpPr>
        <p:spPr>
          <a:xfrm>
            <a:off x="3321132" y="5154477"/>
            <a:ext cx="874656" cy="72008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9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ROS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7" name="Rectangle 41"/>
          <p:cNvSpPr/>
          <p:nvPr/>
        </p:nvSpPr>
        <p:spPr>
          <a:xfrm>
            <a:off x="1243870" y="5402871"/>
            <a:ext cx="522994" cy="100704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Rectangle 42"/>
          <p:cNvSpPr/>
          <p:nvPr/>
        </p:nvSpPr>
        <p:spPr>
          <a:xfrm>
            <a:off x="1243870" y="5551972"/>
            <a:ext cx="522994" cy="100704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Rectangle 43"/>
          <p:cNvSpPr/>
          <p:nvPr/>
        </p:nvSpPr>
        <p:spPr>
          <a:xfrm>
            <a:off x="1243870" y="5702815"/>
            <a:ext cx="522994" cy="100704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Rectangle 44"/>
          <p:cNvSpPr/>
          <p:nvPr/>
        </p:nvSpPr>
        <p:spPr>
          <a:xfrm>
            <a:off x="3498029" y="5375205"/>
            <a:ext cx="72008" cy="1896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Rectangle 45"/>
          <p:cNvSpPr/>
          <p:nvPr/>
        </p:nvSpPr>
        <p:spPr>
          <a:xfrm>
            <a:off x="3630550" y="5375205"/>
            <a:ext cx="72008" cy="1896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Rectangle 46"/>
          <p:cNvSpPr/>
          <p:nvPr/>
        </p:nvSpPr>
        <p:spPr>
          <a:xfrm>
            <a:off x="3757829" y="5375205"/>
            <a:ext cx="72008" cy="1896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Rectangle 47"/>
          <p:cNvSpPr/>
          <p:nvPr/>
        </p:nvSpPr>
        <p:spPr>
          <a:xfrm>
            <a:off x="3885108" y="5373216"/>
            <a:ext cx="72008" cy="1896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Rectangle 48"/>
          <p:cNvSpPr/>
          <p:nvPr/>
        </p:nvSpPr>
        <p:spPr>
          <a:xfrm>
            <a:off x="4012387" y="5373216"/>
            <a:ext cx="72008" cy="1896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5" name="Oval 49"/>
          <p:cNvSpPr/>
          <p:nvPr/>
        </p:nvSpPr>
        <p:spPr>
          <a:xfrm>
            <a:off x="2132310" y="5210609"/>
            <a:ext cx="972798" cy="3345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Tuple</a:t>
            </a:r>
          </a:p>
          <a:p>
            <a:pPr algn="ctr">
              <a:lnSpc>
                <a:spcPct val="9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Mover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8" name="Rectangle 50"/>
          <p:cNvSpPr/>
          <p:nvPr/>
        </p:nvSpPr>
        <p:spPr>
          <a:xfrm>
            <a:off x="2302718" y="5596989"/>
            <a:ext cx="72008" cy="189684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9" name="Rectangle 51"/>
          <p:cNvSpPr/>
          <p:nvPr/>
        </p:nvSpPr>
        <p:spPr>
          <a:xfrm>
            <a:off x="2435239" y="5596989"/>
            <a:ext cx="72008" cy="189684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0" name="Rectangle 52"/>
          <p:cNvSpPr/>
          <p:nvPr/>
        </p:nvSpPr>
        <p:spPr>
          <a:xfrm>
            <a:off x="2562518" y="5596989"/>
            <a:ext cx="72008" cy="189684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1" name="Rectangle 53"/>
          <p:cNvSpPr/>
          <p:nvPr/>
        </p:nvSpPr>
        <p:spPr>
          <a:xfrm>
            <a:off x="2689797" y="5595000"/>
            <a:ext cx="72008" cy="189684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2" name="Rectangle 54"/>
          <p:cNvSpPr/>
          <p:nvPr/>
        </p:nvSpPr>
        <p:spPr>
          <a:xfrm>
            <a:off x="2817076" y="5595000"/>
            <a:ext cx="72008" cy="189684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239243" y="5874557"/>
            <a:ext cx="734496" cy="4154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Sorted </a:t>
            </a:r>
          </a:p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Encoded</a:t>
            </a:r>
          </a:p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Compressed</a:t>
            </a:r>
          </a:p>
        </p:txBody>
      </p:sp>
      <p:cxnSp>
        <p:nvCxnSpPr>
          <p:cNvPr id="44" name="Straight Arrow Connector 57"/>
          <p:cNvCxnSpPr>
            <a:stCxn id="35" idx="6"/>
            <a:endCxn id="26" idx="1"/>
          </p:cNvCxnSpPr>
          <p:nvPr/>
        </p:nvCxnSpPr>
        <p:spPr>
          <a:xfrm>
            <a:off x="3105108" y="5377859"/>
            <a:ext cx="216024" cy="136658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60"/>
          <p:cNvSpPr/>
          <p:nvPr/>
        </p:nvSpPr>
        <p:spPr>
          <a:xfrm>
            <a:off x="3503682" y="5610085"/>
            <a:ext cx="72008" cy="189684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6" name="Rectangle 61"/>
          <p:cNvSpPr/>
          <p:nvPr/>
        </p:nvSpPr>
        <p:spPr>
          <a:xfrm>
            <a:off x="3636203" y="5610085"/>
            <a:ext cx="72008" cy="189684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7" name="Rectangle 62"/>
          <p:cNvSpPr/>
          <p:nvPr/>
        </p:nvSpPr>
        <p:spPr>
          <a:xfrm>
            <a:off x="3763482" y="5610085"/>
            <a:ext cx="72008" cy="189684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8" name="Rectangle 63"/>
          <p:cNvSpPr/>
          <p:nvPr/>
        </p:nvSpPr>
        <p:spPr>
          <a:xfrm>
            <a:off x="3890761" y="5608096"/>
            <a:ext cx="72008" cy="189684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9" name="Rectangle 64"/>
          <p:cNvSpPr/>
          <p:nvPr/>
        </p:nvSpPr>
        <p:spPr>
          <a:xfrm>
            <a:off x="4018040" y="5608096"/>
            <a:ext cx="72008" cy="189684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895284" y="5238969"/>
            <a:ext cx="128240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000" dirty="0"/>
              <a:t>①</a:t>
            </a:r>
            <a:endParaRPr lang="en-US" altLang="ko-KR" sz="1000" dirty="0"/>
          </a:p>
        </p:txBody>
      </p:sp>
      <p:sp>
        <p:nvSpPr>
          <p:cNvPr id="51" name="TextBox 50"/>
          <p:cNvSpPr txBox="1"/>
          <p:nvPr/>
        </p:nvSpPr>
        <p:spPr>
          <a:xfrm>
            <a:off x="3129206" y="5220000"/>
            <a:ext cx="128240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000" dirty="0"/>
              <a:t>②</a:t>
            </a:r>
            <a:endParaRPr lang="en-US" altLang="ko-KR" sz="1000" dirty="0"/>
          </a:p>
        </p:txBody>
      </p:sp>
      <p:cxnSp>
        <p:nvCxnSpPr>
          <p:cNvPr id="52" name="Straight Arrow Connector 67"/>
          <p:cNvCxnSpPr/>
          <p:nvPr/>
        </p:nvCxnSpPr>
        <p:spPr>
          <a:xfrm flipH="1">
            <a:off x="8524969" y="2812971"/>
            <a:ext cx="313238" cy="136324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68"/>
          <p:cNvSpPr/>
          <p:nvPr/>
        </p:nvSpPr>
        <p:spPr>
          <a:xfrm>
            <a:off x="6653528" y="2314327"/>
            <a:ext cx="720080" cy="72008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9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WOS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4" name="Rounded Rectangle 69"/>
          <p:cNvSpPr/>
          <p:nvPr/>
        </p:nvSpPr>
        <p:spPr>
          <a:xfrm>
            <a:off x="8846733" y="2314327"/>
            <a:ext cx="874656" cy="72008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9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ROS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5" name="Oval 78"/>
          <p:cNvSpPr/>
          <p:nvPr/>
        </p:nvSpPr>
        <p:spPr>
          <a:xfrm>
            <a:off x="7657911" y="2370459"/>
            <a:ext cx="972798" cy="3345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Tuple</a:t>
            </a:r>
          </a:p>
          <a:p>
            <a:pPr algn="ctr">
              <a:lnSpc>
                <a:spcPct val="9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Mover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6" name="Rectangle 79"/>
          <p:cNvSpPr/>
          <p:nvPr/>
        </p:nvSpPr>
        <p:spPr>
          <a:xfrm>
            <a:off x="7831988" y="2951284"/>
            <a:ext cx="72008" cy="185816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7" name="Rectangle 80"/>
          <p:cNvSpPr/>
          <p:nvPr/>
        </p:nvSpPr>
        <p:spPr>
          <a:xfrm>
            <a:off x="7971370" y="2945122"/>
            <a:ext cx="67766" cy="196813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8" name="Rectangle 81"/>
          <p:cNvSpPr/>
          <p:nvPr/>
        </p:nvSpPr>
        <p:spPr>
          <a:xfrm>
            <a:off x="8091787" y="2951284"/>
            <a:ext cx="72008" cy="185816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9" name="Rectangle 82"/>
          <p:cNvSpPr/>
          <p:nvPr/>
        </p:nvSpPr>
        <p:spPr>
          <a:xfrm>
            <a:off x="8229600" y="2956119"/>
            <a:ext cx="61473" cy="185816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0" name="Rectangle 83"/>
          <p:cNvSpPr/>
          <p:nvPr/>
        </p:nvSpPr>
        <p:spPr>
          <a:xfrm>
            <a:off x="8359253" y="2956119"/>
            <a:ext cx="59100" cy="185816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762627" y="3196281"/>
            <a:ext cx="622286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Combined</a:t>
            </a:r>
          </a:p>
        </p:txBody>
      </p:sp>
      <p:cxnSp>
        <p:nvCxnSpPr>
          <p:cNvPr id="62" name="Straight Arrow Connector 85"/>
          <p:cNvCxnSpPr>
            <a:stCxn id="55" idx="6"/>
            <a:endCxn id="54" idx="1"/>
          </p:cNvCxnSpPr>
          <p:nvPr/>
        </p:nvCxnSpPr>
        <p:spPr>
          <a:xfrm>
            <a:off x="8630709" y="2537709"/>
            <a:ext cx="216024" cy="136658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86"/>
          <p:cNvSpPr/>
          <p:nvPr/>
        </p:nvSpPr>
        <p:spPr>
          <a:xfrm>
            <a:off x="9027914" y="2619741"/>
            <a:ext cx="73377" cy="339878"/>
          </a:xfrm>
          <a:prstGeom prst="rect">
            <a:avLst/>
          </a:prstGeom>
          <a:pattFill prst="dkDn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4" name="Rectangle 87"/>
          <p:cNvSpPr/>
          <p:nvPr/>
        </p:nvSpPr>
        <p:spPr>
          <a:xfrm>
            <a:off x="9160435" y="2619741"/>
            <a:ext cx="73377" cy="339878"/>
          </a:xfrm>
          <a:prstGeom prst="rect">
            <a:avLst/>
          </a:prstGeom>
          <a:pattFill prst="dkDn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5" name="Rectangle 88"/>
          <p:cNvSpPr/>
          <p:nvPr/>
        </p:nvSpPr>
        <p:spPr>
          <a:xfrm>
            <a:off x="9287714" y="2619741"/>
            <a:ext cx="73377" cy="339878"/>
          </a:xfrm>
          <a:prstGeom prst="rect">
            <a:avLst/>
          </a:prstGeom>
          <a:pattFill prst="dkDn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6" name="Rectangle 89"/>
          <p:cNvSpPr/>
          <p:nvPr/>
        </p:nvSpPr>
        <p:spPr>
          <a:xfrm>
            <a:off x="9414993" y="2617752"/>
            <a:ext cx="73377" cy="339878"/>
          </a:xfrm>
          <a:prstGeom prst="rect">
            <a:avLst/>
          </a:prstGeom>
          <a:pattFill prst="dkDn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7" name="Rectangle 90"/>
          <p:cNvSpPr/>
          <p:nvPr/>
        </p:nvSpPr>
        <p:spPr>
          <a:xfrm>
            <a:off x="9542272" y="2617752"/>
            <a:ext cx="73377" cy="339878"/>
          </a:xfrm>
          <a:prstGeom prst="rect">
            <a:avLst/>
          </a:prstGeom>
          <a:pattFill prst="dkDn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570862" y="2732663"/>
            <a:ext cx="128240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000" dirty="0"/>
              <a:t>①</a:t>
            </a:r>
            <a:endParaRPr lang="en-US" altLang="ko-KR" sz="1000" dirty="0"/>
          </a:p>
        </p:txBody>
      </p:sp>
      <p:sp>
        <p:nvSpPr>
          <p:cNvPr id="69" name="TextBox 68"/>
          <p:cNvSpPr txBox="1"/>
          <p:nvPr/>
        </p:nvSpPr>
        <p:spPr>
          <a:xfrm>
            <a:off x="8654807" y="2379850"/>
            <a:ext cx="128240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000" dirty="0"/>
              <a:t>②</a:t>
            </a:r>
            <a:endParaRPr lang="en-US" altLang="ko-KR" sz="1000" dirty="0"/>
          </a:p>
        </p:txBody>
      </p:sp>
      <p:sp>
        <p:nvSpPr>
          <p:cNvPr id="70" name="Rectangle 96"/>
          <p:cNvSpPr/>
          <p:nvPr/>
        </p:nvSpPr>
        <p:spPr>
          <a:xfrm>
            <a:off x="7831988" y="2795304"/>
            <a:ext cx="72008" cy="19681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1" name="Rectangle 97"/>
          <p:cNvSpPr/>
          <p:nvPr/>
        </p:nvSpPr>
        <p:spPr>
          <a:xfrm>
            <a:off x="7971370" y="2788491"/>
            <a:ext cx="67766" cy="20846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2" name="Rectangle 98"/>
          <p:cNvSpPr/>
          <p:nvPr/>
        </p:nvSpPr>
        <p:spPr>
          <a:xfrm>
            <a:off x="8091787" y="2795304"/>
            <a:ext cx="72008" cy="19681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3" name="Rectangle 99"/>
          <p:cNvSpPr/>
          <p:nvPr/>
        </p:nvSpPr>
        <p:spPr>
          <a:xfrm>
            <a:off x="8229600" y="2800139"/>
            <a:ext cx="61473" cy="19681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4" name="Rectangle 100"/>
          <p:cNvSpPr/>
          <p:nvPr/>
        </p:nvSpPr>
        <p:spPr>
          <a:xfrm>
            <a:off x="8359253" y="2800139"/>
            <a:ext cx="59100" cy="19681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75" name="Straight Arrow Connector 109"/>
          <p:cNvCxnSpPr>
            <a:stCxn id="76" idx="2"/>
            <a:endCxn id="77" idx="0"/>
          </p:cNvCxnSpPr>
          <p:nvPr/>
        </p:nvCxnSpPr>
        <p:spPr>
          <a:xfrm>
            <a:off x="10023878" y="4770483"/>
            <a:ext cx="3052" cy="669942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110"/>
          <p:cNvSpPr/>
          <p:nvPr/>
        </p:nvSpPr>
        <p:spPr>
          <a:xfrm>
            <a:off x="9663838" y="4050403"/>
            <a:ext cx="720080" cy="72008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9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WOS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7" name="Rounded Rectangle 111"/>
          <p:cNvSpPr/>
          <p:nvPr/>
        </p:nvSpPr>
        <p:spPr>
          <a:xfrm>
            <a:off x="9589602" y="5440425"/>
            <a:ext cx="874656" cy="72008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9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ROS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8" name="Rectangle 112"/>
          <p:cNvSpPr/>
          <p:nvPr/>
        </p:nvSpPr>
        <p:spPr>
          <a:xfrm>
            <a:off x="9779781" y="4298797"/>
            <a:ext cx="522994" cy="10070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9" name="Rectangle 113"/>
          <p:cNvSpPr/>
          <p:nvPr/>
        </p:nvSpPr>
        <p:spPr>
          <a:xfrm>
            <a:off x="9779781" y="4447898"/>
            <a:ext cx="522994" cy="10070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1" name="Rectangle 114"/>
          <p:cNvSpPr/>
          <p:nvPr/>
        </p:nvSpPr>
        <p:spPr>
          <a:xfrm>
            <a:off x="9779781" y="4598741"/>
            <a:ext cx="522994" cy="10070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2" name="Rectangle 115"/>
          <p:cNvSpPr/>
          <p:nvPr/>
        </p:nvSpPr>
        <p:spPr>
          <a:xfrm>
            <a:off x="9766499" y="5740909"/>
            <a:ext cx="72008" cy="2982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3" name="Rectangle 116"/>
          <p:cNvSpPr/>
          <p:nvPr/>
        </p:nvSpPr>
        <p:spPr>
          <a:xfrm>
            <a:off x="9899020" y="5740909"/>
            <a:ext cx="72008" cy="2982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4" name="Rectangle 117"/>
          <p:cNvSpPr/>
          <p:nvPr/>
        </p:nvSpPr>
        <p:spPr>
          <a:xfrm>
            <a:off x="10026299" y="5740909"/>
            <a:ext cx="72008" cy="2982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5" name="Rectangle 118"/>
          <p:cNvSpPr/>
          <p:nvPr/>
        </p:nvSpPr>
        <p:spPr>
          <a:xfrm>
            <a:off x="10153578" y="5738920"/>
            <a:ext cx="72008" cy="2982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6" name="Rectangle 119"/>
          <p:cNvSpPr/>
          <p:nvPr/>
        </p:nvSpPr>
        <p:spPr>
          <a:xfrm>
            <a:off x="10280857" y="5738920"/>
            <a:ext cx="72008" cy="2982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7" name="Oval 120"/>
          <p:cNvSpPr/>
          <p:nvPr/>
        </p:nvSpPr>
        <p:spPr>
          <a:xfrm>
            <a:off x="9537479" y="4922088"/>
            <a:ext cx="972798" cy="3345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Tuple</a:t>
            </a:r>
          </a:p>
          <a:p>
            <a:pPr algn="ctr">
              <a:lnSpc>
                <a:spcPct val="9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Mover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931943" y="5163426"/>
            <a:ext cx="1265090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INSERT  /*+ DIRECT */</a:t>
            </a:r>
          </a:p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UPDATE /*+ DIRECT */</a:t>
            </a:r>
          </a:p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DELETE  /*+ DIRECT */</a:t>
            </a:r>
          </a:p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COPY .. DIRECT</a:t>
            </a:r>
            <a:endParaRPr lang="ko-KR" altLang="en-US" sz="1000" dirty="0" err="1"/>
          </a:p>
        </p:txBody>
      </p:sp>
      <p:cxnSp>
        <p:nvCxnSpPr>
          <p:cNvPr id="89" name="Elbow Connector 130"/>
          <p:cNvCxnSpPr>
            <a:endCxn id="77" idx="1"/>
          </p:cNvCxnSpPr>
          <p:nvPr/>
        </p:nvCxnSpPr>
        <p:spPr>
          <a:xfrm>
            <a:off x="8467216" y="5401631"/>
            <a:ext cx="1122386" cy="398834"/>
          </a:xfrm>
          <a:prstGeom prst="bentConnector3">
            <a:avLst>
              <a:gd name="adj1" fmla="val 50000"/>
            </a:avLst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6670367" y="4770483"/>
            <a:ext cx="1271502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COPY .. AUTO (default)</a:t>
            </a:r>
            <a:endParaRPr lang="ko-KR" altLang="en-US" sz="1000" dirty="0" err="1"/>
          </a:p>
        </p:txBody>
      </p:sp>
      <p:cxnSp>
        <p:nvCxnSpPr>
          <p:cNvPr id="91" name="Elbow Connector 133"/>
          <p:cNvCxnSpPr>
            <a:endCxn id="92" idx="2"/>
          </p:cNvCxnSpPr>
          <p:nvPr/>
        </p:nvCxnSpPr>
        <p:spPr>
          <a:xfrm flipV="1">
            <a:off x="8195158" y="4652700"/>
            <a:ext cx="837052" cy="206318"/>
          </a:xfrm>
          <a:prstGeom prst="bentConnector3">
            <a:avLst>
              <a:gd name="adj1" fmla="val 50000"/>
            </a:avLst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137"/>
          <p:cNvSpPr/>
          <p:nvPr/>
        </p:nvSpPr>
        <p:spPr>
          <a:xfrm>
            <a:off x="9032210" y="4496122"/>
            <a:ext cx="689428" cy="313156"/>
          </a:xfrm>
          <a:prstGeom prst="ellipse">
            <a:avLst/>
          </a:prstGeom>
          <a:solidFill>
            <a:schemeClr val="bg1">
              <a:lumMod val="50000"/>
            </a:schemeClr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900" dirty="0">
                <a:solidFill>
                  <a:schemeClr val="tx1"/>
                </a:solidFill>
              </a:rPr>
              <a:t>WOS</a:t>
            </a:r>
          </a:p>
          <a:p>
            <a:pPr algn="ctr">
              <a:lnSpc>
                <a:spcPct val="90000"/>
              </a:lnSpc>
            </a:pPr>
            <a:r>
              <a:rPr lang="en-US" altLang="ko-KR" sz="900" dirty="0">
                <a:solidFill>
                  <a:schemeClr val="tx1"/>
                </a:solidFill>
              </a:rPr>
              <a:t>Full?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93" name="Arc 140"/>
          <p:cNvSpPr/>
          <p:nvPr/>
        </p:nvSpPr>
        <p:spPr>
          <a:xfrm rot="17869977" flipH="1">
            <a:off x="9386458" y="4503393"/>
            <a:ext cx="699755" cy="1234772"/>
          </a:xfrm>
          <a:prstGeom prst="arc">
            <a:avLst/>
          </a:prstGeom>
          <a:ln w="19050">
            <a:solidFill>
              <a:schemeClr val="tx2"/>
            </a:solidFill>
            <a:prstDash val="sysDash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말풍선: 사각형 22">
            <a:extLst>
              <a:ext uri="{FF2B5EF4-FFF2-40B4-BE49-F238E27FC236}">
                <a16:creationId xmlns:a16="http://schemas.microsoft.com/office/drawing/2014/main" id="{00057646-3484-4FEE-9CF3-0EF9E08CF118}"/>
              </a:ext>
            </a:extLst>
          </p:cNvPr>
          <p:cNvSpPr/>
          <p:nvPr/>
        </p:nvSpPr>
        <p:spPr>
          <a:xfrm>
            <a:off x="1982030" y="2630603"/>
            <a:ext cx="904037" cy="100485"/>
          </a:xfrm>
          <a:prstGeom prst="wedgeRectCallout">
            <a:avLst>
              <a:gd name="adj1" fmla="val -85563"/>
              <a:gd name="adj2" fmla="val 4960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>
                <a:solidFill>
                  <a:schemeClr val="bg1"/>
                </a:solidFill>
              </a:rPr>
              <a:t>Deprecated in 9.3</a:t>
            </a:r>
            <a:endParaRPr lang="ko-KR" altLang="en-US" sz="700" dirty="0" err="1">
              <a:solidFill>
                <a:schemeClr val="bg1"/>
              </a:solidFill>
            </a:endParaRPr>
          </a:p>
        </p:txBody>
      </p:sp>
      <p:sp>
        <p:nvSpPr>
          <p:cNvPr id="95" name="말풍선: 사각형 22">
            <a:extLst>
              <a:ext uri="{FF2B5EF4-FFF2-40B4-BE49-F238E27FC236}">
                <a16:creationId xmlns:a16="http://schemas.microsoft.com/office/drawing/2014/main" id="{00057646-3484-4FEE-9CF3-0EF9E08CF118}"/>
              </a:ext>
            </a:extLst>
          </p:cNvPr>
          <p:cNvSpPr/>
          <p:nvPr/>
        </p:nvSpPr>
        <p:spPr>
          <a:xfrm>
            <a:off x="4601157" y="4163084"/>
            <a:ext cx="904037" cy="100485"/>
          </a:xfrm>
          <a:prstGeom prst="wedgeRectCallout">
            <a:avLst>
              <a:gd name="adj1" fmla="val -85563"/>
              <a:gd name="adj2" fmla="val 4960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>
                <a:solidFill>
                  <a:schemeClr val="bg1"/>
                </a:solidFill>
              </a:rPr>
              <a:t>Deprecated in 9.3</a:t>
            </a:r>
            <a:endParaRPr lang="ko-KR" altLang="en-US" sz="700" dirty="0" err="1">
              <a:solidFill>
                <a:schemeClr val="bg1"/>
              </a:solidFill>
            </a:endParaRPr>
          </a:p>
        </p:txBody>
      </p:sp>
      <p:sp>
        <p:nvSpPr>
          <p:cNvPr id="96" name="말풍선: 사각형 22">
            <a:extLst>
              <a:ext uri="{FF2B5EF4-FFF2-40B4-BE49-F238E27FC236}">
                <a16:creationId xmlns:a16="http://schemas.microsoft.com/office/drawing/2014/main" id="{00057646-3484-4FEE-9CF3-0EF9E08CF118}"/>
              </a:ext>
            </a:extLst>
          </p:cNvPr>
          <p:cNvSpPr/>
          <p:nvPr/>
        </p:nvSpPr>
        <p:spPr>
          <a:xfrm>
            <a:off x="10539575" y="4062599"/>
            <a:ext cx="904037" cy="100485"/>
          </a:xfrm>
          <a:prstGeom prst="wedgeRectCallout">
            <a:avLst>
              <a:gd name="adj1" fmla="val -85563"/>
              <a:gd name="adj2" fmla="val 4960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>
                <a:solidFill>
                  <a:schemeClr val="bg1"/>
                </a:solidFill>
              </a:rPr>
              <a:t>Deprecated in 9.3</a:t>
            </a:r>
            <a:endParaRPr lang="ko-KR" altLang="en-US" sz="700" dirty="0" err="1">
              <a:solidFill>
                <a:schemeClr val="bg1"/>
              </a:solidFill>
            </a:endParaRPr>
          </a:p>
        </p:txBody>
      </p:sp>
      <p:sp>
        <p:nvSpPr>
          <p:cNvPr id="97" name="말풍선: 사각형 22">
            <a:extLst>
              <a:ext uri="{FF2B5EF4-FFF2-40B4-BE49-F238E27FC236}">
                <a16:creationId xmlns:a16="http://schemas.microsoft.com/office/drawing/2014/main" id="{59D7CAF3-F5FA-4873-80AB-3D39C16AC6B9}"/>
              </a:ext>
            </a:extLst>
          </p:cNvPr>
          <p:cNvSpPr/>
          <p:nvPr/>
        </p:nvSpPr>
        <p:spPr>
          <a:xfrm>
            <a:off x="7680176" y="5949280"/>
            <a:ext cx="1265090" cy="311326"/>
          </a:xfrm>
          <a:prstGeom prst="wedgeRectCallout">
            <a:avLst>
              <a:gd name="adj1" fmla="val -73159"/>
              <a:gd name="adj2" fmla="val -1186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>
                <a:solidFill>
                  <a:schemeClr val="bg1"/>
                </a:solidFill>
              </a:rPr>
              <a:t>Vertica</a:t>
            </a:r>
            <a:r>
              <a:rPr lang="ko-KR" altLang="en-US" sz="700" dirty="0">
                <a:solidFill>
                  <a:schemeClr val="bg1"/>
                </a:solidFill>
              </a:rPr>
              <a:t> </a:t>
            </a:r>
            <a:r>
              <a:rPr lang="en-US" altLang="ko-KR" sz="700" dirty="0">
                <a:solidFill>
                  <a:schemeClr val="bg1"/>
                </a:solidFill>
              </a:rPr>
              <a:t>9.3 </a:t>
            </a:r>
            <a:r>
              <a:rPr lang="ko-KR" altLang="en-US" sz="700" dirty="0">
                <a:solidFill>
                  <a:schemeClr val="bg1"/>
                </a:solidFill>
              </a:rPr>
              <a:t>이후 부터 </a:t>
            </a:r>
            <a:endParaRPr lang="en-US" altLang="ko-KR" sz="700" dirty="0">
              <a:solidFill>
                <a:schemeClr val="bg1"/>
              </a:solidFill>
            </a:endParaRPr>
          </a:p>
          <a:p>
            <a:r>
              <a:rPr lang="en-US" altLang="ko-KR" sz="700" dirty="0">
                <a:solidFill>
                  <a:schemeClr val="bg1"/>
                </a:solidFill>
              </a:rPr>
              <a:t>DIRECT </a:t>
            </a:r>
            <a:r>
              <a:rPr lang="ko-KR" altLang="en-US" sz="700" dirty="0">
                <a:solidFill>
                  <a:schemeClr val="bg1"/>
                </a:solidFill>
              </a:rPr>
              <a:t>힌트</a:t>
            </a:r>
            <a:r>
              <a:rPr lang="en-US" altLang="ko-KR" sz="700" dirty="0">
                <a:solidFill>
                  <a:schemeClr val="bg1"/>
                </a:solidFill>
              </a:rPr>
              <a:t>/ </a:t>
            </a:r>
            <a:r>
              <a:rPr lang="ko-KR" altLang="en-US" sz="700" dirty="0">
                <a:solidFill>
                  <a:schemeClr val="bg1"/>
                </a:solidFill>
              </a:rPr>
              <a:t>옵션 불필요</a:t>
            </a:r>
          </a:p>
        </p:txBody>
      </p:sp>
    </p:spTree>
    <p:extLst>
      <p:ext uri="{BB962C8B-B14F-4D97-AF65-F5344CB8AC3E}">
        <p14:creationId xmlns:p14="http://schemas.microsoft.com/office/powerpoint/2010/main" val="4144623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Direct DML </a:t>
            </a:r>
            <a:r>
              <a:rPr lang="ko-KR" altLang="en-US" sz="2800" dirty="0"/>
              <a:t>처리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데이터 로드</a:t>
            </a:r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사용 시기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대량의 데이터 변경</a:t>
            </a:r>
            <a:r>
              <a:rPr lang="en-US" altLang="ko-KR" sz="1100" dirty="0"/>
              <a:t> </a:t>
            </a:r>
            <a:r>
              <a:rPr lang="ko-KR" altLang="en-US" sz="1100" dirty="0"/>
              <a:t>처리 </a:t>
            </a:r>
            <a:r>
              <a:rPr lang="en-US" altLang="ko-KR" sz="1100" dirty="0"/>
              <a:t>: UPDATE, DELETE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테이블 간 데이터 복사 </a:t>
            </a:r>
            <a:r>
              <a:rPr lang="en-US" altLang="ko-KR" sz="1100" dirty="0"/>
              <a:t>: INSERT ~ SELECT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메모리 영역을 전혀 사용하지 않으려는 사용 정책에 의해</a:t>
            </a: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주의 사항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빈번한 </a:t>
            </a:r>
            <a:r>
              <a:rPr lang="en-US" altLang="ko-KR" sz="1100" dirty="0"/>
              <a:t>Direct DML </a:t>
            </a:r>
            <a:r>
              <a:rPr lang="ko-KR" altLang="en-US" sz="1100" dirty="0"/>
              <a:t>처리는 </a:t>
            </a:r>
            <a:r>
              <a:rPr lang="en-US" altLang="ko-KR" sz="1100" dirty="0"/>
              <a:t>ROS </a:t>
            </a:r>
            <a:r>
              <a:rPr lang="ko-KR" altLang="en-US" sz="1100" dirty="0"/>
              <a:t>영역에서의 데이터 </a:t>
            </a:r>
            <a:r>
              <a:rPr lang="ko-KR" altLang="en-US" sz="1100" dirty="0" err="1"/>
              <a:t>컨테이터</a:t>
            </a:r>
            <a:r>
              <a:rPr lang="ko-KR" altLang="en-US" sz="1100" dirty="0"/>
              <a:t> </a:t>
            </a:r>
            <a:r>
              <a:rPr lang="en-US" altLang="ko-KR" sz="1100" dirty="0"/>
              <a:t>(</a:t>
            </a:r>
            <a:r>
              <a:rPr lang="ko-KR" altLang="en-US" sz="1100" dirty="0"/>
              <a:t>파일 조각 수</a:t>
            </a:r>
            <a:r>
              <a:rPr lang="en-US" altLang="ko-KR" sz="1100" dirty="0"/>
              <a:t>)</a:t>
            </a:r>
            <a:r>
              <a:rPr lang="ko-KR" altLang="en-US" sz="1100" dirty="0"/>
              <a:t>가 급증할 수 있음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Tuple mover</a:t>
            </a:r>
            <a:r>
              <a:rPr lang="ko-KR" altLang="en-US" sz="1100" dirty="0"/>
              <a:t>가 </a:t>
            </a:r>
            <a:r>
              <a:rPr lang="en-US" altLang="ko-KR" sz="1100" dirty="0" err="1"/>
              <a:t>mergeout</a:t>
            </a:r>
            <a:r>
              <a:rPr lang="ko-KR" altLang="en-US" sz="1100" dirty="0"/>
              <a:t>으로 컨테이너를 모으는 속도보다 더 빨리 컨테이너 수가 많아지지 않도록 주의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한 </a:t>
            </a:r>
            <a:r>
              <a:rPr lang="ko-KR" altLang="en-US" sz="1100" dirty="0" err="1"/>
              <a:t>프로젝션</a:t>
            </a:r>
            <a:r>
              <a:rPr lang="ko-KR" altLang="en-US" sz="1100" dirty="0"/>
              <a:t> 당 최대 </a:t>
            </a:r>
            <a:r>
              <a:rPr lang="en-US" altLang="ko-KR" sz="1100" dirty="0"/>
              <a:t>1024</a:t>
            </a:r>
            <a:r>
              <a:rPr lang="ko-KR" altLang="en-US" sz="1100" dirty="0"/>
              <a:t>개의 </a:t>
            </a:r>
            <a:r>
              <a:rPr lang="en-US" altLang="ko-KR" sz="1100" dirty="0"/>
              <a:t>ROS </a:t>
            </a:r>
            <a:r>
              <a:rPr lang="ko-KR" altLang="en-US" sz="1100" dirty="0"/>
              <a:t>컨테이너를 넘지 않도록 한다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DB</a:t>
            </a:r>
            <a:r>
              <a:rPr lang="ko-KR" altLang="en-US" sz="1100" dirty="0"/>
              <a:t>관리자는 </a:t>
            </a:r>
            <a:r>
              <a:rPr lang="en-US" altLang="ko-KR" sz="1100" dirty="0" err="1"/>
              <a:t>projection_storage</a:t>
            </a:r>
            <a:r>
              <a:rPr lang="en-US" altLang="ko-KR" sz="1100" dirty="0"/>
              <a:t> </a:t>
            </a:r>
            <a:r>
              <a:rPr lang="ko-KR" altLang="en-US" sz="1100" dirty="0"/>
              <a:t>테이블에서 </a:t>
            </a:r>
            <a:r>
              <a:rPr lang="en-US" altLang="ko-KR" sz="1100" dirty="0" err="1"/>
              <a:t>ros_count</a:t>
            </a:r>
            <a:r>
              <a:rPr lang="ko-KR" altLang="en-US" sz="1100" dirty="0"/>
              <a:t>를 </a:t>
            </a:r>
            <a:r>
              <a:rPr lang="ko-KR" altLang="en-US" sz="1100" dirty="0" err="1"/>
              <a:t>모니터한다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컨테이너 증가 속도보다 </a:t>
            </a:r>
            <a:r>
              <a:rPr lang="en-US" altLang="ko-KR" sz="1100" dirty="0"/>
              <a:t>Tuple mover </a:t>
            </a:r>
            <a:r>
              <a:rPr lang="ko-KR" altLang="en-US" sz="1100" dirty="0"/>
              <a:t>작업이 늦다면 </a:t>
            </a:r>
            <a:r>
              <a:rPr lang="ko-KR" altLang="en-US" sz="1100" dirty="0" err="1"/>
              <a:t>리소스풀의</a:t>
            </a:r>
            <a:r>
              <a:rPr lang="ko-KR" altLang="en-US" sz="1100" dirty="0"/>
              <a:t> </a:t>
            </a:r>
            <a:r>
              <a:rPr lang="en-US" altLang="ko-KR" sz="1100" dirty="0"/>
              <a:t>TM </a:t>
            </a:r>
            <a:r>
              <a:rPr lang="ko-KR" altLang="en-US" sz="1100" dirty="0" err="1"/>
              <a:t>쓰레드</a:t>
            </a:r>
            <a:r>
              <a:rPr lang="ko-KR" altLang="en-US" sz="1100" dirty="0"/>
              <a:t> 수를 늘려 본다</a:t>
            </a:r>
            <a:r>
              <a:rPr lang="en-US" altLang="ko-KR" sz="1100" dirty="0"/>
              <a:t>.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근본적으로 너무 빈번한 </a:t>
            </a:r>
            <a:r>
              <a:rPr lang="en-US" altLang="ko-KR" sz="1100" dirty="0"/>
              <a:t>Direct DML </a:t>
            </a:r>
            <a:r>
              <a:rPr lang="ko-KR" altLang="en-US" sz="1100" dirty="0"/>
              <a:t>처리를 지양한다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사용 예시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데이터 입력 또는 테이블 간 데이터 복사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INSERT /*+ DIRECT */ INTO &lt;table&gt; VALUES ~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INSERT /*+ DIRECT */ INTO &lt;table&gt; SELECT ~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데이터 변경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UPDATE /*+ DIRECT */ &lt;table&gt; SET ~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DELETE /*+ DIRECT */ FROM &lt;table&gt;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임시테이블 생성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CREATE TEMP TABLE &lt;table&gt; ~ AS /*+ DIRECT */ SELECT ~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ko-KR" altLang="en-US" sz="1100" dirty="0"/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4"/>
          <p:cNvSpPr/>
          <p:nvPr/>
        </p:nvSpPr>
        <p:spPr>
          <a:xfrm>
            <a:off x="4942284" y="4390248"/>
            <a:ext cx="837469" cy="251801"/>
          </a:xfrm>
          <a:prstGeom prst="roundRect">
            <a:avLst/>
          </a:prstGeom>
          <a:solidFill>
            <a:schemeClr val="tx2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90000"/>
              </a:lnSpc>
            </a:pPr>
            <a:r>
              <a:rPr lang="en-US" altLang="ko-KR" sz="900" dirty="0"/>
              <a:t>INSERT</a:t>
            </a:r>
          </a:p>
        </p:txBody>
      </p:sp>
      <p:pic>
        <p:nvPicPr>
          <p:cNvPr id="9" name="Picture 5" descr="C:\Users\hongjon\Documents\Proposal\ICON\Common_Icons\Common_Icons\Magnifying_glass\Magnifying_glass_RGB\Magnifying_glass_RGB_blue_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292" y="4426479"/>
            <a:ext cx="222460" cy="215570"/>
          </a:xfrm>
          <a:prstGeom prst="rect">
            <a:avLst/>
          </a:prstGeom>
          <a:solidFill>
            <a:schemeClr val="tx2"/>
          </a:solidFill>
          <a:ln>
            <a:noFill/>
          </a:ln>
        </p:spPr>
      </p:pic>
      <p:sp>
        <p:nvSpPr>
          <p:cNvPr id="10" name="Rounded Rectangle 6"/>
          <p:cNvSpPr/>
          <p:nvPr/>
        </p:nvSpPr>
        <p:spPr>
          <a:xfrm>
            <a:off x="4943801" y="4678242"/>
            <a:ext cx="837469" cy="251801"/>
          </a:xfrm>
          <a:prstGeom prst="roundRect">
            <a:avLst/>
          </a:prstGeom>
          <a:solidFill>
            <a:schemeClr val="tx2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90000"/>
              </a:lnSpc>
            </a:pPr>
            <a:r>
              <a:rPr lang="en-US" altLang="ko-KR" sz="900" dirty="0"/>
              <a:t>UPDATE</a:t>
            </a:r>
          </a:p>
        </p:txBody>
      </p:sp>
      <p:pic>
        <p:nvPicPr>
          <p:cNvPr id="11" name="Picture 7" descr="C:\Users\hongjon\Documents\Proposal\ICON\Common_Icons\Common_Icons\Magnifying_glass\Magnifying_glass_RGB\Magnifying_glass_RGB_blue_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5809" y="4714473"/>
            <a:ext cx="222460" cy="215570"/>
          </a:xfrm>
          <a:prstGeom prst="rect">
            <a:avLst/>
          </a:prstGeom>
          <a:solidFill>
            <a:schemeClr val="tx2"/>
          </a:solidFill>
          <a:ln>
            <a:noFill/>
          </a:ln>
        </p:spPr>
      </p:pic>
      <p:sp>
        <p:nvSpPr>
          <p:cNvPr id="12" name="Rounded Rectangle 8"/>
          <p:cNvSpPr/>
          <p:nvPr/>
        </p:nvSpPr>
        <p:spPr>
          <a:xfrm>
            <a:off x="4942284" y="4977399"/>
            <a:ext cx="837469" cy="251801"/>
          </a:xfrm>
          <a:prstGeom prst="roundRect">
            <a:avLst/>
          </a:prstGeom>
          <a:solidFill>
            <a:schemeClr val="tx2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90000"/>
              </a:lnSpc>
            </a:pPr>
            <a:r>
              <a:rPr lang="en-US" altLang="ko-KR" sz="900" dirty="0"/>
              <a:t>DELETE</a:t>
            </a:r>
          </a:p>
        </p:txBody>
      </p:sp>
      <p:pic>
        <p:nvPicPr>
          <p:cNvPr id="13" name="Picture 9" descr="C:\Users\hongjon\Documents\Proposal\ICON\Common_Icons\Common_Icons\Magnifying_glass\Magnifying_glass_RGB\Magnifying_glass_RGB_blue_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292" y="5013630"/>
            <a:ext cx="222460" cy="215570"/>
          </a:xfrm>
          <a:prstGeom prst="rect">
            <a:avLst/>
          </a:prstGeom>
          <a:solidFill>
            <a:schemeClr val="tx2"/>
          </a:solidFill>
          <a:ln>
            <a:noFill/>
          </a:ln>
        </p:spPr>
      </p:pic>
      <p:sp>
        <p:nvSpPr>
          <p:cNvPr id="14" name="Rounded Rectangle 10"/>
          <p:cNvSpPr/>
          <p:nvPr/>
        </p:nvSpPr>
        <p:spPr>
          <a:xfrm>
            <a:off x="4192989" y="5540366"/>
            <a:ext cx="1586764" cy="251801"/>
          </a:xfrm>
          <a:prstGeom prst="roundRect">
            <a:avLst/>
          </a:prstGeom>
          <a:solidFill>
            <a:schemeClr val="tx2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90000"/>
              </a:lnSpc>
            </a:pPr>
            <a:r>
              <a:rPr lang="en-US" altLang="ko-KR" sz="900" dirty="0"/>
              <a:t>CREATE TEMP TABLE</a:t>
            </a:r>
          </a:p>
        </p:txBody>
      </p:sp>
      <p:pic>
        <p:nvPicPr>
          <p:cNvPr id="15" name="Picture 11" descr="C:\Users\hongjon\Documents\Proposal\ICON\Common_Icons\Common_Icons\Magnifying_glass\Magnifying_glass_RGB\Magnifying_glass_RGB_blue_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4997" y="5576597"/>
            <a:ext cx="222460" cy="215570"/>
          </a:xfrm>
          <a:prstGeom prst="rect">
            <a:avLst/>
          </a:prstGeom>
          <a:solidFill>
            <a:schemeClr val="tx2"/>
          </a:solidFill>
          <a:ln>
            <a:noFill/>
          </a:ln>
        </p:spPr>
      </p:pic>
      <p:sp>
        <p:nvSpPr>
          <p:cNvPr id="16" name="말풍선: 사각형 22">
            <a:extLst>
              <a:ext uri="{FF2B5EF4-FFF2-40B4-BE49-F238E27FC236}">
                <a16:creationId xmlns:a16="http://schemas.microsoft.com/office/drawing/2014/main" id="{00057646-3484-4FEE-9CF3-0EF9E08CF118}"/>
              </a:ext>
            </a:extLst>
          </p:cNvPr>
          <p:cNvSpPr/>
          <p:nvPr/>
        </p:nvSpPr>
        <p:spPr>
          <a:xfrm>
            <a:off x="4317034" y="340274"/>
            <a:ext cx="2643062" cy="352422"/>
          </a:xfrm>
          <a:prstGeom prst="wedgeRectCallout">
            <a:avLst>
              <a:gd name="adj1" fmla="val -85563"/>
              <a:gd name="adj2" fmla="val 4960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>
                <a:solidFill>
                  <a:schemeClr val="bg1"/>
                </a:solidFill>
              </a:rPr>
              <a:t>Vertica 9.3 </a:t>
            </a:r>
            <a:r>
              <a:rPr lang="ko-KR" altLang="en-US" sz="700" dirty="0">
                <a:solidFill>
                  <a:schemeClr val="bg1"/>
                </a:solidFill>
              </a:rPr>
              <a:t>이후 부터 기본적으로 모든 </a:t>
            </a:r>
            <a:r>
              <a:rPr lang="en-US" altLang="ko-KR" sz="700" dirty="0">
                <a:solidFill>
                  <a:schemeClr val="bg1"/>
                </a:solidFill>
              </a:rPr>
              <a:t>DML</a:t>
            </a:r>
            <a:r>
              <a:rPr lang="ko-KR" altLang="en-US" sz="700" dirty="0">
                <a:solidFill>
                  <a:schemeClr val="bg1"/>
                </a:solidFill>
              </a:rPr>
              <a:t>은 </a:t>
            </a:r>
            <a:r>
              <a:rPr lang="en-US" altLang="ko-KR" sz="700" dirty="0">
                <a:solidFill>
                  <a:schemeClr val="bg1"/>
                </a:solidFill>
              </a:rPr>
              <a:t>Direct</a:t>
            </a:r>
            <a:r>
              <a:rPr lang="ko-KR" altLang="en-US" sz="700" dirty="0">
                <a:solidFill>
                  <a:schemeClr val="bg1"/>
                </a:solidFill>
              </a:rPr>
              <a:t>가 적용됨</a:t>
            </a:r>
          </a:p>
        </p:txBody>
      </p:sp>
    </p:spTree>
    <p:extLst>
      <p:ext uri="{BB962C8B-B14F-4D97-AF65-F5344CB8AC3E}">
        <p14:creationId xmlns:p14="http://schemas.microsoft.com/office/powerpoint/2010/main" val="28265895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데이터 로드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데이터 로드</a:t>
            </a:r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기본 사용법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데이터 파일 준비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적재할 데이터의 위치는 </a:t>
            </a:r>
            <a:r>
              <a:rPr lang="en-US" altLang="ko-KR" sz="1100" dirty="0" err="1"/>
              <a:t>Vertica</a:t>
            </a:r>
            <a:r>
              <a:rPr lang="en-US" altLang="ko-KR" sz="1100" dirty="0"/>
              <a:t> </a:t>
            </a:r>
            <a:r>
              <a:rPr lang="ko-KR" altLang="en-US" sz="1100" dirty="0"/>
              <a:t>클러스터 또는 클라이언트 모두 가능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UTF8 </a:t>
            </a:r>
            <a:r>
              <a:rPr lang="ko-KR" altLang="en-US" sz="1100" dirty="0"/>
              <a:t>형식이 아니라면 사전에 변환해야 함</a:t>
            </a:r>
            <a:endParaRPr lang="en-US" altLang="ko-KR" sz="1100" dirty="0"/>
          </a:p>
          <a:p>
            <a:pPr marL="571500" lvl="3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dirty="0"/>
              <a:t>예</a:t>
            </a:r>
            <a:r>
              <a:rPr lang="en-US" altLang="ko-KR" sz="1100" dirty="0"/>
              <a:t>) </a:t>
            </a:r>
            <a:r>
              <a:rPr lang="en-US" altLang="ko-KR" sz="1100" dirty="0" err="1"/>
              <a:t>iconv</a:t>
            </a:r>
            <a:r>
              <a:rPr lang="en-US" altLang="ko-KR" sz="1100" dirty="0"/>
              <a:t> –f KS5601 –t utf-8 &lt; data.txt &gt; data_utf8.txt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데이터 파일은 </a:t>
            </a:r>
            <a:r>
              <a:rPr lang="en-US" altLang="ko-KR" sz="1100" dirty="0"/>
              <a:t>named pipe</a:t>
            </a:r>
            <a:r>
              <a:rPr lang="ko-KR" altLang="en-US" sz="1100" dirty="0"/>
              <a:t>도 가능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데이터 적재 후 </a:t>
            </a:r>
            <a:r>
              <a:rPr lang="en-US" altLang="ko-KR" sz="1100" dirty="0"/>
              <a:t>UTF8 </a:t>
            </a:r>
            <a:r>
              <a:rPr lang="ko-KR" altLang="en-US" sz="1100" dirty="0"/>
              <a:t>형식 확인</a:t>
            </a:r>
            <a:endParaRPr lang="en-US" altLang="ko-KR" sz="1100" dirty="0"/>
          </a:p>
          <a:p>
            <a:pPr marL="571500" lvl="3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dirty="0"/>
              <a:t>예</a:t>
            </a:r>
            <a:r>
              <a:rPr lang="en-US" altLang="ko-KR" sz="1100" dirty="0"/>
              <a:t>) SELECT col1 FROM table</a:t>
            </a:r>
            <a:r>
              <a:rPr lang="ko-KR" altLang="en-US" sz="1100" dirty="0"/>
              <a:t>명</a:t>
            </a:r>
            <a:r>
              <a:rPr lang="en-US" altLang="ko-KR" sz="1100" dirty="0"/>
              <a:t> WHERE ISUTF8(col1) = FALSE;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사용 구문 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COPY &lt;</a:t>
            </a:r>
            <a:r>
              <a:rPr lang="en-US" altLang="ko-KR" sz="1100" dirty="0" err="1"/>
              <a:t>table_name</a:t>
            </a:r>
            <a:r>
              <a:rPr lang="en-US" altLang="ko-KR" sz="1100" dirty="0"/>
              <a:t>&gt; FROM &lt;</a:t>
            </a:r>
            <a:r>
              <a:rPr lang="en-US" altLang="ko-KR" sz="1100" dirty="0" err="1"/>
              <a:t>data_file</a:t>
            </a:r>
            <a:r>
              <a:rPr lang="en-US" altLang="ko-KR" sz="1100" dirty="0"/>
              <a:t>&gt; DIRECT ;</a:t>
            </a:r>
          </a:p>
          <a:p>
            <a:pPr marL="571500" lvl="3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dirty="0"/>
              <a:t>데이터 파일의 기본</a:t>
            </a:r>
            <a:r>
              <a:rPr lang="en-US" altLang="ko-KR" sz="1100" dirty="0"/>
              <a:t> delimiter</a:t>
            </a:r>
            <a:r>
              <a:rPr lang="ko-KR" altLang="en-US" sz="1100" dirty="0"/>
              <a:t>로 파이프기호문자</a:t>
            </a:r>
            <a:endParaRPr lang="en-US" altLang="ko-KR" sz="1100" dirty="0"/>
          </a:p>
          <a:p>
            <a:pPr marL="571500" lvl="3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dirty="0"/>
              <a:t>데이터 파일의 전체 경로는 </a:t>
            </a:r>
            <a:r>
              <a:rPr lang="en-US" altLang="ko-KR" sz="1100" dirty="0" err="1"/>
              <a:t>Vertica</a:t>
            </a:r>
            <a:r>
              <a:rPr lang="en-US" altLang="ko-KR" sz="1100" dirty="0"/>
              <a:t> </a:t>
            </a:r>
            <a:r>
              <a:rPr lang="ko-KR" altLang="en-US" sz="1100" dirty="0"/>
              <a:t>클러스터 내에 파일 시스템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COPY &lt;</a:t>
            </a:r>
            <a:r>
              <a:rPr lang="en-US" altLang="ko-KR" sz="1100" dirty="0" err="1"/>
              <a:t>table_name</a:t>
            </a:r>
            <a:r>
              <a:rPr lang="en-US" altLang="ko-KR" sz="1100" dirty="0"/>
              <a:t>&gt; FROM LOCAL &lt;</a:t>
            </a:r>
            <a:r>
              <a:rPr lang="en-US" altLang="ko-KR" sz="1100" dirty="0" err="1"/>
              <a:t>data_file</a:t>
            </a:r>
            <a:r>
              <a:rPr lang="en-US" altLang="ko-KR" sz="1100" dirty="0"/>
              <a:t>&gt; DIRECT ;</a:t>
            </a:r>
          </a:p>
          <a:p>
            <a:pPr marL="571500" lvl="3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dirty="0"/>
              <a:t>데이터 파일이 </a:t>
            </a:r>
            <a:r>
              <a:rPr lang="en-US" altLang="ko-KR" sz="1100" dirty="0" err="1"/>
              <a:t>Vertica</a:t>
            </a:r>
            <a:r>
              <a:rPr lang="en-US" altLang="ko-KR" sz="1100" dirty="0"/>
              <a:t> Client </a:t>
            </a:r>
            <a:r>
              <a:rPr lang="ko-KR" altLang="en-US" sz="1100" dirty="0"/>
              <a:t>내에 존재할 경우</a:t>
            </a: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Named pipe</a:t>
            </a:r>
            <a:r>
              <a:rPr lang="ko-KR" altLang="en-US" sz="1100" b="1" dirty="0"/>
              <a:t>를 이용한 </a:t>
            </a:r>
            <a:r>
              <a:rPr lang="en-US" altLang="ko-KR" sz="1100" b="1" dirty="0"/>
              <a:t>UTF8 </a:t>
            </a:r>
            <a:r>
              <a:rPr lang="ko-KR" altLang="en-US" sz="1100" b="1" dirty="0"/>
              <a:t>변환 예제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고려사항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 err="1"/>
              <a:t>Iconv</a:t>
            </a:r>
            <a:r>
              <a:rPr lang="ko-KR" altLang="en-US" sz="1100" dirty="0"/>
              <a:t>를 통해 </a:t>
            </a:r>
            <a:r>
              <a:rPr lang="en-US" altLang="ko-KR" sz="1100" dirty="0"/>
              <a:t>character set</a:t>
            </a:r>
            <a:r>
              <a:rPr lang="ko-KR" altLang="en-US" sz="1100" dirty="0"/>
              <a:t>을 변환할 때 </a:t>
            </a:r>
            <a:r>
              <a:rPr lang="en-US" altLang="ko-KR" sz="1100" dirty="0"/>
              <a:t>named pipe</a:t>
            </a:r>
            <a:r>
              <a:rPr lang="ko-KR" altLang="en-US" sz="1100" dirty="0"/>
              <a:t>를 이용하는 것이 작업 영역의 디스크</a:t>
            </a:r>
            <a:r>
              <a:rPr lang="en-US" altLang="ko-KR" sz="1100" dirty="0"/>
              <a:t> </a:t>
            </a:r>
            <a:r>
              <a:rPr lang="ko-KR" altLang="en-US" sz="1100" dirty="0"/>
              <a:t>용량을 절감할 수 있음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 err="1"/>
              <a:t>iconv</a:t>
            </a:r>
            <a:r>
              <a:rPr lang="ko-KR" altLang="en-US" sz="1100" dirty="0"/>
              <a:t>가 수행될 때의 </a:t>
            </a:r>
            <a:r>
              <a:rPr lang="en-US" altLang="ko-KR" sz="1100" dirty="0"/>
              <a:t>CPU </a:t>
            </a:r>
            <a:r>
              <a:rPr lang="ko-KR" altLang="en-US" sz="1100" dirty="0" err="1"/>
              <a:t>사용율을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모니터하여</a:t>
            </a:r>
            <a:r>
              <a:rPr lang="ko-KR" altLang="en-US" sz="1100" dirty="0"/>
              <a:t> 동시 작업 수를 조정한다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병렬적재를 감안하여 </a:t>
            </a:r>
            <a:r>
              <a:rPr lang="en-US" altLang="ko-KR" sz="1100" dirty="0"/>
              <a:t>named pipe</a:t>
            </a:r>
            <a:r>
              <a:rPr lang="ko-KR" altLang="en-US" sz="1100" dirty="0"/>
              <a:t>의 이름은 고유해야 한다</a:t>
            </a:r>
            <a:endParaRPr lang="en-US" altLang="ko-KR" sz="1100" dirty="0"/>
          </a:p>
          <a:p>
            <a:pPr lvl="3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ko-KR" altLang="en-US" sz="1100" dirty="0"/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5"/>
          <p:cNvSpPr/>
          <p:nvPr/>
        </p:nvSpPr>
        <p:spPr>
          <a:xfrm>
            <a:off x="4838209" y="2708920"/>
            <a:ext cx="837469" cy="251801"/>
          </a:xfrm>
          <a:prstGeom prst="roundRect">
            <a:avLst/>
          </a:prstGeom>
          <a:solidFill>
            <a:schemeClr val="tx2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90000"/>
              </a:lnSpc>
            </a:pPr>
            <a:r>
              <a:rPr lang="en-US" altLang="ko-KR" sz="900" dirty="0"/>
              <a:t>COPY</a:t>
            </a:r>
          </a:p>
        </p:txBody>
      </p:sp>
      <p:pic>
        <p:nvPicPr>
          <p:cNvPr id="9" name="Picture 6" descr="C:\Users\hongjon\Documents\Proposal\ICON\Common_Icons\Common_Icons\Magnifying_glass\Magnifying_glass_RGB\Magnifying_glass_RGB_blue_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0217" y="2745151"/>
            <a:ext cx="222460" cy="215570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10" name="Content Placeholder 4"/>
          <p:cNvSpPr txBox="1">
            <a:spLocks/>
          </p:cNvSpPr>
          <p:nvPr/>
        </p:nvSpPr>
        <p:spPr>
          <a:xfrm>
            <a:off x="695400" y="4077072"/>
            <a:ext cx="5255305" cy="1152128"/>
          </a:xfrm>
          <a:prstGeom prst="roundRect">
            <a:avLst>
              <a:gd name="adj" fmla="val 5874"/>
            </a:avLst>
          </a:prstGeom>
          <a:solidFill>
            <a:schemeClr val="bg1"/>
          </a:solidFill>
          <a:ln w="9525" cap="flat" cmpd="sng" algn="ctr">
            <a:solidFill>
              <a:schemeClr val="tx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10800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HP Simplified" panose="020B0604020204020204" pitchFamily="34" charset="0"/>
              <a:buNone/>
              <a:defRPr sz="1100" b="1" kern="1200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11480" indent="-182880" algn="l" defTabSz="914400" rtl="0" eaLnBrk="1" latinLnBrk="0" hangingPunct="1">
              <a:lnSpc>
                <a:spcPct val="100000"/>
              </a:lnSpc>
              <a:spcBef>
                <a:spcPts val="0"/>
              </a:spcBef>
              <a:buSzPct val="80000"/>
              <a:buFont typeface="Courier New" panose="02070309020205020404" pitchFamily="49" charset="0"/>
              <a:buChar char="o"/>
              <a:defRPr sz="1100" kern="1200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548640" indent="-13716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HP Simplified" panose="020B0604020204020204" pitchFamily="34" charset="0"/>
              <a:buChar char="•"/>
              <a:defRPr sz="1100" kern="1200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 marL="731520" indent="-137160" algn="l" defTabSz="914400" rtl="0" eaLnBrk="1" latinLnBrk="0" hangingPunct="1">
              <a:lnSpc>
                <a:spcPct val="100000"/>
              </a:lnSpc>
              <a:spcBef>
                <a:spcPts val="0"/>
              </a:spcBef>
              <a:buSzPct val="80000"/>
              <a:buFont typeface="HP Simplified" panose="020B0604020204020204" pitchFamily="34" charset="0"/>
              <a:buChar char="–"/>
              <a:defRPr sz="1100" kern="1200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4pPr>
            <a:lvl5pPr marL="868680" indent="-13716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HP Simplified" panose="020B0604020204020204" pitchFamily="34" charset="0"/>
              <a:buChar char="•"/>
              <a:defRPr sz="1100" kern="1200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5pPr>
            <a:lvl6pPr marL="105156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HP Simplified" panose="020B0604020204020204" pitchFamily="34" charset="0"/>
              <a:buChar char="–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18872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HP Simplified" panose="020B0604020204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HP Simplified" panose="020B0604020204020204" pitchFamily="34" charset="0"/>
              <a:buChar char="–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55448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HP Simplified" panose="020B0604020204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0" dirty="0">
                <a:solidFill>
                  <a:schemeClr val="tx1"/>
                </a:solidFill>
                <a:latin typeface="+mn-lt"/>
                <a:ea typeface="+mn-ea"/>
                <a:cs typeface="Courier New" panose="02070309020205020404" pitchFamily="49" charset="0"/>
              </a:rPr>
              <a:t>\! </a:t>
            </a:r>
            <a:r>
              <a:rPr lang="en-US" sz="900" b="0" dirty="0" err="1">
                <a:solidFill>
                  <a:schemeClr val="tx1"/>
                </a:solidFill>
                <a:latin typeface="+mn-lt"/>
                <a:ea typeface="+mn-ea"/>
                <a:cs typeface="Courier New" panose="02070309020205020404" pitchFamily="49" charset="0"/>
              </a:rPr>
              <a:t>mkfifo</a:t>
            </a:r>
            <a:r>
              <a:rPr lang="en-US" sz="900" b="0" dirty="0">
                <a:solidFill>
                  <a:schemeClr val="tx1"/>
                </a:solidFill>
                <a:latin typeface="+mn-lt"/>
                <a:ea typeface="+mn-ea"/>
                <a:cs typeface="Courier New" panose="02070309020205020404" pitchFamily="49" charset="0"/>
              </a:rPr>
              <a:t> /</a:t>
            </a:r>
            <a:r>
              <a:rPr lang="en-US" sz="900" b="0" dirty="0" err="1">
                <a:solidFill>
                  <a:schemeClr val="tx1"/>
                </a:solidFill>
                <a:latin typeface="+mn-lt"/>
                <a:ea typeface="+mn-ea"/>
                <a:cs typeface="Courier New" panose="02070309020205020404" pitchFamily="49" charset="0"/>
              </a:rPr>
              <a:t>tmp</a:t>
            </a:r>
            <a:r>
              <a:rPr lang="en-US" sz="900" b="0" dirty="0">
                <a:solidFill>
                  <a:schemeClr val="tx1"/>
                </a:solidFill>
                <a:latin typeface="+mn-lt"/>
                <a:ea typeface="+mn-ea"/>
                <a:cs typeface="Courier New" panose="02070309020205020404" pitchFamily="49" charset="0"/>
              </a:rPr>
              <a:t>/</a:t>
            </a:r>
            <a:r>
              <a:rPr lang="en-US" sz="900" b="0" dirty="0" err="1">
                <a:solidFill>
                  <a:schemeClr val="tx1"/>
                </a:solidFill>
                <a:latin typeface="+mn-lt"/>
                <a:ea typeface="+mn-ea"/>
                <a:cs typeface="Courier New" panose="02070309020205020404" pitchFamily="49" charset="0"/>
              </a:rPr>
              <a:t>test.pipe</a:t>
            </a:r>
            <a:endParaRPr lang="en-US" sz="900" b="0" dirty="0">
              <a:solidFill>
                <a:schemeClr val="tx1"/>
              </a:solidFill>
              <a:latin typeface="+mn-lt"/>
              <a:ea typeface="+mn-ea"/>
              <a:cs typeface="Courier New" panose="02070309020205020404" pitchFamily="49" charset="0"/>
            </a:endParaRPr>
          </a:p>
          <a:p>
            <a:r>
              <a:rPr lang="en-US" sz="900" b="0" dirty="0">
                <a:solidFill>
                  <a:schemeClr val="tx1"/>
                </a:solidFill>
                <a:latin typeface="+mn-lt"/>
                <a:ea typeface="+mn-ea"/>
                <a:cs typeface="Courier New" panose="02070309020205020404" pitchFamily="49" charset="0"/>
              </a:rPr>
              <a:t>\! </a:t>
            </a:r>
            <a:r>
              <a:rPr lang="en-US" sz="900" b="0" dirty="0" err="1">
                <a:solidFill>
                  <a:schemeClr val="tx1"/>
                </a:solidFill>
                <a:latin typeface="+mn-lt"/>
                <a:ea typeface="+mn-ea"/>
                <a:cs typeface="Courier New" panose="02070309020205020404" pitchFamily="49" charset="0"/>
              </a:rPr>
              <a:t>iconv</a:t>
            </a:r>
            <a:r>
              <a:rPr lang="en-US" sz="900" b="0" dirty="0">
                <a:solidFill>
                  <a:schemeClr val="tx1"/>
                </a:solidFill>
                <a:latin typeface="+mn-lt"/>
                <a:ea typeface="+mn-ea"/>
                <a:cs typeface="Courier New" panose="02070309020205020404" pitchFamily="49" charset="0"/>
              </a:rPr>
              <a:t> -f MSCP949 -t utf-8 &lt; /</a:t>
            </a:r>
            <a:r>
              <a:rPr lang="en-US" sz="900" b="0" dirty="0" err="1">
                <a:solidFill>
                  <a:schemeClr val="tx1"/>
                </a:solidFill>
                <a:latin typeface="+mn-lt"/>
                <a:ea typeface="+mn-ea"/>
                <a:cs typeface="Courier New" panose="02070309020205020404" pitchFamily="49" charset="0"/>
              </a:rPr>
              <a:t>tmp</a:t>
            </a:r>
            <a:r>
              <a:rPr lang="en-US" sz="900" b="0" dirty="0">
                <a:solidFill>
                  <a:schemeClr val="tx1"/>
                </a:solidFill>
                <a:latin typeface="+mn-lt"/>
                <a:ea typeface="+mn-ea"/>
                <a:cs typeface="Courier New" panose="02070309020205020404" pitchFamily="49" charset="0"/>
              </a:rPr>
              <a:t>/test.txt &gt; /</a:t>
            </a:r>
            <a:r>
              <a:rPr lang="en-US" sz="900" b="0" dirty="0" err="1">
                <a:solidFill>
                  <a:schemeClr val="tx1"/>
                </a:solidFill>
                <a:latin typeface="+mn-lt"/>
                <a:ea typeface="+mn-ea"/>
                <a:cs typeface="Courier New" panose="02070309020205020404" pitchFamily="49" charset="0"/>
              </a:rPr>
              <a:t>tmp</a:t>
            </a:r>
            <a:r>
              <a:rPr lang="en-US" sz="900" b="0" dirty="0">
                <a:solidFill>
                  <a:schemeClr val="tx1"/>
                </a:solidFill>
                <a:latin typeface="+mn-lt"/>
                <a:ea typeface="+mn-ea"/>
                <a:cs typeface="Courier New" panose="02070309020205020404" pitchFamily="49" charset="0"/>
              </a:rPr>
              <a:t>/</a:t>
            </a:r>
            <a:r>
              <a:rPr lang="en-US" sz="900" b="0" dirty="0" err="1">
                <a:solidFill>
                  <a:schemeClr val="tx1"/>
                </a:solidFill>
                <a:latin typeface="+mn-lt"/>
                <a:ea typeface="+mn-ea"/>
                <a:cs typeface="Courier New" panose="02070309020205020404" pitchFamily="49" charset="0"/>
              </a:rPr>
              <a:t>test.pipe</a:t>
            </a:r>
            <a:r>
              <a:rPr lang="en-US" sz="900" b="0" dirty="0">
                <a:solidFill>
                  <a:schemeClr val="tx1"/>
                </a:solidFill>
                <a:latin typeface="+mn-lt"/>
                <a:ea typeface="+mn-ea"/>
                <a:cs typeface="Courier New" panose="02070309020205020404" pitchFamily="49" charset="0"/>
              </a:rPr>
              <a:t> &amp;</a:t>
            </a:r>
          </a:p>
          <a:p>
            <a:endParaRPr lang="en-US" sz="900" b="0" dirty="0">
              <a:solidFill>
                <a:schemeClr val="tx1"/>
              </a:solidFill>
              <a:latin typeface="+mn-lt"/>
              <a:ea typeface="+mn-ea"/>
              <a:cs typeface="Courier New" panose="02070309020205020404" pitchFamily="49" charset="0"/>
            </a:endParaRPr>
          </a:p>
          <a:p>
            <a:endParaRPr lang="en-US" sz="900" b="0" dirty="0">
              <a:solidFill>
                <a:schemeClr val="tx1"/>
              </a:solidFill>
              <a:latin typeface="+mn-lt"/>
              <a:ea typeface="+mn-ea"/>
              <a:cs typeface="Courier New" panose="02070309020205020404" pitchFamily="49" charset="0"/>
            </a:endParaRPr>
          </a:p>
          <a:p>
            <a:r>
              <a:rPr lang="en-US" sz="900" b="0" dirty="0">
                <a:solidFill>
                  <a:schemeClr val="tx1"/>
                </a:solidFill>
                <a:latin typeface="+mn-lt"/>
                <a:ea typeface="+mn-ea"/>
                <a:cs typeface="Courier New" panose="02070309020205020404" pitchFamily="49" charset="0"/>
              </a:rPr>
              <a:t>COPY </a:t>
            </a:r>
            <a:r>
              <a:rPr lang="en-US" sz="900" b="0" dirty="0" err="1">
                <a:solidFill>
                  <a:schemeClr val="tx1"/>
                </a:solidFill>
                <a:latin typeface="+mn-lt"/>
                <a:ea typeface="+mn-ea"/>
                <a:cs typeface="Courier New" panose="02070309020205020404" pitchFamily="49" charset="0"/>
              </a:rPr>
              <a:t>copy_test</a:t>
            </a:r>
            <a:r>
              <a:rPr lang="en-US" sz="900" b="0" dirty="0">
                <a:solidFill>
                  <a:schemeClr val="tx1"/>
                </a:solidFill>
                <a:latin typeface="+mn-lt"/>
                <a:ea typeface="+mn-ea"/>
                <a:cs typeface="Courier New" panose="02070309020205020404" pitchFamily="49" charset="0"/>
              </a:rPr>
              <a:t> FROM '/</a:t>
            </a:r>
            <a:r>
              <a:rPr lang="en-US" sz="900" b="0" dirty="0" err="1">
                <a:solidFill>
                  <a:schemeClr val="tx1"/>
                </a:solidFill>
                <a:latin typeface="+mn-lt"/>
                <a:ea typeface="+mn-ea"/>
                <a:cs typeface="Courier New" panose="02070309020205020404" pitchFamily="49" charset="0"/>
              </a:rPr>
              <a:t>tmp</a:t>
            </a:r>
            <a:r>
              <a:rPr lang="en-US" sz="900" b="0" dirty="0">
                <a:solidFill>
                  <a:schemeClr val="tx1"/>
                </a:solidFill>
                <a:latin typeface="+mn-lt"/>
                <a:ea typeface="+mn-ea"/>
                <a:cs typeface="Courier New" panose="02070309020205020404" pitchFamily="49" charset="0"/>
              </a:rPr>
              <a:t>/</a:t>
            </a:r>
            <a:r>
              <a:rPr lang="en-US" sz="900" b="0" dirty="0" err="1">
                <a:solidFill>
                  <a:schemeClr val="tx1"/>
                </a:solidFill>
                <a:latin typeface="+mn-lt"/>
                <a:ea typeface="+mn-ea"/>
                <a:cs typeface="Courier New" panose="02070309020205020404" pitchFamily="49" charset="0"/>
              </a:rPr>
              <a:t>test.pipe</a:t>
            </a:r>
            <a:r>
              <a:rPr lang="en-US" sz="900" b="0" dirty="0">
                <a:solidFill>
                  <a:schemeClr val="tx1"/>
                </a:solidFill>
                <a:latin typeface="+mn-lt"/>
                <a:ea typeface="+mn-ea"/>
                <a:cs typeface="Courier New" panose="02070309020205020404" pitchFamily="49" charset="0"/>
              </a:rPr>
              <a:t>‘ DIRECT ;</a:t>
            </a:r>
          </a:p>
          <a:p>
            <a:endParaRPr lang="en-US" sz="900" b="0" dirty="0">
              <a:solidFill>
                <a:schemeClr val="tx1"/>
              </a:solidFill>
              <a:latin typeface="+mn-lt"/>
              <a:ea typeface="+mn-ea"/>
              <a:cs typeface="Courier New" panose="02070309020205020404" pitchFamily="49" charset="0"/>
            </a:endParaRPr>
          </a:p>
          <a:p>
            <a:r>
              <a:rPr lang="en-US" sz="900" b="0" dirty="0">
                <a:solidFill>
                  <a:schemeClr val="tx1"/>
                </a:solidFill>
                <a:latin typeface="+mn-lt"/>
                <a:ea typeface="+mn-ea"/>
                <a:cs typeface="Courier New" panose="02070309020205020404" pitchFamily="49" charset="0"/>
              </a:rPr>
              <a:t>\! </a:t>
            </a:r>
            <a:r>
              <a:rPr lang="en-US" sz="900" b="0" dirty="0" err="1">
                <a:solidFill>
                  <a:schemeClr val="tx1"/>
                </a:solidFill>
                <a:latin typeface="+mn-lt"/>
                <a:ea typeface="+mn-ea"/>
                <a:cs typeface="Courier New" panose="02070309020205020404" pitchFamily="49" charset="0"/>
              </a:rPr>
              <a:t>rm</a:t>
            </a:r>
            <a:r>
              <a:rPr lang="en-US" sz="900" b="0" dirty="0">
                <a:solidFill>
                  <a:schemeClr val="tx1"/>
                </a:solidFill>
                <a:latin typeface="+mn-lt"/>
                <a:ea typeface="+mn-ea"/>
                <a:cs typeface="Courier New" panose="02070309020205020404" pitchFamily="49" charset="0"/>
              </a:rPr>
              <a:t> /</a:t>
            </a:r>
            <a:r>
              <a:rPr lang="en-US" sz="900" b="0" dirty="0" err="1">
                <a:solidFill>
                  <a:schemeClr val="tx1"/>
                </a:solidFill>
                <a:latin typeface="+mn-lt"/>
                <a:ea typeface="+mn-ea"/>
                <a:cs typeface="Courier New" panose="02070309020205020404" pitchFamily="49" charset="0"/>
              </a:rPr>
              <a:t>tmp</a:t>
            </a:r>
            <a:r>
              <a:rPr lang="en-US" sz="900" b="0" dirty="0">
                <a:solidFill>
                  <a:schemeClr val="tx1"/>
                </a:solidFill>
                <a:latin typeface="+mn-lt"/>
                <a:ea typeface="+mn-ea"/>
                <a:cs typeface="Courier New" panose="02070309020205020404" pitchFamily="49" charset="0"/>
              </a:rPr>
              <a:t>/</a:t>
            </a:r>
            <a:r>
              <a:rPr lang="en-US" sz="900" b="0" dirty="0" err="1">
                <a:solidFill>
                  <a:schemeClr val="tx1"/>
                </a:solidFill>
                <a:latin typeface="+mn-lt"/>
                <a:ea typeface="+mn-ea"/>
                <a:cs typeface="Courier New" panose="02070309020205020404" pitchFamily="49" charset="0"/>
              </a:rPr>
              <a:t>test.pipe</a:t>
            </a:r>
            <a:endParaRPr lang="en-US" sz="900" b="0" dirty="0">
              <a:solidFill>
                <a:schemeClr val="tx1"/>
              </a:solidFill>
              <a:latin typeface="+mn-lt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1" name="Rectangular Callout 8"/>
          <p:cNvSpPr/>
          <p:nvPr/>
        </p:nvSpPr>
        <p:spPr>
          <a:xfrm>
            <a:off x="3215680" y="4472555"/>
            <a:ext cx="2635878" cy="180581"/>
          </a:xfrm>
          <a:prstGeom prst="wedgeRectCallout">
            <a:avLst>
              <a:gd name="adj1" fmla="val -91433"/>
              <a:gd name="adj2" fmla="val -90163"/>
            </a:avLst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en-US" altLang="ko-KR" sz="900" i="1" dirty="0">
                <a:solidFill>
                  <a:prstClr val="black"/>
                </a:solidFill>
              </a:rPr>
              <a:t>–t UTF8//IGNORE : </a:t>
            </a:r>
            <a:r>
              <a:rPr lang="ko-KR" altLang="en-US" sz="900" i="1" dirty="0">
                <a:solidFill>
                  <a:prstClr val="black"/>
                </a:solidFill>
              </a:rPr>
              <a:t>지원하지 않는 문자 버림 </a:t>
            </a:r>
            <a:r>
              <a:rPr lang="en-US" altLang="ko-KR" sz="900" i="1" dirty="0">
                <a:solidFill>
                  <a:prstClr val="black"/>
                </a:solidFill>
              </a:rPr>
              <a:t>(Linux) </a:t>
            </a:r>
          </a:p>
        </p:txBody>
      </p:sp>
      <p:sp>
        <p:nvSpPr>
          <p:cNvPr id="12" name="Rectangular Callout 9"/>
          <p:cNvSpPr/>
          <p:nvPr/>
        </p:nvSpPr>
        <p:spPr>
          <a:xfrm>
            <a:off x="3710844" y="4852620"/>
            <a:ext cx="1224136" cy="178847"/>
          </a:xfrm>
          <a:prstGeom prst="wedgeRectCallout">
            <a:avLst>
              <a:gd name="adj1" fmla="val -115870"/>
              <a:gd name="adj2" fmla="val -74609"/>
            </a:avLst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en-US" altLang="ko-KR" sz="900" i="1" dirty="0">
                <a:solidFill>
                  <a:prstClr val="black"/>
                </a:solidFill>
              </a:rPr>
              <a:t>default</a:t>
            </a:r>
            <a:r>
              <a:rPr lang="ko-KR" altLang="en-US" sz="900" i="1" dirty="0">
                <a:solidFill>
                  <a:prstClr val="black"/>
                </a:solidFill>
              </a:rPr>
              <a:t>는 </a:t>
            </a:r>
            <a:r>
              <a:rPr lang="en-US" altLang="ko-KR" sz="900" i="1" dirty="0">
                <a:solidFill>
                  <a:prstClr val="black"/>
                </a:solidFill>
              </a:rPr>
              <a:t>AUTO</a:t>
            </a:r>
          </a:p>
        </p:txBody>
      </p:sp>
      <p:sp>
        <p:nvSpPr>
          <p:cNvPr id="13" name="Rounded Rectangle 10"/>
          <p:cNvSpPr/>
          <p:nvPr/>
        </p:nvSpPr>
        <p:spPr>
          <a:xfrm>
            <a:off x="4838209" y="2169087"/>
            <a:ext cx="837469" cy="251801"/>
          </a:xfrm>
          <a:prstGeom prst="roundRect">
            <a:avLst/>
          </a:prstGeom>
          <a:solidFill>
            <a:schemeClr val="tx2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90000"/>
              </a:lnSpc>
            </a:pPr>
            <a:r>
              <a:rPr lang="en-US" altLang="ko-KR" sz="900" dirty="0"/>
              <a:t>ISUTF8</a:t>
            </a:r>
          </a:p>
        </p:txBody>
      </p:sp>
      <p:pic>
        <p:nvPicPr>
          <p:cNvPr id="14" name="Picture 11" descr="C:\Users\hongjon\Documents\Proposal\ICON\Common_Icons\Common_Icons\Magnifying_glass\Magnifying_glass_RGB\Magnifying_glass_RGB_blue_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0217" y="2205318"/>
            <a:ext cx="222460" cy="215570"/>
          </a:xfrm>
          <a:prstGeom prst="rect">
            <a:avLst/>
          </a:prstGeom>
          <a:solidFill>
            <a:schemeClr val="tx2"/>
          </a:solidFill>
        </p:spPr>
      </p:pic>
    </p:spTree>
    <p:extLst>
      <p:ext uri="{BB962C8B-B14F-4D97-AF65-F5344CB8AC3E}">
        <p14:creationId xmlns:p14="http://schemas.microsoft.com/office/powerpoint/2010/main" val="28975144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COPY </a:t>
            </a:r>
            <a:r>
              <a:rPr lang="ko-KR" altLang="en-US" sz="2800" dirty="0"/>
              <a:t>옵션 활용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데이터 로드</a:t>
            </a:r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 err="1"/>
              <a:t>컬럼</a:t>
            </a:r>
            <a:r>
              <a:rPr lang="ko-KR" altLang="en-US" sz="1100" b="1" dirty="0"/>
              <a:t> 정의가 데이터 파일과 다를 경우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데이터파일에 맞춰 </a:t>
            </a:r>
            <a:r>
              <a:rPr lang="ko-KR" altLang="en-US" sz="1100" dirty="0" err="1"/>
              <a:t>컬럼명을</a:t>
            </a:r>
            <a:r>
              <a:rPr lang="ko-KR" altLang="en-US" sz="1100" dirty="0"/>
              <a:t> 직접 명시한다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시스템 날짜와 같이 자동으로 생성되는 </a:t>
            </a:r>
            <a:r>
              <a:rPr lang="ko-KR" altLang="en-US" sz="1100" dirty="0" err="1"/>
              <a:t>컬럼에</a:t>
            </a:r>
            <a:r>
              <a:rPr lang="ko-KR" altLang="en-US" sz="1100" dirty="0"/>
              <a:t> 대해 정의한다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Filler</a:t>
            </a:r>
            <a:r>
              <a:rPr lang="ko-KR" altLang="en-US" sz="1100" dirty="0"/>
              <a:t>를 이용하여 데이터를 가공한다</a:t>
            </a:r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데이터 </a:t>
            </a:r>
            <a:r>
              <a:rPr lang="ko-KR" altLang="en-US" sz="1100" b="1" dirty="0" err="1"/>
              <a:t>구분자</a:t>
            </a:r>
            <a:r>
              <a:rPr lang="ko-KR" altLang="en-US" sz="1100" b="1" dirty="0"/>
              <a:t> </a:t>
            </a:r>
            <a:r>
              <a:rPr lang="en-US" altLang="ko-KR" sz="1100" b="1" dirty="0"/>
              <a:t>(delimiter) </a:t>
            </a:r>
            <a:r>
              <a:rPr lang="ko-KR" altLang="en-US" sz="1100" b="1" dirty="0"/>
              <a:t>정의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Default delimiter</a:t>
            </a:r>
            <a:r>
              <a:rPr lang="ko-KR" altLang="en-US" sz="1100" dirty="0"/>
              <a:t>는 파이프 기호 </a:t>
            </a:r>
            <a:r>
              <a:rPr lang="en-US" altLang="ko-KR" sz="1100" dirty="0"/>
              <a:t>(‘|’) 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b="1" dirty="0">
                <a:solidFill>
                  <a:schemeClr val="accent1"/>
                </a:solidFill>
              </a:rPr>
              <a:t>DELIMITER</a:t>
            </a:r>
            <a:r>
              <a:rPr lang="en-US" altLang="ko-KR" sz="1100" dirty="0"/>
              <a:t> </a:t>
            </a:r>
            <a:r>
              <a:rPr lang="ko-KR" altLang="en-US" sz="1100" dirty="0"/>
              <a:t>키워드로 사용자 정의 </a:t>
            </a:r>
            <a:r>
              <a:rPr lang="ko-KR" altLang="en-US" sz="1100" dirty="0" err="1"/>
              <a:t>구분자를</a:t>
            </a:r>
            <a:r>
              <a:rPr lang="ko-KR" altLang="en-US" sz="1100" dirty="0"/>
              <a:t> 정의한다 </a:t>
            </a:r>
            <a:r>
              <a:rPr lang="en-US" altLang="ko-KR" sz="1100" dirty="0"/>
              <a:t>(1 byte </a:t>
            </a:r>
            <a:r>
              <a:rPr lang="ko-KR" altLang="en-US" sz="1100" dirty="0"/>
              <a:t>문자</a:t>
            </a:r>
            <a:r>
              <a:rPr lang="en-US" altLang="ko-KR" sz="1100" dirty="0"/>
              <a:t>)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 err="1"/>
              <a:t>아스키코드값을</a:t>
            </a:r>
            <a:r>
              <a:rPr lang="ko-KR" altLang="en-US" sz="1100" dirty="0"/>
              <a:t> 이용하여 특수문자로 정의하는 것이 안전하다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E'\000' ~ E'\177‘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 err="1"/>
              <a:t>데이터값</a:t>
            </a:r>
            <a:r>
              <a:rPr lang="ko-KR" altLang="en-US" sz="1100" dirty="0"/>
              <a:t> 중에 </a:t>
            </a:r>
            <a:r>
              <a:rPr lang="en-US" altLang="ko-KR" sz="1100" dirty="0"/>
              <a:t>delimiter </a:t>
            </a:r>
            <a:r>
              <a:rPr lang="ko-KR" altLang="en-US" sz="1100" dirty="0"/>
              <a:t>문자를 데이터 값으로 인식시키기 위한 </a:t>
            </a:r>
            <a:r>
              <a:rPr lang="en-US" altLang="ko-KR" sz="1100" dirty="0"/>
              <a:t>escape character</a:t>
            </a:r>
            <a:r>
              <a:rPr lang="ko-KR" altLang="en-US" sz="1100" dirty="0"/>
              <a:t>가 있을 경우 </a:t>
            </a:r>
            <a:r>
              <a:rPr lang="en-US" altLang="ko-KR" sz="1100" dirty="0"/>
              <a:t>ESCAPE AS </a:t>
            </a:r>
            <a:r>
              <a:rPr lang="ko-KR" altLang="en-US" sz="1100" dirty="0"/>
              <a:t>옵션을 지정한다</a:t>
            </a:r>
            <a:br>
              <a:rPr lang="en-US" altLang="ko-KR" sz="1100" dirty="0"/>
            </a:br>
            <a:r>
              <a:rPr lang="en-US" altLang="ko-KR" sz="1100" dirty="0"/>
              <a:t>(export </a:t>
            </a:r>
            <a:r>
              <a:rPr lang="ko-KR" altLang="en-US" sz="1100" dirty="0"/>
              <a:t>된 데이터에 포함되어 있는 </a:t>
            </a:r>
            <a:r>
              <a:rPr lang="en-US" altLang="ko-KR" sz="1100" dirty="0"/>
              <a:t>escape </a:t>
            </a:r>
            <a:r>
              <a:rPr lang="ko-KR" altLang="en-US" sz="1100" dirty="0"/>
              <a:t>문자는 보통 데이터로 인식 되어야 하므로 </a:t>
            </a:r>
            <a:r>
              <a:rPr lang="en-US" altLang="ko-KR" sz="1100" b="1" dirty="0">
                <a:solidFill>
                  <a:schemeClr val="accent1"/>
                </a:solidFill>
              </a:rPr>
              <a:t>NO ESCAPE </a:t>
            </a:r>
            <a:r>
              <a:rPr lang="ko-KR" altLang="en-US" sz="1100" dirty="0"/>
              <a:t>옵션 지정</a:t>
            </a:r>
            <a:r>
              <a:rPr lang="en-US" altLang="ko-KR" sz="1100" dirty="0"/>
              <a:t>)</a:t>
            </a:r>
            <a:endParaRPr lang="ko-KR" altLang="en-US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b="1" dirty="0">
                <a:solidFill>
                  <a:schemeClr val="accent1"/>
                </a:solidFill>
              </a:rPr>
              <a:t>ENCLOSED BY </a:t>
            </a:r>
            <a:r>
              <a:rPr lang="ko-KR" altLang="en-US" sz="1100" dirty="0"/>
              <a:t>옵션으로 지정한 문자로 둘러싸인 데이터에 포함된 </a:t>
            </a:r>
            <a:r>
              <a:rPr lang="en-US" altLang="ko-KR" sz="1100" dirty="0"/>
              <a:t>delimiter </a:t>
            </a:r>
            <a:r>
              <a:rPr lang="ko-KR" altLang="en-US" sz="1100" dirty="0"/>
              <a:t>문자는 일반 문자로 인식한다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문자 타입일 경우 정의된 길이보다 데이터가 긴 경우 </a:t>
            </a:r>
            <a:r>
              <a:rPr lang="ko-KR" altLang="en-US" sz="1100" dirty="0" err="1"/>
              <a:t>버티카는</a:t>
            </a:r>
            <a:r>
              <a:rPr lang="ko-KR" altLang="en-US" sz="1100" dirty="0"/>
              <a:t> 자동으로 문자열을 잘라서 처리하므로 데이터 보존을 위해</a:t>
            </a:r>
            <a:r>
              <a:rPr lang="ko-KR" altLang="en-US" sz="1100" b="1" dirty="0">
                <a:solidFill>
                  <a:schemeClr val="accent1"/>
                </a:solidFill>
              </a:rPr>
              <a:t> </a:t>
            </a:r>
            <a:r>
              <a:rPr lang="en-US" altLang="ko-KR" sz="1100" b="1" dirty="0" err="1">
                <a:solidFill>
                  <a:schemeClr val="accent1"/>
                </a:solidFill>
              </a:rPr>
              <a:t>ENFORCELENGTH</a:t>
            </a:r>
            <a:r>
              <a:rPr lang="en-US" altLang="ko-KR" sz="1100" b="1" dirty="0">
                <a:solidFill>
                  <a:schemeClr val="accent1"/>
                </a:solidFill>
              </a:rPr>
              <a:t> </a:t>
            </a:r>
            <a:r>
              <a:rPr lang="ko-KR" altLang="en-US" sz="1100" dirty="0"/>
              <a:t>옵션을 지정해야 한다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ko-KR" altLang="en-US" sz="1100" dirty="0"/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Content Placeholder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1544237"/>
              </p:ext>
            </p:extLst>
          </p:nvPr>
        </p:nvGraphicFramePr>
        <p:xfrm>
          <a:off x="3266605" y="4689589"/>
          <a:ext cx="2434629" cy="277770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2434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629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</a:rPr>
                        <a:t>test.txt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61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+mn-lt"/>
                          <a:ea typeface="+mn-ea"/>
                        </a:rPr>
                        <a:t>ABC|5678|text:Vertica Analytic Database</a:t>
                      </a:r>
                    </a:p>
                  </a:txBody>
                  <a:tcPr marL="36000" marR="3600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Content Placeholder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7480809"/>
              </p:ext>
            </p:extLst>
          </p:nvPr>
        </p:nvGraphicFramePr>
        <p:xfrm>
          <a:off x="9143107" y="6041856"/>
          <a:ext cx="2434629" cy="411480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2434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629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</a:rPr>
                        <a:t>test.txt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610">
                <a:tc>
                  <a:txBody>
                    <a:bodyPr/>
                    <a:lstStyle/>
                    <a:p>
                      <a:pPr latinLnBrk="1"/>
                      <a:r>
                        <a:rPr lang="pt-BR" altLang="ko-KR" sz="900" dirty="0">
                          <a:latin typeface="+mn-lt"/>
                          <a:ea typeface="+mn-ea"/>
                        </a:rPr>
                        <a:t>AB^5678^abc$^def$^$^^2015-01-01</a:t>
                      </a:r>
                    </a:p>
                    <a:p>
                      <a:pPr latinLnBrk="1"/>
                      <a:r>
                        <a:rPr lang="pt-BR" altLang="ko-KR" sz="900" dirty="0">
                          <a:latin typeface="+mn-lt"/>
                          <a:ea typeface="+mn-ea"/>
                        </a:rPr>
                        <a:t>CD^1234^"a^b^c^d^e^"^2015-01-01</a:t>
                      </a:r>
                    </a:p>
                  </a:txBody>
                  <a:tcPr marL="36000" marR="3600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Rounded Rectangle 15"/>
          <p:cNvSpPr/>
          <p:nvPr/>
        </p:nvSpPr>
        <p:spPr>
          <a:xfrm>
            <a:off x="693812" y="2094295"/>
            <a:ext cx="5057527" cy="2479839"/>
          </a:xfrm>
          <a:prstGeom prst="roundRect">
            <a:avLst>
              <a:gd name="adj" fmla="val 4570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COPY 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copy_test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(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col1,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col2,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f_char1 FILLER VARCHAR(100),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col3 AS SUBSTRING(f_char1,6),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col4 AS SYSDATE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)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FROM '/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/test.txt'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DIRECT ;</a:t>
            </a:r>
          </a:p>
          <a:p>
            <a:pPr>
              <a:lnSpc>
                <a:spcPts val="1200"/>
              </a:lnSpc>
            </a:pPr>
            <a:endParaRPr lang="en-US" altLang="ko-KR" sz="9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SELECT * FROM 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copy_test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;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COL1    |  COL2   |           COL3            |    COL4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------------+---------+---------------------------+------------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ABC        | 5678.00 | Vertica Analytic Database | 2015-07-03</a:t>
            </a:r>
          </a:p>
          <a:p>
            <a:pPr>
              <a:lnSpc>
                <a:spcPts val="1200"/>
              </a:lnSpc>
            </a:pPr>
            <a:endParaRPr lang="en-US" altLang="ko-KR" sz="900" dirty="0">
              <a:solidFill>
                <a:schemeClr val="bg1"/>
              </a:solidFill>
              <a:cs typeface="Courier New" panose="02070309020205020404" pitchFamily="49" charset="0"/>
            </a:endParaRPr>
          </a:p>
        </p:txBody>
      </p:sp>
      <p:sp>
        <p:nvSpPr>
          <p:cNvPr id="11" name="Rectangular Callout 16"/>
          <p:cNvSpPr/>
          <p:nvPr/>
        </p:nvSpPr>
        <p:spPr>
          <a:xfrm>
            <a:off x="2174633" y="2267713"/>
            <a:ext cx="2498233" cy="202819"/>
          </a:xfrm>
          <a:prstGeom prst="wedgeRectCallout">
            <a:avLst>
              <a:gd name="adj1" fmla="val -75841"/>
              <a:gd name="adj2" fmla="val 136770"/>
            </a:avLst>
          </a:prstGeom>
          <a:solidFill>
            <a:schemeClr val="bg1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en-US" altLang="ko-KR" sz="900" i="1" dirty="0">
                <a:solidFill>
                  <a:prstClr val="black"/>
                </a:solidFill>
              </a:rPr>
              <a:t>Filler</a:t>
            </a:r>
            <a:r>
              <a:rPr lang="ko-KR" altLang="en-US" sz="900" i="1" dirty="0">
                <a:solidFill>
                  <a:prstClr val="black"/>
                </a:solidFill>
              </a:rPr>
              <a:t>로 입력 데이터 변수를 만들어 변환</a:t>
            </a:r>
            <a:endParaRPr lang="en-US" altLang="ko-KR" sz="900" i="1" dirty="0">
              <a:solidFill>
                <a:prstClr val="black"/>
              </a:solidFill>
            </a:endParaRPr>
          </a:p>
        </p:txBody>
      </p:sp>
      <p:sp>
        <p:nvSpPr>
          <p:cNvPr id="12" name="Rectangular Callout 17"/>
          <p:cNvSpPr/>
          <p:nvPr/>
        </p:nvSpPr>
        <p:spPr>
          <a:xfrm>
            <a:off x="2468793" y="3080622"/>
            <a:ext cx="1440160" cy="211947"/>
          </a:xfrm>
          <a:prstGeom prst="wedgeRectCallout">
            <a:avLst>
              <a:gd name="adj1" fmla="val -95708"/>
              <a:gd name="adj2" fmla="val -65559"/>
            </a:avLst>
          </a:prstGeom>
          <a:solidFill>
            <a:schemeClr val="bg1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ko-KR" altLang="en-US" sz="900" i="1" dirty="0">
                <a:solidFill>
                  <a:prstClr val="black"/>
                </a:solidFill>
              </a:rPr>
              <a:t>시스템날짜 자동 입력</a:t>
            </a:r>
            <a:endParaRPr lang="en-US" altLang="ko-KR" sz="900" i="1" dirty="0">
              <a:solidFill>
                <a:prstClr val="black"/>
              </a:solidFill>
            </a:endParaRPr>
          </a:p>
        </p:txBody>
      </p:sp>
      <p:graphicFrame>
        <p:nvGraphicFramePr>
          <p:cNvPr id="13" name="Content Placeholder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952684"/>
              </p:ext>
            </p:extLst>
          </p:nvPr>
        </p:nvGraphicFramePr>
        <p:xfrm>
          <a:off x="4286075" y="5106779"/>
          <a:ext cx="1380515" cy="68580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407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3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dirty="0" err="1">
                          <a:latin typeface="+mn-lt"/>
                          <a:ea typeface="+mn-ea"/>
                        </a:rPr>
                        <a:t>copy_test</a:t>
                      </a:r>
                      <a:endParaRPr lang="ko-KR" altLang="en-US" sz="900" dirty="0">
                        <a:latin typeface="+mn-lt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+mn-lt"/>
                          <a:ea typeface="+mn-ea"/>
                        </a:rPr>
                        <a:t>col1</a:t>
                      </a:r>
                      <a:endParaRPr lang="ko-KR" altLang="en-US" sz="900" dirty="0">
                        <a:latin typeface="+mn-lt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+mn-lt"/>
                          <a:ea typeface="+mn-ea"/>
                        </a:rPr>
                        <a:t>CHAR(10)</a:t>
                      </a:r>
                      <a:endParaRPr lang="ko-KR" altLang="en-US" sz="900" dirty="0">
                        <a:latin typeface="+mn-lt"/>
                        <a:ea typeface="+mn-ea"/>
                      </a:endParaRPr>
                    </a:p>
                  </a:txBody>
                  <a:tcPr marL="36000" marR="36000" marT="0" marB="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+mn-lt"/>
                          <a:ea typeface="+mn-ea"/>
                        </a:rPr>
                        <a:t>col2</a:t>
                      </a:r>
                      <a:endParaRPr lang="ko-KR" altLang="en-US" sz="900" dirty="0">
                        <a:latin typeface="+mn-lt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+mn-lt"/>
                          <a:ea typeface="+mn-ea"/>
                        </a:rPr>
                        <a:t>NUMBER(18,2)</a:t>
                      </a:r>
                      <a:endParaRPr lang="ko-KR" altLang="en-US" sz="900" dirty="0">
                        <a:latin typeface="+mn-lt"/>
                        <a:ea typeface="+mn-ea"/>
                      </a:endParaRPr>
                    </a:p>
                  </a:txBody>
                  <a:tcPr marL="36000" marR="36000" marT="0" marB="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+mn-lt"/>
                          <a:ea typeface="+mn-ea"/>
                        </a:rPr>
                        <a:t>col3</a:t>
                      </a:r>
                      <a:r>
                        <a:rPr lang="en-US" altLang="ko-KR" sz="900" baseline="0" dirty="0">
                          <a:latin typeface="+mn-lt"/>
                          <a:ea typeface="+mn-ea"/>
                        </a:rPr>
                        <a:t> </a:t>
                      </a:r>
                      <a:endParaRPr lang="ko-KR" altLang="en-US" sz="900" dirty="0">
                        <a:latin typeface="+mn-lt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+mn-lt"/>
                          <a:ea typeface="+mn-ea"/>
                        </a:rPr>
                        <a:t>VARCHAR(50)</a:t>
                      </a:r>
                      <a:endParaRPr lang="ko-KR" altLang="en-US" sz="900" dirty="0">
                        <a:latin typeface="+mn-lt"/>
                        <a:ea typeface="+mn-ea"/>
                      </a:endParaRPr>
                    </a:p>
                  </a:txBody>
                  <a:tcPr marL="36000" marR="36000" marT="0" marB="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+mn-lt"/>
                          <a:ea typeface="+mn-ea"/>
                        </a:rPr>
                        <a:t>col4</a:t>
                      </a:r>
                      <a:endParaRPr lang="ko-KR" altLang="en-US" sz="900" dirty="0">
                        <a:latin typeface="+mn-lt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+mn-lt"/>
                          <a:ea typeface="+mn-ea"/>
                        </a:rPr>
                        <a:t>DATE</a:t>
                      </a:r>
                      <a:endParaRPr lang="ko-KR" altLang="en-US" sz="900" dirty="0">
                        <a:latin typeface="+mn-lt"/>
                        <a:ea typeface="+mn-ea"/>
                      </a:endParaRPr>
                    </a:p>
                  </a:txBody>
                  <a:tcPr marL="36000" marR="36000" marT="0" marB="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ounded Rectangle 20"/>
          <p:cNvSpPr/>
          <p:nvPr/>
        </p:nvSpPr>
        <p:spPr>
          <a:xfrm>
            <a:off x="6452805" y="3769736"/>
            <a:ext cx="5124931" cy="2260261"/>
          </a:xfrm>
          <a:prstGeom prst="roundRect">
            <a:avLst>
              <a:gd name="adj" fmla="val 4570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COPY 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copy_test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FROM '/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/test.txt'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DELIMITER ‘^’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NO ESCAPE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ENCLOSED BY ‘“’</a:t>
            </a:r>
          </a:p>
          <a:p>
            <a:pPr>
              <a:lnSpc>
                <a:spcPts val="1200"/>
              </a:lnSpc>
            </a:pP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ENFORCELENGTH</a:t>
            </a:r>
            <a:endParaRPr lang="en-US" altLang="ko-KR" sz="9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DIRECT ;</a:t>
            </a:r>
          </a:p>
          <a:p>
            <a:pPr>
              <a:lnSpc>
                <a:spcPts val="1200"/>
              </a:lnSpc>
            </a:pPr>
            <a:endParaRPr lang="en-US" altLang="ko-KR" sz="9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select * from 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copy_test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200"/>
              </a:lnSpc>
            </a:pPr>
            <a:endParaRPr lang="en-US" altLang="ko-KR" sz="9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COL1    |  COL2   |    COL3    |    COL4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------------+---------+------------+------------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AB         | 5678.00 | 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abc^def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^^  | 2015-01-01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CD         | 1234.00 | 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a^b^c^d^e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^ | 2015-01-01</a:t>
            </a:r>
          </a:p>
        </p:txBody>
      </p:sp>
    </p:spTree>
    <p:extLst>
      <p:ext uri="{BB962C8B-B14F-4D97-AF65-F5344CB8AC3E}">
        <p14:creationId xmlns:p14="http://schemas.microsoft.com/office/powerpoint/2010/main" val="24968966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COPY </a:t>
            </a:r>
            <a:r>
              <a:rPr lang="ko-KR" altLang="en-US" sz="2800" dirty="0"/>
              <a:t>옵션 활용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데이터 로드</a:t>
            </a:r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NULL </a:t>
            </a:r>
            <a:r>
              <a:rPr lang="ko-KR" altLang="en-US" sz="1100" b="1" dirty="0"/>
              <a:t>데이터 적재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Default</a:t>
            </a:r>
            <a:r>
              <a:rPr lang="ko-KR" altLang="en-US" sz="1100" dirty="0"/>
              <a:t>로 데이터파일의 </a:t>
            </a:r>
            <a:r>
              <a:rPr lang="ko-KR" altLang="en-US" sz="1100" dirty="0" err="1"/>
              <a:t>빈문자열</a:t>
            </a:r>
            <a:r>
              <a:rPr lang="en-US" altLang="ko-KR" sz="1100" dirty="0"/>
              <a:t>(empty string)</a:t>
            </a:r>
            <a:r>
              <a:rPr lang="ko-KR" altLang="en-US" sz="1100" dirty="0"/>
              <a:t>은 </a:t>
            </a:r>
            <a:r>
              <a:rPr lang="en-US" altLang="ko-KR" sz="1100" dirty="0"/>
              <a:t>NULL </a:t>
            </a:r>
            <a:r>
              <a:rPr lang="ko-KR" altLang="en-US" sz="1100" dirty="0"/>
              <a:t>로 </a:t>
            </a:r>
            <a:r>
              <a:rPr lang="ko-KR" altLang="en-US" sz="1100" dirty="0" err="1"/>
              <a:t>로드된다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데이터 이관 시 실제 공백문자와 </a:t>
            </a:r>
            <a:r>
              <a:rPr lang="en-US" altLang="ko-KR" sz="1100" dirty="0"/>
              <a:t>NULL </a:t>
            </a:r>
            <a:r>
              <a:rPr lang="ko-KR" altLang="en-US" sz="1100" dirty="0"/>
              <a:t>데이터를 </a:t>
            </a:r>
            <a:r>
              <a:rPr lang="en-US" altLang="ko-KR" sz="1100" dirty="0"/>
              <a:t>SAM</a:t>
            </a:r>
            <a:r>
              <a:rPr lang="ko-KR" altLang="en-US" sz="1100" dirty="0"/>
              <a:t>파일로 구분할 방법은 없다</a:t>
            </a:r>
            <a:r>
              <a:rPr lang="en-US" altLang="ko-KR" sz="1100" dirty="0"/>
              <a:t>. </a:t>
            </a:r>
            <a:r>
              <a:rPr lang="ko-KR" altLang="en-US" sz="1100" dirty="0"/>
              <a:t>그러므로 </a:t>
            </a:r>
            <a:r>
              <a:rPr lang="en-US" altLang="ko-KR" sz="1100" dirty="0"/>
              <a:t>NULL</a:t>
            </a:r>
            <a:r>
              <a:rPr lang="ko-KR" altLang="en-US" sz="1100" dirty="0"/>
              <a:t>데이터는 별도의 </a:t>
            </a:r>
            <a:r>
              <a:rPr lang="en-US" altLang="ko-KR" sz="1100" dirty="0"/>
              <a:t>NULL </a:t>
            </a:r>
            <a:r>
              <a:rPr lang="ko-KR" altLang="en-US" sz="1100" dirty="0"/>
              <a:t>데이터임을 알리는 문자열로 치환하여 </a:t>
            </a:r>
            <a:r>
              <a:rPr lang="en-US" altLang="ko-KR" sz="1100" dirty="0"/>
              <a:t>export </a:t>
            </a:r>
            <a:r>
              <a:rPr lang="ko-KR" altLang="en-US" sz="1100" dirty="0"/>
              <a:t>후 </a:t>
            </a:r>
            <a:r>
              <a:rPr lang="en-US" altLang="ko-KR" sz="1100" dirty="0"/>
              <a:t>NULL AS </a:t>
            </a:r>
            <a:r>
              <a:rPr lang="ko-KR" altLang="en-US" sz="1100" dirty="0"/>
              <a:t>키워드를 이용하여 </a:t>
            </a:r>
            <a:r>
              <a:rPr lang="en-US" altLang="ko-KR" sz="1100" dirty="0"/>
              <a:t>NULL </a:t>
            </a:r>
            <a:r>
              <a:rPr lang="ko-KR" altLang="en-US" sz="1100" dirty="0"/>
              <a:t>데이터를 적재한다</a:t>
            </a:r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데이터 길이 정합성 체크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데이터를 적재할 때 정합성을 위하여 오류가 발생할 때 </a:t>
            </a:r>
            <a:r>
              <a:rPr lang="en-US" altLang="ko-KR" sz="1100" dirty="0"/>
              <a:t>copy</a:t>
            </a:r>
            <a:r>
              <a:rPr lang="ko-KR" altLang="en-US" sz="1100" dirty="0"/>
              <a:t>문 전체를 </a:t>
            </a:r>
            <a:r>
              <a:rPr lang="en-US" altLang="ko-KR" sz="1100" dirty="0"/>
              <a:t>rollback </a:t>
            </a:r>
            <a:r>
              <a:rPr lang="ko-KR" altLang="en-US" sz="1100" dirty="0"/>
              <a:t>시키려면 </a:t>
            </a:r>
            <a:r>
              <a:rPr lang="en-US" altLang="ko-KR" sz="1100" dirty="0"/>
              <a:t>ABORT ON ERROR </a:t>
            </a:r>
            <a:r>
              <a:rPr lang="ko-KR" altLang="en-US" sz="1100" dirty="0"/>
              <a:t>키워드를 추가한다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하지만 데이터 문자열의 길이가 테이블 </a:t>
            </a:r>
            <a:r>
              <a:rPr lang="ko-KR" altLang="en-US" sz="1100" dirty="0" err="1"/>
              <a:t>컬럼</a:t>
            </a:r>
            <a:r>
              <a:rPr lang="ko-KR" altLang="en-US" sz="1100" dirty="0"/>
              <a:t> 정의보다 길 경우 에러로 판단하지 않고 자동으로 데이터를 자르게 된다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문자열이 </a:t>
            </a:r>
            <a:r>
              <a:rPr lang="en-US" altLang="ko-KR" sz="1100" dirty="0"/>
              <a:t>truncate</a:t>
            </a:r>
            <a:r>
              <a:rPr lang="ko-KR" altLang="en-US" sz="1100" dirty="0"/>
              <a:t>되지 않는 것을 보장하려면 </a:t>
            </a:r>
            <a:r>
              <a:rPr lang="en-US" altLang="ko-KR" sz="1100" dirty="0"/>
              <a:t>ENFORCELENGTH </a:t>
            </a:r>
            <a:r>
              <a:rPr lang="ko-KR" altLang="en-US" sz="1100" dirty="0"/>
              <a:t>옵션을 더 추가해야 한다</a:t>
            </a:r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6"/>
          <p:cNvSpPr/>
          <p:nvPr/>
        </p:nvSpPr>
        <p:spPr>
          <a:xfrm>
            <a:off x="693812" y="1700213"/>
            <a:ext cx="5057527" cy="1584771"/>
          </a:xfrm>
          <a:prstGeom prst="roundRect">
            <a:avLst>
              <a:gd name="adj" fmla="val 4570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COPY 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copy_test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FROM '/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/test.txt'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DIRECT ;</a:t>
            </a:r>
          </a:p>
          <a:p>
            <a:pPr>
              <a:lnSpc>
                <a:spcPts val="1200"/>
              </a:lnSpc>
            </a:pPr>
            <a:endParaRPr lang="en-US" altLang="ko-KR" sz="9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SELECT * FROM 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copy_test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WHERE col3 IS NULL;</a:t>
            </a:r>
          </a:p>
          <a:p>
            <a:pPr>
              <a:lnSpc>
                <a:spcPts val="1200"/>
              </a:lnSpc>
            </a:pPr>
            <a:endParaRPr lang="en-US" altLang="ko-KR" sz="9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lnSpc>
                <a:spcPts val="1200"/>
              </a:lnSpc>
            </a:pPr>
            <a:r>
              <a:rPr lang="it-IT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COL1    |  COL2  | COL3 |    COL4</a:t>
            </a:r>
          </a:p>
          <a:p>
            <a:pPr>
              <a:lnSpc>
                <a:spcPts val="1200"/>
              </a:lnSpc>
            </a:pPr>
            <a:r>
              <a:rPr lang="it-IT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------------+--------+------+------------</a:t>
            </a:r>
          </a:p>
          <a:p>
            <a:pPr>
              <a:lnSpc>
                <a:spcPts val="1200"/>
              </a:lnSpc>
            </a:pPr>
            <a:r>
              <a:rPr lang="it-IT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A          | 900.00 |      | 2015-03-03</a:t>
            </a:r>
            <a:endParaRPr lang="en-US" altLang="ko-KR" sz="9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Rectangular Callout 8"/>
          <p:cNvSpPr/>
          <p:nvPr/>
        </p:nvSpPr>
        <p:spPr>
          <a:xfrm>
            <a:off x="4713642" y="2279540"/>
            <a:ext cx="841726" cy="226502"/>
          </a:xfrm>
          <a:prstGeom prst="wedgeRectCallout">
            <a:avLst>
              <a:gd name="adj1" fmla="val -57612"/>
              <a:gd name="adj2" fmla="val -110576"/>
            </a:avLst>
          </a:prstGeom>
          <a:solidFill>
            <a:schemeClr val="bg1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ko-KR" altLang="en-US" sz="900" i="1" dirty="0">
                <a:solidFill>
                  <a:prstClr val="black"/>
                </a:solidFill>
              </a:rPr>
              <a:t>공백문자열</a:t>
            </a:r>
            <a:endParaRPr lang="en-US" altLang="ko-KR" sz="900" i="1" dirty="0">
              <a:solidFill>
                <a:prstClr val="black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93812" y="4077072"/>
            <a:ext cx="5057527" cy="1728192"/>
          </a:xfrm>
          <a:prstGeom prst="roundRect">
            <a:avLst>
              <a:gd name="adj" fmla="val 4570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COPY 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copy_test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FROM '/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/test.txt‘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NULL AS '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NuLL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DIRECT ;</a:t>
            </a:r>
          </a:p>
          <a:p>
            <a:pPr>
              <a:lnSpc>
                <a:spcPts val="1200"/>
              </a:lnSpc>
            </a:pPr>
            <a:endParaRPr lang="en-US" altLang="ko-KR" sz="9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SELECT * FROM 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copy_test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WHERE col3 IS NULL;</a:t>
            </a:r>
          </a:p>
          <a:p>
            <a:pPr>
              <a:lnSpc>
                <a:spcPts val="1200"/>
              </a:lnSpc>
            </a:pPr>
            <a:endParaRPr lang="en-US" altLang="ko-KR" sz="9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lnSpc>
                <a:spcPts val="1200"/>
              </a:lnSpc>
            </a:pPr>
            <a:r>
              <a:rPr lang="it-IT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COL1    |  COL2  | COL3 |    COL4</a:t>
            </a:r>
          </a:p>
          <a:p>
            <a:pPr>
              <a:lnSpc>
                <a:spcPts val="1200"/>
              </a:lnSpc>
            </a:pPr>
            <a:r>
              <a:rPr lang="it-IT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------------+--------+------+------------</a:t>
            </a:r>
          </a:p>
          <a:p>
            <a:pPr>
              <a:lnSpc>
                <a:spcPts val="1200"/>
              </a:lnSpc>
            </a:pPr>
            <a:r>
              <a:rPr lang="it-IT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B          | 800.00 |      | 2015-04-04</a:t>
            </a:r>
          </a:p>
        </p:txBody>
      </p:sp>
      <p:graphicFrame>
        <p:nvGraphicFramePr>
          <p:cNvPr id="11" name="Content Placeholder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4149655"/>
              </p:ext>
            </p:extLst>
          </p:nvPr>
        </p:nvGraphicFramePr>
        <p:xfrm>
          <a:off x="4281556" y="1858890"/>
          <a:ext cx="1138485" cy="277770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138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629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test.txt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61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A|900||2015-03-03</a:t>
                      </a:r>
                    </a:p>
                  </a:txBody>
                  <a:tcPr marL="36000" marR="3600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Content Placeholder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1151934"/>
              </p:ext>
            </p:extLst>
          </p:nvPr>
        </p:nvGraphicFramePr>
        <p:xfrm>
          <a:off x="4222205" y="4221088"/>
          <a:ext cx="1326262" cy="411480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326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629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test.txt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61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A|900||2015-03-03</a:t>
                      </a:r>
                    </a:p>
                    <a:p>
                      <a:pPr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B|800|NuLL|2015-04-04</a:t>
                      </a:r>
                    </a:p>
                  </a:txBody>
                  <a:tcPr marL="36000" marR="3600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Rectangular Callout 12"/>
          <p:cNvSpPr/>
          <p:nvPr/>
        </p:nvSpPr>
        <p:spPr>
          <a:xfrm>
            <a:off x="4655840" y="4797152"/>
            <a:ext cx="1008161" cy="216024"/>
          </a:xfrm>
          <a:prstGeom prst="wedgeRectCallout">
            <a:avLst>
              <a:gd name="adj1" fmla="val -46275"/>
              <a:gd name="adj2" fmla="val -126357"/>
            </a:avLst>
          </a:prstGeom>
          <a:solidFill>
            <a:schemeClr val="bg1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en-US" altLang="ko-KR" sz="900" i="1" dirty="0">
                <a:solidFill>
                  <a:prstClr val="black"/>
                </a:solidFill>
              </a:rPr>
              <a:t>NULL</a:t>
            </a:r>
            <a:r>
              <a:rPr lang="ko-KR" altLang="en-US" sz="900" i="1" dirty="0">
                <a:solidFill>
                  <a:prstClr val="black"/>
                </a:solidFill>
              </a:rPr>
              <a:t>문자지정</a:t>
            </a:r>
            <a:endParaRPr lang="en-US" altLang="ko-KR" sz="900" i="1" dirty="0">
              <a:solidFill>
                <a:prstClr val="black"/>
              </a:solidFill>
            </a:endParaRPr>
          </a:p>
        </p:txBody>
      </p:sp>
      <p:sp>
        <p:nvSpPr>
          <p:cNvPr id="14" name="Rectangular Callout 13"/>
          <p:cNvSpPr/>
          <p:nvPr/>
        </p:nvSpPr>
        <p:spPr>
          <a:xfrm>
            <a:off x="2258444" y="4509120"/>
            <a:ext cx="1008161" cy="216024"/>
          </a:xfrm>
          <a:prstGeom prst="wedgeRectCallout">
            <a:avLst>
              <a:gd name="adj1" fmla="val -115717"/>
              <a:gd name="adj2" fmla="val -27149"/>
            </a:avLst>
          </a:prstGeom>
          <a:solidFill>
            <a:schemeClr val="bg1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en-US" altLang="ko-KR" sz="900" i="1" dirty="0">
                <a:solidFill>
                  <a:prstClr val="black"/>
                </a:solidFill>
              </a:rPr>
              <a:t>NULL</a:t>
            </a:r>
            <a:r>
              <a:rPr lang="ko-KR" altLang="en-US" sz="900" i="1" dirty="0">
                <a:solidFill>
                  <a:prstClr val="black"/>
                </a:solidFill>
              </a:rPr>
              <a:t>문자지정</a:t>
            </a:r>
            <a:endParaRPr lang="en-US" altLang="ko-KR" sz="900" i="1" dirty="0">
              <a:solidFill>
                <a:prstClr val="black"/>
              </a:solidFill>
            </a:endParaRPr>
          </a:p>
        </p:txBody>
      </p:sp>
      <p:sp>
        <p:nvSpPr>
          <p:cNvPr id="15" name="Rectangular Callout 14"/>
          <p:cNvSpPr/>
          <p:nvPr/>
        </p:nvSpPr>
        <p:spPr>
          <a:xfrm>
            <a:off x="2422004" y="1968436"/>
            <a:ext cx="1512168" cy="225950"/>
          </a:xfrm>
          <a:prstGeom prst="wedgeRectCallout">
            <a:avLst>
              <a:gd name="adj1" fmla="val -88209"/>
              <a:gd name="adj2" fmla="val -37257"/>
            </a:avLst>
          </a:prstGeom>
          <a:solidFill>
            <a:schemeClr val="bg1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en-US" altLang="ko-KR" sz="900" i="1" dirty="0">
                <a:solidFill>
                  <a:prstClr val="black"/>
                </a:solidFill>
              </a:rPr>
              <a:t>Default NULL</a:t>
            </a:r>
            <a:r>
              <a:rPr lang="ko-KR" altLang="en-US" sz="900" i="1" dirty="0">
                <a:solidFill>
                  <a:prstClr val="black"/>
                </a:solidFill>
              </a:rPr>
              <a:t>문자는 </a:t>
            </a:r>
            <a:r>
              <a:rPr lang="en-US" altLang="ko-KR" sz="900" i="1" dirty="0">
                <a:solidFill>
                  <a:prstClr val="black"/>
                </a:solidFill>
              </a:rPr>
              <a:t>‘’</a:t>
            </a:r>
          </a:p>
        </p:txBody>
      </p:sp>
      <p:sp>
        <p:nvSpPr>
          <p:cNvPr id="16" name="Rounded Rectangle 16"/>
          <p:cNvSpPr/>
          <p:nvPr/>
        </p:nvSpPr>
        <p:spPr>
          <a:xfrm>
            <a:off x="6454453" y="2564904"/>
            <a:ext cx="5124931" cy="3845504"/>
          </a:xfrm>
          <a:prstGeom prst="roundRect">
            <a:avLst>
              <a:gd name="adj" fmla="val 4570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COPY 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copy_test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FROM '/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/test.txt'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ABORT ON ERROR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DIRECT NO COMMIT ;</a:t>
            </a:r>
          </a:p>
          <a:p>
            <a:pPr>
              <a:lnSpc>
                <a:spcPts val="1200"/>
              </a:lnSpc>
            </a:pPr>
            <a:endParaRPr lang="en-US" altLang="ko-KR" sz="9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SELECT * FROM 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copy_test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;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COL1    |   COL2    |    COL3     |    COL4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------------+-----------+-------------+------------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abcdefghi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| 123456.00 | ABCDEFGHIJK | 2015-03-03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abcdefghij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|   1234.00 | ABCDEFGHIJK | 2015-03-03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abcdefghij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|  12345.00 | ABCDEFGHIJK | 2015-03-03</a:t>
            </a:r>
          </a:p>
          <a:p>
            <a:pPr>
              <a:lnSpc>
                <a:spcPts val="1200"/>
              </a:lnSpc>
            </a:pPr>
            <a:endParaRPr lang="en-US" altLang="ko-KR" sz="9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ROLLBACK ;</a:t>
            </a:r>
          </a:p>
          <a:p>
            <a:pPr>
              <a:lnSpc>
                <a:spcPts val="1200"/>
              </a:lnSpc>
            </a:pPr>
            <a:endParaRPr lang="en-US" altLang="ko-KR" sz="9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COPY 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copy_test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FROM '/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/test.txt'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ENFORCELENGTH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ABORT ON ERROR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DIRECT NO COMMIT ;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ERROR 2035:  COPY: Input record 2 has been rejected (The 11-byte value is too long for type Char(10), column 1 (COL1))</a:t>
            </a:r>
          </a:p>
          <a:p>
            <a:pPr>
              <a:lnSpc>
                <a:spcPts val="1200"/>
              </a:lnSpc>
            </a:pPr>
            <a:endParaRPr lang="en-US" altLang="ko-KR" sz="9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SELECT * FROM 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copy_test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;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(0 rows)</a:t>
            </a:r>
          </a:p>
        </p:txBody>
      </p:sp>
      <p:sp>
        <p:nvSpPr>
          <p:cNvPr id="17" name="Rectangular Callout 17"/>
          <p:cNvSpPr/>
          <p:nvPr/>
        </p:nvSpPr>
        <p:spPr>
          <a:xfrm>
            <a:off x="7702143" y="4376903"/>
            <a:ext cx="1205913" cy="356410"/>
          </a:xfrm>
          <a:prstGeom prst="wedgeRectCallout">
            <a:avLst>
              <a:gd name="adj1" fmla="val -102379"/>
              <a:gd name="adj2" fmla="val -116831"/>
            </a:avLst>
          </a:prstGeom>
          <a:solidFill>
            <a:schemeClr val="bg1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ko-KR" altLang="en-US" sz="900" i="1" dirty="0">
                <a:solidFill>
                  <a:prstClr val="black"/>
                </a:solidFill>
              </a:rPr>
              <a:t>에러로 처리되지 않고 </a:t>
            </a:r>
            <a:r>
              <a:rPr lang="en-US" altLang="ko-KR" sz="900" i="1" dirty="0">
                <a:solidFill>
                  <a:prstClr val="black"/>
                </a:solidFill>
              </a:rPr>
              <a:t>truncation</a:t>
            </a:r>
          </a:p>
        </p:txBody>
      </p:sp>
      <p:graphicFrame>
        <p:nvGraphicFramePr>
          <p:cNvPr id="18" name="Content Placeholder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0734202"/>
              </p:ext>
            </p:extLst>
          </p:nvPr>
        </p:nvGraphicFramePr>
        <p:xfrm>
          <a:off x="8758708" y="2644431"/>
          <a:ext cx="2598141" cy="548640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2598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629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test.txt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610">
                <a:tc>
                  <a:txBody>
                    <a:bodyPr/>
                    <a:lstStyle/>
                    <a:p>
                      <a:pPr latinLnBrk="1"/>
                      <a:r>
                        <a:rPr lang="pt-BR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abcdefghi|123456|ABCDEFGHIJK|2015-03-03</a:t>
                      </a:r>
                    </a:p>
                    <a:p>
                      <a:pPr latinLnBrk="1"/>
                      <a:r>
                        <a:rPr lang="pt-BR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abcdefghijklm|1234|ABCDEFGHIJK|2015-03-03</a:t>
                      </a:r>
                    </a:p>
                    <a:p>
                      <a:pPr latinLnBrk="1"/>
                      <a:r>
                        <a:rPr lang="pt-BR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abcdefghij|12345|ABCDEFGHIJK|2015-03-03</a:t>
                      </a:r>
                    </a:p>
                  </a:txBody>
                  <a:tcPr marL="36000" marR="3600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Rectangular Callout 18"/>
          <p:cNvSpPr/>
          <p:nvPr/>
        </p:nvSpPr>
        <p:spPr>
          <a:xfrm>
            <a:off x="8192388" y="4973943"/>
            <a:ext cx="1205913" cy="216024"/>
          </a:xfrm>
          <a:prstGeom prst="wedgeRectCallout">
            <a:avLst>
              <a:gd name="adj1" fmla="val -99115"/>
              <a:gd name="adj2" fmla="val 41230"/>
            </a:avLst>
          </a:prstGeom>
          <a:solidFill>
            <a:schemeClr val="bg1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ko-KR" altLang="en-US" sz="900" i="1" dirty="0">
                <a:solidFill>
                  <a:prstClr val="black"/>
                </a:solidFill>
              </a:rPr>
              <a:t>데이터 길이 체크</a:t>
            </a:r>
            <a:endParaRPr lang="en-US" altLang="ko-KR" sz="900" i="1" dirty="0">
              <a:solidFill>
                <a:prstClr val="black"/>
              </a:solidFill>
            </a:endParaRPr>
          </a:p>
        </p:txBody>
      </p:sp>
      <p:sp>
        <p:nvSpPr>
          <p:cNvPr id="20" name="Rectangular Callout 19"/>
          <p:cNvSpPr/>
          <p:nvPr/>
        </p:nvSpPr>
        <p:spPr>
          <a:xfrm>
            <a:off x="9480376" y="5303626"/>
            <a:ext cx="1440160" cy="228675"/>
          </a:xfrm>
          <a:prstGeom prst="wedgeRectCallout">
            <a:avLst>
              <a:gd name="adj1" fmla="val -89394"/>
              <a:gd name="adj2" fmla="val 53543"/>
            </a:avLst>
          </a:prstGeom>
          <a:solidFill>
            <a:schemeClr val="bg1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ko-KR" altLang="en-US" sz="900" i="1" dirty="0">
                <a:solidFill>
                  <a:prstClr val="black"/>
                </a:solidFill>
              </a:rPr>
              <a:t>데이터 길이 </a:t>
            </a:r>
            <a:r>
              <a:rPr lang="en-US" altLang="ko-KR" sz="900" i="1" dirty="0">
                <a:solidFill>
                  <a:prstClr val="black"/>
                </a:solidFill>
              </a:rPr>
              <a:t>overflow</a:t>
            </a:r>
          </a:p>
        </p:txBody>
      </p:sp>
      <p:sp>
        <p:nvSpPr>
          <p:cNvPr id="21" name="Rectangular Callout 20"/>
          <p:cNvSpPr/>
          <p:nvPr/>
        </p:nvSpPr>
        <p:spPr>
          <a:xfrm>
            <a:off x="8124447" y="6007062"/>
            <a:ext cx="783609" cy="192014"/>
          </a:xfrm>
          <a:prstGeom prst="wedgeRectCallout">
            <a:avLst>
              <a:gd name="adj1" fmla="val -80438"/>
              <a:gd name="adj2" fmla="val 23041"/>
            </a:avLst>
          </a:prstGeom>
          <a:solidFill>
            <a:schemeClr val="bg1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ko-KR" altLang="en-US" sz="900" i="1" dirty="0">
                <a:solidFill>
                  <a:prstClr val="black"/>
                </a:solidFill>
              </a:rPr>
              <a:t>전체 롤백</a:t>
            </a:r>
            <a:endParaRPr lang="en-US" altLang="ko-KR" sz="900" i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1870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COPY </a:t>
            </a:r>
            <a:r>
              <a:rPr lang="ko-KR" altLang="en-US" sz="2800" dirty="0"/>
              <a:t>옵션 활용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데이터 로드</a:t>
            </a:r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New line</a:t>
            </a:r>
            <a:r>
              <a:rPr lang="ko-KR" altLang="en-US" sz="1100" b="1" dirty="0"/>
              <a:t>이 포함된 데이터 로드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Export </a:t>
            </a:r>
            <a:r>
              <a:rPr lang="ko-KR" altLang="en-US" sz="1100" dirty="0"/>
              <a:t>단계에서 불필요한 </a:t>
            </a:r>
            <a:r>
              <a:rPr lang="en-US" altLang="ko-KR" sz="1100" dirty="0"/>
              <a:t>new line</a:t>
            </a:r>
            <a:r>
              <a:rPr lang="ko-KR" altLang="en-US" sz="1100" dirty="0"/>
              <a:t>은 제거하거나</a:t>
            </a:r>
            <a:r>
              <a:rPr lang="en-US" altLang="ko-KR" sz="1100" dirty="0"/>
              <a:t> </a:t>
            </a:r>
            <a:r>
              <a:rPr lang="ko-KR" altLang="en-US" sz="1100" dirty="0"/>
              <a:t>모든 데이터 행 끝에 </a:t>
            </a:r>
            <a:r>
              <a:rPr lang="en-US" altLang="ko-KR" sz="1100" dirty="0"/>
              <a:t>record terminator </a:t>
            </a:r>
            <a:r>
              <a:rPr lang="ko-KR" altLang="en-US" sz="1100" dirty="0"/>
              <a:t>문자를 지정하고 </a:t>
            </a:r>
            <a:r>
              <a:rPr lang="en-US" altLang="ko-KR" sz="1100" dirty="0"/>
              <a:t>copy</a:t>
            </a:r>
            <a:r>
              <a:rPr lang="ko-KR" altLang="en-US" sz="1100" dirty="0"/>
              <a:t>에 </a:t>
            </a:r>
            <a:r>
              <a:rPr lang="en-US" altLang="ko-KR" sz="1100" dirty="0"/>
              <a:t>RECORD TERMINATOR </a:t>
            </a:r>
            <a:r>
              <a:rPr lang="ko-KR" altLang="en-US" sz="1100" dirty="0"/>
              <a:t>옵션을 사용한다 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오류 데이터 저장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COPY</a:t>
            </a:r>
            <a:r>
              <a:rPr lang="ko-KR" altLang="en-US" sz="1100" dirty="0"/>
              <a:t>는 오류 데이터는 제외하고 데이터가 </a:t>
            </a:r>
            <a:r>
              <a:rPr lang="ko-KR" altLang="en-US" sz="1100" dirty="0" err="1"/>
              <a:t>로드한다</a:t>
            </a:r>
            <a:r>
              <a:rPr lang="en-US" altLang="ko-KR" sz="1100" dirty="0"/>
              <a:t>. 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ABORT ON ERROR</a:t>
            </a:r>
            <a:r>
              <a:rPr lang="ko-KR" altLang="en-US" sz="1100" dirty="0"/>
              <a:t> 옵션을 추가하면 오류 데이터가 발견되면 전체 </a:t>
            </a:r>
            <a:r>
              <a:rPr lang="en-US" altLang="ko-KR" sz="1100" dirty="0"/>
              <a:t>COPY</a:t>
            </a:r>
            <a:r>
              <a:rPr lang="ko-KR" altLang="en-US" sz="1100" dirty="0"/>
              <a:t>가 모두 </a:t>
            </a:r>
            <a:r>
              <a:rPr lang="ko-KR" altLang="en-US" sz="1100" dirty="0" err="1"/>
              <a:t>롤백된다</a:t>
            </a:r>
            <a:r>
              <a:rPr lang="en-US" altLang="ko-KR" sz="1100" dirty="0"/>
              <a:t>.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 err="1"/>
              <a:t>롤백없이</a:t>
            </a:r>
            <a:r>
              <a:rPr lang="ko-KR" altLang="en-US" sz="1100" dirty="0"/>
              <a:t> 정상 데이터는 로드하고 오류 데이터를 따로 적재하도록 별도 보관하기 위해서는 </a:t>
            </a:r>
            <a:r>
              <a:rPr lang="en-US" altLang="ko-KR" sz="1100" dirty="0"/>
              <a:t>exception </a:t>
            </a:r>
            <a:r>
              <a:rPr lang="ko-KR" altLang="en-US" sz="1100" dirty="0"/>
              <a:t>처리를 한다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오류 데이터는 별도로 저장할 수 있다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REJECTED DATA : </a:t>
            </a:r>
            <a:r>
              <a:rPr lang="ko-KR" altLang="en-US" sz="1100" dirty="0"/>
              <a:t>오류 데이터 저장 </a:t>
            </a:r>
            <a:r>
              <a:rPr lang="en-US" altLang="ko-KR" sz="1100" dirty="0"/>
              <a:t>(</a:t>
            </a:r>
            <a:r>
              <a:rPr lang="ko-KR" altLang="en-US" sz="1100" dirty="0"/>
              <a:t>파일 또는 테이블</a:t>
            </a:r>
            <a:r>
              <a:rPr lang="en-US" altLang="ko-KR" sz="1100" dirty="0"/>
              <a:t>)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EXCEPTIONS : </a:t>
            </a:r>
            <a:r>
              <a:rPr lang="ko-KR" altLang="en-US" sz="1100" dirty="0"/>
              <a:t>오류 발생 원인 저장 </a:t>
            </a:r>
            <a:r>
              <a:rPr lang="en-US" altLang="ko-KR" sz="1100" dirty="0"/>
              <a:t>(</a:t>
            </a:r>
            <a:r>
              <a:rPr lang="ko-KR" altLang="en-US" sz="1100" dirty="0"/>
              <a:t>파일</a:t>
            </a:r>
            <a:r>
              <a:rPr lang="en-US" altLang="ko-KR" sz="1100" dirty="0"/>
              <a:t>)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Reject </a:t>
            </a:r>
            <a:r>
              <a:rPr lang="ko-KR" altLang="en-US" sz="1100" dirty="0"/>
              <a:t>수가 너무 많으면 오류 데이터를 저장하는데 시간과 리소스를 소비하게 되므로 </a:t>
            </a:r>
            <a:r>
              <a:rPr lang="en-US" altLang="ko-KR" sz="1100" dirty="0"/>
              <a:t>REJECTMAX</a:t>
            </a:r>
            <a:r>
              <a:rPr lang="ko-KR" altLang="en-US" sz="1100" dirty="0"/>
              <a:t>로 오류 데이터 수를 제한을 할 수도 있다</a:t>
            </a:r>
            <a:r>
              <a:rPr lang="en-US" altLang="ko-KR" sz="1100" dirty="0"/>
              <a:t>.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오류 데이터 저장 예</a:t>
            </a:r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4"/>
          <p:cNvSpPr/>
          <p:nvPr/>
        </p:nvSpPr>
        <p:spPr>
          <a:xfrm>
            <a:off x="693738" y="1917428"/>
            <a:ext cx="5057527" cy="1800200"/>
          </a:xfrm>
          <a:prstGeom prst="roundRect">
            <a:avLst>
              <a:gd name="adj" fmla="val 4570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COPY 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copy_test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FROM '/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/test.txt'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RECORD TERMINATOR '@' DIRECT ;</a:t>
            </a:r>
          </a:p>
          <a:p>
            <a:pPr>
              <a:lnSpc>
                <a:spcPts val="1200"/>
              </a:lnSpc>
            </a:pPr>
            <a:endParaRPr lang="en-US" altLang="ko-KR" sz="9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SELECT * FROM 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copy_test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LIMIT 1;</a:t>
            </a:r>
          </a:p>
          <a:p>
            <a:pPr>
              <a:lnSpc>
                <a:spcPts val="1200"/>
              </a:lnSpc>
            </a:pPr>
            <a:endParaRPr lang="en-US" altLang="ko-KR" sz="9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lnSpc>
                <a:spcPts val="1200"/>
              </a:lnSpc>
            </a:pPr>
            <a:r>
              <a:rPr lang="it-IT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COL1 | ab</a:t>
            </a:r>
          </a:p>
          <a:p>
            <a:pPr>
              <a:lnSpc>
                <a:spcPts val="1200"/>
              </a:lnSpc>
            </a:pPr>
            <a:r>
              <a:rPr lang="it-IT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COL2 | 12.00</a:t>
            </a:r>
          </a:p>
          <a:p>
            <a:pPr>
              <a:lnSpc>
                <a:spcPts val="1200"/>
              </a:lnSpc>
            </a:pPr>
            <a:r>
              <a:rPr lang="it-IT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COL3 | ABC</a:t>
            </a:r>
          </a:p>
          <a:p>
            <a:pPr>
              <a:lnSpc>
                <a:spcPts val="1200"/>
              </a:lnSpc>
            </a:pPr>
            <a:r>
              <a:rPr lang="it-IT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</a:t>
            </a:r>
          </a:p>
          <a:p>
            <a:pPr>
              <a:lnSpc>
                <a:spcPts val="1200"/>
              </a:lnSpc>
            </a:pPr>
            <a:r>
              <a:rPr lang="it-IT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COL4 | 2015-06-06</a:t>
            </a:r>
          </a:p>
        </p:txBody>
      </p:sp>
      <p:graphicFrame>
        <p:nvGraphicFramePr>
          <p:cNvPr id="9" name="Content Placeholder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6967472"/>
              </p:ext>
            </p:extLst>
          </p:nvPr>
        </p:nvGraphicFramePr>
        <p:xfrm>
          <a:off x="3790156" y="2061444"/>
          <a:ext cx="1728192" cy="548640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629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</a:rPr>
                        <a:t>test.txt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61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+mn-lt"/>
                          <a:ea typeface="+mn-ea"/>
                        </a:rPr>
                        <a:t>abcd|123456|A</a:t>
                      </a:r>
                    </a:p>
                    <a:p>
                      <a:pPr latinLnBrk="1"/>
                      <a:r>
                        <a:rPr lang="en-US" altLang="ko-KR" sz="900" dirty="0">
                          <a:latin typeface="+mn-lt"/>
                          <a:ea typeface="+mn-ea"/>
                        </a:rPr>
                        <a:t>B|2015-03-03@ab|12|ABC</a:t>
                      </a:r>
                    </a:p>
                    <a:p>
                      <a:pPr latinLnBrk="1"/>
                      <a:r>
                        <a:rPr lang="en-US" altLang="ko-KR" sz="900" dirty="0">
                          <a:latin typeface="+mn-lt"/>
                          <a:ea typeface="+mn-ea"/>
                        </a:rPr>
                        <a:t>DEF|2015-06-06@</a:t>
                      </a:r>
                    </a:p>
                  </a:txBody>
                  <a:tcPr marL="36000" marR="3600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Rectangular Callout 6"/>
          <p:cNvSpPr/>
          <p:nvPr/>
        </p:nvSpPr>
        <p:spPr>
          <a:xfrm>
            <a:off x="3142084" y="2277468"/>
            <a:ext cx="576064" cy="202258"/>
          </a:xfrm>
          <a:prstGeom prst="wedgeRectCallout">
            <a:avLst>
              <a:gd name="adj1" fmla="val 67077"/>
              <a:gd name="adj2" fmla="val 45638"/>
            </a:avLst>
          </a:prstGeom>
          <a:solidFill>
            <a:schemeClr val="bg1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ko-KR" altLang="en-US" sz="900" i="1" dirty="0">
                <a:solidFill>
                  <a:prstClr val="black"/>
                </a:solidFill>
              </a:rPr>
              <a:t>줄바꿈</a:t>
            </a:r>
            <a:endParaRPr lang="en-US" altLang="ko-KR" sz="900" i="1" dirty="0">
              <a:solidFill>
                <a:prstClr val="black"/>
              </a:solidFill>
            </a:endParaRPr>
          </a:p>
        </p:txBody>
      </p:sp>
      <p:sp>
        <p:nvSpPr>
          <p:cNvPr id="11" name="Rectangular Callout 7"/>
          <p:cNvSpPr/>
          <p:nvPr/>
        </p:nvSpPr>
        <p:spPr>
          <a:xfrm>
            <a:off x="4846382" y="2928170"/>
            <a:ext cx="936104" cy="353157"/>
          </a:xfrm>
          <a:prstGeom prst="wedgeRectCallout">
            <a:avLst>
              <a:gd name="adj1" fmla="val -61308"/>
              <a:gd name="adj2" fmla="val -149965"/>
            </a:avLst>
          </a:prstGeom>
          <a:solidFill>
            <a:schemeClr val="bg1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en-US" altLang="ko-KR" sz="900" i="1" dirty="0">
                <a:solidFill>
                  <a:prstClr val="black"/>
                </a:solidFill>
              </a:rPr>
              <a:t>Record Terminator</a:t>
            </a:r>
          </a:p>
        </p:txBody>
      </p:sp>
      <p:sp>
        <p:nvSpPr>
          <p:cNvPr id="12" name="Rectangular Callout 8"/>
          <p:cNvSpPr/>
          <p:nvPr/>
        </p:nvSpPr>
        <p:spPr>
          <a:xfrm>
            <a:off x="1730649" y="3285580"/>
            <a:ext cx="2016224" cy="216024"/>
          </a:xfrm>
          <a:prstGeom prst="wedgeRectCallout">
            <a:avLst>
              <a:gd name="adj1" fmla="val -67678"/>
              <a:gd name="adj2" fmla="val -47604"/>
            </a:avLst>
          </a:prstGeom>
          <a:solidFill>
            <a:schemeClr val="bg1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en-US" altLang="ko-KR" sz="900" i="1" dirty="0">
                <a:solidFill>
                  <a:prstClr val="black"/>
                </a:solidFill>
              </a:rPr>
              <a:t>New line </a:t>
            </a:r>
            <a:r>
              <a:rPr lang="ko-KR" altLang="en-US" sz="900" i="1" dirty="0">
                <a:solidFill>
                  <a:prstClr val="black"/>
                </a:solidFill>
              </a:rPr>
              <a:t>이 포함된 문자열 로드</a:t>
            </a:r>
            <a:endParaRPr lang="en-US" altLang="ko-KR" sz="900" i="1" dirty="0">
              <a:solidFill>
                <a:prstClr val="black"/>
              </a:solidFill>
            </a:endParaRPr>
          </a:p>
        </p:txBody>
      </p:sp>
      <p:sp>
        <p:nvSpPr>
          <p:cNvPr id="13" name="Rounded Rectangle 9"/>
          <p:cNvSpPr/>
          <p:nvPr/>
        </p:nvSpPr>
        <p:spPr>
          <a:xfrm>
            <a:off x="6454453" y="1578852"/>
            <a:ext cx="5124931" cy="1706728"/>
          </a:xfrm>
          <a:prstGeom prst="roundRect">
            <a:avLst>
              <a:gd name="adj" fmla="val 4570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COPY 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copy_test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FROM '/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/test.txt'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REJECTED DATA  '/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test.reject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EXCEPTIONS     '/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test.exception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DIRECT ;</a:t>
            </a:r>
          </a:p>
          <a:p>
            <a:pPr>
              <a:lnSpc>
                <a:spcPts val="1200"/>
              </a:lnSpc>
            </a:pPr>
            <a:endParaRPr lang="en-US" altLang="ko-KR" sz="9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SELECT * FROM 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copy_test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;</a:t>
            </a:r>
          </a:p>
          <a:p>
            <a:pPr>
              <a:lnSpc>
                <a:spcPts val="1200"/>
              </a:lnSpc>
            </a:pPr>
            <a:r>
              <a:rPr lang="it-IT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COL1    |  COL2  | COL3 |    COL4</a:t>
            </a:r>
          </a:p>
          <a:p>
            <a:pPr>
              <a:lnSpc>
                <a:spcPts val="1200"/>
              </a:lnSpc>
            </a:pPr>
            <a:r>
              <a:rPr lang="it-IT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------------+--------+------+------------</a:t>
            </a:r>
          </a:p>
          <a:p>
            <a:pPr>
              <a:lnSpc>
                <a:spcPts val="1200"/>
              </a:lnSpc>
            </a:pPr>
            <a:r>
              <a:rPr lang="it-IT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a          | 200.00 | A    | 2015-07-01</a:t>
            </a:r>
          </a:p>
          <a:p>
            <a:pPr>
              <a:lnSpc>
                <a:spcPts val="1200"/>
              </a:lnSpc>
            </a:pPr>
            <a:r>
              <a:rPr lang="it-IT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e          | 700.00 | D    | 2015-07-05</a:t>
            </a:r>
            <a:endParaRPr lang="en-US" altLang="ko-KR" sz="9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4" name="Content Placeholder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5706879"/>
              </p:ext>
            </p:extLst>
          </p:nvPr>
        </p:nvGraphicFramePr>
        <p:xfrm>
          <a:off x="10054852" y="1896715"/>
          <a:ext cx="1440160" cy="822960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629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</a:rPr>
                        <a:t>test.txt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61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+mn-lt"/>
                          <a:ea typeface="+mn-ea"/>
                        </a:rPr>
                        <a:t>a|200|A|2015-07-01</a:t>
                      </a:r>
                    </a:p>
                    <a:p>
                      <a:pPr latinLnBrk="1"/>
                      <a:r>
                        <a:rPr lang="en-US" altLang="ko-KR" sz="900" dirty="0">
                          <a:latin typeface="+mn-lt"/>
                          <a:ea typeface="+mn-ea"/>
                        </a:rPr>
                        <a:t>b|X00|B|2015-07-02</a:t>
                      </a:r>
                    </a:p>
                    <a:p>
                      <a:pPr latinLnBrk="1"/>
                      <a:r>
                        <a:rPr lang="en-US" altLang="ko-KR" sz="900" dirty="0">
                          <a:latin typeface="+mn-lt"/>
                          <a:ea typeface="+mn-ea"/>
                        </a:rPr>
                        <a:t>c|500|C|2015-07-03|abc</a:t>
                      </a:r>
                    </a:p>
                    <a:p>
                      <a:pPr latinLnBrk="1"/>
                      <a:r>
                        <a:rPr lang="en-US" altLang="ko-KR" sz="900" dirty="0">
                          <a:latin typeface="+mn-lt"/>
                          <a:ea typeface="+mn-ea"/>
                        </a:rPr>
                        <a:t>b|600|D|2015-07-32</a:t>
                      </a:r>
                    </a:p>
                    <a:p>
                      <a:pPr latinLnBrk="1"/>
                      <a:r>
                        <a:rPr lang="en-US" altLang="ko-KR" sz="900" dirty="0">
                          <a:latin typeface="+mn-lt"/>
                          <a:ea typeface="+mn-ea"/>
                        </a:rPr>
                        <a:t>e|700|D|2015-07-05</a:t>
                      </a:r>
                    </a:p>
                  </a:txBody>
                  <a:tcPr marL="36000" marR="3600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" name="Content Placeholder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2140000"/>
              </p:ext>
            </p:extLst>
          </p:nvPr>
        </p:nvGraphicFramePr>
        <p:xfrm>
          <a:off x="10054852" y="2832921"/>
          <a:ext cx="1440160" cy="548640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629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</a:rPr>
                        <a:t>test.reject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61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+mn-lt"/>
                          <a:ea typeface="+mn-ea"/>
                        </a:rPr>
                        <a:t>b|X00|B|2015-07-02</a:t>
                      </a:r>
                    </a:p>
                    <a:p>
                      <a:pPr latinLnBrk="1"/>
                      <a:r>
                        <a:rPr lang="en-US" altLang="ko-KR" sz="900" dirty="0">
                          <a:latin typeface="+mn-lt"/>
                          <a:ea typeface="+mn-ea"/>
                        </a:rPr>
                        <a:t>c|500|C|2015-07-03|abc</a:t>
                      </a:r>
                    </a:p>
                    <a:p>
                      <a:pPr latinLnBrk="1"/>
                      <a:r>
                        <a:rPr lang="en-US" altLang="ko-KR" sz="900" dirty="0">
                          <a:latin typeface="+mn-lt"/>
                          <a:ea typeface="+mn-ea"/>
                        </a:rPr>
                        <a:t>b|600|D|2015-07-32</a:t>
                      </a:r>
                    </a:p>
                  </a:txBody>
                  <a:tcPr marL="36000" marR="3600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Content Placeholder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5736430"/>
              </p:ext>
            </p:extLst>
          </p:nvPr>
        </p:nvGraphicFramePr>
        <p:xfrm>
          <a:off x="6598468" y="3496427"/>
          <a:ext cx="4896544" cy="960120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4896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629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</a:rPr>
                        <a:t>test.exception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61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+mn-lt"/>
                          <a:ea typeface="+mn-ea"/>
                        </a:rPr>
                        <a:t>COPY: Input record 2 has been rejected (Invalid numeric format 'X00' for column 2 (COL2)).  Please see /</a:t>
                      </a:r>
                      <a:r>
                        <a:rPr lang="en-US" altLang="ko-KR" sz="900" dirty="0" err="1">
                          <a:latin typeface="+mn-lt"/>
                          <a:ea typeface="+mn-ea"/>
                        </a:rPr>
                        <a:t>tmp</a:t>
                      </a:r>
                      <a:r>
                        <a:rPr lang="en-US" altLang="ko-KR" sz="900" dirty="0"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900" dirty="0" err="1">
                          <a:latin typeface="+mn-lt"/>
                          <a:ea typeface="+mn-ea"/>
                        </a:rPr>
                        <a:t>test.reject</a:t>
                      </a:r>
                      <a:r>
                        <a:rPr lang="en-US" altLang="ko-KR" sz="900" dirty="0">
                          <a:latin typeface="+mn-lt"/>
                          <a:ea typeface="+mn-ea"/>
                        </a:rPr>
                        <a:t>, record 1 for the rejected record.</a:t>
                      </a:r>
                    </a:p>
                    <a:p>
                      <a:pPr latinLnBrk="1"/>
                      <a:r>
                        <a:rPr lang="en-US" altLang="ko-KR" sz="900" dirty="0">
                          <a:latin typeface="+mn-lt"/>
                          <a:ea typeface="+mn-ea"/>
                        </a:rPr>
                        <a:t>COPY: Input record 3 has been rejected (Too many columns found).  Please see /</a:t>
                      </a:r>
                      <a:r>
                        <a:rPr lang="en-US" altLang="ko-KR" sz="900" dirty="0" err="1">
                          <a:latin typeface="+mn-lt"/>
                          <a:ea typeface="+mn-ea"/>
                        </a:rPr>
                        <a:t>tmp</a:t>
                      </a:r>
                      <a:r>
                        <a:rPr lang="en-US" altLang="ko-KR" sz="900" dirty="0"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900" dirty="0" err="1">
                          <a:latin typeface="+mn-lt"/>
                          <a:ea typeface="+mn-ea"/>
                        </a:rPr>
                        <a:t>test.reject</a:t>
                      </a:r>
                      <a:r>
                        <a:rPr lang="en-US" altLang="ko-KR" sz="900" dirty="0">
                          <a:latin typeface="+mn-lt"/>
                          <a:ea typeface="+mn-ea"/>
                        </a:rPr>
                        <a:t>, record 2 for the rejected record.</a:t>
                      </a:r>
                    </a:p>
                    <a:p>
                      <a:pPr latinLnBrk="1"/>
                      <a:r>
                        <a:rPr lang="en-US" altLang="ko-KR" sz="900" dirty="0">
                          <a:latin typeface="+mn-lt"/>
                          <a:ea typeface="+mn-ea"/>
                        </a:rPr>
                        <a:t>COPY: Input record 4 has been rejected (Invalid date format '2015-07-32' for column 4 (COL4).Date/time field value out of range: "2015-07-32").</a:t>
                      </a:r>
                    </a:p>
                  </a:txBody>
                  <a:tcPr marL="36000" marR="3600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Rounded Rectangle 13"/>
          <p:cNvSpPr/>
          <p:nvPr/>
        </p:nvSpPr>
        <p:spPr>
          <a:xfrm>
            <a:off x="6456810" y="4581723"/>
            <a:ext cx="5124931" cy="1799605"/>
          </a:xfrm>
          <a:prstGeom prst="roundRect">
            <a:avLst>
              <a:gd name="adj" fmla="val 4570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COPY 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copy_test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FROM '/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/test.txt'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REJECTED DATA AS TABLE 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copy_test_exception</a:t>
            </a:r>
            <a:endParaRPr lang="en-US" altLang="ko-KR" sz="9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DIRECT ;</a:t>
            </a:r>
          </a:p>
          <a:p>
            <a:pPr>
              <a:lnSpc>
                <a:spcPts val="1200"/>
              </a:lnSpc>
            </a:pPr>
            <a:endParaRPr lang="en-US" altLang="ko-KR" sz="9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SELECT 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file_name,row_number,rejected_data,rejected_reason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FROM </a:t>
            </a:r>
            <a:r>
              <a:rPr lang="en-US" altLang="ko-KR" sz="9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copy_test_exception</a:t>
            </a:r>
            <a:r>
              <a:rPr lang="en-US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LIMIT 1 ;</a:t>
            </a:r>
          </a:p>
          <a:p>
            <a:pPr>
              <a:lnSpc>
                <a:spcPts val="1200"/>
              </a:lnSpc>
            </a:pPr>
            <a:endParaRPr lang="it-IT" altLang="ko-KR" sz="9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lnSpc>
                <a:spcPts val="1200"/>
              </a:lnSpc>
            </a:pPr>
            <a:r>
              <a:rPr lang="it-IT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file_name       | /tmp/test.txt</a:t>
            </a:r>
          </a:p>
          <a:p>
            <a:pPr>
              <a:lnSpc>
                <a:spcPts val="1200"/>
              </a:lnSpc>
            </a:pPr>
            <a:r>
              <a:rPr lang="it-IT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row_number      | 2</a:t>
            </a:r>
          </a:p>
          <a:p>
            <a:pPr>
              <a:lnSpc>
                <a:spcPts val="1200"/>
              </a:lnSpc>
            </a:pPr>
            <a:r>
              <a:rPr lang="it-IT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rejected_data   | b|X00|B|2015-07-02</a:t>
            </a:r>
          </a:p>
          <a:p>
            <a:pPr>
              <a:lnSpc>
                <a:spcPts val="1200"/>
              </a:lnSpc>
            </a:pPr>
            <a:r>
              <a:rPr lang="it-IT" altLang="ko-KR" sz="9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rejected_reason | Invalid numeric format 'X00' for column 2</a:t>
            </a:r>
          </a:p>
        </p:txBody>
      </p:sp>
    </p:spTree>
    <p:extLst>
      <p:ext uri="{BB962C8B-B14F-4D97-AF65-F5344CB8AC3E}">
        <p14:creationId xmlns:p14="http://schemas.microsoft.com/office/powerpoint/2010/main" val="11921056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07367" y="1093961"/>
            <a:ext cx="10579609" cy="1038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000"/>
              <a:t>쿼리 작성의 기초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8705610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err="1"/>
              <a:t>버티카</a:t>
            </a:r>
            <a:r>
              <a:rPr lang="ko-KR" altLang="en-US" sz="2800" dirty="0"/>
              <a:t> 쿼리 작성 개요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쿼리 작성의 기초</a:t>
            </a:r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개요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ANSI </a:t>
            </a:r>
            <a:r>
              <a:rPr lang="ko-KR" altLang="en-US" sz="1100" dirty="0"/>
              <a:t>표준의 </a:t>
            </a:r>
            <a:r>
              <a:rPr lang="en-US" altLang="ko-KR" sz="1100" dirty="0"/>
              <a:t>SQL </a:t>
            </a:r>
            <a:r>
              <a:rPr lang="ko-KR" altLang="en-US" sz="1100" dirty="0"/>
              <a:t>문장 사용 </a:t>
            </a:r>
            <a:r>
              <a:rPr lang="en-US" altLang="ko-KR" sz="1100" dirty="0"/>
              <a:t>(SQL-99 </a:t>
            </a:r>
            <a:r>
              <a:rPr lang="ko-KR" altLang="en-US" sz="1100" dirty="0"/>
              <a:t>표준</a:t>
            </a:r>
            <a:r>
              <a:rPr lang="en-US" altLang="ko-KR" sz="1100" dirty="0"/>
              <a:t>)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분석용 함수 제공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ko-KR" altLang="en-US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일반 </a:t>
            </a:r>
            <a:r>
              <a:rPr lang="en-US" altLang="ko-KR" sz="1100" dirty="0"/>
              <a:t>RDBMS</a:t>
            </a:r>
            <a:r>
              <a:rPr lang="ko-KR" altLang="en-US" sz="1100" dirty="0"/>
              <a:t>와는 다른 트랜잭션 아키텍처 사용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특정 시간대의 스냅샷 쿼리 방식으로 </a:t>
            </a:r>
            <a:r>
              <a:rPr lang="en-US" altLang="ko-KR" sz="1100" dirty="0"/>
              <a:t>Lock</a:t>
            </a:r>
            <a:r>
              <a:rPr lang="ko-KR" altLang="en-US" sz="1100" dirty="0"/>
              <a:t>을 필요로 하거나 영향을 받지 않는 조회 구조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 err="1"/>
              <a:t>쿼리문</a:t>
            </a:r>
            <a:r>
              <a:rPr lang="ko-KR" altLang="en-US" sz="1100" b="1" dirty="0"/>
              <a:t> 작성 기본 사항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여러 </a:t>
            </a:r>
            <a:r>
              <a:rPr lang="en-US" altLang="ko-KR" sz="1100" dirty="0"/>
              <a:t>SQL </a:t>
            </a:r>
            <a:r>
              <a:rPr lang="ko-KR" altLang="en-US" sz="1100" dirty="0"/>
              <a:t>구문은 세미콜론으로 구분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Comment </a:t>
            </a:r>
            <a:r>
              <a:rPr lang="ko-KR" altLang="en-US" sz="1100" dirty="0"/>
              <a:t>처리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Single Line : --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Multiple Line : /*  */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쿼리 결과 제한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LIMIT : </a:t>
            </a:r>
            <a:r>
              <a:rPr lang="ko-KR" altLang="en-US" sz="1100" dirty="0"/>
              <a:t>출력 데이터 양 제한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OFFSET : </a:t>
            </a:r>
            <a:r>
              <a:rPr lang="ko-KR" altLang="en-US" sz="1100" dirty="0"/>
              <a:t>조회 결과의 출력 시작 위치 </a:t>
            </a:r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4"/>
          <p:cNvSpPr/>
          <p:nvPr/>
        </p:nvSpPr>
        <p:spPr bwMode="auto">
          <a:xfrm>
            <a:off x="1053852" y="1862841"/>
            <a:ext cx="4536504" cy="306188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sz="900" b="1" u="sng" dirty="0">
                <a:solidFill>
                  <a:schemeClr val="bg1"/>
                </a:solidFill>
              </a:rPr>
              <a:t>Linear and Statistical Analysis</a:t>
            </a:r>
          </a:p>
          <a:p>
            <a:pPr marL="268288" lvl="1">
              <a:spcBef>
                <a:spcPts val="0"/>
              </a:spcBef>
            </a:pPr>
            <a:r>
              <a:rPr lang="en-US" sz="900" dirty="0">
                <a:solidFill>
                  <a:schemeClr val="bg1">
                    <a:lumMod val="95000"/>
                  </a:schemeClr>
                </a:solidFill>
              </a:rPr>
              <a:t>Slope / Intercept / Standard Deviation / Variance / Covariance</a:t>
            </a:r>
          </a:p>
          <a:p>
            <a:pPr marL="268288" lvl="1">
              <a:spcBef>
                <a:spcPts val="0"/>
              </a:spcBef>
            </a:pPr>
            <a:r>
              <a:rPr lang="en-US" sz="900" dirty="0">
                <a:solidFill>
                  <a:schemeClr val="bg1">
                    <a:lumMod val="95000"/>
                  </a:schemeClr>
                </a:solidFill>
              </a:rPr>
              <a:t>Coefficient of Correlation</a:t>
            </a:r>
          </a:p>
          <a:p>
            <a:r>
              <a:rPr lang="en-US" sz="900" b="1" u="sng" dirty="0" err="1">
                <a:solidFill>
                  <a:schemeClr val="bg1"/>
                </a:solidFill>
              </a:rPr>
              <a:t>Timeseries</a:t>
            </a:r>
            <a:r>
              <a:rPr lang="en-US" sz="900" b="1" u="sng" dirty="0">
                <a:solidFill>
                  <a:schemeClr val="bg1"/>
                </a:solidFill>
              </a:rPr>
              <a:t> Analysis</a:t>
            </a:r>
          </a:p>
          <a:p>
            <a:pPr marL="268288" lvl="1">
              <a:spcBef>
                <a:spcPts val="0"/>
              </a:spcBef>
            </a:pPr>
            <a:r>
              <a:rPr lang="en-US" sz="900" dirty="0">
                <a:solidFill>
                  <a:schemeClr val="bg1">
                    <a:lumMod val="95000"/>
                  </a:schemeClr>
                </a:solidFill>
              </a:rPr>
              <a:t>Gap Filling – First / Last Value</a:t>
            </a:r>
          </a:p>
          <a:p>
            <a:pPr marL="268288" lvl="1">
              <a:spcBef>
                <a:spcPts val="0"/>
              </a:spcBef>
            </a:pPr>
            <a:r>
              <a:rPr lang="en-US" sz="900" dirty="0">
                <a:solidFill>
                  <a:schemeClr val="bg1">
                    <a:lumMod val="95000"/>
                  </a:schemeClr>
                </a:solidFill>
              </a:rPr>
              <a:t>Interpolation – Constant and Linear</a:t>
            </a:r>
          </a:p>
          <a:p>
            <a:pPr marL="268288" lvl="1">
              <a:spcBef>
                <a:spcPts val="0"/>
              </a:spcBef>
            </a:pPr>
            <a:r>
              <a:rPr lang="en-US" sz="900" dirty="0">
                <a:solidFill>
                  <a:schemeClr val="bg1">
                    <a:lumMod val="95000"/>
                  </a:schemeClr>
                </a:solidFill>
              </a:rPr>
              <a:t>Event Series Joins</a:t>
            </a:r>
          </a:p>
          <a:p>
            <a:r>
              <a:rPr lang="en-US" sz="900" b="1" u="sng" dirty="0">
                <a:solidFill>
                  <a:schemeClr val="bg1"/>
                </a:solidFill>
              </a:rPr>
              <a:t>Event-Based Windows</a:t>
            </a:r>
          </a:p>
          <a:p>
            <a:pPr marL="268288" lvl="1">
              <a:spcBef>
                <a:spcPts val="0"/>
              </a:spcBef>
            </a:pPr>
            <a:r>
              <a:rPr lang="en-US" sz="900" dirty="0">
                <a:solidFill>
                  <a:schemeClr val="bg1">
                    <a:lumMod val="95000"/>
                  </a:schemeClr>
                </a:solidFill>
              </a:rPr>
              <a:t>Conditional Change Event</a:t>
            </a:r>
          </a:p>
          <a:p>
            <a:pPr marL="268288" lvl="1">
              <a:spcBef>
                <a:spcPts val="0"/>
              </a:spcBef>
            </a:pPr>
            <a:r>
              <a:rPr lang="en-US" sz="900" dirty="0">
                <a:solidFill>
                  <a:schemeClr val="bg1">
                    <a:lumMod val="95000"/>
                  </a:schemeClr>
                </a:solidFill>
              </a:rPr>
              <a:t>Conditional True Event</a:t>
            </a:r>
          </a:p>
          <a:p>
            <a:r>
              <a:rPr lang="en-US" sz="900" b="1" u="sng" dirty="0">
                <a:solidFill>
                  <a:schemeClr val="bg1"/>
                </a:solidFill>
              </a:rPr>
              <a:t>SQL Analytic / Windowing Functions</a:t>
            </a:r>
          </a:p>
          <a:p>
            <a:pPr marL="268288" lvl="1">
              <a:spcBef>
                <a:spcPts val="0"/>
              </a:spcBef>
            </a:pPr>
            <a:r>
              <a:rPr lang="en-US" sz="900" dirty="0">
                <a:solidFill>
                  <a:schemeClr val="bg1">
                    <a:lumMod val="95000"/>
                  </a:schemeClr>
                </a:solidFill>
              </a:rPr>
              <a:t>Cumulative Distribution / Rank / Dense Rank / </a:t>
            </a:r>
          </a:p>
          <a:p>
            <a:pPr marL="268288" lvl="1">
              <a:spcBef>
                <a:spcPts val="0"/>
              </a:spcBef>
            </a:pPr>
            <a:r>
              <a:rPr lang="en-US" sz="900" dirty="0">
                <a:solidFill>
                  <a:schemeClr val="bg1">
                    <a:lumMod val="95000"/>
                  </a:schemeClr>
                </a:solidFill>
              </a:rPr>
              <a:t>Row Number / Lead / Lag / Min / Max / Median / </a:t>
            </a:r>
            <a:r>
              <a:rPr lang="en-US" sz="900" dirty="0" err="1">
                <a:solidFill>
                  <a:schemeClr val="bg1">
                    <a:lumMod val="95000"/>
                  </a:schemeClr>
                </a:solidFill>
              </a:rPr>
              <a:t>Avg</a:t>
            </a:r>
            <a:r>
              <a:rPr lang="en-US" sz="900" dirty="0">
                <a:solidFill>
                  <a:schemeClr val="bg1">
                    <a:lumMod val="95000"/>
                  </a:schemeClr>
                </a:solidFill>
              </a:rPr>
              <a:t> / Count</a:t>
            </a:r>
          </a:p>
          <a:p>
            <a:pPr marL="268288" lvl="1">
              <a:spcBef>
                <a:spcPts val="0"/>
              </a:spcBef>
            </a:pPr>
            <a:r>
              <a:rPr lang="en-US" sz="900" dirty="0">
                <a:solidFill>
                  <a:schemeClr val="bg1">
                    <a:lumMod val="95000"/>
                  </a:schemeClr>
                </a:solidFill>
              </a:rPr>
              <a:t>Standard Deviation / Variance</a:t>
            </a:r>
          </a:p>
          <a:p>
            <a:r>
              <a:rPr lang="en-US" sz="900" b="1" u="sng" dirty="0">
                <a:solidFill>
                  <a:schemeClr val="bg1"/>
                </a:solidFill>
              </a:rPr>
              <a:t>Regular Expressions</a:t>
            </a:r>
          </a:p>
          <a:p>
            <a:pPr marL="268288" lvl="1">
              <a:spcBef>
                <a:spcPts val="0"/>
              </a:spcBef>
            </a:pPr>
            <a:r>
              <a:rPr lang="en-US" sz="900" dirty="0">
                <a:solidFill>
                  <a:schemeClr val="bg1">
                    <a:lumMod val="95000"/>
                  </a:schemeClr>
                </a:solidFill>
              </a:rPr>
              <a:t>Regular Expression Count / Regular Expression LIKE</a:t>
            </a:r>
          </a:p>
          <a:p>
            <a:pPr marL="268288" lvl="1">
              <a:spcBef>
                <a:spcPts val="0"/>
              </a:spcBef>
            </a:pPr>
            <a:r>
              <a:rPr lang="en-US" sz="900" dirty="0">
                <a:solidFill>
                  <a:schemeClr val="bg1">
                    <a:lumMod val="95000"/>
                  </a:schemeClr>
                </a:solidFill>
              </a:rPr>
              <a:t>Regular Expression Replace / Regular Expression Substring</a:t>
            </a:r>
          </a:p>
          <a:p>
            <a:r>
              <a:rPr lang="en-US" sz="900" b="1" u="sng" dirty="0">
                <a:solidFill>
                  <a:schemeClr val="bg1"/>
                </a:solidFill>
              </a:rPr>
              <a:t>Geospatial Analysis</a:t>
            </a:r>
          </a:p>
          <a:p>
            <a:pPr marL="268288" lvl="1">
              <a:spcBef>
                <a:spcPts val="0"/>
              </a:spcBef>
            </a:pPr>
            <a:r>
              <a:rPr lang="en-US" sz="900" dirty="0">
                <a:solidFill>
                  <a:schemeClr val="bg1">
                    <a:lumMod val="95000"/>
                  </a:schemeClr>
                </a:solidFill>
              </a:rPr>
              <a:t>World Geodetic System (WGS) Functions</a:t>
            </a:r>
          </a:p>
          <a:p>
            <a:pPr marL="268288" lvl="1">
              <a:spcBef>
                <a:spcPts val="0"/>
              </a:spcBef>
            </a:pPr>
            <a:r>
              <a:rPr lang="en-US" sz="900" dirty="0">
                <a:solidFill>
                  <a:schemeClr val="bg1">
                    <a:lumMod val="95000"/>
                  </a:schemeClr>
                </a:solidFill>
              </a:rPr>
              <a:t>Earth Radius / Radius of Curvature / Bearing</a:t>
            </a:r>
          </a:p>
          <a:p>
            <a:pPr marL="268288" lvl="1">
              <a:spcBef>
                <a:spcPts val="0"/>
              </a:spcBef>
            </a:pPr>
            <a:r>
              <a:rPr lang="en-US" sz="900" dirty="0">
                <a:solidFill>
                  <a:schemeClr val="bg1">
                    <a:lumMod val="95000"/>
                  </a:schemeClr>
                </a:solidFill>
              </a:rPr>
              <a:t>Earth Centered Earth Fixed (ECEF) Conversion / Bounding Box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cs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66220" y="1445031"/>
            <a:ext cx="1183016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000" dirty="0">
                <a:solidFill>
                  <a:schemeClr val="tx2"/>
                </a:solidFill>
              </a:rPr>
              <a:t>SQL Reference Manual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0" name="Rounded Rectangle 8"/>
          <p:cNvSpPr/>
          <p:nvPr/>
        </p:nvSpPr>
        <p:spPr>
          <a:xfrm>
            <a:off x="10719998" y="2313587"/>
            <a:ext cx="837469" cy="251801"/>
          </a:xfrm>
          <a:prstGeom prst="roundRect">
            <a:avLst/>
          </a:prstGeom>
          <a:solidFill>
            <a:schemeClr val="tx2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90000"/>
              </a:lnSpc>
            </a:pPr>
            <a:r>
              <a:rPr lang="en-US" altLang="ko-KR" sz="900" dirty="0"/>
              <a:t>SELECT</a:t>
            </a:r>
          </a:p>
        </p:txBody>
      </p:sp>
      <p:pic>
        <p:nvPicPr>
          <p:cNvPr id="11" name="Picture 9" descr="C:\Users\hongjon\Documents\Proposal\ICON\Common_Icons\Common_Icons\Magnifying_glass\Magnifying_glass_RGB\Magnifying_glass_RGB_blue_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2006" y="2349818"/>
            <a:ext cx="222460" cy="215570"/>
          </a:xfrm>
          <a:prstGeom prst="rect">
            <a:avLst/>
          </a:prstGeom>
          <a:solidFill>
            <a:schemeClr val="tx2"/>
          </a:solidFill>
          <a:ln>
            <a:noFill/>
          </a:ln>
        </p:spPr>
      </p:pic>
      <p:sp>
        <p:nvSpPr>
          <p:cNvPr id="12" name="Rounded Rectangle 12"/>
          <p:cNvSpPr/>
          <p:nvPr/>
        </p:nvSpPr>
        <p:spPr>
          <a:xfrm>
            <a:off x="6454453" y="2668089"/>
            <a:ext cx="5124931" cy="1408983"/>
          </a:xfrm>
          <a:prstGeom prst="roundRect">
            <a:avLst>
              <a:gd name="adj" fmla="val 9098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SELECT * FROM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querytest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LIMIT 3 OFFSET 2 ;</a:t>
            </a:r>
          </a:p>
          <a:p>
            <a:pPr>
              <a:lnSpc>
                <a:spcPts val="1200"/>
              </a:lnSpc>
            </a:pPr>
            <a:endParaRPr lang="en-US" altLang="ko-KR" sz="9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pPr>
              <a:lnSpc>
                <a:spcPts val="1200"/>
              </a:lnSpc>
            </a:pPr>
            <a:r>
              <a:rPr lang="it-IT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col1 | col2</a:t>
            </a:r>
          </a:p>
          <a:p>
            <a:pPr>
              <a:lnSpc>
                <a:spcPts val="1200"/>
              </a:lnSpc>
            </a:pPr>
            <a:r>
              <a:rPr lang="it-IT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------+------</a:t>
            </a:r>
          </a:p>
          <a:p>
            <a:pPr>
              <a:lnSpc>
                <a:spcPts val="1200"/>
              </a:lnSpc>
            </a:pPr>
            <a:r>
              <a:rPr lang="it-IT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3 |  300</a:t>
            </a:r>
          </a:p>
          <a:p>
            <a:pPr>
              <a:lnSpc>
                <a:spcPts val="1200"/>
              </a:lnSpc>
            </a:pPr>
            <a:r>
              <a:rPr lang="it-IT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4 |  400</a:t>
            </a:r>
          </a:p>
          <a:p>
            <a:pPr>
              <a:lnSpc>
                <a:spcPts val="1200"/>
              </a:lnSpc>
            </a:pPr>
            <a:r>
              <a:rPr lang="it-IT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5 |  500</a:t>
            </a:r>
          </a:p>
          <a:p>
            <a:pPr>
              <a:lnSpc>
                <a:spcPts val="1200"/>
              </a:lnSpc>
            </a:pPr>
            <a:r>
              <a:rPr lang="it-IT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(3 rows)</a:t>
            </a:r>
          </a:p>
          <a:p>
            <a:pPr>
              <a:lnSpc>
                <a:spcPts val="1200"/>
              </a:lnSpc>
            </a:pPr>
            <a:endParaRPr lang="en-US" altLang="ko-KR" sz="900" dirty="0">
              <a:solidFill>
                <a:schemeClr val="bg1"/>
              </a:solidFill>
              <a:cs typeface="Courier New" panose="02070309020205020404" pitchFamily="49" charset="0"/>
            </a:endParaRPr>
          </a:p>
        </p:txBody>
      </p:sp>
      <p:sp>
        <p:nvSpPr>
          <p:cNvPr id="13" name="Rectangular Callout 13"/>
          <p:cNvSpPr/>
          <p:nvPr/>
        </p:nvSpPr>
        <p:spPr>
          <a:xfrm>
            <a:off x="9480723" y="3410519"/>
            <a:ext cx="720080" cy="214572"/>
          </a:xfrm>
          <a:prstGeom prst="wedgeRectCallout">
            <a:avLst>
              <a:gd name="adj1" fmla="val 62788"/>
              <a:gd name="adj2" fmla="val 10931"/>
            </a:avLst>
          </a:prstGeom>
          <a:solidFill>
            <a:schemeClr val="bg1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en-US" altLang="ko-KR" sz="1000" i="1" dirty="0">
                <a:solidFill>
                  <a:prstClr val="black"/>
                </a:solidFill>
              </a:rPr>
              <a:t>3</a:t>
            </a:r>
            <a:r>
              <a:rPr lang="ko-KR" altLang="en-US" sz="1000" i="1" dirty="0">
                <a:solidFill>
                  <a:prstClr val="black"/>
                </a:solidFill>
              </a:rPr>
              <a:t>건 출력</a:t>
            </a:r>
            <a:endParaRPr lang="en-US" altLang="ko-KR" sz="1000" i="1" dirty="0">
              <a:solidFill>
                <a:prstClr val="black"/>
              </a:solidFill>
            </a:endParaRPr>
          </a:p>
        </p:txBody>
      </p:sp>
      <p:sp>
        <p:nvSpPr>
          <p:cNvPr id="14" name="Rectangular Callout 14"/>
          <p:cNvSpPr/>
          <p:nvPr/>
        </p:nvSpPr>
        <p:spPr>
          <a:xfrm>
            <a:off x="9480723" y="3003161"/>
            <a:ext cx="720080" cy="214572"/>
          </a:xfrm>
          <a:prstGeom prst="wedgeRectCallout">
            <a:avLst>
              <a:gd name="adj1" fmla="val 59835"/>
              <a:gd name="adj2" fmla="val -3935"/>
            </a:avLst>
          </a:prstGeom>
          <a:solidFill>
            <a:schemeClr val="bg1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en-US" altLang="ko-KR" sz="1000" i="1" dirty="0">
                <a:solidFill>
                  <a:prstClr val="black"/>
                </a:solidFill>
              </a:rPr>
              <a:t>2</a:t>
            </a:r>
            <a:r>
              <a:rPr lang="ko-KR" altLang="en-US" sz="1000" i="1" dirty="0">
                <a:solidFill>
                  <a:prstClr val="black"/>
                </a:solidFill>
              </a:rPr>
              <a:t>건 </a:t>
            </a:r>
            <a:r>
              <a:rPr lang="en-US" altLang="ko-KR" sz="1000" i="1" dirty="0">
                <a:solidFill>
                  <a:prstClr val="black"/>
                </a:solidFill>
              </a:rPr>
              <a:t>skip</a:t>
            </a:r>
          </a:p>
        </p:txBody>
      </p:sp>
      <p:graphicFrame>
        <p:nvGraphicFramePr>
          <p:cNvPr id="1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1930174"/>
              </p:ext>
            </p:extLst>
          </p:nvPr>
        </p:nvGraphicFramePr>
        <p:xfrm>
          <a:off x="10531972" y="2788589"/>
          <a:ext cx="768084" cy="1212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840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COL1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COL2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400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600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Left Bracket 16"/>
          <p:cNvSpPr/>
          <p:nvPr/>
        </p:nvSpPr>
        <p:spPr>
          <a:xfrm>
            <a:off x="10371447" y="3003161"/>
            <a:ext cx="117389" cy="289484"/>
          </a:xfrm>
          <a:prstGeom prst="leftBracket">
            <a:avLst/>
          </a:prstGeom>
          <a:ln w="1905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Left Bracket 17"/>
          <p:cNvSpPr/>
          <p:nvPr/>
        </p:nvSpPr>
        <p:spPr>
          <a:xfrm>
            <a:off x="10371446" y="3351418"/>
            <a:ext cx="117390" cy="412653"/>
          </a:xfrm>
          <a:prstGeom prst="leftBracket">
            <a:avLst/>
          </a:prstGeom>
          <a:ln w="1905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Picture 13" descr="C:\Users\hongjon\Documents\Proposal\ICON\Business_Icons\Business_Icons\Innovation\Innovation_RGB\Innovation_RGB_blue_NT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6881" y="1361591"/>
            <a:ext cx="196427" cy="322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14200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임시 테이블 사용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쿼리 작성의 기초</a:t>
            </a:r>
            <a:endParaRPr lang="ko-KR" altLang="en-US" dirty="0"/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임시 테이블 사용 구문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레이아웃 유지 범위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GLOBAL : default </a:t>
            </a:r>
            <a:r>
              <a:rPr lang="ko-KR" altLang="en-US" sz="1100" dirty="0"/>
              <a:t>값으로 모든 세션에서 임시테이블 레이아웃 사용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LOCAL : </a:t>
            </a:r>
            <a:r>
              <a:rPr lang="ko-KR" altLang="en-US" sz="1100" dirty="0"/>
              <a:t>세션 레벨에서 임시 테이블 생성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데이터는 모두 세션 레벨에서 별도 액세스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IF NOT EXISTS : </a:t>
            </a:r>
            <a:r>
              <a:rPr lang="ko-KR" altLang="en-US" sz="1100" dirty="0"/>
              <a:t>임시 테이블이 없는 경우 생성 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데이터 유지 시기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ON COMMIT PRESERVE ROWS : </a:t>
            </a:r>
            <a:r>
              <a:rPr lang="ko-KR" altLang="en-US" sz="1100" dirty="0"/>
              <a:t>세션이 유지되는 동안 데이터 보관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ON COMMIT DELETE ROWS : </a:t>
            </a:r>
            <a:r>
              <a:rPr lang="ko-KR" altLang="en-US" sz="1100" dirty="0"/>
              <a:t>트랜잭션이 유지되는 동안 데이터 보관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/*+ direct */ : ROS</a:t>
            </a:r>
            <a:r>
              <a:rPr lang="ko-KR" altLang="en-US" sz="1100" dirty="0"/>
              <a:t>로 직접 기록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 err="1"/>
              <a:t>프로젝션</a:t>
            </a:r>
            <a:r>
              <a:rPr lang="ko-KR" altLang="en-US" sz="1100" dirty="0"/>
              <a:t> 관련 정보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ORDER BY </a:t>
            </a:r>
            <a:r>
              <a:rPr lang="ko-KR" altLang="en-US" sz="1100" dirty="0"/>
              <a:t>구문 </a:t>
            </a:r>
            <a:r>
              <a:rPr lang="en-US" altLang="ko-KR" sz="1100" dirty="0"/>
              <a:t>: </a:t>
            </a:r>
            <a:r>
              <a:rPr lang="ko-KR" altLang="en-US" sz="1100" dirty="0"/>
              <a:t>데이터 정렬 기준 </a:t>
            </a:r>
            <a:r>
              <a:rPr lang="ko-KR" altLang="en-US" sz="1100" dirty="0" err="1"/>
              <a:t>컬럼</a:t>
            </a:r>
            <a:r>
              <a:rPr lang="ko-KR" altLang="en-US" sz="1100" dirty="0"/>
              <a:t> 정의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HASH / UNSEGMENT </a:t>
            </a:r>
            <a:r>
              <a:rPr lang="ko-KR" altLang="en-US" sz="1100" dirty="0"/>
              <a:t>구문 </a:t>
            </a:r>
            <a:r>
              <a:rPr lang="en-US" altLang="ko-KR" sz="1100" dirty="0"/>
              <a:t>: </a:t>
            </a:r>
            <a:r>
              <a:rPr lang="ko-KR" altLang="en-US" sz="1100" dirty="0"/>
              <a:t>분산 또는 복제 정의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임시 테이블 활용 및 팁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IF NOT EXISTS </a:t>
            </a:r>
            <a:r>
              <a:rPr lang="ko-KR" altLang="en-US" sz="1100" dirty="0"/>
              <a:t>사용 </a:t>
            </a:r>
            <a:r>
              <a:rPr lang="en-US" altLang="ko-KR" sz="1100" dirty="0"/>
              <a:t>(</a:t>
            </a:r>
            <a:r>
              <a:rPr lang="ko-KR" altLang="en-US" sz="1100" dirty="0"/>
              <a:t>일반 테이블도 동일</a:t>
            </a:r>
            <a:r>
              <a:rPr lang="en-US" altLang="ko-KR" sz="1100" dirty="0"/>
              <a:t>)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일련의 단계를 스크립트로 작성할 경우 테이블을 생성하거나 </a:t>
            </a:r>
            <a:r>
              <a:rPr lang="en-US" altLang="ko-KR" sz="1100" dirty="0"/>
              <a:t>DROP</a:t>
            </a:r>
            <a:r>
              <a:rPr lang="ko-KR" altLang="en-US" sz="1100" dirty="0"/>
              <a:t>하는 단계에서 에러를 만날 수 있다</a:t>
            </a:r>
            <a:r>
              <a:rPr lang="en-US" altLang="ko-KR" sz="1100" dirty="0"/>
              <a:t>. </a:t>
            </a:r>
            <a:r>
              <a:rPr lang="ko-KR" altLang="en-US" sz="1100" dirty="0"/>
              <a:t>이런 경우를 회피하기 위해 </a:t>
            </a:r>
            <a:r>
              <a:rPr lang="en-US" altLang="ko-KR" sz="1100" dirty="0"/>
              <a:t>IF NOT EXISTS </a:t>
            </a:r>
            <a:r>
              <a:rPr lang="ko-KR" altLang="en-US" sz="1100" dirty="0"/>
              <a:t>구문을 활용한다</a:t>
            </a:r>
            <a:r>
              <a:rPr lang="en-US" altLang="ko-KR" sz="1100" dirty="0"/>
              <a:t>.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 err="1"/>
              <a:t>프로젝션</a:t>
            </a:r>
            <a:r>
              <a:rPr lang="ko-KR" altLang="en-US" sz="1100" dirty="0"/>
              <a:t> 관련 정보 설정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ORDER BY, SEGMENT </a:t>
            </a:r>
            <a:r>
              <a:rPr lang="ko-KR" altLang="en-US" sz="1100" dirty="0"/>
              <a:t>는 데이터 조회 시 성능의 영향을 주는 주요 포인트이다</a:t>
            </a:r>
            <a:r>
              <a:rPr lang="en-US" altLang="ko-KR" sz="1100" dirty="0"/>
              <a:t>. </a:t>
            </a:r>
            <a:r>
              <a:rPr lang="ko-KR" altLang="en-US" sz="1100" dirty="0"/>
              <a:t>그러므로 직접적인 </a:t>
            </a:r>
            <a:r>
              <a:rPr lang="ko-KR" altLang="en-US" sz="1100" dirty="0" err="1"/>
              <a:t>프로젝션</a:t>
            </a:r>
            <a:r>
              <a:rPr lang="ko-KR" altLang="en-US" sz="1100" dirty="0"/>
              <a:t> 튜닝이 불가능한 경우 임시테이블을 이용한 튜닝을 시도해 볼 수 있다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4"/>
          <p:cNvSpPr/>
          <p:nvPr/>
        </p:nvSpPr>
        <p:spPr bwMode="auto">
          <a:xfrm>
            <a:off x="998353" y="1656828"/>
            <a:ext cx="4536504" cy="136815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CREATE [ GLOBAL | LOCAL ] </a:t>
            </a:r>
          </a:p>
          <a:p>
            <a:r>
              <a:rPr lang="en-US" sz="900" b="1" dirty="0">
                <a:solidFill>
                  <a:schemeClr val="bg1"/>
                </a:solidFill>
              </a:rPr>
              <a:t>   TEMPORARY | TEMP  </a:t>
            </a:r>
          </a:p>
          <a:p>
            <a:r>
              <a:rPr lang="en-US" sz="900" b="1" dirty="0">
                <a:solidFill>
                  <a:schemeClr val="bg1"/>
                </a:solidFill>
              </a:rPr>
              <a:t>   TABLE [ IF NOT EXISTS ] </a:t>
            </a:r>
          </a:p>
          <a:p>
            <a:r>
              <a:rPr lang="en-US" sz="900" b="1" dirty="0">
                <a:solidFill>
                  <a:schemeClr val="bg1"/>
                </a:solidFill>
              </a:rPr>
              <a:t>   [[</a:t>
            </a:r>
            <a:r>
              <a:rPr lang="en-US" sz="900" b="1" dirty="0" err="1">
                <a:solidFill>
                  <a:schemeClr val="bg1"/>
                </a:solidFill>
              </a:rPr>
              <a:t>db</a:t>
            </a:r>
            <a:r>
              <a:rPr lang="en-US" sz="900" b="1" dirty="0">
                <a:solidFill>
                  <a:schemeClr val="bg1"/>
                </a:solidFill>
              </a:rPr>
              <a:t>-name.]schema.].table-name  (column definition)</a:t>
            </a:r>
          </a:p>
          <a:p>
            <a:r>
              <a:rPr lang="en-US" sz="900" b="1" dirty="0">
                <a:solidFill>
                  <a:schemeClr val="bg1"/>
                </a:solidFill>
              </a:rPr>
              <a:t>   ON COMMIT { DELETE | PRESERVE } ROWS</a:t>
            </a:r>
          </a:p>
          <a:p>
            <a:r>
              <a:rPr lang="en-US" sz="900" b="1" dirty="0">
                <a:solidFill>
                  <a:schemeClr val="bg1"/>
                </a:solidFill>
              </a:rPr>
              <a:t>   AS /*+ direct */ query </a:t>
            </a:r>
          </a:p>
          <a:p>
            <a:r>
              <a:rPr lang="en-US" sz="900" b="1" dirty="0">
                <a:solidFill>
                  <a:schemeClr val="bg1"/>
                </a:solidFill>
              </a:rPr>
              <a:t>   ORDER BY clause</a:t>
            </a:r>
          </a:p>
          <a:p>
            <a:r>
              <a:rPr lang="en-US" sz="900" b="1" dirty="0">
                <a:solidFill>
                  <a:schemeClr val="bg1"/>
                </a:solidFill>
              </a:rPr>
              <a:t>   HASH clause | UNSEGMENTED clause</a:t>
            </a:r>
          </a:p>
        </p:txBody>
      </p:sp>
      <p:sp>
        <p:nvSpPr>
          <p:cNvPr id="9" name="Rounded Rectangle 5"/>
          <p:cNvSpPr/>
          <p:nvPr/>
        </p:nvSpPr>
        <p:spPr>
          <a:xfrm>
            <a:off x="4222204" y="1305997"/>
            <a:ext cx="1586764" cy="251801"/>
          </a:xfrm>
          <a:prstGeom prst="roundRect">
            <a:avLst/>
          </a:prstGeom>
          <a:solidFill>
            <a:schemeClr val="tx2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90000"/>
              </a:lnSpc>
            </a:pPr>
            <a:r>
              <a:rPr lang="en-US" altLang="ko-KR" sz="900" dirty="0"/>
              <a:t>CREATE TEMP TABLE</a:t>
            </a:r>
          </a:p>
        </p:txBody>
      </p:sp>
      <p:pic>
        <p:nvPicPr>
          <p:cNvPr id="10" name="Picture 6" descr="C:\Users\hongjon\Documents\Proposal\ICON\Common_Icons\Common_Icons\Magnifying_glass\Magnifying_glass_RGB\Magnifying_glass_RGB_blue_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4212" y="1342228"/>
            <a:ext cx="222460" cy="215570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11" name="TextBox 10"/>
          <p:cNvSpPr txBox="1"/>
          <p:nvPr/>
        </p:nvSpPr>
        <p:spPr>
          <a:xfrm>
            <a:off x="7266164" y="2318644"/>
            <a:ext cx="840295" cy="4154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CREATE TABLE</a:t>
            </a:r>
          </a:p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DML</a:t>
            </a:r>
          </a:p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DROP TABLE</a:t>
            </a:r>
            <a:endParaRPr lang="ko-KR" altLang="en-US" sz="1000" dirty="0" err="1"/>
          </a:p>
        </p:txBody>
      </p:sp>
      <p:cxnSp>
        <p:nvCxnSpPr>
          <p:cNvPr id="12" name="Straight Arrow Connector 8"/>
          <p:cNvCxnSpPr/>
          <p:nvPr/>
        </p:nvCxnSpPr>
        <p:spPr>
          <a:xfrm flipH="1">
            <a:off x="7140367" y="2274365"/>
            <a:ext cx="413" cy="504056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ular Callout 9"/>
          <p:cNvSpPr/>
          <p:nvPr/>
        </p:nvSpPr>
        <p:spPr>
          <a:xfrm>
            <a:off x="8326660" y="2276872"/>
            <a:ext cx="1621401" cy="567200"/>
          </a:xfrm>
          <a:prstGeom prst="wedgeRectCallout">
            <a:avLst>
              <a:gd name="adj1" fmla="val -55924"/>
              <a:gd name="adj2" fmla="val -355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ko-KR" altLang="en-US" sz="900" i="1" dirty="0">
                <a:solidFill>
                  <a:schemeClr val="tx1"/>
                </a:solidFill>
              </a:rPr>
              <a:t>이전 단계에서 </a:t>
            </a:r>
            <a:r>
              <a:rPr lang="en-US" altLang="ko-KR" sz="900" i="1" dirty="0">
                <a:solidFill>
                  <a:schemeClr val="tx1"/>
                </a:solidFill>
              </a:rPr>
              <a:t>drop </a:t>
            </a:r>
            <a:r>
              <a:rPr lang="ko-KR" altLang="en-US" sz="900" i="1" dirty="0">
                <a:solidFill>
                  <a:schemeClr val="tx1"/>
                </a:solidFill>
              </a:rPr>
              <a:t>실패하여 테이블이 남아있다면 </a:t>
            </a:r>
            <a:r>
              <a:rPr lang="en-US" altLang="ko-KR" sz="900" i="1" dirty="0">
                <a:solidFill>
                  <a:schemeClr val="tx1"/>
                </a:solidFill>
              </a:rPr>
              <a:t>create </a:t>
            </a:r>
            <a:r>
              <a:rPr lang="ko-KR" altLang="en-US" sz="900" i="1" dirty="0">
                <a:solidFill>
                  <a:schemeClr val="tx1"/>
                </a:solidFill>
              </a:rPr>
              <a:t>실패</a:t>
            </a:r>
            <a:endParaRPr lang="en-US" altLang="ko-KR" sz="900" i="1" dirty="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266164" y="3013502"/>
            <a:ext cx="840295" cy="4154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DROP TABLE</a:t>
            </a:r>
            <a:endParaRPr lang="ko-KR" altLang="en-US" sz="1000" dirty="0"/>
          </a:p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CREATE TABLE</a:t>
            </a:r>
          </a:p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DML</a:t>
            </a:r>
          </a:p>
        </p:txBody>
      </p:sp>
      <p:cxnSp>
        <p:nvCxnSpPr>
          <p:cNvPr id="15" name="Straight Arrow Connector 12"/>
          <p:cNvCxnSpPr/>
          <p:nvPr/>
        </p:nvCxnSpPr>
        <p:spPr>
          <a:xfrm flipH="1">
            <a:off x="7140573" y="2924944"/>
            <a:ext cx="413" cy="504056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ular Callout 13"/>
          <p:cNvSpPr/>
          <p:nvPr/>
        </p:nvSpPr>
        <p:spPr>
          <a:xfrm>
            <a:off x="8326213" y="3013502"/>
            <a:ext cx="1612635" cy="365589"/>
          </a:xfrm>
          <a:prstGeom prst="wedgeRectCallout">
            <a:avLst>
              <a:gd name="adj1" fmla="val -55924"/>
              <a:gd name="adj2" fmla="val -355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en-US" altLang="ko-KR" sz="900" i="1" dirty="0">
                <a:solidFill>
                  <a:schemeClr val="tx1"/>
                </a:solidFill>
              </a:rPr>
              <a:t>table</a:t>
            </a:r>
            <a:r>
              <a:rPr lang="ko-KR" altLang="en-US" sz="900" i="1" dirty="0">
                <a:solidFill>
                  <a:schemeClr val="tx1"/>
                </a:solidFill>
              </a:rPr>
              <a:t>이 삭제되어 있다면 </a:t>
            </a:r>
            <a:r>
              <a:rPr lang="en-US" altLang="ko-KR" sz="900" i="1" dirty="0">
                <a:solidFill>
                  <a:schemeClr val="tx1"/>
                </a:solidFill>
              </a:rPr>
              <a:t>drop</a:t>
            </a:r>
            <a:r>
              <a:rPr lang="ko-KR" altLang="en-US" sz="900" i="1" dirty="0">
                <a:solidFill>
                  <a:schemeClr val="tx1"/>
                </a:solidFill>
              </a:rPr>
              <a:t>문장에서 실패</a:t>
            </a:r>
            <a:endParaRPr lang="en-US" altLang="ko-KR" sz="900" i="1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291170" y="3615989"/>
            <a:ext cx="1592103" cy="4154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CREATE TABLE IF NOT EXISTS</a:t>
            </a:r>
          </a:p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TRUNCATE TABLE</a:t>
            </a:r>
          </a:p>
          <a:p>
            <a:pPr marL="87313" indent="-87313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DML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7138312" y="3605650"/>
            <a:ext cx="413" cy="504056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ular Callout 18"/>
          <p:cNvSpPr/>
          <p:nvPr/>
        </p:nvSpPr>
        <p:spPr>
          <a:xfrm>
            <a:off x="9432213" y="3606862"/>
            <a:ext cx="1898810" cy="502843"/>
          </a:xfrm>
          <a:prstGeom prst="wedgeRectCallout">
            <a:avLst>
              <a:gd name="adj1" fmla="val -55924"/>
              <a:gd name="adj2" fmla="val -355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en-US" altLang="ko-KR" sz="900" i="1" dirty="0">
                <a:solidFill>
                  <a:schemeClr val="tx1"/>
                </a:solidFill>
              </a:rPr>
              <a:t>Table</a:t>
            </a:r>
            <a:r>
              <a:rPr lang="ko-KR" altLang="en-US" sz="900" i="1" dirty="0">
                <a:solidFill>
                  <a:schemeClr val="tx1"/>
                </a:solidFill>
              </a:rPr>
              <a:t>이 없으면 생성</a:t>
            </a:r>
            <a:r>
              <a:rPr lang="en-US" altLang="ko-KR" sz="900" i="1" dirty="0">
                <a:solidFill>
                  <a:schemeClr val="tx1"/>
                </a:solidFill>
              </a:rPr>
              <a:t>, </a:t>
            </a:r>
            <a:r>
              <a:rPr lang="ko-KR" altLang="en-US" sz="900" i="1" dirty="0">
                <a:solidFill>
                  <a:schemeClr val="tx1"/>
                </a:solidFill>
              </a:rPr>
              <a:t>있으면 남아있는 데이터 먼저 삭제</a:t>
            </a:r>
            <a:endParaRPr lang="en-US" altLang="ko-KR" sz="900" i="1" dirty="0">
              <a:solidFill>
                <a:schemeClr val="tx1"/>
              </a:solidFill>
            </a:endParaRPr>
          </a:p>
          <a:p>
            <a:pPr lvl="0">
              <a:lnSpc>
                <a:spcPts val="1200"/>
              </a:lnSpc>
            </a:pPr>
            <a:r>
              <a:rPr lang="ko-KR" altLang="en-US" sz="900" i="1" dirty="0">
                <a:solidFill>
                  <a:schemeClr val="tx1"/>
                </a:solidFill>
              </a:rPr>
              <a:t>오류 발생 가능성 적음</a:t>
            </a:r>
            <a:endParaRPr lang="en-US" altLang="ko-KR" sz="900" i="1" dirty="0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05604" y="2274365"/>
            <a:ext cx="12824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000" dirty="0"/>
              <a:t>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1167" y="2945481"/>
            <a:ext cx="12824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000" dirty="0"/>
              <a:t>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1167" y="3573016"/>
            <a:ext cx="12824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000" dirty="0"/>
              <a:t>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0209" y="4916881"/>
            <a:ext cx="557845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000" dirty="0">
                <a:solidFill>
                  <a:schemeClr val="tx2"/>
                </a:solidFill>
              </a:rPr>
              <a:t>쿼리 튜닝</a:t>
            </a:r>
          </a:p>
        </p:txBody>
      </p:sp>
      <p:sp>
        <p:nvSpPr>
          <p:cNvPr id="24" name="Rounded Rectangle 27"/>
          <p:cNvSpPr/>
          <p:nvPr/>
        </p:nvSpPr>
        <p:spPr>
          <a:xfrm>
            <a:off x="6778272" y="5089416"/>
            <a:ext cx="1044332" cy="42781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90000"/>
              </a:lnSpc>
            </a:pPr>
            <a:r>
              <a:rPr lang="en-US" altLang="ko-KR" sz="900" dirty="0">
                <a:solidFill>
                  <a:schemeClr val="tx1"/>
                </a:solidFill>
              </a:rPr>
              <a:t>Table A</a:t>
            </a:r>
          </a:p>
          <a:p>
            <a:pPr algn="ctr">
              <a:lnSpc>
                <a:spcPct val="90000"/>
              </a:lnSpc>
            </a:pPr>
            <a:r>
              <a:rPr lang="en-US" altLang="ko-KR" sz="900" dirty="0">
                <a:solidFill>
                  <a:schemeClr val="tx1"/>
                </a:solidFill>
              </a:rPr>
              <a:t>SEG KEY : COL1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5" name="Rounded Rectangle 28"/>
          <p:cNvSpPr/>
          <p:nvPr/>
        </p:nvSpPr>
        <p:spPr>
          <a:xfrm>
            <a:off x="6778272" y="5806681"/>
            <a:ext cx="1044332" cy="42781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90000"/>
              </a:lnSpc>
            </a:pPr>
            <a:r>
              <a:rPr lang="en-US" altLang="ko-KR" sz="900" dirty="0">
                <a:solidFill>
                  <a:schemeClr val="tx1"/>
                </a:solidFill>
              </a:rPr>
              <a:t>Table B</a:t>
            </a:r>
          </a:p>
          <a:p>
            <a:pPr algn="ctr">
              <a:lnSpc>
                <a:spcPct val="90000"/>
              </a:lnSpc>
            </a:pPr>
            <a:r>
              <a:rPr lang="en-US" altLang="ko-KR" sz="900" dirty="0">
                <a:solidFill>
                  <a:schemeClr val="tx1"/>
                </a:solidFill>
              </a:rPr>
              <a:t>SEG KEY : COL2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26" name="Straight Arrow Connector 29"/>
          <p:cNvCxnSpPr/>
          <p:nvPr/>
        </p:nvCxnSpPr>
        <p:spPr>
          <a:xfrm>
            <a:off x="7300438" y="5532874"/>
            <a:ext cx="9127" cy="252028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82790" y="5591641"/>
            <a:ext cx="1000274" cy="1246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900" dirty="0"/>
              <a:t>조인 쿼리 성능 저하</a:t>
            </a:r>
            <a:endParaRPr lang="en-US" altLang="ko-KR" sz="900" dirty="0"/>
          </a:p>
        </p:txBody>
      </p:sp>
      <p:sp>
        <p:nvSpPr>
          <p:cNvPr id="28" name="Rounded Rectangle 32"/>
          <p:cNvSpPr/>
          <p:nvPr/>
        </p:nvSpPr>
        <p:spPr>
          <a:xfrm>
            <a:off x="9008710" y="5089416"/>
            <a:ext cx="1044332" cy="42781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90000"/>
              </a:lnSpc>
            </a:pPr>
            <a:r>
              <a:rPr lang="en-US" altLang="ko-KR" sz="900" dirty="0">
                <a:solidFill>
                  <a:schemeClr val="tx1"/>
                </a:solidFill>
              </a:rPr>
              <a:t>Table A</a:t>
            </a:r>
          </a:p>
          <a:p>
            <a:pPr algn="ctr">
              <a:lnSpc>
                <a:spcPct val="90000"/>
              </a:lnSpc>
            </a:pPr>
            <a:r>
              <a:rPr lang="en-US" altLang="ko-KR" sz="900" dirty="0">
                <a:solidFill>
                  <a:schemeClr val="tx1"/>
                </a:solidFill>
              </a:rPr>
              <a:t>SEG KEY : COL1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9" name="Rounded Rectangle 33"/>
          <p:cNvSpPr/>
          <p:nvPr/>
        </p:nvSpPr>
        <p:spPr>
          <a:xfrm>
            <a:off x="9008710" y="5806681"/>
            <a:ext cx="1044332" cy="42781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90000"/>
              </a:lnSpc>
            </a:pPr>
            <a:r>
              <a:rPr lang="en-US" altLang="ko-KR" sz="900" dirty="0">
                <a:solidFill>
                  <a:schemeClr val="tx1"/>
                </a:solidFill>
              </a:rPr>
              <a:t>Table B</a:t>
            </a:r>
          </a:p>
          <a:p>
            <a:pPr algn="ctr">
              <a:lnSpc>
                <a:spcPct val="90000"/>
              </a:lnSpc>
            </a:pPr>
            <a:r>
              <a:rPr lang="en-US" altLang="ko-KR" sz="900" dirty="0">
                <a:solidFill>
                  <a:schemeClr val="tx1"/>
                </a:solidFill>
              </a:rPr>
              <a:t>SEG KEY : COL2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30" name="Rounded Rectangle 35"/>
          <p:cNvSpPr/>
          <p:nvPr/>
        </p:nvSpPr>
        <p:spPr>
          <a:xfrm>
            <a:off x="10386455" y="5806681"/>
            <a:ext cx="1044332" cy="42781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90000"/>
              </a:lnSpc>
            </a:pPr>
            <a:r>
              <a:rPr lang="en-US" altLang="ko-KR" sz="900" dirty="0">
                <a:solidFill>
                  <a:schemeClr val="tx1"/>
                </a:solidFill>
              </a:rPr>
              <a:t>Temp Table B’</a:t>
            </a:r>
          </a:p>
          <a:p>
            <a:pPr algn="ctr">
              <a:lnSpc>
                <a:spcPct val="90000"/>
              </a:lnSpc>
            </a:pPr>
            <a:r>
              <a:rPr lang="en-US" altLang="ko-KR" sz="900" dirty="0">
                <a:solidFill>
                  <a:schemeClr val="tx1"/>
                </a:solidFill>
              </a:rPr>
              <a:t>SEG KEY : COL1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31" name="Straight Arrow Connector 36"/>
          <p:cNvCxnSpPr>
            <a:stCxn id="29" idx="3"/>
            <a:endCxn id="30" idx="1"/>
          </p:cNvCxnSpPr>
          <p:nvPr/>
        </p:nvCxnSpPr>
        <p:spPr>
          <a:xfrm>
            <a:off x="10053042" y="6020589"/>
            <a:ext cx="333413" cy="0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9"/>
          <p:cNvCxnSpPr/>
          <p:nvPr/>
        </p:nvCxnSpPr>
        <p:spPr>
          <a:xfrm>
            <a:off x="10164085" y="5469847"/>
            <a:ext cx="498283" cy="252028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406446" y="5429408"/>
            <a:ext cx="1000274" cy="1246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900" dirty="0"/>
              <a:t>조인 쿼리 성능 향상</a:t>
            </a:r>
            <a:endParaRPr lang="en-US" altLang="ko-KR" sz="900" dirty="0"/>
          </a:p>
        </p:txBody>
      </p:sp>
      <p:sp>
        <p:nvSpPr>
          <p:cNvPr id="34" name="TextBox 33"/>
          <p:cNvSpPr txBox="1"/>
          <p:nvPr/>
        </p:nvSpPr>
        <p:spPr>
          <a:xfrm>
            <a:off x="9622804" y="6303004"/>
            <a:ext cx="1158972" cy="1246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900" dirty="0"/>
              <a:t>데이터 필터링 후 복사</a:t>
            </a:r>
            <a:endParaRPr lang="en-US" altLang="ko-KR" sz="900" dirty="0"/>
          </a:p>
        </p:txBody>
      </p:sp>
      <p:pic>
        <p:nvPicPr>
          <p:cNvPr id="35" name="Picture 13" descr="C:\Users\hongjon\Documents\Proposal\ICON\Business_Icons\Business_Icons\Innovation\Innovation_RGB\Innovation_RGB_blue_NT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407" y="4839667"/>
            <a:ext cx="196427" cy="322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08452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서브 쿼리 작성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쿼리 작성의 기초</a:t>
            </a:r>
            <a:endParaRPr lang="ko-KR" altLang="en-US" dirty="0"/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WHERE</a:t>
            </a:r>
            <a:r>
              <a:rPr lang="ko-KR" altLang="en-US" sz="1100" b="1" dirty="0"/>
              <a:t>의 필터 조건으로 서브 쿼리 사용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AND / OR / LIKE </a:t>
            </a:r>
            <a:r>
              <a:rPr lang="ko-KR" altLang="en-US" sz="1100" dirty="0"/>
              <a:t>패턴 매치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ANY (SOME) / ALL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&gt; ANY (1,10,100) : </a:t>
            </a:r>
            <a:r>
              <a:rPr lang="ko-KR" altLang="en-US" sz="1100" dirty="0"/>
              <a:t>최소값 </a:t>
            </a:r>
            <a:r>
              <a:rPr lang="en-US" altLang="ko-KR" sz="1100" dirty="0"/>
              <a:t>1</a:t>
            </a:r>
            <a:r>
              <a:rPr lang="ko-KR" altLang="en-US" sz="1100" dirty="0"/>
              <a:t>보다 큰 데이터가 있는 경우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&lt; ANY (1,10,100) : </a:t>
            </a:r>
            <a:r>
              <a:rPr lang="ko-KR" altLang="en-US" sz="1100" dirty="0"/>
              <a:t>최대값 </a:t>
            </a:r>
            <a:r>
              <a:rPr lang="en-US" altLang="ko-KR" sz="1100" dirty="0"/>
              <a:t>100</a:t>
            </a:r>
            <a:r>
              <a:rPr lang="ko-KR" altLang="en-US" sz="1100" dirty="0"/>
              <a:t>보다 작은 데이터가 있는 경우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= ANY(1,10,100) : 1,10,100 </a:t>
            </a:r>
            <a:r>
              <a:rPr lang="ko-KR" altLang="en-US" sz="1100" dirty="0"/>
              <a:t>중의 한 값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&gt; ALL (1,10,100) : </a:t>
            </a:r>
            <a:r>
              <a:rPr lang="ko-KR" altLang="en-US" sz="1100" dirty="0"/>
              <a:t>최대값 </a:t>
            </a:r>
            <a:r>
              <a:rPr lang="en-US" altLang="ko-KR" sz="1100" dirty="0"/>
              <a:t>100</a:t>
            </a:r>
            <a:r>
              <a:rPr lang="ko-KR" altLang="en-US" sz="1100" dirty="0"/>
              <a:t>보다 큰 데이터가 있는 경우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&lt; ALL (1,10,100) : </a:t>
            </a:r>
            <a:r>
              <a:rPr lang="ko-KR" altLang="en-US" sz="1100" dirty="0"/>
              <a:t>최소값 </a:t>
            </a:r>
            <a:r>
              <a:rPr lang="en-US" altLang="ko-KR" sz="1100" dirty="0"/>
              <a:t>1</a:t>
            </a:r>
            <a:r>
              <a:rPr lang="ko-KR" altLang="en-US" sz="1100" dirty="0"/>
              <a:t>보다 작은 데이터가 있는 경우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LIKE </a:t>
            </a:r>
            <a:r>
              <a:rPr lang="ko-KR" altLang="en-US" sz="1100" dirty="0"/>
              <a:t>패턴 매치 활용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ILIKE</a:t>
            </a:r>
            <a:r>
              <a:rPr lang="ko-KR" altLang="en-US" sz="1100" dirty="0"/>
              <a:t>은 대소문자 구분을 하지 않음</a:t>
            </a:r>
            <a:endParaRPr lang="en-US" altLang="ko-KR" sz="1100" dirty="0"/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EXISTS / NOT EXISTS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EXISTS (</a:t>
            </a:r>
            <a:r>
              <a:rPr lang="en-US" altLang="ko-KR" sz="1100" dirty="0" err="1"/>
              <a:t>subquery</a:t>
            </a:r>
            <a:r>
              <a:rPr lang="en-US" altLang="ko-KR" sz="1100" dirty="0"/>
              <a:t>) : </a:t>
            </a:r>
            <a:r>
              <a:rPr lang="ko-KR" altLang="en-US" sz="1100" dirty="0"/>
              <a:t>최소 </a:t>
            </a:r>
            <a:r>
              <a:rPr lang="en-US" altLang="ko-KR" sz="1100" dirty="0"/>
              <a:t>1 </a:t>
            </a:r>
            <a:r>
              <a:rPr lang="ko-KR" altLang="en-US" sz="1100" dirty="0" err="1"/>
              <a:t>건이상</a:t>
            </a:r>
            <a:r>
              <a:rPr lang="ko-KR" altLang="en-US" sz="1100" dirty="0"/>
              <a:t> </a:t>
            </a:r>
            <a:r>
              <a:rPr lang="en-US" altLang="ko-KR" sz="1100" dirty="0"/>
              <a:t>return</a:t>
            </a:r>
            <a:r>
              <a:rPr lang="ko-KR" altLang="en-US" sz="1100" dirty="0"/>
              <a:t>될 경우 참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NOT EXISTS (</a:t>
            </a:r>
            <a:r>
              <a:rPr lang="en-US" altLang="ko-KR" sz="1100" dirty="0" err="1"/>
              <a:t>subquery</a:t>
            </a:r>
            <a:r>
              <a:rPr lang="en-US" altLang="ko-KR" sz="1100" dirty="0"/>
              <a:t>) : 0</a:t>
            </a:r>
            <a:r>
              <a:rPr lang="ko-KR" altLang="en-US" sz="1100" dirty="0"/>
              <a:t>건 </a:t>
            </a:r>
            <a:r>
              <a:rPr lang="en-US" altLang="ko-KR" sz="1100" dirty="0"/>
              <a:t>return </a:t>
            </a:r>
            <a:r>
              <a:rPr lang="ko-KR" altLang="en-US" sz="1100" dirty="0"/>
              <a:t>될 경우만 참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IN / NOT IN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 err="1"/>
              <a:t>Subquery</a:t>
            </a:r>
            <a:r>
              <a:rPr lang="ko-KR" altLang="en-US" sz="1100" dirty="0"/>
              <a:t>에 </a:t>
            </a:r>
            <a:r>
              <a:rPr lang="en-US" altLang="ko-KR" sz="1100" dirty="0"/>
              <a:t>NULL</a:t>
            </a:r>
            <a:r>
              <a:rPr lang="ko-KR" altLang="en-US" sz="1100" dirty="0"/>
              <a:t>값이 포함되어 있는 경우 지원하지 않음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4"/>
          <p:cNvSpPr/>
          <p:nvPr/>
        </p:nvSpPr>
        <p:spPr>
          <a:xfrm>
            <a:off x="693738" y="1700808"/>
            <a:ext cx="5057527" cy="576064"/>
          </a:xfrm>
          <a:prstGeom prst="roundRect">
            <a:avLst>
              <a:gd name="adj" fmla="val 111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SELECT x FROM t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WHERE x &gt; (SELECT SUM(DISTINCT x) FROM t GROUP BY y)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OR x &lt; 9;</a:t>
            </a:r>
          </a:p>
        </p:txBody>
      </p:sp>
      <p:sp>
        <p:nvSpPr>
          <p:cNvPr id="9" name="Rounded Rectangle 5"/>
          <p:cNvSpPr/>
          <p:nvPr/>
        </p:nvSpPr>
        <p:spPr>
          <a:xfrm>
            <a:off x="693738" y="2326642"/>
            <a:ext cx="5057527" cy="598302"/>
          </a:xfrm>
          <a:prstGeom prst="roundRect">
            <a:avLst>
              <a:gd name="adj" fmla="val 111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SELECT COUNT(*) FROM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customer_dimension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WHERE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customer_name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LIKE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  (SELECT '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Ev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%' FROM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customer_dimension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LIMIT 1);</a:t>
            </a:r>
          </a:p>
        </p:txBody>
      </p:sp>
      <p:sp>
        <p:nvSpPr>
          <p:cNvPr id="10" name="Rounded Rectangle 6"/>
          <p:cNvSpPr/>
          <p:nvPr/>
        </p:nvSpPr>
        <p:spPr>
          <a:xfrm>
            <a:off x="693737" y="4018532"/>
            <a:ext cx="5057527" cy="598302"/>
          </a:xfrm>
          <a:prstGeom prst="roundRect">
            <a:avLst>
              <a:gd name="adj" fmla="val 111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SELECT c1 FROM t1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WHERE c1 = ANY (SELECT c1 FROM t2) ;</a:t>
            </a:r>
          </a:p>
        </p:txBody>
      </p:sp>
      <p:sp>
        <p:nvSpPr>
          <p:cNvPr id="11" name="Rounded Rectangle 7"/>
          <p:cNvSpPr/>
          <p:nvPr/>
        </p:nvSpPr>
        <p:spPr>
          <a:xfrm>
            <a:off x="6454453" y="2060849"/>
            <a:ext cx="5124931" cy="1296144"/>
          </a:xfrm>
          <a:prstGeom prst="roundRect">
            <a:avLst>
              <a:gd name="adj" fmla="val 4996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SELECT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customer_key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,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customer_name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,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customer_state</a:t>
            </a:r>
            <a:endParaRPr lang="en-US" altLang="ko-KR" sz="9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FROM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customer_dimension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WHERE EXISTS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  (SELECT 1 FROM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store.store_sales_fact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    WHERE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customer_key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=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customer_dimension.customer_key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      AND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sales_dollar_amount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&gt; 550)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AND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customer_state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= 'MA' ORDER BY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customer_key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6454775" y="3861048"/>
            <a:ext cx="5124609" cy="598302"/>
          </a:xfrm>
          <a:prstGeom prst="roundRect">
            <a:avLst>
              <a:gd name="adj" fmla="val 111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SELECT * FROM A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WHERE (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A.x,A.x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) IN (SELECT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B.x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,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B.y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FROM B); </a:t>
            </a:r>
          </a:p>
        </p:txBody>
      </p:sp>
      <p:sp>
        <p:nvSpPr>
          <p:cNvPr id="13" name="Rectangle 9"/>
          <p:cNvSpPr/>
          <p:nvPr/>
        </p:nvSpPr>
        <p:spPr bwMode="auto">
          <a:xfrm>
            <a:off x="998353" y="5038576"/>
            <a:ext cx="4536504" cy="36004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[ NOT ] { LIKE | ILIKE | LIKEB | ILIKEB } string-expression</a:t>
            </a:r>
          </a:p>
        </p:txBody>
      </p:sp>
      <p:sp>
        <p:nvSpPr>
          <p:cNvPr id="14" name="Rounded Rectangle 11"/>
          <p:cNvSpPr/>
          <p:nvPr/>
        </p:nvSpPr>
        <p:spPr>
          <a:xfrm>
            <a:off x="4582244" y="5475969"/>
            <a:ext cx="1169020" cy="251801"/>
          </a:xfrm>
          <a:prstGeom prst="roundRect">
            <a:avLst/>
          </a:prstGeom>
          <a:solidFill>
            <a:schemeClr val="tx2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90000"/>
              </a:lnSpc>
            </a:pPr>
            <a:r>
              <a:rPr lang="en-US" altLang="ko-KR" sz="900" dirty="0"/>
              <a:t>LIKE-predicate</a:t>
            </a:r>
          </a:p>
        </p:txBody>
      </p:sp>
      <p:pic>
        <p:nvPicPr>
          <p:cNvPr id="15" name="Picture 12" descr="C:\Users\hongjon\Documents\Proposal\ICON\Common_Icons\Common_Icons\Magnifying_glass\Magnifying_glass_RGB\Magnifying_glass_RGB_blue_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7816" y="5512200"/>
            <a:ext cx="222460" cy="215570"/>
          </a:xfrm>
          <a:prstGeom prst="rect">
            <a:avLst/>
          </a:prstGeom>
          <a:solidFill>
            <a:schemeClr val="tx2"/>
          </a:solidFill>
        </p:spPr>
      </p:pic>
    </p:spTree>
    <p:extLst>
      <p:ext uri="{BB962C8B-B14F-4D97-AF65-F5344CB8AC3E}">
        <p14:creationId xmlns:p14="http://schemas.microsoft.com/office/powerpoint/2010/main" val="42169064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서브 쿼리 작성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쿼리 작성의 기초</a:t>
            </a:r>
            <a:endParaRPr lang="ko-KR" altLang="en-US" dirty="0"/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SELECT </a:t>
            </a:r>
            <a:r>
              <a:rPr lang="ko-KR" altLang="en-US" sz="1100" b="1" dirty="0"/>
              <a:t>리스트 내에서 서브 쿼리 사용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Select list</a:t>
            </a:r>
            <a:r>
              <a:rPr lang="ko-KR" altLang="en-US" sz="1100" dirty="0"/>
              <a:t>의 </a:t>
            </a:r>
            <a:r>
              <a:rPr lang="en-US" altLang="ko-KR" sz="1100" dirty="0" err="1"/>
              <a:t>subquery</a:t>
            </a:r>
            <a:r>
              <a:rPr lang="ko-KR" altLang="en-US" sz="1100" dirty="0"/>
              <a:t>는 </a:t>
            </a:r>
            <a:r>
              <a:rPr lang="en-US" altLang="ko-KR" sz="1100" dirty="0"/>
              <a:t>1</a:t>
            </a:r>
            <a:r>
              <a:rPr lang="ko-KR" altLang="en-US" sz="1100" dirty="0"/>
              <a:t>건만 </a:t>
            </a:r>
            <a:r>
              <a:rPr lang="en-US" altLang="ko-KR" sz="1100" dirty="0"/>
              <a:t>return </a:t>
            </a:r>
            <a:r>
              <a:rPr lang="ko-KR" altLang="en-US" sz="1100" dirty="0"/>
              <a:t>해야 함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ORDER BY, GROUP BY</a:t>
            </a:r>
            <a:r>
              <a:rPr lang="ko-KR" altLang="en-US" sz="1100" dirty="0"/>
              <a:t>에서 사용 가능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GROUP BY</a:t>
            </a:r>
            <a:r>
              <a:rPr lang="ko-KR" altLang="en-US" sz="1100" dirty="0"/>
              <a:t>구문을 사용하기 위해서는 </a:t>
            </a:r>
            <a:r>
              <a:rPr lang="en-US" altLang="ko-KR" sz="1100" dirty="0" err="1"/>
              <a:t>subquery</a:t>
            </a:r>
            <a:r>
              <a:rPr lang="en-US" altLang="ko-KR" sz="1100" dirty="0"/>
              <a:t> </a:t>
            </a:r>
            <a:r>
              <a:rPr lang="ko-KR" altLang="en-US" sz="1100" dirty="0" err="1"/>
              <a:t>컬럼이</a:t>
            </a:r>
            <a:r>
              <a:rPr lang="ko-KR" altLang="en-US" sz="1100" dirty="0"/>
              <a:t> </a:t>
            </a:r>
            <a:r>
              <a:rPr lang="en-US" altLang="ko-KR" sz="1100" dirty="0"/>
              <a:t>GROUP BY list </a:t>
            </a:r>
            <a:r>
              <a:rPr lang="ko-KR" altLang="en-US" sz="1100" dirty="0"/>
              <a:t>에 포함되어 있어야 함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FROM </a:t>
            </a:r>
            <a:r>
              <a:rPr lang="ko-KR" altLang="en-US" sz="1100" b="1" dirty="0"/>
              <a:t>에서 서브 쿼리 사용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FROM</a:t>
            </a:r>
            <a:r>
              <a:rPr lang="ko-KR" altLang="en-US" sz="1100" dirty="0"/>
              <a:t>절 내의 </a:t>
            </a:r>
            <a:r>
              <a:rPr lang="en-US" altLang="ko-KR" sz="1100" dirty="0" err="1"/>
              <a:t>subquery</a:t>
            </a:r>
            <a:r>
              <a:rPr lang="ko-KR" altLang="en-US" sz="1100" dirty="0"/>
              <a:t>는 테이블 </a:t>
            </a:r>
            <a:r>
              <a:rPr lang="en-US" altLang="ko-KR" sz="1100" dirty="0"/>
              <a:t>alias</a:t>
            </a:r>
            <a:r>
              <a:rPr lang="ko-KR" altLang="en-US" sz="1100" dirty="0"/>
              <a:t>가 있어야 함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FROM</a:t>
            </a:r>
            <a:r>
              <a:rPr lang="ko-KR" altLang="en-US" sz="1100" dirty="0"/>
              <a:t>절 내의 </a:t>
            </a:r>
            <a:r>
              <a:rPr lang="en-US" altLang="ko-KR" sz="1100" dirty="0" err="1"/>
              <a:t>subquery</a:t>
            </a:r>
            <a:r>
              <a:rPr lang="ko-KR" altLang="en-US" sz="1100" dirty="0"/>
              <a:t>의 </a:t>
            </a:r>
            <a:r>
              <a:rPr lang="en-US" altLang="ko-KR" sz="1100" dirty="0"/>
              <a:t>order by</a:t>
            </a:r>
            <a:r>
              <a:rPr lang="ko-KR" altLang="en-US" sz="1100" dirty="0"/>
              <a:t>는 최종 쿼리 결과를 정렬하지 못하므로 전체 쿼리에서 </a:t>
            </a:r>
            <a:r>
              <a:rPr lang="en-US" altLang="ko-KR" sz="1100" dirty="0"/>
              <a:t>order by</a:t>
            </a:r>
            <a:r>
              <a:rPr lang="ko-KR" altLang="en-US" sz="1100" dirty="0"/>
              <a:t>를 사용해야 함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UPDATE </a:t>
            </a:r>
            <a:r>
              <a:rPr lang="ko-KR" altLang="en-US" sz="1100" b="1" dirty="0"/>
              <a:t>구문의 서브 쿼리 사용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구문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SET column = (</a:t>
            </a:r>
            <a:r>
              <a:rPr lang="en-US" altLang="ko-KR" sz="1100" dirty="0" err="1"/>
              <a:t>subquery</a:t>
            </a:r>
            <a:r>
              <a:rPr lang="en-US" altLang="ko-KR" sz="1100" dirty="0"/>
              <a:t>)</a:t>
            </a:r>
            <a:r>
              <a:rPr lang="ko-KR" altLang="en-US" sz="1100" dirty="0"/>
              <a:t>는 허용하지 않음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UPDATE</a:t>
            </a:r>
            <a:r>
              <a:rPr lang="ko-KR" altLang="en-US" sz="1100" dirty="0"/>
              <a:t>의 테이블과 </a:t>
            </a:r>
            <a:r>
              <a:rPr lang="en-US" altLang="ko-KR" sz="1100" dirty="0"/>
              <a:t>FROM</a:t>
            </a:r>
            <a:r>
              <a:rPr lang="ko-KR" altLang="en-US" sz="1100" dirty="0"/>
              <a:t>의 테이블이 같은 </a:t>
            </a:r>
            <a:r>
              <a:rPr lang="en-US" altLang="ko-KR" sz="1100" dirty="0"/>
              <a:t>self join </a:t>
            </a:r>
            <a:r>
              <a:rPr lang="ko-KR" altLang="en-US" sz="1100" dirty="0"/>
              <a:t>사용 불가능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4"/>
          <p:cNvSpPr/>
          <p:nvPr/>
        </p:nvSpPr>
        <p:spPr>
          <a:xfrm>
            <a:off x="693738" y="2204864"/>
            <a:ext cx="5057527" cy="1008112"/>
          </a:xfrm>
          <a:prstGeom prst="roundRect">
            <a:avLst>
              <a:gd name="adj" fmla="val 111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SELECT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c.customer_name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,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  (SELECT AVG(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annual_income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) FROM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customer_dimension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    WHERE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deal_size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=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c.deal_size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) AVG_SAL_DEAL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FROM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customer_dimension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c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ORDER BY 1, 2</a:t>
            </a:r>
          </a:p>
        </p:txBody>
      </p:sp>
      <p:sp>
        <p:nvSpPr>
          <p:cNvPr id="9" name="Rounded Rectangle 6"/>
          <p:cNvSpPr/>
          <p:nvPr/>
        </p:nvSpPr>
        <p:spPr>
          <a:xfrm>
            <a:off x="693737" y="4221088"/>
            <a:ext cx="5057527" cy="598302"/>
          </a:xfrm>
          <a:prstGeom prst="roundRect">
            <a:avLst>
              <a:gd name="adj" fmla="val 16464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SELECT * FROM (SELECT a, MAX(a) FROM t1 GROUP BY a) AS t0;</a:t>
            </a:r>
          </a:p>
        </p:txBody>
      </p:sp>
      <p:sp>
        <p:nvSpPr>
          <p:cNvPr id="10" name="Rectangle 7"/>
          <p:cNvSpPr/>
          <p:nvPr/>
        </p:nvSpPr>
        <p:spPr bwMode="auto">
          <a:xfrm>
            <a:off x="6653968" y="1700213"/>
            <a:ext cx="4536504" cy="93669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UPDATE [[</a:t>
            </a:r>
            <a:r>
              <a:rPr lang="en-US" sz="900" b="1" dirty="0" err="1">
                <a:solidFill>
                  <a:schemeClr val="bg1"/>
                </a:solidFill>
              </a:rPr>
              <a:t>db</a:t>
            </a:r>
            <a:r>
              <a:rPr lang="en-US" sz="900" b="1" dirty="0">
                <a:solidFill>
                  <a:schemeClr val="bg1"/>
                </a:solidFill>
              </a:rPr>
              <a:t>-name.]schema.]table </a:t>
            </a:r>
          </a:p>
          <a:p>
            <a:r>
              <a:rPr lang="en-US" sz="900" b="1" dirty="0">
                <a:solidFill>
                  <a:schemeClr val="bg1"/>
                </a:solidFill>
              </a:rPr>
              <a:t>      SET column = { expression | DEFAULT } [, ...]</a:t>
            </a:r>
          </a:p>
          <a:p>
            <a:r>
              <a:rPr lang="en-US" sz="900" b="1" dirty="0">
                <a:solidFill>
                  <a:schemeClr val="bg1"/>
                </a:solidFill>
              </a:rPr>
              <a:t>[ FROM from-list ]</a:t>
            </a:r>
          </a:p>
          <a:p>
            <a:r>
              <a:rPr lang="en-US" sz="900" b="1" dirty="0">
                <a:solidFill>
                  <a:schemeClr val="bg1"/>
                </a:solidFill>
              </a:rPr>
              <a:t>[ WHERE Clause ]</a:t>
            </a:r>
          </a:p>
        </p:txBody>
      </p:sp>
      <p:sp>
        <p:nvSpPr>
          <p:cNvPr id="11" name="Rounded Rectangle 8"/>
          <p:cNvSpPr/>
          <p:nvPr/>
        </p:nvSpPr>
        <p:spPr>
          <a:xfrm>
            <a:off x="6454775" y="3212976"/>
            <a:ext cx="5124609" cy="936104"/>
          </a:xfrm>
          <a:prstGeom prst="roundRect">
            <a:avLst>
              <a:gd name="adj" fmla="val 111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UPDATE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result_table</a:t>
            </a:r>
            <a:endParaRPr lang="en-US" altLang="ko-KR" sz="9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SET address =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new_addresses.new_address</a:t>
            </a:r>
            <a:endParaRPr lang="en-US" altLang="ko-KR" sz="9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FROM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new_addresses</a:t>
            </a:r>
            <a:endParaRPr lang="en-US" altLang="ko-KR" sz="9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WHERE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cust_id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=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new_addresses.new_cust_id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9637341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서브 쿼리 작성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쿼리 작성의 기초</a:t>
            </a:r>
            <a:endParaRPr lang="ko-KR" altLang="en-US" dirty="0"/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WITH </a:t>
            </a:r>
            <a:r>
              <a:rPr lang="ko-KR" altLang="en-US" sz="1100" b="1" dirty="0"/>
              <a:t>문 사용</a:t>
            </a:r>
            <a:endParaRPr lang="en-US" altLang="ko-KR" sz="1100" b="1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WITH</a:t>
            </a:r>
            <a:r>
              <a:rPr lang="ko-KR" altLang="en-US" sz="1100" dirty="0"/>
              <a:t>로 만들어진 임시 테이블은 </a:t>
            </a:r>
            <a:r>
              <a:rPr lang="en-US" altLang="ko-KR" sz="1100" dirty="0"/>
              <a:t>in-line </a:t>
            </a:r>
            <a:r>
              <a:rPr lang="ko-KR" altLang="en-US" sz="1100" dirty="0"/>
              <a:t>테이블 형태로 </a:t>
            </a:r>
            <a:r>
              <a:rPr lang="ko-KR" altLang="en-US" sz="1100" dirty="0" err="1"/>
              <a:t>옵티마이징</a:t>
            </a:r>
            <a:r>
              <a:rPr lang="ko-KR" altLang="en-US" sz="1100" dirty="0"/>
              <a:t> 된다</a:t>
            </a:r>
            <a:r>
              <a:rPr lang="en-US" altLang="ko-KR" sz="1100" dirty="0"/>
              <a:t>. 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WITH</a:t>
            </a:r>
            <a:r>
              <a:rPr lang="ko-KR" altLang="en-US" sz="1100" dirty="0"/>
              <a:t>로 정의된 테이블이 빈번하게 사용되는 경우</a:t>
            </a:r>
            <a:r>
              <a:rPr lang="en-US" altLang="ko-KR" sz="1100" dirty="0"/>
              <a:t>, </a:t>
            </a:r>
            <a:r>
              <a:rPr lang="ko-KR" altLang="en-US" sz="1100" dirty="0"/>
              <a:t>명시적으로 임시테이블을 작성하거나 </a:t>
            </a:r>
            <a:r>
              <a:rPr lang="en-US" altLang="ko-KR" sz="1100" dirty="0"/>
              <a:t>7.1 </a:t>
            </a:r>
            <a:r>
              <a:rPr lang="ko-KR" altLang="en-US" sz="1100" dirty="0"/>
              <a:t>버전 이후 사용 가능한 옵션 중</a:t>
            </a:r>
            <a:r>
              <a:rPr lang="en-US" altLang="ko-KR" sz="1100" dirty="0"/>
              <a:t>, WITH</a:t>
            </a:r>
            <a:r>
              <a:rPr lang="ko-KR" altLang="en-US" sz="1100" dirty="0"/>
              <a:t>구문을 </a:t>
            </a:r>
            <a:r>
              <a:rPr lang="en-US" altLang="ko-KR" sz="1100" dirty="0"/>
              <a:t>materialize</a:t>
            </a:r>
            <a:r>
              <a:rPr lang="ko-KR" altLang="en-US" sz="1100" dirty="0"/>
              <a:t>시키는 </a:t>
            </a:r>
            <a:r>
              <a:rPr lang="en-US" altLang="ko-KR" sz="1100" dirty="0"/>
              <a:t>ENABLE_WITH_CLAUSE_MATERIALIZATION</a:t>
            </a:r>
            <a:r>
              <a:rPr lang="ko-KR" altLang="en-US" sz="1100" dirty="0"/>
              <a:t>을 </a:t>
            </a:r>
            <a:r>
              <a:rPr lang="en-US" altLang="ko-KR" sz="1100" dirty="0"/>
              <a:t>enable </a:t>
            </a:r>
            <a:r>
              <a:rPr lang="ko-KR" altLang="en-US" sz="1100" dirty="0"/>
              <a:t>하는 방법을 고려 한다 </a:t>
            </a:r>
            <a:r>
              <a:rPr lang="en-US" altLang="ko-KR" sz="1100" dirty="0"/>
              <a:t> 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996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Correlation </a:t>
            </a:r>
            <a:r>
              <a:rPr lang="en-US" altLang="ko-KR" sz="1100" b="1" dirty="0" err="1"/>
              <a:t>subquery</a:t>
            </a:r>
            <a:r>
              <a:rPr lang="en-US" altLang="ko-KR" sz="1100" b="1" dirty="0"/>
              <a:t> </a:t>
            </a:r>
            <a:r>
              <a:rPr lang="ko-KR" altLang="en-US" sz="1100" b="1" dirty="0"/>
              <a:t>제한사항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equality predicate (&lt;, &gt;, &lt;=, &gt;=, =, &lt;&gt;, &lt;=&gt;) </a:t>
            </a:r>
            <a:r>
              <a:rPr lang="ko-KR" altLang="en-US" sz="1100" dirty="0"/>
              <a:t>는 사용 가능 하지만 </a:t>
            </a:r>
            <a:r>
              <a:rPr lang="en-US" altLang="ko-KR" sz="1100" dirty="0"/>
              <a:t>IN/NOT IN, EXISTS/NOT EXISTS predicates</a:t>
            </a:r>
            <a:r>
              <a:rPr lang="ko-KR" altLang="en-US" sz="1100" dirty="0"/>
              <a:t>는 사용 불가능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 err="1"/>
              <a:t>Subquery</a:t>
            </a:r>
            <a:r>
              <a:rPr lang="ko-KR" altLang="en-US" sz="1100" dirty="0"/>
              <a:t>의 </a:t>
            </a:r>
            <a:r>
              <a:rPr lang="en-US" altLang="ko-KR" sz="1100" dirty="0"/>
              <a:t>depth level</a:t>
            </a:r>
            <a:r>
              <a:rPr lang="ko-KR" altLang="en-US" sz="1100" dirty="0"/>
              <a:t>이 하나를 넘어 가는 경우 사용 불가능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4"/>
          <p:cNvSpPr/>
          <p:nvPr/>
        </p:nvSpPr>
        <p:spPr>
          <a:xfrm>
            <a:off x="693738" y="1632231"/>
            <a:ext cx="5057527" cy="2304256"/>
          </a:xfrm>
          <a:prstGeom prst="roundRect">
            <a:avLst>
              <a:gd name="adj" fmla="val 4601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WITH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regional_sales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AS (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 SELECT region, SUM(amount) AS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total_sales</a:t>
            </a:r>
            <a:endParaRPr lang="en-US" altLang="ko-KR" sz="9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   FROM orders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  GROUP BY region),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top_regions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AS (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 SELECT region FROM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regional_sales</a:t>
            </a:r>
            <a:endParaRPr lang="en-US" altLang="ko-KR" sz="9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  WHERE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total_sales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&gt; (SELECT SUM (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total_sales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)/10  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                         FROM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regional_sales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) )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SELECT region, product,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   SUM(quantity) AS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product_units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,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   SUM(amount) AS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product_sales</a:t>
            </a:r>
            <a:endParaRPr lang="en-US" altLang="ko-KR" sz="9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FROM orders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WHERE region IN (SELECT region FROM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top_regions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)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GROUP BY region, product;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9058" y="4854447"/>
            <a:ext cx="85921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000" dirty="0">
                <a:solidFill>
                  <a:schemeClr val="tx2"/>
                </a:solidFill>
              </a:rPr>
              <a:t>쿼리 튜닝 참조</a:t>
            </a:r>
          </a:p>
        </p:txBody>
      </p:sp>
      <p:sp>
        <p:nvSpPr>
          <p:cNvPr id="10" name="Rounded Rectangle 7"/>
          <p:cNvSpPr/>
          <p:nvPr/>
        </p:nvSpPr>
        <p:spPr>
          <a:xfrm>
            <a:off x="6454775" y="1877731"/>
            <a:ext cx="5124609" cy="792088"/>
          </a:xfrm>
          <a:prstGeom prst="roundRect">
            <a:avLst>
              <a:gd name="adj" fmla="val 111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SELECT t2.x, t2.y, t2.z FROM </a:t>
            </a:r>
            <a:r>
              <a:rPr lang="en-US" altLang="ko-KR" sz="900" u="sng" dirty="0">
                <a:solidFill>
                  <a:schemeClr val="bg1"/>
                </a:solidFill>
                <a:cs typeface="Courier New" panose="02070309020205020404" pitchFamily="49" charset="0"/>
              </a:rPr>
              <a:t>t2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WHERE t2.z </a:t>
            </a:r>
            <a:r>
              <a:rPr lang="en-US" altLang="ko-KR" sz="900" u="sng" dirty="0">
                <a:solidFill>
                  <a:schemeClr val="bg1"/>
                </a:solidFill>
                <a:cs typeface="Courier New" panose="02070309020205020404" pitchFamily="49" charset="0"/>
              </a:rPr>
              <a:t>NOT IN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   (SELECT t1.z FROM t1 WHERE </a:t>
            </a:r>
            <a:r>
              <a:rPr lang="en-US" altLang="ko-KR" sz="900" u="sng" dirty="0">
                <a:solidFill>
                  <a:schemeClr val="bg1"/>
                </a:solidFill>
                <a:cs typeface="Courier New" panose="02070309020205020404" pitchFamily="49" charset="0"/>
              </a:rPr>
              <a:t>t1.x = t2.x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);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ERROR: Correlated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subquery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with NOT IN is not supported</a:t>
            </a:r>
          </a:p>
        </p:txBody>
      </p:sp>
      <p:sp>
        <p:nvSpPr>
          <p:cNvPr id="11" name="Rounded Rectangle 8"/>
          <p:cNvSpPr/>
          <p:nvPr/>
        </p:nvSpPr>
        <p:spPr>
          <a:xfrm>
            <a:off x="6456204" y="3068960"/>
            <a:ext cx="5124609" cy="1427583"/>
          </a:xfrm>
          <a:prstGeom prst="roundRect">
            <a:avLst>
              <a:gd name="adj" fmla="val 8154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SELECT t3.x, t3.y, t3.z FROM </a:t>
            </a:r>
            <a:r>
              <a:rPr lang="en-US" altLang="ko-KR" sz="900" u="sng" dirty="0">
                <a:solidFill>
                  <a:schemeClr val="bg1"/>
                </a:solidFill>
                <a:cs typeface="Courier New" panose="02070309020205020404" pitchFamily="49" charset="0"/>
              </a:rPr>
              <a:t>t3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WHERE t3.z IN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  (SELECT t1.z FROM </a:t>
            </a:r>
            <a:r>
              <a:rPr lang="en-US" altLang="ko-KR" sz="900" u="sng" dirty="0">
                <a:solidFill>
                  <a:schemeClr val="bg1"/>
                </a:solidFill>
                <a:cs typeface="Courier New" panose="02070309020205020404" pitchFamily="49" charset="0"/>
              </a:rPr>
              <a:t>t1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    WHERE EXISTS (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          SELECT 'x' FROM </a:t>
            </a:r>
            <a:r>
              <a:rPr lang="en-US" altLang="ko-KR" sz="900" u="sng" dirty="0">
                <a:solidFill>
                  <a:schemeClr val="bg1"/>
                </a:solidFill>
                <a:cs typeface="Courier New" panose="02070309020205020404" pitchFamily="49" charset="0"/>
              </a:rPr>
              <a:t>t2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           WHERE </a:t>
            </a:r>
            <a:r>
              <a:rPr lang="en-US" altLang="ko-KR" sz="900" u="sng" dirty="0">
                <a:solidFill>
                  <a:schemeClr val="bg1"/>
                </a:solidFill>
                <a:cs typeface="Courier New" panose="02070309020205020404" pitchFamily="49" charset="0"/>
              </a:rPr>
              <a:t>t2.x = t3.x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)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      AND t1.x = t3.x);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ERROR:  More than one level correlated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subqueries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are not supported</a:t>
            </a:r>
          </a:p>
        </p:txBody>
      </p:sp>
      <p:sp>
        <p:nvSpPr>
          <p:cNvPr id="12" name="Rectangular Callout 9"/>
          <p:cNvSpPr/>
          <p:nvPr/>
        </p:nvSpPr>
        <p:spPr>
          <a:xfrm>
            <a:off x="9421447" y="2251080"/>
            <a:ext cx="851017" cy="245247"/>
          </a:xfrm>
          <a:prstGeom prst="wedgeRectCallout">
            <a:avLst>
              <a:gd name="adj1" fmla="val -62721"/>
              <a:gd name="adj2" fmla="val 40662"/>
            </a:avLst>
          </a:prstGeom>
          <a:solidFill>
            <a:schemeClr val="bg1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en-US" altLang="ko-KR" sz="900" i="1" dirty="0">
                <a:solidFill>
                  <a:prstClr val="black"/>
                </a:solidFill>
              </a:rPr>
              <a:t>Error </a:t>
            </a:r>
            <a:r>
              <a:rPr lang="ko-KR" altLang="en-US" sz="900" i="1" dirty="0">
                <a:solidFill>
                  <a:prstClr val="black"/>
                </a:solidFill>
              </a:rPr>
              <a:t>발생</a:t>
            </a:r>
            <a:endParaRPr lang="en-US" altLang="ko-KR" sz="900" i="1" dirty="0">
              <a:solidFill>
                <a:prstClr val="black"/>
              </a:solidFill>
            </a:endParaRPr>
          </a:p>
        </p:txBody>
      </p:sp>
      <p:sp>
        <p:nvSpPr>
          <p:cNvPr id="13" name="Rectangular Callout 10"/>
          <p:cNvSpPr/>
          <p:nvPr/>
        </p:nvSpPr>
        <p:spPr>
          <a:xfrm>
            <a:off x="9421447" y="3813863"/>
            <a:ext cx="851017" cy="245247"/>
          </a:xfrm>
          <a:prstGeom prst="wedgeRectCallout">
            <a:avLst>
              <a:gd name="adj1" fmla="val -62721"/>
              <a:gd name="adj2" fmla="val 40662"/>
            </a:avLst>
          </a:prstGeom>
          <a:solidFill>
            <a:schemeClr val="bg1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en-US" altLang="ko-KR" sz="900" i="1">
                <a:solidFill>
                  <a:prstClr val="black"/>
                </a:solidFill>
              </a:rPr>
              <a:t>Error </a:t>
            </a:r>
            <a:r>
              <a:rPr lang="ko-KR" altLang="en-US" sz="900" i="1" dirty="0">
                <a:solidFill>
                  <a:prstClr val="black"/>
                </a:solidFill>
              </a:rPr>
              <a:t>발생</a:t>
            </a:r>
            <a:endParaRPr lang="en-US" altLang="ko-KR" sz="900" i="1" dirty="0">
              <a:solidFill>
                <a:prstClr val="black"/>
              </a:solidFill>
            </a:endParaRPr>
          </a:p>
        </p:txBody>
      </p:sp>
      <p:pic>
        <p:nvPicPr>
          <p:cNvPr id="14" name="Picture 13" descr="C:\Users\hongjon\Documents\Proposal\ICON\Business_Icons\Business_Icons\Innovation\Innovation_RGB\Innovation_RGB_blue_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5927" y="4762208"/>
            <a:ext cx="196427" cy="322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73524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조인 구문 작성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쿼리 작성의 기초</a:t>
            </a:r>
            <a:endParaRPr lang="ko-KR" altLang="en-US" dirty="0"/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기본 구문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ANSI SQL-92</a:t>
            </a:r>
            <a:r>
              <a:rPr lang="ko-KR" altLang="en-US" sz="1100" dirty="0"/>
              <a:t>이전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ANSI SQL-92</a:t>
            </a:r>
            <a:r>
              <a:rPr lang="ko-KR" altLang="en-US" sz="1100" dirty="0"/>
              <a:t>표준 구문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특정 </a:t>
            </a:r>
            <a:r>
              <a:rPr lang="en-US" altLang="ko-KR" sz="1100" dirty="0"/>
              <a:t>RDBMS </a:t>
            </a:r>
            <a:r>
              <a:rPr lang="ko-KR" altLang="en-US" sz="1100" dirty="0"/>
              <a:t>벤더의 </a:t>
            </a:r>
            <a:r>
              <a:rPr lang="en-US" altLang="ko-KR" sz="1100" dirty="0"/>
              <a:t>join </a:t>
            </a:r>
            <a:r>
              <a:rPr lang="ko-KR" altLang="en-US" sz="1100" dirty="0"/>
              <a:t>구문은 지원하지 않음 </a:t>
            </a:r>
            <a:r>
              <a:rPr lang="en-US" altLang="ko-KR" sz="1100" dirty="0"/>
              <a:t>(</a:t>
            </a:r>
            <a:r>
              <a:rPr lang="ko-KR" altLang="en-US" sz="1100" dirty="0"/>
              <a:t>예</a:t>
            </a:r>
            <a:r>
              <a:rPr lang="en-US" altLang="ko-KR" sz="1100" dirty="0"/>
              <a:t>, (+), *= </a:t>
            </a:r>
            <a:r>
              <a:rPr lang="ko-KR" altLang="en-US" sz="1100" dirty="0"/>
              <a:t>등</a:t>
            </a:r>
            <a:r>
              <a:rPr lang="en-US" altLang="ko-KR" sz="1100" dirty="0"/>
              <a:t>)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Outer Joins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구문</a:t>
            </a: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Inner Join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구문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Natural Join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Default</a:t>
            </a:r>
            <a:r>
              <a:rPr lang="ko-KR" altLang="en-US" sz="1100" dirty="0"/>
              <a:t>는 </a:t>
            </a:r>
            <a:r>
              <a:rPr lang="en-US" altLang="ko-KR" sz="1100" dirty="0"/>
              <a:t>natural inner join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Inner join</a:t>
            </a:r>
            <a:r>
              <a:rPr lang="ko-KR" altLang="en-US" sz="1100" dirty="0"/>
              <a:t>과의 차이는 조인 테이블간 </a:t>
            </a:r>
            <a:r>
              <a:rPr lang="ko-KR" altLang="en-US" sz="1100" dirty="0" err="1"/>
              <a:t>컬럼</a:t>
            </a:r>
            <a:r>
              <a:rPr lang="ko-KR" altLang="en-US" sz="1100" dirty="0"/>
              <a:t> 정의가 동일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Cross Join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모든 가능한 조합의 조인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4"/>
          <p:cNvSpPr/>
          <p:nvPr/>
        </p:nvSpPr>
        <p:spPr bwMode="auto">
          <a:xfrm>
            <a:off x="998353" y="1700213"/>
            <a:ext cx="4536504" cy="36004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SELECT * FROM T1, T2 WHERE T1.id = T2.id;</a:t>
            </a:r>
          </a:p>
        </p:txBody>
      </p:sp>
      <p:sp>
        <p:nvSpPr>
          <p:cNvPr id="9" name="Rectangle 5"/>
          <p:cNvSpPr/>
          <p:nvPr/>
        </p:nvSpPr>
        <p:spPr bwMode="auto">
          <a:xfrm>
            <a:off x="998353" y="2564904"/>
            <a:ext cx="4536504" cy="79208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SELECT * FROM T1</a:t>
            </a:r>
          </a:p>
          <a:p>
            <a:r>
              <a:rPr lang="en-US" sz="900" b="1" dirty="0">
                <a:solidFill>
                  <a:schemeClr val="bg1"/>
                </a:solidFill>
              </a:rPr>
              <a:t>[ INNER | LEFT OUTER | RIGHT OUTER | FULL OUTER | NATURAL | CROSS ] </a:t>
            </a:r>
          </a:p>
          <a:p>
            <a:r>
              <a:rPr lang="en-US" sz="900" b="1" dirty="0">
                <a:solidFill>
                  <a:schemeClr val="bg1"/>
                </a:solidFill>
              </a:rPr>
              <a:t>   JOIN T2 </a:t>
            </a:r>
          </a:p>
          <a:p>
            <a:r>
              <a:rPr lang="en-US" sz="900" b="1" dirty="0">
                <a:solidFill>
                  <a:schemeClr val="bg1"/>
                </a:solidFill>
              </a:rPr>
              <a:t>     ON T1.id = T2.id</a:t>
            </a:r>
          </a:p>
        </p:txBody>
      </p:sp>
      <p:sp>
        <p:nvSpPr>
          <p:cNvPr id="10" name="Rectangle 6"/>
          <p:cNvSpPr/>
          <p:nvPr/>
        </p:nvSpPr>
        <p:spPr bwMode="auto">
          <a:xfrm>
            <a:off x="984987" y="4221088"/>
            <a:ext cx="4536504" cy="79208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SELECT &lt;column list&gt;</a:t>
            </a:r>
          </a:p>
          <a:p>
            <a:r>
              <a:rPr lang="en-US" sz="900" b="1" dirty="0">
                <a:solidFill>
                  <a:schemeClr val="bg1"/>
                </a:solidFill>
              </a:rPr>
              <a:t> FROM &lt;left-joined table&gt;</a:t>
            </a:r>
          </a:p>
          <a:p>
            <a:r>
              <a:rPr lang="en-US" sz="900" b="1" dirty="0">
                <a:solidFill>
                  <a:schemeClr val="bg1"/>
                </a:solidFill>
              </a:rPr>
              <a:t>          [ LEFT | RIGHT | FULL ] OUTER JOIN &lt;right-joined table&gt;</a:t>
            </a:r>
          </a:p>
          <a:p>
            <a:r>
              <a:rPr lang="en-US" sz="900" b="1" dirty="0">
                <a:solidFill>
                  <a:schemeClr val="bg1"/>
                </a:solidFill>
              </a:rPr>
              <a:t>     ON &lt;join condition&gt;</a:t>
            </a:r>
          </a:p>
        </p:txBody>
      </p:sp>
      <p:sp>
        <p:nvSpPr>
          <p:cNvPr id="11" name="Rectangle 7"/>
          <p:cNvSpPr/>
          <p:nvPr/>
        </p:nvSpPr>
        <p:spPr bwMode="auto">
          <a:xfrm>
            <a:off x="6653968" y="1700213"/>
            <a:ext cx="4536504" cy="93669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SELECT &lt;column list&gt;</a:t>
            </a:r>
          </a:p>
          <a:p>
            <a:r>
              <a:rPr lang="en-US" sz="900" b="1" dirty="0">
                <a:solidFill>
                  <a:schemeClr val="bg1"/>
                </a:solidFill>
              </a:rPr>
              <a:t> FROM &lt;left joined table&gt;</a:t>
            </a:r>
          </a:p>
          <a:p>
            <a:r>
              <a:rPr lang="en-US" sz="900" b="1" dirty="0">
                <a:solidFill>
                  <a:schemeClr val="bg1"/>
                </a:solidFill>
              </a:rPr>
              <a:t>          [INNER] JOIN &lt;right joined table&gt;</a:t>
            </a:r>
          </a:p>
          <a:p>
            <a:r>
              <a:rPr lang="en-US" sz="900" b="1" dirty="0">
                <a:solidFill>
                  <a:schemeClr val="bg1"/>
                </a:solidFill>
              </a:rPr>
              <a:t>     ON &lt;join condition&gt; </a:t>
            </a:r>
          </a:p>
        </p:txBody>
      </p:sp>
      <p:sp>
        <p:nvSpPr>
          <p:cNvPr id="12" name="Rectangle 8"/>
          <p:cNvSpPr/>
          <p:nvPr/>
        </p:nvSpPr>
        <p:spPr bwMode="auto">
          <a:xfrm>
            <a:off x="6653968" y="3356993"/>
            <a:ext cx="4536504" cy="64807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SELECT &lt;column list&gt; FROM &lt;left-joined table&gt;</a:t>
            </a:r>
          </a:p>
          <a:p>
            <a:r>
              <a:rPr lang="en-US" sz="900" b="1" dirty="0">
                <a:solidFill>
                  <a:schemeClr val="bg1"/>
                </a:solidFill>
              </a:rPr>
              <a:t>           NATURAL [ INNER | LEFT OUTER | RIGHT OUTER | FULL OUTER ] </a:t>
            </a:r>
          </a:p>
          <a:p>
            <a:r>
              <a:rPr lang="en-US" sz="900" b="1" dirty="0">
                <a:solidFill>
                  <a:schemeClr val="bg1"/>
                </a:solidFill>
              </a:rPr>
              <a:t>           JOIN &lt;right-joined table&gt;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6454775" y="4527391"/>
            <a:ext cx="5124609" cy="845825"/>
          </a:xfrm>
          <a:prstGeom prst="roundRect">
            <a:avLst>
              <a:gd name="adj" fmla="val 8154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SELECT * FROM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promotion_dimension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,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store.store_sales_fact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SELECT * FROM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promotion_dimension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                         CROSS JOIN 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store.store_sales_fact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4517259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07367" y="1093961"/>
            <a:ext cx="10579609" cy="1038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000" dirty="0"/>
              <a:t>쿼리 성능 최적화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722278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쿼리 최적화를 위한 </a:t>
            </a:r>
            <a:r>
              <a:rPr lang="ko-KR" altLang="en-US" sz="2800" dirty="0" err="1"/>
              <a:t>프로젝션</a:t>
            </a:r>
            <a:r>
              <a:rPr lang="ko-KR" altLang="en-US" sz="2800" dirty="0"/>
              <a:t> 이해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쿼리 성능 최적화</a:t>
            </a:r>
            <a:endParaRPr lang="ko-KR" altLang="en-US" dirty="0"/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 err="1"/>
              <a:t>프로젝션</a:t>
            </a:r>
            <a:r>
              <a:rPr lang="ko-KR" altLang="en-US" sz="1100" b="1" dirty="0"/>
              <a:t> 예제</a:t>
            </a:r>
            <a:endParaRPr lang="en-US" altLang="ko-KR" sz="1100" b="1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 err="1"/>
              <a:t>컬럼리스트와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인코딩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전체 </a:t>
            </a:r>
            <a:r>
              <a:rPr lang="ko-KR" altLang="en-US" sz="1100" dirty="0" err="1"/>
              <a:t>컬럼</a:t>
            </a:r>
            <a:r>
              <a:rPr lang="ko-KR" altLang="en-US" sz="1100" dirty="0"/>
              <a:t> 또는 일부 </a:t>
            </a:r>
            <a:r>
              <a:rPr lang="ko-KR" altLang="en-US" sz="1100" dirty="0" err="1"/>
              <a:t>컬럼</a:t>
            </a:r>
            <a:r>
              <a:rPr lang="ko-KR" altLang="en-US" sz="1100" dirty="0"/>
              <a:t> 지정 </a:t>
            </a:r>
            <a:r>
              <a:rPr lang="en-US" altLang="ko-KR" sz="1100" dirty="0"/>
              <a:t>(</a:t>
            </a:r>
            <a:r>
              <a:rPr lang="ko-KR" altLang="en-US" sz="1100" dirty="0"/>
              <a:t>하지만 테이블 당 최소 하나의 </a:t>
            </a:r>
            <a:r>
              <a:rPr lang="ko-KR" altLang="en-US" sz="1100" dirty="0" err="1"/>
              <a:t>프로젝션은</a:t>
            </a:r>
            <a:r>
              <a:rPr lang="ko-KR" altLang="en-US" sz="1100" dirty="0"/>
              <a:t> 전체 </a:t>
            </a:r>
            <a:r>
              <a:rPr lang="ko-KR" altLang="en-US" sz="1100" dirty="0" err="1"/>
              <a:t>컬럼을</a:t>
            </a:r>
            <a:r>
              <a:rPr lang="ko-KR" altLang="en-US" sz="1100" dirty="0"/>
              <a:t> 포함하고 있어야 한다</a:t>
            </a:r>
            <a:r>
              <a:rPr lang="en-US" altLang="ko-KR" sz="1100" dirty="0"/>
              <a:t>. super projection)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 err="1"/>
              <a:t>컬럼별로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인코딩을</a:t>
            </a:r>
            <a:r>
              <a:rPr lang="ko-KR" altLang="en-US" sz="1100" dirty="0"/>
              <a:t> 지정하는데</a:t>
            </a:r>
            <a:r>
              <a:rPr lang="en-US" altLang="ko-KR" sz="1100" dirty="0"/>
              <a:t>, </a:t>
            </a:r>
            <a:r>
              <a:rPr lang="ko-KR" altLang="en-US" sz="1100" dirty="0"/>
              <a:t>디폴트는 </a:t>
            </a:r>
            <a:r>
              <a:rPr lang="en-US" altLang="ko-KR" sz="1100" dirty="0"/>
              <a:t>AUTO</a:t>
            </a:r>
            <a:r>
              <a:rPr lang="ko-KR" altLang="en-US" sz="1100" dirty="0"/>
              <a:t>로 </a:t>
            </a:r>
            <a:r>
              <a:rPr lang="ko-KR" altLang="en-US" sz="1100" dirty="0" err="1"/>
              <a:t>컬럼</a:t>
            </a:r>
            <a:r>
              <a:rPr lang="ko-KR" altLang="en-US" sz="1100" dirty="0"/>
              <a:t> 압축만 수행한다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 err="1"/>
              <a:t>컬럼별</a:t>
            </a:r>
            <a:r>
              <a:rPr lang="ko-KR" altLang="en-US" sz="1100" dirty="0"/>
              <a:t> 적합한 </a:t>
            </a:r>
            <a:r>
              <a:rPr lang="ko-KR" altLang="en-US" sz="1100" dirty="0" err="1"/>
              <a:t>인코딩을</a:t>
            </a:r>
            <a:r>
              <a:rPr lang="ko-KR" altLang="en-US" sz="1100" dirty="0"/>
              <a:t> 찾기 위해 </a:t>
            </a:r>
            <a:r>
              <a:rPr lang="en-US" altLang="ko-KR" sz="1100" dirty="0"/>
              <a:t>DBD</a:t>
            </a:r>
            <a:r>
              <a:rPr lang="ko-KR" altLang="en-US" sz="1100" dirty="0"/>
              <a:t>를 실행하여 결과를 참조하거나 </a:t>
            </a:r>
            <a:r>
              <a:rPr lang="en-US" altLang="ko-KR" sz="1100" dirty="0"/>
              <a:t>DESIGNER_DESIGN_PROJECTION_ENCODINGS</a:t>
            </a:r>
            <a:r>
              <a:rPr lang="ko-KR" altLang="en-US" sz="1100" dirty="0"/>
              <a:t>를 실행한다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정렬 저장 순서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 err="1"/>
              <a:t>컬럼별</a:t>
            </a:r>
            <a:r>
              <a:rPr lang="ko-KR" altLang="en-US" sz="1100" dirty="0"/>
              <a:t> 정렬 저장 순서를 지정하는데</a:t>
            </a:r>
            <a:r>
              <a:rPr lang="en-US" altLang="ko-KR" sz="1100" dirty="0"/>
              <a:t>, merge join</a:t>
            </a:r>
            <a:r>
              <a:rPr lang="ko-KR" altLang="en-US" sz="1100" dirty="0"/>
              <a:t>을 위한 주요한 요소이며 해당 </a:t>
            </a:r>
            <a:r>
              <a:rPr lang="ko-KR" altLang="en-US" sz="1100" dirty="0" err="1"/>
              <a:t>컬럼이</a:t>
            </a:r>
            <a:r>
              <a:rPr lang="ko-KR" altLang="en-US" sz="1100" dirty="0"/>
              <a:t> </a:t>
            </a:r>
            <a:r>
              <a:rPr lang="en-US" altLang="ko-KR" sz="1100" dirty="0"/>
              <a:t>RLE </a:t>
            </a:r>
            <a:r>
              <a:rPr lang="ko-KR" altLang="en-US" sz="1100" dirty="0"/>
              <a:t>형태의 </a:t>
            </a:r>
            <a:r>
              <a:rPr lang="ko-KR" altLang="en-US" sz="1100" dirty="0" err="1"/>
              <a:t>인코딩일</a:t>
            </a:r>
            <a:r>
              <a:rPr lang="ko-KR" altLang="en-US" sz="1100" dirty="0"/>
              <a:t> 수록 효과가 좋다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분산키 지정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 err="1"/>
              <a:t>노드</a:t>
            </a:r>
            <a:r>
              <a:rPr lang="ko-KR" altLang="en-US" sz="1100" dirty="0"/>
              <a:t> 간 데이터 </a:t>
            </a:r>
            <a:r>
              <a:rPr lang="en-US" altLang="ko-KR" sz="1100" dirty="0"/>
              <a:t>skew</a:t>
            </a:r>
            <a:r>
              <a:rPr lang="ko-KR" altLang="en-US" sz="1100" dirty="0"/>
              <a:t>가 발생하지 않도록 분산하는 것이 목표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UNSEGMENTED </a:t>
            </a:r>
            <a:r>
              <a:rPr lang="ko-KR" altLang="en-US" sz="1100" dirty="0"/>
              <a:t>구문을 사용하여 전체 </a:t>
            </a:r>
            <a:r>
              <a:rPr lang="ko-KR" altLang="en-US" sz="1100" dirty="0" err="1"/>
              <a:t>노드에</a:t>
            </a:r>
            <a:r>
              <a:rPr lang="ko-KR" altLang="en-US" sz="1100" dirty="0"/>
              <a:t> 복제하는 것도 가능</a:t>
            </a:r>
            <a:endParaRPr lang="en-US" altLang="ko-KR" sz="1100" dirty="0"/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b="1" dirty="0" err="1"/>
              <a:t>프로젝션</a:t>
            </a:r>
            <a:r>
              <a:rPr lang="ko-KR" altLang="en-US" sz="1100" b="1" dirty="0"/>
              <a:t> 추가 및 삭제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 err="1"/>
              <a:t>프로젝션</a:t>
            </a:r>
            <a:r>
              <a:rPr lang="ko-KR" altLang="en-US" sz="1100" dirty="0"/>
              <a:t> 추가</a:t>
            </a:r>
            <a:r>
              <a:rPr lang="en-US" altLang="ko-KR" sz="1100" dirty="0"/>
              <a:t>, </a:t>
            </a:r>
            <a:r>
              <a:rPr lang="ko-KR" altLang="en-US" sz="1100" dirty="0"/>
              <a:t>삭제는 온라인으로 가능하고</a:t>
            </a:r>
            <a:r>
              <a:rPr lang="en-US" altLang="ko-KR" sz="1100" dirty="0"/>
              <a:t>, </a:t>
            </a:r>
            <a:r>
              <a:rPr lang="ko-KR" altLang="en-US" sz="1100" dirty="0"/>
              <a:t>최소 </a:t>
            </a:r>
            <a:r>
              <a:rPr lang="en-US" altLang="ko-KR" sz="1100" dirty="0"/>
              <a:t>1</a:t>
            </a:r>
            <a:r>
              <a:rPr lang="ko-KR" altLang="en-US" sz="1100" dirty="0"/>
              <a:t>개 남은 슈퍼 </a:t>
            </a:r>
            <a:r>
              <a:rPr lang="ko-KR" altLang="en-US" sz="1100" dirty="0" err="1"/>
              <a:t>프로젝션을</a:t>
            </a:r>
            <a:r>
              <a:rPr lang="ko-KR" altLang="en-US" sz="1100" dirty="0"/>
              <a:t> </a:t>
            </a:r>
            <a:r>
              <a:rPr lang="en-US" altLang="ko-KR" sz="1100" dirty="0"/>
              <a:t>drop </a:t>
            </a:r>
            <a:r>
              <a:rPr lang="ko-KR" altLang="en-US" sz="1100" dirty="0"/>
              <a:t>하기 위해서는 신규 슈퍼 </a:t>
            </a:r>
            <a:r>
              <a:rPr lang="ko-KR" altLang="en-US" sz="1100" dirty="0" err="1"/>
              <a:t>프로젝션을</a:t>
            </a:r>
            <a:r>
              <a:rPr lang="ko-KR" altLang="en-US" sz="1100" dirty="0"/>
              <a:t> 먼저 만들고 기존 슈퍼 </a:t>
            </a:r>
            <a:r>
              <a:rPr lang="ko-KR" altLang="en-US" sz="1100" dirty="0" err="1"/>
              <a:t>프로젝션을</a:t>
            </a:r>
            <a:r>
              <a:rPr lang="ko-KR" altLang="en-US" sz="1100" dirty="0"/>
              <a:t> </a:t>
            </a:r>
            <a:r>
              <a:rPr lang="en-US" altLang="ko-KR" sz="1100" dirty="0"/>
              <a:t>drop</a:t>
            </a:r>
            <a:r>
              <a:rPr lang="ko-KR" altLang="en-US" sz="1100" dirty="0"/>
              <a:t>해야 한다</a:t>
            </a:r>
            <a:r>
              <a:rPr lang="en-US" altLang="ko-KR" sz="1100" dirty="0"/>
              <a:t>.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 err="1"/>
              <a:t>프로젝션을</a:t>
            </a:r>
            <a:r>
              <a:rPr lang="ko-KR" altLang="en-US" sz="1100" dirty="0"/>
              <a:t> 새로 </a:t>
            </a:r>
            <a:r>
              <a:rPr lang="ko-KR" altLang="en-US" sz="1100" dirty="0" err="1"/>
              <a:t>생성할경우</a:t>
            </a:r>
            <a:r>
              <a:rPr lang="ko-KR" altLang="en-US" sz="1100" dirty="0"/>
              <a:t> 데이터까지 신규 </a:t>
            </a:r>
            <a:r>
              <a:rPr lang="ko-KR" altLang="en-US" sz="1100" dirty="0" err="1"/>
              <a:t>프로젝션에</a:t>
            </a:r>
            <a:r>
              <a:rPr lang="ko-KR" altLang="en-US" sz="1100" dirty="0"/>
              <a:t> 저장되는 것은 아니므로 데이터를 동기화하도록 </a:t>
            </a:r>
            <a:r>
              <a:rPr lang="en-US" altLang="ko-KR" sz="1100" b="1" dirty="0"/>
              <a:t>refresh</a:t>
            </a:r>
            <a:r>
              <a:rPr lang="en-US" altLang="ko-KR" sz="1100" dirty="0"/>
              <a:t> </a:t>
            </a:r>
            <a:r>
              <a:rPr lang="ko-KR" altLang="en-US" sz="1100" dirty="0"/>
              <a:t>해야 한다</a:t>
            </a:r>
            <a:r>
              <a:rPr lang="en-US" altLang="ko-KR" sz="1100" dirty="0"/>
              <a:t>.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 err="1"/>
              <a:t>프로젝션의</a:t>
            </a:r>
            <a:r>
              <a:rPr lang="ko-KR" altLang="en-US" sz="1100" dirty="0"/>
              <a:t> 상태는 다음과 같이 확인 가능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기존 </a:t>
            </a:r>
            <a:r>
              <a:rPr lang="ko-KR" altLang="en-US" sz="1100" dirty="0" err="1"/>
              <a:t>프로젝션을</a:t>
            </a:r>
            <a:r>
              <a:rPr lang="ko-KR" altLang="en-US" sz="1100" dirty="0"/>
              <a:t> 삭제하기 위해서는 과거 </a:t>
            </a:r>
            <a:r>
              <a:rPr lang="ko-KR" altLang="en-US" sz="1100" dirty="0" err="1"/>
              <a:t>히스토리</a:t>
            </a:r>
            <a:r>
              <a:rPr lang="ko-KR" altLang="en-US" sz="1100" dirty="0"/>
              <a:t> 정보를 유지하고자 하는 시점</a:t>
            </a:r>
            <a:r>
              <a:rPr lang="en-US" altLang="ko-KR" sz="1100" dirty="0"/>
              <a:t>, AHM(Ancient History Mark)</a:t>
            </a:r>
            <a:r>
              <a:rPr lang="ko-KR" altLang="en-US" sz="1100" dirty="0"/>
              <a:t>를 최근 시점까지 먼저 옮겨놔야 한다</a:t>
            </a:r>
            <a:r>
              <a:rPr lang="en-US" altLang="ko-KR" sz="1100" dirty="0"/>
              <a:t>.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228600" lvl="1" indent="0">
              <a:lnSpc>
                <a:spcPct val="100000"/>
              </a:lnSpc>
              <a:spcAft>
                <a:spcPts val="0"/>
              </a:spcAft>
              <a:buNone/>
            </a:pPr>
            <a:endParaRPr lang="en-US" altLang="ko-KR" sz="1100" dirty="0"/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4"/>
          <p:cNvSpPr/>
          <p:nvPr/>
        </p:nvSpPr>
        <p:spPr>
          <a:xfrm>
            <a:off x="693738" y="1546386"/>
            <a:ext cx="5057527" cy="2602694"/>
          </a:xfrm>
          <a:prstGeom prst="roundRect">
            <a:avLst>
              <a:gd name="adj" fmla="val 3556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CREATE TABLE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snmp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(</a:t>
            </a:r>
          </a:p>
          <a:p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host      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varchar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(20),</a:t>
            </a:r>
          </a:p>
          <a:p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interface 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varchar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(20),</a:t>
            </a:r>
          </a:p>
          <a:p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time      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time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,</a:t>
            </a:r>
          </a:p>
          <a:p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value      integer</a:t>
            </a:r>
          </a:p>
          <a:p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);</a:t>
            </a:r>
          </a:p>
          <a:p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CREATE </a:t>
            </a:r>
            <a:r>
              <a:rPr lang="en-US" altLang="ko-KR" sz="900" cap="all" dirty="0">
                <a:solidFill>
                  <a:schemeClr val="bg1"/>
                </a:solidFill>
                <a:cs typeface="Courier New" panose="02070309020205020404" pitchFamily="49" charset="0"/>
              </a:rPr>
              <a:t>projection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snmp_p1 (</a:t>
            </a:r>
          </a:p>
          <a:p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host       encoding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rle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,</a:t>
            </a:r>
          </a:p>
          <a:p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interface  encoding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rle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,</a:t>
            </a:r>
          </a:p>
          <a:p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time       encoding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commondelta_comp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,</a:t>
            </a:r>
          </a:p>
          <a:p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value      encoding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deltaval</a:t>
            </a:r>
            <a:endParaRPr lang="en-US" altLang="ko-KR" sz="9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) as</a:t>
            </a:r>
          </a:p>
          <a:p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SELECT host, interface, time, value</a:t>
            </a:r>
          </a:p>
          <a:p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FROM </a:t>
            </a:r>
            <a:r>
              <a:rPr lang="en-US" altLang="ko-KR" sz="900" dirty="0" err="1">
                <a:solidFill>
                  <a:schemeClr val="bg1"/>
                </a:solidFill>
                <a:cs typeface="Courier New" pitchFamily="49" charset="0"/>
              </a:rPr>
              <a:t>snmp</a:t>
            </a:r>
            <a:endParaRPr lang="en-US" altLang="ko-KR" sz="900" dirty="0">
              <a:solidFill>
                <a:schemeClr val="bg1"/>
              </a:solidFill>
              <a:cs typeface="Courier New" pitchFamily="49" charset="0"/>
            </a:endParaRPr>
          </a:p>
          <a:p>
            <a:r>
              <a:rPr lang="en-US" altLang="ko-KR" sz="900" dirty="0">
                <a:solidFill>
                  <a:schemeClr val="bg1"/>
                </a:solidFill>
                <a:cs typeface="Courier New" pitchFamily="49" charset="0"/>
              </a:rPr>
              <a:t> ORDER BY host, interface, time</a:t>
            </a:r>
          </a:p>
          <a:p>
            <a:r>
              <a:rPr lang="en-US" altLang="ko-KR" sz="900" dirty="0">
                <a:solidFill>
                  <a:schemeClr val="bg1"/>
                </a:solidFill>
                <a:cs typeface="Courier New" pitchFamily="49" charset="0"/>
              </a:rPr>
              <a:t>SEGMENTED BY hash ( host, interface, time ) ALL NODES KSAFE;</a:t>
            </a:r>
          </a:p>
          <a:p>
            <a:endParaRPr lang="en-US" altLang="ko-KR" sz="900" dirty="0">
              <a:solidFill>
                <a:schemeClr val="bg1"/>
              </a:solidFill>
              <a:cs typeface="Courier New" pitchFamily="49" charset="0"/>
            </a:endParaRPr>
          </a:p>
        </p:txBody>
      </p:sp>
      <p:sp>
        <p:nvSpPr>
          <p:cNvPr id="9" name="Rectangular Callout 5"/>
          <p:cNvSpPr/>
          <p:nvPr/>
        </p:nvSpPr>
        <p:spPr>
          <a:xfrm>
            <a:off x="2782044" y="1628800"/>
            <a:ext cx="2764792" cy="864096"/>
          </a:xfrm>
          <a:prstGeom prst="wedgeRectCallout">
            <a:avLst>
              <a:gd name="adj1" fmla="val -74007"/>
              <a:gd name="adj2" fmla="val 19382"/>
            </a:avLst>
          </a:prstGeom>
          <a:solidFill>
            <a:schemeClr val="bg1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en-US" altLang="ko-KR" sz="1000" i="1" dirty="0">
                <a:solidFill>
                  <a:prstClr val="black"/>
                </a:solidFill>
              </a:rPr>
              <a:t>1.</a:t>
            </a:r>
            <a:r>
              <a:rPr lang="ko-KR" altLang="en-US" sz="1000" i="1" dirty="0">
                <a:solidFill>
                  <a:prstClr val="black"/>
                </a:solidFill>
              </a:rPr>
              <a:t>테이블</a:t>
            </a:r>
            <a:r>
              <a:rPr lang="en-US" altLang="ko-KR" sz="1000" i="1" dirty="0">
                <a:solidFill>
                  <a:prstClr val="black"/>
                </a:solidFill>
              </a:rPr>
              <a:t> </a:t>
            </a:r>
            <a:r>
              <a:rPr lang="ko-KR" altLang="en-US" sz="1000" i="1" dirty="0">
                <a:solidFill>
                  <a:prstClr val="black"/>
                </a:solidFill>
              </a:rPr>
              <a:t>생성 후 처음 데이터가 입력되거나</a:t>
            </a:r>
            <a:endParaRPr lang="en-US" altLang="ko-KR" sz="1000" i="1" dirty="0">
              <a:solidFill>
                <a:prstClr val="black"/>
              </a:solidFill>
            </a:endParaRPr>
          </a:p>
          <a:p>
            <a:pPr lvl="0">
              <a:lnSpc>
                <a:spcPts val="1200"/>
              </a:lnSpc>
            </a:pPr>
            <a:r>
              <a:rPr lang="en-US" altLang="ko-KR" sz="1000" i="1" dirty="0">
                <a:solidFill>
                  <a:prstClr val="black"/>
                </a:solidFill>
              </a:rPr>
              <a:t>2.</a:t>
            </a:r>
            <a:r>
              <a:rPr lang="ko-KR" altLang="en-US" sz="1000" i="1" dirty="0">
                <a:solidFill>
                  <a:prstClr val="black"/>
                </a:solidFill>
              </a:rPr>
              <a:t>프로젝션 생성 구문을 직접 작성하거나</a:t>
            </a:r>
            <a:endParaRPr lang="en-US" altLang="ko-KR" sz="1000" i="1" dirty="0">
              <a:solidFill>
                <a:prstClr val="black"/>
              </a:solidFill>
            </a:endParaRPr>
          </a:p>
          <a:p>
            <a:pPr lvl="0">
              <a:lnSpc>
                <a:spcPts val="1200"/>
              </a:lnSpc>
            </a:pPr>
            <a:r>
              <a:rPr lang="en-US" altLang="ko-KR" sz="1000" i="1" dirty="0">
                <a:solidFill>
                  <a:prstClr val="black"/>
                </a:solidFill>
              </a:rPr>
              <a:t>3.DBD</a:t>
            </a:r>
            <a:r>
              <a:rPr lang="ko-KR" altLang="en-US" sz="1000" i="1" dirty="0">
                <a:solidFill>
                  <a:prstClr val="black"/>
                </a:solidFill>
              </a:rPr>
              <a:t>가 자동으로 프로젝션을 만들거나</a:t>
            </a:r>
            <a:endParaRPr lang="en-US" altLang="ko-KR" sz="1000" i="1" dirty="0">
              <a:solidFill>
                <a:prstClr val="black"/>
              </a:solidFill>
            </a:endParaRPr>
          </a:p>
          <a:p>
            <a:pPr lvl="0">
              <a:lnSpc>
                <a:spcPts val="1200"/>
              </a:lnSpc>
            </a:pPr>
            <a:r>
              <a:rPr lang="en-US" altLang="ko-KR" sz="1000" i="1" dirty="0">
                <a:solidFill>
                  <a:prstClr val="black"/>
                </a:solidFill>
              </a:rPr>
              <a:t>4.</a:t>
            </a:r>
            <a:r>
              <a:rPr lang="ko-KR" altLang="en-US" sz="1000" i="1" dirty="0">
                <a:solidFill>
                  <a:prstClr val="black"/>
                </a:solidFill>
              </a:rPr>
              <a:t>테이블 생성 구문에 </a:t>
            </a:r>
            <a:r>
              <a:rPr lang="en-US" altLang="ko-KR" sz="1000" i="1" dirty="0">
                <a:solidFill>
                  <a:prstClr val="black"/>
                </a:solidFill>
              </a:rPr>
              <a:t>order by, segment by </a:t>
            </a:r>
            <a:r>
              <a:rPr lang="ko-KR" altLang="en-US" sz="1000" i="1" dirty="0">
                <a:solidFill>
                  <a:prstClr val="black"/>
                </a:solidFill>
              </a:rPr>
              <a:t>구문이 포함된 경우 프로젝션이 생성</a:t>
            </a:r>
            <a:endParaRPr lang="en-US" altLang="ko-KR" sz="1000" i="1" dirty="0">
              <a:solidFill>
                <a:prstClr val="black"/>
              </a:solidFill>
            </a:endParaRPr>
          </a:p>
        </p:txBody>
      </p:sp>
      <p:sp>
        <p:nvSpPr>
          <p:cNvPr id="10" name="Rectangular Callout 8"/>
          <p:cNvSpPr/>
          <p:nvPr/>
        </p:nvSpPr>
        <p:spPr>
          <a:xfrm>
            <a:off x="2791562" y="2538263"/>
            <a:ext cx="631179" cy="216024"/>
          </a:xfrm>
          <a:prstGeom prst="wedgeRectCallout">
            <a:avLst>
              <a:gd name="adj1" fmla="val -160166"/>
              <a:gd name="adj2" fmla="val 52800"/>
            </a:avLst>
          </a:prstGeom>
          <a:solidFill>
            <a:schemeClr val="bg1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ko-KR" altLang="en-US" sz="1000" i="1" dirty="0">
                <a:solidFill>
                  <a:prstClr val="black"/>
                </a:solidFill>
              </a:rPr>
              <a:t>인코딩 </a:t>
            </a:r>
            <a:endParaRPr lang="en-US" altLang="ko-KR" sz="1000" i="1" dirty="0">
              <a:solidFill>
                <a:prstClr val="black"/>
              </a:solidFill>
            </a:endParaRPr>
          </a:p>
        </p:txBody>
      </p:sp>
      <p:sp>
        <p:nvSpPr>
          <p:cNvPr id="11" name="Rectangular Callout 9"/>
          <p:cNvSpPr/>
          <p:nvPr/>
        </p:nvSpPr>
        <p:spPr>
          <a:xfrm>
            <a:off x="3266605" y="3320690"/>
            <a:ext cx="631179" cy="216024"/>
          </a:xfrm>
          <a:prstGeom prst="wedgeRectCallout">
            <a:avLst>
              <a:gd name="adj1" fmla="val -189140"/>
              <a:gd name="adj2" fmla="val 75077"/>
            </a:avLst>
          </a:prstGeom>
          <a:solidFill>
            <a:schemeClr val="bg1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ko-KR" altLang="en-US" sz="1000" i="1">
                <a:solidFill>
                  <a:prstClr val="black"/>
                </a:solidFill>
              </a:rPr>
              <a:t>정렬</a:t>
            </a:r>
            <a:endParaRPr lang="en-US" altLang="ko-KR" sz="1000" i="1" dirty="0">
              <a:solidFill>
                <a:prstClr val="black"/>
              </a:solidFill>
            </a:endParaRPr>
          </a:p>
        </p:txBody>
      </p:sp>
      <p:sp>
        <p:nvSpPr>
          <p:cNvPr id="12" name="Rectangular Callout 10"/>
          <p:cNvSpPr/>
          <p:nvPr/>
        </p:nvSpPr>
        <p:spPr>
          <a:xfrm>
            <a:off x="1485900" y="3861048"/>
            <a:ext cx="631179" cy="216024"/>
          </a:xfrm>
          <a:prstGeom prst="wedgeRectCallout">
            <a:avLst>
              <a:gd name="adj1" fmla="val -94973"/>
              <a:gd name="adj2" fmla="val -66389"/>
            </a:avLst>
          </a:prstGeom>
          <a:solidFill>
            <a:schemeClr val="bg1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ko-KR" altLang="en-US" sz="1000" i="1" dirty="0">
                <a:solidFill>
                  <a:prstClr val="black"/>
                </a:solidFill>
              </a:rPr>
              <a:t>분산</a:t>
            </a:r>
            <a:endParaRPr lang="en-US" altLang="ko-KR" sz="1000" i="1" dirty="0">
              <a:solidFill>
                <a:prstClr val="black"/>
              </a:solidFill>
            </a:endParaRPr>
          </a:p>
        </p:txBody>
      </p:sp>
      <p:sp>
        <p:nvSpPr>
          <p:cNvPr id="13" name="Rectangle 11"/>
          <p:cNvSpPr/>
          <p:nvPr/>
        </p:nvSpPr>
        <p:spPr bwMode="auto">
          <a:xfrm>
            <a:off x="6653968" y="2420888"/>
            <a:ext cx="4698616" cy="89980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endParaRPr lang="en-US" sz="900" b="1" dirty="0">
              <a:solidFill>
                <a:schemeClr val="bg1"/>
              </a:solidFill>
            </a:endParaRPr>
          </a:p>
          <a:p>
            <a:r>
              <a:rPr lang="en-US" sz="900" b="1" dirty="0">
                <a:solidFill>
                  <a:schemeClr val="bg1"/>
                </a:solidFill>
              </a:rPr>
              <a:t>SELECT REFRESH(‘&lt;table</a:t>
            </a:r>
            <a:r>
              <a:rPr lang="ko-KR" altLang="en-US" sz="900" b="1" dirty="0">
                <a:solidFill>
                  <a:schemeClr val="bg1"/>
                </a:solidFill>
              </a:rPr>
              <a:t>명</a:t>
            </a:r>
            <a:r>
              <a:rPr lang="en-US" altLang="ko-KR" sz="900" b="1" dirty="0">
                <a:solidFill>
                  <a:schemeClr val="bg1"/>
                </a:solidFill>
              </a:rPr>
              <a:t>&gt;’) ;</a:t>
            </a:r>
          </a:p>
          <a:p>
            <a:r>
              <a:rPr lang="ko-KR" altLang="en-US" sz="900" b="1" dirty="0">
                <a:solidFill>
                  <a:schemeClr val="bg1"/>
                </a:solidFill>
              </a:rPr>
              <a:t>또는</a:t>
            </a:r>
            <a:endParaRPr lang="en-US" altLang="ko-KR" sz="900" b="1" dirty="0">
              <a:solidFill>
                <a:schemeClr val="bg1"/>
              </a:solidFill>
            </a:endParaRPr>
          </a:p>
          <a:p>
            <a:r>
              <a:rPr lang="en-US" sz="900" b="1" dirty="0">
                <a:solidFill>
                  <a:schemeClr val="bg1"/>
                </a:solidFill>
              </a:rPr>
              <a:t>SELECT START_REFRESH();</a:t>
            </a:r>
          </a:p>
          <a:p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14" name="Rectangular Callout 12"/>
          <p:cNvSpPr/>
          <p:nvPr/>
        </p:nvSpPr>
        <p:spPr>
          <a:xfrm>
            <a:off x="8620136" y="2456892"/>
            <a:ext cx="2658852" cy="396044"/>
          </a:xfrm>
          <a:prstGeom prst="wedgeRectCallout">
            <a:avLst>
              <a:gd name="adj1" fmla="val -64720"/>
              <a:gd name="adj2" fmla="val 21305"/>
            </a:avLst>
          </a:prstGeom>
          <a:solidFill>
            <a:schemeClr val="bg1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ko-KR" altLang="en-US" sz="1000" i="1" dirty="0">
                <a:solidFill>
                  <a:prstClr val="black"/>
                </a:solidFill>
              </a:rPr>
              <a:t>여러 테이블을 동시에 </a:t>
            </a:r>
            <a:r>
              <a:rPr lang="en-US" altLang="ko-KR" sz="1000" i="1" dirty="0">
                <a:solidFill>
                  <a:prstClr val="black"/>
                </a:solidFill>
              </a:rPr>
              <a:t>refresh </a:t>
            </a:r>
            <a:r>
              <a:rPr lang="ko-KR" altLang="en-US" sz="1000" i="1" dirty="0">
                <a:solidFill>
                  <a:prstClr val="black"/>
                </a:solidFill>
              </a:rPr>
              <a:t>하려면 콤마</a:t>
            </a:r>
            <a:r>
              <a:rPr lang="en-US" altLang="ko-KR" sz="1000" i="1" dirty="0">
                <a:solidFill>
                  <a:prstClr val="black"/>
                </a:solidFill>
              </a:rPr>
              <a:t>(,)</a:t>
            </a:r>
            <a:r>
              <a:rPr lang="ko-KR" altLang="en-US" sz="1000" i="1" dirty="0">
                <a:solidFill>
                  <a:prstClr val="black"/>
                </a:solidFill>
              </a:rPr>
              <a:t>로 테이블명을 분리하여 입력한다</a:t>
            </a:r>
            <a:endParaRPr lang="en-US" altLang="ko-KR" sz="1000" i="1" dirty="0">
              <a:solidFill>
                <a:prstClr val="black"/>
              </a:solidFill>
            </a:endParaRPr>
          </a:p>
        </p:txBody>
      </p:sp>
      <p:sp>
        <p:nvSpPr>
          <p:cNvPr id="15" name="Rectangular Callout 13"/>
          <p:cNvSpPr/>
          <p:nvPr/>
        </p:nvSpPr>
        <p:spPr>
          <a:xfrm>
            <a:off x="8398668" y="2901518"/>
            <a:ext cx="2658852" cy="396044"/>
          </a:xfrm>
          <a:prstGeom prst="wedgeRectCallout">
            <a:avLst>
              <a:gd name="adj1" fmla="val -62639"/>
              <a:gd name="adj2" fmla="val -14543"/>
            </a:avLst>
          </a:prstGeom>
          <a:solidFill>
            <a:schemeClr val="bg1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ko-KR" altLang="en-US" sz="1000" i="1" dirty="0">
                <a:solidFill>
                  <a:prstClr val="black"/>
                </a:solidFill>
              </a:rPr>
              <a:t>동기화되지 않은 모든 프로젝션에 대해 백그라운드로 </a:t>
            </a:r>
            <a:r>
              <a:rPr lang="en-US" altLang="ko-KR" sz="1000" i="1" dirty="0">
                <a:solidFill>
                  <a:prstClr val="black"/>
                </a:solidFill>
              </a:rPr>
              <a:t>refresh</a:t>
            </a:r>
            <a:r>
              <a:rPr lang="ko-KR" altLang="en-US" sz="1000" i="1" dirty="0">
                <a:solidFill>
                  <a:prstClr val="black"/>
                </a:solidFill>
              </a:rPr>
              <a:t>가 수행된다</a:t>
            </a:r>
            <a:endParaRPr lang="en-US" altLang="ko-KR" sz="1000" i="1" dirty="0">
              <a:solidFill>
                <a:prstClr val="black"/>
              </a:solidFill>
            </a:endParaRPr>
          </a:p>
        </p:txBody>
      </p:sp>
      <p:sp>
        <p:nvSpPr>
          <p:cNvPr id="16" name="Rectangle 14"/>
          <p:cNvSpPr/>
          <p:nvPr/>
        </p:nvSpPr>
        <p:spPr bwMode="auto">
          <a:xfrm>
            <a:off x="6653968" y="3861048"/>
            <a:ext cx="4536504" cy="88752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SELECT </a:t>
            </a:r>
            <a:r>
              <a:rPr lang="en-US" sz="900" b="1" cap="all" dirty="0" err="1">
                <a:solidFill>
                  <a:schemeClr val="bg1"/>
                </a:solidFill>
              </a:rPr>
              <a:t>get_projection_status</a:t>
            </a:r>
            <a:r>
              <a:rPr lang="en-US" sz="900" b="1" dirty="0">
                <a:solidFill>
                  <a:schemeClr val="bg1"/>
                </a:solidFill>
              </a:rPr>
              <a:t> ('</a:t>
            </a:r>
            <a:r>
              <a:rPr lang="en-US" sz="900" b="1" dirty="0" err="1">
                <a:solidFill>
                  <a:schemeClr val="bg1"/>
                </a:solidFill>
              </a:rPr>
              <a:t>projection_name</a:t>
            </a:r>
            <a:r>
              <a:rPr lang="en-US" sz="900" b="1" dirty="0">
                <a:solidFill>
                  <a:schemeClr val="bg1"/>
                </a:solidFill>
              </a:rPr>
              <a:t>');  </a:t>
            </a:r>
            <a:r>
              <a:rPr lang="ko-KR" altLang="en-US" sz="900" b="1" dirty="0">
                <a:solidFill>
                  <a:schemeClr val="bg1"/>
                </a:solidFill>
              </a:rPr>
              <a:t>또는</a:t>
            </a:r>
            <a:endParaRPr lang="en-US" sz="900" b="1" dirty="0">
              <a:solidFill>
                <a:schemeClr val="bg1"/>
              </a:solidFill>
            </a:endParaRPr>
          </a:p>
          <a:p>
            <a:r>
              <a:rPr lang="en-US" sz="900" b="1" dirty="0">
                <a:solidFill>
                  <a:schemeClr val="bg1"/>
                </a:solidFill>
              </a:rPr>
              <a:t>SELECT * FROM </a:t>
            </a:r>
            <a:r>
              <a:rPr lang="en-US" sz="900" b="1" cap="all" dirty="0" err="1">
                <a:solidFill>
                  <a:schemeClr val="bg1"/>
                </a:solidFill>
              </a:rPr>
              <a:t>v_monitor.projection_refreshes</a:t>
            </a:r>
            <a:r>
              <a:rPr lang="en-US" sz="900" b="1" cap="all" dirty="0">
                <a:solidFill>
                  <a:schemeClr val="bg1"/>
                </a:solidFill>
              </a:rPr>
              <a:t> </a:t>
            </a:r>
          </a:p>
          <a:p>
            <a:r>
              <a:rPr lang="en-US" sz="900" b="1" cap="all" dirty="0">
                <a:solidFill>
                  <a:schemeClr val="bg1"/>
                </a:solidFill>
              </a:rPr>
              <a:t> WHERE PROJECTION_SCHEMA = ‘&lt;</a:t>
            </a:r>
            <a:r>
              <a:rPr lang="ko-KR" altLang="en-US" sz="900" b="1" cap="all" dirty="0">
                <a:solidFill>
                  <a:schemeClr val="bg1"/>
                </a:solidFill>
              </a:rPr>
              <a:t>스키마</a:t>
            </a:r>
            <a:r>
              <a:rPr lang="en-US" altLang="ko-KR" sz="900" b="1" cap="all" dirty="0">
                <a:solidFill>
                  <a:schemeClr val="bg1"/>
                </a:solidFill>
              </a:rPr>
              <a:t>&gt;’ </a:t>
            </a:r>
          </a:p>
          <a:p>
            <a:r>
              <a:rPr lang="en-US" sz="900" b="1" cap="all" dirty="0">
                <a:solidFill>
                  <a:schemeClr val="bg1"/>
                </a:solidFill>
              </a:rPr>
              <a:t>     AND PROJECTION_NAME = ‘&lt;</a:t>
            </a:r>
            <a:r>
              <a:rPr lang="ko-KR" altLang="en-US" sz="900" b="1" cap="all" dirty="0">
                <a:solidFill>
                  <a:schemeClr val="bg1"/>
                </a:solidFill>
              </a:rPr>
              <a:t>프로젝션</a:t>
            </a:r>
            <a:r>
              <a:rPr lang="en-US" altLang="ko-KR" sz="900" b="1" cap="all" dirty="0">
                <a:solidFill>
                  <a:schemeClr val="bg1"/>
                </a:solidFill>
              </a:rPr>
              <a:t>&gt;’</a:t>
            </a:r>
          </a:p>
          <a:p>
            <a:r>
              <a:rPr lang="en-US" sz="900" b="1" cap="all" dirty="0">
                <a:solidFill>
                  <a:schemeClr val="bg1"/>
                </a:solidFill>
              </a:rPr>
              <a:t>     AND ANCHOR_TABLE_NAME = ‘&lt;</a:t>
            </a:r>
            <a:r>
              <a:rPr lang="ko-KR" altLang="en-US" sz="900" b="1" cap="all" dirty="0">
                <a:solidFill>
                  <a:schemeClr val="bg1"/>
                </a:solidFill>
              </a:rPr>
              <a:t>테이블</a:t>
            </a:r>
            <a:r>
              <a:rPr lang="en-US" altLang="ko-KR" sz="900" b="1" cap="all" dirty="0">
                <a:solidFill>
                  <a:schemeClr val="bg1"/>
                </a:solidFill>
              </a:rPr>
              <a:t>&gt;’</a:t>
            </a:r>
            <a:endParaRPr lang="en-US" sz="900" b="1" cap="all" dirty="0">
              <a:solidFill>
                <a:schemeClr val="bg1"/>
              </a:solidFill>
            </a:endParaRPr>
          </a:p>
        </p:txBody>
      </p:sp>
      <p:sp>
        <p:nvSpPr>
          <p:cNvPr id="17" name="Rectangle 15"/>
          <p:cNvSpPr/>
          <p:nvPr/>
        </p:nvSpPr>
        <p:spPr bwMode="auto">
          <a:xfrm>
            <a:off x="6653968" y="5552938"/>
            <a:ext cx="4536504" cy="4183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SELECT MAKE_AHM_NOW();</a:t>
            </a:r>
          </a:p>
          <a:p>
            <a:r>
              <a:rPr lang="en-US" sz="900" b="1" dirty="0">
                <a:solidFill>
                  <a:schemeClr val="bg1"/>
                </a:solidFill>
              </a:rPr>
              <a:t>DROP PROJECTION &lt;</a:t>
            </a:r>
            <a:r>
              <a:rPr lang="ko-KR" altLang="en-US" sz="900" b="1" dirty="0">
                <a:solidFill>
                  <a:schemeClr val="bg1"/>
                </a:solidFill>
              </a:rPr>
              <a:t>프로젝션</a:t>
            </a:r>
            <a:r>
              <a:rPr lang="en-US" altLang="ko-KR" sz="900" b="1" dirty="0">
                <a:solidFill>
                  <a:schemeClr val="bg1"/>
                </a:solidFill>
              </a:rPr>
              <a:t>&gt; ; 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18" name="Rounded Rectangle 16"/>
          <p:cNvSpPr/>
          <p:nvPr/>
        </p:nvSpPr>
        <p:spPr>
          <a:xfrm>
            <a:off x="9120337" y="3356768"/>
            <a:ext cx="2654068" cy="251801"/>
          </a:xfrm>
          <a:prstGeom prst="roundRect">
            <a:avLst/>
          </a:prstGeom>
          <a:solidFill>
            <a:schemeClr val="tx2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90000"/>
              </a:lnSpc>
            </a:pPr>
            <a:r>
              <a:rPr lang="en-US" altLang="ko-KR" sz="900" dirty="0"/>
              <a:t>REFRESH / START_REFRESH / CANCEL_REFRESH</a:t>
            </a:r>
          </a:p>
        </p:txBody>
      </p:sp>
      <p:pic>
        <p:nvPicPr>
          <p:cNvPr id="19" name="Picture 17" descr="C:\Users\hongjon\Documents\Proposal\ICON\Common_Icons\Common_Icons\Magnifying_glass\Magnifying_glass_RGB\Magnifying_glass_RGB_blue_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5908" y="3381326"/>
            <a:ext cx="222460" cy="215570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20" name="Rounded Rectangle 18"/>
          <p:cNvSpPr/>
          <p:nvPr/>
        </p:nvSpPr>
        <p:spPr>
          <a:xfrm>
            <a:off x="8832304" y="4831272"/>
            <a:ext cx="2942102" cy="270625"/>
          </a:xfrm>
          <a:prstGeom prst="roundRect">
            <a:avLst/>
          </a:prstGeom>
          <a:solidFill>
            <a:schemeClr val="tx2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90000"/>
              </a:lnSpc>
            </a:pPr>
            <a:r>
              <a:rPr lang="en-US" altLang="ko-KR" sz="900" cap="all" dirty="0" err="1">
                <a:solidFill>
                  <a:schemeClr val="bg1"/>
                </a:solidFill>
              </a:rPr>
              <a:t>get_projection_status</a:t>
            </a:r>
            <a:r>
              <a:rPr lang="en-US" altLang="ko-KR" sz="900" dirty="0">
                <a:solidFill>
                  <a:schemeClr val="bg1"/>
                </a:solidFill>
              </a:rPr>
              <a:t> /</a:t>
            </a:r>
            <a:r>
              <a:rPr lang="en-US" altLang="ko-KR" sz="900" dirty="0"/>
              <a:t>PROJECTION_REFRESHES</a:t>
            </a:r>
          </a:p>
        </p:txBody>
      </p:sp>
      <p:pic>
        <p:nvPicPr>
          <p:cNvPr id="21" name="Picture 19" descr="C:\Users\hongjon\Documents\Proposal\ICON\Common_Icons\Common_Icons\Magnifying_glass\Magnifying_glass_RGB\Magnifying_glass_RGB_blue_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7876" y="4858799"/>
            <a:ext cx="222460" cy="215570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22" name="Rounded Rectangle 20"/>
          <p:cNvSpPr/>
          <p:nvPr/>
        </p:nvSpPr>
        <p:spPr>
          <a:xfrm>
            <a:off x="10340635" y="6036786"/>
            <a:ext cx="1433770" cy="251162"/>
          </a:xfrm>
          <a:prstGeom prst="roundRect">
            <a:avLst/>
          </a:prstGeom>
          <a:solidFill>
            <a:schemeClr val="tx2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90000"/>
              </a:lnSpc>
            </a:pPr>
            <a:r>
              <a:rPr lang="en-US" altLang="ko-KR" sz="900" dirty="0"/>
              <a:t>MAKE_AHM_NOW</a:t>
            </a:r>
          </a:p>
        </p:txBody>
      </p:sp>
      <p:pic>
        <p:nvPicPr>
          <p:cNvPr id="23" name="Picture 21" descr="C:\Users\hongjon\Documents\Proposal\ICON\Common_Icons\Common_Icons\Magnifying_glass\Magnifying_glass_RGB\Magnifying_glass_RGB_blue_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8215" y="6073016"/>
            <a:ext cx="222460" cy="215570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24" name="Rounded Rectangle 22"/>
          <p:cNvSpPr/>
          <p:nvPr/>
        </p:nvSpPr>
        <p:spPr>
          <a:xfrm>
            <a:off x="4367808" y="6236831"/>
            <a:ext cx="1472532" cy="251800"/>
          </a:xfrm>
          <a:prstGeom prst="roundRect">
            <a:avLst/>
          </a:prstGeom>
          <a:solidFill>
            <a:schemeClr val="tx2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90000"/>
              </a:lnSpc>
            </a:pPr>
            <a:r>
              <a:rPr lang="en-US" altLang="ko-KR" sz="900" dirty="0"/>
              <a:t>CREATE PROJECTION</a:t>
            </a:r>
          </a:p>
        </p:txBody>
      </p:sp>
      <p:pic>
        <p:nvPicPr>
          <p:cNvPr id="25" name="Picture 23" descr="C:\Users\hongjon\Documents\Proposal\ICON\Common_Icons\Common_Icons\Magnifying_glass\Magnifying_glass_RGB\Magnifying_glass_RGB_blue_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3380" y="6273061"/>
            <a:ext cx="222460" cy="215570"/>
          </a:xfrm>
          <a:prstGeom prst="rect">
            <a:avLst/>
          </a:prstGeom>
          <a:solidFill>
            <a:schemeClr val="tx2"/>
          </a:solidFill>
        </p:spPr>
      </p:pic>
    </p:spTree>
    <p:extLst>
      <p:ext uri="{BB962C8B-B14F-4D97-AF65-F5344CB8AC3E}">
        <p14:creationId xmlns:p14="http://schemas.microsoft.com/office/powerpoint/2010/main" val="4744084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쿼리 성능 최적화의 </a:t>
            </a:r>
            <a:r>
              <a:rPr lang="ko-KR" altLang="en-US" sz="2800" dirty="0" err="1"/>
              <a:t>첫번째</a:t>
            </a:r>
            <a:r>
              <a:rPr lang="ko-KR" altLang="en-US" sz="2800" dirty="0"/>
              <a:t> 단계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쿼리 성능 최적화</a:t>
            </a:r>
            <a:endParaRPr lang="ko-KR" altLang="en-US" dirty="0"/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Database Designer </a:t>
            </a:r>
            <a:r>
              <a:rPr lang="ko-KR" altLang="en-US" sz="1100" b="1" dirty="0"/>
              <a:t>수행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최초로 </a:t>
            </a:r>
            <a:r>
              <a:rPr lang="en-US" altLang="ko-KR" sz="1100" dirty="0"/>
              <a:t>database designer</a:t>
            </a:r>
            <a:r>
              <a:rPr lang="ko-KR" altLang="en-US" sz="1100" dirty="0"/>
              <a:t>를 수행할 때는 </a:t>
            </a:r>
            <a:r>
              <a:rPr lang="en-US" altLang="ko-KR" sz="1100" dirty="0"/>
              <a:t>comprehensive mode</a:t>
            </a:r>
            <a:r>
              <a:rPr lang="ko-KR" altLang="en-US" sz="1100" dirty="0"/>
              <a:t>를 선택하여 전체 물리 디자인을 최적화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Database designer</a:t>
            </a:r>
            <a:r>
              <a:rPr lang="ko-KR" altLang="en-US" sz="1100" dirty="0"/>
              <a:t>의 통계정보갱신을 수행하도록 옵션 지정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통계정보 갱신이 오래되었다면 </a:t>
            </a:r>
            <a:r>
              <a:rPr lang="en-US" altLang="ko-KR" sz="1100" dirty="0"/>
              <a:t>ANALYZE_STATISTICS</a:t>
            </a:r>
            <a:r>
              <a:rPr lang="ko-KR" altLang="en-US" sz="1100" dirty="0"/>
              <a:t>을 먼저 수행한다</a:t>
            </a:r>
            <a:r>
              <a:rPr lang="en-US" altLang="ko-KR" sz="1100" dirty="0"/>
              <a:t>.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실행 방법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 err="1"/>
              <a:t>Admintools</a:t>
            </a:r>
            <a:r>
              <a:rPr lang="ko-KR" altLang="en-US" sz="1100" dirty="0"/>
              <a:t>의 </a:t>
            </a:r>
            <a:r>
              <a:rPr lang="en-US" altLang="ko-KR" sz="1100" dirty="0"/>
              <a:t>DBD </a:t>
            </a:r>
            <a:r>
              <a:rPr lang="ko-KR" altLang="en-US" sz="1100" dirty="0"/>
              <a:t>메뉴</a:t>
            </a:r>
            <a:endParaRPr lang="en-US" altLang="ko-KR" sz="1100" dirty="0"/>
          </a:p>
          <a:p>
            <a:pPr marL="571500" lvl="3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dirty="0"/>
              <a:t>스키마 단위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Designer function</a:t>
            </a:r>
            <a:r>
              <a:rPr lang="ko-KR" altLang="en-US" sz="1100" dirty="0"/>
              <a:t>을 호출하는 방법</a:t>
            </a:r>
            <a:endParaRPr lang="en-US" altLang="ko-KR" sz="1100" dirty="0"/>
          </a:p>
          <a:p>
            <a:pPr marL="571500" lvl="3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dirty="0"/>
              <a:t>테이블 단위</a:t>
            </a:r>
            <a:endParaRPr lang="en-US" altLang="ko-KR" sz="1100" dirty="0"/>
          </a:p>
          <a:p>
            <a:pPr marL="228600" lvl="1" indent="0">
              <a:lnSpc>
                <a:spcPct val="100000"/>
              </a:lnSpc>
              <a:spcAft>
                <a:spcPts val="0"/>
              </a:spcAft>
              <a:buNone/>
            </a:pPr>
            <a:endParaRPr lang="ko-KR" altLang="en-US" sz="1100" dirty="0"/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>
                <a:solidFill>
                  <a:prstClr val="black"/>
                </a:solidFill>
              </a:rPr>
              <a:t>Query Event</a:t>
            </a:r>
            <a:r>
              <a:rPr lang="ko-KR" altLang="en-US" sz="1100" b="1" dirty="0">
                <a:solidFill>
                  <a:prstClr val="black"/>
                </a:solidFill>
              </a:rPr>
              <a:t>를 사전에 검사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QUERY_EVENTS</a:t>
            </a:r>
            <a:r>
              <a:rPr lang="ko-KR" altLang="en-US" sz="1100" dirty="0"/>
              <a:t>시스템 테이블의 </a:t>
            </a:r>
            <a:r>
              <a:rPr lang="en-US" altLang="ko-KR" sz="1100" dirty="0"/>
              <a:t>EVENT_TYPE</a:t>
            </a:r>
            <a:r>
              <a:rPr lang="ko-KR" altLang="en-US" sz="1100" dirty="0"/>
              <a:t>을 조사하여 쿼리 성능에 영향을 미칠 요소를 파악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PREDICATE OUTSIDE HISTOGRAM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NO HISTOGRAM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MEMORY LIMIT HIT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GROUP_BY_SPILLED 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JOIN_SPILLED 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RESEGMENTED_MANY_ROWS </a:t>
            </a:r>
            <a:r>
              <a:rPr lang="ko-KR" altLang="en-US" sz="1100" dirty="0"/>
              <a:t>등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0">
              <a:lnSpc>
                <a:spcPct val="100000"/>
              </a:lnSpc>
              <a:spcAft>
                <a:spcPts val="0"/>
              </a:spcAft>
            </a:pPr>
            <a:endParaRPr lang="en-US" altLang="ko-KR" sz="1100" dirty="0">
              <a:solidFill>
                <a:prstClr val="black"/>
              </a:solidFill>
            </a:endParaRPr>
          </a:p>
          <a:p>
            <a:pPr lvl="0">
              <a:lnSpc>
                <a:spcPct val="100000"/>
              </a:lnSpc>
              <a:spcAft>
                <a:spcPts val="0"/>
              </a:spcAft>
            </a:pPr>
            <a:endParaRPr lang="en-US" altLang="ko-KR" sz="1100" dirty="0">
              <a:solidFill>
                <a:prstClr val="black"/>
              </a:solidFill>
            </a:endParaRPr>
          </a:p>
          <a:p>
            <a:pPr lvl="0">
              <a:lnSpc>
                <a:spcPct val="100000"/>
              </a:lnSpc>
              <a:spcAft>
                <a:spcPts val="0"/>
              </a:spcAft>
            </a:pPr>
            <a:endParaRPr lang="en-US" altLang="ko-KR" sz="1100" dirty="0">
              <a:solidFill>
                <a:prstClr val="black"/>
              </a:solidFill>
            </a:endParaRPr>
          </a:p>
          <a:p>
            <a:pPr marL="0" lv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>
                <a:solidFill>
                  <a:prstClr val="black"/>
                </a:solidFill>
              </a:rPr>
              <a:t>Query Plan </a:t>
            </a:r>
            <a:r>
              <a:rPr lang="ko-KR" altLang="en-US" sz="1100" b="1" dirty="0">
                <a:solidFill>
                  <a:prstClr val="black"/>
                </a:solidFill>
              </a:rPr>
              <a:t>검사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>
                <a:solidFill>
                  <a:prstClr val="black"/>
                </a:solidFill>
              </a:rPr>
              <a:t>EXPLAIN </a:t>
            </a:r>
            <a:r>
              <a:rPr lang="ko-KR" altLang="en-US" sz="1100" dirty="0">
                <a:solidFill>
                  <a:prstClr val="black"/>
                </a:solidFill>
              </a:rPr>
              <a:t>명령어를 통해 최적화 경로 확인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>
                <a:solidFill>
                  <a:prstClr val="black"/>
                </a:solidFill>
              </a:rPr>
              <a:t>QUERY_PLAN_PROFILES </a:t>
            </a:r>
            <a:r>
              <a:rPr lang="ko-KR" altLang="en-US" sz="1100" dirty="0">
                <a:solidFill>
                  <a:prstClr val="black"/>
                </a:solidFill>
              </a:rPr>
              <a:t>시스템 테이블을 조회하여 현재 수행 중인 쿼리의 실행 상태</a:t>
            </a:r>
            <a:r>
              <a:rPr lang="en-US" altLang="ko-KR" sz="1100" dirty="0">
                <a:solidFill>
                  <a:prstClr val="black"/>
                </a:solidFill>
              </a:rPr>
              <a:t>, </a:t>
            </a:r>
            <a:r>
              <a:rPr lang="ko-KR" altLang="en-US" sz="1100" dirty="0">
                <a:solidFill>
                  <a:prstClr val="black"/>
                </a:solidFill>
              </a:rPr>
              <a:t>리소스 사용에 대해 분석</a:t>
            </a:r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11"/>
          <p:cNvSpPr/>
          <p:nvPr/>
        </p:nvSpPr>
        <p:spPr bwMode="auto">
          <a:xfrm>
            <a:off x="998353" y="2420888"/>
            <a:ext cx="4536504" cy="64807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SELECT ANALYZE_STATISTICS ('') </a:t>
            </a:r>
          </a:p>
          <a:p>
            <a:r>
              <a:rPr lang="en-US" altLang="ko-KR" sz="900" b="1" dirty="0">
                <a:solidFill>
                  <a:schemeClr val="bg1"/>
                </a:solidFill>
              </a:rPr>
              <a:t>SELECT ANALYZE_STATISTICS</a:t>
            </a:r>
            <a:r>
              <a:rPr lang="en-US" sz="900" b="1" dirty="0">
                <a:solidFill>
                  <a:schemeClr val="bg1"/>
                </a:solidFill>
              </a:rPr>
              <a:t> ( '[schema.]table [.column-name ]' </a:t>
            </a:r>
            <a:r>
              <a:rPr lang="en-US" altLang="ko-KR" sz="900" b="1" dirty="0">
                <a:solidFill>
                  <a:schemeClr val="bg1"/>
                </a:solidFill>
              </a:rPr>
              <a:t>[,percent] </a:t>
            </a:r>
            <a:r>
              <a:rPr lang="en-US" sz="900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0" name="Rectangular Callout 13"/>
          <p:cNvSpPr/>
          <p:nvPr/>
        </p:nvSpPr>
        <p:spPr>
          <a:xfrm>
            <a:off x="3070076" y="2446857"/>
            <a:ext cx="864096" cy="252028"/>
          </a:xfrm>
          <a:prstGeom prst="wedgeRectCallout">
            <a:avLst>
              <a:gd name="adj1" fmla="val -71360"/>
              <a:gd name="adj2" fmla="val 43888"/>
            </a:avLst>
          </a:prstGeom>
          <a:solidFill>
            <a:schemeClr val="bg1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ko-KR" altLang="en-US" sz="900" i="1" dirty="0">
                <a:solidFill>
                  <a:prstClr val="black"/>
                </a:solidFill>
              </a:rPr>
              <a:t>전체 테이블</a:t>
            </a:r>
            <a:endParaRPr lang="en-US" altLang="ko-KR" sz="900" i="1" dirty="0">
              <a:solidFill>
                <a:prstClr val="black"/>
              </a:solidFill>
            </a:endParaRPr>
          </a:p>
        </p:txBody>
      </p:sp>
      <p:sp>
        <p:nvSpPr>
          <p:cNvPr id="12" name="Rectangular Callout 15"/>
          <p:cNvSpPr/>
          <p:nvPr/>
        </p:nvSpPr>
        <p:spPr>
          <a:xfrm>
            <a:off x="4078188" y="2449488"/>
            <a:ext cx="877410" cy="259432"/>
          </a:xfrm>
          <a:prstGeom prst="wedgeRectCallout">
            <a:avLst>
              <a:gd name="adj1" fmla="val -55799"/>
              <a:gd name="adj2" fmla="val 66149"/>
            </a:avLst>
          </a:prstGeom>
          <a:solidFill>
            <a:schemeClr val="bg1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ko-KR" altLang="en-US" sz="900" i="1" dirty="0">
                <a:solidFill>
                  <a:prstClr val="black"/>
                </a:solidFill>
              </a:rPr>
              <a:t>샘플링 </a:t>
            </a:r>
            <a:r>
              <a:rPr lang="en-US" altLang="ko-KR" sz="900" i="1" dirty="0">
                <a:solidFill>
                  <a:prstClr val="black"/>
                </a:solidFill>
              </a:rPr>
              <a:t> </a:t>
            </a:r>
            <a:r>
              <a:rPr lang="ko-KR" altLang="en-US" sz="900" i="1" dirty="0">
                <a:solidFill>
                  <a:prstClr val="black"/>
                </a:solidFill>
              </a:rPr>
              <a:t>지정</a:t>
            </a:r>
            <a:endParaRPr lang="en-US" altLang="ko-KR" sz="900" i="1" dirty="0">
              <a:solidFill>
                <a:prstClr val="black"/>
              </a:solidFill>
            </a:endParaRPr>
          </a:p>
        </p:txBody>
      </p:sp>
      <p:sp>
        <p:nvSpPr>
          <p:cNvPr id="15" name="Rounded Rectangle 20"/>
          <p:cNvSpPr/>
          <p:nvPr/>
        </p:nvSpPr>
        <p:spPr>
          <a:xfrm>
            <a:off x="10457475" y="1717562"/>
            <a:ext cx="1433770" cy="251162"/>
          </a:xfrm>
          <a:prstGeom prst="roundRect">
            <a:avLst/>
          </a:prstGeom>
          <a:solidFill>
            <a:schemeClr val="tx2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90000"/>
              </a:lnSpc>
            </a:pPr>
            <a:r>
              <a:rPr lang="en-US" altLang="ko-KR" sz="900" dirty="0"/>
              <a:t>QUERY_EVENTS</a:t>
            </a:r>
          </a:p>
        </p:txBody>
      </p:sp>
      <p:pic>
        <p:nvPicPr>
          <p:cNvPr id="16" name="Picture 21" descr="C:\Users\hongjon\Documents\Proposal\ICON\Common_Icons\Common_Icons\Magnifying_glass\Magnifying_glass_RGB\Magnifying_glass_RGB_blue_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5055" y="1753792"/>
            <a:ext cx="222460" cy="215570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17" name="Rounded Rectangle 22"/>
          <p:cNvSpPr/>
          <p:nvPr/>
        </p:nvSpPr>
        <p:spPr>
          <a:xfrm>
            <a:off x="6454775" y="2898354"/>
            <a:ext cx="5124609" cy="845825"/>
          </a:xfrm>
          <a:prstGeom prst="roundRect">
            <a:avLst>
              <a:gd name="adj" fmla="val 8154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SELECT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event_timestamp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,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session_id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,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transaction_id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,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  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event_type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,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event_description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,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event_details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,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suggested_action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FROM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query_events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WHERE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event_category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= ‘OPTIMIZATION’ ;</a:t>
            </a:r>
          </a:p>
        </p:txBody>
      </p:sp>
      <p:sp>
        <p:nvSpPr>
          <p:cNvPr id="18" name="Rectangle 23"/>
          <p:cNvSpPr/>
          <p:nvPr/>
        </p:nvSpPr>
        <p:spPr bwMode="auto">
          <a:xfrm>
            <a:off x="6653968" y="4822302"/>
            <a:ext cx="4536504" cy="52483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EXPLAIN { SELECT... | INSERT... | UPDATE... }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E787C430-8467-4FE6-B968-22B86FA0BD5C}"/>
              </a:ext>
            </a:extLst>
          </p:cNvPr>
          <p:cNvGrpSpPr/>
          <p:nvPr/>
        </p:nvGrpSpPr>
        <p:grpSpPr>
          <a:xfrm>
            <a:off x="4722730" y="3538072"/>
            <a:ext cx="974975" cy="322976"/>
            <a:chOff x="4722730" y="4042128"/>
            <a:chExt cx="974975" cy="322976"/>
          </a:xfrm>
        </p:grpSpPr>
        <p:sp>
          <p:nvSpPr>
            <p:cNvPr id="14" name="TextBox 13"/>
            <p:cNvSpPr txBox="1"/>
            <p:nvPr/>
          </p:nvSpPr>
          <p:spPr>
            <a:xfrm>
              <a:off x="4981162" y="4115225"/>
              <a:ext cx="716543" cy="12465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ko-KR" sz="900" dirty="0">
                  <a:solidFill>
                    <a:schemeClr val="tx2"/>
                  </a:solidFill>
                </a:rPr>
                <a:t>DBD </a:t>
              </a:r>
              <a:r>
                <a:rPr lang="ko-KR" altLang="en-US" sz="900" dirty="0">
                  <a:solidFill>
                    <a:schemeClr val="tx2"/>
                  </a:solidFill>
                </a:rPr>
                <a:t>실행 참조</a:t>
              </a:r>
            </a:p>
          </p:txBody>
        </p:sp>
        <p:pic>
          <p:nvPicPr>
            <p:cNvPr id="19" name="Picture 13" descr="C:\Users\hongjon\Documents\Proposal\ICON\Business_Icons\Business_Icons\Innovation\Innovation_RGB\Innovation_RGB_blue_NT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2730" y="4042128"/>
              <a:ext cx="196427" cy="3229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931690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DBD (Database Designer) </a:t>
            </a:r>
            <a:r>
              <a:rPr lang="ko-KR" altLang="en-US" sz="2800" dirty="0"/>
              <a:t>실행 </a:t>
            </a:r>
            <a:r>
              <a:rPr lang="en-US" altLang="ko-KR" sz="2800" dirty="0"/>
              <a:t>- </a:t>
            </a:r>
            <a:r>
              <a:rPr lang="en-US" altLang="ko-KR" sz="2800" dirty="0" err="1"/>
              <a:t>admintools</a:t>
            </a:r>
            <a:endParaRPr lang="ko-KR" altLang="en-US" sz="28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쿼리 성능 최적화</a:t>
            </a:r>
            <a:endParaRPr lang="ko-KR" altLang="en-US" dirty="0"/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 err="1"/>
              <a:t>admintools</a:t>
            </a:r>
            <a:endParaRPr lang="en-US" altLang="ko-KR" sz="1100" b="1" dirty="0"/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ko-KR" altLang="en-US" sz="1100" dirty="0"/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718" y="1701745"/>
            <a:ext cx="2313836" cy="1476000"/>
          </a:xfrm>
          <a:prstGeom prst="rect">
            <a:avLst/>
          </a:prstGeom>
        </p:spPr>
      </p:pic>
      <p:pic>
        <p:nvPicPr>
          <p:cNvPr id="9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738" y="3351475"/>
            <a:ext cx="2313836" cy="1476000"/>
          </a:xfrm>
          <a:prstGeom prst="rect">
            <a:avLst/>
          </a:prstGeom>
        </p:spPr>
      </p:pic>
      <p:pic>
        <p:nvPicPr>
          <p:cNvPr id="10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738" y="5006455"/>
            <a:ext cx="2313836" cy="1476000"/>
          </a:xfrm>
          <a:prstGeom prst="rect">
            <a:avLst/>
          </a:prstGeom>
        </p:spPr>
      </p:pic>
      <p:pic>
        <p:nvPicPr>
          <p:cNvPr id="11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8841" y="1709504"/>
            <a:ext cx="2313836" cy="1476000"/>
          </a:xfrm>
          <a:prstGeom prst="rect">
            <a:avLst/>
          </a:prstGeom>
        </p:spPr>
      </p:pic>
      <p:pic>
        <p:nvPicPr>
          <p:cNvPr id="12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7090" y="3351475"/>
            <a:ext cx="2313836" cy="1476000"/>
          </a:xfrm>
          <a:prstGeom prst="rect">
            <a:avLst/>
          </a:prstGeom>
        </p:spPr>
      </p:pic>
      <p:pic>
        <p:nvPicPr>
          <p:cNvPr id="13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7090" y="5006455"/>
            <a:ext cx="2313836" cy="1476000"/>
          </a:xfrm>
          <a:prstGeom prst="rect">
            <a:avLst/>
          </a:prstGeom>
        </p:spPr>
      </p:pic>
      <p:pic>
        <p:nvPicPr>
          <p:cNvPr id="14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5963" y="1701745"/>
            <a:ext cx="2313836" cy="1476000"/>
          </a:xfrm>
          <a:prstGeom prst="rect">
            <a:avLst/>
          </a:prstGeom>
        </p:spPr>
      </p:pic>
      <p:pic>
        <p:nvPicPr>
          <p:cNvPr id="15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0442" y="3351475"/>
            <a:ext cx="2313836" cy="1476000"/>
          </a:xfrm>
          <a:prstGeom prst="rect">
            <a:avLst/>
          </a:prstGeom>
        </p:spPr>
      </p:pic>
      <p:pic>
        <p:nvPicPr>
          <p:cNvPr id="16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0394" y="5004316"/>
            <a:ext cx="2313836" cy="1476000"/>
          </a:xfrm>
          <a:prstGeom prst="rect">
            <a:avLst/>
          </a:prstGeom>
        </p:spPr>
      </p:pic>
      <p:pic>
        <p:nvPicPr>
          <p:cNvPr id="17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61086" y="1713700"/>
            <a:ext cx="2313836" cy="1476000"/>
          </a:xfrm>
          <a:prstGeom prst="rect">
            <a:avLst/>
          </a:prstGeom>
        </p:spPr>
      </p:pic>
      <p:pic>
        <p:nvPicPr>
          <p:cNvPr id="18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61086" y="3351115"/>
            <a:ext cx="2313836" cy="1476000"/>
          </a:xfrm>
          <a:prstGeom prst="rect">
            <a:avLst/>
          </a:prstGeom>
        </p:spPr>
      </p:pic>
      <p:pic>
        <p:nvPicPr>
          <p:cNvPr id="19" name="Picture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58162" y="4988530"/>
            <a:ext cx="2313836" cy="1476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3738" y="1563246"/>
            <a:ext cx="1202252" cy="1523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100" dirty="0"/>
              <a:t>1.Configuration </a:t>
            </a:r>
            <a:r>
              <a:rPr lang="ko-KR" altLang="en-US" sz="1100" dirty="0"/>
              <a:t>메뉴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738" y="3212976"/>
            <a:ext cx="1721625" cy="1523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100" dirty="0"/>
              <a:t>2.Run database designer </a:t>
            </a:r>
            <a:r>
              <a:rPr lang="ko-KR" altLang="en-US" sz="1100" dirty="0"/>
              <a:t>메뉴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738" y="4860745"/>
            <a:ext cx="1267976" cy="1523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100" dirty="0"/>
              <a:t>3.</a:t>
            </a:r>
            <a:r>
              <a:rPr lang="ko-KR" altLang="en-US" sz="1100" dirty="0"/>
              <a:t>데이터베이스 선택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8841" y="1561714"/>
            <a:ext cx="1896353" cy="1523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100" dirty="0"/>
              <a:t>4.DBD </a:t>
            </a:r>
            <a:r>
              <a:rPr lang="ko-KR" altLang="en-US" sz="1100" dirty="0"/>
              <a:t>결과 파일 디렉토리 지정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48841" y="3206508"/>
            <a:ext cx="977832" cy="1523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100" dirty="0"/>
              <a:t>5.Design </a:t>
            </a:r>
            <a:r>
              <a:rPr lang="ko-KR" altLang="en-US" sz="1100" dirty="0"/>
              <a:t>명 지정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23975" y="4854947"/>
            <a:ext cx="1118896" cy="1523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100" dirty="0"/>
              <a:t>6.Design </a:t>
            </a:r>
            <a:r>
              <a:rPr lang="ko-KR" altLang="en-US" sz="1100" dirty="0"/>
              <a:t>형태 선택</a:t>
            </a:r>
          </a:p>
        </p:txBody>
      </p:sp>
      <p:sp>
        <p:nvSpPr>
          <p:cNvPr id="26" name="Rectangular Callout 24"/>
          <p:cNvSpPr/>
          <p:nvPr/>
        </p:nvSpPr>
        <p:spPr>
          <a:xfrm>
            <a:off x="3944712" y="5241578"/>
            <a:ext cx="1464730" cy="198542"/>
          </a:xfrm>
          <a:prstGeom prst="wedgeRectCallout">
            <a:avLst>
              <a:gd name="adj1" fmla="val -57993"/>
              <a:gd name="adj2" fmla="val 43888"/>
            </a:avLst>
          </a:prstGeom>
          <a:solidFill>
            <a:schemeClr val="bg1"/>
          </a:solidFill>
          <a:ln w="19050">
            <a:solidFill>
              <a:schemeClr val="accent6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ko-KR" altLang="en-US" sz="900" i="1" dirty="0">
                <a:solidFill>
                  <a:schemeClr val="tx1"/>
                </a:solidFill>
              </a:rPr>
              <a:t>전체 물리 디자인 변경</a:t>
            </a:r>
            <a:endParaRPr lang="en-US" altLang="ko-KR" sz="900" i="1" dirty="0">
              <a:solidFill>
                <a:schemeClr val="tx1"/>
              </a:solidFill>
            </a:endParaRPr>
          </a:p>
        </p:txBody>
      </p:sp>
      <p:sp>
        <p:nvSpPr>
          <p:cNvPr id="27" name="Rectangular Callout 25"/>
          <p:cNvSpPr/>
          <p:nvPr/>
        </p:nvSpPr>
        <p:spPr>
          <a:xfrm>
            <a:off x="3951751" y="5668721"/>
            <a:ext cx="1216499" cy="299614"/>
          </a:xfrm>
          <a:prstGeom prst="wedgeRectCallout">
            <a:avLst>
              <a:gd name="adj1" fmla="val -57993"/>
              <a:gd name="adj2" fmla="val -47264"/>
            </a:avLst>
          </a:prstGeom>
          <a:solidFill>
            <a:schemeClr val="bg1"/>
          </a:solidFill>
          <a:ln w="19050">
            <a:solidFill>
              <a:schemeClr val="accent6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ko-KR" altLang="en-US" sz="900" i="1" dirty="0">
                <a:solidFill>
                  <a:schemeClr val="tx1"/>
                </a:solidFill>
              </a:rPr>
              <a:t>기존 프로젝션을 유지하며 추가</a:t>
            </a:r>
            <a:endParaRPr lang="en-US" altLang="ko-KR" sz="900" i="1" dirty="0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005963" y="1561713"/>
            <a:ext cx="1158972" cy="1523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100" dirty="0"/>
              <a:t>7.</a:t>
            </a:r>
            <a:r>
              <a:rPr lang="ko-KR" altLang="en-US" sz="1100" dirty="0"/>
              <a:t>대상 스키마 선택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5963" y="3206508"/>
            <a:ext cx="1300036" cy="1523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100" dirty="0"/>
              <a:t>8.DBD </a:t>
            </a:r>
            <a:r>
              <a:rPr lang="ko-KR" altLang="en-US" sz="1100" dirty="0"/>
              <a:t>실행 옵션 선택</a:t>
            </a:r>
          </a:p>
        </p:txBody>
      </p:sp>
      <p:sp>
        <p:nvSpPr>
          <p:cNvPr id="30" name="Rectangular Callout 28"/>
          <p:cNvSpPr/>
          <p:nvPr/>
        </p:nvSpPr>
        <p:spPr>
          <a:xfrm>
            <a:off x="6656329" y="3573608"/>
            <a:ext cx="1734621" cy="198542"/>
          </a:xfrm>
          <a:prstGeom prst="wedgeRectCallout">
            <a:avLst>
              <a:gd name="adj1" fmla="val -54732"/>
              <a:gd name="adj2" fmla="val 47325"/>
            </a:avLst>
          </a:prstGeom>
          <a:solidFill>
            <a:schemeClr val="bg1"/>
          </a:solidFill>
          <a:ln w="19050">
            <a:solidFill>
              <a:schemeClr val="accent6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ko-KR" altLang="en-US" sz="900" i="1" dirty="0">
                <a:solidFill>
                  <a:schemeClr val="tx1"/>
                </a:solidFill>
              </a:rPr>
              <a:t>최적화할 쿼리문이 있다면</a:t>
            </a:r>
            <a:endParaRPr lang="en-US" altLang="ko-KR" sz="900" i="1" dirty="0">
              <a:solidFill>
                <a:schemeClr val="tx1"/>
              </a:solidFill>
            </a:endParaRPr>
          </a:p>
        </p:txBody>
      </p:sp>
      <p:sp>
        <p:nvSpPr>
          <p:cNvPr id="31" name="Rectangular Callout 31"/>
          <p:cNvSpPr/>
          <p:nvPr/>
        </p:nvSpPr>
        <p:spPr>
          <a:xfrm>
            <a:off x="6144704" y="4089475"/>
            <a:ext cx="1033988" cy="198542"/>
          </a:xfrm>
          <a:prstGeom prst="wedgeRectCallout">
            <a:avLst>
              <a:gd name="adj1" fmla="val -1454"/>
              <a:gd name="adj2" fmla="val -97029"/>
            </a:avLst>
          </a:prstGeom>
          <a:solidFill>
            <a:schemeClr val="bg1"/>
          </a:solidFill>
          <a:ln w="19050">
            <a:solidFill>
              <a:schemeClr val="accent6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ko-KR" altLang="en-US" sz="900" i="1" dirty="0">
                <a:solidFill>
                  <a:schemeClr val="tx1"/>
                </a:solidFill>
              </a:rPr>
              <a:t>통계정보 갱신</a:t>
            </a:r>
            <a:endParaRPr lang="en-US" altLang="ko-KR" sz="900" i="1" dirty="0">
              <a:solidFill>
                <a:schemeClr val="tx1"/>
              </a:solidFill>
            </a:endParaRPr>
          </a:p>
        </p:txBody>
      </p:sp>
      <p:sp>
        <p:nvSpPr>
          <p:cNvPr id="32" name="Rectangular Callout 32"/>
          <p:cNvSpPr/>
          <p:nvPr/>
        </p:nvSpPr>
        <p:spPr>
          <a:xfrm>
            <a:off x="7253082" y="4089475"/>
            <a:ext cx="1165445" cy="563662"/>
          </a:xfrm>
          <a:prstGeom prst="wedgeRectCallout">
            <a:avLst>
              <a:gd name="adj1" fmla="val -42585"/>
              <a:gd name="adj2" fmla="val -63911"/>
            </a:avLst>
          </a:prstGeom>
          <a:solidFill>
            <a:schemeClr val="bg1"/>
          </a:solidFill>
          <a:ln w="19050">
            <a:solidFill>
              <a:schemeClr val="accent6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en-US" altLang="ko-KR" sz="900" i="1" dirty="0">
                <a:solidFill>
                  <a:schemeClr val="tx1"/>
                </a:solidFill>
              </a:rPr>
              <a:t>DBD </a:t>
            </a:r>
            <a:r>
              <a:rPr lang="ko-KR" altLang="en-US" sz="900" i="1" dirty="0">
                <a:solidFill>
                  <a:schemeClr val="tx1"/>
                </a:solidFill>
              </a:rPr>
              <a:t>수행 후 바로 적용 </a:t>
            </a:r>
            <a:r>
              <a:rPr lang="en-US" altLang="ko-KR" sz="900" i="1" dirty="0">
                <a:solidFill>
                  <a:schemeClr val="tx1"/>
                </a:solidFill>
              </a:rPr>
              <a:t>(</a:t>
            </a:r>
            <a:r>
              <a:rPr lang="ko-KR" altLang="en-US" sz="900" i="1" dirty="0">
                <a:solidFill>
                  <a:schemeClr val="tx1"/>
                </a:solidFill>
              </a:rPr>
              <a:t>프로젝션 생성</a:t>
            </a:r>
            <a:r>
              <a:rPr lang="en-US" altLang="ko-KR" sz="900" i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94064" y="4864565"/>
            <a:ext cx="1473160" cy="1523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100" dirty="0"/>
              <a:t>9.</a:t>
            </a:r>
            <a:r>
              <a:rPr lang="ko-KR" altLang="en-US" sz="1100" dirty="0"/>
              <a:t>최적화 대상 쿼리 제공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1086" y="1558677"/>
            <a:ext cx="916918" cy="1523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100" dirty="0"/>
              <a:t>10.</a:t>
            </a:r>
            <a:r>
              <a:rPr lang="ko-KR" altLang="en-US" sz="1100" dirty="0"/>
              <a:t>최적화 방향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61086" y="3200868"/>
            <a:ext cx="1057982" cy="1523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100" dirty="0"/>
              <a:t>11.DBD </a:t>
            </a:r>
            <a:r>
              <a:rPr lang="ko-KR" altLang="en-US" sz="1100" dirty="0"/>
              <a:t>옵션 요약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58162" y="4850031"/>
            <a:ext cx="916918" cy="1523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100" dirty="0"/>
              <a:t>12.DBD </a:t>
            </a:r>
            <a:r>
              <a:rPr lang="ko-KR" altLang="en-US" sz="1100" dirty="0"/>
              <a:t>실행 중</a:t>
            </a:r>
          </a:p>
        </p:txBody>
      </p:sp>
      <p:sp>
        <p:nvSpPr>
          <p:cNvPr id="39" name="Rectangular Callout 37"/>
          <p:cNvSpPr/>
          <p:nvPr/>
        </p:nvSpPr>
        <p:spPr>
          <a:xfrm>
            <a:off x="9726170" y="1770234"/>
            <a:ext cx="1768841" cy="362622"/>
          </a:xfrm>
          <a:prstGeom prst="wedgeRectCallout">
            <a:avLst>
              <a:gd name="adj1" fmla="val -42471"/>
              <a:gd name="adj2" fmla="val 87922"/>
            </a:avLst>
          </a:prstGeom>
          <a:solidFill>
            <a:schemeClr val="bg1"/>
          </a:solidFill>
          <a:ln w="19050">
            <a:solidFill>
              <a:schemeClr val="accent6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ko-KR" altLang="en-US" sz="900" i="1" dirty="0">
                <a:solidFill>
                  <a:schemeClr val="tx1"/>
                </a:solidFill>
              </a:rPr>
              <a:t>쿼리 성능을 위해서 가급적 충분한 </a:t>
            </a:r>
            <a:r>
              <a:rPr lang="ko-KR" altLang="en-US" sz="900" i="1" dirty="0" err="1">
                <a:solidFill>
                  <a:schemeClr val="tx1"/>
                </a:solidFill>
              </a:rPr>
              <a:t>프로젝션</a:t>
            </a:r>
            <a:r>
              <a:rPr lang="ko-KR" altLang="en-US" sz="900" i="1" dirty="0">
                <a:solidFill>
                  <a:schemeClr val="tx1"/>
                </a:solidFill>
              </a:rPr>
              <a:t> 생성</a:t>
            </a:r>
            <a:endParaRPr lang="en-US" altLang="ko-KR" sz="900" i="1" dirty="0">
              <a:solidFill>
                <a:schemeClr val="tx1"/>
              </a:solidFill>
            </a:endParaRPr>
          </a:p>
        </p:txBody>
      </p:sp>
      <p:sp>
        <p:nvSpPr>
          <p:cNvPr id="40" name="Rectangular Callout 38"/>
          <p:cNvSpPr/>
          <p:nvPr/>
        </p:nvSpPr>
        <p:spPr>
          <a:xfrm>
            <a:off x="9726170" y="2455484"/>
            <a:ext cx="1768841" cy="362622"/>
          </a:xfrm>
          <a:prstGeom prst="wedgeRectCallout">
            <a:avLst>
              <a:gd name="adj1" fmla="val -39779"/>
              <a:gd name="adj2" fmla="val -67053"/>
            </a:avLst>
          </a:prstGeom>
          <a:solidFill>
            <a:schemeClr val="bg1"/>
          </a:solidFill>
          <a:ln w="19050">
            <a:solidFill>
              <a:schemeClr val="accent6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ko-KR" altLang="en-US" sz="900" i="1" dirty="0">
                <a:solidFill>
                  <a:schemeClr val="tx1"/>
                </a:solidFill>
              </a:rPr>
              <a:t>로드성능을 위해서 최대한 적은 수의 프로젝션 생성</a:t>
            </a:r>
            <a:endParaRPr lang="en-US" altLang="ko-KR" sz="900" i="1" dirty="0">
              <a:solidFill>
                <a:schemeClr val="tx1"/>
              </a:solidFill>
            </a:endParaRPr>
          </a:p>
        </p:txBody>
      </p:sp>
      <p:sp>
        <p:nvSpPr>
          <p:cNvPr id="41" name="Rectangular Callout 39"/>
          <p:cNvSpPr/>
          <p:nvPr/>
        </p:nvSpPr>
        <p:spPr>
          <a:xfrm>
            <a:off x="9691817" y="4303507"/>
            <a:ext cx="1768841" cy="362622"/>
          </a:xfrm>
          <a:prstGeom prst="wedgeRectCallout">
            <a:avLst>
              <a:gd name="adj1" fmla="val -39779"/>
              <a:gd name="adj2" fmla="val -67053"/>
            </a:avLst>
          </a:prstGeom>
          <a:solidFill>
            <a:schemeClr val="bg1"/>
          </a:solidFill>
          <a:ln w="19050">
            <a:solidFill>
              <a:schemeClr val="accent6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en-US" altLang="ko-KR" sz="900" i="1" dirty="0">
                <a:solidFill>
                  <a:schemeClr val="tx1"/>
                </a:solidFill>
              </a:rPr>
              <a:t>DBD </a:t>
            </a:r>
            <a:r>
              <a:rPr lang="ko-KR" altLang="en-US" sz="900" i="1" dirty="0">
                <a:solidFill>
                  <a:schemeClr val="tx1"/>
                </a:solidFill>
              </a:rPr>
              <a:t>수행 후 </a:t>
            </a:r>
            <a:r>
              <a:rPr lang="en-US" altLang="ko-KR" sz="900" i="1" dirty="0">
                <a:solidFill>
                  <a:schemeClr val="tx1"/>
                </a:solidFill>
              </a:rPr>
              <a:t>deploy </a:t>
            </a:r>
            <a:r>
              <a:rPr lang="ko-KR" altLang="en-US" sz="900" i="1" dirty="0">
                <a:solidFill>
                  <a:schemeClr val="tx1"/>
                </a:solidFill>
              </a:rPr>
              <a:t>파일을 보고 선별적으로 수행 가능</a:t>
            </a:r>
            <a:endParaRPr lang="en-US" altLang="ko-KR" sz="9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85097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DBD (Database Designer) </a:t>
            </a:r>
            <a:r>
              <a:rPr lang="ko-KR" altLang="en-US" sz="2800" dirty="0"/>
              <a:t>실행 </a:t>
            </a:r>
            <a:r>
              <a:rPr lang="en-US" altLang="ko-KR" sz="2800" dirty="0"/>
              <a:t>– designer function</a:t>
            </a:r>
            <a:endParaRPr lang="ko-KR" altLang="en-US" sz="28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쿼리 성능 최적화</a:t>
            </a:r>
            <a:endParaRPr lang="ko-KR" altLang="en-US" dirty="0"/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Database designer function</a:t>
            </a:r>
            <a:r>
              <a:rPr lang="ko-KR" altLang="en-US" sz="1100" b="1" dirty="0"/>
              <a:t>을 이용하는 방법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 err="1"/>
              <a:t>Admintools</a:t>
            </a:r>
            <a:r>
              <a:rPr lang="ko-KR" altLang="en-US" sz="1100" dirty="0"/>
              <a:t>와 달리 테이블단위로 대상을 선택할 수 있어 대규모의 테이블을 가진 데이터베이스에서 일부 테이블만 선별적으로 </a:t>
            </a:r>
            <a:r>
              <a:rPr lang="en-US" altLang="ko-KR" sz="1100" dirty="0"/>
              <a:t>DBD</a:t>
            </a:r>
            <a:r>
              <a:rPr lang="ko-KR" altLang="en-US" sz="1100" dirty="0"/>
              <a:t> 수행 가능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 err="1"/>
              <a:t>Admintools</a:t>
            </a:r>
            <a:r>
              <a:rPr lang="ko-KR" altLang="en-US" sz="1100" dirty="0"/>
              <a:t>의 </a:t>
            </a:r>
            <a:r>
              <a:rPr lang="en-US" altLang="ko-KR" sz="1100" dirty="0"/>
              <a:t>DBD </a:t>
            </a:r>
            <a:r>
              <a:rPr lang="ko-KR" altLang="en-US" sz="1100" dirty="0"/>
              <a:t>수행 메뉴와 동일한 </a:t>
            </a:r>
            <a:r>
              <a:rPr lang="en-US" altLang="ko-KR" sz="1100" dirty="0"/>
              <a:t>argument</a:t>
            </a:r>
            <a:r>
              <a:rPr lang="ko-KR" altLang="en-US" sz="1100" dirty="0"/>
              <a:t>를 입력한다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예시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Design</a:t>
            </a:r>
            <a:r>
              <a:rPr lang="ko-KR" altLang="en-US" sz="1100" dirty="0"/>
              <a:t>명 지정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대상 테이블 및 튜닝 대상 쿼리 등록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Design </a:t>
            </a:r>
            <a:r>
              <a:rPr lang="ko-KR" altLang="en-US" sz="1100" dirty="0"/>
              <a:t>형태 및 최적화 목표 설정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DBD </a:t>
            </a:r>
            <a:r>
              <a:rPr lang="ko-KR" altLang="en-US" sz="1100" dirty="0"/>
              <a:t>실행 및 적용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DBD </a:t>
            </a:r>
            <a:r>
              <a:rPr lang="ko-KR" altLang="en-US" sz="1100" dirty="0"/>
              <a:t>실행 완료 대기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571500" lvl="3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dirty="0"/>
              <a:t>DBD</a:t>
            </a:r>
            <a:r>
              <a:rPr lang="ko-KR" altLang="en-US" sz="1100" dirty="0"/>
              <a:t>를 실행시키면 백그라운드로 실행되므로 해당 </a:t>
            </a:r>
            <a:r>
              <a:rPr lang="en-US" altLang="ko-KR" sz="1100" dirty="0" err="1"/>
              <a:t>desig</a:t>
            </a:r>
            <a:r>
              <a:rPr lang="ko-KR" altLang="en-US" sz="1100" dirty="0"/>
              <a:t>의 </a:t>
            </a:r>
            <a:r>
              <a:rPr lang="en-US" altLang="ko-KR" sz="1100" dirty="0"/>
              <a:t>DBD</a:t>
            </a:r>
            <a:r>
              <a:rPr lang="ko-KR" altLang="en-US" sz="1100" dirty="0"/>
              <a:t>작업이 완료되는 것을 확인하려면 위 </a:t>
            </a:r>
            <a:r>
              <a:rPr lang="en-US" altLang="ko-KR" sz="1100" dirty="0"/>
              <a:t>function</a:t>
            </a:r>
            <a:r>
              <a:rPr lang="ko-KR" altLang="en-US" sz="1100" dirty="0"/>
              <a:t>을 발행시켜야 한다</a:t>
            </a:r>
            <a:r>
              <a:rPr lang="en-US" altLang="ko-KR" sz="1100" dirty="0"/>
              <a:t>.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DBD </a:t>
            </a:r>
            <a:r>
              <a:rPr lang="ko-KR" altLang="en-US" sz="1100" dirty="0"/>
              <a:t>작업 삭제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571500" lvl="3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dirty="0"/>
              <a:t>DBD </a:t>
            </a:r>
            <a:r>
              <a:rPr lang="ko-KR" altLang="en-US" sz="1100" dirty="0"/>
              <a:t>작업 중 생성된 테이블과 데이터를 모두 정리한다</a:t>
            </a:r>
            <a:r>
              <a:rPr lang="en-US" altLang="ko-KR" sz="1100" dirty="0"/>
              <a:t>. </a:t>
            </a:r>
            <a:r>
              <a:rPr lang="ko-KR" altLang="en-US" sz="1100" dirty="0"/>
              <a:t>만약 해당 </a:t>
            </a:r>
            <a:r>
              <a:rPr lang="en-US" altLang="ko-KR" sz="1100" dirty="0"/>
              <a:t>design</a:t>
            </a:r>
            <a:r>
              <a:rPr lang="ko-KR" altLang="en-US" sz="1100" dirty="0"/>
              <a:t>명으로 생성된 테이블이 남아있으면 같은 이름으로 </a:t>
            </a:r>
            <a:r>
              <a:rPr lang="en-US" altLang="ko-KR" sz="1100" dirty="0"/>
              <a:t>DESIGNER_CREATE_DESIGN</a:t>
            </a:r>
            <a:r>
              <a:rPr lang="ko-KR" altLang="en-US" sz="1100" dirty="0"/>
              <a:t>을 할 수 없다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4"/>
          <p:cNvSpPr/>
          <p:nvPr/>
        </p:nvSpPr>
        <p:spPr bwMode="auto">
          <a:xfrm>
            <a:off x="998353" y="2348880"/>
            <a:ext cx="4536504" cy="52483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SELECT DESIGNER_CREATE_DESIGN(‘&lt;design</a:t>
            </a:r>
            <a:r>
              <a:rPr lang="ko-KR" altLang="en-US" sz="900" b="1" dirty="0">
                <a:solidFill>
                  <a:schemeClr val="bg1"/>
                </a:solidFill>
              </a:rPr>
              <a:t>명</a:t>
            </a:r>
            <a:r>
              <a:rPr lang="en-US" altLang="ko-KR" sz="900" b="1" dirty="0">
                <a:solidFill>
                  <a:schemeClr val="bg1"/>
                </a:solidFill>
              </a:rPr>
              <a:t>&gt;</a:t>
            </a:r>
            <a:r>
              <a:rPr lang="en-US" sz="900" b="1" dirty="0">
                <a:solidFill>
                  <a:schemeClr val="bg1"/>
                </a:solidFill>
              </a:rPr>
              <a:t>') ;</a:t>
            </a:r>
          </a:p>
        </p:txBody>
      </p:sp>
      <p:sp>
        <p:nvSpPr>
          <p:cNvPr id="9" name="Rectangle 5"/>
          <p:cNvSpPr/>
          <p:nvPr/>
        </p:nvSpPr>
        <p:spPr bwMode="auto">
          <a:xfrm>
            <a:off x="998353" y="3253612"/>
            <a:ext cx="4536504" cy="52483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SELECT DESIGNER_ADD_DESIGN_TABLES(‘&lt;design</a:t>
            </a:r>
            <a:r>
              <a:rPr lang="ko-KR" altLang="en-US" sz="900" b="1" dirty="0">
                <a:solidFill>
                  <a:schemeClr val="bg1"/>
                </a:solidFill>
              </a:rPr>
              <a:t>명</a:t>
            </a:r>
            <a:r>
              <a:rPr lang="en-US" altLang="ko-KR" sz="900" b="1" dirty="0">
                <a:solidFill>
                  <a:schemeClr val="bg1"/>
                </a:solidFill>
              </a:rPr>
              <a:t>&gt;</a:t>
            </a:r>
            <a:r>
              <a:rPr lang="en-US" sz="900" b="1" dirty="0">
                <a:solidFill>
                  <a:schemeClr val="bg1"/>
                </a:solidFill>
              </a:rPr>
              <a:t>＇,‘&lt;table</a:t>
            </a:r>
            <a:r>
              <a:rPr lang="ko-KR" altLang="en-US" sz="900" b="1" dirty="0">
                <a:solidFill>
                  <a:schemeClr val="bg1"/>
                </a:solidFill>
              </a:rPr>
              <a:t>명</a:t>
            </a:r>
            <a:r>
              <a:rPr lang="en-US" altLang="ko-KR" sz="900" b="1" dirty="0">
                <a:solidFill>
                  <a:schemeClr val="bg1"/>
                </a:solidFill>
              </a:rPr>
              <a:t>&gt;</a:t>
            </a:r>
            <a:r>
              <a:rPr lang="en-US" sz="900" b="1" dirty="0">
                <a:solidFill>
                  <a:schemeClr val="bg1"/>
                </a:solidFill>
              </a:rPr>
              <a:t>＇) ;</a:t>
            </a:r>
          </a:p>
          <a:p>
            <a:r>
              <a:rPr lang="en-US" sz="900" b="1" dirty="0">
                <a:solidFill>
                  <a:schemeClr val="bg1"/>
                </a:solidFill>
              </a:rPr>
              <a:t>SELECT DESIGNER_ADD_DESIGN_QUERIES(‘&lt;design</a:t>
            </a:r>
            <a:r>
              <a:rPr lang="ko-KR" altLang="en-US" sz="900" b="1" dirty="0">
                <a:solidFill>
                  <a:schemeClr val="bg1"/>
                </a:solidFill>
              </a:rPr>
              <a:t>명</a:t>
            </a:r>
            <a:r>
              <a:rPr lang="en-US" altLang="ko-KR" sz="900" b="1" dirty="0">
                <a:solidFill>
                  <a:schemeClr val="bg1"/>
                </a:solidFill>
              </a:rPr>
              <a:t>&gt;</a:t>
            </a:r>
            <a:r>
              <a:rPr lang="en-US" sz="900" b="1" dirty="0">
                <a:solidFill>
                  <a:schemeClr val="bg1"/>
                </a:solidFill>
              </a:rPr>
              <a:t>＇,‘&lt;query</a:t>
            </a:r>
            <a:r>
              <a:rPr lang="ko-KR" altLang="en-US" sz="900" b="1" dirty="0">
                <a:solidFill>
                  <a:schemeClr val="bg1"/>
                </a:solidFill>
              </a:rPr>
              <a:t>파일</a:t>
            </a:r>
            <a:r>
              <a:rPr lang="en-US" altLang="ko-KR" sz="900" b="1" dirty="0">
                <a:solidFill>
                  <a:schemeClr val="bg1"/>
                </a:solidFill>
              </a:rPr>
              <a:t>&gt;</a:t>
            </a:r>
            <a:r>
              <a:rPr lang="en-US" sz="900" b="1" dirty="0">
                <a:solidFill>
                  <a:schemeClr val="bg1"/>
                </a:solidFill>
              </a:rPr>
              <a:t>','true') ;</a:t>
            </a:r>
          </a:p>
        </p:txBody>
      </p:sp>
      <p:sp>
        <p:nvSpPr>
          <p:cNvPr id="10" name="Rectangular Callout 7"/>
          <p:cNvSpPr/>
          <p:nvPr/>
        </p:nvSpPr>
        <p:spPr>
          <a:xfrm>
            <a:off x="3904565" y="3080084"/>
            <a:ext cx="1824748" cy="255913"/>
          </a:xfrm>
          <a:prstGeom prst="wedgeRectCallout">
            <a:avLst>
              <a:gd name="adj1" fmla="val -57004"/>
              <a:gd name="adj2" fmla="val 49113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ko-KR" altLang="en-US" sz="900" i="1" dirty="0">
                <a:solidFill>
                  <a:prstClr val="black"/>
                </a:solidFill>
              </a:rPr>
              <a:t>반복해서 대상 테이블 추가</a:t>
            </a:r>
            <a:endParaRPr lang="en-US" altLang="ko-KR" sz="900" i="1" dirty="0">
              <a:solidFill>
                <a:prstClr val="black"/>
              </a:solidFill>
            </a:endParaRPr>
          </a:p>
        </p:txBody>
      </p:sp>
      <p:sp>
        <p:nvSpPr>
          <p:cNvPr id="11" name="Rectangular Callout 8"/>
          <p:cNvSpPr/>
          <p:nvPr/>
        </p:nvSpPr>
        <p:spPr>
          <a:xfrm>
            <a:off x="3611474" y="3715899"/>
            <a:ext cx="2117839" cy="276241"/>
          </a:xfrm>
          <a:prstGeom prst="wedgeRectCallout">
            <a:avLst>
              <a:gd name="adj1" fmla="val -57663"/>
              <a:gd name="adj2" fmla="val -48836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ko-KR" altLang="en-US" sz="900" i="1">
                <a:solidFill>
                  <a:prstClr val="black"/>
                </a:solidFill>
              </a:rPr>
              <a:t>대상 테이블 추가 후에 쿼리 입력</a:t>
            </a:r>
            <a:endParaRPr lang="en-US" altLang="ko-KR" sz="900" i="1" dirty="0">
              <a:solidFill>
                <a:prstClr val="black"/>
              </a:solidFill>
            </a:endParaRPr>
          </a:p>
        </p:txBody>
      </p:sp>
      <p:sp>
        <p:nvSpPr>
          <p:cNvPr id="12" name="Rectangle 9"/>
          <p:cNvSpPr/>
          <p:nvPr/>
        </p:nvSpPr>
        <p:spPr bwMode="auto">
          <a:xfrm>
            <a:off x="998353" y="4395978"/>
            <a:ext cx="4536504" cy="52483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SELECT DESIGNER_SET_DESIGN_TYPE(‘&lt;design</a:t>
            </a:r>
            <a:r>
              <a:rPr lang="ko-KR" altLang="en-US" sz="900" b="1" dirty="0">
                <a:solidFill>
                  <a:schemeClr val="bg1"/>
                </a:solidFill>
              </a:rPr>
              <a:t>명</a:t>
            </a:r>
            <a:r>
              <a:rPr lang="en-US" altLang="ko-KR" sz="900" b="1" dirty="0">
                <a:solidFill>
                  <a:schemeClr val="bg1"/>
                </a:solidFill>
              </a:rPr>
              <a:t>&gt;</a:t>
            </a:r>
            <a:r>
              <a:rPr lang="en-US" sz="900" b="1" dirty="0">
                <a:solidFill>
                  <a:schemeClr val="bg1"/>
                </a:solidFill>
              </a:rPr>
              <a:t>＇,＇comprehensive＇) ;</a:t>
            </a:r>
          </a:p>
          <a:p>
            <a:r>
              <a:rPr lang="en-US" sz="900" b="1" dirty="0">
                <a:solidFill>
                  <a:schemeClr val="bg1"/>
                </a:solidFill>
              </a:rPr>
              <a:t>SELECT DESIGNER_SET_OPTIMIZATION_OBJECTIVE(‘&lt;design</a:t>
            </a:r>
            <a:r>
              <a:rPr lang="ko-KR" altLang="en-US" sz="900" b="1" dirty="0">
                <a:solidFill>
                  <a:schemeClr val="bg1"/>
                </a:solidFill>
              </a:rPr>
              <a:t>명</a:t>
            </a:r>
            <a:r>
              <a:rPr lang="en-US" altLang="ko-KR" sz="900" b="1" dirty="0">
                <a:solidFill>
                  <a:schemeClr val="bg1"/>
                </a:solidFill>
              </a:rPr>
              <a:t>&gt;</a:t>
            </a:r>
            <a:r>
              <a:rPr lang="en-US" sz="900" b="1" dirty="0">
                <a:solidFill>
                  <a:schemeClr val="bg1"/>
                </a:solidFill>
              </a:rPr>
              <a:t>','BALANCED') ;</a:t>
            </a:r>
          </a:p>
        </p:txBody>
      </p:sp>
      <p:sp>
        <p:nvSpPr>
          <p:cNvPr id="13" name="Rectangle 10"/>
          <p:cNvSpPr/>
          <p:nvPr/>
        </p:nvSpPr>
        <p:spPr bwMode="auto">
          <a:xfrm>
            <a:off x="998353" y="5373874"/>
            <a:ext cx="4536504" cy="52483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SELECT DESIGNER_RUN_POPULATE_DESIGN_AND_DEPLOY</a:t>
            </a:r>
          </a:p>
          <a:p>
            <a:r>
              <a:rPr lang="en-US" sz="900" b="1" dirty="0">
                <a:solidFill>
                  <a:schemeClr val="bg1"/>
                </a:solidFill>
              </a:rPr>
              <a:t>          (‘&lt;design</a:t>
            </a:r>
            <a:r>
              <a:rPr lang="ko-KR" altLang="en-US" sz="900" b="1" dirty="0">
                <a:solidFill>
                  <a:schemeClr val="bg1"/>
                </a:solidFill>
              </a:rPr>
              <a:t>명</a:t>
            </a:r>
            <a:r>
              <a:rPr lang="en-US" altLang="ko-KR" sz="900" b="1" dirty="0">
                <a:solidFill>
                  <a:schemeClr val="bg1"/>
                </a:solidFill>
              </a:rPr>
              <a:t>&gt;</a:t>
            </a:r>
            <a:r>
              <a:rPr lang="en-US" sz="900" b="1" dirty="0">
                <a:solidFill>
                  <a:schemeClr val="bg1"/>
                </a:solidFill>
              </a:rPr>
              <a:t>’,’&lt;design</a:t>
            </a:r>
            <a:r>
              <a:rPr lang="ko-KR" altLang="en-US" sz="900" b="1" dirty="0">
                <a:solidFill>
                  <a:schemeClr val="bg1"/>
                </a:solidFill>
              </a:rPr>
              <a:t>결과</a:t>
            </a:r>
            <a:r>
              <a:rPr lang="en-US" altLang="ko-KR" sz="900" b="1" dirty="0">
                <a:solidFill>
                  <a:schemeClr val="bg1"/>
                </a:solidFill>
              </a:rPr>
              <a:t>DDL</a:t>
            </a:r>
            <a:r>
              <a:rPr lang="ko-KR" altLang="en-US" sz="900" b="1" dirty="0">
                <a:solidFill>
                  <a:schemeClr val="bg1"/>
                </a:solidFill>
              </a:rPr>
              <a:t>문</a:t>
            </a:r>
            <a:r>
              <a:rPr lang="en-US" altLang="ko-KR" sz="900" b="1" dirty="0">
                <a:solidFill>
                  <a:schemeClr val="bg1"/>
                </a:solidFill>
              </a:rPr>
              <a:t>&gt;</a:t>
            </a:r>
            <a:r>
              <a:rPr lang="en-US" sz="900" b="1" dirty="0">
                <a:solidFill>
                  <a:schemeClr val="bg1"/>
                </a:solidFill>
              </a:rPr>
              <a:t>’,’&lt;deploy</a:t>
            </a:r>
            <a:r>
              <a:rPr lang="ko-KR" altLang="en-US" sz="900" b="1" dirty="0">
                <a:solidFill>
                  <a:schemeClr val="bg1"/>
                </a:solidFill>
              </a:rPr>
              <a:t>구문</a:t>
            </a:r>
            <a:r>
              <a:rPr lang="en-US" altLang="ko-KR" sz="900" b="1" dirty="0">
                <a:solidFill>
                  <a:schemeClr val="bg1"/>
                </a:solidFill>
              </a:rPr>
              <a:t>&gt;</a:t>
            </a:r>
            <a:r>
              <a:rPr lang="en-US" sz="900" b="1" dirty="0">
                <a:solidFill>
                  <a:schemeClr val="bg1"/>
                </a:solidFill>
              </a:rPr>
              <a:t>’,</a:t>
            </a:r>
          </a:p>
          <a:p>
            <a:r>
              <a:rPr lang="en-US" sz="900" b="1" dirty="0">
                <a:solidFill>
                  <a:schemeClr val="bg1"/>
                </a:solidFill>
              </a:rPr>
              <a:t>           ‘false’ , ’true’ , ’false’ , ’true’);</a:t>
            </a:r>
          </a:p>
        </p:txBody>
      </p:sp>
      <p:sp>
        <p:nvSpPr>
          <p:cNvPr id="14" name="Rectangular Callout 11"/>
          <p:cNvSpPr/>
          <p:nvPr/>
        </p:nvSpPr>
        <p:spPr>
          <a:xfrm>
            <a:off x="837828" y="5965706"/>
            <a:ext cx="1097815" cy="237964"/>
          </a:xfrm>
          <a:prstGeom prst="wedgeRectCallout">
            <a:avLst>
              <a:gd name="adj1" fmla="val 23001"/>
              <a:gd name="adj2" fmla="val -8740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ko-KR" altLang="en-US" sz="900" i="1">
                <a:solidFill>
                  <a:prstClr val="black"/>
                </a:solidFill>
              </a:rPr>
              <a:t>통계정보옵션</a:t>
            </a:r>
            <a:endParaRPr lang="en-US" altLang="ko-KR" sz="900" i="1" dirty="0">
              <a:solidFill>
                <a:prstClr val="black"/>
              </a:solidFill>
            </a:endParaRPr>
          </a:p>
        </p:txBody>
      </p:sp>
      <p:sp>
        <p:nvSpPr>
          <p:cNvPr id="15" name="Rectangular Callout 12"/>
          <p:cNvSpPr/>
          <p:nvPr/>
        </p:nvSpPr>
        <p:spPr>
          <a:xfrm>
            <a:off x="2018423" y="5965706"/>
            <a:ext cx="1097815" cy="237964"/>
          </a:xfrm>
          <a:prstGeom prst="wedgeRectCallout">
            <a:avLst>
              <a:gd name="adj1" fmla="val -37277"/>
              <a:gd name="adj2" fmla="val -97513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en-US" altLang="ko-KR" sz="900" i="1" dirty="0">
                <a:solidFill>
                  <a:prstClr val="black"/>
                </a:solidFill>
              </a:rPr>
              <a:t>Deploy </a:t>
            </a:r>
            <a:r>
              <a:rPr lang="ko-KR" altLang="en-US" sz="900" i="1" dirty="0">
                <a:solidFill>
                  <a:prstClr val="black"/>
                </a:solidFill>
              </a:rPr>
              <a:t>옵션</a:t>
            </a:r>
            <a:endParaRPr lang="en-US" altLang="ko-KR" sz="900" i="1" dirty="0">
              <a:solidFill>
                <a:prstClr val="black"/>
              </a:solidFill>
            </a:endParaRPr>
          </a:p>
        </p:txBody>
      </p:sp>
      <p:sp>
        <p:nvSpPr>
          <p:cNvPr id="16" name="Rectangle 13"/>
          <p:cNvSpPr/>
          <p:nvPr/>
        </p:nvSpPr>
        <p:spPr bwMode="auto">
          <a:xfrm>
            <a:off x="6653968" y="1968066"/>
            <a:ext cx="4536504" cy="52483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SELECT DESIGNER_WAIT_FOR_DESIGN(‘&lt;design</a:t>
            </a:r>
            <a:r>
              <a:rPr lang="ko-KR" altLang="en-US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</a:t>
            </a:r>
            <a:r>
              <a:rPr lang="en-US" altLang="ko-KR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en-US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’) ;</a:t>
            </a:r>
          </a:p>
        </p:txBody>
      </p:sp>
      <p:sp>
        <p:nvSpPr>
          <p:cNvPr id="17" name="Rectangle 14"/>
          <p:cNvSpPr/>
          <p:nvPr/>
        </p:nvSpPr>
        <p:spPr bwMode="auto">
          <a:xfrm>
            <a:off x="6653968" y="3480234"/>
            <a:ext cx="4536504" cy="52483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SELECT DESIGNER_DROP_DESIGN(‘&lt;design</a:t>
            </a:r>
            <a:r>
              <a:rPr lang="ko-KR" altLang="en-US" sz="900" b="1" dirty="0">
                <a:solidFill>
                  <a:schemeClr val="bg1"/>
                </a:solidFill>
              </a:rPr>
              <a:t>명</a:t>
            </a:r>
            <a:r>
              <a:rPr lang="en-US" altLang="ko-KR" sz="900" b="1" dirty="0">
                <a:solidFill>
                  <a:schemeClr val="bg1"/>
                </a:solidFill>
              </a:rPr>
              <a:t>&gt;</a:t>
            </a:r>
            <a:r>
              <a:rPr lang="en-US" sz="900" b="1" dirty="0">
                <a:solidFill>
                  <a:schemeClr val="bg1"/>
                </a:solidFill>
              </a:rPr>
              <a:t>’) ;</a:t>
            </a:r>
          </a:p>
        </p:txBody>
      </p:sp>
      <p:sp>
        <p:nvSpPr>
          <p:cNvPr id="18" name="Rounded Rectangle 15"/>
          <p:cNvSpPr/>
          <p:nvPr/>
        </p:nvSpPr>
        <p:spPr>
          <a:xfrm>
            <a:off x="9766820" y="4401336"/>
            <a:ext cx="2124425" cy="251800"/>
          </a:xfrm>
          <a:prstGeom prst="roundRect">
            <a:avLst/>
          </a:prstGeom>
          <a:solidFill>
            <a:schemeClr val="tx2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90000"/>
              </a:lnSpc>
            </a:pPr>
            <a:r>
              <a:rPr lang="en-US" altLang="ko-KR" sz="900" dirty="0"/>
              <a:t>DATABASE DESIGNER FUNCTION</a:t>
            </a:r>
          </a:p>
        </p:txBody>
      </p:sp>
      <p:pic>
        <p:nvPicPr>
          <p:cNvPr id="19" name="Picture 16" descr="C:\Users\hongjon\Documents\Proposal\ICON\Common_Icons\Common_Icons\Magnifying_glass\Magnifying_glass_RGB\Magnifying_glass_RGB_blue_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2392" y="4437566"/>
            <a:ext cx="222460" cy="215570"/>
          </a:xfrm>
          <a:prstGeom prst="rect">
            <a:avLst/>
          </a:prstGeom>
          <a:solidFill>
            <a:schemeClr val="tx2"/>
          </a:solidFill>
        </p:spPr>
      </p:pic>
    </p:spTree>
    <p:extLst>
      <p:ext uri="{BB962C8B-B14F-4D97-AF65-F5344CB8AC3E}">
        <p14:creationId xmlns:p14="http://schemas.microsoft.com/office/powerpoint/2010/main" val="12223019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DBD (Database Designer) </a:t>
            </a:r>
            <a:r>
              <a:rPr lang="ko-KR" altLang="en-US" sz="2800" dirty="0"/>
              <a:t>실행 </a:t>
            </a:r>
            <a:r>
              <a:rPr lang="en-US" altLang="ko-KR" sz="2800" dirty="0"/>
              <a:t>– </a:t>
            </a:r>
            <a:r>
              <a:rPr lang="en-US" altLang="ko-KR" sz="2800" dirty="0" err="1"/>
              <a:t>DBD</a:t>
            </a:r>
            <a:r>
              <a:rPr lang="en-US" altLang="ko-KR" sz="2800" dirty="0"/>
              <a:t> Lite</a:t>
            </a:r>
            <a:endParaRPr lang="ko-KR" altLang="en-US" sz="28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쿼리 성능 최적화</a:t>
            </a:r>
            <a:endParaRPr lang="ko-KR" altLang="en-US" dirty="0"/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 err="1"/>
              <a:t>DBD</a:t>
            </a:r>
            <a:r>
              <a:rPr lang="en-US" altLang="ko-KR" sz="1100" b="1" dirty="0"/>
              <a:t> Lite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기존 </a:t>
            </a:r>
            <a:r>
              <a:rPr lang="en-US" altLang="ko-KR" sz="1100" dirty="0" err="1"/>
              <a:t>DBD</a:t>
            </a:r>
            <a:r>
              <a:rPr lang="ko-KR" altLang="en-US" sz="1100" dirty="0"/>
              <a:t>보다 경량화 되고 쉽게 활용할 수 있는 함수 제공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Vertica 9.3 </a:t>
            </a:r>
            <a:r>
              <a:rPr lang="ko-KR" altLang="en-US" sz="1100" dirty="0"/>
              <a:t>이상</a:t>
            </a:r>
            <a:r>
              <a:rPr lang="en-US" altLang="ko-KR" sz="1100" dirty="0"/>
              <a:t>(</a:t>
            </a:r>
            <a:r>
              <a:rPr lang="en-US" altLang="ko-KR" sz="1100" dirty="0" err="1"/>
              <a:t>SP1</a:t>
            </a:r>
            <a:r>
              <a:rPr lang="en-US" altLang="ko-KR" sz="1100" dirty="0"/>
              <a:t> </a:t>
            </a:r>
            <a:r>
              <a:rPr lang="ko-KR" altLang="en-US" sz="1100" dirty="0"/>
              <a:t>에서 공식 </a:t>
            </a:r>
            <a:r>
              <a:rPr lang="en-US" altLang="ko-KR" sz="1100" dirty="0"/>
              <a:t>release </a:t>
            </a:r>
            <a:r>
              <a:rPr lang="ko-KR" altLang="en-US" sz="1100" dirty="0"/>
              <a:t>예정이나 </a:t>
            </a:r>
            <a:r>
              <a:rPr lang="en-US" altLang="ko-KR" sz="1100" dirty="0"/>
              <a:t>9.3</a:t>
            </a:r>
            <a:r>
              <a:rPr lang="ko-KR" altLang="en-US" sz="1100" dirty="0"/>
              <a:t>에서 수행 가능</a:t>
            </a:r>
            <a:r>
              <a:rPr lang="en-US" altLang="ko-KR" sz="1100" dirty="0"/>
              <a:t>)</a:t>
            </a:r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4"/>
          <p:cNvSpPr/>
          <p:nvPr/>
        </p:nvSpPr>
        <p:spPr bwMode="auto">
          <a:xfrm>
            <a:off x="998353" y="2011584"/>
            <a:ext cx="4925416" cy="72008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ALTER DATABASE DEFAULT SET </a:t>
            </a:r>
            <a:r>
              <a:rPr lang="en-US" sz="900" b="1" dirty="0" err="1">
                <a:solidFill>
                  <a:schemeClr val="bg1"/>
                </a:solidFill>
              </a:rPr>
              <a:t>UseNewDBD</a:t>
            </a:r>
            <a:r>
              <a:rPr lang="en-US" sz="900" b="1" dirty="0">
                <a:solidFill>
                  <a:schemeClr val="bg1"/>
                </a:solidFill>
              </a:rPr>
              <a:t> = 1;</a:t>
            </a:r>
          </a:p>
          <a:p>
            <a:endParaRPr lang="en-US" sz="900" b="1" dirty="0">
              <a:solidFill>
                <a:schemeClr val="bg1"/>
              </a:solidFill>
            </a:endParaRPr>
          </a:p>
          <a:p>
            <a:r>
              <a:rPr lang="en-US" sz="900" b="1" dirty="0">
                <a:solidFill>
                  <a:schemeClr val="bg1"/>
                </a:solidFill>
              </a:rPr>
              <a:t>SELECT </a:t>
            </a:r>
            <a:r>
              <a:rPr lang="en-US" sz="900" b="1" dirty="0" err="1">
                <a:solidFill>
                  <a:schemeClr val="bg1"/>
                </a:solidFill>
              </a:rPr>
              <a:t>DESIGNER_SINGLE_RUN</a:t>
            </a:r>
            <a:r>
              <a:rPr lang="en-US" sz="900" b="1" dirty="0">
                <a:solidFill>
                  <a:schemeClr val="bg1"/>
                </a:solidFill>
              </a:rPr>
              <a:t>('5 minute'); -- </a:t>
            </a:r>
            <a:r>
              <a:rPr lang="ko-KR" altLang="en-US" sz="900" b="1" dirty="0">
                <a:solidFill>
                  <a:schemeClr val="bg1"/>
                </a:solidFill>
              </a:rPr>
              <a:t>최근 </a:t>
            </a:r>
            <a:r>
              <a:rPr lang="en-US" altLang="ko-KR" sz="900" b="1" dirty="0">
                <a:solidFill>
                  <a:schemeClr val="bg1"/>
                </a:solidFill>
              </a:rPr>
              <a:t>5</a:t>
            </a:r>
            <a:r>
              <a:rPr lang="ko-KR" altLang="en-US" sz="900" b="1" dirty="0">
                <a:solidFill>
                  <a:schemeClr val="bg1"/>
                </a:solidFill>
              </a:rPr>
              <a:t>분내 수행된 쿼리들을 기반으로 </a:t>
            </a:r>
            <a:r>
              <a:rPr lang="en-US" sz="900" b="1" dirty="0" err="1">
                <a:solidFill>
                  <a:schemeClr val="bg1"/>
                </a:solidFill>
              </a:rPr>
              <a:t>DBD</a:t>
            </a:r>
            <a:r>
              <a:rPr lang="en-US" sz="900" b="1" dirty="0">
                <a:solidFill>
                  <a:schemeClr val="bg1"/>
                </a:solidFill>
              </a:rPr>
              <a:t> </a:t>
            </a:r>
            <a:r>
              <a:rPr lang="ko-KR" altLang="en-US" sz="900" b="1" dirty="0">
                <a:solidFill>
                  <a:schemeClr val="bg1"/>
                </a:solidFill>
              </a:rPr>
              <a:t>수행</a:t>
            </a:r>
          </a:p>
          <a:p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5C7B8E-C2C8-4230-B23D-824A84B02B42}"/>
              </a:ext>
            </a:extLst>
          </p:cNvPr>
          <p:cNvSpPr txBox="1"/>
          <p:nvPr/>
        </p:nvSpPr>
        <p:spPr>
          <a:xfrm>
            <a:off x="962261" y="3439239"/>
            <a:ext cx="9965357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none" lIns="91440" tIns="45720" rIns="91440" bIns="45720" rtlCol="0" anchor="t" anchorCtr="0">
            <a:spAutoFit/>
          </a:bodyPr>
          <a:lstStyle/>
          <a:p>
            <a:r>
              <a:rPr lang="en-US" altLang="ko-KR" sz="1200" dirty="0"/>
              <a:t>The new one is more lightweight and simpler. In 9.3, new </a:t>
            </a:r>
            <a:r>
              <a:rPr lang="en-US" altLang="ko-KR" sz="1200" dirty="0" err="1"/>
              <a:t>DBD</a:t>
            </a:r>
            <a:r>
              <a:rPr lang="en-US" altLang="ko-KR" sz="1200" dirty="0"/>
              <a:t> no longer use massive small insert, update and delete operations to keep intermediate states. </a:t>
            </a:r>
          </a:p>
          <a:p>
            <a:r>
              <a:rPr lang="en-US" altLang="ko-KR" sz="1200" dirty="0"/>
              <a:t>A single API allows user to run </a:t>
            </a:r>
            <a:r>
              <a:rPr lang="en-US" altLang="ko-KR" sz="1200" dirty="0" err="1"/>
              <a:t>DBD</a:t>
            </a:r>
            <a:r>
              <a:rPr lang="en-US" altLang="ko-KR" sz="1200" dirty="0"/>
              <a:t> against historical queries automatically without calling multiple APIs.</a:t>
            </a:r>
            <a:br>
              <a:rPr lang="en-US" altLang="ko-KR" sz="1200" dirty="0"/>
            </a:br>
            <a:r>
              <a:rPr lang="en-US" altLang="ko-KR" sz="1200" dirty="0"/>
              <a:t>In </a:t>
            </a:r>
            <a:r>
              <a:rPr lang="en-US" altLang="ko-KR" sz="1200" dirty="0" err="1"/>
              <a:t>9.3SP1</a:t>
            </a:r>
            <a:r>
              <a:rPr lang="en-US" altLang="ko-KR" sz="1200" dirty="0"/>
              <a:t> we will continue make progress, including reducing projection search space such that projection candidates are pruned while being enumerated. </a:t>
            </a:r>
          </a:p>
          <a:p>
            <a:r>
              <a:rPr lang="en-US" altLang="ko-KR" sz="1200" dirty="0"/>
              <a:t>Also will make encoding design on-the-fly rather than saving sample data to disk and then collect the sizes.</a:t>
            </a:r>
            <a:br>
              <a:rPr lang="en-US" altLang="ko-KR" sz="1200" dirty="0"/>
            </a:br>
            <a:br>
              <a:rPr lang="en-US" altLang="ko-KR" sz="1200" dirty="0"/>
            </a:br>
            <a:r>
              <a:rPr lang="en-US" altLang="ko-KR" sz="1200" dirty="0"/>
              <a:t>Our goal is to make </a:t>
            </a:r>
            <a:r>
              <a:rPr lang="en-US" altLang="ko-KR" sz="1200" dirty="0" err="1"/>
              <a:t>DBD</a:t>
            </a:r>
            <a:r>
              <a:rPr lang="en-US" altLang="ko-KR" sz="1200" dirty="0"/>
              <a:t> a tool that user more willing to run whenever they feel their query becomes slow, rather than need to worry about the resources.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+mn-lt"/>
              <a:ea typeface="Roboto Light" charset="0"/>
              <a:cs typeface="Roboto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2692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쿼리 성능 향상을 위한 </a:t>
            </a:r>
            <a:r>
              <a:rPr lang="ko-KR" altLang="en-US" sz="2800" dirty="0" err="1"/>
              <a:t>인코딩</a:t>
            </a:r>
            <a:r>
              <a:rPr lang="ko-KR" altLang="en-US" sz="2800" dirty="0"/>
              <a:t> 최적화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쿼리 성능 최적화</a:t>
            </a:r>
            <a:endParaRPr lang="ko-KR" altLang="en-US" dirty="0"/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개요</a:t>
            </a:r>
            <a:r>
              <a:rPr lang="en-US" altLang="ko-KR" sz="1100" dirty="0"/>
              <a:t>	</a:t>
            </a:r>
            <a:endParaRPr lang="ko-KR" altLang="en-US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최적화된 </a:t>
            </a:r>
            <a:r>
              <a:rPr lang="en-US" altLang="ko-KR" sz="1100" dirty="0"/>
              <a:t>encoding</a:t>
            </a:r>
            <a:r>
              <a:rPr lang="ko-KR" altLang="en-US" sz="1100" dirty="0"/>
              <a:t>은 저장되는 디스크 양을 줄이므로 쿼리에 필요한 디스크 </a:t>
            </a:r>
            <a:r>
              <a:rPr lang="en-US" altLang="ko-KR" sz="1100" dirty="0"/>
              <a:t>I/O</a:t>
            </a:r>
            <a:r>
              <a:rPr lang="ko-KR" altLang="en-US" sz="1100" dirty="0"/>
              <a:t>의 양을 감소시킨다 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0" lv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prstClr val="black"/>
                </a:solidFill>
              </a:rPr>
              <a:t>수행 단계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Incremental design</a:t>
            </a:r>
            <a:r>
              <a:rPr lang="ko-KR" altLang="en-US" sz="1100" dirty="0"/>
              <a:t>으로 </a:t>
            </a:r>
            <a:r>
              <a:rPr lang="en-US" altLang="ko-KR" sz="1100" dirty="0"/>
              <a:t>database designer (DBD)</a:t>
            </a:r>
            <a:r>
              <a:rPr lang="ko-KR" altLang="en-US" sz="1100" dirty="0"/>
              <a:t>수행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통계 정보 갱신 </a:t>
            </a:r>
            <a:r>
              <a:rPr lang="en-US" altLang="ko-KR" sz="1100" dirty="0"/>
              <a:t>(ANALYZE_STATISTICS)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EXPLAIN</a:t>
            </a:r>
            <a:r>
              <a:rPr lang="ko-KR" altLang="en-US" sz="1100" dirty="0"/>
              <a:t>으로 쿼리 최적화 실행계획 확인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DBD </a:t>
            </a:r>
            <a:r>
              <a:rPr lang="ko-KR" altLang="en-US" sz="1100" dirty="0"/>
              <a:t>대신</a:t>
            </a:r>
            <a:r>
              <a:rPr lang="en-US" altLang="ko-KR" sz="1100" dirty="0"/>
              <a:t> DESIGNER_DESIGN_PROJECTION_ENCODINGS</a:t>
            </a:r>
            <a:r>
              <a:rPr lang="ko-KR" altLang="en-US" sz="1100" dirty="0"/>
              <a:t>을 수행하여 현재의 </a:t>
            </a:r>
            <a:r>
              <a:rPr lang="en-US" altLang="ko-KR" sz="1100" dirty="0"/>
              <a:t>encoding </a:t>
            </a:r>
            <a:r>
              <a:rPr lang="ko-KR" altLang="en-US" sz="1100" dirty="0"/>
              <a:t>설정을 검사하고 수정 또는 바로 </a:t>
            </a:r>
            <a:r>
              <a:rPr lang="en-US" altLang="ko-KR" sz="1100" dirty="0"/>
              <a:t>deploy </a:t>
            </a:r>
            <a:r>
              <a:rPr lang="ko-KR" altLang="en-US" sz="1100" dirty="0"/>
              <a:t>가능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0">
              <a:lnSpc>
                <a:spcPct val="100000"/>
              </a:lnSpc>
              <a:spcAft>
                <a:spcPts val="0"/>
              </a:spcAft>
            </a:pPr>
            <a:endParaRPr lang="en-US" altLang="ko-KR" sz="1100" dirty="0">
              <a:solidFill>
                <a:prstClr val="black"/>
              </a:solidFill>
            </a:endParaRPr>
          </a:p>
          <a:p>
            <a:pPr marL="0" lv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>
                <a:solidFill>
                  <a:prstClr val="black"/>
                </a:solidFill>
              </a:rPr>
              <a:t>Float </a:t>
            </a:r>
            <a:r>
              <a:rPr lang="ko-KR" altLang="en-US" sz="1100" b="1" dirty="0" err="1">
                <a:solidFill>
                  <a:prstClr val="black"/>
                </a:solidFill>
              </a:rPr>
              <a:t>컬럼</a:t>
            </a:r>
            <a:r>
              <a:rPr lang="ko-KR" altLang="en-US" sz="1100" b="1" dirty="0">
                <a:solidFill>
                  <a:prstClr val="black"/>
                </a:solidFill>
              </a:rPr>
              <a:t> 최적화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가능하면 </a:t>
            </a:r>
            <a:r>
              <a:rPr lang="en-US" altLang="ko-KR" sz="1100" dirty="0"/>
              <a:t>numeric</a:t>
            </a:r>
            <a:r>
              <a:rPr lang="ko-KR" altLang="en-US" sz="1100" dirty="0" err="1"/>
              <a:t>컬럼으로</a:t>
            </a:r>
            <a:r>
              <a:rPr lang="ko-KR" altLang="en-US" sz="1100" dirty="0"/>
              <a:t> 변경 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18</a:t>
            </a:r>
            <a:r>
              <a:rPr lang="ko-KR" altLang="en-US" sz="1100" dirty="0"/>
              <a:t>자 이내의 </a:t>
            </a:r>
            <a:r>
              <a:rPr lang="en-US" altLang="ko-KR" sz="1100" dirty="0"/>
              <a:t>precision</a:t>
            </a:r>
            <a:r>
              <a:rPr lang="ko-KR" altLang="en-US" sz="1100" dirty="0"/>
              <a:t>으로 사용할 경우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Numeric</a:t>
            </a:r>
            <a:r>
              <a:rPr lang="ko-KR" altLang="en-US" sz="1100" dirty="0"/>
              <a:t>의 데이터 압축이 더 우수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0" lv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>
                <a:solidFill>
                  <a:prstClr val="black"/>
                </a:solidFill>
              </a:rPr>
              <a:t>RLE </a:t>
            </a:r>
            <a:r>
              <a:rPr lang="ko-KR" altLang="en-US" sz="1100" b="1" dirty="0">
                <a:solidFill>
                  <a:prstClr val="black"/>
                </a:solidFill>
              </a:rPr>
              <a:t>사용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Cardinality</a:t>
            </a:r>
            <a:r>
              <a:rPr lang="ko-KR" altLang="en-US" sz="1100" dirty="0"/>
              <a:t>가 적은 </a:t>
            </a:r>
            <a:r>
              <a:rPr lang="ko-KR" altLang="en-US" sz="1100" dirty="0" err="1"/>
              <a:t>컬럼에</a:t>
            </a:r>
            <a:r>
              <a:rPr lang="ko-KR" altLang="en-US" sz="1100" dirty="0"/>
              <a:t> 대하여 </a:t>
            </a:r>
            <a:r>
              <a:rPr lang="en-US" altLang="ko-KR" sz="1100" dirty="0"/>
              <a:t>RLE </a:t>
            </a:r>
            <a:r>
              <a:rPr lang="ko-KR" altLang="en-US" sz="1100" dirty="0"/>
              <a:t>적용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디스크 사용량을 획기적으로 절감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RLE </a:t>
            </a:r>
            <a:r>
              <a:rPr lang="ko-KR" altLang="en-US" sz="1100" dirty="0" err="1"/>
              <a:t>컬럼</a:t>
            </a:r>
            <a:r>
              <a:rPr lang="ko-KR" altLang="en-US" sz="1100" dirty="0"/>
              <a:t> 조회의 쿼리 성능 향상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ko-KR" altLang="en-US" sz="1100" dirty="0"/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4"/>
          <p:cNvSpPr/>
          <p:nvPr/>
        </p:nvSpPr>
        <p:spPr bwMode="auto">
          <a:xfrm>
            <a:off x="998353" y="3068960"/>
            <a:ext cx="4536504" cy="86409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DESIGNER_DESIGN_PROJECTION_ENCODINGS (</a:t>
            </a:r>
          </a:p>
          <a:p>
            <a:r>
              <a:rPr lang="en-US" sz="900" b="1" dirty="0">
                <a:solidFill>
                  <a:schemeClr val="bg1"/>
                </a:solidFill>
              </a:rPr>
              <a:t>   '</a:t>
            </a:r>
            <a:r>
              <a:rPr lang="en-US" sz="900" b="1" dirty="0" err="1">
                <a:solidFill>
                  <a:schemeClr val="bg1"/>
                </a:solidFill>
              </a:rPr>
              <a:t>projection_list</a:t>
            </a:r>
            <a:r>
              <a:rPr lang="en-US" sz="900" b="1" dirty="0">
                <a:solidFill>
                  <a:schemeClr val="bg1"/>
                </a:solidFill>
              </a:rPr>
              <a:t>',</a:t>
            </a:r>
          </a:p>
          <a:p>
            <a:r>
              <a:rPr lang="en-US" sz="900" b="1" dirty="0">
                <a:solidFill>
                  <a:schemeClr val="bg1"/>
                </a:solidFill>
              </a:rPr>
              <a:t>   '</a:t>
            </a:r>
            <a:r>
              <a:rPr lang="en-US" sz="900" b="1" dirty="0" err="1">
                <a:solidFill>
                  <a:schemeClr val="bg1"/>
                </a:solidFill>
              </a:rPr>
              <a:t>projection_ddl_script_file</a:t>
            </a:r>
            <a:r>
              <a:rPr lang="en-US" sz="900" b="1" dirty="0">
                <a:solidFill>
                  <a:schemeClr val="bg1"/>
                </a:solidFill>
              </a:rPr>
              <a:t>',</a:t>
            </a:r>
          </a:p>
          <a:p>
            <a:r>
              <a:rPr lang="en-US" sz="900" b="1" dirty="0">
                <a:solidFill>
                  <a:schemeClr val="bg1"/>
                </a:solidFill>
              </a:rPr>
              <a:t>   'deploy'</a:t>
            </a:r>
          </a:p>
          <a:p>
            <a:r>
              <a:rPr lang="en-US" sz="900" b="1" dirty="0">
                <a:solidFill>
                  <a:schemeClr val="bg1"/>
                </a:solidFill>
              </a:rPr>
              <a:t>   )</a:t>
            </a:r>
          </a:p>
        </p:txBody>
      </p:sp>
    </p:spTree>
    <p:extLst>
      <p:ext uri="{BB962C8B-B14F-4D97-AF65-F5344CB8AC3E}">
        <p14:creationId xmlns:p14="http://schemas.microsoft.com/office/powerpoint/2010/main" val="9766180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err="1"/>
              <a:t>조건절</a:t>
            </a:r>
            <a:r>
              <a:rPr lang="ko-KR" altLang="en-US" sz="2800" dirty="0"/>
              <a:t> 추가로 쿼리 성능 향상 예시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쿼리 성능 최적화</a:t>
            </a:r>
            <a:endParaRPr lang="ko-KR" altLang="en-US" dirty="0"/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Example 1. </a:t>
            </a:r>
            <a:r>
              <a:rPr lang="ko-KR" altLang="en-US" sz="1100" b="1" dirty="0"/>
              <a:t>데이터 범위로 조회하는 경우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 err="1"/>
              <a:t>Trade_date</a:t>
            </a:r>
            <a:r>
              <a:rPr lang="en-US" altLang="ko-KR" sz="1100" dirty="0"/>
              <a:t> </a:t>
            </a:r>
            <a:r>
              <a:rPr lang="ko-KR" altLang="en-US" sz="1100" dirty="0" err="1"/>
              <a:t>컬럼값의</a:t>
            </a:r>
            <a:r>
              <a:rPr lang="ko-KR" altLang="en-US" sz="1100" dirty="0"/>
              <a:t> </a:t>
            </a:r>
            <a:r>
              <a:rPr lang="en-US" altLang="ko-KR" sz="1100" dirty="0"/>
              <a:t>cardinality</a:t>
            </a:r>
            <a:r>
              <a:rPr lang="ko-KR" altLang="en-US" sz="1100" dirty="0"/>
              <a:t>를 검사하여 </a:t>
            </a:r>
            <a:r>
              <a:rPr lang="en-US" altLang="ko-KR" sz="1100" dirty="0"/>
              <a:t>uniqueness</a:t>
            </a:r>
            <a:r>
              <a:rPr lang="ko-KR" altLang="en-US" sz="1100" dirty="0"/>
              <a:t>가 적은 경우 </a:t>
            </a:r>
            <a:r>
              <a:rPr lang="en-US" altLang="ko-KR" sz="1100" dirty="0"/>
              <a:t>RLE encoding</a:t>
            </a:r>
            <a:r>
              <a:rPr lang="ko-KR" altLang="en-US" sz="1100" dirty="0"/>
              <a:t>과 </a:t>
            </a:r>
            <a:r>
              <a:rPr lang="ko-KR" altLang="en-US" sz="1100" dirty="0" err="1"/>
              <a:t>프로젝션의</a:t>
            </a:r>
            <a:r>
              <a:rPr lang="ko-KR" altLang="en-US" sz="1100" dirty="0"/>
              <a:t> </a:t>
            </a:r>
            <a:r>
              <a:rPr lang="en-US" altLang="ko-KR" sz="1100" dirty="0"/>
              <a:t>order by</a:t>
            </a:r>
            <a:r>
              <a:rPr lang="ko-KR" altLang="en-US" sz="1100" dirty="0"/>
              <a:t>에 </a:t>
            </a:r>
            <a:r>
              <a:rPr lang="en-US" altLang="ko-KR" sz="1100" dirty="0" err="1"/>
              <a:t>trade_date</a:t>
            </a:r>
            <a:r>
              <a:rPr lang="ko-KR" altLang="en-US" sz="1100" dirty="0"/>
              <a:t>을 넣는 것을 고려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 err="1"/>
              <a:t>Trade_date</a:t>
            </a:r>
            <a:r>
              <a:rPr lang="ko-KR" altLang="en-US" sz="1100" dirty="0"/>
              <a:t>의 </a:t>
            </a:r>
            <a:r>
              <a:rPr lang="en-US" altLang="ko-KR" sz="1100" dirty="0"/>
              <a:t>uniqueness</a:t>
            </a:r>
            <a:r>
              <a:rPr lang="ko-KR" altLang="en-US" sz="1100" dirty="0"/>
              <a:t>가 높은 편인 경우 원본 쿼리의 결과를 유지할 수 있는 부가적인 </a:t>
            </a:r>
            <a:r>
              <a:rPr lang="ko-KR" altLang="en-US" sz="1100" dirty="0" err="1"/>
              <a:t>컬럼을</a:t>
            </a:r>
            <a:r>
              <a:rPr lang="ko-KR" altLang="en-US" sz="1100" dirty="0"/>
              <a:t> 추가하여 쿼리의 성능을 향상 시킨다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위의 예에서 </a:t>
            </a:r>
            <a:r>
              <a:rPr lang="en-US" altLang="ko-KR" sz="1100" dirty="0" err="1"/>
              <a:t>trade_year</a:t>
            </a:r>
            <a:r>
              <a:rPr lang="ko-KR" altLang="en-US" sz="1100" dirty="0"/>
              <a:t>가 낮은 </a:t>
            </a:r>
            <a:r>
              <a:rPr lang="en-US" altLang="ko-KR" sz="1100" dirty="0"/>
              <a:t>cardinality</a:t>
            </a:r>
            <a:r>
              <a:rPr lang="ko-KR" altLang="en-US" sz="1100" dirty="0"/>
              <a:t>를 가지며 데이터를 </a:t>
            </a:r>
            <a:r>
              <a:rPr lang="ko-KR" altLang="en-US" sz="1100" dirty="0" err="1"/>
              <a:t>필터링하는데</a:t>
            </a:r>
            <a:r>
              <a:rPr lang="ko-KR" altLang="en-US" sz="1100" dirty="0"/>
              <a:t> 도움이 된다면 </a:t>
            </a:r>
            <a:r>
              <a:rPr lang="en-US" altLang="ko-KR" sz="1100" dirty="0" err="1"/>
              <a:t>trade_year</a:t>
            </a:r>
            <a:r>
              <a:rPr lang="en-US" altLang="ko-KR" sz="1100" dirty="0"/>
              <a:t> </a:t>
            </a:r>
            <a:r>
              <a:rPr lang="ko-KR" altLang="en-US" sz="1100" dirty="0" err="1"/>
              <a:t>컬럼을</a:t>
            </a:r>
            <a:r>
              <a:rPr lang="ko-KR" altLang="en-US" sz="1100" dirty="0"/>
              <a:t> 만들어 </a:t>
            </a:r>
            <a:r>
              <a:rPr lang="en-US" altLang="ko-KR" sz="1100" dirty="0"/>
              <a:t>RLE encoding</a:t>
            </a:r>
            <a:r>
              <a:rPr lang="ko-KR" altLang="en-US" sz="1100" dirty="0"/>
              <a:t>과 </a:t>
            </a:r>
            <a:r>
              <a:rPr lang="en-US" altLang="ko-KR" sz="1100" dirty="0"/>
              <a:t>projection</a:t>
            </a:r>
            <a:r>
              <a:rPr lang="ko-KR" altLang="en-US" sz="1100" dirty="0"/>
              <a:t>의 </a:t>
            </a:r>
            <a:r>
              <a:rPr lang="en-US" altLang="ko-KR" sz="1100" dirty="0"/>
              <a:t>order by</a:t>
            </a:r>
            <a:r>
              <a:rPr lang="ko-KR" altLang="en-US" sz="1100" dirty="0"/>
              <a:t>를 적용하여 추가하고 쿼리를 수정한다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0" lv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Example 2. </a:t>
            </a:r>
            <a:r>
              <a:rPr lang="ko-KR" altLang="en-US" sz="1100" b="1" dirty="0"/>
              <a:t>높은 </a:t>
            </a:r>
            <a:r>
              <a:rPr lang="en-US" altLang="ko-KR" sz="1100" b="1" dirty="0"/>
              <a:t>cardinality</a:t>
            </a:r>
            <a:r>
              <a:rPr lang="ko-KR" altLang="en-US" sz="1100" b="1" dirty="0"/>
              <a:t>의 </a:t>
            </a:r>
            <a:r>
              <a:rPr lang="en-US" altLang="ko-KR" sz="1100" b="1" dirty="0"/>
              <a:t>PK </a:t>
            </a:r>
            <a:r>
              <a:rPr lang="ko-KR" altLang="en-US" sz="1100" b="1" dirty="0"/>
              <a:t>값으로 조회구문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낮은 </a:t>
            </a:r>
            <a:r>
              <a:rPr lang="en-US" altLang="ko-KR" sz="1100" dirty="0"/>
              <a:t>cardinality</a:t>
            </a:r>
            <a:r>
              <a:rPr lang="ko-KR" altLang="en-US" sz="1100" dirty="0"/>
              <a:t>의 </a:t>
            </a:r>
            <a:r>
              <a:rPr lang="ko-KR" altLang="en-US" sz="1100" dirty="0" err="1"/>
              <a:t>컬럼을</a:t>
            </a:r>
            <a:r>
              <a:rPr lang="ko-KR" altLang="en-US" sz="1100" dirty="0"/>
              <a:t> 생성하여 조회의 범위를 줄일 수 있다면 쿼리의 성능이 향상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위의 예에서 </a:t>
            </a:r>
            <a:r>
              <a:rPr lang="en-US" altLang="ko-KR" sz="1100" dirty="0"/>
              <a:t>PK</a:t>
            </a:r>
            <a:r>
              <a:rPr lang="ko-KR" altLang="en-US" sz="1100" dirty="0"/>
              <a:t>값을 </a:t>
            </a:r>
            <a:r>
              <a:rPr lang="en-US" altLang="ko-KR" sz="1100" dirty="0"/>
              <a:t>10000</a:t>
            </a:r>
            <a:r>
              <a:rPr lang="ko-KR" altLang="en-US" sz="1100" dirty="0"/>
              <a:t>으로 나눈 값을 저장하는 </a:t>
            </a:r>
            <a:r>
              <a:rPr lang="ko-KR" altLang="en-US" sz="1100" dirty="0" err="1"/>
              <a:t>컬럼을</a:t>
            </a:r>
            <a:r>
              <a:rPr lang="ko-KR" altLang="en-US" sz="1100" dirty="0"/>
              <a:t> 추가하고 </a:t>
            </a:r>
            <a:r>
              <a:rPr lang="ko-KR" altLang="en-US" sz="1100" dirty="0" err="1"/>
              <a:t>프로젝션의</a:t>
            </a:r>
            <a:r>
              <a:rPr lang="ko-KR" altLang="en-US" sz="1100" dirty="0"/>
              <a:t> </a:t>
            </a:r>
            <a:r>
              <a:rPr lang="en-US" altLang="ko-KR" sz="1100" dirty="0"/>
              <a:t>order by</a:t>
            </a:r>
            <a:r>
              <a:rPr lang="ko-KR" altLang="en-US" sz="1100" dirty="0"/>
              <a:t>에 </a:t>
            </a:r>
            <a:r>
              <a:rPr lang="ko-KR" altLang="en-US" sz="1100" dirty="0" err="1"/>
              <a:t>첫번째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컬럼으로</a:t>
            </a:r>
            <a:r>
              <a:rPr lang="ko-KR" altLang="en-US" sz="1100" dirty="0"/>
              <a:t> 지정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High cardinality </a:t>
            </a:r>
            <a:r>
              <a:rPr lang="ko-KR" altLang="en-US" sz="1100" b="1" dirty="0" err="1"/>
              <a:t>컬럼</a:t>
            </a:r>
            <a:r>
              <a:rPr lang="ko-KR" altLang="en-US" sz="1100" b="1" dirty="0"/>
              <a:t> 분리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오른쪽 예와 같이 </a:t>
            </a:r>
            <a:r>
              <a:rPr lang="en-US" altLang="ko-KR" sz="1100" dirty="0"/>
              <a:t>high cardinality</a:t>
            </a:r>
            <a:r>
              <a:rPr lang="ko-KR" altLang="en-US" sz="1100" dirty="0"/>
              <a:t>를 가지는 </a:t>
            </a:r>
            <a:r>
              <a:rPr lang="ko-KR" altLang="en-US" sz="1100" dirty="0" err="1"/>
              <a:t>컬럼에</a:t>
            </a:r>
            <a:r>
              <a:rPr lang="ko-KR" altLang="en-US" sz="1100" dirty="0"/>
              <a:t> 대해서는 </a:t>
            </a:r>
            <a:r>
              <a:rPr lang="en-US" altLang="ko-KR" sz="1100" dirty="0"/>
              <a:t>RLE </a:t>
            </a:r>
            <a:r>
              <a:rPr lang="ko-KR" altLang="en-US" sz="1100" dirty="0" err="1"/>
              <a:t>인코딩을</a:t>
            </a:r>
            <a:r>
              <a:rPr lang="ko-KR" altLang="en-US" sz="1100" dirty="0"/>
              <a:t> 적용하기에 적합하지 않고 </a:t>
            </a:r>
            <a:r>
              <a:rPr lang="en-US" altLang="ko-KR" sz="1100" dirty="0"/>
              <a:t>low cardinality </a:t>
            </a:r>
            <a:r>
              <a:rPr lang="ko-KR" altLang="en-US" sz="1100" dirty="0" err="1"/>
              <a:t>컬럼에</a:t>
            </a:r>
            <a:r>
              <a:rPr lang="ko-KR" altLang="en-US" sz="1100" dirty="0"/>
              <a:t> 비해 쿼리 최적화가 용이하지 않다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이와 같은 경우 </a:t>
            </a:r>
            <a:r>
              <a:rPr lang="en-US" altLang="ko-KR" sz="1100"/>
              <a:t>low </a:t>
            </a:r>
            <a:r>
              <a:rPr lang="en-US" altLang="ko-KR" sz="1100" dirty="0"/>
              <a:t>cardinality</a:t>
            </a:r>
            <a:r>
              <a:rPr lang="ko-KR" altLang="en-US" sz="1100" dirty="0"/>
              <a:t>를 만들 수 있는 </a:t>
            </a:r>
            <a:r>
              <a:rPr lang="ko-KR" altLang="en-US" sz="1100" dirty="0" err="1"/>
              <a:t>컬럼을</a:t>
            </a:r>
            <a:r>
              <a:rPr lang="ko-KR" altLang="en-US" sz="1100" dirty="0"/>
              <a:t> 추가하여 </a:t>
            </a:r>
            <a:r>
              <a:rPr lang="en-US" altLang="ko-KR" sz="1100" dirty="0"/>
              <a:t>RLE </a:t>
            </a:r>
            <a:r>
              <a:rPr lang="ko-KR" altLang="en-US" sz="1100" dirty="0" err="1"/>
              <a:t>인코딩과</a:t>
            </a:r>
            <a:r>
              <a:rPr lang="ko-KR" altLang="en-US" sz="1100" dirty="0"/>
              <a:t> </a:t>
            </a:r>
            <a:r>
              <a:rPr lang="ko-KR" altLang="en-US" sz="1100" dirty="0" err="1"/>
              <a:t>프로젝션의</a:t>
            </a:r>
            <a:r>
              <a:rPr lang="ko-KR" altLang="en-US" sz="1100" dirty="0"/>
              <a:t> </a:t>
            </a:r>
            <a:r>
              <a:rPr lang="en-US" altLang="ko-KR" sz="1100" dirty="0"/>
              <a:t>ORDER BY</a:t>
            </a:r>
            <a:r>
              <a:rPr lang="ko-KR" altLang="en-US" sz="1100" dirty="0"/>
              <a:t>를 적용할 경우 조회 속도가 향상될 수 있다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단</a:t>
            </a:r>
            <a:r>
              <a:rPr lang="en-US" altLang="ko-KR" sz="1100" dirty="0"/>
              <a:t>, </a:t>
            </a:r>
            <a:r>
              <a:rPr lang="ko-KR" altLang="en-US" sz="1100" dirty="0"/>
              <a:t>이 경우 물리모델</a:t>
            </a:r>
            <a:r>
              <a:rPr lang="en-US" altLang="ko-KR" sz="1100" dirty="0"/>
              <a:t>(</a:t>
            </a:r>
            <a:r>
              <a:rPr lang="ko-KR" altLang="en-US" sz="1100" dirty="0"/>
              <a:t>테이블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프로젝션</a:t>
            </a:r>
            <a:r>
              <a:rPr lang="en-US" altLang="ko-KR" sz="1100" dirty="0"/>
              <a:t>)</a:t>
            </a:r>
            <a:r>
              <a:rPr lang="ko-KR" altLang="en-US" sz="1100" dirty="0"/>
              <a:t>과</a:t>
            </a:r>
            <a:r>
              <a:rPr lang="en-US" altLang="ko-KR" sz="1100" dirty="0"/>
              <a:t> </a:t>
            </a:r>
            <a:r>
              <a:rPr lang="ko-KR" altLang="en-US" sz="1100" dirty="0"/>
              <a:t>쿼리의 변환이 필요하다</a:t>
            </a:r>
            <a:endParaRPr lang="en-US" altLang="ko-KR" sz="1100" dirty="0"/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8"/>
          <p:cNvSpPr/>
          <p:nvPr/>
        </p:nvSpPr>
        <p:spPr>
          <a:xfrm>
            <a:off x="693738" y="1534839"/>
            <a:ext cx="5057527" cy="526009"/>
          </a:xfrm>
          <a:prstGeom prst="roundRect">
            <a:avLst>
              <a:gd name="adj" fmla="val 111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SELECT * FROM trades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WHERE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trade_date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BETWEEN '2007-11-01' AND '2007-12-01';</a:t>
            </a:r>
          </a:p>
        </p:txBody>
      </p:sp>
      <p:sp>
        <p:nvSpPr>
          <p:cNvPr id="9" name="Rounded Rectangle 9"/>
          <p:cNvSpPr/>
          <p:nvPr/>
        </p:nvSpPr>
        <p:spPr>
          <a:xfrm>
            <a:off x="693737" y="3392996"/>
            <a:ext cx="5057527" cy="634900"/>
          </a:xfrm>
          <a:prstGeom prst="roundRect">
            <a:avLst>
              <a:gd name="adj" fmla="val 111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SELECT * FROM trades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WHERE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trade_year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= 2007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AND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trade_date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BETWEEN '2007-11-01' AND '2007-12-01';</a:t>
            </a:r>
          </a:p>
        </p:txBody>
      </p:sp>
      <p:sp>
        <p:nvSpPr>
          <p:cNvPr id="10" name="Rounded Rectangle 12"/>
          <p:cNvSpPr/>
          <p:nvPr/>
        </p:nvSpPr>
        <p:spPr>
          <a:xfrm>
            <a:off x="693738" y="4415159"/>
            <a:ext cx="5057527" cy="526009"/>
          </a:xfrm>
          <a:prstGeom prst="roundRect">
            <a:avLst>
              <a:gd name="adj" fmla="val 111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SELECT FROM table1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WHERE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pk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IN (12345, 12346, 12347,...);</a:t>
            </a:r>
          </a:p>
        </p:txBody>
      </p:sp>
      <p:sp>
        <p:nvSpPr>
          <p:cNvPr id="11" name="Rounded Rectangle 13"/>
          <p:cNvSpPr/>
          <p:nvPr/>
        </p:nvSpPr>
        <p:spPr>
          <a:xfrm>
            <a:off x="693736" y="5673825"/>
            <a:ext cx="5057527" cy="634900"/>
          </a:xfrm>
          <a:prstGeom prst="roundRect">
            <a:avLst>
              <a:gd name="adj" fmla="val 111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SELECT FROM table1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WHERE buckets = 1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AND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pk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IN (12345, 12346, 12347,...);</a:t>
            </a:r>
          </a:p>
        </p:txBody>
      </p:sp>
      <p:graphicFrame>
        <p:nvGraphicFramePr>
          <p:cNvPr id="12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7138324"/>
              </p:ext>
            </p:extLst>
          </p:nvPr>
        </p:nvGraphicFramePr>
        <p:xfrm>
          <a:off x="6788348" y="2613776"/>
          <a:ext cx="1440160" cy="1558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PK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COL1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25035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62542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12466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73462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13575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62634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27574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12647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1917900"/>
              </p:ext>
            </p:extLst>
          </p:nvPr>
        </p:nvGraphicFramePr>
        <p:xfrm>
          <a:off x="9550797" y="2613776"/>
          <a:ext cx="1440159" cy="1558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80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0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Bucket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PK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COL1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8">
                <a:tc rowSpan="3"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12466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8">
                <a:tc vMerge="1">
                  <a:txBody>
                    <a:bodyPr/>
                    <a:lstStyle/>
                    <a:p>
                      <a:pPr algn="r" latinLnBrk="1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13575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8">
                <a:tc vMerge="1">
                  <a:txBody>
                    <a:bodyPr/>
                    <a:lstStyle/>
                    <a:p>
                      <a:pPr algn="r" latinLnBrk="1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12647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8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25035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8">
                <a:tc vMerge="1">
                  <a:txBody>
                    <a:bodyPr/>
                    <a:lstStyle/>
                    <a:p>
                      <a:pPr algn="r" latinLnBrk="1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27574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8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62542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008">
                <a:tc vMerge="1">
                  <a:txBody>
                    <a:bodyPr/>
                    <a:lstStyle/>
                    <a:p>
                      <a:pPr algn="r" latinLnBrk="1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62634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73462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" name="Right Arrow 6"/>
          <p:cNvSpPr/>
          <p:nvPr/>
        </p:nvSpPr>
        <p:spPr>
          <a:xfrm>
            <a:off x="8686700" y="3284984"/>
            <a:ext cx="432048" cy="288032"/>
          </a:xfrm>
          <a:prstGeom prst="rightArrow">
            <a:avLst/>
          </a:prstGeom>
          <a:solidFill>
            <a:schemeClr val="bg1">
              <a:lumMod val="50000"/>
            </a:schemeClr>
          </a:solidFill>
          <a:ln w="1905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58299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Merge </a:t>
            </a:r>
            <a:r>
              <a:rPr lang="ko-KR" altLang="en-US" sz="2800" dirty="0"/>
              <a:t>성능을 위한 </a:t>
            </a:r>
            <a:r>
              <a:rPr lang="ko-KR" altLang="en-US" sz="2800" dirty="0" err="1"/>
              <a:t>프로젝션</a:t>
            </a:r>
            <a:r>
              <a:rPr lang="ko-KR" altLang="en-US" sz="2800" dirty="0"/>
              <a:t> 최적화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쿼리 성능 최적화</a:t>
            </a:r>
            <a:endParaRPr lang="ko-KR" altLang="en-US" dirty="0"/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Example</a:t>
            </a:r>
            <a:endParaRPr lang="ko-KR" altLang="en-US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쿼리 </a:t>
            </a:r>
            <a:r>
              <a:rPr lang="en-US" altLang="ko-KR" sz="1100" dirty="0"/>
              <a:t>Plan </a:t>
            </a:r>
            <a:r>
              <a:rPr lang="ko-KR" altLang="en-US" sz="1100" dirty="0"/>
              <a:t>최적화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조인 </a:t>
            </a:r>
            <a:r>
              <a:rPr lang="ko-KR" altLang="en-US" sz="1100" dirty="0" err="1"/>
              <a:t>컬럼</a:t>
            </a:r>
            <a:r>
              <a:rPr lang="ko-KR" altLang="en-US" sz="1100" dirty="0"/>
              <a:t> 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t.a</a:t>
            </a:r>
            <a:r>
              <a:rPr lang="en-US" altLang="ko-KR" sz="1100" dirty="0"/>
              <a:t> = </a:t>
            </a:r>
            <a:r>
              <a:rPr lang="en-US" altLang="ko-KR" sz="1100" dirty="0" err="1"/>
              <a:t>s.a</a:t>
            </a:r>
            <a:r>
              <a:rPr lang="en-US" altLang="ko-KR" sz="1100" dirty="0"/>
              <a:t>)</a:t>
            </a:r>
            <a:r>
              <a:rPr lang="ko-KR" altLang="en-US" sz="1100" dirty="0"/>
              <a:t>은 </a:t>
            </a:r>
            <a:r>
              <a:rPr lang="en-US" altLang="ko-KR" sz="1100" dirty="0"/>
              <a:t>PK constraint </a:t>
            </a:r>
            <a:r>
              <a:rPr lang="ko-KR" altLang="en-US" sz="1100" dirty="0"/>
              <a:t>정의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Target </a:t>
            </a:r>
            <a:r>
              <a:rPr lang="ko-KR" altLang="en-US" sz="1100" dirty="0"/>
              <a:t>테이블의 모든 </a:t>
            </a:r>
            <a:r>
              <a:rPr lang="ko-KR" altLang="en-US" sz="1100" dirty="0" err="1"/>
              <a:t>컬럼</a:t>
            </a:r>
            <a:r>
              <a:rPr lang="ko-KR" altLang="en-US" sz="1100" dirty="0"/>
              <a:t> </a:t>
            </a:r>
            <a:r>
              <a:rPr lang="en-US" altLang="ko-KR" sz="1100" dirty="0"/>
              <a:t>(</a:t>
            </a:r>
            <a:r>
              <a:rPr lang="en-US" altLang="ko-KR" sz="1100" dirty="0" err="1"/>
              <a:t>a,b,c</a:t>
            </a:r>
            <a:r>
              <a:rPr lang="en-US" altLang="ko-KR" sz="1100" dirty="0"/>
              <a:t>)</a:t>
            </a:r>
            <a:r>
              <a:rPr lang="ko-KR" altLang="en-US" sz="1100" dirty="0"/>
              <a:t>는 </a:t>
            </a:r>
            <a:r>
              <a:rPr lang="en-US" altLang="ko-KR" sz="1100" dirty="0"/>
              <a:t>INSERT</a:t>
            </a:r>
            <a:r>
              <a:rPr lang="ko-KR" altLang="en-US" sz="1100" dirty="0"/>
              <a:t>와 </a:t>
            </a:r>
            <a:r>
              <a:rPr lang="en-US" altLang="ko-KR" sz="1100" dirty="0"/>
              <a:t>UPDATE</a:t>
            </a:r>
            <a:r>
              <a:rPr lang="ko-KR" altLang="en-US" sz="1100" dirty="0"/>
              <a:t>에서 모두 포함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INSERT</a:t>
            </a:r>
            <a:r>
              <a:rPr lang="ko-KR" altLang="en-US" sz="1100" dirty="0"/>
              <a:t>와 </a:t>
            </a:r>
            <a:r>
              <a:rPr lang="en-US" altLang="ko-KR" sz="1100" dirty="0"/>
              <a:t>UPDATE</a:t>
            </a:r>
            <a:r>
              <a:rPr lang="ko-KR" altLang="en-US" sz="1100" dirty="0"/>
              <a:t>에서 사용되는 </a:t>
            </a:r>
            <a:r>
              <a:rPr lang="ko-KR" altLang="en-US" sz="1100" dirty="0" err="1"/>
              <a:t>컬럼</a:t>
            </a:r>
            <a:r>
              <a:rPr lang="ko-KR" altLang="en-US" sz="1100" dirty="0"/>
              <a:t> 속성 및 데이터는 동일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Source </a:t>
            </a:r>
            <a:r>
              <a:rPr lang="ko-KR" altLang="en-US" sz="1100" dirty="0"/>
              <a:t>테이블은 </a:t>
            </a:r>
            <a:r>
              <a:rPr lang="en-US" altLang="ko-KR" sz="1100" dirty="0"/>
              <a:t>target </a:t>
            </a:r>
            <a:r>
              <a:rPr lang="ko-KR" altLang="en-US" sz="1100"/>
              <a:t>테이블 보다 </a:t>
            </a:r>
            <a:r>
              <a:rPr lang="ko-KR" altLang="en-US" sz="1100" dirty="0"/>
              <a:t>작도록 작성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 err="1"/>
              <a:t>프로젝션</a:t>
            </a:r>
            <a:r>
              <a:rPr lang="ko-KR" altLang="en-US" sz="1100" dirty="0"/>
              <a:t> 최적화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Replicated </a:t>
            </a:r>
            <a:r>
              <a:rPr lang="ko-KR" altLang="en-US" sz="1100" dirty="0" err="1"/>
              <a:t>프로젝션의</a:t>
            </a:r>
            <a:r>
              <a:rPr lang="ko-KR" altLang="en-US" sz="1100" dirty="0"/>
              <a:t> 경우 조인 조건 </a:t>
            </a:r>
            <a:r>
              <a:rPr lang="ko-KR" altLang="en-US" sz="1100" dirty="0" err="1"/>
              <a:t>컬럼은</a:t>
            </a:r>
            <a:r>
              <a:rPr lang="ko-KR" altLang="en-US" sz="1100" dirty="0"/>
              <a:t> 모두 동일하게 정렬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Segmented </a:t>
            </a:r>
            <a:r>
              <a:rPr lang="ko-KR" altLang="en-US" sz="1100" dirty="0" err="1"/>
              <a:t>프로젝션의</a:t>
            </a:r>
            <a:r>
              <a:rPr lang="ko-KR" altLang="en-US" sz="1100" dirty="0"/>
              <a:t> 경우 조인 조건 </a:t>
            </a:r>
            <a:r>
              <a:rPr lang="ko-KR" altLang="en-US" sz="1100" dirty="0" err="1"/>
              <a:t>컬럼으로</a:t>
            </a:r>
            <a:r>
              <a:rPr lang="ko-KR" altLang="en-US" sz="1100" dirty="0"/>
              <a:t> </a:t>
            </a:r>
            <a:r>
              <a:rPr lang="en-US" altLang="ko-KR" sz="1100" dirty="0"/>
              <a:t>segment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Optimized Merge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WHEN MATCHED THEN UPDATE SET </a:t>
            </a:r>
            <a:r>
              <a:rPr lang="ko-KR" altLang="en-US" sz="1100" dirty="0"/>
              <a:t>와 </a:t>
            </a:r>
            <a:r>
              <a:rPr lang="en-US" altLang="ko-KR" sz="1100" dirty="0"/>
              <a:t>WHEN NOT MATCHED THEN INSERT </a:t>
            </a:r>
            <a:r>
              <a:rPr lang="ko-KR" altLang="en-US" sz="1100" dirty="0"/>
              <a:t>함께 기술되어야 함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update and insert filters </a:t>
            </a:r>
            <a:r>
              <a:rPr lang="ko-KR" altLang="en-US" sz="1100" dirty="0"/>
              <a:t>가 적용되면 안됨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타겟 테이블의 조인에 참여하는 컬럼은 반드시 </a:t>
            </a:r>
            <a:r>
              <a:rPr lang="en-US" altLang="ko-KR" sz="1100" dirty="0"/>
              <a:t>unique or primary key </a:t>
            </a:r>
            <a:r>
              <a:rPr lang="ko-KR" altLang="en-US" sz="1100" dirty="0"/>
              <a:t>제약조건이 존재해야 함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두 </a:t>
            </a:r>
            <a:r>
              <a:rPr lang="en-US" altLang="ko-KR" sz="1100" dirty="0"/>
              <a:t>match </a:t>
            </a:r>
            <a:r>
              <a:rPr lang="ko-KR" altLang="en-US" sz="1100" dirty="0"/>
              <a:t>절에는 타겟 테이블의 모든 컬럼이 포함되어야 함</a:t>
            </a:r>
            <a:r>
              <a:rPr lang="en-US" altLang="ko-KR" sz="1100" dirty="0"/>
              <a:t>(</a:t>
            </a:r>
            <a:r>
              <a:rPr lang="ko-KR" altLang="en-US" sz="1100" dirty="0" err="1"/>
              <a:t>조인컬럼</a:t>
            </a:r>
            <a:r>
              <a:rPr lang="ko-KR" altLang="en-US" sz="1100" dirty="0"/>
              <a:t> 포함</a:t>
            </a:r>
            <a:r>
              <a:rPr lang="en-US" altLang="ko-KR" sz="1100" dirty="0"/>
              <a:t>)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두 </a:t>
            </a:r>
            <a:r>
              <a:rPr lang="en-US" altLang="ko-KR" sz="1100" dirty="0"/>
              <a:t>match </a:t>
            </a:r>
            <a:r>
              <a:rPr lang="ko-KR" altLang="en-US" sz="1100" dirty="0"/>
              <a:t>절에 포함되는 </a:t>
            </a:r>
            <a:r>
              <a:rPr lang="en-US" altLang="ko-KR" sz="1100" dirty="0"/>
              <a:t>expression</a:t>
            </a:r>
            <a:r>
              <a:rPr lang="ko-KR" altLang="en-US" sz="1100" dirty="0"/>
              <a:t>은 동일할 것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소스</a:t>
            </a:r>
            <a:r>
              <a:rPr lang="en-US" altLang="ko-KR" sz="1100" dirty="0"/>
              <a:t>/</a:t>
            </a:r>
            <a:r>
              <a:rPr lang="ko-KR" altLang="en-US" sz="1100" dirty="0"/>
              <a:t>타겟 테이블이 </a:t>
            </a:r>
            <a:r>
              <a:rPr lang="en-US" altLang="ko-KR" sz="1100" dirty="0"/>
              <a:t>ISP(Identically-segmented projections) </a:t>
            </a:r>
            <a:r>
              <a:rPr lang="ko-KR" altLang="en-US" sz="1100" dirty="0"/>
              <a:t>일 경우 가장 이상적인 성능 보장</a:t>
            </a:r>
            <a:endParaRPr lang="en-US" altLang="ko-KR" sz="1100" dirty="0"/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ko-KR" altLang="en-US" sz="1100" dirty="0"/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5"/>
          <p:cNvSpPr/>
          <p:nvPr/>
        </p:nvSpPr>
        <p:spPr>
          <a:xfrm>
            <a:off x="693738" y="1534839"/>
            <a:ext cx="5057527" cy="886049"/>
          </a:xfrm>
          <a:prstGeom prst="roundRect">
            <a:avLst>
              <a:gd name="adj" fmla="val 111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MERGE INTO target t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USING source s ON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t.a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=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s.a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 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WHEN MATCHED THEN UPDATE SET a=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s.a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, b=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s.b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, c=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s.c</a:t>
            </a:r>
            <a:endParaRPr lang="en-US" altLang="ko-KR" sz="9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WHEN NOT MATCHED THEN INSERT(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a,b,c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) VALUES(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s.a,s.b,s.c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C9DA434-C5FD-43DD-BA1E-BA2CF6315C9A}"/>
              </a:ext>
            </a:extLst>
          </p:cNvPr>
          <p:cNvSpPr txBox="1">
            <a:spLocks/>
          </p:cNvSpPr>
          <p:nvPr/>
        </p:nvSpPr>
        <p:spPr>
          <a:xfrm>
            <a:off x="6123577" y="1295401"/>
            <a:ext cx="5314328" cy="50133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ko-KR" altLang="en-US" sz="1100" b="1" dirty="0"/>
              <a:t>실행계획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altLang="ko-KR" sz="1100" b="1" dirty="0">
                <a:solidFill>
                  <a:schemeClr val="tx2"/>
                </a:solidFill>
              </a:rPr>
              <a:t>optimized</a:t>
            </a:r>
            <a:r>
              <a:rPr lang="ko-KR" altLang="en-US" sz="1100" b="1" dirty="0">
                <a:solidFill>
                  <a:schemeClr val="tx2"/>
                </a:solidFill>
              </a:rPr>
              <a:t> </a:t>
            </a:r>
            <a:r>
              <a:rPr lang="en-US" altLang="ko-KR" sz="1100" b="1" dirty="0">
                <a:solidFill>
                  <a:schemeClr val="tx2"/>
                </a:solidFill>
              </a:rPr>
              <a:t>merge</a:t>
            </a:r>
            <a:br>
              <a:rPr lang="en-US" altLang="ko-KR" sz="1100" dirty="0"/>
            </a:br>
            <a:r>
              <a:rPr lang="en-US" altLang="ko-KR" sz="1100" dirty="0"/>
              <a:t>(</a:t>
            </a:r>
            <a:r>
              <a:rPr lang="ko-KR" altLang="en-US" sz="1100" dirty="0"/>
              <a:t>공식문서에는 </a:t>
            </a:r>
            <a:r>
              <a:rPr lang="en-US" altLang="ko-KR" sz="1100" dirty="0"/>
              <a:t>semi </a:t>
            </a:r>
            <a:r>
              <a:rPr lang="ko-KR" altLang="en-US" sz="1100" dirty="0"/>
              <a:t>로 풀린다고 기술되어 있으나 버전이 올라가면서 </a:t>
            </a:r>
            <a:r>
              <a:rPr lang="en-US" altLang="ko-KR" sz="1100" dirty="0"/>
              <a:t>join </a:t>
            </a:r>
            <a:r>
              <a:rPr lang="ko-KR" altLang="en-US" sz="1100" dirty="0"/>
              <a:t>자체가 실행계획에 나타나지 않음</a:t>
            </a:r>
            <a:r>
              <a:rPr lang="en-US" altLang="ko-KR" sz="1100" dirty="0"/>
              <a:t>)</a:t>
            </a:r>
            <a:endParaRPr lang="en-US" altLang="ko-KR" dirty="0"/>
          </a:p>
          <a:p>
            <a:pPr marL="228600" lvl="1" indent="0">
              <a:lnSpc>
                <a:spcPct val="100000"/>
              </a:lnSpc>
              <a:spcAft>
                <a:spcPts val="0"/>
              </a:spcAft>
              <a:buNone/>
            </a:pPr>
            <a:endParaRPr lang="en-US" altLang="ko-KR" sz="10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altLang="ko-KR" sz="1100" b="1" dirty="0">
                <a:solidFill>
                  <a:schemeClr val="tx2"/>
                </a:solidFill>
              </a:rPr>
              <a:t>non-optimized merge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BE39889-4138-47CD-9679-716891D81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535" y="2077966"/>
            <a:ext cx="5622503" cy="135103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843160C-4661-41CC-A3B2-4F4B2D86B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005" y="3919625"/>
            <a:ext cx="5621033" cy="229084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0333405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Group by </a:t>
            </a:r>
            <a:r>
              <a:rPr lang="ko-KR" altLang="en-US" sz="2800" dirty="0"/>
              <a:t>쿼리 성능 최적화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쿼리 성능 최적화</a:t>
            </a:r>
            <a:endParaRPr lang="ko-KR" altLang="en-US" dirty="0"/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Partially Sorted GROUPBY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집계하고자 하는 </a:t>
            </a:r>
            <a:r>
              <a:rPr lang="ko-KR" altLang="en-US" sz="1100" dirty="0" err="1"/>
              <a:t>컬럼의</a:t>
            </a:r>
            <a:r>
              <a:rPr lang="ko-KR" altLang="en-US" sz="1100" dirty="0"/>
              <a:t> 일부가 정렬되어 있는 </a:t>
            </a:r>
            <a:r>
              <a:rPr lang="ko-KR" altLang="en-US" sz="1100" dirty="0" err="1"/>
              <a:t>프로젝션에</a:t>
            </a:r>
            <a:r>
              <a:rPr lang="ko-KR" altLang="en-US" sz="1100" dirty="0"/>
              <a:t> 대한 쿼리가 일어날 때 집계 성능을 극대화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 err="1"/>
              <a:t>옵티마이저는</a:t>
            </a:r>
            <a:r>
              <a:rPr lang="ko-KR" altLang="en-US" sz="1100" dirty="0"/>
              <a:t> 대량의 데이터에 대해 집계할 때 </a:t>
            </a:r>
            <a:r>
              <a:rPr lang="en-US" altLang="ko-KR" sz="1100" dirty="0"/>
              <a:t>partially sorted </a:t>
            </a:r>
            <a:r>
              <a:rPr lang="en-US" altLang="ko-KR" sz="1100" dirty="0" err="1"/>
              <a:t>groupby</a:t>
            </a:r>
            <a:r>
              <a:rPr lang="en-US" altLang="ko-KR" sz="1100" dirty="0"/>
              <a:t> </a:t>
            </a:r>
            <a:r>
              <a:rPr lang="ko-KR" altLang="en-US" sz="1100" dirty="0"/>
              <a:t>최적화를 시도한다</a:t>
            </a:r>
            <a:r>
              <a:rPr lang="en-US" altLang="ko-KR" sz="1100" dirty="0"/>
              <a:t>.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쿼리 수행 중 </a:t>
            </a:r>
            <a:r>
              <a:rPr lang="en-US" altLang="ko-KR" sz="1100" dirty="0"/>
              <a:t>hash </a:t>
            </a:r>
            <a:r>
              <a:rPr lang="ko-KR" altLang="en-US" sz="1100" dirty="0"/>
              <a:t>테이블이 만들어져 디스크에 기록되는 일을 방지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 err="1"/>
              <a:t>메모리안에서</a:t>
            </a:r>
            <a:r>
              <a:rPr lang="ko-KR" altLang="en-US" sz="1100" dirty="0"/>
              <a:t> 전체 데이터가 처리될 수 있을 때는 사용되지 않음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GROUP BY </a:t>
            </a:r>
            <a:r>
              <a:rPr lang="ko-KR" altLang="en-US" sz="1100" b="1" dirty="0"/>
              <a:t>처리 중 </a:t>
            </a:r>
            <a:r>
              <a:rPr lang="en-US" altLang="ko-KR" sz="1100" b="1" dirty="0" err="1"/>
              <a:t>Resegmentation</a:t>
            </a:r>
            <a:r>
              <a:rPr lang="ko-KR" altLang="en-US" sz="1100" b="1" dirty="0"/>
              <a:t>를 발생시키지 않도록</a:t>
            </a:r>
            <a:r>
              <a:rPr lang="en-US" altLang="ko-KR" sz="1100" b="1" dirty="0"/>
              <a:t> </a:t>
            </a:r>
            <a:r>
              <a:rPr lang="ko-KR" altLang="en-US" sz="1100" b="1" dirty="0" err="1"/>
              <a:t>프로젝션</a:t>
            </a:r>
            <a:r>
              <a:rPr lang="ko-KR" altLang="en-US" sz="1100" b="1" dirty="0"/>
              <a:t> 설계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Distributed group by vs. Local group by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Group by </a:t>
            </a:r>
            <a:r>
              <a:rPr lang="ko-KR" altLang="en-US" sz="1100" dirty="0"/>
              <a:t>대상 데이터가 여러 </a:t>
            </a:r>
            <a:r>
              <a:rPr lang="ko-KR" altLang="en-US" sz="1100" dirty="0" err="1"/>
              <a:t>노드에</a:t>
            </a:r>
            <a:r>
              <a:rPr lang="ko-KR" altLang="en-US" sz="1100" dirty="0"/>
              <a:t> 분산되어 있을 때 데이터가 </a:t>
            </a:r>
            <a:r>
              <a:rPr lang="ko-KR" altLang="en-US" sz="1100" dirty="0" err="1"/>
              <a:t>노드간</a:t>
            </a:r>
            <a:r>
              <a:rPr lang="ko-KR" altLang="en-US" sz="1100" dirty="0"/>
              <a:t> 이동되는 </a:t>
            </a:r>
            <a:r>
              <a:rPr lang="en-US" altLang="ko-KR" sz="1100" dirty="0" err="1"/>
              <a:t>resegment</a:t>
            </a:r>
            <a:r>
              <a:rPr lang="ko-KR" altLang="en-US" sz="1100" dirty="0"/>
              <a:t>가 발생하고 성능이 저하됨  </a:t>
            </a:r>
            <a:r>
              <a:rPr lang="en-US" altLang="ko-KR" sz="1100" dirty="0"/>
              <a:t>(distributed group by)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Query plan</a:t>
            </a:r>
            <a:r>
              <a:rPr lang="ko-KR" altLang="en-US" sz="1100" dirty="0"/>
              <a:t>을 확인하여 </a:t>
            </a:r>
            <a:r>
              <a:rPr lang="en-US" altLang="ko-KR" sz="1100" dirty="0"/>
              <a:t>RESEGMENT GROUP </a:t>
            </a:r>
            <a:r>
              <a:rPr lang="ko-KR" altLang="en-US" sz="1100" dirty="0"/>
              <a:t>이 표시되면 </a:t>
            </a:r>
            <a:r>
              <a:rPr lang="en-US" altLang="ko-KR" sz="1100" dirty="0"/>
              <a:t>distributed group by</a:t>
            </a:r>
            <a:r>
              <a:rPr lang="ko-KR" altLang="en-US" sz="1100" dirty="0"/>
              <a:t>로 처리됨을 확인 가능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 err="1"/>
              <a:t>Resegment</a:t>
            </a:r>
            <a:r>
              <a:rPr lang="ko-KR" altLang="en-US" sz="1100" dirty="0"/>
              <a:t>를 피하기 위해서는 </a:t>
            </a:r>
            <a:r>
              <a:rPr lang="en-US" altLang="ko-KR" sz="1100" dirty="0"/>
              <a:t>GROUP BY</a:t>
            </a:r>
            <a:r>
              <a:rPr lang="ko-KR" altLang="en-US" sz="1100" dirty="0"/>
              <a:t>절의 </a:t>
            </a:r>
            <a:r>
              <a:rPr lang="ko-KR" altLang="en-US" sz="1100" dirty="0" err="1"/>
              <a:t>컬럼이</a:t>
            </a:r>
            <a:r>
              <a:rPr lang="ko-KR" altLang="en-US" sz="1100" dirty="0"/>
              <a:t> </a:t>
            </a:r>
            <a:r>
              <a:rPr lang="en-US" altLang="ko-KR" sz="1100" dirty="0"/>
              <a:t>segment </a:t>
            </a:r>
            <a:r>
              <a:rPr lang="ko-KR" altLang="en-US" sz="1100" dirty="0" err="1"/>
              <a:t>컬럼</a:t>
            </a:r>
            <a:r>
              <a:rPr lang="ko-KR" altLang="en-US" sz="1100" dirty="0"/>
              <a:t> 모두를 포함하고 있어야 함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Local group by</a:t>
            </a:r>
            <a:r>
              <a:rPr lang="ko-KR" altLang="en-US" sz="1100" dirty="0"/>
              <a:t>의 예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SEGMENTED BY HASH(</a:t>
            </a:r>
            <a:r>
              <a:rPr lang="en-US" altLang="ko-KR" sz="1100" dirty="0" err="1"/>
              <a:t>a,b</a:t>
            </a:r>
            <a:r>
              <a:rPr lang="en-US" altLang="ko-KR" sz="1100" dirty="0"/>
              <a:t>)</a:t>
            </a:r>
            <a:r>
              <a:rPr lang="ko-KR" altLang="en-US" sz="1100" dirty="0"/>
              <a:t>로 </a:t>
            </a:r>
            <a:r>
              <a:rPr lang="ko-KR" altLang="en-US" sz="1100" dirty="0" err="1"/>
              <a:t>프로젝션이</a:t>
            </a:r>
            <a:r>
              <a:rPr lang="ko-KR" altLang="en-US" sz="1100" dirty="0"/>
              <a:t> 정의되어 있는 경우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GROUP BY a</a:t>
            </a:r>
            <a:r>
              <a:rPr lang="ko-KR" altLang="en-US" sz="1100" dirty="0"/>
              <a:t>나 </a:t>
            </a:r>
            <a:r>
              <a:rPr lang="en-US" altLang="ko-KR" sz="1100" dirty="0"/>
              <a:t>GROUP BY a+1, b</a:t>
            </a:r>
            <a:r>
              <a:rPr lang="ko-KR" altLang="en-US" sz="1100" dirty="0"/>
              <a:t>는 </a:t>
            </a:r>
            <a:r>
              <a:rPr lang="en-US" altLang="ko-KR" sz="1100" dirty="0" err="1"/>
              <a:t>resegment</a:t>
            </a:r>
            <a:r>
              <a:rPr lang="en-US" altLang="ko-KR" sz="1100" dirty="0"/>
              <a:t> </a:t>
            </a:r>
            <a:r>
              <a:rPr lang="ko-KR" altLang="en-US" sz="1100" dirty="0"/>
              <a:t>발생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GROUP BY </a:t>
            </a:r>
            <a:r>
              <a:rPr lang="en-US" altLang="ko-KR" sz="1100" dirty="0" err="1"/>
              <a:t>a,b</a:t>
            </a:r>
            <a:r>
              <a:rPr lang="ko-KR" altLang="en-US" sz="1100" dirty="0"/>
              <a:t>나 </a:t>
            </a:r>
            <a:r>
              <a:rPr lang="en-US" altLang="ko-KR" sz="1100" dirty="0"/>
              <a:t>GROUP BY </a:t>
            </a:r>
            <a:r>
              <a:rPr lang="en-US" altLang="ko-KR" sz="1100" dirty="0" err="1"/>
              <a:t>a,b,c</a:t>
            </a:r>
            <a:r>
              <a:rPr lang="ko-KR" altLang="en-US" sz="1100" dirty="0"/>
              <a:t>는 </a:t>
            </a:r>
            <a:r>
              <a:rPr lang="en-US" altLang="ko-KR" sz="1100" dirty="0" err="1"/>
              <a:t>resegment</a:t>
            </a:r>
            <a:r>
              <a:rPr lang="ko-KR" altLang="en-US" sz="1100" dirty="0"/>
              <a:t>가 발생하지 않음</a:t>
            </a:r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spcAft>
                <a:spcPts val="0"/>
              </a:spcAft>
            </a:pPr>
            <a:r>
              <a:rPr lang="en-US" altLang="ko-KR" sz="1100" b="1" dirty="0">
                <a:solidFill>
                  <a:prstClr val="black"/>
                </a:solidFill>
              </a:rPr>
              <a:t>GROUPBY HASH </a:t>
            </a:r>
            <a:r>
              <a:rPr lang="ko-KR" altLang="en-US" sz="1100" b="1" dirty="0">
                <a:solidFill>
                  <a:prstClr val="black"/>
                </a:solidFill>
              </a:rPr>
              <a:t>를 피하도록 </a:t>
            </a:r>
            <a:r>
              <a:rPr lang="ko-KR" altLang="en-US" sz="1100" b="1" dirty="0" err="1">
                <a:solidFill>
                  <a:prstClr val="black"/>
                </a:solidFill>
              </a:rPr>
              <a:t>프로젝션</a:t>
            </a:r>
            <a:r>
              <a:rPr lang="ko-KR" altLang="en-US" sz="1100" b="1" dirty="0">
                <a:solidFill>
                  <a:prstClr val="black"/>
                </a:solidFill>
              </a:rPr>
              <a:t> 설계</a:t>
            </a:r>
            <a:endParaRPr lang="en-US" altLang="ko-KR" sz="1100" b="1" dirty="0">
              <a:solidFill>
                <a:prstClr val="black"/>
              </a:solidFill>
            </a:endParaRP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>
                <a:solidFill>
                  <a:prstClr val="black"/>
                </a:solidFill>
              </a:rPr>
              <a:t>GROUPBY PIPELINED </a:t>
            </a:r>
            <a:r>
              <a:rPr lang="ko-KR" altLang="en-US" sz="1100" dirty="0">
                <a:solidFill>
                  <a:prstClr val="black"/>
                </a:solidFill>
              </a:rPr>
              <a:t>알고리즘으로 최적화되어야 메모리를 적게 사용하고 쿼리 수행 속도가 향상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 err="1">
                <a:solidFill>
                  <a:prstClr val="black"/>
                </a:solidFill>
              </a:rPr>
              <a:t>프로젝션의</a:t>
            </a:r>
            <a:r>
              <a:rPr lang="ko-KR" altLang="en-US" sz="1100" dirty="0">
                <a:solidFill>
                  <a:prstClr val="black"/>
                </a:solidFill>
              </a:rPr>
              <a:t> </a:t>
            </a:r>
            <a:r>
              <a:rPr lang="en-US" altLang="ko-KR" sz="1100" dirty="0">
                <a:solidFill>
                  <a:prstClr val="black"/>
                </a:solidFill>
              </a:rPr>
              <a:t>order by</a:t>
            </a:r>
            <a:r>
              <a:rPr lang="ko-KR" altLang="en-US" sz="1100" dirty="0">
                <a:solidFill>
                  <a:prstClr val="black"/>
                </a:solidFill>
              </a:rPr>
              <a:t>가 </a:t>
            </a:r>
            <a:r>
              <a:rPr lang="en-US" altLang="ko-KR" sz="1100" dirty="0">
                <a:solidFill>
                  <a:prstClr val="black"/>
                </a:solidFill>
              </a:rPr>
              <a:t>a, b, c</a:t>
            </a:r>
            <a:r>
              <a:rPr lang="ko-KR" altLang="en-US" sz="1100" dirty="0">
                <a:solidFill>
                  <a:prstClr val="black"/>
                </a:solidFill>
              </a:rPr>
              <a:t>라고 가정하고 </a:t>
            </a:r>
            <a:r>
              <a:rPr lang="ko-KR" altLang="en-US" sz="1100" dirty="0" err="1">
                <a:solidFill>
                  <a:prstClr val="black"/>
                </a:solidFill>
              </a:rPr>
              <a:t>프로젝션의</a:t>
            </a:r>
            <a:r>
              <a:rPr lang="ko-KR" altLang="en-US" sz="1100" dirty="0">
                <a:solidFill>
                  <a:prstClr val="black"/>
                </a:solidFill>
              </a:rPr>
              <a:t> </a:t>
            </a:r>
            <a:r>
              <a:rPr lang="en-US" altLang="ko-KR" sz="1100" dirty="0">
                <a:solidFill>
                  <a:prstClr val="black"/>
                </a:solidFill>
              </a:rPr>
              <a:t>order by</a:t>
            </a:r>
            <a:r>
              <a:rPr lang="ko-KR" altLang="en-US" sz="1100" dirty="0">
                <a:solidFill>
                  <a:prstClr val="black"/>
                </a:solidFill>
              </a:rPr>
              <a:t>에 정의된 </a:t>
            </a:r>
            <a:r>
              <a:rPr lang="ko-KR" altLang="en-US" sz="1100" dirty="0" err="1">
                <a:solidFill>
                  <a:prstClr val="black"/>
                </a:solidFill>
              </a:rPr>
              <a:t>컬럼이</a:t>
            </a:r>
            <a:r>
              <a:rPr lang="ko-KR" altLang="en-US" sz="1100" dirty="0">
                <a:solidFill>
                  <a:prstClr val="black"/>
                </a:solidFill>
              </a:rPr>
              <a:t> 쿼리에서 사용되는 경우 </a:t>
            </a:r>
            <a:r>
              <a:rPr lang="en-US" altLang="ko-KR" sz="1100" dirty="0">
                <a:solidFill>
                  <a:prstClr val="black"/>
                </a:solidFill>
              </a:rPr>
              <a:t>GROUPBY PIPELINED</a:t>
            </a:r>
            <a:r>
              <a:rPr lang="ko-KR" altLang="en-US" sz="1100" dirty="0">
                <a:solidFill>
                  <a:prstClr val="black"/>
                </a:solidFill>
              </a:rPr>
              <a:t>로 사용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>
                <a:solidFill>
                  <a:prstClr val="black"/>
                </a:solidFill>
              </a:rPr>
              <a:t>GROUP BY a 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>
                <a:solidFill>
                  <a:prstClr val="black"/>
                </a:solidFill>
              </a:rPr>
              <a:t>GROUP BY </a:t>
            </a:r>
            <a:r>
              <a:rPr lang="en-US" altLang="ko-KR" sz="1100" dirty="0" err="1">
                <a:solidFill>
                  <a:prstClr val="black"/>
                </a:solidFill>
              </a:rPr>
              <a:t>a,b</a:t>
            </a:r>
            <a:r>
              <a:rPr lang="en-US" altLang="ko-KR" sz="1100" dirty="0">
                <a:solidFill>
                  <a:prstClr val="black"/>
                </a:solidFill>
              </a:rPr>
              <a:t> 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>
                <a:solidFill>
                  <a:prstClr val="black"/>
                </a:solidFill>
              </a:rPr>
              <a:t>GROUP BY </a:t>
            </a:r>
            <a:r>
              <a:rPr lang="en-US" altLang="ko-KR" sz="1100" dirty="0" err="1">
                <a:solidFill>
                  <a:prstClr val="black"/>
                </a:solidFill>
              </a:rPr>
              <a:t>b,a</a:t>
            </a:r>
            <a:r>
              <a:rPr lang="en-US" altLang="ko-KR" sz="1100" dirty="0">
                <a:solidFill>
                  <a:prstClr val="black"/>
                </a:solidFill>
              </a:rPr>
              <a:t> 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>
                <a:solidFill>
                  <a:prstClr val="black"/>
                </a:solidFill>
              </a:rPr>
              <a:t>GROUP BY </a:t>
            </a:r>
            <a:r>
              <a:rPr lang="en-US" altLang="ko-KR" sz="1100" dirty="0" err="1">
                <a:solidFill>
                  <a:prstClr val="black"/>
                </a:solidFill>
              </a:rPr>
              <a:t>a,b,c</a:t>
            </a:r>
            <a:r>
              <a:rPr lang="en-US" altLang="ko-KR" sz="1100" dirty="0">
                <a:solidFill>
                  <a:prstClr val="black"/>
                </a:solidFill>
              </a:rPr>
              <a:t> 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>
                <a:solidFill>
                  <a:prstClr val="black"/>
                </a:solidFill>
              </a:rPr>
              <a:t>GROUP BY </a:t>
            </a:r>
            <a:r>
              <a:rPr lang="en-US" altLang="ko-KR" sz="1100" dirty="0" err="1">
                <a:solidFill>
                  <a:prstClr val="black"/>
                </a:solidFill>
              </a:rPr>
              <a:t>c,a,b</a:t>
            </a:r>
            <a:endParaRPr lang="en-US" altLang="ko-KR" sz="1100" dirty="0">
              <a:solidFill>
                <a:prstClr val="black"/>
              </a:solidFill>
            </a:endParaRP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>
                <a:solidFill>
                  <a:prstClr val="black"/>
                </a:solidFill>
              </a:rPr>
              <a:t>WHERE a = 0 GROUP BY b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>
                <a:solidFill>
                  <a:prstClr val="black"/>
                </a:solidFill>
              </a:rPr>
              <a:t>WHERE a = 0 GROUP BY </a:t>
            </a:r>
            <a:r>
              <a:rPr lang="en-US" altLang="ko-KR" sz="1100" dirty="0" err="1">
                <a:solidFill>
                  <a:prstClr val="black"/>
                </a:solidFill>
              </a:rPr>
              <a:t>a,b</a:t>
            </a:r>
            <a:endParaRPr lang="en-US" altLang="ko-KR" sz="1100" dirty="0">
              <a:solidFill>
                <a:prstClr val="black"/>
              </a:solidFill>
            </a:endParaRP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>
                <a:solidFill>
                  <a:prstClr val="black"/>
                </a:solidFill>
              </a:rPr>
              <a:t>WHERE a = 0 GROUP BY </a:t>
            </a:r>
            <a:r>
              <a:rPr lang="en-US" altLang="ko-KR" sz="1100" dirty="0" err="1">
                <a:solidFill>
                  <a:prstClr val="black"/>
                </a:solidFill>
              </a:rPr>
              <a:t>b,c</a:t>
            </a:r>
            <a:endParaRPr lang="en-US" altLang="ko-KR" sz="1100" dirty="0">
              <a:solidFill>
                <a:prstClr val="black"/>
              </a:solidFill>
            </a:endParaRP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>
                <a:solidFill>
                  <a:prstClr val="black"/>
                </a:solidFill>
              </a:rPr>
              <a:t>WHERE a = 0 GROUP BY </a:t>
            </a:r>
            <a:r>
              <a:rPr lang="en-US" altLang="ko-KR" sz="1100" dirty="0" err="1">
                <a:solidFill>
                  <a:prstClr val="black"/>
                </a:solidFill>
              </a:rPr>
              <a:t>c,b</a:t>
            </a:r>
            <a:endParaRPr lang="en-US" altLang="ko-KR" sz="1100" dirty="0">
              <a:solidFill>
                <a:prstClr val="black"/>
              </a:solidFill>
            </a:endParaRP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 err="1">
                <a:solidFill>
                  <a:prstClr val="black"/>
                </a:solidFill>
              </a:rPr>
              <a:t>프로젝션의</a:t>
            </a:r>
            <a:r>
              <a:rPr lang="ko-KR" altLang="en-US" sz="1100" dirty="0">
                <a:solidFill>
                  <a:prstClr val="black"/>
                </a:solidFill>
              </a:rPr>
              <a:t> </a:t>
            </a:r>
            <a:r>
              <a:rPr lang="en-US" altLang="ko-KR" sz="1100" dirty="0">
                <a:solidFill>
                  <a:prstClr val="black"/>
                </a:solidFill>
              </a:rPr>
              <a:t>order by</a:t>
            </a:r>
            <a:r>
              <a:rPr lang="ko-KR" altLang="en-US" sz="1100" dirty="0">
                <a:solidFill>
                  <a:prstClr val="black"/>
                </a:solidFill>
              </a:rPr>
              <a:t>가 </a:t>
            </a:r>
            <a:r>
              <a:rPr lang="en-US" altLang="ko-KR" sz="1100" dirty="0">
                <a:solidFill>
                  <a:prstClr val="black"/>
                </a:solidFill>
              </a:rPr>
              <a:t>a, b, c</a:t>
            </a:r>
            <a:r>
              <a:rPr lang="ko-KR" altLang="en-US" sz="1100" dirty="0">
                <a:solidFill>
                  <a:prstClr val="black"/>
                </a:solidFill>
              </a:rPr>
              <a:t>인 경우 다음은 </a:t>
            </a:r>
            <a:r>
              <a:rPr lang="en-US" altLang="ko-KR" sz="1100" dirty="0">
                <a:solidFill>
                  <a:prstClr val="black"/>
                </a:solidFill>
              </a:rPr>
              <a:t>GROUPBY HASH</a:t>
            </a:r>
            <a:r>
              <a:rPr lang="ko-KR" altLang="en-US" sz="1100" dirty="0">
                <a:solidFill>
                  <a:prstClr val="black"/>
                </a:solidFill>
              </a:rPr>
              <a:t>로 사용 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>
                <a:solidFill>
                  <a:prstClr val="black"/>
                </a:solidFill>
              </a:rPr>
              <a:t>GROUP BY </a:t>
            </a:r>
            <a:r>
              <a:rPr lang="en-US" altLang="ko-KR" sz="1100" dirty="0" err="1">
                <a:solidFill>
                  <a:prstClr val="black"/>
                </a:solidFill>
              </a:rPr>
              <a:t>a,b,c,d</a:t>
            </a:r>
            <a:r>
              <a:rPr lang="en-US" altLang="ko-KR" sz="1100" dirty="0">
                <a:solidFill>
                  <a:prstClr val="black"/>
                </a:solidFill>
              </a:rPr>
              <a:t> (d</a:t>
            </a:r>
            <a:r>
              <a:rPr lang="ko-KR" altLang="en-US" sz="1100" dirty="0">
                <a:solidFill>
                  <a:prstClr val="black"/>
                </a:solidFill>
              </a:rPr>
              <a:t>는 </a:t>
            </a:r>
            <a:r>
              <a:rPr lang="ko-KR" altLang="en-US" sz="1100" dirty="0" err="1">
                <a:solidFill>
                  <a:prstClr val="black"/>
                </a:solidFill>
              </a:rPr>
              <a:t>프로젝션의</a:t>
            </a:r>
            <a:r>
              <a:rPr lang="ko-KR" altLang="en-US" sz="1100" dirty="0">
                <a:solidFill>
                  <a:prstClr val="black"/>
                </a:solidFill>
              </a:rPr>
              <a:t> </a:t>
            </a:r>
            <a:r>
              <a:rPr lang="en-US" altLang="ko-KR" sz="1100" dirty="0">
                <a:solidFill>
                  <a:prstClr val="black"/>
                </a:solidFill>
              </a:rPr>
              <a:t>order by</a:t>
            </a:r>
            <a:r>
              <a:rPr lang="ko-KR" altLang="en-US" sz="1100" dirty="0">
                <a:solidFill>
                  <a:prstClr val="black"/>
                </a:solidFill>
              </a:rPr>
              <a:t>절에 없음</a:t>
            </a:r>
            <a:r>
              <a:rPr lang="en-US" altLang="ko-KR" sz="1100" dirty="0">
                <a:solidFill>
                  <a:prstClr val="black"/>
                </a:solidFill>
              </a:rPr>
              <a:t>)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>
                <a:solidFill>
                  <a:prstClr val="black"/>
                </a:solidFill>
              </a:rPr>
              <a:t>GROUP BY </a:t>
            </a:r>
            <a:r>
              <a:rPr lang="en-US" altLang="ko-KR" sz="1100" dirty="0" err="1">
                <a:solidFill>
                  <a:prstClr val="black"/>
                </a:solidFill>
              </a:rPr>
              <a:t>a,c</a:t>
            </a:r>
            <a:r>
              <a:rPr lang="en-US" altLang="ko-KR" sz="1100" dirty="0">
                <a:solidFill>
                  <a:prstClr val="black"/>
                </a:solidFill>
              </a:rPr>
              <a:t> (</a:t>
            </a:r>
            <a:r>
              <a:rPr lang="en-US" altLang="ko-KR" sz="1100" dirty="0" err="1">
                <a:solidFill>
                  <a:prstClr val="black"/>
                </a:solidFill>
              </a:rPr>
              <a:t>a,c</a:t>
            </a:r>
            <a:r>
              <a:rPr lang="ko-KR" altLang="en-US" sz="1100" dirty="0" err="1">
                <a:solidFill>
                  <a:prstClr val="black"/>
                </a:solidFill>
              </a:rPr>
              <a:t>컬럼은</a:t>
            </a:r>
            <a:r>
              <a:rPr lang="ko-KR" altLang="en-US" sz="1100" dirty="0">
                <a:solidFill>
                  <a:prstClr val="black"/>
                </a:solidFill>
              </a:rPr>
              <a:t> </a:t>
            </a:r>
            <a:r>
              <a:rPr lang="ko-KR" altLang="en-US" sz="1100" dirty="0" err="1">
                <a:solidFill>
                  <a:prstClr val="black"/>
                </a:solidFill>
              </a:rPr>
              <a:t>프로젝션</a:t>
            </a:r>
            <a:r>
              <a:rPr lang="ko-KR" altLang="en-US" sz="1100" dirty="0">
                <a:solidFill>
                  <a:prstClr val="black"/>
                </a:solidFill>
              </a:rPr>
              <a:t> </a:t>
            </a:r>
            <a:r>
              <a:rPr lang="en-US" altLang="ko-KR" sz="1100" dirty="0">
                <a:solidFill>
                  <a:prstClr val="black"/>
                </a:solidFill>
              </a:rPr>
              <a:t>order by</a:t>
            </a:r>
            <a:r>
              <a:rPr lang="ko-KR" altLang="en-US" sz="1100" dirty="0">
                <a:solidFill>
                  <a:prstClr val="black"/>
                </a:solidFill>
              </a:rPr>
              <a:t>에 </a:t>
            </a:r>
            <a:r>
              <a:rPr lang="ko-KR" altLang="en-US" sz="1100" dirty="0" err="1">
                <a:solidFill>
                  <a:prstClr val="black"/>
                </a:solidFill>
              </a:rPr>
              <a:t>첫번째</a:t>
            </a:r>
            <a:r>
              <a:rPr lang="ko-KR" altLang="en-US" sz="1100" dirty="0">
                <a:solidFill>
                  <a:prstClr val="black"/>
                </a:solidFill>
              </a:rPr>
              <a:t> 파트에 없음</a:t>
            </a:r>
            <a:r>
              <a:rPr lang="en-US" altLang="ko-KR" sz="1100" dirty="0">
                <a:solidFill>
                  <a:prstClr val="black"/>
                </a:solidFill>
              </a:rPr>
              <a:t>)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>
                <a:solidFill>
                  <a:prstClr val="black"/>
                </a:solidFill>
              </a:rPr>
              <a:t>WHERE a = 0 GROUP BY c</a:t>
            </a:r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0695154"/>
              </p:ext>
            </p:extLst>
          </p:nvPr>
        </p:nvGraphicFramePr>
        <p:xfrm>
          <a:off x="6660075" y="4666092"/>
          <a:ext cx="288032" cy="1558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8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5256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bar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Right Arrow 29"/>
          <p:cNvSpPr/>
          <p:nvPr/>
        </p:nvSpPr>
        <p:spPr>
          <a:xfrm>
            <a:off x="8388267" y="5460990"/>
            <a:ext cx="432048" cy="288032"/>
          </a:xfrm>
          <a:prstGeom prst="rightArrow">
            <a:avLst/>
          </a:prstGeom>
          <a:solidFill>
            <a:schemeClr val="bg1">
              <a:lumMod val="50000"/>
            </a:schemeClr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sz="900" dirty="0"/>
          </a:p>
        </p:txBody>
      </p:sp>
      <p:graphicFrame>
        <p:nvGraphicFramePr>
          <p:cNvPr id="1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6078507"/>
              </p:ext>
            </p:extLst>
          </p:nvPr>
        </p:nvGraphicFramePr>
        <p:xfrm>
          <a:off x="7380155" y="5035587"/>
          <a:ext cx="936104" cy="865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680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256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Count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660075" y="6328393"/>
            <a:ext cx="1218282" cy="1246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900" dirty="0"/>
              <a:t>GROUP BY HASH operator</a:t>
            </a:r>
            <a:endParaRPr lang="ko-KR" altLang="en-US" sz="900" dirty="0"/>
          </a:p>
        </p:txBody>
      </p:sp>
      <p:cxnSp>
        <p:nvCxnSpPr>
          <p:cNvPr id="12" name="Straight Arrow Connector 57"/>
          <p:cNvCxnSpPr/>
          <p:nvPr/>
        </p:nvCxnSpPr>
        <p:spPr>
          <a:xfrm>
            <a:off x="6948107" y="4927702"/>
            <a:ext cx="432048" cy="356175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58"/>
          <p:cNvCxnSpPr/>
          <p:nvPr/>
        </p:nvCxnSpPr>
        <p:spPr>
          <a:xfrm>
            <a:off x="6948107" y="5091399"/>
            <a:ext cx="432048" cy="356175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59"/>
          <p:cNvCxnSpPr/>
          <p:nvPr/>
        </p:nvCxnSpPr>
        <p:spPr>
          <a:xfrm>
            <a:off x="6948107" y="5260624"/>
            <a:ext cx="432048" cy="356175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60"/>
          <p:cNvCxnSpPr/>
          <p:nvPr/>
        </p:nvCxnSpPr>
        <p:spPr>
          <a:xfrm flipV="1">
            <a:off x="6948107" y="5269486"/>
            <a:ext cx="432047" cy="149397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62"/>
          <p:cNvCxnSpPr/>
          <p:nvPr/>
        </p:nvCxnSpPr>
        <p:spPr>
          <a:xfrm>
            <a:off x="6948106" y="5631497"/>
            <a:ext cx="432047" cy="165470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64"/>
          <p:cNvCxnSpPr/>
          <p:nvPr/>
        </p:nvCxnSpPr>
        <p:spPr>
          <a:xfrm flipV="1">
            <a:off x="6948106" y="5594562"/>
            <a:ext cx="432047" cy="188315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66"/>
          <p:cNvCxnSpPr>
            <a:endCxn id="10" idx="1"/>
          </p:cNvCxnSpPr>
          <p:nvPr/>
        </p:nvCxnSpPr>
        <p:spPr>
          <a:xfrm flipV="1">
            <a:off x="6948106" y="5468487"/>
            <a:ext cx="432049" cy="485048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68"/>
          <p:cNvCxnSpPr/>
          <p:nvPr/>
        </p:nvCxnSpPr>
        <p:spPr>
          <a:xfrm flipV="1">
            <a:off x="6948106" y="5796967"/>
            <a:ext cx="432047" cy="338809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52438" y="4751946"/>
            <a:ext cx="926536" cy="2492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dirty="0"/>
              <a:t>Hash Map </a:t>
            </a:r>
          </a:p>
          <a:p>
            <a:pPr algn="ctr">
              <a:lnSpc>
                <a:spcPct val="90000"/>
              </a:lnSpc>
            </a:pPr>
            <a:r>
              <a:rPr lang="en-US" altLang="ko-KR" sz="900" dirty="0"/>
              <a:t>(Stored In Memory)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9143" y="5775033"/>
            <a:ext cx="674864" cy="1246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dirty="0"/>
              <a:t>Return to user</a:t>
            </a:r>
          </a:p>
        </p:txBody>
      </p:sp>
      <p:graphicFrame>
        <p:nvGraphicFramePr>
          <p:cNvPr id="22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8221080"/>
              </p:ext>
            </p:extLst>
          </p:nvPr>
        </p:nvGraphicFramePr>
        <p:xfrm>
          <a:off x="9560983" y="4689267"/>
          <a:ext cx="288032" cy="1558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8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5256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bar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23" name="Straight Arrow Connector 75"/>
          <p:cNvCxnSpPr/>
          <p:nvPr/>
        </p:nvCxnSpPr>
        <p:spPr>
          <a:xfrm>
            <a:off x="9819976" y="4935686"/>
            <a:ext cx="611200" cy="493058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77"/>
          <p:cNvCxnSpPr/>
          <p:nvPr/>
        </p:nvCxnSpPr>
        <p:spPr>
          <a:xfrm>
            <a:off x="9838614" y="5112180"/>
            <a:ext cx="496768" cy="325272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79"/>
          <p:cNvCxnSpPr/>
          <p:nvPr/>
        </p:nvCxnSpPr>
        <p:spPr>
          <a:xfrm>
            <a:off x="9817295" y="5259171"/>
            <a:ext cx="457127" cy="213115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82"/>
          <p:cNvCxnSpPr/>
          <p:nvPr/>
        </p:nvCxnSpPr>
        <p:spPr>
          <a:xfrm>
            <a:off x="9826615" y="5468487"/>
            <a:ext cx="421681" cy="64759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84"/>
          <p:cNvCxnSpPr/>
          <p:nvPr/>
        </p:nvCxnSpPr>
        <p:spPr>
          <a:xfrm flipV="1">
            <a:off x="9826615" y="5611624"/>
            <a:ext cx="421681" cy="5002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86"/>
          <p:cNvCxnSpPr/>
          <p:nvPr/>
        </p:nvCxnSpPr>
        <p:spPr>
          <a:xfrm flipV="1">
            <a:off x="9864746" y="5681292"/>
            <a:ext cx="392259" cy="134515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89"/>
          <p:cNvCxnSpPr/>
          <p:nvPr/>
        </p:nvCxnSpPr>
        <p:spPr>
          <a:xfrm flipV="1">
            <a:off x="9829508" y="5716126"/>
            <a:ext cx="495537" cy="275772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91"/>
          <p:cNvCxnSpPr/>
          <p:nvPr/>
        </p:nvCxnSpPr>
        <p:spPr>
          <a:xfrm flipV="1">
            <a:off x="9838614" y="5750961"/>
            <a:ext cx="575145" cy="415283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ight Arrow 100"/>
          <p:cNvSpPr/>
          <p:nvPr/>
        </p:nvSpPr>
        <p:spPr>
          <a:xfrm>
            <a:off x="10302866" y="5443346"/>
            <a:ext cx="864644" cy="288032"/>
          </a:xfrm>
          <a:prstGeom prst="rightArrow">
            <a:avLst/>
          </a:prstGeom>
          <a:solidFill>
            <a:schemeClr val="bg1">
              <a:lumMod val="50000"/>
            </a:schemeClr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latinLnBrk="1">
              <a:lnSpc>
                <a:spcPct val="90000"/>
              </a:lnSpc>
            </a:pPr>
            <a:r>
              <a:rPr lang="en-US" altLang="ko-KR" sz="900" b="1" dirty="0">
                <a:solidFill>
                  <a:schemeClr val="bg1"/>
                </a:solidFill>
              </a:rPr>
              <a:t>Count( )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745379" y="5731378"/>
            <a:ext cx="674864" cy="1246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dirty="0"/>
              <a:t>Return to user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36397" y="6328393"/>
            <a:ext cx="1434688" cy="1246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900" dirty="0"/>
              <a:t>GROUP BY PIPELINED operator</a:t>
            </a:r>
            <a:endParaRPr lang="ko-KR" altLang="en-US" sz="900" dirty="0"/>
          </a:p>
        </p:txBody>
      </p:sp>
      <p:sp>
        <p:nvSpPr>
          <p:cNvPr id="34" name="TextBox 33"/>
          <p:cNvSpPr txBox="1"/>
          <p:nvPr/>
        </p:nvSpPr>
        <p:spPr>
          <a:xfrm>
            <a:off x="7330371" y="4478441"/>
            <a:ext cx="1979709" cy="1246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900" dirty="0"/>
              <a:t>SELECT count(*) FROM foo GROUP BY bar;</a:t>
            </a:r>
          </a:p>
        </p:txBody>
      </p:sp>
      <p:sp>
        <p:nvSpPr>
          <p:cNvPr id="35" name="Explosion 1 113"/>
          <p:cNvSpPr/>
          <p:nvPr/>
        </p:nvSpPr>
        <p:spPr>
          <a:xfrm>
            <a:off x="10542756" y="5001245"/>
            <a:ext cx="862834" cy="446329"/>
          </a:xfrm>
          <a:prstGeom prst="irregularSeal1">
            <a:avLst/>
          </a:prstGeom>
          <a:solidFill>
            <a:srgbClr val="002D00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latinLnBrk="1">
              <a:lnSpc>
                <a:spcPct val="90000"/>
              </a:lnSpc>
            </a:pPr>
            <a:r>
              <a:rPr lang="en-US" altLang="ko-KR" sz="900" b="1" dirty="0">
                <a:solidFill>
                  <a:schemeClr val="bg1"/>
                </a:solidFill>
              </a:rPr>
              <a:t>FAST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38" name="Rectangular Callout 114"/>
          <p:cNvSpPr/>
          <p:nvPr/>
        </p:nvSpPr>
        <p:spPr>
          <a:xfrm>
            <a:off x="8616280" y="2668142"/>
            <a:ext cx="1830854" cy="370065"/>
          </a:xfrm>
          <a:prstGeom prst="wedgeRectCallout">
            <a:avLst>
              <a:gd name="adj1" fmla="val -57004"/>
              <a:gd name="adj2" fmla="val 49113"/>
            </a:avLst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en-US" altLang="ko-KR" sz="900" i="1" dirty="0">
                <a:solidFill>
                  <a:prstClr val="black"/>
                </a:solidFill>
              </a:rPr>
              <a:t>Equal predicate</a:t>
            </a:r>
            <a:r>
              <a:rPr lang="ko-KR" altLang="en-US" sz="900" i="1" dirty="0">
                <a:solidFill>
                  <a:prstClr val="black"/>
                </a:solidFill>
              </a:rPr>
              <a:t>는 </a:t>
            </a:r>
            <a:r>
              <a:rPr lang="en-US" altLang="ko-KR" sz="900" i="1" dirty="0">
                <a:solidFill>
                  <a:prstClr val="black"/>
                </a:solidFill>
              </a:rPr>
              <a:t>group by operation </a:t>
            </a:r>
            <a:r>
              <a:rPr lang="ko-KR" altLang="en-US" sz="900" i="1" dirty="0">
                <a:solidFill>
                  <a:prstClr val="black"/>
                </a:solidFill>
              </a:rPr>
              <a:t>전에 먼저 처리</a:t>
            </a:r>
            <a:endParaRPr lang="en-US" altLang="ko-KR" sz="900" i="1" dirty="0">
              <a:solidFill>
                <a:prstClr val="black"/>
              </a:solidFill>
            </a:endParaRPr>
          </a:p>
        </p:txBody>
      </p:sp>
      <p:sp>
        <p:nvSpPr>
          <p:cNvPr id="39" name="Rounded Rectangle 115"/>
          <p:cNvSpPr/>
          <p:nvPr/>
        </p:nvSpPr>
        <p:spPr>
          <a:xfrm>
            <a:off x="1271464" y="4221088"/>
            <a:ext cx="4479801" cy="1373473"/>
          </a:xfrm>
          <a:prstGeom prst="roundRect">
            <a:avLst>
              <a:gd name="adj" fmla="val 4158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SELECT count(*) FROM foo GROUP BY a, b, c;</a:t>
            </a:r>
          </a:p>
          <a:p>
            <a:pPr>
              <a:lnSpc>
                <a:spcPts val="1200"/>
              </a:lnSpc>
            </a:pPr>
            <a:endParaRPr lang="en-US" altLang="ko-KR" sz="9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CREATE PROJECTION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foo_p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(  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a ENCODING RLE, b ENCODING RLE, c ENCODING RLE, 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d, e 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) AS SELECT a, b, c, d, e FROM foo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   ORDER BY a, b, c 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SEGMENTED BY HASH(a, b, c) ALL NODES;</a:t>
            </a:r>
          </a:p>
        </p:txBody>
      </p:sp>
      <p:sp>
        <p:nvSpPr>
          <p:cNvPr id="40" name="Rectangular Callout 116"/>
          <p:cNvSpPr/>
          <p:nvPr/>
        </p:nvSpPr>
        <p:spPr>
          <a:xfrm>
            <a:off x="3602741" y="4149080"/>
            <a:ext cx="1053099" cy="214748"/>
          </a:xfrm>
          <a:prstGeom prst="wedgeRectCallout">
            <a:avLst>
              <a:gd name="adj1" fmla="val -57004"/>
              <a:gd name="adj2" fmla="val 49113"/>
            </a:avLst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en-US" altLang="ko-KR" sz="900" i="1" dirty="0">
                <a:solidFill>
                  <a:prstClr val="black"/>
                </a:solidFill>
              </a:rPr>
              <a:t>Sample query</a:t>
            </a:r>
          </a:p>
        </p:txBody>
      </p:sp>
      <p:sp>
        <p:nvSpPr>
          <p:cNvPr id="41" name="Rectangular Callout 117"/>
          <p:cNvSpPr/>
          <p:nvPr/>
        </p:nvSpPr>
        <p:spPr>
          <a:xfrm>
            <a:off x="2837674" y="4481820"/>
            <a:ext cx="1242102" cy="214748"/>
          </a:xfrm>
          <a:prstGeom prst="wedgeRectCallout">
            <a:avLst>
              <a:gd name="adj1" fmla="val -57004"/>
              <a:gd name="adj2" fmla="val 49113"/>
            </a:avLst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en-US" altLang="ko-KR" sz="900" i="1" dirty="0">
                <a:solidFill>
                  <a:prstClr val="black"/>
                </a:solidFill>
              </a:rPr>
              <a:t>Projection design</a:t>
            </a:r>
          </a:p>
        </p:txBody>
      </p:sp>
    </p:spTree>
    <p:extLst>
      <p:ext uri="{BB962C8B-B14F-4D97-AF65-F5344CB8AC3E}">
        <p14:creationId xmlns:p14="http://schemas.microsoft.com/office/powerpoint/2010/main" val="19090076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SELECT </a:t>
            </a:r>
            <a:r>
              <a:rPr lang="ko-KR" altLang="en-US" sz="2800" dirty="0"/>
              <a:t>쿼리의 </a:t>
            </a:r>
            <a:r>
              <a:rPr lang="en-US" altLang="ko-KR" sz="2800" dirty="0"/>
              <a:t>DISTINCT </a:t>
            </a:r>
            <a:r>
              <a:rPr lang="ko-KR" altLang="en-US" sz="2800" dirty="0"/>
              <a:t>성능 최적화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쿼리 성능 최적화</a:t>
            </a:r>
            <a:endParaRPr lang="ko-KR" altLang="en-US" dirty="0"/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개요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 err="1"/>
              <a:t>Vertica</a:t>
            </a:r>
            <a:r>
              <a:rPr lang="en-US" altLang="ko-KR" sz="1100" dirty="0"/>
              <a:t> </a:t>
            </a:r>
            <a:r>
              <a:rPr lang="ko-KR" altLang="en-US" sz="1100" dirty="0" err="1"/>
              <a:t>옵티마이저는</a:t>
            </a:r>
            <a:r>
              <a:rPr lang="ko-KR" altLang="en-US" sz="1100" dirty="0"/>
              <a:t> </a:t>
            </a:r>
            <a:r>
              <a:rPr lang="en-US" altLang="ko-KR" sz="1100" dirty="0"/>
              <a:t>DINSTINCT</a:t>
            </a:r>
            <a:r>
              <a:rPr lang="ko-KR" altLang="en-US" sz="1100" dirty="0"/>
              <a:t>를 </a:t>
            </a:r>
            <a:r>
              <a:rPr lang="en-US" altLang="ko-KR" sz="1100" dirty="0"/>
              <a:t>GROUP BY</a:t>
            </a:r>
            <a:r>
              <a:rPr lang="ko-KR" altLang="en-US" sz="1100" dirty="0"/>
              <a:t>로 </a:t>
            </a:r>
            <a:r>
              <a:rPr lang="en-US" altLang="ko-KR" sz="1100" dirty="0"/>
              <a:t>rewrite</a:t>
            </a:r>
            <a:r>
              <a:rPr lang="ko-KR" altLang="en-US" sz="1100" dirty="0"/>
              <a:t>하기 때문에 </a:t>
            </a:r>
            <a:r>
              <a:rPr lang="en-US" altLang="ko-KR" sz="1100" dirty="0"/>
              <a:t>DINSTINCT</a:t>
            </a:r>
            <a:r>
              <a:rPr lang="ko-KR" altLang="en-US" sz="1100" dirty="0"/>
              <a:t>에 대한 최적화는 </a:t>
            </a:r>
            <a:r>
              <a:rPr lang="en-US" altLang="ko-KR" sz="1100" dirty="0"/>
              <a:t>GROUP BY </a:t>
            </a:r>
            <a:r>
              <a:rPr lang="ko-KR" altLang="en-US" sz="1100" dirty="0"/>
              <a:t>최적화와 유사한 전략을 사용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위 쿼리는 아래와 같이 </a:t>
            </a:r>
            <a:r>
              <a:rPr lang="en-US" altLang="ko-KR" sz="1100" dirty="0"/>
              <a:t>rewrite</a:t>
            </a:r>
            <a:r>
              <a:rPr lang="ko-KR" altLang="en-US" sz="1100" dirty="0"/>
              <a:t>되어 최적화</a:t>
            </a:r>
            <a:r>
              <a:rPr lang="en-US" altLang="ko-KR" sz="1100" dirty="0"/>
              <a:t> 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0" lv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Single DISTINCT Aggregate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중복된 값을 제거하고 집계할 수 있도록 </a:t>
            </a:r>
            <a:r>
              <a:rPr lang="ko-KR" altLang="en-US" sz="1100" dirty="0" err="1"/>
              <a:t>옵티마이저는</a:t>
            </a:r>
            <a:r>
              <a:rPr lang="ko-KR" altLang="en-US" sz="1100" dirty="0"/>
              <a:t> 먼저 쿼리를 </a:t>
            </a:r>
            <a:r>
              <a:rPr lang="en-US" altLang="ko-KR" sz="1100" dirty="0"/>
              <a:t>rewrite </a:t>
            </a:r>
            <a:r>
              <a:rPr lang="ko-KR" altLang="en-US" sz="1100" dirty="0"/>
              <a:t>한다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COUNT (DISTINCT)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COUNT (DISTINCT </a:t>
            </a:r>
            <a:r>
              <a:rPr lang="ko-KR" altLang="en-US" sz="1100" dirty="0" err="1"/>
              <a:t>컬럼</a:t>
            </a:r>
            <a:r>
              <a:rPr lang="en-US" altLang="ko-KR" sz="1100" dirty="0"/>
              <a:t>)</a:t>
            </a:r>
            <a:r>
              <a:rPr lang="ko-KR" altLang="en-US" sz="1100" dirty="0"/>
              <a:t>의 경우 </a:t>
            </a:r>
            <a:r>
              <a:rPr lang="en-US" altLang="ko-KR" sz="1100" dirty="0"/>
              <a:t>GROUPBY PIPELINED </a:t>
            </a:r>
            <a:r>
              <a:rPr lang="ko-KR" altLang="en-US" sz="1100" dirty="0"/>
              <a:t>알고리즘으로 최적화되는 경우 빠르게 처리되지만 그렇지 않은 경우 다른 집계에 비해 많은 작업이 일어나야 한다</a:t>
            </a:r>
            <a:r>
              <a:rPr lang="en-US" altLang="ko-KR" sz="1100" dirty="0"/>
              <a:t>. 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가급적 </a:t>
            </a:r>
            <a:r>
              <a:rPr lang="en-US" altLang="ko-KR" sz="1100" dirty="0"/>
              <a:t>DISTINCT</a:t>
            </a:r>
            <a:r>
              <a:rPr lang="ko-KR" altLang="en-US" sz="1100" dirty="0"/>
              <a:t>를 피하는 것이 좋으나 필요에 따라 대략적인 값으로도 데이터 처리흐름에 지장이 없다면 </a:t>
            </a:r>
            <a:r>
              <a:rPr lang="en-US" altLang="ko-KR" sz="1100" dirty="0"/>
              <a:t>APPROXIMATE_COUNT_DISTINCT</a:t>
            </a:r>
            <a:r>
              <a:rPr lang="ko-KR" altLang="en-US" sz="1100" dirty="0"/>
              <a:t>를 사용해 본다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228600" lvl="1" indent="0">
              <a:lnSpc>
                <a:spcPct val="100000"/>
              </a:lnSpc>
              <a:spcAft>
                <a:spcPts val="0"/>
              </a:spcAft>
              <a:buNone/>
            </a:pPr>
            <a:endParaRPr lang="en-US" altLang="ko-KR" sz="11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Multiple DISTINCT Aggregates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DISTINCT</a:t>
            </a:r>
            <a:r>
              <a:rPr lang="ko-KR" altLang="en-US" sz="1100" dirty="0"/>
              <a:t>가 포함된 집계가 다수 포함되는 쿼리의 경우 간단히 쿼리를 </a:t>
            </a:r>
            <a:r>
              <a:rPr lang="en-US" altLang="ko-KR" sz="1100" dirty="0"/>
              <a:t>rewrite</a:t>
            </a:r>
            <a:r>
              <a:rPr lang="ko-KR" altLang="en-US" sz="1100" dirty="0"/>
              <a:t>하기 어렵고 쿼리 수행에 필요한 메모리가 많이 소모되므로 가급적 피하는 것이 최선책 </a:t>
            </a:r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6"/>
          <p:cNvSpPr/>
          <p:nvPr/>
        </p:nvSpPr>
        <p:spPr>
          <a:xfrm>
            <a:off x="693738" y="1837034"/>
            <a:ext cx="5057527" cy="526009"/>
          </a:xfrm>
          <a:prstGeom prst="roundRect">
            <a:avLst>
              <a:gd name="adj" fmla="val 111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SELECT DISTINCT a, b, c FROM table1;</a:t>
            </a:r>
          </a:p>
        </p:txBody>
      </p:sp>
      <p:sp>
        <p:nvSpPr>
          <p:cNvPr id="15" name="Rounded Rectangle 17"/>
          <p:cNvSpPr/>
          <p:nvPr/>
        </p:nvSpPr>
        <p:spPr>
          <a:xfrm>
            <a:off x="693738" y="2698533"/>
            <a:ext cx="5057527" cy="526009"/>
          </a:xfrm>
          <a:prstGeom prst="roundRect">
            <a:avLst>
              <a:gd name="adj" fmla="val 111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SELECT a, b, c FROM table1 GROUP BY a, b, c;</a:t>
            </a:r>
          </a:p>
        </p:txBody>
      </p:sp>
      <p:sp>
        <p:nvSpPr>
          <p:cNvPr id="16" name="Rounded Rectangle 18"/>
          <p:cNvSpPr/>
          <p:nvPr/>
        </p:nvSpPr>
        <p:spPr>
          <a:xfrm>
            <a:off x="690575" y="4046281"/>
            <a:ext cx="5057527" cy="526009"/>
          </a:xfrm>
          <a:prstGeom prst="roundRect">
            <a:avLst>
              <a:gd name="adj" fmla="val 111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SELECT a, b, COUNT(DISTINCT c) AS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dcnt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FROM table1 GROUP BY a, b;</a:t>
            </a:r>
          </a:p>
        </p:txBody>
      </p:sp>
      <p:sp>
        <p:nvSpPr>
          <p:cNvPr id="17" name="Rounded Rectangle 19"/>
          <p:cNvSpPr/>
          <p:nvPr/>
        </p:nvSpPr>
        <p:spPr>
          <a:xfrm>
            <a:off x="690574" y="4608083"/>
            <a:ext cx="5057527" cy="526009"/>
          </a:xfrm>
          <a:prstGeom prst="roundRect">
            <a:avLst>
              <a:gd name="adj" fmla="val 111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SELECT a, b, COUNT(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dcnt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)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FROM (SELECT a, b, c AS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dcnt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FROM table1 GROUP BY a, b, c) t1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GROUP BY a, b;</a:t>
            </a:r>
          </a:p>
        </p:txBody>
      </p:sp>
      <p:sp>
        <p:nvSpPr>
          <p:cNvPr id="18" name="Rectangle 20"/>
          <p:cNvSpPr/>
          <p:nvPr/>
        </p:nvSpPr>
        <p:spPr bwMode="auto">
          <a:xfrm>
            <a:off x="6637434" y="2420888"/>
            <a:ext cx="4536504" cy="46746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APPROXIMATE_COUNT_DISTINCT ( expr [, </a:t>
            </a:r>
            <a:r>
              <a:rPr lang="en-US" sz="900" b="1" dirty="0" err="1">
                <a:solidFill>
                  <a:schemeClr val="bg1"/>
                </a:solidFill>
              </a:rPr>
              <a:t>error_tolerance</a:t>
            </a:r>
            <a:r>
              <a:rPr lang="en-US" sz="900" b="1" dirty="0">
                <a:solidFill>
                  <a:schemeClr val="bg1"/>
                </a:solidFill>
              </a:rPr>
              <a:t> ] )</a:t>
            </a:r>
          </a:p>
        </p:txBody>
      </p:sp>
      <p:sp>
        <p:nvSpPr>
          <p:cNvPr id="19" name="Rounded Rectangle 21"/>
          <p:cNvSpPr/>
          <p:nvPr/>
        </p:nvSpPr>
        <p:spPr>
          <a:xfrm>
            <a:off x="6376922" y="3890304"/>
            <a:ext cx="5057527" cy="526009"/>
          </a:xfrm>
          <a:prstGeom prst="roundRect">
            <a:avLst>
              <a:gd name="adj" fmla="val 111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SELECT a, COUNT(DISTINCT b), COUNT(DISTINCT c) AS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dcnt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FROM table1 GROUP BY a;</a:t>
            </a:r>
          </a:p>
        </p:txBody>
      </p:sp>
    </p:spTree>
    <p:extLst>
      <p:ext uri="{BB962C8B-B14F-4D97-AF65-F5344CB8AC3E}">
        <p14:creationId xmlns:p14="http://schemas.microsoft.com/office/powerpoint/2010/main" val="32910435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조인 쿼리 성능 최적화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쿼리 성능 최적화</a:t>
            </a:r>
            <a:endParaRPr lang="ko-KR" altLang="en-US" dirty="0"/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prstClr val="black"/>
                </a:solidFill>
              </a:rPr>
              <a:t>조인의 종류</a:t>
            </a:r>
            <a:endParaRPr lang="en-US" altLang="ko-KR" sz="1100" b="1" dirty="0">
              <a:solidFill>
                <a:prstClr val="black"/>
              </a:solidFill>
            </a:endParaRP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>
                <a:solidFill>
                  <a:prstClr val="black"/>
                </a:solidFill>
              </a:rPr>
              <a:t>Merge Join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>
                <a:solidFill>
                  <a:prstClr val="black"/>
                </a:solidFill>
              </a:rPr>
              <a:t>조인 </a:t>
            </a:r>
            <a:r>
              <a:rPr lang="ko-KR" altLang="en-US" sz="1100" dirty="0" err="1">
                <a:solidFill>
                  <a:prstClr val="black"/>
                </a:solidFill>
              </a:rPr>
              <a:t>컬럼이</a:t>
            </a:r>
            <a:r>
              <a:rPr lang="ko-KR" altLang="en-US" sz="1100" dirty="0">
                <a:solidFill>
                  <a:prstClr val="black"/>
                </a:solidFill>
              </a:rPr>
              <a:t> 모두 사전에 정렬되어 저장되어 있으면 </a:t>
            </a:r>
            <a:r>
              <a:rPr lang="ko-KR" altLang="en-US" sz="1100" dirty="0" err="1">
                <a:solidFill>
                  <a:prstClr val="black"/>
                </a:solidFill>
              </a:rPr>
              <a:t>옵티마이저는</a:t>
            </a:r>
            <a:r>
              <a:rPr lang="ko-KR" altLang="en-US" sz="1100" dirty="0">
                <a:solidFill>
                  <a:prstClr val="black"/>
                </a:solidFill>
              </a:rPr>
              <a:t> </a:t>
            </a:r>
            <a:r>
              <a:rPr lang="en-US" altLang="ko-KR" sz="1100" dirty="0">
                <a:solidFill>
                  <a:prstClr val="black"/>
                </a:solidFill>
              </a:rPr>
              <a:t>Merge join</a:t>
            </a:r>
            <a:r>
              <a:rPr lang="ko-KR" altLang="en-US" sz="1100" dirty="0">
                <a:solidFill>
                  <a:prstClr val="black"/>
                </a:solidFill>
              </a:rPr>
              <a:t>을 수행</a:t>
            </a:r>
            <a:endParaRPr lang="en-US" altLang="ko-KR" sz="1100" dirty="0">
              <a:solidFill>
                <a:prstClr val="black"/>
              </a:solidFill>
            </a:endParaRP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>
                <a:solidFill>
                  <a:prstClr val="black"/>
                </a:solidFill>
              </a:rPr>
              <a:t>메모리 사용량이 적고 속도가 매우 빠른 </a:t>
            </a:r>
            <a:r>
              <a:rPr lang="ko-KR" altLang="en-US" sz="1100" dirty="0" err="1">
                <a:solidFill>
                  <a:prstClr val="black"/>
                </a:solidFill>
              </a:rPr>
              <a:t>버티카</a:t>
            </a:r>
            <a:r>
              <a:rPr lang="ko-KR" altLang="en-US" sz="1100" dirty="0">
                <a:solidFill>
                  <a:prstClr val="black"/>
                </a:solidFill>
              </a:rPr>
              <a:t> 최적의 조인 방식</a:t>
            </a:r>
            <a:endParaRPr lang="en-US" altLang="ko-KR" sz="1100" dirty="0">
              <a:solidFill>
                <a:prstClr val="black"/>
              </a:solidFill>
            </a:endParaRP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>
                <a:solidFill>
                  <a:prstClr val="black"/>
                </a:solidFill>
              </a:rPr>
              <a:t>Hash Join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>
                <a:solidFill>
                  <a:prstClr val="black"/>
                </a:solidFill>
              </a:rPr>
              <a:t>해시 알고리즘을 이용하여 작은 </a:t>
            </a:r>
            <a:r>
              <a:rPr lang="en-US" altLang="ko-KR" sz="1100" dirty="0">
                <a:solidFill>
                  <a:prstClr val="black"/>
                </a:solidFill>
              </a:rPr>
              <a:t>inner </a:t>
            </a:r>
            <a:r>
              <a:rPr lang="ko-KR" altLang="en-US" sz="1100" dirty="0">
                <a:solidFill>
                  <a:prstClr val="black"/>
                </a:solidFill>
              </a:rPr>
              <a:t>테이블을 메모리상의 해시테이블로 </a:t>
            </a:r>
            <a:r>
              <a:rPr lang="ko-KR" altLang="en-US" sz="1100" dirty="0" err="1">
                <a:solidFill>
                  <a:prstClr val="black"/>
                </a:solidFill>
              </a:rPr>
              <a:t>빌드하고</a:t>
            </a:r>
            <a:r>
              <a:rPr lang="en-US" altLang="ko-KR" sz="1100" dirty="0">
                <a:solidFill>
                  <a:prstClr val="black"/>
                </a:solidFill>
              </a:rPr>
              <a:t>, </a:t>
            </a:r>
            <a:r>
              <a:rPr lang="ko-KR" altLang="en-US" sz="1100" dirty="0">
                <a:solidFill>
                  <a:prstClr val="black"/>
                </a:solidFill>
              </a:rPr>
              <a:t>큰 </a:t>
            </a:r>
            <a:r>
              <a:rPr lang="en-US" altLang="ko-KR" sz="1100" dirty="0">
                <a:solidFill>
                  <a:prstClr val="black"/>
                </a:solidFill>
              </a:rPr>
              <a:t>outer </a:t>
            </a:r>
            <a:r>
              <a:rPr lang="ko-KR" altLang="en-US" sz="1100" dirty="0">
                <a:solidFill>
                  <a:prstClr val="black"/>
                </a:solidFill>
              </a:rPr>
              <a:t>테이블을 </a:t>
            </a:r>
            <a:r>
              <a:rPr lang="ko-KR" altLang="en-US" sz="1100" dirty="0" err="1">
                <a:solidFill>
                  <a:prstClr val="black"/>
                </a:solidFill>
              </a:rPr>
              <a:t>스캔하면서</a:t>
            </a:r>
            <a:r>
              <a:rPr lang="ko-KR" altLang="en-US" sz="1100" dirty="0">
                <a:solidFill>
                  <a:prstClr val="black"/>
                </a:solidFill>
              </a:rPr>
              <a:t> 해시테이블의 데이터와 매치 시킨다</a:t>
            </a:r>
            <a:endParaRPr lang="en-US" altLang="ko-KR" sz="1100" dirty="0">
              <a:solidFill>
                <a:prstClr val="black"/>
              </a:solidFill>
            </a:endParaRP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>
                <a:solidFill>
                  <a:prstClr val="black"/>
                </a:solidFill>
              </a:rPr>
              <a:t>사전에 조인 </a:t>
            </a:r>
            <a:r>
              <a:rPr lang="ko-KR" altLang="en-US" sz="1100" dirty="0" err="1">
                <a:solidFill>
                  <a:prstClr val="black"/>
                </a:solidFill>
              </a:rPr>
              <a:t>컬럼이</a:t>
            </a:r>
            <a:r>
              <a:rPr lang="ko-KR" altLang="en-US" sz="1100" dirty="0">
                <a:solidFill>
                  <a:prstClr val="black"/>
                </a:solidFill>
              </a:rPr>
              <a:t> 정렬되어 있을 필요는 없으나 메모리 사용량이 많아진다</a:t>
            </a:r>
            <a:endParaRPr lang="en-US" altLang="ko-KR" sz="1100" dirty="0">
              <a:solidFill>
                <a:prstClr val="black"/>
              </a:solidFill>
            </a:endParaRP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 err="1">
                <a:solidFill>
                  <a:prstClr val="black"/>
                </a:solidFill>
              </a:rPr>
              <a:t>Vertica</a:t>
            </a:r>
            <a:r>
              <a:rPr lang="ko-KR" altLang="en-US" sz="1100" dirty="0">
                <a:solidFill>
                  <a:prstClr val="black"/>
                </a:solidFill>
              </a:rPr>
              <a:t>에서는 </a:t>
            </a:r>
            <a:r>
              <a:rPr lang="en-US" altLang="ko-KR" sz="1100" dirty="0">
                <a:solidFill>
                  <a:prstClr val="black"/>
                </a:solidFill>
              </a:rPr>
              <a:t>OLTP</a:t>
            </a:r>
            <a:r>
              <a:rPr lang="ko-KR" altLang="en-US" sz="1100" dirty="0">
                <a:solidFill>
                  <a:prstClr val="black"/>
                </a:solidFill>
              </a:rPr>
              <a:t>환경에서 주로 사용되는 </a:t>
            </a:r>
            <a:r>
              <a:rPr lang="en-US" altLang="ko-KR" sz="1100" dirty="0">
                <a:solidFill>
                  <a:prstClr val="black"/>
                </a:solidFill>
              </a:rPr>
              <a:t>NL(Nested Loop) </a:t>
            </a:r>
            <a:r>
              <a:rPr lang="ko-KR" altLang="en-US" sz="1100" dirty="0">
                <a:solidFill>
                  <a:prstClr val="black"/>
                </a:solidFill>
              </a:rPr>
              <a:t>조인은 사용하지 않는다</a:t>
            </a:r>
            <a:endParaRPr lang="en-US" altLang="ko-KR" sz="1100" dirty="0">
              <a:solidFill>
                <a:prstClr val="black"/>
              </a:solidFill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Hash Join</a:t>
            </a:r>
            <a:r>
              <a:rPr lang="ko-KR" altLang="en-US" sz="1100" b="1" dirty="0"/>
              <a:t>의 </a:t>
            </a:r>
            <a:r>
              <a:rPr lang="en-US" altLang="ko-KR" sz="1100" b="1" dirty="0"/>
              <a:t>Join Spill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Join Spill </a:t>
            </a:r>
            <a:r>
              <a:rPr lang="ko-KR" altLang="en-US" sz="1100" dirty="0"/>
              <a:t>이란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해시테이블이 메모리에 모두 상주하여 생성할 수 없는 경우</a:t>
            </a:r>
            <a:r>
              <a:rPr lang="en-US" altLang="ko-KR" sz="1100" dirty="0"/>
              <a:t>, </a:t>
            </a:r>
            <a:r>
              <a:rPr lang="ko-KR" altLang="en-US" sz="1100" dirty="0"/>
              <a:t>해시테이블이 디스크로 </a:t>
            </a:r>
            <a:r>
              <a:rPr lang="en-US" altLang="ko-KR" sz="1100" dirty="0"/>
              <a:t>spill </a:t>
            </a:r>
            <a:r>
              <a:rPr lang="ko-KR" altLang="en-US" sz="1100" dirty="0"/>
              <a:t>된다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해시테이블 뿐 아니라 </a:t>
            </a:r>
            <a:r>
              <a:rPr lang="en-US" altLang="ko-KR" sz="1100" dirty="0"/>
              <a:t>fact </a:t>
            </a:r>
            <a:r>
              <a:rPr lang="ko-KR" altLang="en-US" sz="1100" dirty="0"/>
              <a:t>및 </a:t>
            </a:r>
            <a:r>
              <a:rPr lang="en-US" altLang="ko-KR" sz="1100" dirty="0"/>
              <a:t>dimension </a:t>
            </a:r>
            <a:r>
              <a:rPr lang="ko-KR" altLang="en-US" sz="1100" dirty="0"/>
              <a:t>테이블까지 </a:t>
            </a:r>
            <a:r>
              <a:rPr lang="en-US" altLang="ko-KR" sz="1100" dirty="0"/>
              <a:t>spill </a:t>
            </a:r>
            <a:r>
              <a:rPr lang="ko-KR" altLang="en-US" sz="1100" dirty="0"/>
              <a:t>된다</a:t>
            </a:r>
            <a:r>
              <a:rPr lang="en-US" altLang="ko-KR" sz="1100" dirty="0"/>
              <a:t>.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만약 어떤 쿼리의 조인 결과가 항상 </a:t>
            </a:r>
            <a:r>
              <a:rPr lang="en-US" altLang="ko-KR" sz="1100" dirty="0"/>
              <a:t>spill</a:t>
            </a:r>
            <a:r>
              <a:rPr lang="ko-KR" altLang="en-US" sz="1100" dirty="0"/>
              <a:t>되는 것을 알고 있다면</a:t>
            </a:r>
            <a:r>
              <a:rPr lang="en-US" altLang="ko-KR" sz="1100" dirty="0"/>
              <a:t>, </a:t>
            </a:r>
            <a:r>
              <a:rPr lang="ko-KR" altLang="en-US" sz="1100" dirty="0"/>
              <a:t>메모리상에 해시테이블을 만드는 과정을 </a:t>
            </a:r>
            <a:r>
              <a:rPr lang="en-US" altLang="ko-KR" sz="1100" dirty="0"/>
              <a:t>skip </a:t>
            </a:r>
            <a:r>
              <a:rPr lang="ko-KR" altLang="en-US" sz="1100" dirty="0"/>
              <a:t>시키도록 힌트를 전달할 수 있다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7095582"/>
              </p:ext>
            </p:extLst>
          </p:nvPr>
        </p:nvGraphicFramePr>
        <p:xfrm>
          <a:off x="909836" y="4105567"/>
          <a:ext cx="288032" cy="138528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288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146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46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46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46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46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46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146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146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ight Arrow 5"/>
          <p:cNvSpPr/>
          <p:nvPr/>
        </p:nvSpPr>
        <p:spPr>
          <a:xfrm flipH="1">
            <a:off x="2070736" y="4663906"/>
            <a:ext cx="207252" cy="216856"/>
          </a:xfrm>
          <a:prstGeom prst="rightArrow">
            <a:avLst/>
          </a:prstGeom>
          <a:solidFill>
            <a:schemeClr val="bg1">
              <a:lumMod val="50000"/>
            </a:schemeClr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sz="900" dirty="0"/>
          </a:p>
        </p:txBody>
      </p:sp>
      <p:graphicFrame>
        <p:nvGraphicFramePr>
          <p:cNvPr id="1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8864322"/>
              </p:ext>
            </p:extLst>
          </p:nvPr>
        </p:nvGraphicFramePr>
        <p:xfrm>
          <a:off x="1629916" y="4353217"/>
          <a:ext cx="360040" cy="865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5256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64271" y="5573161"/>
            <a:ext cx="945772" cy="1246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900" dirty="0"/>
              <a:t>HASH JOIN operator</a:t>
            </a:r>
            <a:endParaRPr lang="ko-KR" altLang="en-US" sz="900" dirty="0"/>
          </a:p>
        </p:txBody>
      </p:sp>
      <p:cxnSp>
        <p:nvCxnSpPr>
          <p:cNvPr id="12" name="Straight Arrow Connector 14"/>
          <p:cNvCxnSpPr/>
          <p:nvPr/>
        </p:nvCxnSpPr>
        <p:spPr>
          <a:xfrm>
            <a:off x="1197867" y="4187685"/>
            <a:ext cx="410345" cy="795187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8378893"/>
              </p:ext>
            </p:extLst>
          </p:nvPr>
        </p:nvGraphicFramePr>
        <p:xfrm>
          <a:off x="2349996" y="4505883"/>
          <a:ext cx="288032" cy="69264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288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146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46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46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46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512349" y="4063036"/>
            <a:ext cx="589905" cy="2492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dirty="0"/>
              <a:t>Hash table</a:t>
            </a:r>
          </a:p>
          <a:p>
            <a:pPr algn="ctr">
              <a:lnSpc>
                <a:spcPct val="90000"/>
              </a:lnSpc>
            </a:pPr>
            <a:r>
              <a:rPr lang="en-US" altLang="ko-KR" sz="900" dirty="0"/>
              <a:t>(In Memory)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246" y="3847012"/>
            <a:ext cx="328615" cy="2492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dirty="0"/>
              <a:t>Fact</a:t>
            </a:r>
          </a:p>
          <a:p>
            <a:pPr algn="ctr">
              <a:lnSpc>
                <a:spcPct val="90000"/>
              </a:lnSpc>
            </a:pPr>
            <a:r>
              <a:rPr lang="en-US" altLang="ko-KR" sz="900" dirty="0"/>
              <a:t>(outer)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62985" y="4240327"/>
            <a:ext cx="317395" cy="2492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dirty="0"/>
              <a:t>Dim </a:t>
            </a:r>
          </a:p>
          <a:p>
            <a:pPr algn="ctr">
              <a:lnSpc>
                <a:spcPct val="90000"/>
              </a:lnSpc>
            </a:pPr>
            <a:r>
              <a:rPr lang="en-US" altLang="ko-KR" sz="900" dirty="0"/>
              <a:t>(inner)</a:t>
            </a:r>
          </a:p>
        </p:txBody>
      </p:sp>
      <p:cxnSp>
        <p:nvCxnSpPr>
          <p:cNvPr id="17" name="Straight Arrow Connector 43"/>
          <p:cNvCxnSpPr/>
          <p:nvPr/>
        </p:nvCxnSpPr>
        <p:spPr>
          <a:xfrm>
            <a:off x="1197867" y="4539137"/>
            <a:ext cx="432049" cy="92328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45"/>
          <p:cNvCxnSpPr/>
          <p:nvPr/>
        </p:nvCxnSpPr>
        <p:spPr>
          <a:xfrm>
            <a:off x="1216535" y="4880762"/>
            <a:ext cx="432049" cy="231096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47"/>
          <p:cNvCxnSpPr/>
          <p:nvPr/>
        </p:nvCxnSpPr>
        <p:spPr>
          <a:xfrm flipV="1">
            <a:off x="1168464" y="4752179"/>
            <a:ext cx="473049" cy="472732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49"/>
          <p:cNvCxnSpPr/>
          <p:nvPr/>
        </p:nvCxnSpPr>
        <p:spPr>
          <a:xfrm flipV="1">
            <a:off x="1168464" y="5139367"/>
            <a:ext cx="432049" cy="281687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222146" y="4663906"/>
            <a:ext cx="64120" cy="1246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4496" y="5010381"/>
            <a:ext cx="64120" cy="1246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0145" y="4312335"/>
            <a:ext cx="64120" cy="1246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4020" y="5594757"/>
            <a:ext cx="990656" cy="1246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900" dirty="0"/>
              <a:t>Merge JOIN operator</a:t>
            </a:r>
            <a:endParaRPr lang="ko-KR" altLang="en-US" sz="900" dirty="0"/>
          </a:p>
        </p:txBody>
      </p:sp>
      <p:graphicFrame>
        <p:nvGraphicFramePr>
          <p:cNvPr id="2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8993500"/>
              </p:ext>
            </p:extLst>
          </p:nvPr>
        </p:nvGraphicFramePr>
        <p:xfrm>
          <a:off x="3360482" y="4105567"/>
          <a:ext cx="288032" cy="138528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288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146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46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46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46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46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46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146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146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3315451" y="3847012"/>
            <a:ext cx="373499" cy="2492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dirty="0"/>
              <a:t>Fact</a:t>
            </a:r>
          </a:p>
          <a:p>
            <a:pPr algn="ctr">
              <a:lnSpc>
                <a:spcPct val="90000"/>
              </a:lnSpc>
            </a:pPr>
            <a:r>
              <a:rPr lang="en-US" altLang="ko-KR" sz="900" dirty="0"/>
              <a:t>(sorted)</a:t>
            </a:r>
          </a:p>
        </p:txBody>
      </p:sp>
      <p:graphicFrame>
        <p:nvGraphicFramePr>
          <p:cNvPr id="2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1824227"/>
              </p:ext>
            </p:extLst>
          </p:nvPr>
        </p:nvGraphicFramePr>
        <p:xfrm>
          <a:off x="4629731" y="4573618"/>
          <a:ext cx="288032" cy="69264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288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146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46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46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46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4614668" y="4308062"/>
            <a:ext cx="373499" cy="2492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dirty="0"/>
              <a:t>Dim </a:t>
            </a:r>
          </a:p>
          <a:p>
            <a:pPr algn="ctr">
              <a:lnSpc>
                <a:spcPct val="90000"/>
              </a:lnSpc>
            </a:pPr>
            <a:r>
              <a:rPr lang="en-US" altLang="ko-KR" sz="900" dirty="0"/>
              <a:t>(sorted)</a:t>
            </a:r>
          </a:p>
        </p:txBody>
      </p:sp>
      <p:sp>
        <p:nvSpPr>
          <p:cNvPr id="29" name="Right Arrow 65"/>
          <p:cNvSpPr/>
          <p:nvPr/>
        </p:nvSpPr>
        <p:spPr>
          <a:xfrm rot="5400000" flipH="1">
            <a:off x="4109102" y="4151165"/>
            <a:ext cx="207252" cy="216856"/>
          </a:xfrm>
          <a:prstGeom prst="rightArrow">
            <a:avLst/>
          </a:prstGeom>
          <a:solidFill>
            <a:schemeClr val="bg1">
              <a:lumMod val="50000"/>
            </a:schemeClr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sz="900" dirty="0"/>
          </a:p>
        </p:txBody>
      </p:sp>
      <p:sp>
        <p:nvSpPr>
          <p:cNvPr id="30" name="TextBox 29"/>
          <p:cNvSpPr txBox="1"/>
          <p:nvPr/>
        </p:nvSpPr>
        <p:spPr>
          <a:xfrm>
            <a:off x="4058182" y="3880287"/>
            <a:ext cx="336631" cy="2492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dirty="0"/>
              <a:t>Output</a:t>
            </a:r>
          </a:p>
          <a:p>
            <a:pPr algn="ctr">
              <a:lnSpc>
                <a:spcPct val="90000"/>
              </a:lnSpc>
            </a:pPr>
            <a:r>
              <a:rPr lang="en-US" altLang="ko-KR" sz="900" dirty="0"/>
              <a:t>tuple</a:t>
            </a:r>
          </a:p>
        </p:txBody>
      </p:sp>
      <p:cxnSp>
        <p:nvCxnSpPr>
          <p:cNvPr id="31" name="Straight Arrow Connector 67"/>
          <p:cNvCxnSpPr/>
          <p:nvPr/>
        </p:nvCxnSpPr>
        <p:spPr>
          <a:xfrm>
            <a:off x="3668114" y="4207098"/>
            <a:ext cx="498788" cy="279902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70"/>
          <p:cNvCxnSpPr/>
          <p:nvPr/>
        </p:nvCxnSpPr>
        <p:spPr>
          <a:xfrm>
            <a:off x="3668114" y="4374345"/>
            <a:ext cx="525355" cy="133344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72"/>
          <p:cNvCxnSpPr/>
          <p:nvPr/>
        </p:nvCxnSpPr>
        <p:spPr>
          <a:xfrm flipH="1" flipV="1">
            <a:off x="4166902" y="4485601"/>
            <a:ext cx="434141" cy="188618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75"/>
          <p:cNvCxnSpPr/>
          <p:nvPr/>
        </p:nvCxnSpPr>
        <p:spPr>
          <a:xfrm>
            <a:off x="3668114" y="4530699"/>
            <a:ext cx="498788" cy="184902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77"/>
          <p:cNvCxnSpPr/>
          <p:nvPr/>
        </p:nvCxnSpPr>
        <p:spPr>
          <a:xfrm flipH="1" flipV="1">
            <a:off x="4166902" y="4706133"/>
            <a:ext cx="405098" cy="134181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79"/>
          <p:cNvCxnSpPr/>
          <p:nvPr/>
        </p:nvCxnSpPr>
        <p:spPr>
          <a:xfrm>
            <a:off x="3688179" y="4719232"/>
            <a:ext cx="478723" cy="161530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81"/>
          <p:cNvCxnSpPr/>
          <p:nvPr/>
        </p:nvCxnSpPr>
        <p:spPr>
          <a:xfrm flipH="1" flipV="1">
            <a:off x="4166902" y="4870999"/>
            <a:ext cx="438150" cy="123551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83"/>
          <p:cNvCxnSpPr/>
          <p:nvPr/>
        </p:nvCxnSpPr>
        <p:spPr>
          <a:xfrm>
            <a:off x="3666168" y="4907503"/>
            <a:ext cx="500734" cy="165203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92"/>
          <p:cNvCxnSpPr/>
          <p:nvPr/>
        </p:nvCxnSpPr>
        <p:spPr>
          <a:xfrm flipH="1" flipV="1">
            <a:off x="4148280" y="5083535"/>
            <a:ext cx="423721" cy="87286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769357" y="5276796"/>
            <a:ext cx="64120" cy="1246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86658" y="5276796"/>
            <a:ext cx="716542" cy="2492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dirty="0"/>
              <a:t>No more value</a:t>
            </a:r>
          </a:p>
          <a:p>
            <a:pPr algn="ctr">
              <a:lnSpc>
                <a:spcPct val="90000"/>
              </a:lnSpc>
            </a:pPr>
            <a:r>
              <a:rPr lang="en-US" altLang="ko-KR" sz="900" dirty="0"/>
              <a:t>Join completed</a:t>
            </a:r>
          </a:p>
        </p:txBody>
      </p:sp>
      <p:sp>
        <p:nvSpPr>
          <p:cNvPr id="44" name="Rectangle 114"/>
          <p:cNvSpPr/>
          <p:nvPr/>
        </p:nvSpPr>
        <p:spPr bwMode="auto">
          <a:xfrm>
            <a:off x="6637434" y="2529489"/>
            <a:ext cx="4536504" cy="8995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SELECT /*+</a:t>
            </a:r>
            <a:r>
              <a:rPr lang="en-US" sz="900" b="1" dirty="0" err="1">
                <a:solidFill>
                  <a:schemeClr val="bg1"/>
                </a:solidFill>
              </a:rPr>
              <a:t>add_vertica_options</a:t>
            </a:r>
            <a:r>
              <a:rPr lang="en-US" sz="900" b="1" dirty="0">
                <a:solidFill>
                  <a:schemeClr val="bg1"/>
                </a:solidFill>
              </a:rPr>
              <a:t>(EE,ENABLE_JOIN_SPILL)*/ …</a:t>
            </a:r>
          </a:p>
          <a:p>
            <a:r>
              <a:rPr lang="ko-KR" altLang="en-US" sz="900" b="1" dirty="0">
                <a:solidFill>
                  <a:schemeClr val="bg1"/>
                </a:solidFill>
              </a:rPr>
              <a:t>또는</a:t>
            </a:r>
            <a:endParaRPr lang="en-US" altLang="ko-KR" sz="900" b="1" dirty="0">
              <a:solidFill>
                <a:schemeClr val="bg1"/>
              </a:solidFill>
            </a:endParaRPr>
          </a:p>
          <a:p>
            <a:r>
              <a:rPr lang="en-US" sz="900" b="1" dirty="0">
                <a:solidFill>
                  <a:schemeClr val="bg1"/>
                </a:solidFill>
              </a:rPr>
              <a:t>SELECT ADD_VERTICA_OPTIONS(‘EE’,’ENABLE_JOIN_SPILL’) ;</a:t>
            </a:r>
          </a:p>
          <a:p>
            <a:r>
              <a:rPr lang="en-US" sz="900" b="1" dirty="0">
                <a:solidFill>
                  <a:schemeClr val="bg1"/>
                </a:solidFill>
              </a:rPr>
              <a:t>SELECT …</a:t>
            </a:r>
          </a:p>
        </p:txBody>
      </p:sp>
    </p:spTree>
    <p:extLst>
      <p:ext uri="{BB962C8B-B14F-4D97-AF65-F5344CB8AC3E}">
        <p14:creationId xmlns:p14="http://schemas.microsoft.com/office/powerpoint/2010/main" val="349466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조인 쿼리 성능 최적화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쿼리 성능 최적화</a:t>
            </a:r>
            <a:endParaRPr lang="ko-KR" altLang="en-US" dirty="0"/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Merge Join</a:t>
            </a:r>
            <a:r>
              <a:rPr lang="ko-KR" altLang="en-US" sz="1100" b="1" dirty="0"/>
              <a:t> 최적화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조인 </a:t>
            </a:r>
            <a:r>
              <a:rPr lang="ko-KR" altLang="en-US" sz="1100" dirty="0" err="1"/>
              <a:t>컬럼이</a:t>
            </a:r>
            <a:r>
              <a:rPr lang="ko-KR" altLang="en-US" sz="1100" dirty="0"/>
              <a:t> 각 </a:t>
            </a:r>
            <a:r>
              <a:rPr lang="ko-KR" altLang="en-US" sz="1100" dirty="0" err="1"/>
              <a:t>프로젝션의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첫번째</a:t>
            </a:r>
            <a:r>
              <a:rPr lang="ko-KR" altLang="en-US" sz="1100" dirty="0"/>
              <a:t> 정렬 </a:t>
            </a:r>
            <a:r>
              <a:rPr lang="ko-KR" altLang="en-US" sz="1100" dirty="0" err="1"/>
              <a:t>컬럼으로</a:t>
            </a:r>
            <a:r>
              <a:rPr lang="ko-KR" altLang="en-US" sz="1100" dirty="0"/>
              <a:t> 정의된 경우 </a:t>
            </a:r>
            <a:r>
              <a:rPr lang="en-US" altLang="ko-KR" sz="1100" dirty="0"/>
              <a:t>Merge Join</a:t>
            </a:r>
            <a:r>
              <a:rPr lang="ko-KR" altLang="en-US" sz="1100" dirty="0"/>
              <a:t>이 수행된다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만약 조인 </a:t>
            </a:r>
            <a:r>
              <a:rPr lang="ko-KR" altLang="en-US" sz="1100" dirty="0" err="1"/>
              <a:t>컬럼이</a:t>
            </a:r>
            <a:r>
              <a:rPr lang="ko-KR" altLang="en-US" sz="1100" dirty="0"/>
              <a:t> </a:t>
            </a:r>
            <a:r>
              <a:rPr lang="ko-KR" altLang="en-US" sz="1100" dirty="0" err="1"/>
              <a:t>프로젝션의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두번째</a:t>
            </a:r>
            <a:r>
              <a:rPr lang="ko-KR" altLang="en-US" sz="1100" dirty="0"/>
              <a:t> 정렬 </a:t>
            </a:r>
            <a:r>
              <a:rPr lang="ko-KR" altLang="en-US" sz="1100" dirty="0" err="1"/>
              <a:t>컬럼으로</a:t>
            </a:r>
            <a:r>
              <a:rPr lang="ko-KR" altLang="en-US" sz="1100" dirty="0"/>
              <a:t> 사용될 경우라도 </a:t>
            </a:r>
            <a:r>
              <a:rPr lang="ko-KR" altLang="en-US" sz="1100" dirty="0" err="1"/>
              <a:t>프로젝션의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첫번째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컬럼이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이퀄리티</a:t>
            </a:r>
            <a:r>
              <a:rPr lang="ko-KR" altLang="en-US" sz="1100" dirty="0"/>
              <a:t> </a:t>
            </a:r>
            <a:r>
              <a:rPr lang="en-US" altLang="ko-KR" sz="1100" dirty="0"/>
              <a:t>(equality) </a:t>
            </a:r>
            <a:r>
              <a:rPr lang="ko-KR" altLang="en-US" sz="1100" dirty="0"/>
              <a:t>조건으로 사용되면 </a:t>
            </a:r>
            <a:r>
              <a:rPr lang="en-US" altLang="ko-KR" sz="1100" dirty="0"/>
              <a:t>Merge Join</a:t>
            </a:r>
            <a:r>
              <a:rPr lang="ko-KR" altLang="en-US" sz="1100" dirty="0"/>
              <a:t>이 수행될 수 있다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Outer </a:t>
            </a:r>
            <a:r>
              <a:rPr lang="ko-KR" altLang="en-US" sz="1100" dirty="0"/>
              <a:t>테이블만 조인 </a:t>
            </a:r>
            <a:r>
              <a:rPr lang="ko-KR" altLang="en-US" sz="1100" dirty="0" err="1"/>
              <a:t>컬럼</a:t>
            </a:r>
            <a:r>
              <a:rPr lang="ko-KR" altLang="en-US" sz="1100" dirty="0"/>
              <a:t> 순서로 정렬되어 있을 경우에도 쿼리 시점에 </a:t>
            </a:r>
            <a:r>
              <a:rPr lang="en-US" altLang="ko-KR" sz="1100" dirty="0"/>
              <a:t>inner </a:t>
            </a:r>
            <a:r>
              <a:rPr lang="ko-KR" altLang="en-US" sz="1100" dirty="0"/>
              <a:t>테이블의 조인 </a:t>
            </a:r>
            <a:r>
              <a:rPr lang="ko-KR" altLang="en-US" sz="1100" dirty="0" err="1"/>
              <a:t>컬럼</a:t>
            </a:r>
            <a:r>
              <a:rPr lang="ko-KR" altLang="en-US" sz="1100" dirty="0"/>
              <a:t> 정렬이 먼저 될 경우 </a:t>
            </a:r>
            <a:r>
              <a:rPr lang="en-US" altLang="ko-KR" sz="1100" dirty="0"/>
              <a:t>merge join</a:t>
            </a:r>
            <a:r>
              <a:rPr lang="ko-KR" altLang="en-US" sz="1100" dirty="0"/>
              <a:t>이 수행될 수 있다 </a:t>
            </a: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Merge Join</a:t>
            </a:r>
            <a:r>
              <a:rPr lang="ko-KR" altLang="en-US" sz="1100" b="1" dirty="0"/>
              <a:t>의 예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 err="1">
                <a:solidFill>
                  <a:prstClr val="black"/>
                </a:solidFill>
              </a:rPr>
              <a:t>Join_key</a:t>
            </a:r>
            <a:r>
              <a:rPr lang="en-US" altLang="ko-KR" sz="1100" dirty="0">
                <a:solidFill>
                  <a:prstClr val="black"/>
                </a:solidFill>
              </a:rPr>
              <a:t> </a:t>
            </a:r>
            <a:r>
              <a:rPr lang="ko-KR" altLang="en-US" sz="1100" dirty="0" err="1">
                <a:solidFill>
                  <a:prstClr val="black"/>
                </a:solidFill>
              </a:rPr>
              <a:t>컬럼이</a:t>
            </a:r>
            <a:r>
              <a:rPr lang="ko-KR" altLang="en-US" sz="1100" dirty="0">
                <a:solidFill>
                  <a:prstClr val="black"/>
                </a:solidFill>
              </a:rPr>
              <a:t> 정렬되어 있는 경우 아래 쿼리는 </a:t>
            </a:r>
            <a:r>
              <a:rPr lang="en-US" altLang="ko-KR" sz="1100" dirty="0">
                <a:solidFill>
                  <a:prstClr val="black"/>
                </a:solidFill>
              </a:rPr>
              <a:t>Merge Join </a:t>
            </a:r>
            <a:r>
              <a:rPr lang="ko-KR" altLang="en-US" sz="1100" dirty="0">
                <a:solidFill>
                  <a:prstClr val="black"/>
                </a:solidFill>
              </a:rPr>
              <a:t>수행</a:t>
            </a:r>
            <a:endParaRPr lang="en-US" altLang="ko-KR" sz="1100" dirty="0">
              <a:solidFill>
                <a:prstClr val="black"/>
              </a:solidFill>
            </a:endParaRPr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>
                <a:solidFill>
                  <a:prstClr val="black"/>
                </a:solidFill>
              </a:rPr>
              <a:t>아래와 같은 경우는 </a:t>
            </a:r>
            <a:r>
              <a:rPr lang="en-US" altLang="ko-KR" sz="1100" dirty="0">
                <a:solidFill>
                  <a:prstClr val="black"/>
                </a:solidFill>
              </a:rPr>
              <a:t>equality </a:t>
            </a:r>
            <a:r>
              <a:rPr lang="ko-KR" altLang="en-US" sz="1100" dirty="0">
                <a:solidFill>
                  <a:prstClr val="black"/>
                </a:solidFill>
              </a:rPr>
              <a:t>조회 조건으로 먼저 데이터를 </a:t>
            </a:r>
            <a:r>
              <a:rPr lang="ko-KR" altLang="en-US" sz="1100" dirty="0" err="1">
                <a:solidFill>
                  <a:prstClr val="black"/>
                </a:solidFill>
              </a:rPr>
              <a:t>필터링한</a:t>
            </a:r>
            <a:r>
              <a:rPr lang="ko-KR" altLang="en-US" sz="1100" dirty="0">
                <a:solidFill>
                  <a:prstClr val="black"/>
                </a:solidFill>
              </a:rPr>
              <a:t> 후 이후 </a:t>
            </a:r>
            <a:r>
              <a:rPr lang="en-US" altLang="ko-KR" sz="1100" dirty="0" err="1">
                <a:solidFill>
                  <a:prstClr val="black"/>
                </a:solidFill>
              </a:rPr>
              <a:t>Join_key</a:t>
            </a:r>
            <a:r>
              <a:rPr lang="en-US" altLang="ko-KR" sz="1100" dirty="0">
                <a:solidFill>
                  <a:prstClr val="black"/>
                </a:solidFill>
              </a:rPr>
              <a:t> </a:t>
            </a:r>
            <a:r>
              <a:rPr lang="ko-KR" altLang="en-US" sz="1100" dirty="0" err="1">
                <a:solidFill>
                  <a:prstClr val="black"/>
                </a:solidFill>
              </a:rPr>
              <a:t>컬럼이</a:t>
            </a:r>
            <a:r>
              <a:rPr lang="ko-KR" altLang="en-US" sz="1100" dirty="0">
                <a:solidFill>
                  <a:prstClr val="black"/>
                </a:solidFill>
              </a:rPr>
              <a:t> 정렬되어 있는 상태가 유지되므로 </a:t>
            </a:r>
            <a:r>
              <a:rPr lang="en-US" altLang="ko-KR" sz="1100" dirty="0">
                <a:solidFill>
                  <a:prstClr val="black"/>
                </a:solidFill>
              </a:rPr>
              <a:t>Merge Join</a:t>
            </a:r>
            <a:r>
              <a:rPr lang="ko-KR" altLang="en-US" sz="1100" dirty="0">
                <a:solidFill>
                  <a:prstClr val="black"/>
                </a:solidFill>
              </a:rPr>
              <a:t>이 수행</a:t>
            </a:r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297426" y="3268281"/>
            <a:ext cx="3365427" cy="356943"/>
          </a:xfrm>
          <a:prstGeom prst="roundRect">
            <a:avLst>
              <a:gd name="adj" fmla="val 19590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SELECT * FROM Fact F, Dim D WHERE </a:t>
            </a:r>
            <a:r>
              <a:rPr lang="en-US" altLang="ko-KR" sz="900" dirty="0">
                <a:solidFill>
                  <a:srgbClr val="FFFF00"/>
                </a:solidFill>
                <a:cs typeface="Courier New" panose="02070309020205020404" pitchFamily="49" charset="0"/>
              </a:rPr>
              <a:t>F.id = D.id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9" name="Rectangular Callout 8"/>
          <p:cNvSpPr/>
          <p:nvPr/>
        </p:nvSpPr>
        <p:spPr>
          <a:xfrm>
            <a:off x="984718" y="3284984"/>
            <a:ext cx="1242102" cy="214748"/>
          </a:xfrm>
          <a:prstGeom prst="wedgeRectCallout">
            <a:avLst>
              <a:gd name="adj1" fmla="val 56526"/>
              <a:gd name="adj2" fmla="val 33722"/>
            </a:avLst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en-US" altLang="ko-KR" sz="900" i="1" dirty="0">
                <a:solidFill>
                  <a:prstClr val="black"/>
                </a:solidFill>
              </a:rPr>
              <a:t>Sample query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7829" y="3752323"/>
            <a:ext cx="2376264" cy="1620893"/>
          </a:xfrm>
          <a:prstGeom prst="roundRect">
            <a:avLst>
              <a:gd name="adj" fmla="val 6357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CREATE PROJECTION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Fact_p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(  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a ENCODING RLE, 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b ENCODING RLE,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c, 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id ENCODING RLE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) AS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SELECT a, b, c, id FROM Fact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</a:t>
            </a:r>
            <a:r>
              <a:rPr lang="en-US" altLang="ko-KR" sz="900" dirty="0">
                <a:solidFill>
                  <a:srgbClr val="FFFF00"/>
                </a:solidFill>
                <a:cs typeface="Courier New" panose="02070309020205020404" pitchFamily="49" charset="0"/>
              </a:rPr>
              <a:t>ORDER BY id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, b 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SEGMENTED BY HASH(c) ALL NODES;</a:t>
            </a:r>
          </a:p>
        </p:txBody>
      </p:sp>
      <p:sp>
        <p:nvSpPr>
          <p:cNvPr id="11" name="Rounded Rectangle 12"/>
          <p:cNvSpPr/>
          <p:nvPr/>
        </p:nvSpPr>
        <p:spPr>
          <a:xfrm>
            <a:off x="3286589" y="3752323"/>
            <a:ext cx="2376264" cy="1620893"/>
          </a:xfrm>
          <a:prstGeom prst="roundRect">
            <a:avLst>
              <a:gd name="adj" fmla="val 6357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CREATE PROJECTION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Dim_p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(  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x ENCODING RLE, 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y ENCODING RLE,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z, 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id ENCODING RLE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) AS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SELECT x, y, z, id FROM Dim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</a:t>
            </a:r>
            <a:r>
              <a:rPr lang="en-US" altLang="ko-KR" sz="900" dirty="0">
                <a:solidFill>
                  <a:srgbClr val="FFFF00"/>
                </a:solidFill>
                <a:cs typeface="Courier New" panose="02070309020205020404" pitchFamily="49" charset="0"/>
              </a:rPr>
              <a:t>ORDER BY id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, x, y 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UNSEGMENTED ALL NODES;</a:t>
            </a:r>
          </a:p>
        </p:txBody>
      </p:sp>
      <p:sp>
        <p:nvSpPr>
          <p:cNvPr id="12" name="Rounded Rectangle 13"/>
          <p:cNvSpPr/>
          <p:nvPr/>
        </p:nvSpPr>
        <p:spPr>
          <a:xfrm>
            <a:off x="7966620" y="1772816"/>
            <a:ext cx="3524483" cy="648072"/>
          </a:xfrm>
          <a:prstGeom prst="roundRect">
            <a:avLst>
              <a:gd name="adj" fmla="val 12790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SELECT * FROM Fact F, Dim D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WHERE </a:t>
            </a:r>
            <a:r>
              <a:rPr lang="en-US" altLang="ko-KR" sz="900" dirty="0">
                <a:solidFill>
                  <a:srgbClr val="FFFF00"/>
                </a:solidFill>
                <a:cs typeface="Courier New" panose="02070309020205020404" pitchFamily="49" charset="0"/>
              </a:rPr>
              <a:t>F.id = D.id AND </a:t>
            </a:r>
            <a:r>
              <a:rPr lang="en-US" altLang="ko-KR" sz="900" dirty="0" err="1">
                <a:solidFill>
                  <a:srgbClr val="FFFF00"/>
                </a:solidFill>
                <a:cs typeface="Courier New" panose="02070309020205020404" pitchFamily="49" charset="0"/>
              </a:rPr>
              <a:t>F.a</a:t>
            </a:r>
            <a:r>
              <a:rPr lang="en-US" altLang="ko-KR" sz="900" dirty="0">
                <a:solidFill>
                  <a:srgbClr val="FFFF00"/>
                </a:solidFill>
                <a:cs typeface="Courier New" panose="02070309020205020404" pitchFamily="49" charset="0"/>
              </a:rPr>
              <a:t> = 10;</a:t>
            </a:r>
          </a:p>
        </p:txBody>
      </p:sp>
      <p:sp>
        <p:nvSpPr>
          <p:cNvPr id="13" name="Rectangular Callout 15"/>
          <p:cNvSpPr/>
          <p:nvPr/>
        </p:nvSpPr>
        <p:spPr>
          <a:xfrm>
            <a:off x="6653912" y="1789519"/>
            <a:ext cx="1242102" cy="214748"/>
          </a:xfrm>
          <a:prstGeom prst="wedgeRectCallout">
            <a:avLst>
              <a:gd name="adj1" fmla="val 56526"/>
              <a:gd name="adj2" fmla="val 33722"/>
            </a:avLst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en-US" altLang="ko-KR" sz="900" i="1" dirty="0">
                <a:solidFill>
                  <a:prstClr val="black"/>
                </a:solidFill>
              </a:rPr>
              <a:t>Sample query</a:t>
            </a:r>
          </a:p>
        </p:txBody>
      </p:sp>
      <p:sp>
        <p:nvSpPr>
          <p:cNvPr id="14" name="Rounded Rectangle 16"/>
          <p:cNvSpPr/>
          <p:nvPr/>
        </p:nvSpPr>
        <p:spPr>
          <a:xfrm>
            <a:off x="6666079" y="2535602"/>
            <a:ext cx="2376264" cy="1620893"/>
          </a:xfrm>
          <a:prstGeom prst="roundRect">
            <a:avLst>
              <a:gd name="adj" fmla="val 6357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CREATE PROJECTION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Fact_p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(  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a ENCODING RLE, 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b ENCODING RLE,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c, 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id ENCODING RLE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) AS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SELECT a, b, c, id FROM Fact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</a:t>
            </a:r>
            <a:r>
              <a:rPr lang="en-US" altLang="ko-KR" sz="900" dirty="0">
                <a:solidFill>
                  <a:srgbClr val="FFFF00"/>
                </a:solidFill>
                <a:cs typeface="Courier New" panose="02070309020205020404" pitchFamily="49" charset="0"/>
              </a:rPr>
              <a:t>ORDER BY a, id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, b 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SEGMENTED BY HASH(c) ALL NODES;</a:t>
            </a:r>
          </a:p>
        </p:txBody>
      </p:sp>
      <p:sp>
        <p:nvSpPr>
          <p:cNvPr id="15" name="Rounded Rectangle 17"/>
          <p:cNvSpPr/>
          <p:nvPr/>
        </p:nvSpPr>
        <p:spPr>
          <a:xfrm>
            <a:off x="9114839" y="2535602"/>
            <a:ext cx="2376264" cy="1620893"/>
          </a:xfrm>
          <a:prstGeom prst="roundRect">
            <a:avLst>
              <a:gd name="adj" fmla="val 6357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CREATE PROJECTION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Dim_p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(  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x ENCODING RLE, 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y ENCODING RLE,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z, 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id ENCODING RLE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) AS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SELECT x, y, z, id FROM Dim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</a:t>
            </a:r>
            <a:r>
              <a:rPr lang="en-US" altLang="ko-KR" sz="900" dirty="0">
                <a:solidFill>
                  <a:srgbClr val="FFFF00"/>
                </a:solidFill>
                <a:cs typeface="Courier New" panose="02070309020205020404" pitchFamily="49" charset="0"/>
              </a:rPr>
              <a:t>ORDER BY id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, x, y </a:t>
            </a:r>
            <a:b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UNSEGMENTED ALL NODES;</a:t>
            </a:r>
          </a:p>
        </p:txBody>
      </p:sp>
      <p:sp>
        <p:nvSpPr>
          <p:cNvPr id="16" name="Rectangular Callout 18"/>
          <p:cNvSpPr/>
          <p:nvPr/>
        </p:nvSpPr>
        <p:spPr>
          <a:xfrm>
            <a:off x="7896014" y="4256856"/>
            <a:ext cx="2374862" cy="252263"/>
          </a:xfrm>
          <a:prstGeom prst="wedgeRectCallout">
            <a:avLst>
              <a:gd name="adj1" fmla="val -56940"/>
              <a:gd name="adj2" fmla="val -52052"/>
            </a:avLst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1200"/>
              </a:lnSpc>
            </a:pPr>
            <a:r>
              <a:rPr lang="en-US" altLang="ko-KR" sz="900" i="1" dirty="0">
                <a:solidFill>
                  <a:prstClr val="black"/>
                </a:solidFill>
              </a:rPr>
              <a:t>Merge Join with Predicate Pushdown</a:t>
            </a:r>
          </a:p>
        </p:txBody>
      </p:sp>
    </p:spTree>
    <p:extLst>
      <p:ext uri="{BB962C8B-B14F-4D97-AF65-F5344CB8AC3E}">
        <p14:creationId xmlns:p14="http://schemas.microsoft.com/office/powerpoint/2010/main" val="41419462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조인 쿼리 성능 최적화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쿼리 성능 최적화</a:t>
            </a:r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Join Network operation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로컬조인 </a:t>
            </a:r>
            <a:r>
              <a:rPr lang="en-US" altLang="ko-KR" sz="1100" dirty="0"/>
              <a:t>(Local Join)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Fact </a:t>
            </a:r>
            <a:r>
              <a:rPr lang="ko-KR" altLang="en-US" sz="1100" dirty="0"/>
              <a:t>테이블과 </a:t>
            </a:r>
            <a:r>
              <a:rPr lang="en-US" altLang="ko-KR" sz="1100" dirty="0"/>
              <a:t>dimension </a:t>
            </a:r>
            <a:r>
              <a:rPr lang="ko-KR" altLang="en-US" sz="1100" dirty="0"/>
              <a:t>테이블이 조인될 때 </a:t>
            </a:r>
            <a:r>
              <a:rPr lang="en-US" altLang="ko-KR" sz="1100" dirty="0"/>
              <a:t>dimension </a:t>
            </a:r>
            <a:r>
              <a:rPr lang="ko-KR" altLang="en-US" sz="1100" dirty="0"/>
              <a:t>테이블이 모든 </a:t>
            </a:r>
            <a:r>
              <a:rPr lang="ko-KR" altLang="en-US" sz="1100" dirty="0" err="1"/>
              <a:t>노드에</a:t>
            </a:r>
            <a:r>
              <a:rPr lang="ko-KR" altLang="en-US" sz="1100" dirty="0"/>
              <a:t> 복제되어 있어 조인할 데이터가 같은 </a:t>
            </a:r>
            <a:r>
              <a:rPr lang="ko-KR" altLang="en-US" sz="1100" dirty="0" err="1"/>
              <a:t>노드에</a:t>
            </a:r>
            <a:r>
              <a:rPr lang="ko-KR" altLang="en-US" sz="1100" dirty="0"/>
              <a:t> 있는 상태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ISP (Identically segmented projections) </a:t>
            </a:r>
            <a:r>
              <a:rPr lang="ko-KR" altLang="en-US" sz="1100" dirty="0"/>
              <a:t>조인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조인 성능을 최적화하기 위해서는 조인 키로 사용된 </a:t>
            </a:r>
            <a:r>
              <a:rPr lang="ko-KR" altLang="en-US" sz="1100" dirty="0" err="1"/>
              <a:t>컬럼을</a:t>
            </a:r>
            <a:r>
              <a:rPr lang="ko-KR" altLang="en-US" sz="1100" dirty="0"/>
              <a:t> 기준으로 해당 테이블의 </a:t>
            </a:r>
            <a:r>
              <a:rPr lang="ko-KR" altLang="en-US" sz="1100" dirty="0" err="1"/>
              <a:t>프로젝션이</a:t>
            </a:r>
            <a:r>
              <a:rPr lang="ko-KR" altLang="en-US" sz="1100" dirty="0"/>
              <a:t> 동일하게 </a:t>
            </a:r>
            <a:r>
              <a:rPr lang="en-US" altLang="ko-KR" sz="1100" dirty="0"/>
              <a:t>segment </a:t>
            </a:r>
            <a:r>
              <a:rPr lang="ko-KR" altLang="en-US" sz="1100" dirty="0"/>
              <a:t>되어 있어야 한다</a:t>
            </a:r>
            <a:r>
              <a:rPr lang="en-US" altLang="ko-KR" sz="1100" dirty="0"/>
              <a:t>. </a:t>
            </a:r>
            <a:r>
              <a:rPr lang="ko-KR" altLang="en-US" sz="1100" dirty="0"/>
              <a:t>이런 </a:t>
            </a:r>
            <a:r>
              <a:rPr lang="ko-KR" altLang="en-US" sz="1100" dirty="0" err="1"/>
              <a:t>프로젝션을</a:t>
            </a:r>
            <a:r>
              <a:rPr lang="ko-KR" altLang="en-US" sz="1100" dirty="0"/>
              <a:t> </a:t>
            </a:r>
            <a:r>
              <a:rPr lang="en-US" altLang="ko-KR" sz="1100" dirty="0"/>
              <a:t>ISP (Identically segmented projections)</a:t>
            </a:r>
            <a:r>
              <a:rPr lang="ko-KR" altLang="en-US" sz="1100" dirty="0"/>
              <a:t>라고 부르는데</a:t>
            </a:r>
            <a:r>
              <a:rPr lang="en-US" altLang="ko-KR" sz="1100" dirty="0"/>
              <a:t>, ISP</a:t>
            </a:r>
            <a:r>
              <a:rPr lang="ko-KR" altLang="en-US" sz="1100" dirty="0"/>
              <a:t>에 의해 조인이 될 경우</a:t>
            </a:r>
            <a:r>
              <a:rPr lang="en-US" altLang="ko-KR" sz="1100" dirty="0"/>
              <a:t> </a:t>
            </a:r>
            <a:r>
              <a:rPr lang="ko-KR" altLang="en-US" sz="1100" dirty="0"/>
              <a:t>쿼리 실행 중 </a:t>
            </a:r>
            <a:r>
              <a:rPr lang="ko-KR" altLang="en-US" sz="1100" dirty="0" err="1"/>
              <a:t>노드</a:t>
            </a:r>
            <a:r>
              <a:rPr lang="ko-KR" altLang="en-US" sz="1100" dirty="0"/>
              <a:t> 간 데이터 이동이 없어 성능이 극대화 된다</a:t>
            </a:r>
            <a:r>
              <a:rPr lang="en-US" altLang="ko-KR" sz="1100" dirty="0"/>
              <a:t>.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ISP (Identically segmented projections) </a:t>
            </a:r>
            <a:r>
              <a:rPr lang="ko-KR" altLang="en-US" sz="1100" dirty="0"/>
              <a:t>조인 조건</a:t>
            </a:r>
            <a:endParaRPr lang="en-US" altLang="ko-KR" sz="1100" dirty="0"/>
          </a:p>
          <a:p>
            <a:pPr lvl="3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 err="1"/>
              <a:t>프로젝션의</a:t>
            </a:r>
            <a:r>
              <a:rPr lang="ko-KR" altLang="en-US" sz="1100" dirty="0"/>
              <a:t> </a:t>
            </a:r>
            <a:r>
              <a:rPr lang="en-US" altLang="ko-KR" sz="1100" dirty="0"/>
              <a:t>segment </a:t>
            </a:r>
            <a:r>
              <a:rPr lang="ko-KR" altLang="en-US" sz="1100" dirty="0" err="1"/>
              <a:t>컬럼은</a:t>
            </a:r>
            <a:r>
              <a:rPr lang="ko-KR" altLang="en-US" sz="1100" dirty="0"/>
              <a:t> 조인 </a:t>
            </a:r>
            <a:r>
              <a:rPr lang="ko-KR" altLang="en-US" sz="1100" dirty="0" err="1"/>
              <a:t>컬럼과</a:t>
            </a:r>
            <a:r>
              <a:rPr lang="ko-KR" altLang="en-US" sz="1100" dirty="0"/>
              <a:t> 일치하거나 </a:t>
            </a:r>
            <a:r>
              <a:rPr lang="en-US" altLang="ko-KR" sz="1100" dirty="0"/>
              <a:t>subset </a:t>
            </a:r>
            <a:r>
              <a:rPr lang="ko-KR" altLang="en-US" sz="1100" dirty="0"/>
              <a:t>이어야 하고</a:t>
            </a:r>
            <a:endParaRPr lang="en-US" altLang="ko-KR" sz="1100" dirty="0"/>
          </a:p>
          <a:p>
            <a:pPr lvl="3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조인 </a:t>
            </a:r>
            <a:r>
              <a:rPr lang="ko-KR" altLang="en-US" sz="1100" dirty="0" err="1"/>
              <a:t>컬럼의</a:t>
            </a:r>
            <a:r>
              <a:rPr lang="ko-KR" altLang="en-US" sz="1100" dirty="0"/>
              <a:t> 데이터 타입은 반드시 동일해야 하며</a:t>
            </a:r>
            <a:endParaRPr lang="en-US" altLang="ko-KR" sz="1100" dirty="0"/>
          </a:p>
          <a:p>
            <a:pPr lvl="3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각 </a:t>
            </a:r>
            <a:r>
              <a:rPr lang="ko-KR" altLang="en-US" sz="1100" dirty="0" err="1"/>
              <a:t>프로젝션의</a:t>
            </a:r>
            <a:r>
              <a:rPr lang="ko-KR" altLang="en-US" sz="1100" dirty="0"/>
              <a:t> </a:t>
            </a:r>
            <a:r>
              <a:rPr lang="en-US" altLang="ko-KR" sz="1100" dirty="0"/>
              <a:t>segment </a:t>
            </a:r>
            <a:r>
              <a:rPr lang="ko-KR" altLang="en-US" sz="1100" dirty="0" err="1"/>
              <a:t>컬럼</a:t>
            </a:r>
            <a:r>
              <a:rPr lang="ko-KR" altLang="en-US" sz="1100" dirty="0"/>
              <a:t> 표현식이 동일해야 한다</a:t>
            </a:r>
            <a:endParaRPr lang="en-US" altLang="ko-KR" sz="1100" dirty="0"/>
          </a:p>
          <a:p>
            <a:pPr lvl="3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KSAFE </a:t>
            </a:r>
            <a:r>
              <a:rPr lang="ko-KR" altLang="en-US" sz="1100" dirty="0"/>
              <a:t>옵션으로 버디 </a:t>
            </a:r>
            <a:r>
              <a:rPr lang="ko-KR" altLang="en-US" sz="1100" dirty="0" err="1"/>
              <a:t>프로젝션을</a:t>
            </a:r>
            <a:r>
              <a:rPr lang="ko-KR" altLang="en-US" sz="1100" dirty="0"/>
              <a:t> 만들었을 때 버디 </a:t>
            </a:r>
            <a:r>
              <a:rPr lang="ko-KR" altLang="en-US" sz="1100" dirty="0" err="1"/>
              <a:t>프로젝션의</a:t>
            </a:r>
            <a:r>
              <a:rPr lang="ko-KR" altLang="en-US" sz="1100" dirty="0"/>
              <a:t> 위치도 동일해야 한다</a:t>
            </a:r>
            <a:r>
              <a:rPr lang="en-US" altLang="ko-KR" sz="1100" dirty="0"/>
              <a:t>. </a:t>
            </a:r>
            <a:r>
              <a:rPr lang="ko-KR" altLang="en-US" sz="1100" dirty="0"/>
              <a:t>즉 </a:t>
            </a:r>
            <a:r>
              <a:rPr lang="en-US" altLang="ko-KR" sz="1100" dirty="0"/>
              <a:t>KSAFE OFFSET </a:t>
            </a:r>
            <a:r>
              <a:rPr lang="ko-KR" altLang="en-US" sz="1100" dirty="0"/>
              <a:t>이 동일해야 한다</a:t>
            </a:r>
            <a:r>
              <a:rPr lang="en-US" altLang="ko-KR" sz="1100" dirty="0"/>
              <a:t>.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BROADCAST/RESEGMENT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Local </a:t>
            </a:r>
            <a:r>
              <a:rPr lang="ko-KR" altLang="en-US" sz="1100" dirty="0"/>
              <a:t>또는 </a:t>
            </a:r>
            <a:r>
              <a:rPr lang="en-US" altLang="ko-KR" sz="1100" dirty="0"/>
              <a:t>ISP </a:t>
            </a:r>
            <a:r>
              <a:rPr lang="ko-KR" altLang="en-US" sz="1100" dirty="0"/>
              <a:t>조인이 불가능할 경우 전체 데이터가 </a:t>
            </a:r>
            <a:r>
              <a:rPr lang="ko-KR" altLang="en-US" sz="1100" dirty="0" err="1"/>
              <a:t>노드로</a:t>
            </a:r>
            <a:r>
              <a:rPr lang="ko-KR" altLang="en-US" sz="1100" dirty="0"/>
              <a:t> 이동되는 </a:t>
            </a:r>
            <a:r>
              <a:rPr lang="en-US" altLang="ko-KR" sz="1100" dirty="0"/>
              <a:t>broadcast</a:t>
            </a:r>
            <a:r>
              <a:rPr lang="ko-KR" altLang="en-US" sz="1100" dirty="0"/>
              <a:t>가 일어나거나 임시적으로 </a:t>
            </a:r>
            <a:r>
              <a:rPr lang="en-US" altLang="ko-KR" sz="1100" dirty="0"/>
              <a:t>ISP </a:t>
            </a:r>
            <a:r>
              <a:rPr lang="ko-KR" altLang="en-US" sz="1100" dirty="0"/>
              <a:t>조인이 될 수 있도록 </a:t>
            </a:r>
            <a:r>
              <a:rPr lang="ko-KR" altLang="en-US" sz="1100" dirty="0" err="1"/>
              <a:t>노드에</a:t>
            </a:r>
            <a:r>
              <a:rPr lang="ko-KR" altLang="en-US" sz="1100" dirty="0"/>
              <a:t> 데이터가 분산되는 </a:t>
            </a:r>
            <a:r>
              <a:rPr lang="en-US" altLang="ko-KR" sz="1100" dirty="0" err="1"/>
              <a:t>resegment</a:t>
            </a:r>
            <a:r>
              <a:rPr lang="ko-KR" altLang="en-US" sz="1100" dirty="0"/>
              <a:t>가 발생한다</a:t>
            </a:r>
            <a:endParaRPr lang="en-US" altLang="ko-KR" sz="1100" dirty="0"/>
          </a:p>
          <a:p>
            <a:pPr marL="411480" lvl="2" indent="0">
              <a:lnSpc>
                <a:spcPct val="100000"/>
              </a:lnSpc>
              <a:spcAft>
                <a:spcPts val="0"/>
              </a:spcAft>
              <a:buNone/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ko-KR" altLang="en-US" sz="1100" dirty="0"/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4"/>
          <p:cNvSpPr/>
          <p:nvPr/>
        </p:nvSpPr>
        <p:spPr>
          <a:xfrm>
            <a:off x="6939628" y="1882300"/>
            <a:ext cx="720080" cy="51540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90000"/>
              </a:lnSpc>
            </a:pP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71" name="Rounded Rectangle 5"/>
          <p:cNvSpPr/>
          <p:nvPr/>
        </p:nvSpPr>
        <p:spPr>
          <a:xfrm>
            <a:off x="7816087" y="1882300"/>
            <a:ext cx="720080" cy="51540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90000"/>
              </a:lnSpc>
            </a:pP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72" name="Rounded Rectangle 6"/>
          <p:cNvSpPr/>
          <p:nvPr/>
        </p:nvSpPr>
        <p:spPr>
          <a:xfrm>
            <a:off x="8692546" y="1882300"/>
            <a:ext cx="720080" cy="51540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90000"/>
              </a:lnSpc>
            </a:pP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8090216" y="3023232"/>
            <a:ext cx="193964" cy="124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dirty="0"/>
              <a:t>Fact</a:t>
            </a:r>
            <a:endParaRPr lang="ko-KR" altLang="en-US" sz="900" dirty="0" err="1"/>
          </a:p>
        </p:txBody>
      </p:sp>
      <p:sp>
        <p:nvSpPr>
          <p:cNvPr id="74" name="Rectangle 8"/>
          <p:cNvSpPr/>
          <p:nvPr/>
        </p:nvSpPr>
        <p:spPr>
          <a:xfrm>
            <a:off x="7925702" y="2592602"/>
            <a:ext cx="522994" cy="126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75" name="Rectangle 9"/>
          <p:cNvSpPr/>
          <p:nvPr/>
        </p:nvSpPr>
        <p:spPr>
          <a:xfrm>
            <a:off x="7925702" y="2719322"/>
            <a:ext cx="522994" cy="126720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76" name="Rectangle 10"/>
          <p:cNvSpPr/>
          <p:nvPr/>
        </p:nvSpPr>
        <p:spPr>
          <a:xfrm>
            <a:off x="7925702" y="2842542"/>
            <a:ext cx="522994" cy="126720"/>
          </a:xfrm>
          <a:prstGeom prst="rect">
            <a:avLst/>
          </a:prstGeom>
          <a:pattFill prst="pct80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77" name="Rectangle 11"/>
          <p:cNvSpPr/>
          <p:nvPr/>
        </p:nvSpPr>
        <p:spPr>
          <a:xfrm>
            <a:off x="7925702" y="2174091"/>
            <a:ext cx="522994" cy="126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78" name="Rectangle 12"/>
          <p:cNvSpPr/>
          <p:nvPr/>
        </p:nvSpPr>
        <p:spPr>
          <a:xfrm>
            <a:off x="7037227" y="2174091"/>
            <a:ext cx="522994" cy="126720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79" name="Rectangle 13"/>
          <p:cNvSpPr/>
          <p:nvPr/>
        </p:nvSpPr>
        <p:spPr>
          <a:xfrm>
            <a:off x="8811311" y="2174091"/>
            <a:ext cx="522994" cy="126720"/>
          </a:xfrm>
          <a:prstGeom prst="rect">
            <a:avLst/>
          </a:prstGeom>
          <a:pattFill prst="pct80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81" name="Straight Arrow Connector 14"/>
          <p:cNvCxnSpPr>
            <a:stCxn id="75" idx="1"/>
            <a:endCxn id="78" idx="2"/>
          </p:cNvCxnSpPr>
          <p:nvPr/>
        </p:nvCxnSpPr>
        <p:spPr>
          <a:xfrm flipH="1" flipV="1">
            <a:off x="7298724" y="2300811"/>
            <a:ext cx="626978" cy="481871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15"/>
          <p:cNvCxnSpPr>
            <a:stCxn id="74" idx="0"/>
          </p:cNvCxnSpPr>
          <p:nvPr/>
        </p:nvCxnSpPr>
        <p:spPr>
          <a:xfrm flipH="1" flipV="1">
            <a:off x="8169552" y="2300814"/>
            <a:ext cx="17647" cy="291788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16"/>
          <p:cNvCxnSpPr>
            <a:stCxn id="76" idx="3"/>
            <a:endCxn id="79" idx="2"/>
          </p:cNvCxnSpPr>
          <p:nvPr/>
        </p:nvCxnSpPr>
        <p:spPr>
          <a:xfrm flipV="1">
            <a:off x="8448696" y="2300811"/>
            <a:ext cx="624112" cy="605091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8926474" y="2578328"/>
            <a:ext cx="649216" cy="124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dirty="0"/>
              <a:t>segmentation</a:t>
            </a:r>
            <a:endParaRPr lang="ko-KR" altLang="en-US" sz="900" dirty="0" err="1"/>
          </a:p>
        </p:txBody>
      </p:sp>
      <p:sp>
        <p:nvSpPr>
          <p:cNvPr id="85" name="Rectangle 18"/>
          <p:cNvSpPr/>
          <p:nvPr/>
        </p:nvSpPr>
        <p:spPr>
          <a:xfrm>
            <a:off x="7936702" y="1585897"/>
            <a:ext cx="522994" cy="12672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86" name="Rectangle 19"/>
          <p:cNvSpPr/>
          <p:nvPr/>
        </p:nvSpPr>
        <p:spPr>
          <a:xfrm>
            <a:off x="7037227" y="1984011"/>
            <a:ext cx="522994" cy="12672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87" name="Rectangle 20"/>
          <p:cNvSpPr/>
          <p:nvPr/>
        </p:nvSpPr>
        <p:spPr>
          <a:xfrm>
            <a:off x="7934597" y="1979193"/>
            <a:ext cx="522994" cy="12672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88" name="Rectangle 21"/>
          <p:cNvSpPr/>
          <p:nvPr/>
        </p:nvSpPr>
        <p:spPr>
          <a:xfrm>
            <a:off x="8794871" y="1979193"/>
            <a:ext cx="522994" cy="12672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89" name="Straight Arrow Connector 22"/>
          <p:cNvCxnSpPr>
            <a:stCxn id="85" idx="2"/>
            <a:endCxn id="87" idx="0"/>
          </p:cNvCxnSpPr>
          <p:nvPr/>
        </p:nvCxnSpPr>
        <p:spPr>
          <a:xfrm flipH="1">
            <a:off x="8196094" y="1712617"/>
            <a:ext cx="2105" cy="266576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25"/>
          <p:cNvCxnSpPr>
            <a:stCxn id="85" idx="1"/>
            <a:endCxn id="86" idx="0"/>
          </p:cNvCxnSpPr>
          <p:nvPr/>
        </p:nvCxnSpPr>
        <p:spPr>
          <a:xfrm flipH="1">
            <a:off x="7298724" y="1649257"/>
            <a:ext cx="637978" cy="334754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28"/>
          <p:cNvCxnSpPr>
            <a:stCxn id="85" idx="3"/>
            <a:endCxn id="88" idx="0"/>
          </p:cNvCxnSpPr>
          <p:nvPr/>
        </p:nvCxnSpPr>
        <p:spPr>
          <a:xfrm>
            <a:off x="8459696" y="1649257"/>
            <a:ext cx="596672" cy="329936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7922690" y="1378147"/>
            <a:ext cx="493725" cy="124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dirty="0"/>
              <a:t>dimension</a:t>
            </a:r>
            <a:endParaRPr lang="ko-KR" altLang="en-US" sz="900" dirty="0" err="1"/>
          </a:p>
        </p:txBody>
      </p:sp>
      <p:sp>
        <p:nvSpPr>
          <p:cNvPr id="93" name="TextBox 92"/>
          <p:cNvSpPr txBox="1"/>
          <p:nvPr/>
        </p:nvSpPr>
        <p:spPr>
          <a:xfrm>
            <a:off x="9566267" y="1748718"/>
            <a:ext cx="1090042" cy="124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dirty="0"/>
              <a:t>Unsegment/replication</a:t>
            </a:r>
            <a:endParaRPr lang="ko-KR" altLang="en-US" sz="900" dirty="0" err="1"/>
          </a:p>
        </p:txBody>
      </p:sp>
      <p:sp>
        <p:nvSpPr>
          <p:cNvPr id="94" name="Up-Down Arrow 33"/>
          <p:cNvSpPr/>
          <p:nvPr/>
        </p:nvSpPr>
        <p:spPr>
          <a:xfrm>
            <a:off x="9154366" y="1935723"/>
            <a:ext cx="253932" cy="414353"/>
          </a:xfrm>
          <a:prstGeom prst="upDownArrow">
            <a:avLst>
              <a:gd name="adj1" fmla="val 43531"/>
              <a:gd name="adj2" fmla="val 40124"/>
            </a:avLst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95" name="Up-Down Arrow 34"/>
          <p:cNvSpPr/>
          <p:nvPr/>
        </p:nvSpPr>
        <p:spPr>
          <a:xfrm>
            <a:off x="8273070" y="1928537"/>
            <a:ext cx="253932" cy="414353"/>
          </a:xfrm>
          <a:prstGeom prst="upDownArrow">
            <a:avLst>
              <a:gd name="adj1" fmla="val 43531"/>
              <a:gd name="adj2" fmla="val 40124"/>
            </a:avLst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96" name="Up-Down Arrow 35"/>
          <p:cNvSpPr/>
          <p:nvPr/>
        </p:nvSpPr>
        <p:spPr>
          <a:xfrm>
            <a:off x="7370992" y="1945115"/>
            <a:ext cx="253932" cy="414353"/>
          </a:xfrm>
          <a:prstGeom prst="upDownArrow">
            <a:avLst>
              <a:gd name="adj1" fmla="val 43531"/>
              <a:gd name="adj2" fmla="val 40124"/>
            </a:avLst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97" name="Rounded Rectangle 36"/>
          <p:cNvSpPr/>
          <p:nvPr/>
        </p:nvSpPr>
        <p:spPr>
          <a:xfrm>
            <a:off x="8641076" y="2744471"/>
            <a:ext cx="2405796" cy="291961"/>
          </a:xfrm>
          <a:prstGeom prst="roundRect">
            <a:avLst>
              <a:gd name="adj" fmla="val 33320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</a:t>
            </a:r>
            <a:r>
              <a:rPr lang="en-US" altLang="ko-KR" sz="900" dirty="0">
                <a:solidFill>
                  <a:srgbClr val="FFFF00"/>
                </a:solidFill>
                <a:cs typeface="Courier New" panose="02070309020205020404" pitchFamily="49" charset="0"/>
              </a:rPr>
              <a:t>SEGMENTED BY HASH(c) 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ALL NODES;</a:t>
            </a:r>
          </a:p>
        </p:txBody>
      </p:sp>
      <p:sp>
        <p:nvSpPr>
          <p:cNvPr id="98" name="Rounded Rectangle 37"/>
          <p:cNvSpPr/>
          <p:nvPr/>
        </p:nvSpPr>
        <p:spPr>
          <a:xfrm>
            <a:off x="8758708" y="1420656"/>
            <a:ext cx="1806893" cy="279557"/>
          </a:xfrm>
          <a:prstGeom prst="roundRect">
            <a:avLst>
              <a:gd name="adj" fmla="val 3394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</a:t>
            </a:r>
            <a:r>
              <a:rPr lang="en-US" altLang="ko-KR" sz="900" dirty="0">
                <a:solidFill>
                  <a:srgbClr val="FFFF00"/>
                </a:solidFill>
                <a:cs typeface="Courier New" panose="02070309020205020404" pitchFamily="49" charset="0"/>
              </a:rPr>
              <a:t>UNSEGMENTED 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ALL NODES;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667307" y="2486188"/>
            <a:ext cx="543418" cy="124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900" dirty="0"/>
              <a:t>LOCAL JOIN</a:t>
            </a:r>
            <a:endParaRPr lang="ko-KR" altLang="en-US" sz="900" dirty="0"/>
          </a:p>
        </p:txBody>
      </p:sp>
      <p:sp>
        <p:nvSpPr>
          <p:cNvPr id="100" name="Rounded Rectangle 40"/>
          <p:cNvSpPr/>
          <p:nvPr/>
        </p:nvSpPr>
        <p:spPr>
          <a:xfrm>
            <a:off x="6947676" y="4323658"/>
            <a:ext cx="720080" cy="51540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90000"/>
              </a:lnSpc>
            </a:pP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01" name="Rounded Rectangle 41"/>
          <p:cNvSpPr/>
          <p:nvPr/>
        </p:nvSpPr>
        <p:spPr>
          <a:xfrm>
            <a:off x="7824135" y="4323658"/>
            <a:ext cx="720080" cy="51540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90000"/>
              </a:lnSpc>
            </a:pP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02" name="Rounded Rectangle 42"/>
          <p:cNvSpPr/>
          <p:nvPr/>
        </p:nvSpPr>
        <p:spPr>
          <a:xfrm>
            <a:off x="8700594" y="4323658"/>
            <a:ext cx="720080" cy="51540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90000"/>
              </a:lnSpc>
            </a:pP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8098264" y="5464590"/>
            <a:ext cx="193964" cy="124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dirty="0"/>
              <a:t>Fact</a:t>
            </a:r>
            <a:endParaRPr lang="ko-KR" altLang="en-US" sz="900" dirty="0" err="1"/>
          </a:p>
        </p:txBody>
      </p:sp>
      <p:sp>
        <p:nvSpPr>
          <p:cNvPr id="104" name="Rectangle 44"/>
          <p:cNvSpPr/>
          <p:nvPr/>
        </p:nvSpPr>
        <p:spPr>
          <a:xfrm>
            <a:off x="7933750" y="5033960"/>
            <a:ext cx="522994" cy="126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05" name="Rectangle 45"/>
          <p:cNvSpPr/>
          <p:nvPr/>
        </p:nvSpPr>
        <p:spPr>
          <a:xfrm>
            <a:off x="7933750" y="5160680"/>
            <a:ext cx="522994" cy="126720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06" name="Rectangle 46"/>
          <p:cNvSpPr/>
          <p:nvPr/>
        </p:nvSpPr>
        <p:spPr>
          <a:xfrm>
            <a:off x="7933750" y="5283900"/>
            <a:ext cx="522994" cy="126720"/>
          </a:xfrm>
          <a:prstGeom prst="rect">
            <a:avLst/>
          </a:prstGeom>
          <a:pattFill prst="pct80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07" name="Rectangle 47"/>
          <p:cNvSpPr/>
          <p:nvPr/>
        </p:nvSpPr>
        <p:spPr>
          <a:xfrm>
            <a:off x="7933750" y="4615449"/>
            <a:ext cx="522994" cy="126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08" name="Rectangle 48"/>
          <p:cNvSpPr/>
          <p:nvPr/>
        </p:nvSpPr>
        <p:spPr>
          <a:xfrm>
            <a:off x="7045275" y="4615449"/>
            <a:ext cx="522994" cy="126720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09" name="Rectangle 49"/>
          <p:cNvSpPr/>
          <p:nvPr/>
        </p:nvSpPr>
        <p:spPr>
          <a:xfrm>
            <a:off x="8819359" y="4615449"/>
            <a:ext cx="522994" cy="126720"/>
          </a:xfrm>
          <a:prstGeom prst="rect">
            <a:avLst/>
          </a:prstGeom>
          <a:pattFill prst="pct80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110" name="Straight Arrow Connector 50"/>
          <p:cNvCxnSpPr>
            <a:stCxn id="105" idx="1"/>
            <a:endCxn id="108" idx="2"/>
          </p:cNvCxnSpPr>
          <p:nvPr/>
        </p:nvCxnSpPr>
        <p:spPr>
          <a:xfrm flipH="1" flipV="1">
            <a:off x="7306772" y="4742169"/>
            <a:ext cx="626978" cy="481871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51"/>
          <p:cNvCxnSpPr>
            <a:stCxn id="104" idx="0"/>
          </p:cNvCxnSpPr>
          <p:nvPr/>
        </p:nvCxnSpPr>
        <p:spPr>
          <a:xfrm flipH="1" flipV="1">
            <a:off x="8177600" y="4742172"/>
            <a:ext cx="17647" cy="291788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52"/>
          <p:cNvCxnSpPr>
            <a:stCxn id="106" idx="3"/>
            <a:endCxn id="109" idx="2"/>
          </p:cNvCxnSpPr>
          <p:nvPr/>
        </p:nvCxnSpPr>
        <p:spPr>
          <a:xfrm flipV="1">
            <a:off x="8456744" y="4742169"/>
            <a:ext cx="624112" cy="605091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8934522" y="5019686"/>
            <a:ext cx="649216" cy="124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dirty="0"/>
              <a:t>segmentation</a:t>
            </a:r>
            <a:endParaRPr lang="ko-KR" altLang="en-US" sz="900" dirty="0" err="1"/>
          </a:p>
        </p:txBody>
      </p:sp>
      <p:cxnSp>
        <p:nvCxnSpPr>
          <p:cNvPr id="114" name="Straight Arrow Connector 58"/>
          <p:cNvCxnSpPr>
            <a:stCxn id="126" idx="2"/>
          </p:cNvCxnSpPr>
          <p:nvPr/>
        </p:nvCxnSpPr>
        <p:spPr>
          <a:xfrm flipH="1">
            <a:off x="8204143" y="4200941"/>
            <a:ext cx="1681" cy="219610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59"/>
          <p:cNvCxnSpPr>
            <a:stCxn id="127" idx="1"/>
          </p:cNvCxnSpPr>
          <p:nvPr/>
        </p:nvCxnSpPr>
        <p:spPr>
          <a:xfrm flipH="1">
            <a:off x="7306772" y="4014361"/>
            <a:ext cx="637555" cy="411008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60"/>
          <p:cNvCxnSpPr/>
          <p:nvPr/>
        </p:nvCxnSpPr>
        <p:spPr>
          <a:xfrm>
            <a:off x="8476909" y="3902874"/>
            <a:ext cx="587507" cy="517677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7790474" y="3586865"/>
            <a:ext cx="774251" cy="124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dirty="0"/>
              <a:t>Large dimension</a:t>
            </a:r>
            <a:endParaRPr lang="ko-KR" altLang="en-US" sz="900" dirty="0" err="1"/>
          </a:p>
        </p:txBody>
      </p:sp>
      <p:sp>
        <p:nvSpPr>
          <p:cNvPr id="118" name="Rounded Rectangle 66"/>
          <p:cNvSpPr/>
          <p:nvPr/>
        </p:nvSpPr>
        <p:spPr>
          <a:xfrm>
            <a:off x="8649124" y="5185829"/>
            <a:ext cx="2405796" cy="291961"/>
          </a:xfrm>
          <a:prstGeom prst="roundRect">
            <a:avLst>
              <a:gd name="adj" fmla="val 33320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</a:t>
            </a:r>
            <a:r>
              <a:rPr lang="en-US" altLang="ko-KR" sz="900" dirty="0">
                <a:solidFill>
                  <a:srgbClr val="FFFF00"/>
                </a:solidFill>
                <a:cs typeface="Courier New" panose="02070309020205020404" pitchFamily="49" charset="0"/>
              </a:rPr>
              <a:t>SEGMENTED BY HASH(c) 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ALL NODES;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839498" y="4950436"/>
            <a:ext cx="383118" cy="124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900" dirty="0"/>
              <a:t>ISP JOIN</a:t>
            </a:r>
            <a:endParaRPr lang="ko-KR" altLang="en-US" sz="900" dirty="0"/>
          </a:p>
        </p:txBody>
      </p:sp>
      <p:sp>
        <p:nvSpPr>
          <p:cNvPr id="120" name="Rectangle 71"/>
          <p:cNvSpPr/>
          <p:nvPr/>
        </p:nvSpPr>
        <p:spPr>
          <a:xfrm>
            <a:off x="7923948" y="4425369"/>
            <a:ext cx="522994" cy="126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21" name="Rectangle 72"/>
          <p:cNvSpPr/>
          <p:nvPr/>
        </p:nvSpPr>
        <p:spPr>
          <a:xfrm>
            <a:off x="7035473" y="4425369"/>
            <a:ext cx="522994" cy="126720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22" name="Rectangle 73"/>
          <p:cNvSpPr/>
          <p:nvPr/>
        </p:nvSpPr>
        <p:spPr>
          <a:xfrm>
            <a:off x="8809557" y="4425369"/>
            <a:ext cx="522994" cy="126720"/>
          </a:xfrm>
          <a:prstGeom prst="rect">
            <a:avLst/>
          </a:prstGeom>
          <a:pattFill prst="pct80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23" name="Up-Down Arrow 63"/>
          <p:cNvSpPr/>
          <p:nvPr/>
        </p:nvSpPr>
        <p:spPr>
          <a:xfrm>
            <a:off x="9162414" y="4377081"/>
            <a:ext cx="253932" cy="414353"/>
          </a:xfrm>
          <a:prstGeom prst="upDownArrow">
            <a:avLst>
              <a:gd name="adj1" fmla="val 43531"/>
              <a:gd name="adj2" fmla="val 40124"/>
            </a:avLst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24" name="Up-Down Arrow 64"/>
          <p:cNvSpPr/>
          <p:nvPr/>
        </p:nvSpPr>
        <p:spPr>
          <a:xfrm>
            <a:off x="8281118" y="4369895"/>
            <a:ext cx="253932" cy="414353"/>
          </a:xfrm>
          <a:prstGeom prst="upDownArrow">
            <a:avLst>
              <a:gd name="adj1" fmla="val 43531"/>
              <a:gd name="adj2" fmla="val 40124"/>
            </a:avLst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25" name="Up-Down Arrow 65"/>
          <p:cNvSpPr/>
          <p:nvPr/>
        </p:nvSpPr>
        <p:spPr>
          <a:xfrm>
            <a:off x="7379040" y="4386473"/>
            <a:ext cx="253932" cy="414353"/>
          </a:xfrm>
          <a:prstGeom prst="upDownArrow">
            <a:avLst>
              <a:gd name="adj1" fmla="val 43531"/>
              <a:gd name="adj2" fmla="val 40124"/>
            </a:avLst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26" name="Rectangle 76"/>
          <p:cNvSpPr/>
          <p:nvPr/>
        </p:nvSpPr>
        <p:spPr>
          <a:xfrm>
            <a:off x="7944327" y="4074221"/>
            <a:ext cx="522994" cy="126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27" name="Rectangle 77"/>
          <p:cNvSpPr/>
          <p:nvPr/>
        </p:nvSpPr>
        <p:spPr>
          <a:xfrm>
            <a:off x="7944327" y="3951001"/>
            <a:ext cx="522994" cy="126720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28" name="Rectangle 78"/>
          <p:cNvSpPr/>
          <p:nvPr/>
        </p:nvSpPr>
        <p:spPr>
          <a:xfrm>
            <a:off x="7945527" y="3814030"/>
            <a:ext cx="522994" cy="126720"/>
          </a:xfrm>
          <a:prstGeom prst="rect">
            <a:avLst/>
          </a:prstGeom>
          <a:pattFill prst="pct80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29" name="Rounded Rectangle 82"/>
          <p:cNvSpPr/>
          <p:nvPr/>
        </p:nvSpPr>
        <p:spPr>
          <a:xfrm>
            <a:off x="8657168" y="3775881"/>
            <a:ext cx="2405796" cy="291961"/>
          </a:xfrm>
          <a:prstGeom prst="roundRect">
            <a:avLst>
              <a:gd name="adj" fmla="val 33320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</a:t>
            </a:r>
            <a:r>
              <a:rPr lang="en-US" altLang="ko-KR" sz="900" dirty="0">
                <a:solidFill>
                  <a:srgbClr val="FFFF00"/>
                </a:solidFill>
                <a:cs typeface="Courier New" panose="02070309020205020404" pitchFamily="49" charset="0"/>
              </a:rPr>
              <a:t>SEGMENTED BY HASH(c) 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ALL NODES;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141986" y="4113482"/>
            <a:ext cx="649216" cy="124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900" dirty="0"/>
              <a:t>segmentation</a:t>
            </a:r>
            <a:endParaRPr lang="ko-KR" altLang="en-US" sz="900" dirty="0" err="1"/>
          </a:p>
        </p:txBody>
      </p:sp>
    </p:spTree>
    <p:extLst>
      <p:ext uri="{BB962C8B-B14F-4D97-AF65-F5344CB8AC3E}">
        <p14:creationId xmlns:p14="http://schemas.microsoft.com/office/powerpoint/2010/main" val="37561670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조인 쿼리 성능 최적화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쿼리 성능 최적화</a:t>
            </a:r>
            <a:endParaRPr lang="ko-KR" altLang="en-US" dirty="0"/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Equality </a:t>
            </a:r>
            <a:r>
              <a:rPr lang="ko-KR" altLang="en-US" sz="1100" b="1" dirty="0"/>
              <a:t>조인 조건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Equality </a:t>
            </a:r>
            <a:r>
              <a:rPr lang="ko-KR" altLang="en-US" sz="1100" dirty="0"/>
              <a:t>조인의 양쪽 </a:t>
            </a:r>
            <a:r>
              <a:rPr lang="ko-KR" altLang="en-US" sz="1100" dirty="0" err="1"/>
              <a:t>컬럼은</a:t>
            </a:r>
            <a:r>
              <a:rPr lang="ko-KR" altLang="en-US" sz="1100" dirty="0"/>
              <a:t> 각각 하나의 테이블로부터 지정되거나 계산되어야 효율적이다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아래와 같이 두 테이블로부터 제공되는 </a:t>
            </a:r>
            <a:r>
              <a:rPr lang="ko-KR" altLang="en-US" sz="1100" dirty="0" err="1"/>
              <a:t>컬럼을</a:t>
            </a:r>
            <a:r>
              <a:rPr lang="ko-KR" altLang="en-US" sz="1100" dirty="0"/>
              <a:t> 연산하는 조인 조건은 효율적이지 않다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INNER</a:t>
            </a:r>
            <a:r>
              <a:rPr lang="ko-KR" altLang="en-US" sz="1100" b="1" dirty="0"/>
              <a:t>와 </a:t>
            </a:r>
            <a:r>
              <a:rPr lang="en-US" altLang="ko-KR" sz="1100" b="1" dirty="0"/>
              <a:t>OUTER </a:t>
            </a:r>
            <a:r>
              <a:rPr lang="ko-KR" altLang="en-US" sz="1100" b="1" dirty="0"/>
              <a:t>테이블 지정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대형 테이블을 </a:t>
            </a:r>
            <a:r>
              <a:rPr lang="en-US" altLang="ko-KR" sz="1100" dirty="0"/>
              <a:t>OUTER </a:t>
            </a:r>
            <a:r>
              <a:rPr lang="ko-KR" altLang="en-US" sz="1100" dirty="0"/>
              <a:t>테이블로써 </a:t>
            </a:r>
            <a:r>
              <a:rPr lang="ko-KR" altLang="en-US" sz="1100" dirty="0" err="1"/>
              <a:t>왼쪽편에</a:t>
            </a:r>
            <a:r>
              <a:rPr lang="ko-KR" altLang="en-US" sz="1100" dirty="0"/>
              <a:t> 두어 </a:t>
            </a:r>
            <a:r>
              <a:rPr lang="en-US" altLang="ko-KR" sz="1100" dirty="0" err="1"/>
              <a:t>Vertica</a:t>
            </a:r>
            <a:r>
              <a:rPr lang="ko-KR" altLang="en-US" sz="1100" dirty="0"/>
              <a:t>가 </a:t>
            </a:r>
            <a:r>
              <a:rPr lang="en-US" altLang="ko-KR" sz="1100" dirty="0"/>
              <a:t>Hash </a:t>
            </a:r>
            <a:r>
              <a:rPr lang="ko-KR" altLang="en-US" sz="1100" dirty="0"/>
              <a:t>조인을 할 때 효율적으로 성능을 향상 시킬 수 있도록 도와준다 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ko-KR" altLang="en-US" sz="1100" dirty="0"/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11"/>
          <p:cNvSpPr/>
          <p:nvPr/>
        </p:nvSpPr>
        <p:spPr>
          <a:xfrm>
            <a:off x="693738" y="1837034"/>
            <a:ext cx="5057527" cy="526009"/>
          </a:xfrm>
          <a:prstGeom prst="roundRect">
            <a:avLst>
              <a:gd name="adj" fmla="val 111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SELECT * FROM T JOIN X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WHERE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T.a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+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T.b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= X.x1 - X.x2;</a:t>
            </a:r>
          </a:p>
        </p:txBody>
      </p:sp>
      <p:sp>
        <p:nvSpPr>
          <p:cNvPr id="9" name="Rounded Rectangle 13"/>
          <p:cNvSpPr/>
          <p:nvPr/>
        </p:nvSpPr>
        <p:spPr>
          <a:xfrm>
            <a:off x="693738" y="2902991"/>
            <a:ext cx="5057527" cy="526009"/>
          </a:xfrm>
          <a:prstGeom prst="roundRect">
            <a:avLst>
              <a:gd name="adj" fmla="val 111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SELECT * FROM T JOIN X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WHERE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T.a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= X.x1 +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T.b</a:t>
            </a:r>
            <a:endParaRPr lang="en-US" altLang="ko-KR" sz="900" dirty="0">
              <a:solidFill>
                <a:schemeClr val="bg1"/>
              </a:solidFill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9197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사전에 정렬된 </a:t>
            </a:r>
            <a:r>
              <a:rPr lang="ko-KR" altLang="en-US" sz="2800" dirty="0" err="1"/>
              <a:t>프로젝션을</a:t>
            </a:r>
            <a:r>
              <a:rPr lang="ko-KR" altLang="en-US" sz="2800" dirty="0"/>
              <a:t> 통해 </a:t>
            </a:r>
            <a:r>
              <a:rPr lang="en-US" altLang="ko-KR" sz="2800" dirty="0"/>
              <a:t>Order by </a:t>
            </a:r>
            <a:r>
              <a:rPr lang="ko-KR" altLang="en-US" sz="2800" dirty="0"/>
              <a:t>쿼리 성능 최적화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쿼리 성능 최적화</a:t>
            </a:r>
            <a:endParaRPr lang="ko-KR" altLang="en-US" dirty="0"/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쿼리 수행 중 정렬 수행 단계 제거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 err="1"/>
              <a:t>프로젝션</a:t>
            </a:r>
            <a:r>
              <a:rPr lang="ko-KR" altLang="en-US" sz="1100" dirty="0"/>
              <a:t> 생성 시 </a:t>
            </a:r>
            <a:r>
              <a:rPr lang="en-US" altLang="ko-KR" sz="1100" dirty="0"/>
              <a:t>order by </a:t>
            </a:r>
            <a:r>
              <a:rPr lang="ko-KR" altLang="en-US" sz="1100" dirty="0"/>
              <a:t>절에 의해 사전에 정렬된 </a:t>
            </a:r>
            <a:r>
              <a:rPr lang="ko-KR" altLang="en-US" sz="1100" dirty="0" err="1"/>
              <a:t>컬럼에</a:t>
            </a:r>
            <a:r>
              <a:rPr lang="ko-KR" altLang="en-US" sz="1100" dirty="0"/>
              <a:t> 대해 </a:t>
            </a:r>
            <a:r>
              <a:rPr lang="en-US" altLang="ko-KR" sz="1100" dirty="0"/>
              <a:t>order by </a:t>
            </a:r>
            <a:r>
              <a:rPr lang="ko-KR" altLang="en-US" sz="1100" dirty="0"/>
              <a:t>쿼리가 수행될 경우 정렬 과정 없이 바로 쿼리 결과 출력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위와 같이 </a:t>
            </a:r>
            <a:r>
              <a:rPr lang="ko-KR" altLang="en-US" sz="1100" dirty="0" err="1"/>
              <a:t>프로젝션이</a:t>
            </a:r>
            <a:r>
              <a:rPr lang="ko-KR" altLang="en-US" sz="1100" dirty="0"/>
              <a:t> 생성된 경우 쿼리에 아래와 같은 </a:t>
            </a:r>
            <a:r>
              <a:rPr lang="en-US" altLang="ko-KR" sz="1100" dirty="0"/>
              <a:t>order by </a:t>
            </a:r>
            <a:r>
              <a:rPr lang="ko-KR" altLang="en-US" sz="1100" dirty="0"/>
              <a:t>절이 포함될 경우 별도의 정렬 과정 생략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ORDER BY a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ORDER BY a, b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ORDER BY a, b, c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 err="1"/>
              <a:t>컬럼</a:t>
            </a:r>
            <a:r>
              <a:rPr lang="ko-KR" altLang="en-US" sz="1100" dirty="0"/>
              <a:t> </a:t>
            </a:r>
            <a:r>
              <a:rPr lang="en-US" altLang="ko-KR" sz="1100" dirty="0"/>
              <a:t>d</a:t>
            </a:r>
            <a:r>
              <a:rPr lang="ko-KR" altLang="en-US" sz="1100" dirty="0"/>
              <a:t>가 </a:t>
            </a:r>
            <a:r>
              <a:rPr lang="en-US" altLang="ko-KR" sz="1100" dirty="0"/>
              <a:t>order by </a:t>
            </a:r>
            <a:r>
              <a:rPr lang="ko-KR" altLang="en-US" sz="1100" dirty="0"/>
              <a:t>절에 사용되면 정렬 과정이 필요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CREATE PROJECTION</a:t>
            </a:r>
            <a:r>
              <a:rPr lang="ko-KR" altLang="en-US" sz="1100" dirty="0"/>
              <a:t>의 </a:t>
            </a:r>
            <a:r>
              <a:rPr lang="en-US" altLang="ko-KR" sz="1100" dirty="0"/>
              <a:t>ORDER BY </a:t>
            </a:r>
            <a:r>
              <a:rPr lang="ko-KR" altLang="en-US" sz="1100" dirty="0"/>
              <a:t>절의 </a:t>
            </a:r>
            <a:r>
              <a:rPr lang="ko-KR" altLang="en-US" sz="1100" dirty="0" err="1"/>
              <a:t>컬럼은</a:t>
            </a:r>
            <a:r>
              <a:rPr lang="ko-KR" altLang="en-US" sz="1100" dirty="0"/>
              <a:t> 항상 오름차순으로 저장되므로 </a:t>
            </a:r>
            <a:r>
              <a:rPr lang="en-US" altLang="ko-KR" sz="1100" dirty="0"/>
              <a:t>ASC </a:t>
            </a:r>
            <a:r>
              <a:rPr lang="ko-KR" altLang="en-US" sz="1100" dirty="0"/>
              <a:t>또는 </a:t>
            </a:r>
            <a:r>
              <a:rPr lang="en-US" altLang="ko-KR" sz="1100" dirty="0"/>
              <a:t>DESC</a:t>
            </a:r>
            <a:r>
              <a:rPr lang="ko-KR" altLang="en-US" sz="1100" dirty="0"/>
              <a:t>를 지정할 수 없다</a:t>
            </a:r>
            <a:r>
              <a:rPr lang="en-US" altLang="ko-KR" sz="1100" dirty="0"/>
              <a:t>. </a:t>
            </a:r>
            <a:r>
              <a:rPr lang="ko-KR" altLang="en-US" sz="1100" dirty="0"/>
              <a:t>또한 쿼리의 </a:t>
            </a:r>
            <a:r>
              <a:rPr lang="en-US" altLang="ko-KR" sz="1100" dirty="0"/>
              <a:t>order by</a:t>
            </a:r>
            <a:r>
              <a:rPr lang="ko-KR" altLang="en-US" sz="1100" dirty="0"/>
              <a:t>에 </a:t>
            </a:r>
            <a:r>
              <a:rPr lang="en-US" altLang="ko-KR" sz="1100" dirty="0" err="1"/>
              <a:t>desc</a:t>
            </a:r>
            <a:r>
              <a:rPr lang="ko-KR" altLang="en-US" sz="1100" dirty="0"/>
              <a:t>로 내림차순 정렬을 지정한다면 </a:t>
            </a:r>
            <a:r>
              <a:rPr lang="en-US" altLang="ko-KR" sz="1100" dirty="0"/>
              <a:t>ORDER BY</a:t>
            </a:r>
            <a:r>
              <a:rPr lang="ko-KR" altLang="en-US" sz="1100" dirty="0"/>
              <a:t>로 지정된 </a:t>
            </a:r>
            <a:r>
              <a:rPr lang="ko-KR" altLang="en-US" sz="1100" dirty="0" err="1"/>
              <a:t>프로젝션을</a:t>
            </a:r>
            <a:r>
              <a:rPr lang="ko-KR" altLang="en-US" sz="1100" dirty="0"/>
              <a:t> 사용했다 하더라도 재정렬 과정이 수반된다</a:t>
            </a:r>
            <a:r>
              <a:rPr lang="en-US" altLang="ko-KR" sz="1100" dirty="0"/>
              <a:t>.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ko-KR" altLang="en-US" sz="1100" dirty="0"/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5"/>
          <p:cNvSpPr/>
          <p:nvPr/>
        </p:nvSpPr>
        <p:spPr>
          <a:xfrm>
            <a:off x="693738" y="1837033"/>
            <a:ext cx="5057527" cy="2239443"/>
          </a:xfrm>
          <a:prstGeom prst="roundRect">
            <a:avLst>
              <a:gd name="adj" fmla="val 406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CREATE TABLE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sortopt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(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a INT NOT NULL,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b INT NOT NULL,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c INT,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d INT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);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CREATE PROJECTION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sortopt_p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(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a_proj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,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b_proj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,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c_proj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,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d_proj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)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AS SELECT * FROM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sortopt</a:t>
            </a:r>
            <a:endParaRPr lang="en-US" altLang="ko-KR" sz="9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ORDER BY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a,b,c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;</a:t>
            </a:r>
          </a:p>
        </p:txBody>
      </p:sp>
    </p:spTree>
    <p:extLst>
      <p:ext uri="{BB962C8B-B14F-4D97-AF65-F5344CB8AC3E}">
        <p14:creationId xmlns:p14="http://schemas.microsoft.com/office/powerpoint/2010/main" val="22540356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SQL-99 </a:t>
            </a:r>
            <a:r>
              <a:rPr lang="ko-KR" altLang="en-US" sz="2800" dirty="0"/>
              <a:t>분석 쿼리 최적화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쿼리 성능 최적화</a:t>
            </a:r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비어있는 </a:t>
            </a:r>
            <a:r>
              <a:rPr lang="en-US" altLang="ko-KR" sz="1100" b="1" dirty="0"/>
              <a:t>OVER() </a:t>
            </a:r>
            <a:r>
              <a:rPr lang="ko-KR" altLang="en-US" sz="1100" b="1" dirty="0"/>
              <a:t>구문 회피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SUM</a:t>
            </a:r>
            <a:r>
              <a:rPr lang="ko-KR" altLang="en-US" sz="1100" dirty="0"/>
              <a:t>과 같은 분석 함수에 비어있는 </a:t>
            </a:r>
            <a:r>
              <a:rPr lang="en-US" altLang="ko-KR" sz="1100" dirty="0"/>
              <a:t>OVER() </a:t>
            </a:r>
            <a:r>
              <a:rPr lang="ko-KR" altLang="en-US" sz="1100" dirty="0"/>
              <a:t>구문이 들어가면 전체 데이터가 단일 파티션에서 작업하게 되므로 성능에 좋지 않은 영향을 가져온다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PARTITION BY</a:t>
            </a:r>
            <a:r>
              <a:rPr lang="ko-KR" altLang="en-US" sz="1100" dirty="0"/>
              <a:t>가 </a:t>
            </a:r>
            <a:r>
              <a:rPr lang="en-US" altLang="ko-KR" sz="1100" dirty="0"/>
              <a:t>OVER()</a:t>
            </a:r>
            <a:r>
              <a:rPr lang="ko-KR" altLang="en-US" sz="1100" dirty="0"/>
              <a:t>에 추가되면 쿼리는 전체 </a:t>
            </a:r>
            <a:r>
              <a:rPr lang="ko-KR" altLang="en-US" sz="1100" dirty="0" err="1"/>
              <a:t>노드에서</a:t>
            </a:r>
            <a:r>
              <a:rPr lang="ko-KR" altLang="en-US" sz="1100" dirty="0"/>
              <a:t> 병렬로 수행되므로 성능 향상에 도움을 준다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NOT NULL </a:t>
            </a:r>
            <a:r>
              <a:rPr lang="ko-KR" altLang="en-US" sz="1100" b="1" dirty="0"/>
              <a:t>속성 사용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쿼리 수행 중 분석 함수 사용시 </a:t>
            </a:r>
            <a:r>
              <a:rPr lang="ko-KR" altLang="en-US" sz="1100" dirty="0" err="1"/>
              <a:t>옵티마이저가</a:t>
            </a:r>
            <a:r>
              <a:rPr lang="ko-KR" altLang="en-US" sz="1100" dirty="0"/>
              <a:t> </a:t>
            </a:r>
            <a:r>
              <a:rPr lang="en-US" altLang="ko-KR" sz="1100" dirty="0"/>
              <a:t>NULL </a:t>
            </a:r>
            <a:r>
              <a:rPr lang="ko-KR" altLang="en-US" sz="1100" dirty="0"/>
              <a:t>값에 대한 정렬 처리를 최소화하기 위하여 해당 </a:t>
            </a:r>
            <a:r>
              <a:rPr lang="ko-KR" altLang="en-US" sz="1100" dirty="0" err="1"/>
              <a:t>컬럼에</a:t>
            </a:r>
            <a:r>
              <a:rPr lang="ko-KR" altLang="en-US" sz="1100" dirty="0"/>
              <a:t> </a:t>
            </a:r>
            <a:r>
              <a:rPr lang="en-US" altLang="ko-KR" sz="1100" dirty="0"/>
              <a:t>NOT NULL </a:t>
            </a:r>
            <a:r>
              <a:rPr lang="ko-KR" altLang="en-US" sz="1100" dirty="0"/>
              <a:t>속성 부여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ko-KR" altLang="en-US" sz="1100" dirty="0"/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4"/>
          <p:cNvSpPr/>
          <p:nvPr/>
        </p:nvSpPr>
        <p:spPr>
          <a:xfrm>
            <a:off x="837829" y="3118361"/>
            <a:ext cx="2376264" cy="1620893"/>
          </a:xfrm>
          <a:prstGeom prst="roundRect">
            <a:avLst>
              <a:gd name="adj" fmla="val 6357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CREATE TABLE employee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(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empno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INT,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deptno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INT NOT NULL,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</a:t>
            </a:r>
            <a:r>
              <a:rPr lang="en-US" altLang="ko-KR" sz="900" dirty="0" err="1">
                <a:solidFill>
                  <a:srgbClr val="FFFF00"/>
                </a:solidFill>
                <a:cs typeface="Courier New" panose="02070309020205020404" pitchFamily="49" charset="0"/>
              </a:rPr>
              <a:t>sal</a:t>
            </a:r>
            <a:r>
              <a:rPr lang="en-US" altLang="ko-KR" sz="900" dirty="0">
                <a:solidFill>
                  <a:srgbClr val="FFFF00"/>
                </a:solidFill>
                <a:cs typeface="Courier New" panose="02070309020205020404" pitchFamily="49" charset="0"/>
              </a:rPr>
              <a:t> INT NOT NULL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);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CREATE PROJECTION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employee_p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AS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SELECT * FROM employee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ORDER BY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deptno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, </a:t>
            </a:r>
            <a:r>
              <a:rPr lang="en-US" altLang="ko-KR" sz="900" dirty="0" err="1">
                <a:solidFill>
                  <a:srgbClr val="FFFF00"/>
                </a:solidFill>
                <a:cs typeface="Courier New" panose="02070309020205020404" pitchFamily="49" charset="0"/>
              </a:rPr>
              <a:t>sal</a:t>
            </a:r>
            <a:r>
              <a:rPr lang="en-US" altLang="ko-KR" sz="900" dirty="0">
                <a:solidFill>
                  <a:srgbClr val="FFFF00"/>
                </a:solidFill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9" name="Rounded Rectangle 5"/>
          <p:cNvSpPr/>
          <p:nvPr/>
        </p:nvSpPr>
        <p:spPr>
          <a:xfrm>
            <a:off x="3286589" y="3118361"/>
            <a:ext cx="2376264" cy="1620893"/>
          </a:xfrm>
          <a:prstGeom prst="roundRect">
            <a:avLst>
              <a:gd name="adj" fmla="val 6357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SELECT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deptno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,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sal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,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empno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,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   RANK() OVER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  (PARTITION BY </a:t>
            </a:r>
            <a:r>
              <a:rPr lang="en-US" altLang="ko-KR" sz="900" dirty="0" err="1">
                <a:solidFill>
                  <a:schemeClr val="bg1"/>
                </a:solidFill>
                <a:cs typeface="Courier New" panose="02070309020205020404" pitchFamily="49" charset="0"/>
              </a:rPr>
              <a:t>deptno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         </a:t>
            </a:r>
            <a:r>
              <a:rPr lang="en-US" altLang="ko-KR" sz="900" dirty="0">
                <a:solidFill>
                  <a:srgbClr val="FFFF00"/>
                </a:solidFill>
                <a:cs typeface="Courier New" panose="02070309020205020404" pitchFamily="49" charset="0"/>
              </a:rPr>
              <a:t>ORDER BY </a:t>
            </a:r>
            <a:r>
              <a:rPr lang="en-US" altLang="ko-KR" sz="900" dirty="0" err="1">
                <a:solidFill>
                  <a:srgbClr val="FFFF00"/>
                </a:solidFill>
                <a:cs typeface="Courier New" panose="02070309020205020404" pitchFamily="49" charset="0"/>
              </a:rPr>
              <a:t>sal</a:t>
            </a: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) </a:t>
            </a:r>
          </a:p>
          <a:p>
            <a:pPr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cs typeface="Courier New" panose="02070309020205020404" pitchFamily="49" charset="0"/>
              </a:rPr>
              <a:t>  FROM employee;</a:t>
            </a:r>
          </a:p>
        </p:txBody>
      </p:sp>
    </p:spTree>
    <p:extLst>
      <p:ext uri="{BB962C8B-B14F-4D97-AF65-F5344CB8AC3E}">
        <p14:creationId xmlns:p14="http://schemas.microsoft.com/office/powerpoint/2010/main" val="121391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INSERT-SELECT </a:t>
            </a:r>
            <a:r>
              <a:rPr lang="ko-KR" altLang="en-US" sz="2800" dirty="0"/>
              <a:t>최적화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쿼리 성능 최적화</a:t>
            </a:r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기본 구문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대부분 대량의 데이터 복사가 이루어지므로 </a:t>
            </a:r>
            <a:r>
              <a:rPr lang="en-US" altLang="ko-KR" sz="1100" dirty="0"/>
              <a:t>direct </a:t>
            </a:r>
            <a:r>
              <a:rPr lang="ko-KR" altLang="en-US" sz="1100" dirty="0"/>
              <a:t>힌트를 사용하여 </a:t>
            </a:r>
            <a:r>
              <a:rPr lang="en-US" altLang="ko-KR" sz="1100" dirty="0"/>
              <a:t>WOS (</a:t>
            </a:r>
            <a:r>
              <a:rPr lang="ko-KR" altLang="en-US" sz="1100" dirty="0"/>
              <a:t>메모리</a:t>
            </a:r>
            <a:r>
              <a:rPr lang="en-US" altLang="ko-KR" sz="1100" dirty="0"/>
              <a:t>)</a:t>
            </a:r>
            <a:r>
              <a:rPr lang="ko-KR" altLang="en-US" sz="1100" dirty="0"/>
              <a:t>영역을 거치지 않고 바로 </a:t>
            </a:r>
            <a:r>
              <a:rPr lang="en-US" altLang="ko-KR" sz="1100" dirty="0"/>
              <a:t>ROS(</a:t>
            </a:r>
            <a:r>
              <a:rPr lang="ko-KR" altLang="en-US" sz="1100" dirty="0"/>
              <a:t>디스크</a:t>
            </a:r>
            <a:r>
              <a:rPr lang="en-US" altLang="ko-KR" sz="1100" dirty="0"/>
              <a:t>)</a:t>
            </a:r>
            <a:r>
              <a:rPr lang="ko-KR" altLang="en-US" sz="1100" dirty="0"/>
              <a:t>영역으로 기록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 </a:t>
            </a:r>
            <a:r>
              <a:rPr lang="ko-KR" altLang="en-US" sz="1100" b="1" dirty="0"/>
              <a:t>데이터 정렬 과정 회피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소스와 </a:t>
            </a:r>
            <a:r>
              <a:rPr lang="ko-KR" altLang="en-US" sz="1100" dirty="0" err="1"/>
              <a:t>타켓</a:t>
            </a:r>
            <a:r>
              <a:rPr lang="ko-KR" altLang="en-US" sz="1100" dirty="0"/>
              <a:t> 테이블의 </a:t>
            </a:r>
            <a:r>
              <a:rPr lang="ko-KR" altLang="en-US" sz="1100" dirty="0" err="1"/>
              <a:t>프로젝션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컬럼</a:t>
            </a:r>
            <a:r>
              <a:rPr lang="ko-KR" altLang="en-US" sz="1100" dirty="0"/>
              <a:t> 정렬 순서가 일치하여야 </a:t>
            </a:r>
            <a:r>
              <a:rPr lang="ko-KR" altLang="en-US" sz="1100" dirty="0" err="1"/>
              <a:t>타켓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컬럼에</a:t>
            </a:r>
            <a:r>
              <a:rPr lang="ko-KR" altLang="en-US" sz="1100" dirty="0"/>
              <a:t> 데이터가 입력될 때 정렬 단계를 피할 수 있다</a:t>
            </a:r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데이터 </a:t>
            </a:r>
            <a:r>
              <a:rPr lang="ko-KR" altLang="en-US" sz="1100" b="1" dirty="0" err="1"/>
              <a:t>재분산</a:t>
            </a:r>
            <a:r>
              <a:rPr lang="en-US" altLang="ko-KR" sz="1100" b="1" dirty="0"/>
              <a:t>(RESEGMENT) </a:t>
            </a:r>
            <a:r>
              <a:rPr lang="ko-KR" altLang="en-US" sz="1100" b="1" dirty="0"/>
              <a:t>회피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소스와 </a:t>
            </a:r>
            <a:r>
              <a:rPr lang="ko-KR" altLang="en-US" sz="1100" dirty="0" err="1"/>
              <a:t>타켓</a:t>
            </a:r>
            <a:r>
              <a:rPr lang="ko-KR" altLang="en-US" sz="1100" dirty="0"/>
              <a:t> 테이블의 </a:t>
            </a:r>
            <a:r>
              <a:rPr lang="en-US" altLang="ko-KR" sz="1100" dirty="0"/>
              <a:t>segment key</a:t>
            </a:r>
            <a:r>
              <a:rPr lang="ko-KR" altLang="en-US" sz="1100" dirty="0"/>
              <a:t>가 동일한 경우 </a:t>
            </a:r>
            <a:r>
              <a:rPr lang="ko-KR" altLang="en-US" sz="1100" dirty="0" err="1"/>
              <a:t>노드간</a:t>
            </a:r>
            <a:r>
              <a:rPr lang="ko-KR" altLang="en-US" sz="1100" dirty="0"/>
              <a:t> 데이터 이동이 일어나지 않으므로 처리 속도 향상</a:t>
            </a:r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"/>
          <p:cNvSpPr/>
          <p:nvPr/>
        </p:nvSpPr>
        <p:spPr>
          <a:xfrm>
            <a:off x="693738" y="1894879"/>
            <a:ext cx="5057527" cy="526009"/>
          </a:xfrm>
          <a:prstGeom prst="roundRect">
            <a:avLst>
              <a:gd name="adj" fmla="val 11133"/>
            </a:avLst>
          </a:prstGeom>
          <a:solidFill>
            <a:sysClr val="window" lastClr="FFFFFF">
              <a:lumMod val="65000"/>
            </a:sysClr>
          </a:solidFill>
          <a:ln w="952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INSERT /*+direct*/ INTO destination SELECT * FROM source;</a:t>
            </a:r>
          </a:p>
        </p:txBody>
      </p:sp>
      <p:sp>
        <p:nvSpPr>
          <p:cNvPr id="46" name="Rounded Rectangle 5"/>
          <p:cNvSpPr/>
          <p:nvPr/>
        </p:nvSpPr>
        <p:spPr>
          <a:xfrm>
            <a:off x="693738" y="3212976"/>
            <a:ext cx="2447858" cy="1620893"/>
          </a:xfrm>
          <a:prstGeom prst="roundRect">
            <a:avLst>
              <a:gd name="adj" fmla="val 6357"/>
            </a:avLst>
          </a:prstGeom>
          <a:solidFill>
            <a:sysClr val="window" lastClr="FFFFFF">
              <a:lumMod val="65000"/>
            </a:sysClr>
          </a:solidFill>
          <a:ln w="952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CREATE PROJECTION </a:t>
            </a:r>
            <a:r>
              <a:rPr kumimoji="0" lang="en-US" altLang="ko-KR" sz="900" b="0" i="0" u="none" strike="noStrike" kern="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source_p</a:t>
            </a: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( col1, 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  col2, 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  col3 ) AS 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SELECT col1, col2, col3 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  FROM source 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 </a:t>
            </a: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cs typeface="Courier New" panose="02070309020205020404" pitchFamily="49" charset="0"/>
              </a:rPr>
              <a:t>ORDER BY col1, col2, col3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SEGMENTED BY HASH(col3) 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ALL NODES;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cs typeface="Courier New" panose="02070309020205020404" pitchFamily="49" charset="0"/>
            </a:endParaRPr>
          </a:p>
        </p:txBody>
      </p:sp>
      <p:sp>
        <p:nvSpPr>
          <p:cNvPr id="47" name="Rounded Rectangle 6"/>
          <p:cNvSpPr/>
          <p:nvPr/>
        </p:nvSpPr>
        <p:spPr>
          <a:xfrm>
            <a:off x="3286514" y="3212976"/>
            <a:ext cx="2447858" cy="1620893"/>
          </a:xfrm>
          <a:prstGeom prst="roundRect">
            <a:avLst>
              <a:gd name="adj" fmla="val 6357"/>
            </a:avLst>
          </a:prstGeom>
          <a:solidFill>
            <a:sysClr val="window" lastClr="FFFFFF">
              <a:lumMod val="65000"/>
            </a:sysClr>
          </a:solidFill>
          <a:ln w="952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CREATE PROJECTION </a:t>
            </a:r>
            <a:r>
              <a:rPr kumimoji="0" lang="en-US" altLang="ko-KR" sz="900" b="0" i="0" u="none" strike="noStrike" kern="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destination_p</a:t>
            </a: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 ( col1, 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  col2, 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  col3 ) AS 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SELECT col1, col2, col3 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  FROM destination 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 </a:t>
            </a: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cs typeface="Courier New" panose="02070309020205020404" pitchFamily="49" charset="0"/>
              </a:rPr>
              <a:t>ORDER BY col1, col2, col3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SEGMENTED BY HASH(col3) 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ALL NODES;	</a:t>
            </a:r>
          </a:p>
        </p:txBody>
      </p:sp>
      <p:sp>
        <p:nvSpPr>
          <p:cNvPr id="48" name="Rounded Rectangle 7"/>
          <p:cNvSpPr/>
          <p:nvPr/>
        </p:nvSpPr>
        <p:spPr>
          <a:xfrm>
            <a:off x="676845" y="4941168"/>
            <a:ext cx="5057527" cy="526009"/>
          </a:xfrm>
          <a:prstGeom prst="roundRect">
            <a:avLst>
              <a:gd name="adj" fmla="val 11133"/>
            </a:avLst>
          </a:prstGeom>
          <a:solidFill>
            <a:sysClr val="window" lastClr="FFFFFF">
              <a:lumMod val="65000"/>
            </a:sysClr>
          </a:solidFill>
          <a:ln w="952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INSERT /*+direct*/ INTO destination 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SELECT col1, col3, col2 FROM source;</a:t>
            </a:r>
          </a:p>
        </p:txBody>
      </p:sp>
      <p:sp>
        <p:nvSpPr>
          <p:cNvPr id="49" name="Rectangular Callout 8"/>
          <p:cNvSpPr/>
          <p:nvPr/>
        </p:nvSpPr>
        <p:spPr>
          <a:xfrm>
            <a:off x="2711831" y="5015804"/>
            <a:ext cx="2160240" cy="477678"/>
          </a:xfrm>
          <a:prstGeom prst="wedgeRectCallout">
            <a:avLst>
              <a:gd name="adj1" fmla="val -56939"/>
              <a:gd name="adj2" fmla="val -936"/>
            </a:avLst>
          </a:prstGeom>
          <a:solidFill>
            <a:sysClr val="window" lastClr="FFFFFF"/>
          </a:solidFill>
          <a:ln w="1905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t>Select </a:t>
            </a:r>
            <a:r>
              <a:rPr kumimoji="0" lang="ko-KR" altLang="en-US" sz="9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t>리스트의 컬럼이 프로젝션 컬럼의 정렬 순서와 일치하지 않아 데이터 정렬이 필요</a:t>
            </a:r>
            <a:endParaRPr kumimoji="0" lang="en-US" altLang="ko-KR" sz="900" b="0" i="1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50" name="Rounded Rectangle 9"/>
          <p:cNvSpPr/>
          <p:nvPr/>
        </p:nvSpPr>
        <p:spPr>
          <a:xfrm>
            <a:off x="676844" y="5517232"/>
            <a:ext cx="5057527" cy="710535"/>
          </a:xfrm>
          <a:prstGeom prst="roundRect">
            <a:avLst>
              <a:gd name="adj" fmla="val 11133"/>
            </a:avLst>
          </a:prstGeom>
          <a:solidFill>
            <a:sysClr val="window" lastClr="FFFFFF">
              <a:lumMod val="65000"/>
            </a:sysClr>
          </a:solidFill>
          <a:ln w="952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INSERT /*+direct*/ INTO destination 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SELECT col1, col3, col2 FROM source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 GROUP BY col1, col3, col2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 ORDER BY col1, col2, col3 ; 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cs typeface="Courier New" panose="02070309020205020404" pitchFamily="49" charset="0"/>
            </a:endParaRPr>
          </a:p>
        </p:txBody>
      </p:sp>
      <p:sp>
        <p:nvSpPr>
          <p:cNvPr id="51" name="Rectangular Callout 10"/>
          <p:cNvSpPr/>
          <p:nvPr/>
        </p:nvSpPr>
        <p:spPr>
          <a:xfrm>
            <a:off x="2711624" y="5618102"/>
            <a:ext cx="2160240" cy="691218"/>
          </a:xfrm>
          <a:prstGeom prst="wedgeRectCallout">
            <a:avLst>
              <a:gd name="adj1" fmla="val -55954"/>
              <a:gd name="adj2" fmla="val 3679"/>
            </a:avLst>
          </a:prstGeom>
          <a:solidFill>
            <a:sysClr val="window" lastClr="FFFFFF"/>
          </a:solidFill>
          <a:ln w="1905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t>Select </a:t>
            </a:r>
            <a:r>
              <a:rPr kumimoji="0" lang="ko-KR" altLang="en-US" sz="9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t>리스트의 컬럼이 프로젝션 컬럼의 정렬 순서와 일치하지 않지만 명시적인 </a:t>
            </a:r>
            <a:r>
              <a:rPr kumimoji="0" lang="en-US" altLang="ko-KR" sz="9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t>order by </a:t>
            </a:r>
            <a:r>
              <a:rPr kumimoji="0" lang="ko-KR" altLang="en-US" sz="9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t>구문이 있어 데이터 정렬은 불필요</a:t>
            </a:r>
            <a:endParaRPr kumimoji="0" lang="en-US" altLang="ko-KR" sz="900" b="0" i="1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52" name="Rounded Rectangle 11"/>
          <p:cNvSpPr/>
          <p:nvPr/>
        </p:nvSpPr>
        <p:spPr>
          <a:xfrm>
            <a:off x="6453509" y="1916832"/>
            <a:ext cx="2447858" cy="1620893"/>
          </a:xfrm>
          <a:prstGeom prst="roundRect">
            <a:avLst>
              <a:gd name="adj" fmla="val 6357"/>
            </a:avLst>
          </a:prstGeom>
          <a:solidFill>
            <a:sysClr val="window" lastClr="FFFFFF">
              <a:lumMod val="65000"/>
            </a:sysClr>
          </a:solidFill>
          <a:ln w="952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CREATE PROJECTION </a:t>
            </a:r>
            <a:r>
              <a:rPr kumimoji="0" lang="en-US" altLang="ko-KR" sz="900" b="0" i="0" u="none" strike="noStrike" kern="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source_p</a:t>
            </a: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( col1, 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  col2, 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  col3 ) AS 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SELECT col1, col2, col3 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  FROM source 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 ORDER BY col1, col2, col3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cs typeface="Courier New" panose="02070309020205020404" pitchFamily="49" charset="0"/>
              </a:rPr>
              <a:t>SEGMENTED BY HASH(col3)</a:t>
            </a: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ALL NODES;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cs typeface="Courier New" panose="02070309020205020404" pitchFamily="49" charset="0"/>
            </a:endParaRPr>
          </a:p>
        </p:txBody>
      </p:sp>
      <p:sp>
        <p:nvSpPr>
          <p:cNvPr id="53" name="Rounded Rectangle 12"/>
          <p:cNvSpPr/>
          <p:nvPr/>
        </p:nvSpPr>
        <p:spPr>
          <a:xfrm>
            <a:off x="9046285" y="1916832"/>
            <a:ext cx="2447858" cy="1620893"/>
          </a:xfrm>
          <a:prstGeom prst="roundRect">
            <a:avLst>
              <a:gd name="adj" fmla="val 6357"/>
            </a:avLst>
          </a:prstGeom>
          <a:solidFill>
            <a:sysClr val="window" lastClr="FFFFFF">
              <a:lumMod val="65000"/>
            </a:sysClr>
          </a:solidFill>
          <a:ln w="952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CREATE PROJECTION </a:t>
            </a:r>
            <a:r>
              <a:rPr kumimoji="0" lang="en-US" altLang="ko-KR" sz="900" b="0" i="0" u="none" strike="noStrike" kern="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destination_p</a:t>
            </a: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 ( col1, 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  col2, 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  col3 ) AS 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SELECT col1, col2, col3 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  FROM destination 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 ORDER BY col1, col2, col3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cs typeface="Courier New" panose="02070309020205020404" pitchFamily="49" charset="0"/>
              </a:rPr>
              <a:t>SEGMENTED BY HASH(col3)</a:t>
            </a: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ALL NODES;	</a:t>
            </a:r>
          </a:p>
        </p:txBody>
      </p:sp>
      <p:sp>
        <p:nvSpPr>
          <p:cNvPr id="54" name="Rounded Rectangle 13"/>
          <p:cNvSpPr/>
          <p:nvPr/>
        </p:nvSpPr>
        <p:spPr>
          <a:xfrm>
            <a:off x="7680176" y="4402429"/>
            <a:ext cx="720080" cy="515404"/>
          </a:xfrm>
          <a:prstGeom prst="roundRect">
            <a:avLst/>
          </a:prstGeom>
          <a:solidFill>
            <a:sysClr val="window" lastClr="FFFFFF"/>
          </a:solidFill>
          <a:ln w="1905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B9B8BB">
                  <a:lumMod val="50000"/>
                </a:srgb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55" name="Rounded Rectangle 14"/>
          <p:cNvSpPr/>
          <p:nvPr/>
        </p:nvSpPr>
        <p:spPr>
          <a:xfrm>
            <a:off x="8556635" y="4402429"/>
            <a:ext cx="720080" cy="515404"/>
          </a:xfrm>
          <a:prstGeom prst="roundRect">
            <a:avLst/>
          </a:prstGeom>
          <a:solidFill>
            <a:sysClr val="window" lastClr="FFFFFF"/>
          </a:solidFill>
          <a:ln w="1905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B9B8BB">
                  <a:lumMod val="50000"/>
                </a:srgb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56" name="Rounded Rectangle 15"/>
          <p:cNvSpPr/>
          <p:nvPr/>
        </p:nvSpPr>
        <p:spPr>
          <a:xfrm>
            <a:off x="9433094" y="4402429"/>
            <a:ext cx="720080" cy="515404"/>
          </a:xfrm>
          <a:prstGeom prst="roundRect">
            <a:avLst/>
          </a:prstGeom>
          <a:solidFill>
            <a:sysClr val="window" lastClr="FFFFFF"/>
          </a:solidFill>
          <a:ln w="1905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B9B8BB">
                  <a:lumMod val="50000"/>
                </a:srgb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57" name="Rectangle 16"/>
          <p:cNvSpPr/>
          <p:nvPr/>
        </p:nvSpPr>
        <p:spPr>
          <a:xfrm>
            <a:off x="8666250" y="4694220"/>
            <a:ext cx="522994" cy="126720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58" name="Rectangle 17"/>
          <p:cNvSpPr/>
          <p:nvPr/>
        </p:nvSpPr>
        <p:spPr>
          <a:xfrm>
            <a:off x="7777775" y="4694220"/>
            <a:ext cx="522994" cy="126720"/>
          </a:xfrm>
          <a:prstGeom prst="rect">
            <a:avLst/>
          </a:prstGeom>
          <a:pattFill prst="ltUpDiag">
            <a:fgClr>
              <a:srgbClr val="B9B8BB">
                <a:lumMod val="50000"/>
              </a:srgbClr>
            </a:fgClr>
            <a:bgClr>
              <a:sysClr val="window" lastClr="FFFFFF"/>
            </a:bgClr>
          </a:pattFill>
          <a:ln w="1905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59" name="Rectangle 18"/>
          <p:cNvSpPr/>
          <p:nvPr/>
        </p:nvSpPr>
        <p:spPr>
          <a:xfrm>
            <a:off x="9551859" y="4694220"/>
            <a:ext cx="522994" cy="126720"/>
          </a:xfrm>
          <a:prstGeom prst="rect">
            <a:avLst/>
          </a:prstGeom>
          <a:pattFill prst="pct80">
            <a:fgClr>
              <a:srgbClr val="B9B8BB">
                <a:lumMod val="50000"/>
              </a:srgbClr>
            </a:fgClr>
            <a:bgClr>
              <a:sysClr val="window" lastClr="FFFFFF"/>
            </a:bgClr>
          </a:pattFill>
          <a:ln w="1905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60" name="Rectangle 21"/>
          <p:cNvSpPr/>
          <p:nvPr/>
        </p:nvSpPr>
        <p:spPr>
          <a:xfrm>
            <a:off x="8656448" y="4504140"/>
            <a:ext cx="522994" cy="126720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61" name="Rectangle 22"/>
          <p:cNvSpPr/>
          <p:nvPr/>
        </p:nvSpPr>
        <p:spPr>
          <a:xfrm>
            <a:off x="7767973" y="4504140"/>
            <a:ext cx="522994" cy="126720"/>
          </a:xfrm>
          <a:prstGeom prst="rect">
            <a:avLst/>
          </a:prstGeom>
          <a:pattFill prst="ltUpDiag">
            <a:fgClr>
              <a:srgbClr val="B9B8BB">
                <a:lumMod val="50000"/>
              </a:srgbClr>
            </a:fgClr>
            <a:bgClr>
              <a:sysClr val="window" lastClr="FFFFFF"/>
            </a:bgClr>
          </a:pattFill>
          <a:ln w="1905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62" name="Rectangle 23"/>
          <p:cNvSpPr/>
          <p:nvPr/>
        </p:nvSpPr>
        <p:spPr>
          <a:xfrm>
            <a:off x="9542057" y="4504140"/>
            <a:ext cx="522994" cy="126720"/>
          </a:xfrm>
          <a:prstGeom prst="rect">
            <a:avLst/>
          </a:prstGeom>
          <a:pattFill prst="pct80">
            <a:fgClr>
              <a:srgbClr val="B9B8BB">
                <a:lumMod val="50000"/>
              </a:srgbClr>
            </a:fgClr>
            <a:bgClr>
              <a:sysClr val="window" lastClr="FFFFFF"/>
            </a:bgClr>
          </a:pattFill>
          <a:ln w="1905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63" name="Down Arrow 27"/>
          <p:cNvSpPr/>
          <p:nvPr/>
        </p:nvSpPr>
        <p:spPr>
          <a:xfrm>
            <a:off x="7906275" y="4538160"/>
            <a:ext cx="265994" cy="264205"/>
          </a:xfrm>
          <a:prstGeom prst="downArrow">
            <a:avLst/>
          </a:prstGeom>
          <a:solidFill>
            <a:sysClr val="window" lastClr="FFFFFF">
              <a:lumMod val="50000"/>
            </a:sysClr>
          </a:solidFill>
          <a:ln w="1905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64" name="Down Arrow 28"/>
          <p:cNvSpPr/>
          <p:nvPr/>
        </p:nvSpPr>
        <p:spPr>
          <a:xfrm>
            <a:off x="8801830" y="4525740"/>
            <a:ext cx="265994" cy="264205"/>
          </a:xfrm>
          <a:prstGeom prst="downArrow">
            <a:avLst/>
          </a:prstGeom>
          <a:solidFill>
            <a:sysClr val="window" lastClr="FFFFFF">
              <a:lumMod val="50000"/>
            </a:sysClr>
          </a:solidFill>
          <a:ln w="1905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65" name="Down Arrow 29"/>
          <p:cNvSpPr/>
          <p:nvPr/>
        </p:nvSpPr>
        <p:spPr>
          <a:xfrm>
            <a:off x="9670557" y="4512923"/>
            <a:ext cx="265994" cy="264205"/>
          </a:xfrm>
          <a:prstGeom prst="downArrow">
            <a:avLst/>
          </a:prstGeom>
          <a:solidFill>
            <a:sysClr val="window" lastClr="FFFFFF">
              <a:lumMod val="50000"/>
            </a:sysClr>
          </a:solidFill>
          <a:ln w="1905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66" name="Rectangle 30"/>
          <p:cNvSpPr/>
          <p:nvPr/>
        </p:nvSpPr>
        <p:spPr>
          <a:xfrm>
            <a:off x="8680246" y="5100078"/>
            <a:ext cx="522994" cy="126720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67" name="Rectangle 31"/>
          <p:cNvSpPr/>
          <p:nvPr/>
        </p:nvSpPr>
        <p:spPr>
          <a:xfrm>
            <a:off x="8680246" y="5226798"/>
            <a:ext cx="522994" cy="126720"/>
          </a:xfrm>
          <a:prstGeom prst="rect">
            <a:avLst/>
          </a:prstGeom>
          <a:pattFill prst="ltUpDiag">
            <a:fgClr>
              <a:srgbClr val="B9B8BB">
                <a:lumMod val="50000"/>
              </a:srgbClr>
            </a:fgClr>
            <a:bgClr>
              <a:sysClr val="window" lastClr="FFFFFF"/>
            </a:bgClr>
          </a:pattFill>
          <a:ln w="1905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68" name="Rectangle 32"/>
          <p:cNvSpPr/>
          <p:nvPr/>
        </p:nvSpPr>
        <p:spPr>
          <a:xfrm>
            <a:off x="8680246" y="5350018"/>
            <a:ext cx="522994" cy="126720"/>
          </a:xfrm>
          <a:prstGeom prst="rect">
            <a:avLst/>
          </a:prstGeom>
          <a:pattFill prst="pct80">
            <a:fgClr>
              <a:srgbClr val="B9B8BB">
                <a:lumMod val="50000"/>
              </a:srgbClr>
            </a:fgClr>
            <a:bgClr>
              <a:sysClr val="window" lastClr="FFFFFF"/>
            </a:bgClr>
          </a:pattFill>
          <a:ln w="1905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cs typeface="+mn-cs"/>
            </a:endParaRPr>
          </a:p>
        </p:txBody>
      </p:sp>
      <p:cxnSp>
        <p:nvCxnSpPr>
          <p:cNvPr id="69" name="Straight Arrow Connector 33"/>
          <p:cNvCxnSpPr>
            <a:stCxn id="67" idx="1"/>
          </p:cNvCxnSpPr>
          <p:nvPr/>
        </p:nvCxnSpPr>
        <p:spPr>
          <a:xfrm flipH="1" flipV="1">
            <a:off x="8053268" y="4808287"/>
            <a:ext cx="626978" cy="481871"/>
          </a:xfrm>
          <a:prstGeom prst="straightConnector1">
            <a:avLst/>
          </a:prstGeom>
          <a:noFill/>
          <a:ln w="19050" cap="flat" cmpd="sng" algn="ctr">
            <a:solidFill>
              <a:schemeClr val="tx2"/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70" name="Straight Arrow Connector 34"/>
          <p:cNvCxnSpPr>
            <a:stCxn id="66" idx="0"/>
          </p:cNvCxnSpPr>
          <p:nvPr/>
        </p:nvCxnSpPr>
        <p:spPr>
          <a:xfrm flipH="1" flipV="1">
            <a:off x="8924096" y="4808290"/>
            <a:ext cx="17647" cy="291788"/>
          </a:xfrm>
          <a:prstGeom prst="straightConnector1">
            <a:avLst/>
          </a:prstGeom>
          <a:noFill/>
          <a:ln w="19050" cap="flat" cmpd="sng" algn="ctr">
            <a:solidFill>
              <a:schemeClr val="tx2"/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71" name="Straight Arrow Connector 35"/>
          <p:cNvCxnSpPr>
            <a:stCxn id="68" idx="3"/>
          </p:cNvCxnSpPr>
          <p:nvPr/>
        </p:nvCxnSpPr>
        <p:spPr>
          <a:xfrm flipV="1">
            <a:off x="9203240" y="4808287"/>
            <a:ext cx="624112" cy="605091"/>
          </a:xfrm>
          <a:prstGeom prst="straightConnector1">
            <a:avLst/>
          </a:prstGeom>
          <a:noFill/>
          <a:ln w="19050" cap="flat" cmpd="sng" algn="ctr">
            <a:solidFill>
              <a:schemeClr val="tx2"/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72" name="Straight Arrow Connector 36"/>
          <p:cNvCxnSpPr>
            <a:stCxn id="75" idx="2"/>
          </p:cNvCxnSpPr>
          <p:nvPr/>
        </p:nvCxnSpPr>
        <p:spPr>
          <a:xfrm flipH="1">
            <a:off x="8950639" y="4267059"/>
            <a:ext cx="1681" cy="219610"/>
          </a:xfrm>
          <a:prstGeom prst="straightConnector1">
            <a:avLst/>
          </a:prstGeom>
          <a:noFill/>
          <a:ln w="19050" cap="flat" cmpd="sng" algn="ctr">
            <a:solidFill>
              <a:schemeClr val="tx2"/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73" name="Straight Arrow Connector 37"/>
          <p:cNvCxnSpPr>
            <a:stCxn id="76" idx="1"/>
          </p:cNvCxnSpPr>
          <p:nvPr/>
        </p:nvCxnSpPr>
        <p:spPr>
          <a:xfrm flipH="1">
            <a:off x="8053268" y="4080479"/>
            <a:ext cx="637555" cy="411008"/>
          </a:xfrm>
          <a:prstGeom prst="straightConnector1">
            <a:avLst/>
          </a:prstGeom>
          <a:noFill/>
          <a:ln w="19050" cap="flat" cmpd="sng" algn="ctr">
            <a:solidFill>
              <a:schemeClr val="tx2"/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74" name="Straight Arrow Connector 38"/>
          <p:cNvCxnSpPr/>
          <p:nvPr/>
        </p:nvCxnSpPr>
        <p:spPr>
          <a:xfrm>
            <a:off x="9223405" y="3968992"/>
            <a:ext cx="587507" cy="517677"/>
          </a:xfrm>
          <a:prstGeom prst="straightConnector1">
            <a:avLst/>
          </a:prstGeom>
          <a:noFill/>
          <a:ln w="19050" cap="flat" cmpd="sng" algn="ctr">
            <a:solidFill>
              <a:schemeClr val="tx2"/>
            </a:solidFill>
            <a:prstDash val="sysDash"/>
            <a:miter lim="800000"/>
            <a:tailEnd type="triangle"/>
          </a:ln>
          <a:effectLst/>
        </p:spPr>
      </p:cxnSp>
      <p:sp>
        <p:nvSpPr>
          <p:cNvPr id="75" name="Rectangle 39"/>
          <p:cNvSpPr/>
          <p:nvPr/>
        </p:nvSpPr>
        <p:spPr>
          <a:xfrm>
            <a:off x="8690823" y="4140339"/>
            <a:ext cx="522994" cy="126720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76" name="Rectangle 40"/>
          <p:cNvSpPr/>
          <p:nvPr/>
        </p:nvSpPr>
        <p:spPr>
          <a:xfrm>
            <a:off x="8690823" y="4017119"/>
            <a:ext cx="522994" cy="126720"/>
          </a:xfrm>
          <a:prstGeom prst="rect">
            <a:avLst/>
          </a:prstGeom>
          <a:pattFill prst="ltUpDiag">
            <a:fgClr>
              <a:srgbClr val="B9B8BB">
                <a:lumMod val="50000"/>
              </a:srgbClr>
            </a:fgClr>
            <a:bgClr>
              <a:sysClr val="window" lastClr="FFFFFF"/>
            </a:bgClr>
          </a:pattFill>
          <a:ln w="1905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77" name="Rectangle 41"/>
          <p:cNvSpPr/>
          <p:nvPr/>
        </p:nvSpPr>
        <p:spPr>
          <a:xfrm>
            <a:off x="8692023" y="3873004"/>
            <a:ext cx="522994" cy="126720"/>
          </a:xfrm>
          <a:prstGeom prst="rect">
            <a:avLst/>
          </a:prstGeom>
          <a:pattFill prst="pct80">
            <a:fgClr>
              <a:srgbClr val="B9B8BB">
                <a:lumMod val="50000"/>
              </a:srgbClr>
            </a:fgClr>
            <a:bgClr>
              <a:sysClr val="window" lastClr="FFFFFF"/>
            </a:bgClr>
          </a:pattFill>
          <a:ln w="1905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8789845" y="3685049"/>
            <a:ext cx="312586" cy="1246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B9B8BB">
                    <a:lumMod val="50000"/>
                  </a:srgbClr>
                </a:solidFill>
                <a:effectLst/>
                <a:uLnTx/>
                <a:uFillTx/>
              </a:rPr>
              <a:t>source</a:t>
            </a:r>
            <a:endParaRPr kumimoji="0" lang="ko-KR" altLang="en-US" sz="900" b="0" i="0" u="none" strike="noStrike" kern="0" cap="none" spc="0" normalizeH="0" baseline="0" noProof="0" dirty="0" err="1">
              <a:ln>
                <a:noFill/>
              </a:ln>
              <a:solidFill>
                <a:srgbClr val="B9B8BB">
                  <a:lumMod val="50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774810" y="5536598"/>
            <a:ext cx="283731" cy="1246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B9B8BB">
                    <a:lumMod val="50000"/>
                  </a:srgbClr>
                </a:solidFill>
                <a:effectLst/>
                <a:uLnTx/>
                <a:uFillTx/>
              </a:rPr>
              <a:t>target</a:t>
            </a:r>
            <a:endParaRPr kumimoji="0" lang="ko-KR" altLang="en-US" sz="900" b="0" i="0" u="none" strike="noStrike" kern="0" cap="none" spc="0" normalizeH="0" baseline="0" noProof="0" dirty="0" err="1">
              <a:ln>
                <a:noFill/>
              </a:ln>
              <a:solidFill>
                <a:srgbClr val="B9B8BB">
                  <a:lumMod val="50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1785950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4467B5-FA5F-477C-87FC-96FED1492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err="1"/>
              <a:t>파티셔닝을</a:t>
            </a:r>
            <a:r>
              <a:rPr lang="ko-KR" altLang="en-US" sz="2800" dirty="0"/>
              <a:t> 활용한 최적화</a:t>
            </a:r>
            <a:r>
              <a:rPr lang="en-US" altLang="ko-KR" sz="2800" dirty="0"/>
              <a:t>(1)</a:t>
            </a:r>
            <a:endParaRPr lang="ko-KR" altLang="en-US" sz="28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31912DB-F867-47F6-960C-BD32E09882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FFD10B1-8FFD-4EAF-A912-D1DA77A09E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쿼리 성능 최적화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47B2D3D-0C9B-4E87-91B5-07D80596A1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기본 구문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CREATE TABLE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ALTER TABLE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제약 사항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900" dirty="0"/>
              <a:t>파티션 대상 키는 반드시 </a:t>
            </a:r>
            <a:r>
              <a:rPr lang="en-US" altLang="ko-KR" sz="900" dirty="0"/>
              <a:t>NOT NULL</a:t>
            </a:r>
          </a:p>
          <a:p>
            <a:pPr lvl="2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900" dirty="0"/>
              <a:t>파티션 표현식은 불변한 값이어야 함</a:t>
            </a:r>
            <a:r>
              <a:rPr lang="en-US" altLang="ko-KR" sz="900" dirty="0"/>
              <a:t>( time/locale </a:t>
            </a:r>
            <a:r>
              <a:rPr lang="ko-KR" altLang="en-US" sz="900" dirty="0"/>
              <a:t>등에 영향을 받는 </a:t>
            </a:r>
            <a:r>
              <a:rPr lang="en-US" altLang="ko-KR" sz="900" dirty="0" err="1"/>
              <a:t>to_char</a:t>
            </a:r>
            <a:r>
              <a:rPr lang="en-US" altLang="ko-KR" sz="900" dirty="0"/>
              <a:t> </a:t>
            </a:r>
            <a:r>
              <a:rPr lang="ko-KR" altLang="en-US" sz="900" dirty="0"/>
              <a:t>등 사용 불가 </a:t>
            </a:r>
            <a:r>
              <a:rPr lang="en-US" altLang="ko-KR" sz="900" dirty="0"/>
              <a:t>)</a:t>
            </a:r>
          </a:p>
          <a:p>
            <a:pPr lvl="2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900" dirty="0"/>
              <a:t>추가로 생성되는 </a:t>
            </a:r>
            <a:r>
              <a:rPr lang="en-US" altLang="ko-KR" sz="900" dirty="0"/>
              <a:t>query specific projection</a:t>
            </a:r>
            <a:r>
              <a:rPr lang="ko-KR" altLang="en-US" sz="900" dirty="0"/>
              <a:t>은 파티션 컬럼을 포함 해야 함</a:t>
            </a:r>
            <a:endParaRPr lang="en-US" altLang="ko-KR" sz="900" dirty="0"/>
          </a:p>
          <a:p>
            <a:pPr lvl="2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900" dirty="0"/>
              <a:t>파티션 포함식에 여러 컬럼은 포함 가능하지만 결과는 단일 </a:t>
            </a:r>
            <a:r>
              <a:rPr lang="en-US" altLang="ko-KR" sz="900" dirty="0"/>
              <a:t>not null </a:t>
            </a:r>
            <a:r>
              <a:rPr lang="ko-KR" altLang="en-US" sz="900" dirty="0"/>
              <a:t>값이어야 함</a:t>
            </a:r>
            <a:endParaRPr lang="en-US" altLang="ko-KR" sz="9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228600" lvl="1" indent="0">
              <a:lnSpc>
                <a:spcPct val="100000"/>
              </a:lnSpc>
              <a:spcAft>
                <a:spcPts val="0"/>
              </a:spcAft>
              <a:buNone/>
            </a:pPr>
            <a:endParaRPr lang="en-US" altLang="ko-KR" sz="1100" dirty="0"/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DA9FE8FE-ACF7-4223-B44A-BE0188719860}"/>
              </a:ext>
            </a:extLst>
          </p:cNvPr>
          <p:cNvSpPr/>
          <p:nvPr/>
        </p:nvSpPr>
        <p:spPr>
          <a:xfrm>
            <a:off x="693738" y="1700809"/>
            <a:ext cx="5057527" cy="432048"/>
          </a:xfrm>
          <a:prstGeom prst="roundRect">
            <a:avLst>
              <a:gd name="adj" fmla="val 11133"/>
            </a:avLst>
          </a:prstGeom>
          <a:solidFill>
            <a:sysClr val="window" lastClr="FFFFFF">
              <a:lumMod val="65000"/>
            </a:sysClr>
          </a:solidFill>
          <a:ln w="952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CREATE TABLE </a:t>
            </a:r>
            <a:r>
              <a:rPr kumimoji="0" lang="en-US" altLang="ko-KR" sz="900" b="0" i="1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...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b="1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PARTITION BY </a:t>
            </a:r>
            <a:r>
              <a:rPr lang="en-US" altLang="ko-KR" sz="900" i="1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EXPRESSION</a:t>
            </a:r>
            <a:endParaRPr kumimoji="0" lang="en-US" altLang="ko-KR" sz="900" b="0" i="1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cs typeface="Courier New" panose="02070309020205020404" pitchFamily="49" charset="0"/>
            </a:endParaRP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91BA102A-A439-40F1-B1FC-99171CC75992}"/>
              </a:ext>
            </a:extLst>
          </p:cNvPr>
          <p:cNvSpPr/>
          <p:nvPr/>
        </p:nvSpPr>
        <p:spPr>
          <a:xfrm>
            <a:off x="693738" y="2371624"/>
            <a:ext cx="5057527" cy="2569544"/>
          </a:xfrm>
          <a:prstGeom prst="roundRect">
            <a:avLst>
              <a:gd name="adj" fmla="val 2826"/>
            </a:avLst>
          </a:prstGeom>
          <a:solidFill>
            <a:sysClr val="window" lastClr="FFFFFF">
              <a:lumMod val="65000"/>
            </a:sysClr>
          </a:solidFill>
          <a:ln w="952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-- </a:t>
            </a: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테이블 정의 변경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ALTER TABLE </a:t>
            </a:r>
            <a:r>
              <a:rPr kumimoji="0" lang="en-US" altLang="ko-KR" sz="900" b="0" i="1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...</a:t>
            </a:r>
          </a:p>
          <a:p>
            <a:pPr lvl="0">
              <a:lnSpc>
                <a:spcPts val="1200"/>
              </a:lnSpc>
              <a:defRPr/>
            </a:pPr>
            <a:r>
              <a:rPr lang="en-US" altLang="ko-KR" sz="900" b="1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PARTITION BY </a:t>
            </a:r>
            <a:r>
              <a:rPr lang="en-US" altLang="ko-KR" sz="900" i="1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EXPRESSION </a:t>
            </a:r>
            <a:r>
              <a:rPr lang="en-US" altLang="ko-KR" sz="900" b="1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REORGANIZE</a:t>
            </a:r>
          </a:p>
          <a:p>
            <a:pPr lvl="0">
              <a:lnSpc>
                <a:spcPts val="1200"/>
              </a:lnSpc>
              <a:defRPr/>
            </a:pPr>
            <a:endParaRPr kumimoji="0" lang="en-US" altLang="ko-KR" sz="900" b="1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cs typeface="Courier New" panose="02070309020205020404" pitchFamily="49" charset="0"/>
            </a:endParaRPr>
          </a:p>
          <a:p>
            <a:pPr lvl="0">
              <a:lnSpc>
                <a:spcPts val="1200"/>
              </a:lnSpc>
              <a:defRPr/>
            </a:pPr>
            <a:r>
              <a:rPr kumimoji="0" lang="en-US" altLang="ko-KR" sz="90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-- </a:t>
            </a:r>
            <a:r>
              <a:rPr kumimoji="0" lang="ko-KR" altLang="en-US" sz="90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파티션 적용</a:t>
            </a:r>
            <a:endParaRPr kumimoji="0" lang="en-US" altLang="ko-KR" sz="90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cs typeface="Courier New" panose="02070309020205020404" pitchFamily="49" charset="0"/>
            </a:endParaRPr>
          </a:p>
          <a:p>
            <a:pPr lvl="0">
              <a:lnSpc>
                <a:spcPts val="1200"/>
              </a:lnSpc>
              <a:defRPr/>
            </a:pPr>
            <a:r>
              <a:rPr lang="en-US" altLang="ko-KR" sz="9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-- reorganize </a:t>
            </a:r>
            <a:r>
              <a:rPr lang="ko-KR" altLang="en-US" sz="9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가 정의에 적용되지 않은 경우 즉시 </a:t>
            </a:r>
            <a:r>
              <a:rPr lang="ko-KR" altLang="en-US" sz="900" kern="0" dirty="0" err="1">
                <a:solidFill>
                  <a:sysClr val="window" lastClr="FFFFFF"/>
                </a:solidFill>
                <a:cs typeface="Courier New" panose="02070309020205020404" pitchFamily="49" charset="0"/>
              </a:rPr>
              <a:t>파티셔닝</a:t>
            </a:r>
            <a:r>
              <a:rPr lang="ko-KR" altLang="en-US" sz="9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 되지 않음</a:t>
            </a:r>
            <a:endParaRPr kumimoji="0" lang="en-US" altLang="ko-KR" sz="90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cs typeface="Courier New" panose="02070309020205020404" pitchFamily="49" charset="0"/>
            </a:endParaRPr>
          </a:p>
          <a:p>
            <a:pPr lvl="0">
              <a:lnSpc>
                <a:spcPts val="1200"/>
              </a:lnSpc>
              <a:defRPr/>
            </a:pPr>
            <a:r>
              <a:rPr lang="en-US" altLang="ko-KR" sz="9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-- </a:t>
            </a:r>
            <a:r>
              <a:rPr lang="ko-KR" altLang="en-US" sz="9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하기 </a:t>
            </a:r>
            <a:r>
              <a:rPr lang="ko-KR" altLang="en-US" sz="900" kern="0" dirty="0" err="1">
                <a:solidFill>
                  <a:sysClr val="window" lastClr="FFFFFF"/>
                </a:solidFill>
                <a:cs typeface="Courier New" panose="02070309020205020404" pitchFamily="49" charset="0"/>
              </a:rPr>
              <a:t>두방법중</a:t>
            </a:r>
            <a:r>
              <a:rPr lang="ko-KR" altLang="en-US" sz="9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 하나를 수행</a:t>
            </a:r>
            <a:endParaRPr lang="en-US" altLang="ko-KR" sz="900" kern="0" dirty="0">
              <a:solidFill>
                <a:sysClr val="window" lastClr="FFFFFF"/>
              </a:solidFill>
              <a:cs typeface="Courier New" panose="02070309020205020404" pitchFamily="49" charset="0"/>
            </a:endParaRPr>
          </a:p>
          <a:p>
            <a:pPr lvl="0">
              <a:lnSpc>
                <a:spcPts val="1200"/>
              </a:lnSpc>
              <a:defRPr/>
            </a:pPr>
            <a:endParaRPr lang="en-US" altLang="ko-KR" sz="900" kern="0" dirty="0">
              <a:solidFill>
                <a:sysClr val="window" lastClr="FFFFFF"/>
              </a:solidFill>
              <a:cs typeface="Courier New" panose="02070309020205020404" pitchFamily="49" charset="0"/>
            </a:endParaRPr>
          </a:p>
          <a:p>
            <a:pPr lvl="0">
              <a:lnSpc>
                <a:spcPts val="1200"/>
              </a:lnSpc>
              <a:defRPr/>
            </a:pPr>
            <a:r>
              <a:rPr lang="en-US" altLang="ko-KR" sz="9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-- 1. ALTER</a:t>
            </a:r>
          </a:p>
          <a:p>
            <a:pPr lvl="0">
              <a:lnSpc>
                <a:spcPts val="1200"/>
              </a:lnSpc>
              <a:defRPr/>
            </a:pPr>
            <a:r>
              <a:rPr lang="en-US" altLang="ko-KR" sz="9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ALTER TABLE table-name REORGANIZE;</a:t>
            </a:r>
          </a:p>
          <a:p>
            <a:pPr lvl="0">
              <a:lnSpc>
                <a:spcPts val="1200"/>
              </a:lnSpc>
              <a:defRPr/>
            </a:pPr>
            <a:endParaRPr lang="en-US" altLang="ko-KR" sz="900" kern="0" dirty="0">
              <a:solidFill>
                <a:sysClr val="window" lastClr="FFFFFF"/>
              </a:solidFill>
              <a:cs typeface="Courier New" panose="02070309020205020404" pitchFamily="49" charset="0"/>
            </a:endParaRPr>
          </a:p>
          <a:p>
            <a:pPr lvl="0">
              <a:lnSpc>
                <a:spcPts val="1200"/>
              </a:lnSpc>
              <a:defRPr/>
            </a:pPr>
            <a:r>
              <a:rPr lang="en-US" altLang="ko-KR" sz="9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-- 2. PARTITION_TABLE </a:t>
            </a:r>
            <a:r>
              <a:rPr lang="ko-KR" altLang="en-US" sz="9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함수 호출</a:t>
            </a:r>
          </a:p>
          <a:p>
            <a:pPr lvl="0">
              <a:lnSpc>
                <a:spcPts val="1200"/>
              </a:lnSpc>
              <a:defRPr/>
            </a:pPr>
            <a:r>
              <a:rPr lang="en-US" altLang="ko-KR" sz="9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SELECT PARTITION_TABLE ( '[schema.]</a:t>
            </a:r>
            <a:r>
              <a:rPr lang="en-US" altLang="ko-KR" sz="900" kern="0" dirty="0" err="1">
                <a:solidFill>
                  <a:sysClr val="window" lastClr="FFFFFF"/>
                </a:solidFill>
                <a:cs typeface="Courier New" panose="02070309020205020404" pitchFamily="49" charset="0"/>
              </a:rPr>
              <a:t>table_name</a:t>
            </a:r>
            <a:r>
              <a:rPr lang="en-US" altLang="ko-KR" sz="9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’);</a:t>
            </a:r>
          </a:p>
          <a:p>
            <a:pPr lvl="0">
              <a:lnSpc>
                <a:spcPts val="1200"/>
              </a:lnSpc>
              <a:defRPr/>
            </a:pPr>
            <a:endParaRPr kumimoji="0" lang="en-US" altLang="ko-KR" sz="90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cs typeface="Courier New" panose="02070309020205020404" pitchFamily="49" charset="0"/>
            </a:endParaRPr>
          </a:p>
          <a:p>
            <a:pPr lvl="0">
              <a:lnSpc>
                <a:spcPts val="1200"/>
              </a:lnSpc>
              <a:defRPr/>
            </a:pPr>
            <a:r>
              <a:rPr kumimoji="0" lang="en-US" altLang="ko-KR" sz="90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-- </a:t>
            </a:r>
            <a:r>
              <a:rPr kumimoji="0" lang="ko-KR" altLang="en-US" sz="90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적용 상태 확인</a:t>
            </a:r>
            <a:endParaRPr kumimoji="0" lang="en-US" altLang="ko-KR" sz="90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cs typeface="Courier New" panose="02070309020205020404" pitchFamily="49" charset="0"/>
            </a:endParaRPr>
          </a:p>
          <a:p>
            <a:pPr lvl="0">
              <a:lnSpc>
                <a:spcPts val="1200"/>
              </a:lnSpc>
              <a:defRPr/>
            </a:pPr>
            <a:r>
              <a:rPr lang="en-US" altLang="ko-KR" sz="9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select * from </a:t>
            </a:r>
            <a:r>
              <a:rPr lang="en-US" altLang="ko-KR" sz="900" kern="0" dirty="0" err="1">
                <a:solidFill>
                  <a:sysClr val="window" lastClr="FFFFFF"/>
                </a:solidFill>
                <a:cs typeface="Courier New" panose="02070309020205020404" pitchFamily="49" charset="0"/>
              </a:rPr>
              <a:t>partition_status</a:t>
            </a:r>
            <a:r>
              <a:rPr lang="en-US" altLang="ko-KR" sz="9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 ;</a:t>
            </a:r>
            <a:endParaRPr kumimoji="0" lang="en-US" altLang="ko-KR" sz="90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cs typeface="Courier New" panose="02070309020205020404" pitchFamily="49" charset="0"/>
            </a:endParaRPr>
          </a:p>
          <a:p>
            <a:pPr lvl="0">
              <a:lnSpc>
                <a:spcPts val="1200"/>
              </a:lnSpc>
              <a:defRPr/>
            </a:pPr>
            <a:endParaRPr kumimoji="0" lang="en-US" altLang="ko-KR" sz="900" b="1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cs typeface="Courier New" panose="02070309020205020404" pitchFamily="49" charset="0"/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0D463C2-C809-4263-8EE9-9A9CF9A0D986}"/>
              </a:ext>
            </a:extLst>
          </p:cNvPr>
          <p:cNvSpPr txBox="1">
            <a:spLocks/>
          </p:cNvSpPr>
          <p:nvPr/>
        </p:nvSpPr>
        <p:spPr>
          <a:xfrm>
            <a:off x="6254280" y="1295401"/>
            <a:ext cx="5314328" cy="50133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ko-KR" altLang="en-US" sz="1100" b="1" dirty="0"/>
              <a:t>파티션 관리 함수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Archiving Partitions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Swapping Partitions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Viewing Partition Storage Data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marL="228600" lvl="1" indent="0">
              <a:lnSpc>
                <a:spcPct val="100000"/>
              </a:lnSpc>
              <a:spcAft>
                <a:spcPts val="0"/>
              </a:spcAft>
              <a:buNone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228600" lvl="1" indent="0">
              <a:lnSpc>
                <a:spcPct val="100000"/>
              </a:lnSpc>
              <a:spcAft>
                <a:spcPts val="0"/>
              </a:spcAft>
              <a:buFont typeface="Calibri" panose="020F0502020204030204" pitchFamily="34" charset="0"/>
              <a:buNone/>
            </a:pPr>
            <a:endParaRPr lang="en-US" altLang="ko-KR" sz="1100" dirty="0"/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C7B9D0E9-5F5A-4D3A-AAF7-F81BE5797CD2}"/>
              </a:ext>
            </a:extLst>
          </p:cNvPr>
          <p:cNvSpPr/>
          <p:nvPr/>
        </p:nvSpPr>
        <p:spPr>
          <a:xfrm>
            <a:off x="6284982" y="1700808"/>
            <a:ext cx="5057527" cy="1512168"/>
          </a:xfrm>
          <a:prstGeom prst="roundRect">
            <a:avLst>
              <a:gd name="adj" fmla="val 2826"/>
            </a:avLst>
          </a:prstGeom>
          <a:solidFill>
            <a:sysClr val="window" lastClr="FFFFFF">
              <a:lumMod val="65000"/>
            </a:sysClr>
          </a:solidFill>
          <a:ln w="952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t"/>
          <a:lstStyle/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=&gt; SELECT MOVE_PARTITIONS_TO_TABLE (</a:t>
            </a: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          '</a:t>
            </a:r>
            <a:r>
              <a:rPr lang="en-US" altLang="ko-KR" sz="800" kern="0" dirty="0" err="1">
                <a:solidFill>
                  <a:sysClr val="window" lastClr="FFFFFF"/>
                </a:solidFill>
                <a:cs typeface="Courier New" panose="02070309020205020404" pitchFamily="49" charset="0"/>
              </a:rPr>
              <a:t>prod_trades</a:t>
            </a: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',</a:t>
            </a: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          '200801',</a:t>
            </a: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          '200801',</a:t>
            </a: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          'partn_backup.trades_200801');</a:t>
            </a: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MOVE_PARTITIONS_TO_TABLE                          </a:t>
            </a: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-------------------------------------------------</a:t>
            </a: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 1 distinct partition values moved at epoch 15. </a:t>
            </a: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(1 row)</a:t>
            </a:r>
            <a:endParaRPr kumimoji="0" lang="en-US" altLang="ko-KR" sz="800" b="1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cs typeface="Courier New" panose="02070309020205020404" pitchFamily="49" charset="0"/>
            </a:endParaRPr>
          </a:p>
        </p:txBody>
      </p:sp>
      <p:sp>
        <p:nvSpPr>
          <p:cNvPr id="15" name="Rounded Rectangle 4">
            <a:extLst>
              <a:ext uri="{FF2B5EF4-FFF2-40B4-BE49-F238E27FC236}">
                <a16:creationId xmlns:a16="http://schemas.microsoft.com/office/drawing/2014/main" id="{4F6064AD-2AFD-4DAD-8556-B1DA578ABFC5}"/>
              </a:ext>
            </a:extLst>
          </p:cNvPr>
          <p:cNvSpPr/>
          <p:nvPr/>
        </p:nvSpPr>
        <p:spPr>
          <a:xfrm>
            <a:off x="6284982" y="3511853"/>
            <a:ext cx="5057527" cy="853251"/>
          </a:xfrm>
          <a:prstGeom prst="roundRect">
            <a:avLst>
              <a:gd name="adj" fmla="val 2826"/>
            </a:avLst>
          </a:prstGeom>
          <a:solidFill>
            <a:sysClr val="window" lastClr="FFFFFF">
              <a:lumMod val="65000"/>
            </a:sysClr>
          </a:solidFill>
          <a:ln w="952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t"/>
          <a:lstStyle/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=&gt; SELECT SWAP_PARTITIONS_BETWEEN_TABLES('</a:t>
            </a:r>
            <a:r>
              <a:rPr lang="en-US" altLang="ko-KR" sz="800" kern="0" dirty="0" err="1">
                <a:solidFill>
                  <a:sysClr val="window" lastClr="FFFFFF"/>
                </a:solidFill>
                <a:cs typeface="Courier New" panose="02070309020205020404" pitchFamily="49" charset="0"/>
              </a:rPr>
              <a:t>customer_info</a:t>
            </a: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', 2008, 2009, '</a:t>
            </a:r>
            <a:r>
              <a:rPr lang="en-US" altLang="ko-KR" sz="800" kern="0" dirty="0" err="1">
                <a:solidFill>
                  <a:sysClr val="window" lastClr="FFFFFF"/>
                </a:solidFill>
                <a:cs typeface="Courier New" panose="02070309020205020404" pitchFamily="49" charset="0"/>
              </a:rPr>
              <a:t>member_info</a:t>
            </a: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');</a:t>
            </a: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                                    SWAP_PARTITIONS_BETWEEN_TABLES</a:t>
            </a: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----------------------------------------------------------------------------------------------</a:t>
            </a: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 1 partition values from table </a:t>
            </a:r>
            <a:r>
              <a:rPr lang="en-US" altLang="ko-KR" sz="800" kern="0" dirty="0" err="1">
                <a:solidFill>
                  <a:sysClr val="window" lastClr="FFFFFF"/>
                </a:solidFill>
                <a:cs typeface="Courier New" panose="02070309020205020404" pitchFamily="49" charset="0"/>
              </a:rPr>
              <a:t>customer_info</a:t>
            </a: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 and 2 partition values from table </a:t>
            </a:r>
            <a:r>
              <a:rPr lang="en-US" altLang="ko-KR" sz="800" kern="0" dirty="0" err="1">
                <a:solidFill>
                  <a:sysClr val="window" lastClr="FFFFFF"/>
                </a:solidFill>
                <a:cs typeface="Courier New" panose="02070309020205020404" pitchFamily="49" charset="0"/>
              </a:rPr>
              <a:t>member_info</a:t>
            </a: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 are swapped at epoch 1045.</a:t>
            </a:r>
          </a:p>
        </p:txBody>
      </p:sp>
      <p:sp>
        <p:nvSpPr>
          <p:cNvPr id="16" name="Rounded Rectangle 4">
            <a:extLst>
              <a:ext uri="{FF2B5EF4-FFF2-40B4-BE49-F238E27FC236}">
                <a16:creationId xmlns:a16="http://schemas.microsoft.com/office/drawing/2014/main" id="{1A7A46BF-6B11-46FB-8F2E-5051F8AD19E5}"/>
              </a:ext>
            </a:extLst>
          </p:cNvPr>
          <p:cNvSpPr/>
          <p:nvPr/>
        </p:nvSpPr>
        <p:spPr>
          <a:xfrm>
            <a:off x="6284982" y="4740174"/>
            <a:ext cx="5057527" cy="1708081"/>
          </a:xfrm>
          <a:prstGeom prst="roundRect">
            <a:avLst>
              <a:gd name="adj" fmla="val 2826"/>
            </a:avLst>
          </a:prstGeom>
          <a:solidFill>
            <a:sysClr val="window" lastClr="FFFFFF">
              <a:lumMod val="65000"/>
            </a:sysClr>
          </a:solidFill>
          <a:ln w="952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t"/>
          <a:lstStyle/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--Query the system table.</a:t>
            </a:r>
          </a:p>
          <a:p>
            <a:pPr lvl="0">
              <a:lnSpc>
                <a:spcPts val="1200"/>
              </a:lnSpc>
              <a:defRPr/>
            </a:pPr>
            <a:r>
              <a:rPr lang="fr-FR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partition_columns          </a:t>
            </a:r>
          </a:p>
          <a:p>
            <a:pPr lvl="0">
              <a:lnSpc>
                <a:spcPts val="1200"/>
              </a:lnSpc>
              <a:defRPr/>
            </a:pPr>
            <a:r>
              <a:rPr lang="fr-FR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partition_reorganize_errors</a:t>
            </a:r>
          </a:p>
          <a:p>
            <a:pPr lvl="0">
              <a:lnSpc>
                <a:spcPts val="1200"/>
              </a:lnSpc>
              <a:defRPr/>
            </a:pPr>
            <a:r>
              <a:rPr lang="fr-FR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partition_status           </a:t>
            </a:r>
          </a:p>
          <a:p>
            <a:pPr lvl="0">
              <a:lnSpc>
                <a:spcPts val="1200"/>
              </a:lnSpc>
              <a:defRPr/>
            </a:pPr>
            <a:r>
              <a:rPr lang="fr-FR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partitions </a:t>
            </a:r>
            <a:endParaRPr lang="en-US" altLang="ko-KR" sz="800" kern="0" dirty="0">
              <a:solidFill>
                <a:sysClr val="window" lastClr="FFFFFF"/>
              </a:solidFill>
              <a:cs typeface="Courier New" panose="02070309020205020404" pitchFamily="49" charset="0"/>
            </a:endParaRPr>
          </a:p>
          <a:p>
            <a:pPr lvl="0">
              <a:lnSpc>
                <a:spcPts val="1200"/>
              </a:lnSpc>
              <a:defRPr/>
            </a:pPr>
            <a:endParaRPr lang="en-US" altLang="ko-KR" sz="800" kern="0" dirty="0">
              <a:solidFill>
                <a:sysClr val="window" lastClr="FFFFFF"/>
              </a:solidFill>
              <a:cs typeface="Courier New" panose="02070309020205020404" pitchFamily="49" charset="0"/>
            </a:endParaRP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--Dump partition keys via built-in functions.</a:t>
            </a: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DUMP_PARTITION_KEYS</a:t>
            </a: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DUMP_TABLE_PARTITION_KEYS</a:t>
            </a: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DUMP_PROJECTION_PARTITION_KEYS</a:t>
            </a:r>
          </a:p>
          <a:p>
            <a:pPr lvl="0">
              <a:lnSpc>
                <a:spcPts val="1200"/>
              </a:lnSpc>
              <a:defRPr/>
            </a:pPr>
            <a:endParaRPr lang="en-US" altLang="ko-KR" sz="800" kern="0" dirty="0">
              <a:solidFill>
                <a:sysClr val="window" lastClr="FFFFFF"/>
              </a:solidFill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2501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4467B5-FA5F-477C-87FC-96FED1492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err="1"/>
              <a:t>파티셔닝을</a:t>
            </a:r>
            <a:r>
              <a:rPr lang="ko-KR" altLang="en-US" sz="2800" dirty="0"/>
              <a:t> 활용한 최적화</a:t>
            </a:r>
            <a:r>
              <a:rPr lang="en-US" altLang="ko-KR" sz="2800" dirty="0"/>
              <a:t>(2)</a:t>
            </a:r>
            <a:endParaRPr lang="ko-KR" altLang="en-US" sz="28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31912DB-F867-47F6-960C-BD32E09882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FFD10B1-8FFD-4EAF-A912-D1DA77A09E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쿼리 성능 최적화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0D463C2-C809-4263-8EE9-9A9CF9A0D986}"/>
              </a:ext>
            </a:extLst>
          </p:cNvPr>
          <p:cNvSpPr txBox="1">
            <a:spLocks/>
          </p:cNvSpPr>
          <p:nvPr/>
        </p:nvSpPr>
        <p:spPr>
          <a:xfrm>
            <a:off x="587134" y="1295401"/>
            <a:ext cx="5314328" cy="50133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ko-KR" altLang="en-US" sz="1100" b="1" dirty="0"/>
              <a:t>파티션 </a:t>
            </a:r>
            <a:r>
              <a:rPr lang="ko-KR" altLang="en-US" sz="1100" b="1" dirty="0" err="1"/>
              <a:t>그룹핑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9.0 </a:t>
            </a:r>
            <a:r>
              <a:rPr lang="ko-KR" altLang="en-US" sz="1100" dirty="0"/>
              <a:t>버전부터 지원되는 기능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일별 </a:t>
            </a:r>
            <a:r>
              <a:rPr lang="ko-KR" altLang="en-US" sz="1100" dirty="0" err="1"/>
              <a:t>파티셔닝</a:t>
            </a:r>
            <a:r>
              <a:rPr lang="ko-KR" altLang="en-US" sz="1100" dirty="0"/>
              <a:t> 시 발생할 수 있는 </a:t>
            </a:r>
            <a:r>
              <a:rPr lang="en-US" altLang="ko-KR" sz="1100" dirty="0"/>
              <a:t>ROS Container push-back </a:t>
            </a:r>
            <a:r>
              <a:rPr lang="ko-KR" altLang="en-US" sz="1100" dirty="0"/>
              <a:t>을 방지할 수 있음</a:t>
            </a:r>
            <a:endParaRPr lang="en-US" altLang="ko-KR" sz="1100" dirty="0"/>
          </a:p>
          <a:p>
            <a:pPr marL="228600" lvl="1" indent="0">
              <a:lnSpc>
                <a:spcPct val="100000"/>
              </a:lnSpc>
              <a:spcAft>
                <a:spcPts val="0"/>
              </a:spcAft>
              <a:buNone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228600" lvl="1" indent="0">
              <a:lnSpc>
                <a:spcPct val="100000"/>
              </a:lnSpc>
              <a:spcAft>
                <a:spcPts val="0"/>
              </a:spcAft>
              <a:buFont typeface="Calibri" panose="020F0502020204030204" pitchFamily="34" charset="0"/>
              <a:buNone/>
            </a:pPr>
            <a:endParaRPr lang="en-US" altLang="ko-KR" sz="1100" dirty="0"/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C7B9D0E9-5F5A-4D3A-AAF7-F81BE5797CD2}"/>
              </a:ext>
            </a:extLst>
          </p:cNvPr>
          <p:cNvSpPr/>
          <p:nvPr/>
        </p:nvSpPr>
        <p:spPr>
          <a:xfrm>
            <a:off x="877488" y="1926997"/>
            <a:ext cx="5057527" cy="4501730"/>
          </a:xfrm>
          <a:prstGeom prst="roundRect">
            <a:avLst>
              <a:gd name="adj" fmla="val 2826"/>
            </a:avLst>
          </a:prstGeom>
          <a:solidFill>
            <a:sysClr val="window" lastClr="FFFFFF">
              <a:lumMod val="65000"/>
            </a:sysClr>
          </a:solidFill>
          <a:ln w="952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t"/>
          <a:lstStyle/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CREATE TABLE </a:t>
            </a:r>
            <a:r>
              <a:rPr lang="en-US" altLang="ko-KR" sz="800" kern="0" dirty="0" err="1">
                <a:solidFill>
                  <a:sysClr val="window" lastClr="FFFFFF"/>
                </a:solidFill>
                <a:cs typeface="Courier New" panose="02070309020205020404" pitchFamily="49" charset="0"/>
              </a:rPr>
              <a:t>public.t_varchar</a:t>
            </a:r>
            <a:endParaRPr lang="en-US" altLang="ko-KR" sz="800" kern="0" dirty="0">
              <a:solidFill>
                <a:sysClr val="window" lastClr="FFFFFF"/>
              </a:solidFill>
              <a:cs typeface="Courier New" panose="02070309020205020404" pitchFamily="49" charset="0"/>
            </a:endParaRP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(   </a:t>
            </a:r>
            <a:r>
              <a:rPr lang="en-US" altLang="ko-KR" sz="800" kern="0" dirty="0" err="1">
                <a:solidFill>
                  <a:sysClr val="window" lastClr="FFFFFF"/>
                </a:solidFill>
                <a:cs typeface="Courier New" panose="02070309020205020404" pitchFamily="49" charset="0"/>
              </a:rPr>
              <a:t>odate</a:t>
            </a: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 varchar(8) NOT NULL)</a:t>
            </a: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PARTITION BY </a:t>
            </a:r>
            <a:r>
              <a:rPr lang="en-US" altLang="ko-KR" sz="800" kern="0" dirty="0" err="1">
                <a:solidFill>
                  <a:sysClr val="window" lastClr="FFFFFF"/>
                </a:solidFill>
                <a:cs typeface="Courier New" panose="02070309020205020404" pitchFamily="49" charset="0"/>
              </a:rPr>
              <a:t>odate</a:t>
            </a:r>
            <a:endParaRPr lang="en-US" altLang="ko-KR" sz="800" kern="0" dirty="0">
              <a:solidFill>
                <a:sysClr val="window" lastClr="FFFFFF"/>
              </a:solidFill>
              <a:cs typeface="Courier New" panose="02070309020205020404" pitchFamily="49" charset="0"/>
            </a:endParaRP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GROUP BY (</a:t>
            </a: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-- 1</a:t>
            </a:r>
            <a:r>
              <a:rPr lang="ko-KR" altLang="en-US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년 이전 파티션 병합</a:t>
            </a:r>
            <a:endParaRPr lang="en-US" altLang="ko-KR" sz="800" kern="0" dirty="0">
              <a:solidFill>
                <a:sysClr val="window" lastClr="FFFFFF"/>
              </a:solidFill>
              <a:cs typeface="Courier New" panose="02070309020205020404" pitchFamily="49" charset="0"/>
            </a:endParaRP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CASE WHEN DATEDIFF('YEAR', </a:t>
            </a:r>
            <a:r>
              <a:rPr lang="en-US" altLang="ko-KR" sz="800" kern="0" dirty="0" err="1">
                <a:solidFill>
                  <a:sysClr val="window" lastClr="FFFFFF"/>
                </a:solidFill>
                <a:cs typeface="Courier New" panose="02070309020205020404" pitchFamily="49" charset="0"/>
              </a:rPr>
              <a:t>odate</a:t>
            </a: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::date, NOW()::TIMESTAMPTZ(6)) &gt;= 2	</a:t>
            </a:r>
            <a:endParaRPr lang="ko-KR" altLang="en-US" sz="800" kern="0" dirty="0">
              <a:solidFill>
                <a:sysClr val="window" lastClr="FFFFFF"/>
              </a:solidFill>
              <a:cs typeface="Courier New" panose="02070309020205020404" pitchFamily="49" charset="0"/>
            </a:endParaRPr>
          </a:p>
          <a:p>
            <a:pPr lvl="0">
              <a:lnSpc>
                <a:spcPts val="1200"/>
              </a:lnSpc>
              <a:defRPr/>
            </a:pPr>
            <a:r>
              <a:rPr lang="ko-KR" altLang="en-US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       </a:t>
            </a: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THEN DATE_TRUNC('YEAR', </a:t>
            </a:r>
            <a:r>
              <a:rPr lang="en-US" altLang="ko-KR" sz="800" kern="0" dirty="0" err="1">
                <a:solidFill>
                  <a:sysClr val="window" lastClr="FFFFFF"/>
                </a:solidFill>
                <a:cs typeface="Courier New" panose="02070309020205020404" pitchFamily="49" charset="0"/>
              </a:rPr>
              <a:t>odate</a:t>
            </a: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::DATE)</a:t>
            </a: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-- 3</a:t>
            </a:r>
            <a:r>
              <a:rPr lang="ko-KR" altLang="en-US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개월 이전 파티션 병합</a:t>
            </a:r>
            <a:endParaRPr lang="en-US" altLang="ko-KR" sz="800" kern="0" dirty="0">
              <a:solidFill>
                <a:sysClr val="window" lastClr="FFFFFF"/>
              </a:solidFill>
              <a:cs typeface="Courier New" panose="02070309020205020404" pitchFamily="49" charset="0"/>
            </a:endParaRP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     WHEN DATEDIFF('MONTH', </a:t>
            </a:r>
            <a:r>
              <a:rPr lang="en-US" altLang="ko-KR" sz="800" kern="0" dirty="0" err="1">
                <a:solidFill>
                  <a:sysClr val="window" lastClr="FFFFFF"/>
                </a:solidFill>
                <a:cs typeface="Courier New" panose="02070309020205020404" pitchFamily="49" charset="0"/>
              </a:rPr>
              <a:t>odate</a:t>
            </a: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::date, NOW()::TIMESTAMPTZ(6)) &gt;= 2	</a:t>
            </a:r>
            <a:endParaRPr lang="ko-KR" altLang="en-US" sz="800" kern="0" dirty="0">
              <a:solidFill>
                <a:sysClr val="window" lastClr="FFFFFF"/>
              </a:solidFill>
              <a:cs typeface="Courier New" panose="02070309020205020404" pitchFamily="49" charset="0"/>
            </a:endParaRPr>
          </a:p>
          <a:p>
            <a:pPr lvl="0">
              <a:lnSpc>
                <a:spcPts val="1200"/>
              </a:lnSpc>
              <a:defRPr/>
            </a:pPr>
            <a:r>
              <a:rPr lang="ko-KR" altLang="en-US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       </a:t>
            </a: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THEN DATE_TRUNC('MONTH', </a:t>
            </a:r>
            <a:r>
              <a:rPr lang="en-US" altLang="ko-KR" sz="800" kern="0" dirty="0" err="1">
                <a:solidFill>
                  <a:sysClr val="window" lastClr="FFFFFF"/>
                </a:solidFill>
                <a:cs typeface="Courier New" panose="02070309020205020404" pitchFamily="49" charset="0"/>
              </a:rPr>
              <a:t>odate</a:t>
            </a: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::DATE)</a:t>
            </a: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-- </a:t>
            </a:r>
            <a:r>
              <a:rPr lang="ko-KR" altLang="en-US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일별 </a:t>
            </a:r>
            <a:r>
              <a:rPr lang="ko-KR" altLang="en-US" sz="800" kern="0" dirty="0" err="1">
                <a:solidFill>
                  <a:sysClr val="window" lastClr="FFFFFF"/>
                </a:solidFill>
                <a:cs typeface="Courier New" panose="02070309020205020404" pitchFamily="49" charset="0"/>
              </a:rPr>
              <a:t>파티셔닝</a:t>
            </a:r>
            <a:endParaRPr lang="en-US" altLang="ko-KR" sz="800" kern="0" dirty="0">
              <a:solidFill>
                <a:sysClr val="window" lastClr="FFFFFF"/>
              </a:solidFill>
              <a:cs typeface="Courier New" panose="02070309020205020404" pitchFamily="49" charset="0"/>
            </a:endParaRP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     ELSE DATE_TRUNC('DAY', </a:t>
            </a:r>
            <a:r>
              <a:rPr lang="en-US" altLang="ko-KR" sz="800" kern="0" dirty="0" err="1">
                <a:solidFill>
                  <a:sysClr val="window" lastClr="FFFFFF"/>
                </a:solidFill>
                <a:cs typeface="Courier New" panose="02070309020205020404" pitchFamily="49" charset="0"/>
              </a:rPr>
              <a:t>odate</a:t>
            </a: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::DATE) END); </a:t>
            </a:r>
          </a:p>
          <a:p>
            <a:pPr lvl="0">
              <a:lnSpc>
                <a:spcPts val="1200"/>
              </a:lnSpc>
              <a:defRPr/>
            </a:pPr>
            <a:endParaRPr lang="en-US" altLang="ko-KR" sz="800" kern="0" dirty="0">
              <a:solidFill>
                <a:sysClr val="window" lastClr="FFFFFF"/>
              </a:solidFill>
              <a:cs typeface="Courier New" panose="02070309020205020404" pitchFamily="49" charset="0"/>
            </a:endParaRP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CREATE TABLE </a:t>
            </a:r>
            <a:r>
              <a:rPr lang="en-US" altLang="ko-KR" sz="800" kern="0" dirty="0" err="1">
                <a:solidFill>
                  <a:sysClr val="window" lastClr="FFFFFF"/>
                </a:solidFill>
                <a:cs typeface="Courier New" panose="02070309020205020404" pitchFamily="49" charset="0"/>
              </a:rPr>
              <a:t>public.t_int</a:t>
            </a:r>
            <a:endParaRPr lang="en-US" altLang="ko-KR" sz="800" kern="0" dirty="0">
              <a:solidFill>
                <a:sysClr val="window" lastClr="FFFFFF"/>
              </a:solidFill>
              <a:cs typeface="Courier New" panose="02070309020205020404" pitchFamily="49" charset="0"/>
            </a:endParaRP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(   </a:t>
            </a:r>
            <a:r>
              <a:rPr lang="en-US" altLang="ko-KR" sz="800" kern="0" dirty="0" err="1">
                <a:solidFill>
                  <a:sysClr val="window" lastClr="FFFFFF"/>
                </a:solidFill>
                <a:cs typeface="Courier New" panose="02070309020205020404" pitchFamily="49" charset="0"/>
              </a:rPr>
              <a:t>odate</a:t>
            </a: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 int NOT NULL)</a:t>
            </a: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PARTITION BY </a:t>
            </a:r>
            <a:r>
              <a:rPr lang="en-US" altLang="ko-KR" sz="800" kern="0" dirty="0" err="1">
                <a:solidFill>
                  <a:sysClr val="window" lastClr="FFFFFF"/>
                </a:solidFill>
                <a:cs typeface="Courier New" panose="02070309020205020404" pitchFamily="49" charset="0"/>
              </a:rPr>
              <a:t>odate</a:t>
            </a:r>
            <a:endParaRPr lang="en-US" altLang="ko-KR" sz="800" kern="0" dirty="0">
              <a:solidFill>
                <a:sysClr val="window" lastClr="FFFFFF"/>
              </a:solidFill>
              <a:cs typeface="Courier New" panose="02070309020205020404" pitchFamily="49" charset="0"/>
            </a:endParaRP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GROUP BY (</a:t>
            </a: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CASE WHEN DATEDIFF('YEAR', </a:t>
            </a:r>
            <a:r>
              <a:rPr lang="en-US" altLang="ko-KR" sz="800" kern="0" dirty="0" err="1">
                <a:solidFill>
                  <a:sysClr val="window" lastClr="FFFFFF"/>
                </a:solidFill>
                <a:cs typeface="Courier New" panose="02070309020205020404" pitchFamily="49" charset="0"/>
              </a:rPr>
              <a:t>odate</a:t>
            </a: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::varchar::date, NOW()::TIMESTAMPTZ(6)) &gt;= 2</a:t>
            </a: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       THEN DATE_TRUNC('YEAR', </a:t>
            </a:r>
            <a:r>
              <a:rPr lang="en-US" altLang="ko-KR" sz="800" kern="0" dirty="0" err="1">
                <a:solidFill>
                  <a:sysClr val="window" lastClr="FFFFFF"/>
                </a:solidFill>
                <a:cs typeface="Courier New" panose="02070309020205020404" pitchFamily="49" charset="0"/>
              </a:rPr>
              <a:t>odate</a:t>
            </a: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::varchar::DATE)</a:t>
            </a: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     WHEN DATEDIFF('MONTH', </a:t>
            </a:r>
            <a:r>
              <a:rPr lang="en-US" altLang="ko-KR" sz="800" kern="0" dirty="0" err="1">
                <a:solidFill>
                  <a:sysClr val="window" lastClr="FFFFFF"/>
                </a:solidFill>
                <a:cs typeface="Courier New" panose="02070309020205020404" pitchFamily="49" charset="0"/>
              </a:rPr>
              <a:t>odate</a:t>
            </a: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::varchar::date, NOW()::TIMESTAMPTZ(6)) &gt;= 2</a:t>
            </a: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       THEN DATE_TRUNC('MONTH', </a:t>
            </a:r>
            <a:r>
              <a:rPr lang="en-US" altLang="ko-KR" sz="800" kern="0" dirty="0" err="1">
                <a:solidFill>
                  <a:sysClr val="window" lastClr="FFFFFF"/>
                </a:solidFill>
                <a:cs typeface="Courier New" panose="02070309020205020404" pitchFamily="49" charset="0"/>
              </a:rPr>
              <a:t>odate</a:t>
            </a: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::varchar::DATE)</a:t>
            </a: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     ELSE DATE_TRUNC('DAY', </a:t>
            </a:r>
            <a:r>
              <a:rPr lang="en-US" altLang="ko-KR" sz="800" kern="0" dirty="0" err="1">
                <a:solidFill>
                  <a:sysClr val="window" lastClr="FFFFFF"/>
                </a:solidFill>
                <a:cs typeface="Courier New" panose="02070309020205020404" pitchFamily="49" charset="0"/>
              </a:rPr>
              <a:t>odate</a:t>
            </a: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::varchar::DATE) END);</a:t>
            </a:r>
          </a:p>
          <a:p>
            <a:pPr lvl="0">
              <a:lnSpc>
                <a:spcPts val="1200"/>
              </a:lnSpc>
              <a:defRPr/>
            </a:pPr>
            <a:endParaRPr lang="en-US" altLang="ko-KR" sz="800" kern="0" dirty="0">
              <a:solidFill>
                <a:sysClr val="window" lastClr="FFFFFF"/>
              </a:solidFill>
              <a:cs typeface="Courier New" panose="02070309020205020404" pitchFamily="49" charset="0"/>
            </a:endParaRP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CREATE TABLE </a:t>
            </a:r>
            <a:r>
              <a:rPr lang="en-US" altLang="ko-KR" sz="800" kern="0" dirty="0" err="1">
                <a:solidFill>
                  <a:sysClr val="window" lastClr="FFFFFF"/>
                </a:solidFill>
                <a:cs typeface="Courier New" panose="02070309020205020404" pitchFamily="49" charset="0"/>
              </a:rPr>
              <a:t>public.t_timestamp</a:t>
            </a:r>
            <a:endParaRPr lang="en-US" altLang="ko-KR" sz="800" kern="0" dirty="0">
              <a:solidFill>
                <a:sysClr val="window" lastClr="FFFFFF"/>
              </a:solidFill>
              <a:cs typeface="Courier New" panose="02070309020205020404" pitchFamily="49" charset="0"/>
            </a:endParaRP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(   </a:t>
            </a:r>
            <a:r>
              <a:rPr lang="en-US" altLang="ko-KR" sz="800" kern="0" dirty="0" err="1">
                <a:solidFill>
                  <a:sysClr val="window" lastClr="FFFFFF"/>
                </a:solidFill>
                <a:cs typeface="Courier New" panose="02070309020205020404" pitchFamily="49" charset="0"/>
              </a:rPr>
              <a:t>odate</a:t>
            </a: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 date NOT NULL)</a:t>
            </a: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PARTITION BY </a:t>
            </a:r>
            <a:r>
              <a:rPr lang="en-US" altLang="ko-KR" sz="800" kern="0" dirty="0" err="1">
                <a:solidFill>
                  <a:sysClr val="window" lastClr="FFFFFF"/>
                </a:solidFill>
                <a:cs typeface="Courier New" panose="02070309020205020404" pitchFamily="49" charset="0"/>
              </a:rPr>
              <a:t>odate</a:t>
            </a: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  -- partition expression must be a DATE</a:t>
            </a: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GROUP BY</a:t>
            </a:r>
            <a:r>
              <a:rPr lang="ko-KR" altLang="en-US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 </a:t>
            </a: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CALENDAR_HIERARCHY_DAY(</a:t>
            </a:r>
            <a:r>
              <a:rPr lang="en-US" altLang="ko-KR" sz="800" kern="0" dirty="0" err="1">
                <a:solidFill>
                  <a:sysClr val="window" lastClr="FFFFFF"/>
                </a:solidFill>
                <a:cs typeface="Courier New" panose="02070309020205020404" pitchFamily="49" charset="0"/>
              </a:rPr>
              <a:t>order_date</a:t>
            </a:r>
            <a:r>
              <a:rPr lang="en-US" altLang="ko-KR" sz="800" kern="0" dirty="0">
                <a:solidFill>
                  <a:sysClr val="window" lastClr="FFFFFF"/>
                </a:solidFill>
                <a:cs typeface="Courier New" panose="02070309020205020404" pitchFamily="49" charset="0"/>
              </a:rPr>
              <a:t>, 2, 2)</a:t>
            </a:r>
            <a:endParaRPr kumimoji="0" lang="en-US" altLang="ko-KR" sz="800" b="1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cs typeface="Courier New" panose="02070309020205020404" pitchFamily="49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364D541-2B0A-4A0E-B2E9-1D01486FE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031" y="3234346"/>
            <a:ext cx="5834618" cy="3213909"/>
          </a:xfrm>
          <a:prstGeom prst="rect">
            <a:avLst/>
          </a:prstGeom>
        </p:spPr>
      </p:pic>
      <p:sp>
        <p:nvSpPr>
          <p:cNvPr id="5" name="화살표: 왼쪽으로 구부러짐 4">
            <a:extLst>
              <a:ext uri="{FF2B5EF4-FFF2-40B4-BE49-F238E27FC236}">
                <a16:creationId xmlns:a16="http://schemas.microsoft.com/office/drawing/2014/main" id="{05D092C3-3DB3-4975-9E3E-88005F08A32A}"/>
              </a:ext>
            </a:extLst>
          </p:cNvPr>
          <p:cNvSpPr/>
          <p:nvPr/>
        </p:nvSpPr>
        <p:spPr>
          <a:xfrm rot="20087791">
            <a:off x="10580755" y="2420888"/>
            <a:ext cx="483797" cy="813458"/>
          </a:xfrm>
          <a:prstGeom prst="curvedLeftArrow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>
              <a:solidFill>
                <a:sysClr val="windowText" lastClr="00000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BA153FC-30C9-4367-8A31-CB488C27C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357" y="2130260"/>
            <a:ext cx="4483398" cy="722676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24415903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4467B5-FA5F-477C-87FC-96FED1492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Pre-Aggregating Data in Projections</a:t>
            </a:r>
            <a:endParaRPr lang="ko-KR" altLang="en-US" sz="28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31912DB-F867-47F6-960C-BD32E09882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FFD10B1-8FFD-4EAF-A912-D1DA77A09E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쿼리 성능 최적화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47B2D3D-0C9B-4E87-91B5-07D80596A1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Live Aggregate Projections(LAP)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데이터가 </a:t>
            </a:r>
            <a:r>
              <a:rPr lang="ko-KR" altLang="en-US" sz="1100" dirty="0" err="1"/>
              <a:t>적재될때</a:t>
            </a:r>
            <a:r>
              <a:rPr lang="en-US" altLang="ko-KR" sz="1100" dirty="0"/>
              <a:t>(INSERT/COPY) </a:t>
            </a:r>
            <a:r>
              <a:rPr lang="ko-KR" altLang="en-US" sz="1100" dirty="0"/>
              <a:t>사전 정의된 집계 데이터를 생성하는 </a:t>
            </a:r>
            <a:r>
              <a:rPr lang="ko-KR" altLang="en-US" sz="1100" dirty="0" err="1"/>
              <a:t>프로젝션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매우 짧은 </a:t>
            </a:r>
            <a:r>
              <a:rPr lang="en-US" altLang="ko-KR" sz="1100" dirty="0"/>
              <a:t>latency</a:t>
            </a:r>
            <a:r>
              <a:rPr lang="ko-KR" altLang="en-US" sz="1100" dirty="0"/>
              <a:t>를 요구하는 집계 쿼리에 최적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지원되는 집계 함수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ko-KR" sz="900" dirty="0"/>
              <a:t>SUM</a:t>
            </a:r>
          </a:p>
          <a:p>
            <a:pPr lvl="2">
              <a:lnSpc>
                <a:spcPct val="100000"/>
              </a:lnSpc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ko-KR" sz="900" dirty="0"/>
              <a:t>MAX</a:t>
            </a:r>
          </a:p>
          <a:p>
            <a:pPr lvl="2">
              <a:lnSpc>
                <a:spcPct val="100000"/>
              </a:lnSpc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ko-KR" sz="900" dirty="0"/>
              <a:t>MIN</a:t>
            </a:r>
          </a:p>
          <a:p>
            <a:pPr lvl="2">
              <a:lnSpc>
                <a:spcPct val="100000"/>
              </a:lnSpc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ko-KR" sz="900" dirty="0"/>
              <a:t>COUNT</a:t>
            </a:r>
            <a:br>
              <a:rPr lang="en-US" altLang="ko-KR" sz="900" dirty="0"/>
            </a:br>
            <a:endParaRPr lang="en-US" altLang="ko-KR" sz="9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구문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실행계획을 통한 </a:t>
            </a:r>
            <a:r>
              <a:rPr lang="en-US" altLang="ko-KR" sz="1100" dirty="0"/>
              <a:t>LAP </a:t>
            </a:r>
            <a:r>
              <a:rPr lang="ko-KR" altLang="en-US" sz="1100" dirty="0"/>
              <a:t>사용여부 확인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제약 사항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900" dirty="0"/>
              <a:t>unsegmented projection </a:t>
            </a:r>
            <a:r>
              <a:rPr lang="ko-KR" altLang="en-US" sz="900" dirty="0"/>
              <a:t>으로 생성 불가</a:t>
            </a:r>
            <a:endParaRPr lang="en-US" altLang="ko-KR" sz="900" dirty="0"/>
          </a:p>
          <a:p>
            <a:pPr lvl="2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900" dirty="0"/>
              <a:t>super projection </a:t>
            </a:r>
            <a:r>
              <a:rPr lang="ko-KR" altLang="en-US" sz="900" dirty="0"/>
              <a:t>에 적용 불가</a:t>
            </a:r>
            <a:endParaRPr lang="en-US" altLang="ko-KR" sz="900" dirty="0"/>
          </a:p>
          <a:p>
            <a:pPr lvl="2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900" dirty="0"/>
              <a:t>LAP</a:t>
            </a:r>
            <a:r>
              <a:rPr lang="ko-KR" altLang="en-US" sz="900" dirty="0"/>
              <a:t>가 생성된 테이블에는 </a:t>
            </a:r>
            <a:r>
              <a:rPr lang="en-US" altLang="ko-KR" sz="900" dirty="0"/>
              <a:t>UPDATE/DELETE/MERGE </a:t>
            </a:r>
            <a:r>
              <a:rPr lang="ko-KR" altLang="en-US" sz="900" dirty="0"/>
              <a:t>불가</a:t>
            </a:r>
            <a:r>
              <a:rPr lang="en-US" altLang="ko-KR" sz="900" dirty="0"/>
              <a:t>(INSERT/COPY</a:t>
            </a:r>
            <a:r>
              <a:rPr lang="ko-KR" altLang="en-US" sz="900" dirty="0"/>
              <a:t> 만 가능</a:t>
            </a:r>
            <a:r>
              <a:rPr lang="en-US" altLang="ko-KR" sz="900" dirty="0"/>
              <a:t>)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228600" lvl="1" indent="0">
              <a:lnSpc>
                <a:spcPct val="100000"/>
              </a:lnSpc>
              <a:spcAft>
                <a:spcPts val="0"/>
              </a:spcAft>
              <a:buNone/>
            </a:pPr>
            <a:endParaRPr lang="en-US" altLang="ko-KR" sz="1100" dirty="0"/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DA9FE8FE-ACF7-4223-B44A-BE0188719860}"/>
              </a:ext>
            </a:extLst>
          </p:cNvPr>
          <p:cNvSpPr/>
          <p:nvPr/>
        </p:nvSpPr>
        <p:spPr>
          <a:xfrm>
            <a:off x="693738" y="3068960"/>
            <a:ext cx="5057527" cy="576064"/>
          </a:xfrm>
          <a:prstGeom prst="roundRect">
            <a:avLst>
              <a:gd name="adj" fmla="val 11133"/>
            </a:avLst>
          </a:prstGeom>
          <a:solidFill>
            <a:sysClr val="window" lastClr="FFFFFF">
              <a:lumMod val="65000"/>
            </a:sysClr>
          </a:solidFill>
          <a:ln w="952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lvl="0">
              <a:lnSpc>
                <a:spcPts val="1200"/>
              </a:lnSpc>
              <a:defRPr/>
            </a:pPr>
            <a:r>
              <a:rPr lang="en-US" altLang="ko-KR" sz="9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CREATE PROJECTION </a:t>
            </a:r>
            <a:r>
              <a:rPr lang="en-US" altLang="ko-KR" sz="900" i="1" kern="0" dirty="0" err="1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proj</a:t>
            </a:r>
            <a:r>
              <a:rPr lang="en-US" altLang="ko-KR" sz="900" i="1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-name</a:t>
            </a:r>
            <a:r>
              <a:rPr lang="en-US" altLang="ko-KR" sz="9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AS</a:t>
            </a:r>
          </a:p>
          <a:p>
            <a:pPr lvl="0">
              <a:lnSpc>
                <a:spcPts val="1200"/>
              </a:lnSpc>
              <a:defRPr/>
            </a:pPr>
            <a:r>
              <a:rPr lang="en-US" altLang="ko-KR" sz="9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SELECT </a:t>
            </a:r>
            <a:r>
              <a:rPr lang="en-US" altLang="ko-KR" sz="900" i="1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select-expression</a:t>
            </a:r>
            <a:r>
              <a:rPr lang="en-US" altLang="ko-KR" sz="9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FROM </a:t>
            </a:r>
            <a:r>
              <a:rPr lang="en-US" altLang="ko-KR" sz="900" i="1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table</a:t>
            </a:r>
          </a:p>
          <a:p>
            <a:pPr lvl="0">
              <a:lnSpc>
                <a:spcPts val="1200"/>
              </a:lnSpc>
              <a:defRPr/>
            </a:pPr>
            <a:r>
              <a:rPr lang="en-US" altLang="ko-KR" sz="9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GROUP BY </a:t>
            </a:r>
            <a:r>
              <a:rPr lang="en-US" altLang="ko-KR" sz="900" i="1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group-expression</a:t>
            </a:r>
            <a:r>
              <a:rPr lang="en-US" altLang="ko-KR" sz="9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endParaRPr kumimoji="0" lang="en-US" altLang="ko-KR" sz="900" b="0" i="1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0D463C2-C809-4263-8EE9-9A9CF9A0D986}"/>
              </a:ext>
            </a:extLst>
          </p:cNvPr>
          <p:cNvSpPr txBox="1">
            <a:spLocks/>
          </p:cNvSpPr>
          <p:nvPr/>
        </p:nvSpPr>
        <p:spPr>
          <a:xfrm>
            <a:off x="6254280" y="1295401"/>
            <a:ext cx="5314328" cy="50133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Top-K Projections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Top-k </a:t>
            </a:r>
            <a:r>
              <a:rPr lang="ko-KR" altLang="en-US" sz="1100" dirty="0"/>
              <a:t>쿼리</a:t>
            </a:r>
            <a:r>
              <a:rPr lang="en-US" altLang="ko-KR" sz="1100" dirty="0"/>
              <a:t>, </a:t>
            </a:r>
            <a:r>
              <a:rPr lang="ko-KR" altLang="en-US" sz="1100" dirty="0"/>
              <a:t>즉 특정 컬럼으로 </a:t>
            </a:r>
            <a:r>
              <a:rPr lang="ko-KR" altLang="en-US" sz="1100" dirty="0" err="1"/>
              <a:t>그룹핑</a:t>
            </a:r>
            <a:r>
              <a:rPr lang="ko-KR" altLang="en-US" sz="1100" dirty="0"/>
              <a:t> 및 정렬되어 상위 특정행의 데이터를 생성하는 </a:t>
            </a:r>
            <a:r>
              <a:rPr lang="ko-KR" altLang="en-US" sz="1100" dirty="0" err="1"/>
              <a:t>프로젝션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구문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실행계획을 통한 </a:t>
            </a:r>
            <a:r>
              <a:rPr lang="en-US" altLang="ko-KR" sz="1100" dirty="0"/>
              <a:t>Top-K</a:t>
            </a:r>
            <a:r>
              <a:rPr lang="ko-KR" altLang="en-US" sz="1100" dirty="0"/>
              <a:t>사용여부 확인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제약 사항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900" dirty="0"/>
              <a:t>unsegmented projection </a:t>
            </a:r>
            <a:r>
              <a:rPr lang="ko-KR" altLang="en-US" sz="900" dirty="0"/>
              <a:t>으로 생성 불가</a:t>
            </a:r>
            <a:endParaRPr lang="en-US" altLang="ko-KR" sz="900" dirty="0"/>
          </a:p>
          <a:p>
            <a:pPr lvl="2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900" dirty="0"/>
              <a:t>window partition </a:t>
            </a:r>
            <a:r>
              <a:rPr lang="ko-KR" altLang="en-US" sz="900" dirty="0"/>
              <a:t>절 반드시 필요</a:t>
            </a:r>
            <a:endParaRPr lang="en-US" altLang="ko-KR" sz="900" dirty="0"/>
          </a:p>
          <a:p>
            <a:pPr lvl="2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900" dirty="0" err="1"/>
              <a:t>프로젝션</a:t>
            </a:r>
            <a:r>
              <a:rPr lang="ko-KR" altLang="en-US" sz="900" dirty="0"/>
              <a:t> 생성 시 </a:t>
            </a:r>
            <a:r>
              <a:rPr lang="en-US" altLang="ko-KR" sz="900" dirty="0"/>
              <a:t>partition by </a:t>
            </a:r>
            <a:r>
              <a:rPr lang="ko-KR" altLang="en-US" sz="900" dirty="0"/>
              <a:t>에 기술된 컬럼 최우선</a:t>
            </a:r>
            <a:r>
              <a:rPr lang="en-US" altLang="ko-KR" sz="900" dirty="0"/>
              <a:t>,  order by </a:t>
            </a:r>
            <a:r>
              <a:rPr lang="ko-KR" altLang="en-US" sz="900" dirty="0"/>
              <a:t>절에 기술된 컬럼들 순서로 </a:t>
            </a:r>
            <a:r>
              <a:rPr lang="en-US" altLang="ko-KR" sz="900" dirty="0"/>
              <a:t>select </a:t>
            </a:r>
            <a:r>
              <a:rPr lang="ko-KR" altLang="en-US" sz="900" dirty="0"/>
              <a:t>절에서 참조되어야 함</a:t>
            </a:r>
            <a:r>
              <a:rPr lang="en-US" altLang="ko-KR" sz="900" dirty="0"/>
              <a:t>.</a:t>
            </a:r>
          </a:p>
          <a:p>
            <a:pPr lvl="2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900" dirty="0" err="1"/>
              <a:t>프로젝션</a:t>
            </a:r>
            <a:r>
              <a:rPr lang="ko-KR" altLang="en-US" sz="900" dirty="0"/>
              <a:t> 생성 시 </a:t>
            </a:r>
            <a:r>
              <a:rPr lang="en-US" altLang="ko-KR" sz="900" dirty="0"/>
              <a:t>LIMIT  </a:t>
            </a:r>
            <a:r>
              <a:rPr lang="ko-KR" altLang="en-US" sz="900" dirty="0"/>
              <a:t>구문 반드시 기술</a:t>
            </a:r>
            <a:endParaRPr lang="en-US" altLang="ko-KR" sz="9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marL="228600" lvl="1" indent="0">
              <a:lnSpc>
                <a:spcPct val="100000"/>
              </a:lnSpc>
              <a:spcAft>
                <a:spcPts val="0"/>
              </a:spcAft>
              <a:buNone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228600" lvl="1" indent="0">
              <a:lnSpc>
                <a:spcPct val="100000"/>
              </a:lnSpc>
              <a:spcAft>
                <a:spcPts val="0"/>
              </a:spcAft>
              <a:buFont typeface="Calibri" panose="020F0502020204030204" pitchFamily="34" charset="0"/>
              <a:buNone/>
            </a:pPr>
            <a:endParaRPr lang="en-US" altLang="ko-KR" sz="1100" dirty="0"/>
          </a:p>
        </p:txBody>
      </p:sp>
      <p:sp>
        <p:nvSpPr>
          <p:cNvPr id="13" name="Rounded Rectangle 4">
            <a:extLst>
              <a:ext uri="{FF2B5EF4-FFF2-40B4-BE49-F238E27FC236}">
                <a16:creationId xmlns:a16="http://schemas.microsoft.com/office/drawing/2014/main" id="{995DA2F6-CFB1-4570-9088-351E5B80621C}"/>
              </a:ext>
            </a:extLst>
          </p:cNvPr>
          <p:cNvSpPr/>
          <p:nvPr/>
        </p:nvSpPr>
        <p:spPr>
          <a:xfrm>
            <a:off x="693738" y="4104987"/>
            <a:ext cx="5057527" cy="1103499"/>
          </a:xfrm>
          <a:prstGeom prst="roundRect">
            <a:avLst>
              <a:gd name="adj" fmla="val 6572"/>
            </a:avLst>
          </a:prstGeom>
          <a:solidFill>
            <a:sysClr val="window" lastClr="FFFFFF">
              <a:lumMod val="65000"/>
            </a:sysClr>
          </a:solidFill>
          <a:ln w="952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Courier New" panose="02070309020205020404" pitchFamily="49" charset="0"/>
              </a:rPr>
              <a:t>-- LAP</a:t>
            </a:r>
            <a:r>
              <a:rPr lang="ko-KR" altLang="en-US" sz="800" kern="0" dirty="0">
                <a:solidFill>
                  <a:sysClr val="window" lastClr="FFFFFF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Courier New" panose="02070309020205020404" pitchFamily="49" charset="0"/>
              </a:rPr>
              <a:t> 미적용 시</a:t>
            </a:r>
            <a:endParaRPr lang="en-US" altLang="ko-KR" sz="800" kern="0" dirty="0">
              <a:solidFill>
                <a:sysClr val="window" lastClr="FFFFFF"/>
              </a:solidFill>
              <a:latin typeface="돋움체" panose="020B0609000101010101" pitchFamily="49" charset="-127"/>
              <a:ea typeface="돋움체" panose="020B0609000101010101" pitchFamily="49" charset="-127"/>
              <a:cs typeface="Courier New" panose="02070309020205020404" pitchFamily="49" charset="0"/>
            </a:endParaRP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Courier New" panose="02070309020205020404" pitchFamily="49" charset="0"/>
              </a:rPr>
              <a:t> | | +---&gt; STORAGE ACCESS for clicks [Cost: 4, Rows: 1] (PATH ID: 3)</a:t>
            </a: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Courier New" panose="02070309020205020404" pitchFamily="49" charset="0"/>
              </a:rPr>
              <a:t> | | |      Projection: public.clicks_b0 </a:t>
            </a:r>
          </a:p>
          <a:p>
            <a:pPr lvl="0">
              <a:lnSpc>
                <a:spcPts val="1200"/>
              </a:lnSpc>
              <a:defRPr/>
            </a:pPr>
            <a:endParaRPr lang="en-US" altLang="ko-KR" sz="800" kern="0" dirty="0">
              <a:solidFill>
                <a:sysClr val="window" lastClr="FFFFFF"/>
              </a:solidFill>
              <a:latin typeface="돋움체" panose="020B0609000101010101" pitchFamily="49" charset="-127"/>
              <a:ea typeface="돋움체" panose="020B0609000101010101" pitchFamily="49" charset="-127"/>
              <a:cs typeface="Courier New" panose="02070309020205020404" pitchFamily="49" charset="0"/>
            </a:endParaRPr>
          </a:p>
          <a:p>
            <a:pPr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Courier New" panose="02070309020205020404" pitchFamily="49" charset="0"/>
              </a:rPr>
              <a:t>-- LAP</a:t>
            </a:r>
            <a:r>
              <a:rPr lang="ko-KR" altLang="en-US" sz="800" kern="0" dirty="0">
                <a:solidFill>
                  <a:sysClr val="window" lastClr="FFFFFF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Courier New" panose="02070309020205020404" pitchFamily="49" charset="0"/>
              </a:rPr>
              <a:t> 적용 시</a:t>
            </a:r>
            <a:endParaRPr lang="en-US" altLang="ko-KR" sz="800" kern="0" dirty="0">
              <a:solidFill>
                <a:sysClr val="window" lastClr="FFFFFF"/>
              </a:solidFill>
              <a:latin typeface="돋움체" panose="020B0609000101010101" pitchFamily="49" charset="-127"/>
              <a:ea typeface="돋움체" panose="020B0609000101010101" pitchFamily="49" charset="-127"/>
              <a:cs typeface="Courier New" panose="02070309020205020404" pitchFamily="49" charset="0"/>
            </a:endParaRP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Courier New" panose="02070309020205020404" pitchFamily="49" charset="0"/>
              </a:rPr>
              <a:t>| | +---&gt; STORAGE ACCESS for </a:t>
            </a:r>
            <a:r>
              <a:rPr lang="en-US" altLang="ko-KR" sz="800" kern="0" dirty="0" err="1">
                <a:solidFill>
                  <a:sysClr val="window" lastClr="FFFFFF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Courier New" panose="02070309020205020404" pitchFamily="49" charset="0"/>
              </a:rPr>
              <a:t>public.clicks_agg</a:t>
            </a:r>
            <a:r>
              <a:rPr lang="en-US" altLang="ko-KR" sz="800" kern="0" dirty="0">
                <a:solidFill>
                  <a:sysClr val="window" lastClr="FFFFFF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Courier New" panose="02070309020205020404" pitchFamily="49" charset="0"/>
              </a:rPr>
              <a:t> (</a:t>
            </a:r>
            <a:r>
              <a:rPr lang="en-US" altLang="ko-KR" sz="800" b="1" kern="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Courier New" panose="02070309020205020404" pitchFamily="49" charset="0"/>
              </a:rPr>
              <a:t>Rewritten LAP</a:t>
            </a:r>
            <a:r>
              <a:rPr lang="en-US" altLang="ko-KR" sz="800" kern="0" dirty="0">
                <a:solidFill>
                  <a:sysClr val="window" lastClr="FFFFFF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Courier New" panose="02070309020205020404" pitchFamily="49" charset="0"/>
              </a:rPr>
              <a:t>) [Cost: 1, Rows: 1] (PATH ID: 3)</a:t>
            </a: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Courier New" panose="02070309020205020404" pitchFamily="49" charset="0"/>
              </a:rPr>
              <a:t> | | |      Projection: </a:t>
            </a:r>
            <a:r>
              <a:rPr lang="en-US" altLang="ko-KR" sz="800" b="1" kern="0" dirty="0" err="1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Courier New" panose="02070309020205020404" pitchFamily="49" charset="0"/>
              </a:rPr>
              <a:t>public.clicks_agg</a:t>
            </a:r>
            <a:endParaRPr kumimoji="0" lang="en-US" altLang="ko-KR" sz="8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돋움체" panose="020B0609000101010101" pitchFamily="49" charset="-127"/>
              <a:ea typeface="돋움체" panose="020B0609000101010101" pitchFamily="49" charset="-127"/>
              <a:cs typeface="Courier New" panose="02070309020205020404" pitchFamily="49" charset="0"/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D04BB46E-F029-4A1E-AADB-283B6CC9DF11}"/>
              </a:ext>
            </a:extLst>
          </p:cNvPr>
          <p:cNvSpPr/>
          <p:nvPr/>
        </p:nvSpPr>
        <p:spPr>
          <a:xfrm>
            <a:off x="6268221" y="2052903"/>
            <a:ext cx="5300387" cy="576064"/>
          </a:xfrm>
          <a:prstGeom prst="roundRect">
            <a:avLst>
              <a:gd name="adj" fmla="val 11133"/>
            </a:avLst>
          </a:prstGeom>
          <a:solidFill>
            <a:sysClr val="window" lastClr="FFFFFF">
              <a:lumMod val="65000"/>
            </a:sysClr>
          </a:solidFill>
          <a:ln w="952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lvl="0">
              <a:lnSpc>
                <a:spcPts val="1200"/>
              </a:lnSpc>
              <a:defRPr/>
            </a:pPr>
            <a:r>
              <a:rPr lang="en-US" altLang="ko-KR" sz="9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CREATE PROJECTION </a:t>
            </a:r>
            <a:r>
              <a:rPr lang="en-US" altLang="ko-KR" sz="900" kern="0" dirty="0" err="1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proj</a:t>
            </a:r>
            <a:r>
              <a:rPr lang="en-US" altLang="ko-KR" sz="9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-name [(</a:t>
            </a:r>
            <a:r>
              <a:rPr lang="en-US" altLang="ko-KR" sz="900" kern="0" dirty="0" err="1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proj</a:t>
            </a:r>
            <a:r>
              <a:rPr lang="en-US" altLang="ko-KR" sz="9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-column-spec)]</a:t>
            </a:r>
          </a:p>
          <a:p>
            <a:pPr lvl="0">
              <a:lnSpc>
                <a:spcPts val="1200"/>
              </a:lnSpc>
              <a:defRPr/>
            </a:pPr>
            <a:r>
              <a:rPr lang="en-US" altLang="ko-KR" sz="9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AS SELECT select-expression FROM table</a:t>
            </a:r>
          </a:p>
          <a:p>
            <a:pPr lvl="0">
              <a:lnSpc>
                <a:spcPts val="1200"/>
              </a:lnSpc>
              <a:defRPr/>
            </a:pPr>
            <a:r>
              <a:rPr lang="en-US" altLang="ko-KR" sz="9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LIMIT num-rows OVER (PARTITION BY expression ORDER BY column-expr);</a:t>
            </a:r>
            <a:endParaRPr kumimoji="0" lang="en-US" altLang="ko-KR" sz="900" b="0" i="1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Rounded Rectangle 4">
            <a:extLst>
              <a:ext uri="{FF2B5EF4-FFF2-40B4-BE49-F238E27FC236}">
                <a16:creationId xmlns:a16="http://schemas.microsoft.com/office/drawing/2014/main" id="{CFFC9086-BE49-4F21-A39D-C44D9115E82A}"/>
              </a:ext>
            </a:extLst>
          </p:cNvPr>
          <p:cNvSpPr/>
          <p:nvPr/>
        </p:nvSpPr>
        <p:spPr>
          <a:xfrm>
            <a:off x="6270438" y="3045581"/>
            <a:ext cx="5312121" cy="1103499"/>
          </a:xfrm>
          <a:prstGeom prst="roundRect">
            <a:avLst>
              <a:gd name="adj" fmla="val 6572"/>
            </a:avLst>
          </a:prstGeom>
          <a:solidFill>
            <a:sysClr val="window" lastClr="FFFFFF">
              <a:lumMod val="65000"/>
            </a:sysClr>
          </a:solidFill>
          <a:ln w="952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Courier New" panose="02070309020205020404" pitchFamily="49" charset="0"/>
              </a:rPr>
              <a:t>-- Top-K</a:t>
            </a:r>
            <a:r>
              <a:rPr lang="ko-KR" altLang="en-US" sz="800" kern="0" dirty="0">
                <a:solidFill>
                  <a:sysClr val="window" lastClr="FFFFFF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Courier New" panose="02070309020205020404" pitchFamily="49" charset="0"/>
              </a:rPr>
              <a:t> 미적용 시</a:t>
            </a:r>
            <a:endParaRPr lang="en-US" altLang="ko-KR" sz="800" kern="0" dirty="0">
              <a:solidFill>
                <a:sysClr val="window" lastClr="FFFFFF"/>
              </a:solidFill>
              <a:latin typeface="돋움체" panose="020B0609000101010101" pitchFamily="49" charset="-127"/>
              <a:ea typeface="돋움체" panose="020B0609000101010101" pitchFamily="49" charset="-127"/>
              <a:cs typeface="Courier New" panose="02070309020205020404" pitchFamily="49" charset="0"/>
            </a:endParaRP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Courier New" panose="02070309020205020404" pitchFamily="49" charset="0"/>
              </a:rPr>
              <a:t> | | +---&gt; STORAGE ACCESS for trades [Cost: 13, Rows: 7 (NO STATISTICS)] (PATH ID: 2)</a:t>
            </a: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Courier New" panose="02070309020205020404" pitchFamily="49" charset="0"/>
              </a:rPr>
              <a:t> | | |      Projection: public.trades_b0</a:t>
            </a:r>
          </a:p>
          <a:p>
            <a:pPr lvl="0">
              <a:lnSpc>
                <a:spcPts val="1200"/>
              </a:lnSpc>
              <a:defRPr/>
            </a:pPr>
            <a:endParaRPr lang="en-US" altLang="ko-KR" sz="800" kern="0" dirty="0">
              <a:solidFill>
                <a:sysClr val="window" lastClr="FFFFFF"/>
              </a:solidFill>
              <a:latin typeface="돋움체" panose="020B0609000101010101" pitchFamily="49" charset="-127"/>
              <a:ea typeface="돋움체" panose="020B0609000101010101" pitchFamily="49" charset="-127"/>
              <a:cs typeface="Courier New" panose="02070309020205020404" pitchFamily="49" charset="0"/>
            </a:endParaRPr>
          </a:p>
          <a:p>
            <a:pPr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Courier New" panose="02070309020205020404" pitchFamily="49" charset="0"/>
              </a:rPr>
              <a:t>-- Top-K</a:t>
            </a:r>
            <a:r>
              <a:rPr lang="ko-KR" altLang="en-US" sz="800" kern="0" dirty="0">
                <a:solidFill>
                  <a:sysClr val="window" lastClr="FFFFFF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Courier New" panose="02070309020205020404" pitchFamily="49" charset="0"/>
              </a:rPr>
              <a:t> 적용 시</a:t>
            </a:r>
            <a:endParaRPr lang="en-US" altLang="ko-KR" sz="800" kern="0" dirty="0">
              <a:solidFill>
                <a:sysClr val="window" lastClr="FFFFFF"/>
              </a:solidFill>
              <a:latin typeface="돋움체" panose="020B0609000101010101" pitchFamily="49" charset="-127"/>
              <a:ea typeface="돋움체" panose="020B0609000101010101" pitchFamily="49" charset="-127"/>
              <a:cs typeface="Courier New" panose="02070309020205020404" pitchFamily="49" charset="0"/>
            </a:endParaRP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Courier New" panose="02070309020205020404" pitchFamily="49" charset="0"/>
              </a:rPr>
              <a:t> | | +---&gt; STORAGE ACCESS for </a:t>
            </a:r>
            <a:r>
              <a:rPr lang="en-US" altLang="ko-KR" sz="800" kern="0" dirty="0" err="1">
                <a:solidFill>
                  <a:sysClr val="window" lastClr="FFFFFF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Courier New" panose="02070309020205020404" pitchFamily="49" charset="0"/>
              </a:rPr>
              <a:t>public.trades_topk_a</a:t>
            </a:r>
            <a:r>
              <a:rPr lang="en-US" altLang="ko-KR" sz="800" kern="0" dirty="0">
                <a:solidFill>
                  <a:sysClr val="window" lastClr="FFFFFF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Courier New" panose="02070309020205020404" pitchFamily="49" charset="0"/>
              </a:rPr>
              <a:t> (</a:t>
            </a:r>
            <a:r>
              <a:rPr lang="en-US" altLang="ko-KR" sz="800" b="1" kern="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Courier New" panose="02070309020205020404" pitchFamily="49" charset="0"/>
              </a:rPr>
              <a:t>Rewritten TOPK</a:t>
            </a:r>
            <a:r>
              <a:rPr lang="en-US" altLang="ko-KR" sz="800" kern="0" dirty="0">
                <a:solidFill>
                  <a:sysClr val="window" lastClr="FFFFFF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Courier New" panose="02070309020205020404" pitchFamily="49" charset="0"/>
              </a:rPr>
              <a:t>) [Cost: 1, Rows: 3 ] (PATH ID: 2)</a:t>
            </a:r>
          </a:p>
          <a:p>
            <a:pPr lvl="0">
              <a:lnSpc>
                <a:spcPts val="12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Courier New" panose="02070309020205020404" pitchFamily="49" charset="0"/>
              </a:rPr>
              <a:t> | | |      Projection</a:t>
            </a:r>
            <a:r>
              <a:rPr lang="en-US" altLang="ko-KR" sz="800" b="1" kern="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Courier New" panose="02070309020205020404" pitchFamily="49" charset="0"/>
              </a:rPr>
              <a:t>: </a:t>
            </a:r>
            <a:r>
              <a:rPr lang="en-US" altLang="ko-KR" sz="800" b="1" kern="0" dirty="0" err="1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Courier New" panose="02070309020205020404" pitchFamily="49" charset="0"/>
              </a:rPr>
              <a:t>public.trades_topk_a</a:t>
            </a:r>
            <a:endParaRPr kumimoji="0" lang="en-US" altLang="ko-KR" sz="8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돋움체" panose="020B0609000101010101" pitchFamily="49" charset="-127"/>
              <a:ea typeface="돋움체" panose="020B0609000101010101" pitchFamily="49" charset="-127"/>
              <a:cs typeface="Courier New" panose="02070309020205020404" pitchFamily="49" charset="0"/>
            </a:endParaRPr>
          </a:p>
        </p:txBody>
      </p:sp>
      <p:sp>
        <p:nvSpPr>
          <p:cNvPr id="12" name="말풍선: 사각형 22">
            <a:extLst>
              <a:ext uri="{FF2B5EF4-FFF2-40B4-BE49-F238E27FC236}">
                <a16:creationId xmlns:a16="http://schemas.microsoft.com/office/drawing/2014/main" id="{00057646-3484-4FEE-9CF3-0EF9E08CF118}"/>
              </a:ext>
            </a:extLst>
          </p:cNvPr>
          <p:cNvSpPr/>
          <p:nvPr/>
        </p:nvSpPr>
        <p:spPr>
          <a:xfrm>
            <a:off x="5231904" y="5714242"/>
            <a:ext cx="2159000" cy="122441"/>
          </a:xfrm>
          <a:prstGeom prst="wedgeRectCallout">
            <a:avLst>
              <a:gd name="adj1" fmla="val -61377"/>
              <a:gd name="adj2" fmla="val 4950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>
                <a:solidFill>
                  <a:schemeClr val="bg1"/>
                </a:solidFill>
              </a:rPr>
              <a:t>Vertica 9.3 </a:t>
            </a:r>
            <a:r>
              <a:rPr lang="ko-KR" altLang="en-US" sz="700" dirty="0">
                <a:solidFill>
                  <a:schemeClr val="bg1"/>
                </a:solidFill>
              </a:rPr>
              <a:t>이후 부터 </a:t>
            </a:r>
            <a:r>
              <a:rPr lang="en-US" altLang="ko-KR" sz="700" dirty="0">
                <a:solidFill>
                  <a:schemeClr val="bg1"/>
                </a:solidFill>
              </a:rPr>
              <a:t>UPDATE/DELETE/MERGE </a:t>
            </a:r>
            <a:r>
              <a:rPr lang="ko-KR" altLang="en-US" sz="700" dirty="0">
                <a:solidFill>
                  <a:schemeClr val="bg1"/>
                </a:solidFill>
              </a:rPr>
              <a:t>가능</a:t>
            </a:r>
          </a:p>
        </p:txBody>
      </p:sp>
    </p:spTree>
    <p:extLst>
      <p:ext uri="{BB962C8B-B14F-4D97-AF65-F5344CB8AC3E}">
        <p14:creationId xmlns:p14="http://schemas.microsoft.com/office/powerpoint/2010/main" val="35529829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DA4943-22E4-4195-85DF-26ECE894C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How to define segment keys and sort order for projection</a:t>
            </a:r>
            <a:endParaRPr lang="ko-KR" altLang="en-US" sz="28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AE53257-5D10-41B0-8FE8-32EFCEF684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E54087E-663E-4A25-81E5-5156384F7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787" y="1196752"/>
            <a:ext cx="10311765" cy="5231974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sz="1200" dirty="0"/>
              <a:t>Projection</a:t>
            </a:r>
            <a:r>
              <a:rPr lang="ko-KR" altLang="en-US" sz="1200" dirty="0"/>
              <a:t>의 </a:t>
            </a:r>
            <a:r>
              <a:rPr lang="en-US" altLang="ko-KR" sz="1200" dirty="0"/>
              <a:t>Segment </a:t>
            </a:r>
            <a:r>
              <a:rPr lang="ko-KR" altLang="en-US" sz="1200" dirty="0"/>
              <a:t>컬럼은 </a:t>
            </a:r>
            <a:r>
              <a:rPr lang="en-US" altLang="ko-KR" sz="1200" dirty="0"/>
              <a:t>Data Skew </a:t>
            </a:r>
            <a:r>
              <a:rPr lang="ko-KR" altLang="en-US" sz="1200" dirty="0"/>
              <a:t>가 </a:t>
            </a:r>
            <a:r>
              <a:rPr lang="en-US" altLang="ko-KR" sz="1200" dirty="0"/>
              <a:t>10% </a:t>
            </a:r>
            <a:r>
              <a:rPr lang="ko-KR" altLang="en-US" sz="1200" dirty="0"/>
              <a:t>이상 발생하지 않고</a:t>
            </a:r>
            <a:r>
              <a:rPr lang="en-US" altLang="ko-KR" sz="1200" dirty="0"/>
              <a:t>, </a:t>
            </a:r>
            <a:r>
              <a:rPr lang="ko-KR" altLang="en-US" sz="1200" dirty="0"/>
              <a:t>빈번하게 조인에 참여하는 최소화된 컬럼들만 기술</a:t>
            </a:r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Projection</a:t>
            </a:r>
            <a:r>
              <a:rPr lang="ko-KR" altLang="en-US" sz="1200" dirty="0"/>
              <a:t>의 </a:t>
            </a:r>
            <a:r>
              <a:rPr lang="en-US" altLang="ko-KR" sz="1200" dirty="0"/>
              <a:t>order by </a:t>
            </a:r>
            <a:r>
              <a:rPr lang="ko-KR" altLang="en-US" sz="1200" dirty="0"/>
              <a:t>컬럼은 </a:t>
            </a:r>
            <a:r>
              <a:rPr lang="en-US" altLang="ko-KR" sz="1200" dirty="0"/>
              <a:t>segment </a:t>
            </a:r>
            <a:r>
              <a:rPr lang="ko-KR" altLang="en-US" sz="1200" dirty="0"/>
              <a:t>컬럼과 기타 빈번하게 조인에 참여하는 컬럼으로 구성</a:t>
            </a:r>
            <a:endParaRPr lang="en-US" altLang="ko-KR" sz="1200" dirty="0"/>
          </a:p>
          <a:p>
            <a:r>
              <a:rPr lang="ko-KR" altLang="en-US" sz="1200" dirty="0"/>
              <a:t>테이블의 파티션 컬럼은 </a:t>
            </a:r>
            <a:r>
              <a:rPr lang="en-US" altLang="ko-KR" sz="1200" dirty="0"/>
              <a:t>Projection</a:t>
            </a:r>
            <a:r>
              <a:rPr lang="ko-KR" altLang="en-US" sz="1200" dirty="0"/>
              <a:t>의 </a:t>
            </a:r>
            <a:r>
              <a:rPr lang="en-US" altLang="ko-KR" sz="1200" dirty="0"/>
              <a:t>order by </a:t>
            </a:r>
            <a:r>
              <a:rPr lang="ko-KR" altLang="en-US" sz="1200" dirty="0"/>
              <a:t>컬럼에서 제외되어도 무방</a:t>
            </a:r>
            <a:r>
              <a:rPr lang="en-US" altLang="ko-KR" sz="1200" dirty="0"/>
              <a:t>(Partition </a:t>
            </a:r>
            <a:r>
              <a:rPr lang="en-US" altLang="ko-KR" sz="1200" dirty="0" err="1"/>
              <a:t>Prunning</a:t>
            </a:r>
            <a:r>
              <a:rPr lang="en-US" altLang="ko-KR" sz="1200" dirty="0"/>
              <a:t>) </a:t>
            </a:r>
            <a:r>
              <a:rPr lang="ko-KR" altLang="en-US" sz="1200" dirty="0"/>
              <a:t>하나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리커버리시</a:t>
            </a:r>
            <a:r>
              <a:rPr lang="ko-KR" altLang="en-US" sz="1200" dirty="0"/>
              <a:t> 효율적인 </a:t>
            </a:r>
            <a:r>
              <a:rPr lang="en-US" altLang="ko-KR" sz="1200" dirty="0"/>
              <a:t>replay delete</a:t>
            </a:r>
            <a:r>
              <a:rPr lang="ko-KR" altLang="en-US" sz="1200" dirty="0"/>
              <a:t>를 위해 </a:t>
            </a:r>
            <a:r>
              <a:rPr lang="en-US" altLang="ko-KR" sz="1200" dirty="0"/>
              <a:t>order by </a:t>
            </a:r>
            <a:r>
              <a:rPr lang="ko-KR" altLang="en-US" sz="1200" dirty="0"/>
              <a:t>컬럼의 마지막에 구성</a:t>
            </a:r>
            <a:r>
              <a:rPr lang="en-US" altLang="ko-KR" sz="1200" dirty="0"/>
              <a:t>, </a:t>
            </a:r>
            <a:endParaRPr lang="ko-KR" altLang="en-US" sz="120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127F3FC-AEF3-4E87-96F0-B330D9C024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쿼리 성능 최적화</a:t>
            </a:r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BBE54CC0-0460-49D7-8348-1302D3A0C75E}"/>
              </a:ext>
            </a:extLst>
          </p:cNvPr>
          <p:cNvSpPr/>
          <p:nvPr/>
        </p:nvSpPr>
        <p:spPr>
          <a:xfrm>
            <a:off x="1210694" y="1423409"/>
            <a:ext cx="10034519" cy="4381855"/>
          </a:xfrm>
          <a:prstGeom prst="roundRect">
            <a:avLst>
              <a:gd name="adj" fmla="val 3491"/>
            </a:avLst>
          </a:prstGeom>
          <a:solidFill>
            <a:sysClr val="window" lastClr="FFFFFF">
              <a:lumMod val="65000"/>
            </a:sysClr>
          </a:solidFill>
          <a:ln w="952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t"/>
          <a:lstStyle/>
          <a:p>
            <a:pPr lvl="0">
              <a:lnSpc>
                <a:spcPts val="11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-- skew </a:t>
            </a:r>
            <a:r>
              <a:rPr lang="ko-KR" altLang="en-US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여부 사전 확인</a:t>
            </a:r>
            <a:endParaRPr lang="en-US" altLang="ko-KR" sz="800" kern="0" dirty="0">
              <a:solidFill>
                <a:sysClr val="window" lastClr="FFFFFF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0">
              <a:lnSpc>
                <a:spcPts val="11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select  </a:t>
            </a:r>
            <a:r>
              <a:rPr lang="en-US" altLang="ko-KR" sz="800" kern="0" dirty="0" err="1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node_name</a:t>
            </a: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count(*)</a:t>
            </a:r>
          </a:p>
          <a:p>
            <a:pPr lvl="0">
              <a:lnSpc>
                <a:spcPts val="11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from</a:t>
            </a:r>
          </a:p>
          <a:p>
            <a:pPr lvl="0">
              <a:lnSpc>
                <a:spcPts val="11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(</a:t>
            </a:r>
          </a:p>
          <a:p>
            <a:pPr lvl="0">
              <a:lnSpc>
                <a:spcPts val="11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   select  case</a:t>
            </a:r>
          </a:p>
          <a:p>
            <a:pPr lvl="0">
              <a:lnSpc>
                <a:spcPts val="11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               when </a:t>
            </a:r>
            <a:r>
              <a:rPr lang="en-US" altLang="ko-KR" sz="800" kern="0" dirty="0" err="1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hash_val</a:t>
            </a: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&gt; 4294967295 then 0</a:t>
            </a:r>
          </a:p>
          <a:p>
            <a:pPr lvl="0">
              <a:lnSpc>
                <a:spcPts val="11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               else </a:t>
            </a:r>
            <a:r>
              <a:rPr lang="en-US" altLang="ko-KR" sz="800" kern="0" dirty="0" err="1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hash_val</a:t>
            </a:r>
            <a:endParaRPr lang="en-US" altLang="ko-KR" sz="800" kern="0" dirty="0">
              <a:solidFill>
                <a:sysClr val="window" lastClr="FFFFFF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0">
              <a:lnSpc>
                <a:spcPts val="11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           end </a:t>
            </a:r>
            <a:r>
              <a:rPr lang="en-US" altLang="ko-KR" sz="800" kern="0" dirty="0" err="1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hash_val</a:t>
            </a:r>
            <a:endParaRPr lang="en-US" altLang="ko-KR" sz="800" kern="0" dirty="0">
              <a:solidFill>
                <a:sysClr val="window" lastClr="FFFFFF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0">
              <a:lnSpc>
                <a:spcPts val="11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   from    (select  hash(</a:t>
            </a:r>
            <a:r>
              <a:rPr lang="en-US" altLang="ko-KR" sz="800" kern="0" dirty="0" err="1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i_rec_start_date</a:t>
            </a: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 &amp; 4294967295 </a:t>
            </a:r>
            <a:r>
              <a:rPr lang="en-US" altLang="ko-KR" sz="800" kern="0" dirty="0" err="1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hash_val</a:t>
            </a: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-- </a:t>
            </a:r>
            <a:r>
              <a:rPr lang="ko-KR" altLang="en-US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대상 컬럼명을 </a:t>
            </a: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hash</a:t>
            </a:r>
            <a:r>
              <a:rPr lang="ko-KR" altLang="en-US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함수안에 기술</a:t>
            </a: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pPr lvl="0">
              <a:lnSpc>
                <a:spcPts val="11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            from item –- </a:t>
            </a:r>
            <a:r>
              <a:rPr lang="ko-KR" altLang="en-US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대상 테이블 명</a:t>
            </a:r>
            <a:endParaRPr lang="en-US" altLang="ko-KR" sz="800" kern="0" dirty="0">
              <a:solidFill>
                <a:sysClr val="window" lastClr="FFFFFF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0">
              <a:lnSpc>
                <a:spcPts val="11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           )   v</a:t>
            </a:r>
          </a:p>
          <a:p>
            <a:pPr lvl="0">
              <a:lnSpc>
                <a:spcPts val="11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)   main</a:t>
            </a:r>
          </a:p>
          <a:p>
            <a:pPr lvl="0">
              <a:lnSpc>
                <a:spcPts val="11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,   (</a:t>
            </a:r>
          </a:p>
          <a:p>
            <a:pPr lvl="0">
              <a:lnSpc>
                <a:spcPts val="11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   select  distinct</a:t>
            </a:r>
          </a:p>
          <a:p>
            <a:pPr lvl="0">
              <a:lnSpc>
                <a:spcPts val="11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           </a:t>
            </a:r>
            <a:r>
              <a:rPr lang="en-US" altLang="ko-KR" sz="800" kern="0" dirty="0" err="1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sc.node_name</a:t>
            </a:r>
            <a:endParaRPr lang="en-US" altLang="ko-KR" sz="800" kern="0" dirty="0">
              <a:solidFill>
                <a:sysClr val="window" lastClr="FFFFFF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0">
              <a:lnSpc>
                <a:spcPts val="11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       ,   case</a:t>
            </a:r>
          </a:p>
          <a:p>
            <a:pPr>
              <a:lnSpc>
                <a:spcPts val="11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                        when </a:t>
            </a:r>
            <a:r>
              <a:rPr lang="en-US" altLang="ko-KR" sz="800" kern="0" dirty="0" err="1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segment_lower_bound</a:t>
            </a: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&gt; (4294967295-1) then 0</a:t>
            </a:r>
          </a:p>
          <a:p>
            <a:pPr>
              <a:lnSpc>
                <a:spcPts val="11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                        else </a:t>
            </a:r>
            <a:r>
              <a:rPr lang="en-US" altLang="ko-KR" sz="800" kern="0" dirty="0" err="1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segment_lower_bound</a:t>
            </a:r>
            <a:endParaRPr lang="en-US" altLang="ko-KR" sz="800" kern="0" dirty="0">
              <a:solidFill>
                <a:sysClr val="window" lastClr="FFFFFF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lnSpc>
                <a:spcPts val="11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                    end </a:t>
            </a:r>
            <a:r>
              <a:rPr lang="en-US" altLang="ko-KR" sz="800" kern="0" dirty="0" err="1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lb</a:t>
            </a:r>
            <a:endParaRPr lang="en-US" altLang="ko-KR" sz="800" kern="0" dirty="0">
              <a:solidFill>
                <a:sysClr val="window" lastClr="FFFFFF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0">
              <a:lnSpc>
                <a:spcPts val="11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       ,   </a:t>
            </a:r>
            <a:r>
              <a:rPr lang="en-US" altLang="ko-KR" sz="800" kern="0" dirty="0" err="1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segment_upper_bound</a:t>
            </a: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800" kern="0" dirty="0" err="1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ub</a:t>
            </a:r>
            <a:endParaRPr lang="en-US" altLang="ko-KR" sz="800" kern="0" dirty="0">
              <a:solidFill>
                <a:sysClr val="window" lastClr="FFFFFF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0">
              <a:lnSpc>
                <a:spcPts val="11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   from    </a:t>
            </a:r>
            <a:r>
              <a:rPr lang="en-US" altLang="ko-KR" sz="800" kern="0" dirty="0" err="1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storage_containers</a:t>
            </a: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800" kern="0" dirty="0" err="1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sc</a:t>
            </a:r>
            <a:endParaRPr lang="en-US" altLang="ko-KR" sz="800" kern="0" dirty="0">
              <a:solidFill>
                <a:sysClr val="window" lastClr="FFFFFF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0">
              <a:lnSpc>
                <a:spcPts val="11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       ,   projections         p</a:t>
            </a:r>
          </a:p>
          <a:p>
            <a:pPr lvl="0">
              <a:lnSpc>
                <a:spcPts val="11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   where   1=1</a:t>
            </a:r>
          </a:p>
          <a:p>
            <a:pPr lvl="0">
              <a:lnSpc>
                <a:spcPts val="11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   and     </a:t>
            </a:r>
            <a:r>
              <a:rPr lang="en-US" altLang="ko-KR" sz="800" kern="0" dirty="0" err="1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p.projection_id</a:t>
            </a: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= </a:t>
            </a:r>
            <a:r>
              <a:rPr lang="en-US" altLang="ko-KR" sz="800" kern="0" dirty="0" err="1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sc.projection_id</a:t>
            </a:r>
            <a:endParaRPr lang="en-US" altLang="ko-KR" sz="800" kern="0" dirty="0">
              <a:solidFill>
                <a:sysClr val="window" lastClr="FFFFFF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0">
              <a:lnSpc>
                <a:spcPts val="11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   and     </a:t>
            </a:r>
            <a:r>
              <a:rPr lang="en-US" altLang="ko-KR" sz="800" kern="0" dirty="0" err="1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p.projection_name</a:t>
            </a: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like '%</a:t>
            </a:r>
            <a:r>
              <a:rPr lang="en-US" altLang="ko-KR" sz="800" kern="0" dirty="0" err="1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b0</a:t>
            </a: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</a:p>
          <a:p>
            <a:pPr lvl="0">
              <a:lnSpc>
                <a:spcPts val="11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   and     </a:t>
            </a:r>
            <a:r>
              <a:rPr lang="en-US" altLang="ko-KR" sz="800" kern="0" dirty="0" err="1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anchor_table_name</a:t>
            </a: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= ‘item’ -– </a:t>
            </a:r>
            <a:r>
              <a:rPr lang="ko-KR" altLang="en-US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대상 테이블 명</a:t>
            </a:r>
            <a:endParaRPr lang="en-US" altLang="ko-KR" sz="800" kern="0" dirty="0">
              <a:solidFill>
                <a:sysClr val="window" lastClr="FFFFFF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0">
              <a:lnSpc>
                <a:spcPts val="11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)   r</a:t>
            </a:r>
          </a:p>
          <a:p>
            <a:pPr lvl="0">
              <a:lnSpc>
                <a:spcPts val="11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where   1=1</a:t>
            </a:r>
          </a:p>
          <a:p>
            <a:pPr lvl="0">
              <a:lnSpc>
                <a:spcPts val="11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and     </a:t>
            </a:r>
            <a:r>
              <a:rPr lang="en-US" altLang="ko-KR" sz="800" kern="0" dirty="0" err="1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hash_val</a:t>
            </a: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between </a:t>
            </a:r>
            <a:r>
              <a:rPr lang="en-US" altLang="ko-KR" sz="800" kern="0" dirty="0" err="1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lb</a:t>
            </a: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and </a:t>
            </a:r>
            <a:r>
              <a:rPr lang="en-US" altLang="ko-KR" sz="800" kern="0" dirty="0" err="1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ub</a:t>
            </a:r>
            <a:endParaRPr lang="en-US" altLang="ko-KR" sz="800" kern="0" dirty="0">
              <a:solidFill>
                <a:sysClr val="window" lastClr="FFFFFF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0">
              <a:lnSpc>
                <a:spcPts val="1100"/>
              </a:lnSpc>
              <a:defRPr/>
            </a:pPr>
            <a:r>
              <a:rPr lang="en-US" altLang="ko-KR" sz="800" kern="0" dirty="0">
                <a:solidFill>
                  <a:sysClr val="window" lastClr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group by 1 order by 1 ;</a:t>
            </a:r>
            <a:endParaRPr kumimoji="0" lang="en-US" altLang="ko-KR" sz="800" b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6636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07367" y="1093961"/>
            <a:ext cx="10579609" cy="1038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000"/>
              <a:t>데이터 삭제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527272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데이터 삭제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데이터 삭제</a:t>
            </a:r>
            <a:endParaRPr lang="ko-KR" altLang="en-US" dirty="0"/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 err="1"/>
              <a:t>버티카</a:t>
            </a:r>
            <a:r>
              <a:rPr lang="ko-KR" altLang="en-US" sz="1100" b="1" dirty="0"/>
              <a:t> 데이터 삭제 아키텍처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Delete Vector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실제 데이터가 곧바로 삭제되는 것이 아니라 삭제된 레코드의 위치를 표시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삭제할 레코드 위치와 </a:t>
            </a:r>
            <a:r>
              <a:rPr lang="en-US" altLang="ko-KR" sz="1100" dirty="0"/>
              <a:t>epoch </a:t>
            </a:r>
            <a:r>
              <a:rPr lang="ko-KR" altLang="en-US" sz="1100" dirty="0"/>
              <a:t>저장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쿼리 수행 시에 조회 결과는 저장된 데이터와 </a:t>
            </a:r>
            <a:r>
              <a:rPr lang="en-US" altLang="ko-KR" sz="1100" dirty="0"/>
              <a:t>delete vector</a:t>
            </a:r>
            <a:r>
              <a:rPr lang="ko-KR" altLang="en-US" sz="1100" dirty="0"/>
              <a:t>를 </a:t>
            </a:r>
            <a:r>
              <a:rPr lang="ko-KR" altLang="en-US" sz="1100" dirty="0" err="1"/>
              <a:t>머지하여</a:t>
            </a:r>
            <a:r>
              <a:rPr lang="ko-KR" altLang="en-US" sz="1100" dirty="0"/>
              <a:t> 삭제 표시된 레코드를 제외하고 출력</a:t>
            </a:r>
            <a:endParaRPr lang="en-US" altLang="ko-KR" sz="11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데이터 삭제 성능 고려사항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데이터 삭제 성능은 </a:t>
            </a:r>
            <a:r>
              <a:rPr lang="ko-KR" altLang="en-US" sz="1100" dirty="0" err="1"/>
              <a:t>프로젝션</a:t>
            </a:r>
            <a:r>
              <a:rPr lang="ko-KR" altLang="en-US" sz="1100" dirty="0"/>
              <a:t> 설계에 의해 크게 차이가 발생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삭제 조건에 사용되는 </a:t>
            </a:r>
            <a:r>
              <a:rPr lang="ko-KR" altLang="en-US" sz="1100" dirty="0" err="1"/>
              <a:t>컬럼은</a:t>
            </a:r>
            <a:r>
              <a:rPr lang="ko-KR" altLang="en-US" sz="1100" dirty="0"/>
              <a:t> 모든 </a:t>
            </a:r>
            <a:r>
              <a:rPr lang="ko-KR" altLang="en-US" sz="1100" dirty="0" err="1"/>
              <a:t>프로젝션에</a:t>
            </a:r>
            <a:r>
              <a:rPr lang="ko-KR" altLang="en-US" sz="1100" dirty="0"/>
              <a:t> 포함되어 있어야 한다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개별 레코드를 구분하기 용이한 높은 </a:t>
            </a:r>
            <a:r>
              <a:rPr lang="en-US" altLang="ko-KR" sz="1100" dirty="0"/>
              <a:t>cardinality</a:t>
            </a:r>
            <a:r>
              <a:rPr lang="ko-KR" altLang="en-US" sz="1100" dirty="0"/>
              <a:t>를 가진 </a:t>
            </a:r>
            <a:r>
              <a:rPr lang="ko-KR" altLang="en-US" sz="1100" dirty="0" err="1"/>
              <a:t>컬럼은</a:t>
            </a:r>
            <a:r>
              <a:rPr lang="ko-KR" altLang="en-US" sz="1100" dirty="0"/>
              <a:t> </a:t>
            </a:r>
            <a:r>
              <a:rPr lang="ko-KR" altLang="en-US" sz="1100" dirty="0" err="1"/>
              <a:t>프로젝션</a:t>
            </a:r>
            <a:r>
              <a:rPr lang="ko-KR" altLang="en-US" sz="1100" dirty="0"/>
              <a:t> </a:t>
            </a:r>
            <a:r>
              <a:rPr lang="en-US" altLang="ko-KR" sz="1100" dirty="0"/>
              <a:t>ORDER BY </a:t>
            </a:r>
            <a:r>
              <a:rPr lang="ko-KR" altLang="en-US" sz="1100" dirty="0" err="1"/>
              <a:t>컬럼의</a:t>
            </a:r>
            <a:r>
              <a:rPr lang="ko-KR" altLang="en-US" sz="1100" dirty="0"/>
              <a:t> 마지막 부분에 포함시킨다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생성된 </a:t>
            </a:r>
            <a:r>
              <a:rPr lang="ko-KR" altLang="en-US" sz="1100" dirty="0" err="1"/>
              <a:t>프로젝션이</a:t>
            </a:r>
            <a:r>
              <a:rPr lang="ko-KR" altLang="en-US" sz="1100" dirty="0"/>
              <a:t> 데이터 삭제 성능에 영향을 미칠 것인지 미리 예상해 볼 수 있는 관리 함수를 실행해 볼 수 있다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Target</a:t>
            </a:r>
            <a:r>
              <a:rPr lang="ko-KR" altLang="en-US" sz="1100" dirty="0"/>
              <a:t>은 테이블 이름이나 개별 </a:t>
            </a:r>
            <a:r>
              <a:rPr lang="ko-KR" altLang="en-US" sz="1100" dirty="0" err="1"/>
              <a:t>프로젝션</a:t>
            </a:r>
            <a:r>
              <a:rPr lang="ko-KR" altLang="en-US" sz="1100" dirty="0"/>
              <a:t> 이름을 넣을 수 있다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Delete vector</a:t>
            </a:r>
            <a:r>
              <a:rPr lang="ko-KR" altLang="en-US" sz="1100" dirty="0"/>
              <a:t>가 커지면 쿼리 성능에 영향을 미치게 된다</a:t>
            </a:r>
            <a:r>
              <a:rPr lang="en-US" altLang="ko-KR" sz="1100" dirty="0"/>
              <a:t>. 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모니터링 </a:t>
            </a:r>
            <a:r>
              <a:rPr lang="en-US" altLang="ko-KR" sz="1100" dirty="0"/>
              <a:t>: DELETE_VECTOR </a:t>
            </a:r>
            <a:r>
              <a:rPr lang="ko-KR" altLang="en-US" sz="1100" dirty="0"/>
              <a:t>시스템 테이블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Delete Vector </a:t>
            </a:r>
            <a:r>
              <a:rPr lang="ko-KR" altLang="en-US" sz="1100" dirty="0"/>
              <a:t>제거 </a:t>
            </a:r>
            <a:r>
              <a:rPr lang="en-US" altLang="ko-KR" sz="1100" dirty="0"/>
              <a:t>: purge </a:t>
            </a:r>
            <a:r>
              <a:rPr lang="ko-KR" altLang="en-US" sz="1100" dirty="0"/>
              <a:t>작업</a:t>
            </a: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altLang="ko-KR" sz="1100" dirty="0"/>
              <a:t>Tuple Mover</a:t>
            </a:r>
            <a:r>
              <a:rPr lang="ko-KR" altLang="en-US" sz="1100" dirty="0"/>
              <a:t>의 </a:t>
            </a:r>
            <a:r>
              <a:rPr lang="en-US" altLang="ko-KR" sz="1100" dirty="0" err="1"/>
              <a:t>Mergeout</a:t>
            </a:r>
            <a:r>
              <a:rPr lang="en-US" altLang="ko-KR" sz="1100" dirty="0"/>
              <a:t> task</a:t>
            </a:r>
            <a:r>
              <a:rPr lang="ko-KR" altLang="en-US" sz="1100" dirty="0"/>
              <a:t>에서 테이블의 </a:t>
            </a:r>
            <a:r>
              <a:rPr lang="en-US" altLang="ko-KR" sz="1100" dirty="0"/>
              <a:t>delete vector</a:t>
            </a:r>
            <a:r>
              <a:rPr lang="ko-KR" altLang="en-US" sz="1100" dirty="0"/>
              <a:t>가 전체 데이터의 </a:t>
            </a:r>
            <a:r>
              <a:rPr lang="en-US" altLang="ko-KR" sz="1100" dirty="0"/>
              <a:t>20%</a:t>
            </a:r>
            <a:r>
              <a:rPr lang="ko-KR" altLang="en-US" sz="1100" dirty="0"/>
              <a:t>를 넘어서면 자동으로 </a:t>
            </a:r>
            <a:r>
              <a:rPr lang="en-US" altLang="ko-KR" sz="1100" dirty="0"/>
              <a:t>purge</a:t>
            </a:r>
            <a:r>
              <a:rPr lang="ko-KR" altLang="en-US" sz="1100" dirty="0"/>
              <a:t>를 수행한다</a:t>
            </a:r>
            <a:r>
              <a:rPr lang="en-US" altLang="ko-KR" sz="1100" dirty="0"/>
              <a:t>.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ko-KR" altLang="en-US" sz="1100" dirty="0"/>
              <a:t>개별 </a:t>
            </a:r>
            <a:r>
              <a:rPr lang="en-US" altLang="ko-KR" sz="1100" dirty="0"/>
              <a:t>delete </a:t>
            </a:r>
            <a:r>
              <a:rPr lang="ko-KR" altLang="en-US" sz="1100" dirty="0"/>
              <a:t>구문 보다는 하나의 </a:t>
            </a:r>
            <a:r>
              <a:rPr lang="en-US" altLang="ko-KR" sz="1100" dirty="0"/>
              <a:t>delete </a:t>
            </a:r>
            <a:r>
              <a:rPr lang="ko-KR" altLang="en-US" sz="1100" dirty="0"/>
              <a:t>문장으로 여러 레코드를 동시에 삭제할 수 있도록 작성하는 것이 바람직하다</a:t>
            </a:r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모니터링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데이터 삭제 전 </a:t>
            </a:r>
            <a:r>
              <a:rPr lang="ko-KR" altLang="en-US" sz="1100" dirty="0" err="1"/>
              <a:t>프로젝션의</a:t>
            </a:r>
            <a:r>
              <a:rPr lang="ko-KR" altLang="en-US" sz="1100" dirty="0"/>
              <a:t> 삭제 성능 적합 여부 확인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디스크에 기록된 삭제 처리된 레코드 수 확인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ko-KR" altLang="en-US" sz="1100" dirty="0"/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5"/>
          <p:cNvSpPr/>
          <p:nvPr/>
        </p:nvSpPr>
        <p:spPr bwMode="auto">
          <a:xfrm>
            <a:off x="998353" y="3717032"/>
            <a:ext cx="4536504" cy="354182"/>
          </a:xfrm>
          <a:prstGeom prst="rect">
            <a:avLst/>
          </a:prstGeom>
          <a:gradFill rotWithShape="1">
            <a:gsLst>
              <a:gs pos="0">
                <a:srgbClr val="87898B">
                  <a:shade val="51000"/>
                  <a:satMod val="130000"/>
                </a:srgbClr>
              </a:gs>
              <a:gs pos="80000">
                <a:srgbClr val="87898B">
                  <a:shade val="93000"/>
                  <a:satMod val="130000"/>
                </a:srgbClr>
              </a:gs>
              <a:gs pos="100000">
                <a:srgbClr val="87898B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87898B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+mn-cs"/>
              </a:rPr>
              <a:t>EVALUATE_DELETE_PERFORMANCE ( 'target' )</a:t>
            </a:r>
          </a:p>
        </p:txBody>
      </p:sp>
      <p:sp>
        <p:nvSpPr>
          <p:cNvPr id="41" name="Rectangle 6"/>
          <p:cNvSpPr/>
          <p:nvPr/>
        </p:nvSpPr>
        <p:spPr bwMode="auto">
          <a:xfrm>
            <a:off x="998353" y="5195948"/>
            <a:ext cx="4536504" cy="648072"/>
          </a:xfrm>
          <a:prstGeom prst="rect">
            <a:avLst/>
          </a:prstGeom>
          <a:gradFill rotWithShape="1">
            <a:gsLst>
              <a:gs pos="0">
                <a:srgbClr val="87898B">
                  <a:shade val="51000"/>
                  <a:satMod val="130000"/>
                </a:srgbClr>
              </a:gs>
              <a:gs pos="80000">
                <a:srgbClr val="87898B">
                  <a:shade val="93000"/>
                  <a:satMod val="130000"/>
                </a:srgbClr>
              </a:gs>
              <a:gs pos="100000">
                <a:srgbClr val="87898B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87898B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+mn-cs"/>
              </a:rPr>
              <a:t>PURGE();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+mn-cs"/>
              </a:rPr>
              <a:t>PURGE_TABLE(‘</a:t>
            </a:r>
            <a:r>
              <a:rPr kumimoji="0" lang="en-US" sz="900" b="1" i="0" u="none" strike="noStrike" kern="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+mn-cs"/>
              </a:rPr>
              <a:t>table_name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+mn-cs"/>
              </a:rPr>
              <a:t>’);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+mn-cs"/>
              </a:rPr>
              <a:t>PURGE_PROJECTION(‘</a:t>
            </a:r>
            <a:r>
              <a:rPr kumimoji="0" lang="en-US" sz="900" b="1" i="0" u="none" strike="noStrike" kern="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+mn-cs"/>
              </a:rPr>
              <a:t>projection_name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+mn-cs"/>
              </a:rPr>
              <a:t>’);</a:t>
            </a:r>
          </a:p>
        </p:txBody>
      </p:sp>
      <p:sp>
        <p:nvSpPr>
          <p:cNvPr id="42" name="Rounded Rectangle 7"/>
          <p:cNvSpPr/>
          <p:nvPr/>
        </p:nvSpPr>
        <p:spPr>
          <a:xfrm>
            <a:off x="6454775" y="1700213"/>
            <a:ext cx="5057527" cy="864691"/>
          </a:xfrm>
          <a:prstGeom prst="roundRect">
            <a:avLst>
              <a:gd name="adj" fmla="val 7752"/>
            </a:avLst>
          </a:prstGeom>
          <a:solidFill>
            <a:sysClr val="window" lastClr="FFFFFF">
              <a:lumMod val="65000"/>
            </a:sysClr>
          </a:solidFill>
          <a:ln w="952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SELECT count(*) 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  FROM &lt;projection&gt; 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 WHERE &lt;the predicate in the delete statement&gt;;</a:t>
            </a:r>
          </a:p>
        </p:txBody>
      </p:sp>
      <p:sp>
        <p:nvSpPr>
          <p:cNvPr id="43" name="Rounded Rectangle 8"/>
          <p:cNvSpPr/>
          <p:nvPr/>
        </p:nvSpPr>
        <p:spPr>
          <a:xfrm>
            <a:off x="6454775" y="2852341"/>
            <a:ext cx="5057527" cy="864691"/>
          </a:xfrm>
          <a:prstGeom prst="roundRect">
            <a:avLst>
              <a:gd name="adj" fmla="val 7752"/>
            </a:avLst>
          </a:prstGeom>
          <a:solidFill>
            <a:sysClr val="window" lastClr="FFFFFF">
              <a:lumMod val="65000"/>
            </a:sysClr>
          </a:solidFill>
          <a:ln w="952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SELECT </a:t>
            </a:r>
            <a:r>
              <a:rPr kumimoji="0" lang="en-US" altLang="ko-KR" sz="900" b="0" i="0" u="none" strike="noStrike" kern="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projection_name</a:t>
            </a: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, sum(</a:t>
            </a:r>
            <a:r>
              <a:rPr kumimoji="0" lang="en-US" altLang="ko-KR" sz="900" b="0" i="0" u="none" strike="noStrike" kern="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deleted_row_count</a:t>
            </a: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) 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  FROM </a:t>
            </a:r>
            <a:r>
              <a:rPr kumimoji="0" lang="en-US" altLang="ko-KR" sz="900" b="0" i="0" u="none" strike="noStrike" kern="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storage_containers</a:t>
            </a: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 GROUP BY </a:t>
            </a:r>
            <a:r>
              <a:rPr kumimoji="0" lang="en-US" altLang="ko-KR" sz="900" b="0" i="0" u="none" strike="noStrike" kern="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projection_name</a:t>
            </a: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44" name="Rounded Rectangle 11"/>
          <p:cNvSpPr/>
          <p:nvPr/>
        </p:nvSpPr>
        <p:spPr>
          <a:xfrm>
            <a:off x="9766820" y="3789040"/>
            <a:ext cx="1762677" cy="251801"/>
          </a:xfrm>
          <a:prstGeom prst="roundRect">
            <a:avLst/>
          </a:prstGeom>
          <a:solidFill>
            <a:schemeClr val="tx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+mn-cs"/>
              </a:rPr>
              <a:t>STORAGE_CONTAINERS</a:t>
            </a:r>
          </a:p>
        </p:txBody>
      </p:sp>
      <p:pic>
        <p:nvPicPr>
          <p:cNvPr id="45" name="Picture 12" descr="C:\Users\hongjon\Documents\Proposal\ICON\Common_Icons\Common_Icons\Magnifying_glass\Magnifying_glass_RGB\Magnifying_glass_RGB_blue_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3267" y="3825271"/>
            <a:ext cx="222460" cy="215570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46" name="Rounded Rectangle 15"/>
          <p:cNvSpPr/>
          <p:nvPr/>
        </p:nvSpPr>
        <p:spPr>
          <a:xfrm>
            <a:off x="3625118" y="4365104"/>
            <a:ext cx="2248637" cy="238770"/>
          </a:xfrm>
          <a:prstGeom prst="roundRect">
            <a:avLst/>
          </a:prstGeom>
          <a:solidFill>
            <a:schemeClr val="tx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+mn-cs"/>
              </a:rPr>
              <a:t>EVALUATE_DELETE_PERFORMANCE </a:t>
            </a:r>
          </a:p>
        </p:txBody>
      </p:sp>
      <p:pic>
        <p:nvPicPr>
          <p:cNvPr id="47" name="Picture 16" descr="C:\Users\hongjon\Documents\Proposal\ICON\Common_Icons\Common_Icons\Magnifying_glass\Magnifying_glass_RGB\Magnifying_glass_RGB_blue_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7127" y="4388303"/>
            <a:ext cx="222460" cy="215570"/>
          </a:xfrm>
          <a:prstGeom prst="rect">
            <a:avLst/>
          </a:prstGeom>
          <a:solidFill>
            <a:schemeClr val="tx2"/>
          </a:solidFill>
        </p:spPr>
      </p:pic>
      <p:grpSp>
        <p:nvGrpSpPr>
          <p:cNvPr id="5" name="그룹 4"/>
          <p:cNvGrpSpPr/>
          <p:nvPr/>
        </p:nvGrpSpPr>
        <p:grpSpPr>
          <a:xfrm>
            <a:off x="4439816" y="6395281"/>
            <a:ext cx="870532" cy="202071"/>
            <a:chOff x="5585508" y="6273544"/>
            <a:chExt cx="870532" cy="202071"/>
          </a:xfrm>
        </p:grpSpPr>
        <p:sp>
          <p:nvSpPr>
            <p:cNvPr id="48" name="Rounded Rectangle 17"/>
            <p:cNvSpPr/>
            <p:nvPr/>
          </p:nvSpPr>
          <p:spPr>
            <a:xfrm>
              <a:off x="5596577" y="6273544"/>
              <a:ext cx="859463" cy="202071"/>
            </a:xfrm>
            <a:prstGeom prst="roundRect">
              <a:avLst/>
            </a:prstGeom>
            <a:solidFill>
              <a:schemeClr val="tx2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cs typeface="+mn-cs"/>
                </a:rPr>
                <a:t>PURGE</a:t>
              </a:r>
            </a:p>
          </p:txBody>
        </p:sp>
        <p:pic>
          <p:nvPicPr>
            <p:cNvPr id="49" name="Picture 18" descr="C:\Users\hongjon\Documents\Proposal\ICON\Common_Icons\Common_Icons\Magnifying_glass\Magnifying_glass_RGB\Magnifying_glass_RGB_blue_NT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85508" y="6280340"/>
              <a:ext cx="222460" cy="172996"/>
            </a:xfrm>
            <a:prstGeom prst="rect">
              <a:avLst/>
            </a:prstGeom>
            <a:solidFill>
              <a:schemeClr val="tx2"/>
            </a:solidFill>
          </p:spPr>
        </p:pic>
      </p:grpSp>
    </p:spTree>
    <p:extLst>
      <p:ext uri="{BB962C8B-B14F-4D97-AF65-F5344CB8AC3E}">
        <p14:creationId xmlns:p14="http://schemas.microsoft.com/office/powerpoint/2010/main" val="331819921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07367" y="1093961"/>
            <a:ext cx="10579609" cy="1038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000"/>
              <a:t>기타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7218802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기타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기타</a:t>
            </a:r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Identifier(</a:t>
            </a:r>
            <a:r>
              <a:rPr lang="ko-KR" altLang="en-US" sz="1100" b="1" dirty="0" err="1"/>
              <a:t>식별자</a:t>
            </a:r>
            <a:r>
              <a:rPr lang="en-US" altLang="ko-KR" sz="1100" b="1" dirty="0"/>
              <a:t>)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schema, table, projection, column </a:t>
            </a:r>
            <a:r>
              <a:rPr lang="ko-KR" altLang="en-US" sz="1100" dirty="0"/>
              <a:t>명과 같은 객체의 </a:t>
            </a:r>
            <a:r>
              <a:rPr lang="ko-KR" altLang="en-US" sz="1100" dirty="0" err="1"/>
              <a:t>식별자는</a:t>
            </a:r>
            <a:r>
              <a:rPr lang="ko-KR" altLang="en-US" sz="1100" dirty="0"/>
              <a:t> 최대 </a:t>
            </a:r>
            <a:r>
              <a:rPr lang="en-US" altLang="ko-KR" sz="1100" dirty="0"/>
              <a:t>128byte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식별자의 </a:t>
            </a:r>
            <a:r>
              <a:rPr lang="ko-KR" altLang="en-US" sz="1100" dirty="0" err="1"/>
              <a:t>첫글자는</a:t>
            </a:r>
            <a:r>
              <a:rPr lang="ko-KR" altLang="en-US" sz="1100" dirty="0"/>
              <a:t> 알파벳 대소문자 및 </a:t>
            </a:r>
            <a:r>
              <a:rPr lang="en-US" altLang="ko-KR" sz="1100" dirty="0"/>
              <a:t>Underscore(_)</a:t>
            </a:r>
            <a:r>
              <a:rPr lang="ko-KR" altLang="en-US" sz="1100" dirty="0"/>
              <a:t>만 가능하고</a:t>
            </a:r>
            <a:r>
              <a:rPr lang="en-US" altLang="ko-KR" sz="1100" dirty="0"/>
              <a:t>, </a:t>
            </a:r>
            <a:r>
              <a:rPr lang="ko-KR" altLang="en-US" sz="1100" dirty="0"/>
              <a:t>이후에 문자는 알파벳 대소문자</a:t>
            </a:r>
            <a:r>
              <a:rPr lang="en-US" altLang="ko-KR" sz="1100" dirty="0"/>
              <a:t>, Underscore(_), </a:t>
            </a:r>
            <a:r>
              <a:rPr lang="ko-KR" altLang="en-US" sz="1100" dirty="0"/>
              <a:t>유니코드</a:t>
            </a:r>
            <a:r>
              <a:rPr lang="en-US" altLang="ko-KR" sz="1100" dirty="0"/>
              <a:t>, </a:t>
            </a:r>
            <a:r>
              <a:rPr lang="ko-KR" altLang="en-US" sz="1100" dirty="0"/>
              <a:t>숫자</a:t>
            </a:r>
            <a:r>
              <a:rPr lang="en-US" altLang="ko-KR" sz="1100" dirty="0"/>
              <a:t>, $ </a:t>
            </a:r>
            <a:r>
              <a:rPr lang="ko-KR" altLang="en-US" sz="1100" dirty="0"/>
              <a:t>문자 가능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 err="1"/>
              <a:t>식별자는</a:t>
            </a:r>
            <a:r>
              <a:rPr lang="ko-KR" altLang="en-US" sz="1100" dirty="0"/>
              <a:t> 대소 문자를 구분하지 않음</a:t>
            </a:r>
            <a:r>
              <a:rPr lang="en-US" altLang="ko-KR" sz="1100" dirty="0"/>
              <a:t>. (ABC, </a:t>
            </a:r>
            <a:r>
              <a:rPr lang="en-US" altLang="ko-KR" sz="1100" dirty="0" err="1"/>
              <a:t>ABc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Abc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aBC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abC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abc</a:t>
            </a:r>
            <a:r>
              <a:rPr lang="ko-KR" altLang="en-US" sz="1100" dirty="0"/>
              <a:t> 동일함</a:t>
            </a:r>
            <a:r>
              <a:rPr lang="en-US" altLang="ko-KR" sz="1100" dirty="0"/>
              <a:t>)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table naming - case sensitive(</a:t>
            </a:r>
            <a:r>
              <a:rPr lang="ko-KR" altLang="en-US" sz="1100" b="1" dirty="0"/>
              <a:t>대소문자 구분</a:t>
            </a:r>
            <a:r>
              <a:rPr lang="en-US" altLang="ko-KR" sz="1100" b="1" dirty="0"/>
              <a:t>)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schema, table, projection, column </a:t>
            </a:r>
            <a:r>
              <a:rPr lang="ko-KR" altLang="en-US" sz="1100" dirty="0"/>
              <a:t>명과 같은 객체의 </a:t>
            </a:r>
            <a:r>
              <a:rPr lang="ko-KR" altLang="en-US" sz="1100" dirty="0" err="1"/>
              <a:t>식별자는</a:t>
            </a:r>
            <a:r>
              <a:rPr lang="ko-KR" altLang="en-US" sz="1100" dirty="0"/>
              <a:t> 최대 </a:t>
            </a:r>
            <a:r>
              <a:rPr lang="en-US" altLang="ko-KR" sz="1100" dirty="0"/>
              <a:t>128byte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식별자의 </a:t>
            </a:r>
            <a:r>
              <a:rPr lang="ko-KR" altLang="en-US" sz="1100" dirty="0" err="1"/>
              <a:t>첫글자는</a:t>
            </a:r>
            <a:r>
              <a:rPr lang="ko-KR" altLang="en-US" sz="1100" dirty="0"/>
              <a:t> 알파벳 대소문자 및 </a:t>
            </a:r>
            <a:r>
              <a:rPr lang="en-US" altLang="ko-KR" sz="1100" dirty="0"/>
              <a:t>Underscore(_)</a:t>
            </a:r>
            <a:r>
              <a:rPr lang="ko-KR" altLang="en-US" sz="1100" dirty="0"/>
              <a:t>만 가능하고</a:t>
            </a:r>
            <a:r>
              <a:rPr lang="en-US" altLang="ko-KR" sz="1100" dirty="0"/>
              <a:t>, </a:t>
            </a:r>
            <a:r>
              <a:rPr lang="ko-KR" altLang="en-US" sz="1100" dirty="0"/>
              <a:t>이후에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 err="1"/>
              <a:t>형변환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 err="1"/>
              <a:t>Vertica</a:t>
            </a:r>
            <a:r>
              <a:rPr lang="ko-KR" altLang="en-US" sz="1100" dirty="0"/>
              <a:t>는 데이터 </a:t>
            </a:r>
            <a:r>
              <a:rPr lang="en-US" altLang="ko-KR" sz="1100" dirty="0"/>
              <a:t>TYPE</a:t>
            </a:r>
            <a:r>
              <a:rPr lang="ko-KR" altLang="en-US" sz="1100" dirty="0"/>
              <a:t>에 엄격하므로 명시적으로 </a:t>
            </a:r>
            <a:r>
              <a:rPr lang="ko-KR" altLang="en-US" sz="1100" dirty="0" err="1"/>
              <a:t>형변환을</a:t>
            </a:r>
            <a:r>
              <a:rPr lang="ko-KR" altLang="en-US" sz="1100" dirty="0"/>
              <a:t> 반드시 </a:t>
            </a:r>
            <a:r>
              <a:rPr lang="ko-KR" altLang="en-US" sz="1100" dirty="0" err="1"/>
              <a:t>해야함</a:t>
            </a:r>
            <a:r>
              <a:rPr lang="en-US" altLang="ko-KR" sz="1100" dirty="0"/>
              <a:t>.</a:t>
            </a:r>
          </a:p>
          <a:p>
            <a:pPr marL="228600" lvl="1" indent="0">
              <a:lnSpc>
                <a:spcPct val="100000"/>
              </a:lnSpc>
              <a:spcAft>
                <a:spcPts val="0"/>
              </a:spcAft>
              <a:buNone/>
            </a:pPr>
            <a:endParaRPr lang="en-US" altLang="ko-KR" sz="1100" dirty="0"/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null string </a:t>
            </a:r>
            <a:r>
              <a:rPr lang="en-US" altLang="ko-KR" sz="1100" b="1" dirty="0" err="1"/>
              <a:t>vs</a:t>
            </a:r>
            <a:r>
              <a:rPr lang="en-US" altLang="ko-KR" sz="1100" b="1" dirty="0"/>
              <a:t> null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공백</a:t>
            </a:r>
            <a:r>
              <a:rPr lang="en-US" altLang="ko-KR" sz="1100" dirty="0"/>
              <a:t>(null string)</a:t>
            </a:r>
            <a:r>
              <a:rPr lang="ko-KR" altLang="en-US" sz="1100" dirty="0"/>
              <a:t>과 </a:t>
            </a:r>
            <a:r>
              <a:rPr lang="en-US" altLang="ko-KR" sz="1100" dirty="0"/>
              <a:t>null</a:t>
            </a:r>
            <a:r>
              <a:rPr lang="ko-KR" altLang="en-US" sz="1100" dirty="0"/>
              <a:t>은 다름</a:t>
            </a:r>
            <a:r>
              <a:rPr lang="en-US" altLang="ko-KR" sz="1100" dirty="0"/>
              <a:t>.</a:t>
            </a:r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23392" y="3226011"/>
            <a:ext cx="5057527" cy="1499133"/>
          </a:xfrm>
          <a:prstGeom prst="roundRect">
            <a:avLst>
              <a:gd name="adj" fmla="val 11133"/>
            </a:avLst>
          </a:prstGeom>
          <a:solidFill>
            <a:sysClr val="window" lastClr="FFFFFF">
              <a:lumMod val="65000"/>
            </a:sysClr>
          </a:solidFill>
          <a:ln w="952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r>
              <a:rPr lang="en-US" altLang="ko-KR" sz="900" b="1" dirty="0">
                <a:solidFill>
                  <a:schemeClr val="bg1"/>
                </a:solidFill>
              </a:rPr>
              <a:t>CREATE TABLE Test ( a </a:t>
            </a:r>
            <a:r>
              <a:rPr lang="en-US" altLang="ko-KR" sz="900" b="1" dirty="0" err="1">
                <a:solidFill>
                  <a:schemeClr val="bg1"/>
                </a:solidFill>
              </a:rPr>
              <a:t>int</a:t>
            </a:r>
            <a:r>
              <a:rPr lang="en-US" altLang="ko-KR" sz="900" b="1" dirty="0">
                <a:solidFill>
                  <a:schemeClr val="bg1"/>
                </a:solidFill>
              </a:rPr>
              <a:t> );</a:t>
            </a:r>
          </a:p>
          <a:p>
            <a:r>
              <a:rPr lang="en-US" altLang="ko-KR" sz="900" b="1" dirty="0">
                <a:solidFill>
                  <a:schemeClr val="bg1"/>
                </a:solidFill>
              </a:rPr>
              <a:t>select * from Test;</a:t>
            </a:r>
          </a:p>
          <a:p>
            <a:r>
              <a:rPr lang="en-US" altLang="ko-KR" sz="900" b="1" dirty="0">
                <a:solidFill>
                  <a:schemeClr val="bg1"/>
                </a:solidFill>
              </a:rPr>
              <a:t>select * from test;</a:t>
            </a:r>
          </a:p>
          <a:p>
            <a:endParaRPr lang="en-US" altLang="ko-KR" sz="900" b="1" dirty="0">
              <a:solidFill>
                <a:schemeClr val="bg1"/>
              </a:solidFill>
            </a:endParaRPr>
          </a:p>
          <a:p>
            <a:r>
              <a:rPr lang="en-US" altLang="ko-KR" sz="900" b="1" dirty="0">
                <a:solidFill>
                  <a:schemeClr val="bg1"/>
                </a:solidFill>
              </a:rPr>
              <a:t>select * from tables where </a:t>
            </a:r>
            <a:r>
              <a:rPr lang="en-US" altLang="ko-KR" sz="900" b="1" dirty="0" err="1">
                <a:solidFill>
                  <a:schemeClr val="bg1"/>
                </a:solidFill>
              </a:rPr>
              <a:t>table_name</a:t>
            </a:r>
            <a:r>
              <a:rPr lang="en-US" altLang="ko-KR" sz="900" b="1" dirty="0">
                <a:solidFill>
                  <a:schemeClr val="bg1"/>
                </a:solidFill>
              </a:rPr>
              <a:t> = 'Test';</a:t>
            </a:r>
          </a:p>
          <a:p>
            <a:endParaRPr lang="en-US" altLang="ko-KR" sz="900" b="1" dirty="0">
              <a:solidFill>
                <a:schemeClr val="bg1"/>
              </a:solidFill>
            </a:endParaRPr>
          </a:p>
          <a:p>
            <a:r>
              <a:rPr lang="en-US" altLang="ko-KR" sz="900" b="1" dirty="0">
                <a:solidFill>
                  <a:schemeClr val="bg1"/>
                </a:solidFill>
              </a:rPr>
              <a:t>select * from tables where </a:t>
            </a:r>
            <a:r>
              <a:rPr lang="en-US" altLang="ko-KR" sz="900" b="1" dirty="0" err="1">
                <a:solidFill>
                  <a:schemeClr val="bg1"/>
                </a:solidFill>
              </a:rPr>
              <a:t>table_name</a:t>
            </a:r>
            <a:r>
              <a:rPr lang="en-US" altLang="ko-KR" sz="900" b="1" dirty="0">
                <a:solidFill>
                  <a:schemeClr val="bg1"/>
                </a:solidFill>
              </a:rPr>
              <a:t> = 'test';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Courier New" panose="02070309020205020404" pitchFamily="49" charset="0"/>
            </a:endParaRPr>
          </a:p>
        </p:txBody>
      </p:sp>
      <p:sp>
        <p:nvSpPr>
          <p:cNvPr id="9" name="Rectangular Callout 8"/>
          <p:cNvSpPr/>
          <p:nvPr/>
        </p:nvSpPr>
        <p:spPr>
          <a:xfrm>
            <a:off x="2658378" y="3300647"/>
            <a:ext cx="2160240" cy="477678"/>
          </a:xfrm>
          <a:prstGeom prst="wedgeRectCallout">
            <a:avLst>
              <a:gd name="adj1" fmla="val -56939"/>
              <a:gd name="adj2" fmla="val -936"/>
            </a:avLst>
          </a:prstGeom>
          <a:solidFill>
            <a:sysClr val="window" lastClr="FFFFFF"/>
          </a:solidFill>
          <a:ln w="1905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i="1" kern="0" noProof="0" dirty="0">
                <a:solidFill>
                  <a:prstClr val="black"/>
                </a:solidFill>
              </a:rPr>
              <a:t>테이블 명에 대소문자가 혼용되어 있어도 쿼리 </a:t>
            </a:r>
            <a:r>
              <a:rPr lang="ko-KR" altLang="en-US" sz="900" i="1" kern="0" noProof="0" dirty="0" err="1">
                <a:solidFill>
                  <a:prstClr val="black"/>
                </a:solidFill>
              </a:rPr>
              <a:t>수행시에는</a:t>
            </a:r>
            <a:r>
              <a:rPr lang="ko-KR" altLang="en-US" sz="900" i="1" kern="0" noProof="0" dirty="0">
                <a:solidFill>
                  <a:prstClr val="black"/>
                </a:solidFill>
              </a:rPr>
              <a:t> 대소문자 구분하지 않음</a:t>
            </a:r>
            <a:r>
              <a:rPr lang="en-US" altLang="ko-KR" sz="900" i="1" kern="0" noProof="0" dirty="0">
                <a:solidFill>
                  <a:prstClr val="black"/>
                </a:solidFill>
              </a:rPr>
              <a:t>.</a:t>
            </a:r>
            <a:endParaRPr kumimoji="0" lang="en-US" altLang="ko-KR" sz="900" b="0" i="1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10" name="Rectangular Callout 8"/>
          <p:cNvSpPr/>
          <p:nvPr/>
        </p:nvSpPr>
        <p:spPr>
          <a:xfrm>
            <a:off x="3215680" y="3861048"/>
            <a:ext cx="2160240" cy="477678"/>
          </a:xfrm>
          <a:prstGeom prst="wedgeRectCallout">
            <a:avLst>
              <a:gd name="adj1" fmla="val -56939"/>
              <a:gd name="adj2" fmla="val -936"/>
            </a:avLst>
          </a:prstGeom>
          <a:solidFill>
            <a:sysClr val="window" lastClr="FFFFFF"/>
          </a:solidFill>
          <a:ln w="1905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i="1" kern="0" dirty="0">
                <a:solidFill>
                  <a:prstClr val="black"/>
                </a:solidFill>
              </a:rPr>
              <a:t>System table</a:t>
            </a:r>
            <a:r>
              <a:rPr lang="ko-KR" altLang="en-US" sz="900" i="1" kern="0" dirty="0">
                <a:solidFill>
                  <a:prstClr val="black"/>
                </a:solidFill>
              </a:rPr>
              <a:t>인 </a:t>
            </a:r>
            <a:r>
              <a:rPr lang="en-US" altLang="ko-KR" sz="900" i="1" kern="0" dirty="0">
                <a:solidFill>
                  <a:prstClr val="black"/>
                </a:solidFill>
              </a:rPr>
              <a:t>tables</a:t>
            </a:r>
            <a:r>
              <a:rPr lang="ko-KR" altLang="en-US" sz="900" i="1" kern="0" dirty="0">
                <a:solidFill>
                  <a:prstClr val="black"/>
                </a:solidFill>
              </a:rPr>
              <a:t>에 저장된 </a:t>
            </a:r>
            <a:r>
              <a:rPr lang="en-US" altLang="ko-KR" sz="900" i="1" kern="0" dirty="0" err="1">
                <a:solidFill>
                  <a:prstClr val="black"/>
                </a:solidFill>
              </a:rPr>
              <a:t>table_name</a:t>
            </a:r>
            <a:r>
              <a:rPr lang="ko-KR" altLang="en-US" sz="900" i="1" kern="0" dirty="0">
                <a:solidFill>
                  <a:prstClr val="black"/>
                </a:solidFill>
              </a:rPr>
              <a:t>은 </a:t>
            </a:r>
            <a:r>
              <a:rPr lang="en-US" altLang="ko-KR" sz="900" i="1" kern="0" dirty="0">
                <a:solidFill>
                  <a:prstClr val="black"/>
                </a:solidFill>
              </a:rPr>
              <a:t>table </a:t>
            </a:r>
            <a:r>
              <a:rPr lang="ko-KR" altLang="en-US" sz="900" i="1" kern="0" dirty="0">
                <a:solidFill>
                  <a:prstClr val="black"/>
                </a:solidFill>
              </a:rPr>
              <a:t>생성시에 사용한 문자가 그대로 저장됨</a:t>
            </a:r>
            <a:r>
              <a:rPr lang="en-US" altLang="ko-KR" sz="900" i="1" kern="0" dirty="0">
                <a:solidFill>
                  <a:prstClr val="black"/>
                </a:solidFill>
              </a:rPr>
              <a:t>.</a:t>
            </a:r>
            <a:endParaRPr kumimoji="0" lang="en-US" altLang="ko-KR" sz="900" b="0" i="1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11" name="Rectangular Callout 8"/>
          <p:cNvSpPr/>
          <p:nvPr/>
        </p:nvSpPr>
        <p:spPr>
          <a:xfrm>
            <a:off x="3215680" y="4486305"/>
            <a:ext cx="2160240" cy="166831"/>
          </a:xfrm>
          <a:prstGeom prst="wedgeRectCallout">
            <a:avLst>
              <a:gd name="adj1" fmla="val -59585"/>
              <a:gd name="adj2" fmla="val -48792"/>
            </a:avLst>
          </a:prstGeom>
          <a:solidFill>
            <a:sysClr val="window" lastClr="FFFFFF"/>
          </a:solidFill>
          <a:ln w="1905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i="1" kern="0" dirty="0">
                <a:solidFill>
                  <a:prstClr val="black"/>
                </a:solidFill>
              </a:rPr>
              <a:t>테이블 명 </a:t>
            </a:r>
            <a:r>
              <a:rPr lang="en-US" altLang="ko-KR" sz="900" i="1" kern="0" dirty="0">
                <a:solidFill>
                  <a:prstClr val="black"/>
                </a:solidFill>
              </a:rPr>
              <a:t>= t</a:t>
            </a:r>
            <a:r>
              <a:rPr kumimoji="0" lang="en-US" altLang="ko-KR" sz="900" b="0" i="1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t>est</a:t>
            </a:r>
            <a:r>
              <a:rPr kumimoji="0" lang="en-US" altLang="ko-KR" sz="9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t> </a:t>
            </a:r>
            <a:r>
              <a:rPr kumimoji="0" lang="ko-KR" altLang="en-US" sz="9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t>는 존재하지 않음</a:t>
            </a:r>
            <a:r>
              <a:rPr kumimoji="0" lang="en-US" altLang="ko-KR" sz="9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6027" y="1783894"/>
            <a:ext cx="5124931" cy="4525426"/>
          </a:xfrm>
          <a:prstGeom prst="roundRect">
            <a:avLst>
              <a:gd name="adj" fmla="val 9098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 b="1" dirty="0"/>
              <a:t>create table test (a </a:t>
            </a:r>
            <a:r>
              <a:rPr lang="en-US" altLang="ko-KR" sz="900" b="1" dirty="0" err="1"/>
              <a:t>int</a:t>
            </a:r>
            <a:r>
              <a:rPr lang="en-US" altLang="ko-KR" sz="900" b="1" dirty="0"/>
              <a:t>, b char(10));</a:t>
            </a:r>
          </a:p>
          <a:p>
            <a:r>
              <a:rPr lang="en-US" altLang="ko-KR" sz="900" b="1" dirty="0"/>
              <a:t>insert into test values(1, null);</a:t>
            </a:r>
          </a:p>
          <a:p>
            <a:r>
              <a:rPr lang="en-US" altLang="ko-KR" sz="900" b="1" dirty="0"/>
              <a:t>insert into test values(2, '');</a:t>
            </a:r>
          </a:p>
          <a:p>
            <a:r>
              <a:rPr lang="en-US" altLang="ko-KR" sz="900" b="1" dirty="0"/>
              <a:t>commit;</a:t>
            </a:r>
          </a:p>
          <a:p>
            <a:endParaRPr lang="en-US" altLang="ko-KR" sz="900" dirty="0"/>
          </a:p>
          <a:p>
            <a:endParaRPr lang="en-US" altLang="ko-KR" sz="900" b="1" dirty="0"/>
          </a:p>
          <a:p>
            <a:r>
              <a:rPr lang="en-US" altLang="ko-KR" sz="900" b="1" dirty="0"/>
              <a:t>select * from test where </a:t>
            </a:r>
            <a:r>
              <a:rPr lang="en-US" altLang="ko-KR" sz="900" b="1" dirty="0">
                <a:solidFill>
                  <a:srgbClr val="FFFF00"/>
                </a:solidFill>
              </a:rPr>
              <a:t>b is null</a:t>
            </a:r>
            <a:r>
              <a:rPr lang="en-US" altLang="ko-KR" sz="900" b="1" dirty="0"/>
              <a:t>;</a:t>
            </a:r>
          </a:p>
          <a:p>
            <a:r>
              <a:rPr lang="en-US" altLang="ko-KR" sz="900" b="1" dirty="0"/>
              <a:t> a | b </a:t>
            </a:r>
          </a:p>
          <a:p>
            <a:r>
              <a:rPr lang="en-US" altLang="ko-KR" sz="900" b="1" dirty="0"/>
              <a:t>---+---</a:t>
            </a:r>
          </a:p>
          <a:p>
            <a:r>
              <a:rPr lang="en-US" altLang="ko-KR" sz="900" b="1" dirty="0"/>
              <a:t> 1 | </a:t>
            </a:r>
          </a:p>
          <a:p>
            <a:r>
              <a:rPr lang="en-US" altLang="ko-KR" sz="900" b="1" dirty="0"/>
              <a:t>(1 row)</a:t>
            </a:r>
          </a:p>
          <a:p>
            <a:endParaRPr lang="en-US" altLang="ko-KR" sz="900" b="1" dirty="0"/>
          </a:p>
          <a:p>
            <a:r>
              <a:rPr lang="en-US" altLang="ko-KR" sz="900" b="1" dirty="0"/>
              <a:t>select * from test where </a:t>
            </a:r>
            <a:r>
              <a:rPr lang="en-US" altLang="ko-KR" sz="900" b="1" dirty="0">
                <a:solidFill>
                  <a:srgbClr val="FFFF00"/>
                </a:solidFill>
              </a:rPr>
              <a:t>b=''</a:t>
            </a:r>
            <a:r>
              <a:rPr lang="en-US" altLang="ko-KR" sz="900" b="1" dirty="0"/>
              <a:t>;</a:t>
            </a:r>
          </a:p>
          <a:p>
            <a:r>
              <a:rPr lang="en-US" altLang="ko-KR" sz="900" b="1" dirty="0"/>
              <a:t> a |     b      </a:t>
            </a:r>
          </a:p>
          <a:p>
            <a:r>
              <a:rPr lang="en-US" altLang="ko-KR" sz="900" b="1" dirty="0"/>
              <a:t>---+------------</a:t>
            </a:r>
          </a:p>
          <a:p>
            <a:r>
              <a:rPr lang="en-US" altLang="ko-KR" sz="900" b="1" dirty="0"/>
              <a:t> 2 |           </a:t>
            </a:r>
          </a:p>
          <a:p>
            <a:r>
              <a:rPr lang="en-US" altLang="ko-KR" sz="900" b="1" dirty="0"/>
              <a:t>(1 row)</a:t>
            </a:r>
          </a:p>
          <a:p>
            <a:endParaRPr lang="ko-KR" altLang="en-US" sz="900" dirty="0"/>
          </a:p>
          <a:p>
            <a:r>
              <a:rPr lang="en-US" altLang="ko-KR" sz="900" b="1" dirty="0"/>
              <a:t>select a, b, </a:t>
            </a:r>
            <a:r>
              <a:rPr lang="en-US" altLang="ko-KR" sz="900" b="1" dirty="0" err="1">
                <a:solidFill>
                  <a:srgbClr val="FFFF00"/>
                </a:solidFill>
              </a:rPr>
              <a:t>nvl</a:t>
            </a:r>
            <a:r>
              <a:rPr lang="en-US" altLang="ko-KR" sz="900" b="1" dirty="0">
                <a:solidFill>
                  <a:srgbClr val="FFFF00"/>
                </a:solidFill>
              </a:rPr>
              <a:t>(b, 'is null')</a:t>
            </a:r>
            <a:r>
              <a:rPr lang="en-US" altLang="ko-KR" sz="900" b="1" dirty="0"/>
              <a:t> from test;</a:t>
            </a:r>
          </a:p>
          <a:p>
            <a:r>
              <a:rPr lang="en-US" altLang="ko-KR" sz="900" b="1" dirty="0"/>
              <a:t> a |     b      |    </a:t>
            </a:r>
            <a:r>
              <a:rPr lang="en-US" altLang="ko-KR" sz="900" b="1" dirty="0" err="1"/>
              <a:t>nvl</a:t>
            </a:r>
            <a:r>
              <a:rPr lang="en-US" altLang="ko-KR" sz="900" b="1" dirty="0"/>
              <a:t>     </a:t>
            </a:r>
          </a:p>
          <a:p>
            <a:r>
              <a:rPr lang="en-US" altLang="ko-KR" sz="900" b="1" dirty="0"/>
              <a:t>---+------------+------------</a:t>
            </a:r>
          </a:p>
          <a:p>
            <a:r>
              <a:rPr lang="en-US" altLang="ko-KR" sz="900" b="1" dirty="0"/>
              <a:t> 1 |            | is null   </a:t>
            </a:r>
          </a:p>
          <a:p>
            <a:r>
              <a:rPr lang="en-US" altLang="ko-KR" sz="900" b="1" dirty="0"/>
              <a:t> 2 |            |           </a:t>
            </a:r>
          </a:p>
          <a:p>
            <a:r>
              <a:rPr lang="en-US" altLang="ko-KR" sz="900" b="1" dirty="0"/>
              <a:t>(2 rows)</a:t>
            </a:r>
          </a:p>
          <a:p>
            <a:endParaRPr lang="en-US" altLang="ko-KR" sz="900" b="1" dirty="0"/>
          </a:p>
          <a:p>
            <a:r>
              <a:rPr lang="en-US" altLang="ko-KR" sz="900" b="1" dirty="0"/>
              <a:t>select a, b, </a:t>
            </a:r>
            <a:r>
              <a:rPr lang="en-US" altLang="ko-KR" sz="900" b="1" dirty="0" err="1">
                <a:solidFill>
                  <a:srgbClr val="FFFF00"/>
                </a:solidFill>
              </a:rPr>
              <a:t>nvl</a:t>
            </a:r>
            <a:r>
              <a:rPr lang="en-US" altLang="ko-KR" sz="900" b="1" dirty="0">
                <a:solidFill>
                  <a:srgbClr val="FFFF00"/>
                </a:solidFill>
              </a:rPr>
              <a:t>(</a:t>
            </a:r>
            <a:r>
              <a:rPr lang="en-US" altLang="ko-KR" sz="900" b="1" dirty="0" err="1">
                <a:solidFill>
                  <a:srgbClr val="FFFF00"/>
                </a:solidFill>
              </a:rPr>
              <a:t>concat</a:t>
            </a:r>
            <a:r>
              <a:rPr lang="en-US" altLang="ko-KR" sz="900" b="1" dirty="0">
                <a:solidFill>
                  <a:srgbClr val="FFFF00"/>
                </a:solidFill>
              </a:rPr>
              <a:t>(b, '_and'), 'is null')</a:t>
            </a:r>
            <a:r>
              <a:rPr lang="en-US" altLang="ko-KR" sz="900" b="1" dirty="0"/>
              <a:t> from test;</a:t>
            </a:r>
          </a:p>
          <a:p>
            <a:r>
              <a:rPr lang="en-US" altLang="ko-KR" sz="900" b="1" dirty="0"/>
              <a:t> a |     b      |   </a:t>
            </a:r>
            <a:r>
              <a:rPr lang="en-US" altLang="ko-KR" sz="900" b="1" dirty="0" err="1"/>
              <a:t>nvl</a:t>
            </a:r>
            <a:r>
              <a:rPr lang="en-US" altLang="ko-KR" sz="900" b="1" dirty="0"/>
              <a:t>   </a:t>
            </a:r>
          </a:p>
          <a:p>
            <a:r>
              <a:rPr lang="en-US" altLang="ko-KR" sz="900" b="1" dirty="0"/>
              <a:t>---+------------+---------</a:t>
            </a:r>
          </a:p>
          <a:p>
            <a:r>
              <a:rPr lang="en-US" altLang="ko-KR" sz="900" b="1" dirty="0"/>
              <a:t> 1 |            | is null</a:t>
            </a:r>
          </a:p>
          <a:p>
            <a:r>
              <a:rPr lang="en-US" altLang="ko-KR" sz="900" b="1" dirty="0"/>
              <a:t> 2 |            | _and</a:t>
            </a:r>
          </a:p>
          <a:p>
            <a:r>
              <a:rPr lang="en-US" altLang="ko-KR" sz="900" b="1" dirty="0"/>
              <a:t>(2 rows)</a:t>
            </a:r>
          </a:p>
        </p:txBody>
      </p:sp>
      <p:sp>
        <p:nvSpPr>
          <p:cNvPr id="14" name="Rectangular Callout 8"/>
          <p:cNvSpPr/>
          <p:nvPr/>
        </p:nvSpPr>
        <p:spPr>
          <a:xfrm>
            <a:off x="7840204" y="5672326"/>
            <a:ext cx="1944216" cy="258575"/>
          </a:xfrm>
          <a:prstGeom prst="wedgeRectCallout">
            <a:avLst>
              <a:gd name="adj1" fmla="val -68844"/>
              <a:gd name="adj2" fmla="val 27376"/>
            </a:avLst>
          </a:prstGeom>
          <a:solidFill>
            <a:sysClr val="window" lastClr="FFFFFF"/>
          </a:solidFill>
          <a:ln w="1905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i="1" kern="0" dirty="0">
                <a:solidFill>
                  <a:prstClr val="black"/>
                </a:solidFill>
              </a:rPr>
              <a:t>null </a:t>
            </a:r>
            <a:r>
              <a:rPr lang="ko-KR" altLang="en-US" sz="900" i="1" kern="0" dirty="0">
                <a:solidFill>
                  <a:prstClr val="black"/>
                </a:solidFill>
              </a:rPr>
              <a:t>데이터에 연산을 하더라도 </a:t>
            </a:r>
            <a:r>
              <a:rPr lang="en-US" altLang="ko-KR" sz="900" i="1" kern="0" dirty="0">
                <a:solidFill>
                  <a:prstClr val="black"/>
                </a:solidFill>
              </a:rPr>
              <a:t>null</a:t>
            </a:r>
            <a:endParaRPr kumimoji="0" lang="en-US" altLang="ko-KR" sz="900" b="0" i="1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15" name="Rectangle 6"/>
          <p:cNvSpPr/>
          <p:nvPr/>
        </p:nvSpPr>
        <p:spPr bwMode="auto">
          <a:xfrm>
            <a:off x="623392" y="5445224"/>
            <a:ext cx="4536504" cy="648072"/>
          </a:xfrm>
          <a:prstGeom prst="rect">
            <a:avLst/>
          </a:prstGeom>
          <a:gradFill rotWithShape="1">
            <a:gsLst>
              <a:gs pos="0">
                <a:srgbClr val="87898B">
                  <a:shade val="51000"/>
                  <a:satMod val="130000"/>
                </a:srgbClr>
              </a:gs>
              <a:gs pos="80000">
                <a:srgbClr val="87898B">
                  <a:shade val="93000"/>
                  <a:satMod val="130000"/>
                </a:srgbClr>
              </a:gs>
              <a:gs pos="100000">
                <a:srgbClr val="87898B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87898B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r>
              <a:rPr lang="en-US" altLang="ko-KR" sz="900" dirty="0"/>
              <a:t>SELECT CAST ( </a:t>
            </a:r>
            <a:r>
              <a:rPr lang="en-US" altLang="ko-KR" sz="900" i="1" dirty="0"/>
              <a:t>expression</a:t>
            </a:r>
            <a:r>
              <a:rPr lang="en-US" altLang="ko-KR" sz="900" dirty="0"/>
              <a:t> AS </a:t>
            </a:r>
            <a:r>
              <a:rPr lang="en-US" altLang="ko-KR" sz="900" i="1" dirty="0" err="1"/>
              <a:t>data_type</a:t>
            </a:r>
            <a:r>
              <a:rPr lang="en-US" altLang="ko-KR" sz="900" dirty="0"/>
              <a:t> ) </a:t>
            </a:r>
          </a:p>
          <a:p>
            <a:pPr lvl="0">
              <a:defRPr/>
            </a:pPr>
            <a:r>
              <a:rPr lang="en-US" altLang="ko-KR" sz="900" dirty="0"/>
              <a:t>SELECT </a:t>
            </a:r>
            <a:r>
              <a:rPr lang="en-US" altLang="ko-KR" sz="900" i="1" dirty="0"/>
              <a:t>expression</a:t>
            </a:r>
            <a:r>
              <a:rPr lang="en-US" altLang="ko-KR" sz="900" dirty="0"/>
              <a:t>::</a:t>
            </a:r>
            <a:r>
              <a:rPr lang="en-US" altLang="ko-KR" sz="900" i="1" dirty="0" err="1"/>
              <a:t>data_type</a:t>
            </a:r>
            <a:r>
              <a:rPr lang="en-US" altLang="ko-KR" sz="900" dirty="0"/>
              <a:t> </a:t>
            </a:r>
          </a:p>
          <a:p>
            <a:pPr lvl="0">
              <a:defRPr/>
            </a:pPr>
            <a:r>
              <a:rPr lang="en-US" altLang="ko-KR" sz="900" dirty="0"/>
              <a:t>SELECT </a:t>
            </a:r>
            <a:r>
              <a:rPr lang="en-US" altLang="ko-KR" sz="900" i="1" dirty="0" err="1"/>
              <a:t>data_type</a:t>
            </a:r>
            <a:r>
              <a:rPr lang="en-US" altLang="ko-KR" sz="900" dirty="0"/>
              <a:t> '</a:t>
            </a:r>
            <a:r>
              <a:rPr lang="en-US" altLang="ko-KR" sz="900" i="1" dirty="0"/>
              <a:t>string</a:t>
            </a:r>
            <a:r>
              <a:rPr lang="en-US" altLang="ko-KR" sz="900" dirty="0"/>
              <a:t>'</a:t>
            </a:r>
            <a:endParaRPr kumimoji="0" lang="en-US" sz="9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99598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/>
              <a:t>lock </a:t>
            </a:r>
            <a:r>
              <a:rPr lang="en-US" altLang="ko-KR" sz="2800" dirty="0"/>
              <a:t>mode</a:t>
            </a:r>
            <a:endParaRPr lang="ko-KR" altLang="en-US" sz="28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기타</a:t>
            </a:r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/>
              <a:t>주요 </a:t>
            </a:r>
            <a:r>
              <a:rPr lang="en-US" altLang="ko-KR" sz="1100" b="1" dirty="0"/>
              <a:t>lock mode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테이블에 </a:t>
            </a:r>
            <a:r>
              <a:rPr lang="en-US" altLang="ko-KR" sz="1100" dirty="0"/>
              <a:t>INSERT</a:t>
            </a:r>
            <a:r>
              <a:rPr lang="ko-KR" altLang="en-US" sz="1100" dirty="0"/>
              <a:t>시 </a:t>
            </a:r>
            <a:r>
              <a:rPr lang="en-US" altLang="ko-KR" sz="1100" dirty="0"/>
              <a:t>I lock </a:t>
            </a:r>
            <a:r>
              <a:rPr lang="ko-KR" altLang="en-US" sz="1100" dirty="0"/>
              <a:t>발생</a:t>
            </a:r>
            <a:r>
              <a:rPr lang="en-US" altLang="ko-KR" sz="1100" dirty="0"/>
              <a:t>, </a:t>
            </a:r>
            <a:r>
              <a:rPr lang="ko-KR" altLang="en-US" sz="1100" dirty="0"/>
              <a:t>여러 세션이 동시에 </a:t>
            </a:r>
            <a:r>
              <a:rPr lang="en-US" altLang="ko-KR" sz="1100" dirty="0"/>
              <a:t>INSERT </a:t>
            </a:r>
            <a:r>
              <a:rPr lang="ko-KR" altLang="en-US" sz="1100" dirty="0"/>
              <a:t>및 </a:t>
            </a:r>
            <a:r>
              <a:rPr lang="en-US" altLang="ko-KR" sz="1100" dirty="0"/>
              <a:t>bulk load</a:t>
            </a:r>
            <a:r>
              <a:rPr lang="ko-KR" altLang="en-US" sz="1100" dirty="0"/>
              <a:t>가능</a:t>
            </a:r>
            <a:r>
              <a:rPr lang="en-US" altLang="ko-KR" sz="1100" dirty="0"/>
              <a:t>.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UPDATE, DELETE </a:t>
            </a:r>
            <a:r>
              <a:rPr lang="ko-KR" altLang="en-US" sz="1100" dirty="0"/>
              <a:t>시 </a:t>
            </a:r>
            <a:r>
              <a:rPr lang="en-US" altLang="ko-KR" sz="1100" dirty="0"/>
              <a:t>X lock(Exclusive lock) </a:t>
            </a:r>
            <a:r>
              <a:rPr lang="ko-KR" altLang="en-US" sz="1100" dirty="0"/>
              <a:t>발생</a:t>
            </a:r>
            <a:r>
              <a:rPr lang="en-US" altLang="ko-KR" sz="1100" dirty="0"/>
              <a:t>, </a:t>
            </a:r>
            <a:r>
              <a:rPr lang="ko-KR" altLang="en-US" sz="1100" dirty="0"/>
              <a:t>다른 세션에서 </a:t>
            </a:r>
            <a:r>
              <a:rPr lang="ko-KR" altLang="en-US" sz="1100" dirty="0" err="1"/>
              <a:t>트랜젝션</a:t>
            </a:r>
            <a:r>
              <a:rPr lang="ko-KR" altLang="en-US" sz="1100" dirty="0"/>
              <a:t> 대기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활성화된 </a:t>
            </a:r>
            <a:r>
              <a:rPr lang="en-US" altLang="ko-KR" sz="1100" dirty="0"/>
              <a:t>PRIMARY, UNIQUE </a:t>
            </a:r>
            <a:r>
              <a:rPr lang="ko-KR" altLang="en-US" sz="1100" dirty="0"/>
              <a:t>키 제약 조건이 있는 테이블에 </a:t>
            </a:r>
            <a:r>
              <a:rPr lang="en-US" altLang="ko-KR" sz="1100" dirty="0"/>
              <a:t>INSERT</a:t>
            </a:r>
            <a:r>
              <a:rPr lang="ko-KR" altLang="en-US" sz="1100" dirty="0"/>
              <a:t>시 </a:t>
            </a:r>
            <a:r>
              <a:rPr lang="en-US" altLang="ko-KR" sz="1100" dirty="0"/>
              <a:t>IV(Insert-Validate) lock</a:t>
            </a:r>
            <a:r>
              <a:rPr lang="ko-KR" altLang="en-US" sz="1100" dirty="0"/>
              <a:t> 발생</a:t>
            </a:r>
            <a:r>
              <a:rPr lang="en-US" altLang="ko-KR" sz="1100" dirty="0"/>
              <a:t> , </a:t>
            </a:r>
            <a:r>
              <a:rPr lang="ko-KR" altLang="en-US" sz="1100" dirty="0"/>
              <a:t>다른 세션에서 </a:t>
            </a:r>
            <a:r>
              <a:rPr lang="ko-KR" altLang="en-US" sz="1100" dirty="0" err="1"/>
              <a:t>트랜젝션</a:t>
            </a:r>
            <a:r>
              <a:rPr lang="ko-KR" altLang="en-US" sz="1100" dirty="0"/>
              <a:t> 대기</a:t>
            </a:r>
            <a:endParaRPr lang="en-US" altLang="ko-KR" sz="1100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X</a:t>
            </a:r>
            <a:r>
              <a:rPr lang="ko-KR" altLang="en-US" sz="1100" b="1" dirty="0"/>
              <a:t> </a:t>
            </a:r>
            <a:r>
              <a:rPr lang="en-US" altLang="ko-KR" sz="1100" b="1" dirty="0"/>
              <a:t>lock(Exclusive lock) </a:t>
            </a:r>
            <a:r>
              <a:rPr lang="ko-KR" altLang="en-US" sz="1100" b="1" dirty="0"/>
              <a:t>예</a:t>
            </a:r>
            <a:endParaRPr lang="en-US" altLang="ko-KR" sz="1100" b="1" dirty="0"/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124744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527115"/>
              </p:ext>
            </p:extLst>
          </p:nvPr>
        </p:nvGraphicFramePr>
        <p:xfrm>
          <a:off x="6528600" y="1620713"/>
          <a:ext cx="4968000" cy="3973056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Session A</a:t>
                      </a:r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altLang="ko-KR" sz="700" dirty="0" err="1">
                          <a:solidFill>
                            <a:schemeClr val="bg1"/>
                          </a:solidFill>
                        </a:rPr>
                        <a:t>tid</a:t>
                      </a:r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=</a:t>
                      </a:r>
                      <a:r>
                        <a:rPr lang="en-US" altLang="ko-KR" sz="700" b="1" dirty="0">
                          <a:solidFill>
                            <a:schemeClr val="bg1"/>
                          </a:solidFill>
                        </a:rPr>
                        <a:t>45035996273858319)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LOCK MODE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Session B</a:t>
                      </a:r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(t_id:</a:t>
                      </a:r>
                      <a:r>
                        <a:rPr lang="en-US" altLang="ko-KR" sz="7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45035996273858328</a:t>
                      </a:r>
                      <a:r>
                        <a:rPr lang="en-US" altLang="ko-KR" sz="700" b="1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24"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create table test (a </a:t>
                      </a:r>
                      <a:r>
                        <a:rPr lang="en-US" altLang="ko-KR" sz="700" b="1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, b </a:t>
                      </a:r>
                      <a:r>
                        <a:rPr lang="en-US" altLang="ko-KR" sz="700" b="1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700" b="1" dirty="0">
                          <a:solidFill>
                            <a:schemeClr val="tx2"/>
                          </a:solidFill>
                        </a:rPr>
                        <a:t>PRIMARY KEY</a:t>
                      </a:r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 (a) enabled);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insert into test values(1, 1);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(1 row)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IV(Session A)</a:t>
                      </a:r>
                    </a:p>
                    <a:p>
                      <a:pPr algn="l" latinLnBrk="1"/>
                      <a:r>
                        <a:rPr lang="en-US" altLang="ko-KR" sz="700" b="1" dirty="0" err="1">
                          <a:solidFill>
                            <a:schemeClr val="tx1"/>
                          </a:solidFill>
                        </a:rPr>
                        <a:t>transaction_id|lock_mode|lock_scope</a:t>
                      </a:r>
                      <a:endParaRPr lang="en-US" altLang="ko-KR" sz="700" b="1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700" b="1" dirty="0">
                          <a:solidFill>
                            <a:schemeClr val="tx2"/>
                          </a:solidFill>
                        </a:rPr>
                        <a:t>45035996273858319|IV|TRANSACTION</a:t>
                      </a:r>
                      <a:endParaRPr lang="ko-KR" altLang="en-US" sz="700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latinLnBrk="1"/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IV(Session A)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insert into test values(2, 2);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latinLnBrk="1"/>
                      <a:endParaRPr lang="en-US" altLang="ko-KR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dirty="0" err="1">
                          <a:solidFill>
                            <a:schemeClr val="tx1"/>
                          </a:solidFill>
                        </a:rPr>
                        <a:t>transaction_id|lock_mode|lock_scope</a:t>
                      </a:r>
                      <a:endParaRPr lang="en-US" altLang="ko-KR" sz="700" b="1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700" b="1" dirty="0">
                          <a:solidFill>
                            <a:schemeClr val="tx2"/>
                          </a:solidFill>
                        </a:rPr>
                        <a:t>45035996273858319|IV|TRANSACTION</a:t>
                      </a:r>
                      <a:endParaRPr lang="en-US" altLang="ko-KR" sz="7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/>
                      <a:r>
                        <a:rPr lang="en-US" altLang="ko-KR" sz="7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45035996273858328|I|TRANSACTION</a:t>
                      </a:r>
                    </a:p>
                    <a:p>
                      <a:pPr algn="l" latinLnBrk="1"/>
                      <a:r>
                        <a:rPr lang="en-US" altLang="ko-KR" sz="7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45035996273858328|IV|REQUESTED</a:t>
                      </a:r>
                      <a:endParaRPr lang="ko-KR" altLang="en-US" sz="700" b="1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commit;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(1 row)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latinLnBrk="1"/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IV(Session B)</a:t>
                      </a:r>
                    </a:p>
                    <a:p>
                      <a:pPr algn="l" latinLnBrk="1"/>
                      <a:r>
                        <a:rPr lang="en-US" altLang="ko-KR" sz="700" b="1" dirty="0" err="1">
                          <a:solidFill>
                            <a:schemeClr val="tx1"/>
                          </a:solidFill>
                        </a:rPr>
                        <a:t>transaction_id|lock_mode|lock_scope</a:t>
                      </a:r>
                      <a:endParaRPr lang="en-US" altLang="ko-KR" sz="700" b="1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7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45035996273858328|IV|TRANSACTION</a:t>
                      </a:r>
                      <a:endParaRPr lang="ko-KR" altLang="en-US" sz="700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select * from test;</a:t>
                      </a:r>
                    </a:p>
                    <a:p>
                      <a:pPr latinLnBrk="1"/>
                      <a:r>
                        <a:rPr lang="en-US" altLang="ko-KR" sz="700" b="1" dirty="0" err="1">
                          <a:solidFill>
                            <a:schemeClr val="tx1"/>
                          </a:solidFill>
                        </a:rPr>
                        <a:t>a|b</a:t>
                      </a:r>
                      <a:endParaRPr lang="en-US" altLang="ko-KR" sz="700" b="1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1|1</a:t>
                      </a:r>
                    </a:p>
                    <a:p>
                      <a:pPr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(1 row)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IV(Session B)</a:t>
                      </a:r>
                      <a:endParaRPr lang="ko-KR" altLang="en-US" sz="700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select * from test;</a:t>
                      </a:r>
                    </a:p>
                    <a:p>
                      <a:pPr algn="r" latinLnBrk="1"/>
                      <a:r>
                        <a:rPr lang="en-US" altLang="ko-KR" sz="700" b="1" dirty="0" err="1">
                          <a:solidFill>
                            <a:schemeClr val="tx1"/>
                          </a:solidFill>
                        </a:rPr>
                        <a:t>a|b</a:t>
                      </a:r>
                      <a:endParaRPr lang="en-US" altLang="ko-KR" sz="700" b="1" dirty="0">
                        <a:solidFill>
                          <a:schemeClr val="tx1"/>
                        </a:solidFill>
                      </a:endParaRPr>
                    </a:p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1|1</a:t>
                      </a:r>
                    </a:p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2|2</a:t>
                      </a:r>
                    </a:p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(2 rows)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latinLnBrk="1"/>
                      <a:endParaRPr lang="ko-KR" altLang="en-US" sz="7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commit;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select * from test;</a:t>
                      </a:r>
                    </a:p>
                    <a:p>
                      <a:pPr latinLnBrk="1"/>
                      <a:r>
                        <a:rPr lang="en-US" altLang="ko-KR" sz="700" b="1" dirty="0" err="1">
                          <a:solidFill>
                            <a:schemeClr val="tx1"/>
                          </a:solidFill>
                        </a:rPr>
                        <a:t>a|b</a:t>
                      </a:r>
                      <a:endParaRPr lang="en-US" altLang="ko-KR" sz="700" b="1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1|1</a:t>
                      </a:r>
                    </a:p>
                    <a:p>
                      <a:pPr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2|2</a:t>
                      </a:r>
                    </a:p>
                    <a:p>
                      <a:pPr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(2 rows)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select * from test;</a:t>
                      </a:r>
                    </a:p>
                    <a:p>
                      <a:pPr algn="r" latinLnBrk="1"/>
                      <a:r>
                        <a:rPr lang="en-US" altLang="ko-KR" sz="700" b="1" dirty="0" err="1">
                          <a:solidFill>
                            <a:schemeClr val="tx1"/>
                          </a:solidFill>
                        </a:rPr>
                        <a:t>a|b</a:t>
                      </a:r>
                      <a:endParaRPr lang="en-US" altLang="ko-KR" sz="700" b="1" dirty="0">
                        <a:solidFill>
                          <a:schemeClr val="tx1"/>
                        </a:solidFill>
                      </a:endParaRPr>
                    </a:p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1|1</a:t>
                      </a:r>
                    </a:p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2|2</a:t>
                      </a:r>
                    </a:p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(2 rows)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94372" y="5605209"/>
            <a:ext cx="3974236" cy="20005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r"/>
            <a:r>
              <a:rPr lang="en-US" altLang="ko-KR" sz="700" b="1" dirty="0"/>
              <a:t>[LOCK MODE </a:t>
            </a:r>
            <a:r>
              <a:rPr lang="ko-KR" altLang="en-US" sz="700" b="1" dirty="0"/>
              <a:t>조회</a:t>
            </a:r>
            <a:r>
              <a:rPr lang="en-US" altLang="ko-KR" sz="700" b="1" dirty="0"/>
              <a:t>] select </a:t>
            </a:r>
            <a:r>
              <a:rPr lang="en-US" altLang="ko-KR" sz="700" b="1" dirty="0" err="1"/>
              <a:t>transaction_id</a:t>
            </a:r>
            <a:r>
              <a:rPr lang="en-US" altLang="ko-KR" sz="700" b="1" dirty="0"/>
              <a:t>, </a:t>
            </a:r>
            <a:r>
              <a:rPr lang="en-US" altLang="ko-KR" sz="700" b="1" dirty="0" err="1"/>
              <a:t>lock_mode</a:t>
            </a:r>
            <a:r>
              <a:rPr lang="en-US" altLang="ko-KR" sz="700" b="1" dirty="0"/>
              <a:t>, </a:t>
            </a:r>
            <a:r>
              <a:rPr lang="en-US" altLang="ko-KR" sz="700" b="1" dirty="0" err="1"/>
              <a:t>lock_scope</a:t>
            </a:r>
            <a:r>
              <a:rPr lang="en-US" altLang="ko-KR" sz="700" b="1" dirty="0"/>
              <a:t> from locks;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Roboto Light" charset="0"/>
              <a:cs typeface="Roboto Light" charset="0"/>
            </a:endParaRPr>
          </a:p>
        </p:txBody>
      </p:sp>
      <p:sp>
        <p:nvSpPr>
          <p:cNvPr id="19" name="Content Placeholder 4"/>
          <p:cNvSpPr txBox="1">
            <a:spLocks/>
          </p:cNvSpPr>
          <p:nvPr/>
        </p:nvSpPr>
        <p:spPr>
          <a:xfrm>
            <a:off x="6240016" y="1295996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IV lock(Insert-Validate lock</a:t>
            </a:r>
            <a:r>
              <a:rPr lang="en-US" altLang="ko-KR" sz="1100" b="1"/>
              <a:t>) </a:t>
            </a:r>
            <a:r>
              <a:rPr lang="ko-KR" altLang="en-US" sz="1100" b="1" dirty="0"/>
              <a:t>예</a:t>
            </a:r>
            <a:endParaRPr lang="en-US" altLang="ko-KR" sz="1100" b="1" dirty="0"/>
          </a:p>
        </p:txBody>
      </p: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509019"/>
              </p:ext>
            </p:extLst>
          </p:nvPr>
        </p:nvGraphicFramePr>
        <p:xfrm>
          <a:off x="839416" y="2564904"/>
          <a:ext cx="4968000" cy="3830568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Session A</a:t>
                      </a:r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altLang="ko-KR" sz="700" dirty="0" err="1">
                          <a:solidFill>
                            <a:schemeClr val="bg1"/>
                          </a:solidFill>
                        </a:rPr>
                        <a:t>tid</a:t>
                      </a:r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=</a:t>
                      </a:r>
                      <a:r>
                        <a:rPr lang="en-US" altLang="ko-KR" sz="700" b="1" dirty="0">
                          <a:solidFill>
                            <a:schemeClr val="bg1"/>
                          </a:solidFill>
                        </a:rPr>
                        <a:t>45035996273858535)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LOCK MODE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/>
                        <a:t>Session B</a:t>
                      </a:r>
                      <a:r>
                        <a:rPr lang="en-US" altLang="ko-KR" sz="700" dirty="0">
                          <a:solidFill>
                            <a:schemeClr val="bg1"/>
                          </a:solidFill>
                        </a:rPr>
                        <a:t>(t_id:</a:t>
                      </a:r>
                      <a:r>
                        <a:rPr lang="en-US" altLang="ko-KR" sz="700" b="1" dirty="0">
                          <a:solidFill>
                            <a:schemeClr val="bg1"/>
                          </a:solidFill>
                        </a:rPr>
                        <a:t>45035996273858516)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  <a:lnB w="25400" cmpd="sng">
                      <a:noFill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24"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create table test (a </a:t>
                      </a:r>
                      <a:r>
                        <a:rPr lang="en-US" altLang="ko-KR" sz="700" b="1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, b </a:t>
                      </a:r>
                      <a:r>
                        <a:rPr lang="en-US" altLang="ko-KR" sz="700" b="1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);</a:t>
                      </a:r>
                    </a:p>
                    <a:p>
                      <a:pPr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insert into test values(1, 1);</a:t>
                      </a:r>
                    </a:p>
                    <a:p>
                      <a:pPr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commit;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delete from test;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(1 row)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X(Session A)</a:t>
                      </a:r>
                    </a:p>
                    <a:p>
                      <a:pPr algn="l" latinLnBrk="1"/>
                      <a:r>
                        <a:rPr lang="en-US" altLang="ko-KR" sz="700" b="1" dirty="0" err="1">
                          <a:solidFill>
                            <a:schemeClr val="tx1"/>
                          </a:solidFill>
                        </a:rPr>
                        <a:t>transaction_id|lock_mode|lock_scope</a:t>
                      </a:r>
                      <a:endParaRPr lang="en-US" altLang="ko-KR" sz="700" b="1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700" b="1" dirty="0">
                          <a:solidFill>
                            <a:schemeClr val="tx2"/>
                          </a:solidFill>
                        </a:rPr>
                        <a:t>45035996273858535|X|TRANSACTION</a:t>
                      </a:r>
                      <a:endParaRPr lang="ko-KR" altLang="en-US" sz="700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latinLnBrk="1"/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X(Session A)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insert into test values(2, 2);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latinLnBrk="1"/>
                      <a:endParaRPr lang="en-US" altLang="ko-KR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dirty="0" err="1">
                          <a:solidFill>
                            <a:schemeClr val="tx1"/>
                          </a:solidFill>
                        </a:rPr>
                        <a:t>transaction_id|lock_mode|lock_scope</a:t>
                      </a:r>
                      <a:endParaRPr lang="en-US" altLang="ko-KR" sz="7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dirty="0">
                          <a:solidFill>
                            <a:schemeClr val="tx2"/>
                          </a:solidFill>
                        </a:rPr>
                        <a:t>45035996273858535|X|TRANSACTION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dirty="0">
                          <a:solidFill>
                            <a:schemeClr val="accent1"/>
                          </a:solidFill>
                        </a:rPr>
                        <a:t>45035996273858516|I|REQUESTED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commit;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(1 row)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latinLnBrk="1"/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IV(Session B)</a:t>
                      </a:r>
                    </a:p>
                    <a:p>
                      <a:pPr algn="l" latinLnBrk="1"/>
                      <a:r>
                        <a:rPr lang="en-US" altLang="ko-KR" sz="700" b="1" dirty="0" err="1">
                          <a:solidFill>
                            <a:schemeClr val="tx1"/>
                          </a:solidFill>
                        </a:rPr>
                        <a:t>transaction_id|lock_mode|lock_scope</a:t>
                      </a:r>
                      <a:endParaRPr lang="en-US" altLang="ko-KR" sz="700" b="1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7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45035996273858516|I|TRANSACTION</a:t>
                      </a:r>
                      <a:endParaRPr lang="ko-KR" altLang="en-US" sz="700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select * from test;</a:t>
                      </a:r>
                    </a:p>
                    <a:p>
                      <a:pPr latinLnBrk="1"/>
                      <a:r>
                        <a:rPr lang="en-US" altLang="ko-KR" sz="700" b="1" dirty="0" err="1">
                          <a:solidFill>
                            <a:schemeClr val="tx1"/>
                          </a:solidFill>
                        </a:rPr>
                        <a:t>a|b</a:t>
                      </a:r>
                      <a:endParaRPr lang="en-US" altLang="ko-KR" sz="700" b="1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(0 row)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IV(Session B)</a:t>
                      </a:r>
                      <a:endParaRPr lang="ko-KR" altLang="en-US" sz="700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select * from test;</a:t>
                      </a:r>
                    </a:p>
                    <a:p>
                      <a:pPr algn="r" latinLnBrk="1"/>
                      <a:r>
                        <a:rPr lang="en-US" altLang="ko-KR" sz="700" b="1" dirty="0" err="1">
                          <a:solidFill>
                            <a:schemeClr val="tx1"/>
                          </a:solidFill>
                        </a:rPr>
                        <a:t>a|b</a:t>
                      </a:r>
                      <a:endParaRPr lang="en-US" altLang="ko-KR" sz="700" b="1" dirty="0">
                        <a:solidFill>
                          <a:schemeClr val="tx1"/>
                        </a:solidFill>
                      </a:endParaRPr>
                    </a:p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2|2</a:t>
                      </a:r>
                    </a:p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(1 rows)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1312">
                <a:tc>
                  <a:txBody>
                    <a:bodyPr/>
                    <a:lstStyle/>
                    <a:p>
                      <a:pPr latinLnBrk="1"/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commit;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select * from test;</a:t>
                      </a:r>
                    </a:p>
                    <a:p>
                      <a:pPr latinLnBrk="1"/>
                      <a:r>
                        <a:rPr lang="en-US" altLang="ko-KR" sz="700" b="1" dirty="0" err="1">
                          <a:solidFill>
                            <a:schemeClr val="tx1"/>
                          </a:solidFill>
                        </a:rPr>
                        <a:t>a|b</a:t>
                      </a:r>
                      <a:endParaRPr lang="en-US" altLang="ko-KR" sz="700" b="1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2|2</a:t>
                      </a:r>
                    </a:p>
                    <a:p>
                      <a:pPr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(1 rows)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select * from test;</a:t>
                      </a:r>
                    </a:p>
                    <a:p>
                      <a:pPr algn="r" latinLnBrk="1"/>
                      <a:r>
                        <a:rPr lang="en-US" altLang="ko-KR" sz="700" b="1" dirty="0" err="1">
                          <a:solidFill>
                            <a:schemeClr val="tx1"/>
                          </a:solidFill>
                        </a:rPr>
                        <a:t>a|b</a:t>
                      </a:r>
                      <a:endParaRPr lang="en-US" altLang="ko-KR" sz="700" b="1" dirty="0">
                        <a:solidFill>
                          <a:schemeClr val="tx1"/>
                        </a:solidFill>
                      </a:endParaRPr>
                    </a:p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2|2</a:t>
                      </a:r>
                    </a:p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(1 rows)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919536" y="6397297"/>
            <a:ext cx="3974236" cy="20005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r"/>
            <a:r>
              <a:rPr lang="en-US" altLang="ko-KR" sz="700" b="1" dirty="0"/>
              <a:t>[LOCK MODE </a:t>
            </a:r>
            <a:r>
              <a:rPr lang="ko-KR" altLang="en-US" sz="700" b="1" dirty="0"/>
              <a:t>조회</a:t>
            </a:r>
            <a:r>
              <a:rPr lang="en-US" altLang="ko-KR" sz="700" b="1" dirty="0"/>
              <a:t>] select </a:t>
            </a:r>
            <a:r>
              <a:rPr lang="en-US" altLang="ko-KR" sz="700" b="1" dirty="0" err="1"/>
              <a:t>transaction_id</a:t>
            </a:r>
            <a:r>
              <a:rPr lang="en-US" altLang="ko-KR" sz="700" b="1" dirty="0"/>
              <a:t>, </a:t>
            </a:r>
            <a:r>
              <a:rPr lang="en-US" altLang="ko-KR" sz="700" b="1" dirty="0" err="1"/>
              <a:t>lock_mode</a:t>
            </a:r>
            <a:r>
              <a:rPr lang="en-US" altLang="ko-KR" sz="700" b="1" dirty="0"/>
              <a:t>, </a:t>
            </a:r>
            <a:r>
              <a:rPr lang="en-US" altLang="ko-KR" sz="700" b="1" dirty="0" err="1"/>
              <a:t>lock_scope</a:t>
            </a:r>
            <a:r>
              <a:rPr lang="en-US" altLang="ko-KR" sz="700" b="1" dirty="0"/>
              <a:t> from locks;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Roboto Light" charset="0"/>
              <a:cs typeface="Roboto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55722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25BB6B-CF96-4E5E-9804-C2E6FD396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시스템 테이블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CEB79F6-3C03-40EE-9591-6E8732721D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B2FA2B-C1C8-4D22-8A29-E39C7B3695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ko-KR" sz="1500" dirty="0" err="1"/>
              <a:t>system_tables</a:t>
            </a:r>
            <a:r>
              <a:rPr lang="en-US" altLang="ko-KR" sz="1500" dirty="0"/>
              <a:t> </a:t>
            </a:r>
            <a:r>
              <a:rPr lang="ko-KR" altLang="en-US" sz="1500" dirty="0"/>
              <a:t>쿼리를 통해 </a:t>
            </a:r>
            <a:r>
              <a:rPr lang="ko-KR" altLang="en-US" sz="1500" dirty="0" err="1"/>
              <a:t>버티카에서</a:t>
            </a:r>
            <a:r>
              <a:rPr lang="ko-KR" altLang="en-US" sz="1500" dirty="0"/>
              <a:t> 제공하는 시스템 테이블 목록 및 </a:t>
            </a:r>
            <a:r>
              <a:rPr lang="en-US" altLang="ko-KR" sz="1500" dirty="0"/>
              <a:t>description </a:t>
            </a:r>
            <a:r>
              <a:rPr lang="ko-KR" altLang="en-US" sz="1500" dirty="0"/>
              <a:t>확인 가능</a:t>
            </a:r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48BE8715-2089-47B9-B17F-647F30CDB8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7625736"/>
              </p:ext>
            </p:extLst>
          </p:nvPr>
        </p:nvGraphicFramePr>
        <p:xfrm>
          <a:off x="946150" y="1516120"/>
          <a:ext cx="10312400" cy="466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13546">
                  <a:extLst>
                    <a:ext uri="{9D8B030D-6E8A-4147-A177-3AD203B41FA5}">
                      <a16:colId xmlns:a16="http://schemas.microsoft.com/office/drawing/2014/main" val="1176816412"/>
                    </a:ext>
                  </a:extLst>
                </a:gridCol>
                <a:gridCol w="7898854">
                  <a:extLst>
                    <a:ext uri="{9D8B030D-6E8A-4147-A177-3AD203B41FA5}">
                      <a16:colId xmlns:a16="http://schemas.microsoft.com/office/drawing/2014/main" val="2655431081"/>
                    </a:ext>
                  </a:extLst>
                </a:gridCol>
              </a:tblGrid>
              <a:tr h="1951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테이블명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66069"/>
                  </a:ext>
                </a:extLst>
              </a:tr>
              <a:tr h="1951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tables</a:t>
                      </a: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dirty="0"/>
                        <a:t>테이블 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4768699"/>
                  </a:ext>
                </a:extLst>
              </a:tr>
              <a:tr h="1951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columns</a:t>
                      </a: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dirty="0"/>
                        <a:t>테이블의 컬럼 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4844528"/>
                  </a:ext>
                </a:extLst>
              </a:tr>
              <a:tr h="1951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 err="1"/>
                        <a:t>query_requests</a:t>
                      </a: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/>
                        <a:t>수행된 쿼리의 메모리 </a:t>
                      </a:r>
                      <a:r>
                        <a:rPr lang="en-US" altLang="ko-KR" sz="1000" dirty="0"/>
                        <a:t>/ </a:t>
                      </a:r>
                      <a:r>
                        <a:rPr lang="en-US" altLang="ko-KR" sz="1000" dirty="0" err="1"/>
                        <a:t>truansaction_id</a:t>
                      </a:r>
                      <a:r>
                        <a:rPr lang="en-US" altLang="ko-KR" sz="1000" dirty="0"/>
                        <a:t> / </a:t>
                      </a:r>
                      <a:r>
                        <a:rPr lang="en-US" altLang="ko-KR" sz="1000" dirty="0" err="1"/>
                        <a:t>statement_id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등의 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4070882"/>
                  </a:ext>
                </a:extLst>
              </a:tr>
              <a:tr h="28872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locks</a:t>
                      </a: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dirty="0"/>
                        <a:t>lock</a:t>
                      </a:r>
                      <a:r>
                        <a:rPr lang="ko-KR" altLang="en-US" sz="1000" dirty="0"/>
                        <a:t> 정보</a:t>
                      </a:r>
                      <a:endParaRPr lang="en-US" altLang="ko-KR" sz="100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dirty="0" err="1"/>
                        <a:t>lock_mode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 err="1"/>
                        <a:t>컬럼값이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REQUESTED </a:t>
                      </a:r>
                      <a:r>
                        <a:rPr lang="ko-KR" altLang="en-US" sz="1000" dirty="0"/>
                        <a:t>인 경우 </a:t>
                      </a:r>
                      <a:r>
                        <a:rPr lang="ko-KR" altLang="en-US" sz="1000" dirty="0" err="1"/>
                        <a:t>락</a:t>
                      </a:r>
                      <a:r>
                        <a:rPr lang="ko-KR" altLang="en-US" sz="1000" dirty="0"/>
                        <a:t> 획득 대기중인 트랜잭션</a:t>
                      </a:r>
                      <a:endParaRPr lang="en-US" altLang="ko-KR" sz="100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dirty="0" err="1"/>
                        <a:t>truansaction_id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로 식별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4871802"/>
                  </a:ext>
                </a:extLst>
              </a:tr>
              <a:tr h="20852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 err="1"/>
                        <a:t>query_consumption</a:t>
                      </a: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dirty="0"/>
                        <a:t>쿼리에서 소비한 </a:t>
                      </a:r>
                      <a:r>
                        <a:rPr lang="en-US" altLang="ko-KR" sz="1000" dirty="0" err="1"/>
                        <a:t>cpu</a:t>
                      </a:r>
                      <a:r>
                        <a:rPr lang="en-US" altLang="ko-KR" sz="1000" dirty="0"/>
                        <a:t>/network </a:t>
                      </a:r>
                      <a:r>
                        <a:rPr lang="ko-KR" altLang="en-US" sz="1000" dirty="0"/>
                        <a:t>송수신양 </a:t>
                      </a:r>
                      <a:r>
                        <a:rPr lang="en-US" altLang="ko-KR" sz="1000" dirty="0"/>
                        <a:t>/ </a:t>
                      </a:r>
                      <a:r>
                        <a:rPr lang="ko-KR" altLang="en-US" sz="1000" dirty="0"/>
                        <a:t>디스크 입출력양 등의 정보</a:t>
                      </a:r>
                      <a:endParaRPr lang="en-US" altLang="ko-KR" sz="1000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dirty="0" err="1"/>
                        <a:t>truansaction_id</a:t>
                      </a:r>
                      <a:r>
                        <a:rPr lang="en-US" altLang="ko-KR" sz="1000" dirty="0"/>
                        <a:t> + </a:t>
                      </a:r>
                      <a:r>
                        <a:rPr lang="en-US" altLang="ko-KR" sz="1000" dirty="0" err="1"/>
                        <a:t>statement_id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로 식별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8529899"/>
                  </a:ext>
                </a:extLst>
              </a:tr>
              <a:tr h="20852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 err="1"/>
                        <a:t>resource_acquisitions</a:t>
                      </a: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dirty="0"/>
                        <a:t>쿼리에서 소비한 메모리</a:t>
                      </a:r>
                      <a:r>
                        <a:rPr lang="en-US" altLang="ko-KR" sz="1000" dirty="0"/>
                        <a:t>/thread </a:t>
                      </a:r>
                      <a:r>
                        <a:rPr lang="ko-KR" altLang="en-US" sz="1000" dirty="0"/>
                        <a:t>등의 정보</a:t>
                      </a:r>
                      <a:endParaRPr lang="en-US" altLang="ko-KR" sz="100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dirty="0" err="1"/>
                        <a:t>truansaction_id</a:t>
                      </a:r>
                      <a:r>
                        <a:rPr lang="en-US" altLang="ko-KR" sz="1000" dirty="0"/>
                        <a:t> + </a:t>
                      </a:r>
                      <a:r>
                        <a:rPr lang="en-US" altLang="ko-KR" sz="1000" dirty="0" err="1"/>
                        <a:t>statement_id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로 식별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1355124"/>
                  </a:ext>
                </a:extLst>
              </a:tr>
              <a:tr h="1951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 err="1"/>
                        <a:t>constraint_columns</a:t>
                      </a: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dirty="0" err="1"/>
                        <a:t>컬럼별</a:t>
                      </a:r>
                      <a:r>
                        <a:rPr lang="ko-KR" altLang="en-US" sz="1000" dirty="0"/>
                        <a:t> 제약조건 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2938434"/>
                  </a:ext>
                </a:extLst>
              </a:tr>
              <a:tr h="1951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/>
                        <a:t>grants</a:t>
                      </a: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dirty="0"/>
                        <a:t>권한 부여 현황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7440579"/>
                  </a:ext>
                </a:extLst>
              </a:tr>
              <a:tr h="1951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err="1"/>
                        <a:t>system_resource_usage</a:t>
                      </a: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dirty="0"/>
                        <a:t>자원 사용 현황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5292807"/>
                  </a:ext>
                </a:extLst>
              </a:tr>
              <a:tr h="208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/>
                        <a:t>sessions</a:t>
                      </a: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dirty="0"/>
                        <a:t>세션 현황</a:t>
                      </a:r>
                      <a:endParaRPr lang="en-US" altLang="ko-KR" sz="100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dirty="0" err="1"/>
                        <a:t>current_statement</a:t>
                      </a:r>
                      <a:r>
                        <a:rPr lang="en-US" altLang="ko-KR" sz="1000" dirty="0"/>
                        <a:t> &lt;&gt; ‘’ </a:t>
                      </a:r>
                      <a:r>
                        <a:rPr lang="ko-KR" altLang="en-US" sz="1000" dirty="0"/>
                        <a:t>인 쿼리가 현재 수행중인 쿼리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9246225"/>
                  </a:ext>
                </a:extLst>
              </a:tr>
              <a:tr h="208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err="1"/>
                        <a:t>resource_queues</a:t>
                      </a: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dirty="0"/>
                        <a:t>큐에 쌓인 쿼리 정보</a:t>
                      </a:r>
                      <a:endParaRPr lang="en-US" altLang="ko-KR" sz="1000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dirty="0" err="1"/>
                        <a:t>truansaction_id</a:t>
                      </a:r>
                      <a:r>
                        <a:rPr lang="en-US" altLang="ko-KR" sz="1000" dirty="0"/>
                        <a:t> + </a:t>
                      </a:r>
                      <a:r>
                        <a:rPr lang="en-US" altLang="ko-KR" sz="1000" dirty="0" err="1"/>
                        <a:t>statement_id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로 식별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4048810"/>
                  </a:ext>
                </a:extLst>
              </a:tr>
              <a:tr h="208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err="1"/>
                        <a:t>load_streams</a:t>
                      </a: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/>
                        <a:t>적재 현황 정보</a:t>
                      </a:r>
                      <a:r>
                        <a:rPr lang="en-US" altLang="ko-KR" sz="1000" dirty="0"/>
                        <a:t>(COPY</a:t>
                      </a:r>
                      <a:r>
                        <a:rPr lang="ko-KR" altLang="en-US" sz="1000" dirty="0"/>
                        <a:t>문으로 수행된 적재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1012215"/>
                  </a:ext>
                </a:extLst>
              </a:tr>
              <a:tr h="208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err="1"/>
                        <a:t>view_columns</a:t>
                      </a:r>
                      <a:r>
                        <a:rPr lang="en-US" altLang="ko-KR" sz="1000" b="1" dirty="0"/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err="1"/>
                        <a:t>view_tables</a:t>
                      </a:r>
                      <a:r>
                        <a:rPr lang="en-US" altLang="ko-KR" sz="1000" b="1" dirty="0"/>
                        <a:t>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/>
                        <a:t>views </a:t>
                      </a: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/>
                        <a:t>뷰와 관련된 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4297872"/>
                  </a:ext>
                </a:extLst>
              </a:tr>
            </a:tbl>
          </a:graphicData>
        </a:graphic>
      </p:graphicFrame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D5C3031-6F2B-4DA5-916A-A8B5D4B705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기타</a:t>
            </a:r>
          </a:p>
        </p:txBody>
      </p:sp>
    </p:spTree>
    <p:extLst>
      <p:ext uri="{BB962C8B-B14F-4D97-AF65-F5344CB8AC3E}">
        <p14:creationId xmlns:p14="http://schemas.microsoft.com/office/powerpoint/2010/main" val="20872030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프로젝트 수행 시 고려 사항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기타</a:t>
            </a:r>
          </a:p>
        </p:txBody>
      </p:sp>
      <p:sp>
        <p:nvSpPr>
          <p:cNvPr id="36" name="Content Placeholder 3"/>
          <p:cNvSpPr>
            <a:spLocks noGrp="1"/>
          </p:cNvSpPr>
          <p:nvPr>
            <p:ph sz="half" idx="1"/>
          </p:nvPr>
        </p:nvSpPr>
        <p:spPr>
          <a:xfrm>
            <a:off x="609441" y="1295401"/>
            <a:ext cx="5314328" cy="5013324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 err="1"/>
              <a:t>버티카가</a:t>
            </a:r>
            <a:r>
              <a:rPr lang="ko-KR" altLang="en-US" sz="1100" dirty="0"/>
              <a:t> 지원하는 </a:t>
            </a:r>
            <a:r>
              <a:rPr lang="en-US" altLang="ko-KR" sz="1100" dirty="0"/>
              <a:t>character set</a:t>
            </a:r>
            <a:r>
              <a:rPr lang="ko-KR" altLang="en-US" sz="1100" dirty="0"/>
              <a:t>은 </a:t>
            </a:r>
            <a:r>
              <a:rPr lang="en-US" altLang="ko-KR" sz="1100" dirty="0"/>
              <a:t>utf8</a:t>
            </a:r>
            <a:r>
              <a:rPr lang="ko-KR" altLang="en-US" sz="1100" dirty="0"/>
              <a:t>만 지원한다</a:t>
            </a:r>
            <a:r>
              <a:rPr lang="en-US" altLang="ko-KR" sz="1100" dirty="0"/>
              <a:t>.</a:t>
            </a:r>
          </a:p>
          <a:p>
            <a:pPr lvl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numeric type </a:t>
            </a:r>
            <a:r>
              <a:rPr lang="ko-KR" altLang="en-US" sz="1100" dirty="0"/>
              <a:t>사용시 필요한 </a:t>
            </a:r>
            <a:r>
              <a:rPr lang="en-US" altLang="ko-KR" sz="1100" dirty="0"/>
              <a:t>scale</a:t>
            </a:r>
            <a:r>
              <a:rPr lang="ko-KR" altLang="en-US" sz="1100" dirty="0"/>
              <a:t>로 생성 할 것</a:t>
            </a:r>
            <a:r>
              <a:rPr lang="en-US" altLang="ko-KR" sz="1100" dirty="0"/>
              <a:t>. </a:t>
            </a:r>
            <a:r>
              <a:rPr lang="ko-KR" altLang="en-US" sz="1100" dirty="0"/>
              <a:t>소수점 불 필요시 </a:t>
            </a:r>
            <a:r>
              <a:rPr lang="en-US" altLang="ko-KR" sz="1100" dirty="0" err="1"/>
              <a:t>int</a:t>
            </a:r>
            <a:r>
              <a:rPr lang="en-US" altLang="ko-KR" sz="1100" dirty="0"/>
              <a:t> type </a:t>
            </a:r>
            <a:r>
              <a:rPr lang="ko-KR" altLang="en-US" sz="1100" dirty="0"/>
              <a:t>권장</a:t>
            </a:r>
            <a:r>
              <a:rPr lang="en-US" altLang="ko-KR" sz="1100" dirty="0"/>
              <a:t>.</a:t>
            </a:r>
          </a:p>
          <a:p>
            <a:pPr marL="228600" lvl="1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ko-KR" altLang="en-US" sz="1100" dirty="0"/>
              <a:t>     불필요한 소수점 이하 자리수로 인해 라이선스 소모 발생</a:t>
            </a:r>
            <a:r>
              <a:rPr lang="en-US" altLang="ko-KR" sz="1100" dirty="0"/>
              <a:t>.</a:t>
            </a:r>
            <a:endParaRPr lang="ko-KR" altLang="en-US" sz="1100" dirty="0"/>
          </a:p>
          <a:p>
            <a:pPr marL="228600" lvl="1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ko-KR" altLang="en-US" sz="1000" dirty="0"/>
              <a:t>     예</a:t>
            </a:r>
            <a:r>
              <a:rPr lang="en-US" altLang="ko-KR" sz="1000" dirty="0"/>
              <a:t>&gt; </a:t>
            </a:r>
            <a:r>
              <a:rPr lang="ko-KR" altLang="en-US" sz="1000" dirty="0"/>
              <a:t>컬럼 </a:t>
            </a:r>
            <a:r>
              <a:rPr lang="en-US" altLang="ko-KR" sz="1000" dirty="0"/>
              <a:t>type</a:t>
            </a:r>
            <a:r>
              <a:rPr lang="ko-KR" altLang="en-US" sz="1000" dirty="0"/>
              <a:t>을 </a:t>
            </a:r>
            <a:r>
              <a:rPr lang="en-US" altLang="ko-KR" sz="1000" dirty="0"/>
              <a:t>numeric, numeric(10,5)</a:t>
            </a:r>
            <a:r>
              <a:rPr lang="ko-KR" altLang="en-US" sz="1000" dirty="0"/>
              <a:t>로 설정한 경우 </a:t>
            </a:r>
            <a:r>
              <a:rPr lang="en-US" altLang="ko-KR" sz="1000" dirty="0"/>
              <a:t>10.2</a:t>
            </a:r>
            <a:r>
              <a:rPr lang="ko-KR" altLang="en-US" sz="1000" dirty="0"/>
              <a:t>이라는 값을 저장 시 </a:t>
            </a:r>
            <a:endParaRPr lang="en-US" altLang="ko-KR" sz="1000" dirty="0"/>
          </a:p>
          <a:p>
            <a:pPr marL="228600" lvl="1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altLang="ko-KR" sz="1000" dirty="0"/>
              <a:t>           10.200000000000000, 10.20000</a:t>
            </a:r>
            <a:r>
              <a:rPr lang="ko-KR" altLang="en-US" sz="1000" dirty="0"/>
              <a:t>로 저장되어 불필요한 소수점 자리가 </a:t>
            </a:r>
            <a:endParaRPr lang="en-US" altLang="ko-KR" sz="1000" dirty="0"/>
          </a:p>
          <a:p>
            <a:pPr marL="228600" lvl="1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altLang="ko-KR" sz="1000" dirty="0"/>
              <a:t>          </a:t>
            </a:r>
            <a:r>
              <a:rPr lang="ko-KR" altLang="en-US" sz="1000" dirty="0"/>
              <a:t> 라이선스 포함</a:t>
            </a:r>
            <a:r>
              <a:rPr lang="en-US" altLang="ko-KR" sz="1000" dirty="0"/>
              <a:t>.</a:t>
            </a:r>
          </a:p>
          <a:p>
            <a:pPr lvl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불필요하게 큰 </a:t>
            </a:r>
            <a:r>
              <a:rPr lang="en-US" altLang="ko-KR" sz="1100" dirty="0"/>
              <a:t>varchar </a:t>
            </a:r>
            <a:r>
              <a:rPr lang="ko-KR" altLang="en-US" sz="1100" dirty="0"/>
              <a:t>적용 금지</a:t>
            </a:r>
            <a:r>
              <a:rPr lang="en-US" altLang="ko-KR" sz="1100" dirty="0"/>
              <a:t>.</a:t>
            </a:r>
            <a:r>
              <a:rPr lang="ko-KR" altLang="en-US" sz="1100" dirty="0"/>
              <a:t> 적재 성능 저하</a:t>
            </a:r>
            <a:r>
              <a:rPr lang="en-US" altLang="ko-KR" sz="1100" dirty="0"/>
              <a:t>.</a:t>
            </a:r>
          </a:p>
          <a:p>
            <a:pPr lvl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 </a:t>
            </a:r>
            <a:r>
              <a:rPr lang="en-US" altLang="ko-KR" sz="1100" dirty="0"/>
              <a:t>source </a:t>
            </a:r>
            <a:r>
              <a:rPr lang="ko-KR" altLang="en-US" sz="1100" dirty="0"/>
              <a:t>측이 </a:t>
            </a:r>
            <a:r>
              <a:rPr lang="en-US" altLang="ko-KR" sz="1100" dirty="0"/>
              <a:t>utf8</a:t>
            </a:r>
            <a:r>
              <a:rPr lang="ko-KR" altLang="en-US" sz="1100" dirty="0"/>
              <a:t>이 아닌 경우 </a:t>
            </a:r>
            <a:r>
              <a:rPr lang="en-US" altLang="ko-KR" sz="1100" dirty="0"/>
              <a:t>varchar</a:t>
            </a:r>
            <a:r>
              <a:rPr lang="ko-KR" altLang="en-US" sz="1100" dirty="0"/>
              <a:t>의 길이를 </a:t>
            </a:r>
            <a:r>
              <a:rPr lang="en-US" altLang="ko-KR" sz="1100" dirty="0"/>
              <a:t>1.5</a:t>
            </a:r>
            <a:r>
              <a:rPr lang="ko-KR" altLang="en-US" sz="1100" dirty="0"/>
              <a:t>배 적용하여 테이블 생성</a:t>
            </a:r>
            <a:r>
              <a:rPr lang="en-US" altLang="ko-KR" sz="1100" dirty="0"/>
              <a:t>.</a:t>
            </a:r>
          </a:p>
          <a:p>
            <a:pPr marL="228600" lvl="1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ko-KR" altLang="en-US" sz="1100" dirty="0"/>
              <a:t>     </a:t>
            </a:r>
            <a:r>
              <a:rPr lang="ko-KR" altLang="en-US" sz="1000" dirty="0"/>
              <a:t> 예</a:t>
            </a:r>
            <a:r>
              <a:rPr lang="en-US" altLang="ko-KR" sz="1000" dirty="0"/>
              <a:t>&gt; </a:t>
            </a:r>
            <a:r>
              <a:rPr lang="en-US" altLang="ko-KR" sz="1000" dirty="0" err="1"/>
              <a:t>euc-kr</a:t>
            </a:r>
            <a:r>
              <a:rPr lang="ko-KR" altLang="en-US" sz="1000" dirty="0"/>
              <a:t>인 경우 한글 한자가 </a:t>
            </a:r>
            <a:r>
              <a:rPr lang="en-US" altLang="ko-KR" sz="1000" dirty="0"/>
              <a:t>2byte</a:t>
            </a:r>
            <a:r>
              <a:rPr lang="ko-KR" altLang="en-US" sz="1000" dirty="0"/>
              <a:t>이지만 </a:t>
            </a:r>
            <a:r>
              <a:rPr lang="ko-KR" altLang="en-US" sz="1000" dirty="0" err="1"/>
              <a:t>버티카에서는</a:t>
            </a:r>
            <a:r>
              <a:rPr lang="ko-KR" altLang="en-US" sz="1000" dirty="0"/>
              <a:t> </a:t>
            </a:r>
            <a:r>
              <a:rPr lang="en-US" altLang="ko-KR" sz="1000" dirty="0"/>
              <a:t>utf8</a:t>
            </a:r>
            <a:r>
              <a:rPr lang="ko-KR" altLang="en-US" sz="1000" dirty="0"/>
              <a:t>이므로 </a:t>
            </a:r>
            <a:r>
              <a:rPr lang="en-US" altLang="ko-KR" sz="1000" dirty="0"/>
              <a:t>3byte</a:t>
            </a:r>
            <a:r>
              <a:rPr lang="ko-KR" altLang="en-US" sz="1000" dirty="0"/>
              <a:t>가 된다</a:t>
            </a:r>
            <a:r>
              <a:rPr lang="en-US" altLang="ko-KR" sz="1000" dirty="0"/>
              <a:t>.</a:t>
            </a:r>
          </a:p>
          <a:p>
            <a:pPr lvl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 err="1"/>
              <a:t>버티카</a:t>
            </a:r>
            <a:r>
              <a:rPr lang="ko-KR" altLang="en-US" sz="1100" dirty="0"/>
              <a:t> </a:t>
            </a:r>
            <a:r>
              <a:rPr lang="en-US" altLang="ko-KR" sz="1100" dirty="0"/>
              <a:t>date </a:t>
            </a:r>
            <a:r>
              <a:rPr lang="ko-KR" altLang="en-US" sz="1100" dirty="0"/>
              <a:t>타입은 시간 정보 포함되지 않음</a:t>
            </a:r>
            <a:r>
              <a:rPr lang="en-US" altLang="ko-KR" sz="1100" dirty="0"/>
              <a:t>. </a:t>
            </a:r>
            <a:r>
              <a:rPr lang="ko-KR" altLang="en-US" sz="1100" dirty="0" err="1"/>
              <a:t>시간정보</a:t>
            </a:r>
            <a:r>
              <a:rPr lang="ko-KR" altLang="en-US" sz="1100" dirty="0"/>
              <a:t> 필요시 </a:t>
            </a:r>
            <a:r>
              <a:rPr lang="en-US" altLang="ko-KR" sz="1100" dirty="0"/>
              <a:t>timestamp </a:t>
            </a:r>
            <a:r>
              <a:rPr lang="ko-KR" altLang="en-US" sz="1100" dirty="0"/>
              <a:t>로 생성</a:t>
            </a:r>
            <a:endParaRPr lang="en-US" altLang="ko-KR" sz="1100" dirty="0"/>
          </a:p>
          <a:p>
            <a:pPr lvl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LONG </a:t>
            </a:r>
            <a:r>
              <a:rPr lang="ko-KR" altLang="en-US" sz="1100" dirty="0"/>
              <a:t>타입이 필요한 경우 </a:t>
            </a:r>
            <a:r>
              <a:rPr lang="en-US" altLang="ko-KR" sz="1100" dirty="0"/>
              <a:t>DBA </a:t>
            </a:r>
            <a:r>
              <a:rPr lang="ko-KR" altLang="en-US" sz="1100" dirty="0"/>
              <a:t>협의 후 사용할 것을 권장</a:t>
            </a:r>
            <a:r>
              <a:rPr lang="en-US" altLang="ko-KR" sz="1100" dirty="0"/>
              <a:t>.</a:t>
            </a:r>
          </a:p>
          <a:p>
            <a:pPr lvl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객체의 </a:t>
            </a:r>
            <a:r>
              <a:rPr lang="en-US" altLang="ko-KR" sz="1100" dirty="0"/>
              <a:t>owner</a:t>
            </a:r>
            <a:r>
              <a:rPr lang="ko-KR" altLang="en-US" sz="1100" dirty="0"/>
              <a:t> 단일화 권장</a:t>
            </a:r>
            <a:r>
              <a:rPr lang="en-US" altLang="ko-KR" sz="1100" dirty="0"/>
              <a:t>.</a:t>
            </a:r>
          </a:p>
          <a:p>
            <a:pPr lvl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 err="1"/>
              <a:t>search_path</a:t>
            </a:r>
            <a:r>
              <a:rPr lang="en-US" altLang="ko-KR" sz="1100" dirty="0"/>
              <a:t> </a:t>
            </a:r>
            <a:r>
              <a:rPr lang="ko-KR" altLang="en-US" sz="1100" dirty="0"/>
              <a:t>기능은 있으나 </a:t>
            </a:r>
            <a:r>
              <a:rPr lang="ko-KR" altLang="en-US" sz="1100" dirty="0" err="1"/>
              <a:t>스키마명을</a:t>
            </a:r>
            <a:r>
              <a:rPr lang="ko-KR" altLang="en-US" sz="1100" dirty="0"/>
              <a:t> 명시하여 쿼리 작성 권장</a:t>
            </a:r>
            <a:r>
              <a:rPr lang="en-US" altLang="ko-KR" sz="1100" dirty="0"/>
              <a:t>.</a:t>
            </a:r>
            <a:endParaRPr lang="ko-KR" altLang="en-US" sz="1100" dirty="0"/>
          </a:p>
          <a:p>
            <a:pPr lvl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dimension </a:t>
            </a:r>
            <a:r>
              <a:rPr lang="ko-KR" altLang="en-US" sz="1100" dirty="0"/>
              <a:t>성격의 테이블 혹은 </a:t>
            </a:r>
            <a:r>
              <a:rPr lang="en-US" altLang="ko-KR" sz="1100" dirty="0"/>
              <a:t>10</a:t>
            </a:r>
            <a:r>
              <a:rPr lang="ko-KR" altLang="en-US" sz="1100" dirty="0" err="1"/>
              <a:t>만건</a:t>
            </a:r>
            <a:r>
              <a:rPr lang="ko-KR" altLang="en-US" sz="1100" dirty="0"/>
              <a:t> 이하의 테이블은 </a:t>
            </a:r>
            <a:r>
              <a:rPr lang="en-US" altLang="ko-KR" sz="1100" dirty="0"/>
              <a:t>unsegment projection </a:t>
            </a:r>
            <a:r>
              <a:rPr lang="ko-KR" altLang="en-US" sz="1100" dirty="0"/>
              <a:t>사용 할 것</a:t>
            </a:r>
            <a:r>
              <a:rPr lang="en-US" altLang="ko-KR" sz="1100" dirty="0"/>
              <a:t>.(</a:t>
            </a:r>
            <a:r>
              <a:rPr lang="ko-KR" altLang="en-US" sz="1100" dirty="0"/>
              <a:t>데이터 특성에 따라 </a:t>
            </a:r>
            <a:r>
              <a:rPr lang="en-US" altLang="ko-KR" sz="1100" dirty="0"/>
              <a:t>100</a:t>
            </a:r>
            <a:r>
              <a:rPr lang="ko-KR" altLang="en-US" sz="1100" dirty="0" err="1"/>
              <a:t>만건</a:t>
            </a:r>
            <a:r>
              <a:rPr lang="ko-KR" altLang="en-US" sz="1100" dirty="0"/>
              <a:t> 이하의 테이블도 검토</a:t>
            </a:r>
            <a:r>
              <a:rPr lang="en-US" altLang="ko-KR" sz="1100" dirty="0"/>
              <a:t>)</a:t>
            </a:r>
          </a:p>
          <a:p>
            <a:pPr lvl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 err="1"/>
              <a:t>segmente</a:t>
            </a:r>
            <a:r>
              <a:rPr lang="en-US" altLang="ko-KR" sz="1100" dirty="0"/>
              <a:t> key </a:t>
            </a:r>
            <a:r>
              <a:rPr lang="ko-KR" altLang="en-US" sz="1100" dirty="0"/>
              <a:t>는 데이터 </a:t>
            </a:r>
            <a:r>
              <a:rPr lang="en-US" altLang="ko-KR" sz="1100" dirty="0"/>
              <a:t>skew </a:t>
            </a:r>
            <a:r>
              <a:rPr lang="ko-KR" altLang="en-US" sz="1100" dirty="0"/>
              <a:t>가 발생하지 않는 범위 내에서 최소화</a:t>
            </a:r>
            <a:r>
              <a:rPr lang="en-US" altLang="ko-KR" sz="1100" dirty="0"/>
              <a:t>. </a:t>
            </a:r>
          </a:p>
          <a:p>
            <a:pPr marL="228600" lvl="1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altLang="ko-KR" sz="1100" dirty="0"/>
              <a:t>     </a:t>
            </a:r>
            <a:r>
              <a:rPr lang="ko-KR" altLang="en-US" sz="1100" dirty="0"/>
              <a:t>쿼리 패턴 파악 후 </a:t>
            </a:r>
            <a:r>
              <a:rPr lang="en-US" altLang="ko-KR" sz="1100" dirty="0" err="1"/>
              <a:t>segmente</a:t>
            </a:r>
            <a:r>
              <a:rPr lang="en-US" altLang="ko-KR" sz="1100" dirty="0"/>
              <a:t> key </a:t>
            </a:r>
            <a:r>
              <a:rPr lang="ko-KR" altLang="en-US" sz="1100" dirty="0"/>
              <a:t>재설정</a:t>
            </a:r>
            <a:r>
              <a:rPr lang="en-US" altLang="ko-KR" sz="1100" dirty="0"/>
              <a:t>.</a:t>
            </a:r>
            <a:endParaRPr lang="ko-KR" altLang="en-US" sz="1100" dirty="0"/>
          </a:p>
          <a:p>
            <a:pPr lvl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en-US" altLang="ko-KR" sz="1100" dirty="0"/>
          </a:p>
        </p:txBody>
      </p:sp>
      <p:sp>
        <p:nvSpPr>
          <p:cNvPr id="37" name="Content Placeholder 4"/>
          <p:cNvSpPr txBox="1">
            <a:spLocks/>
          </p:cNvSpPr>
          <p:nvPr/>
        </p:nvSpPr>
        <p:spPr>
          <a:xfrm>
            <a:off x="6265056" y="1295401"/>
            <a:ext cx="5314328" cy="50133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endParaRPr lang="ko-KR" altLang="en-US" sz="1100" dirty="0"/>
          </a:p>
        </p:txBody>
      </p:sp>
      <p:cxnSp>
        <p:nvCxnSpPr>
          <p:cNvPr id="80" name="Straight Connector 5"/>
          <p:cNvCxnSpPr/>
          <p:nvPr/>
        </p:nvCxnSpPr>
        <p:spPr>
          <a:xfrm>
            <a:off x="6096000" y="1761595"/>
            <a:ext cx="0" cy="441536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ontent Placeholder 3"/>
          <p:cNvSpPr txBox="1">
            <a:spLocks/>
          </p:cNvSpPr>
          <p:nvPr/>
        </p:nvSpPr>
        <p:spPr>
          <a:xfrm>
            <a:off x="6240016" y="1295401"/>
            <a:ext cx="5314328" cy="50133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파티션 테이블 설정 시 일별 파티션은 지양하며</a:t>
            </a:r>
            <a:r>
              <a:rPr lang="en-US" altLang="ko-KR" sz="1100" dirty="0"/>
              <a:t>, </a:t>
            </a:r>
            <a:r>
              <a:rPr lang="ko-KR" altLang="en-US" sz="1100" dirty="0"/>
              <a:t>필요한 경우 파티션 </a:t>
            </a:r>
            <a:r>
              <a:rPr lang="ko-KR" altLang="en-US" sz="1100" dirty="0" err="1"/>
              <a:t>그룹핑</a:t>
            </a:r>
            <a:r>
              <a:rPr lang="ko-KR" altLang="en-US" sz="1100" dirty="0"/>
              <a:t> 기능 사용 권장</a:t>
            </a:r>
            <a:r>
              <a:rPr lang="en-US" altLang="ko-KR" sz="1100" dirty="0"/>
              <a:t>.</a:t>
            </a:r>
          </a:p>
          <a:p>
            <a:pPr lvl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시퀀스 사용 시 </a:t>
            </a:r>
            <a:r>
              <a:rPr lang="ko-KR" altLang="en-US" sz="1100" dirty="0" err="1"/>
              <a:t>노드별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캐싱으로</a:t>
            </a:r>
            <a:r>
              <a:rPr lang="ko-KR" altLang="en-US" sz="1100" dirty="0"/>
              <a:t> 인해 연속적이지 않고 중간중간 누락되는 구간이 발생함</a:t>
            </a:r>
            <a:r>
              <a:rPr lang="en-US" altLang="ko-KR" sz="1100" dirty="0"/>
              <a:t>.(</a:t>
            </a:r>
            <a:r>
              <a:rPr lang="ko-KR" altLang="en-US" sz="1100" dirty="0" err="1"/>
              <a:t>노드별</a:t>
            </a:r>
            <a:r>
              <a:rPr lang="ko-KR" altLang="en-US" sz="1100" dirty="0"/>
              <a:t> </a:t>
            </a:r>
            <a:r>
              <a:rPr lang="en-US" altLang="ko-KR" sz="1100" dirty="0"/>
              <a:t>default cache = 250,000)</a:t>
            </a:r>
          </a:p>
          <a:p>
            <a:pPr lvl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user</a:t>
            </a:r>
            <a:r>
              <a:rPr lang="ko-KR" altLang="en-US" sz="1100" dirty="0"/>
              <a:t>의 </a:t>
            </a:r>
            <a:r>
              <a:rPr lang="en-US" altLang="ko-KR" sz="1100" dirty="0"/>
              <a:t>default </a:t>
            </a:r>
            <a:r>
              <a:rPr lang="ko-KR" altLang="en-US" sz="1100" dirty="0" err="1"/>
              <a:t>리소스풀인</a:t>
            </a:r>
            <a:r>
              <a:rPr lang="ko-KR" altLang="en-US" sz="1100" dirty="0"/>
              <a:t> </a:t>
            </a:r>
            <a:r>
              <a:rPr lang="en-US" altLang="ko-KR" sz="1100" dirty="0"/>
              <a:t>general</a:t>
            </a:r>
            <a:r>
              <a:rPr lang="ko-KR" altLang="en-US" sz="1100" dirty="0"/>
              <a:t>풀 사용을 지양할 것</a:t>
            </a:r>
            <a:r>
              <a:rPr lang="en-US" altLang="ko-KR" sz="1100" dirty="0"/>
              <a:t>. </a:t>
            </a:r>
            <a:r>
              <a:rPr lang="ko-KR" altLang="en-US" sz="1100" dirty="0"/>
              <a:t>워크로드 파악 후 리소스 풀 추가 생성하여 사용할 것</a:t>
            </a:r>
            <a:r>
              <a:rPr lang="en-US" altLang="ko-KR" sz="1100" dirty="0"/>
              <a:t>.</a:t>
            </a:r>
          </a:p>
          <a:p>
            <a:pPr lvl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 err="1"/>
              <a:t>단건</a:t>
            </a:r>
            <a:r>
              <a:rPr lang="ko-KR" altLang="en-US" sz="1100" dirty="0"/>
              <a:t> </a:t>
            </a:r>
            <a:r>
              <a:rPr lang="en-US" altLang="ko-KR" sz="1100" dirty="0"/>
              <a:t>update / delete </a:t>
            </a:r>
            <a:r>
              <a:rPr lang="ko-KR" altLang="en-US" sz="1100" dirty="0"/>
              <a:t>는 반드시 지양</a:t>
            </a:r>
            <a:r>
              <a:rPr lang="en-US" altLang="ko-KR" sz="1100" dirty="0"/>
              <a:t>.</a:t>
            </a:r>
            <a:r>
              <a:rPr lang="ko-KR" altLang="en-US" sz="1100" dirty="0"/>
              <a:t> </a:t>
            </a:r>
            <a:r>
              <a:rPr lang="en-US" altLang="ko-KR" sz="1100" dirty="0"/>
              <a:t>bulk </a:t>
            </a:r>
            <a:r>
              <a:rPr lang="ko-KR" altLang="en-US" sz="1100" dirty="0"/>
              <a:t>단위로 처리 권장</a:t>
            </a:r>
            <a:r>
              <a:rPr lang="en-US" altLang="ko-KR" sz="1100" dirty="0"/>
              <a:t>.</a:t>
            </a:r>
            <a:endParaRPr lang="ko-KR" altLang="en-US" sz="1100" dirty="0"/>
          </a:p>
          <a:p>
            <a:pPr lvl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초기 데이터 적재 시 원천에서 데이터를 </a:t>
            </a:r>
            <a:r>
              <a:rPr lang="en-US" altLang="ko-KR" sz="1100" dirty="0"/>
              <a:t>export</a:t>
            </a:r>
            <a:r>
              <a:rPr lang="ko-KR" altLang="en-US" sz="1100" dirty="0"/>
              <a:t>할 경우 </a:t>
            </a:r>
            <a:r>
              <a:rPr lang="ko-KR" altLang="en-US" sz="1100" dirty="0" err="1"/>
              <a:t>널값에</a:t>
            </a:r>
            <a:r>
              <a:rPr lang="ko-KR" altLang="en-US" sz="1100" dirty="0"/>
              <a:t> 대한 처리 반드시 필요</a:t>
            </a:r>
            <a:r>
              <a:rPr lang="en-US" altLang="ko-KR" sz="1100" dirty="0"/>
              <a:t>(ETL</a:t>
            </a:r>
            <a:r>
              <a:rPr lang="ko-KR" altLang="en-US" sz="1100" dirty="0"/>
              <a:t>을 통한 적재는 무관</a:t>
            </a:r>
            <a:r>
              <a:rPr lang="en-US" altLang="ko-KR" sz="1100" dirty="0"/>
              <a:t>)</a:t>
            </a:r>
          </a:p>
          <a:p>
            <a:pPr lvl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/>
              <a:t>적재 시</a:t>
            </a:r>
            <a:r>
              <a:rPr lang="en-US" altLang="ko-KR" sz="1100" dirty="0"/>
              <a:t>(copy</a:t>
            </a:r>
            <a:r>
              <a:rPr lang="ko-KR" altLang="en-US" sz="1100" dirty="0"/>
              <a:t>문</a:t>
            </a:r>
            <a:r>
              <a:rPr lang="en-US" altLang="ko-KR" sz="1100" dirty="0"/>
              <a:t>)</a:t>
            </a:r>
            <a:r>
              <a:rPr lang="ko-KR" altLang="en-US" sz="1100" dirty="0"/>
              <a:t> </a:t>
            </a:r>
            <a:r>
              <a:rPr lang="en-US" altLang="ko-KR" sz="1100" dirty="0"/>
              <a:t>null as / </a:t>
            </a:r>
            <a:r>
              <a:rPr lang="en-US" altLang="ko-KR" sz="1100" dirty="0" err="1"/>
              <a:t>enforcelength</a:t>
            </a:r>
            <a:r>
              <a:rPr lang="en-US" altLang="ko-KR" sz="1100" dirty="0"/>
              <a:t> </a:t>
            </a:r>
            <a:r>
              <a:rPr lang="ko-KR" altLang="en-US" sz="1100" dirty="0"/>
              <a:t>구문 적용할 것</a:t>
            </a:r>
          </a:p>
          <a:p>
            <a:pPr lvl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100" dirty="0" err="1"/>
              <a:t>버티카</a:t>
            </a:r>
            <a:r>
              <a:rPr lang="ko-KR" altLang="en-US" sz="1100" dirty="0"/>
              <a:t> 사용자 정의 </a:t>
            </a:r>
            <a:r>
              <a:rPr lang="en-US" altLang="ko-KR" sz="1100" dirty="0" err="1"/>
              <a:t>sql</a:t>
            </a:r>
            <a:r>
              <a:rPr lang="en-US" altLang="ko-KR" sz="1100" dirty="0"/>
              <a:t> </a:t>
            </a:r>
            <a:r>
              <a:rPr lang="ko-KR" altLang="en-US" sz="1100" dirty="0"/>
              <a:t>함수는 테이블 참조를 할 수 없음</a:t>
            </a:r>
          </a:p>
          <a:p>
            <a:pPr lvl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100" dirty="0"/>
              <a:t>shell </a:t>
            </a:r>
            <a:r>
              <a:rPr lang="ko-KR" altLang="en-US" sz="1100" dirty="0"/>
              <a:t>기반의 </a:t>
            </a:r>
            <a:r>
              <a:rPr lang="en-US" altLang="ko-KR" sz="1100" dirty="0"/>
              <a:t>external </a:t>
            </a:r>
            <a:r>
              <a:rPr lang="ko-KR" altLang="en-US" sz="1100" dirty="0"/>
              <a:t>프로시저를 지원하나 프로시저 사용을 지양</a:t>
            </a:r>
            <a:r>
              <a:rPr lang="en-US" altLang="ko-KR" sz="1100" dirty="0"/>
              <a:t>(ETL</a:t>
            </a:r>
            <a:r>
              <a:rPr lang="ko-KR" altLang="en-US" sz="1100" dirty="0"/>
              <a:t>에 해당 </a:t>
            </a:r>
            <a:r>
              <a:rPr lang="ko-KR" altLang="en-US" sz="1100" dirty="0" err="1"/>
              <a:t>로직</a:t>
            </a:r>
            <a:r>
              <a:rPr lang="ko-KR" altLang="en-US" sz="1100" dirty="0"/>
              <a:t> 적용</a:t>
            </a:r>
            <a:r>
              <a:rPr lang="en-US" altLang="ko-KR" sz="11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0963482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E663A-B91F-4F2C-8D13-856F5F2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Data type </a:t>
            </a:r>
            <a:r>
              <a:rPr lang="ko-KR" altLang="en-US" sz="2800" dirty="0"/>
              <a:t>비교</a:t>
            </a:r>
            <a:r>
              <a:rPr lang="en-US" altLang="ko-KR" sz="2800" dirty="0"/>
              <a:t>(Oracle to Vertica )</a:t>
            </a:r>
            <a:endParaRPr lang="ko-KR" altLang="en-US" sz="28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B13E5-5A34-4ED9-A4F8-0D36A6AFE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AC1EC0-C003-4EF6-B942-419907D63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기타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568CE07-ADAD-4A46-AEEA-CC0D3CB7E8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359002"/>
              </p:ext>
            </p:extLst>
          </p:nvPr>
        </p:nvGraphicFramePr>
        <p:xfrm>
          <a:off x="997383" y="1556791"/>
          <a:ext cx="10859256" cy="45400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02273">
                  <a:extLst>
                    <a:ext uri="{9D8B030D-6E8A-4147-A177-3AD203B41FA5}">
                      <a16:colId xmlns:a16="http://schemas.microsoft.com/office/drawing/2014/main" val="3895150385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4057999904"/>
                    </a:ext>
                  </a:extLst>
                </a:gridCol>
                <a:gridCol w="5328592">
                  <a:extLst>
                    <a:ext uri="{9D8B030D-6E8A-4147-A177-3AD203B41FA5}">
                      <a16:colId xmlns:a16="http://schemas.microsoft.com/office/drawing/2014/main" val="2678590713"/>
                    </a:ext>
                  </a:extLst>
                </a:gridCol>
                <a:gridCol w="2232247">
                  <a:extLst>
                    <a:ext uri="{9D8B030D-6E8A-4147-A177-3AD203B41FA5}">
                      <a16:colId xmlns:a16="http://schemas.microsoft.com/office/drawing/2014/main" val="318377664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Oracle</a:t>
                      </a: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Vertica</a:t>
                      </a: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Remark</a:t>
                      </a: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Etc.</a:t>
                      </a: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17944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number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명시적인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precision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없는 경우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333333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INTEGER or NUMERIC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소수점이 포함되지 않은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자리 이하 숫자는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INTERGER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통일</a:t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오라클은 명시적인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precision / scale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기술하지 않아도 소수점 데이터가 입력되므로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버티카로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이관 시 반드시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precision / scale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적용되어야 함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</a:rPr>
                        <a:t>precision / scale </a:t>
                      </a:r>
                      <a:r>
                        <a:rPr lang="ko-KR" altLang="en-US" sz="900" u="none" strike="noStrike" dirty="0">
                          <a:effectLst/>
                        </a:rPr>
                        <a:t>가 없이 </a:t>
                      </a:r>
                      <a:r>
                        <a:rPr lang="en-US" altLang="ko-KR" sz="900" u="none" strike="noStrike" dirty="0">
                          <a:effectLst/>
                        </a:rPr>
                        <a:t>numeric </a:t>
                      </a:r>
                      <a:r>
                        <a:rPr lang="ko-KR" altLang="en-US" sz="900" u="none" strike="noStrike" dirty="0">
                          <a:effectLst/>
                        </a:rPr>
                        <a:t>을 생성하면 </a:t>
                      </a:r>
                      <a:r>
                        <a:rPr lang="en-US" altLang="ko-KR" sz="900" u="none" strike="noStrike" dirty="0">
                          <a:effectLst/>
                        </a:rPr>
                        <a:t>numeric(37,15) </a:t>
                      </a:r>
                      <a:r>
                        <a:rPr lang="ko-KR" altLang="en-US" sz="900" u="none" strike="noStrike" dirty="0">
                          <a:effectLst/>
                        </a:rPr>
                        <a:t>로 생성 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78494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NUMBER (P,0), P &lt;= 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INTEGER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18267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NUMBER (P,0), P &gt; 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NUMERIC (p,0)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623911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NUMBER (P,S)</a:t>
                      </a:r>
                      <a:b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가지를 제외한 대부분의 경우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NUMERIC (p,s)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scale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명시할 경우 불필요하게 과도한 길이 지정을 지양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40659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DECIMAL (P,S)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NUMERIC (p,s)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scale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명시할 경우 불필요하게 과도한 길이 지정을 지양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48434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BINARY_FLOAT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FLOAT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078038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BINARY_DOUBLE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FLOAT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492426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333333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CHAR(n)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CHAR(n)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오라클이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UTF8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이 아닌 경우 한글이 포함된 컬럼 길이는 반드시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roundup(length * 1.5)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여야 함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146443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NCHAR(n)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CHAR(n*3)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259890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VARCHAR2(n)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VARCHAR(n)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가변길이로 저장되는 것은 동일하나 불필요하게 과도한 길이로 생성되지 않도록 유의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성능 최적화를 위해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885644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NVARCHAR2(n)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VARCHAR(n*3)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339066"/>
                  </a:ext>
                </a:extLst>
              </a:tr>
              <a:tr h="252000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DATE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TIMESTAMP 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오라클은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선언하더라도 시간정보를 저장할 수 있으나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버티카는 시간정보가 필요한 경우에는 반드시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timestamp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타입 정의 필요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6438833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오라클도 일자정보만 저장하고 있다면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지정되어도 무방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694883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TIMESTAMP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TIMESTAMP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545574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333333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CLOB, BLOB, LONG, LONG RAW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333333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LONG VARCHAR</a:t>
                      </a:r>
                    </a:p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333333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LONG VARBINARY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DBA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협의 필요</a:t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버티카의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char/varchar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최대 길이는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65K , long varchar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는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32M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제한됨</a:t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에서는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long text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분석할 일이 드물고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일부 고객서에서는 해당 타입들은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null string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처리 하고 있음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6435" marR="6435" marT="6435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1319679"/>
                  </a:ext>
                </a:extLst>
              </a:tr>
            </a:tbl>
          </a:graphicData>
        </a:graphic>
      </p:graphicFrame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5DF15ECF-A8D7-4D63-96AA-52E1D5030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1424" y="1295401"/>
            <a:ext cx="5314328" cy="501332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1100" b="1" dirty="0"/>
              <a:t>Data type </a:t>
            </a:r>
            <a:r>
              <a:rPr lang="ko-KR" altLang="en-US" sz="1100" b="1" dirty="0"/>
              <a:t>비교</a:t>
            </a:r>
            <a:endParaRPr lang="en-US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34520083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8D2ACC3E-E4BE-4379-AFD0-F5E33EB11F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5557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icro Focus 2017 -2">
      <a:dk1>
        <a:srgbClr val="212E35"/>
      </a:dk1>
      <a:lt1>
        <a:sysClr val="window" lastClr="FFFFFF"/>
      </a:lt1>
      <a:dk2>
        <a:srgbClr val="0079EF"/>
      </a:dk2>
      <a:lt2>
        <a:srgbClr val="29CEFE"/>
      </a:lt2>
      <a:accent1>
        <a:srgbClr val="C6179D"/>
      </a:accent1>
      <a:accent2>
        <a:srgbClr val="7425AD"/>
      </a:accent2>
      <a:accent3>
        <a:srgbClr val="231CA5"/>
      </a:accent3>
      <a:accent4>
        <a:srgbClr val="1668C1"/>
      </a:accent4>
      <a:accent5>
        <a:srgbClr val="29CEFE"/>
      </a:accent5>
      <a:accent6>
        <a:srgbClr val="2FD6C3"/>
      </a:accent6>
      <a:hlink>
        <a:srgbClr val="231CA5"/>
      </a:hlink>
      <a:folHlink>
        <a:srgbClr val="5EAEFF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ysClr val="windowText" lastClr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none" lIns="91440" tIns="45720" rIns="91440" bIns="45720" rtlCol="0" anchor="t" anchorCtr="0">
        <a:spAutoFit/>
      </a:bodyPr>
      <a:lstStyle>
        <a:defPPr algn="ctr">
          <a:defRPr sz="1467" smtClean="0">
            <a:solidFill>
              <a:schemeClr val="bg1">
                <a:lumMod val="50000"/>
              </a:schemeClr>
            </a:solidFill>
            <a:latin typeface="+mn-lt"/>
            <a:ea typeface="Roboto Light" charset="0"/>
            <a:cs typeface="Roboto Light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Focus_PPT_Template_2017_16x9_v24_ks.pptx" id="{E8DCB267-E16F-4CC7-B84B-1753D206A592}" vid="{C54F1EA7-08CE-4753-B6D0-89CB46288E7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27355</TotalTime>
  <Words>15183</Words>
  <Application>Microsoft Office PowerPoint</Application>
  <PresentationFormat>와이드스크린</PresentationFormat>
  <Paragraphs>3257</Paragraphs>
  <Slides>65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65</vt:i4>
      </vt:variant>
    </vt:vector>
  </HeadingPairs>
  <TitlesOfParts>
    <vt:vector size="74" baseType="lpstr">
      <vt:lpstr>HP Simplified</vt:lpstr>
      <vt:lpstr>돋움체</vt:lpstr>
      <vt:lpstr>맑은 고딕</vt:lpstr>
      <vt:lpstr>맑은 고딕</vt:lpstr>
      <vt:lpstr>Arial</vt:lpstr>
      <vt:lpstr>Calibri</vt:lpstr>
      <vt:lpstr>Consolas</vt:lpstr>
      <vt:lpstr>Wingdings</vt:lpstr>
      <vt:lpstr>Office Theme</vt:lpstr>
      <vt:lpstr>Vertica 개발자 가이드</vt:lpstr>
      <vt:lpstr>PowerPoint 프레젠테이션</vt:lpstr>
      <vt:lpstr>VERTICA 아키텍처</vt:lpstr>
      <vt:lpstr>하이브리드 데이터 저장 구조</vt:lpstr>
      <vt:lpstr>데이터베이스 논리 오브젝트</vt:lpstr>
      <vt:lpstr>데이터베이스 논리 오브젝트</vt:lpstr>
      <vt:lpstr>데이터베이스 물리 오브젝트 - 프로젝션</vt:lpstr>
      <vt:lpstr>데이터베이스 물리 오브젝트 - 프로젝션</vt:lpstr>
      <vt:lpstr>PowerPoint 프레젠테이션</vt:lpstr>
      <vt:lpstr>클라이언트 연결 개요</vt:lpstr>
      <vt:lpstr>ODBC 연결 구성</vt:lpstr>
      <vt:lpstr>JDBC 연결 구성</vt:lpstr>
      <vt:lpstr>Vsql 사용</vt:lpstr>
      <vt:lpstr>PowerPoint 프레젠테이션</vt:lpstr>
      <vt:lpstr>VSQL 옵션</vt:lpstr>
      <vt:lpstr>메타 명령어</vt:lpstr>
      <vt:lpstr>활용 예제</vt:lpstr>
      <vt:lpstr>vsql을 이용하여 데이터 Export</vt:lpstr>
      <vt:lpstr>vsql을 이용하여 데이터 Export – cont.</vt:lpstr>
      <vt:lpstr>vsql을 이용하여 데이터 Export – cont.</vt:lpstr>
      <vt:lpstr>PowerPoint 프레젠테이션</vt:lpstr>
      <vt:lpstr>하이브리드 데이터 저장 구조 (WOS/ROS)</vt:lpstr>
      <vt:lpstr>Direct DML 처리</vt:lpstr>
      <vt:lpstr>데이터 로드</vt:lpstr>
      <vt:lpstr>COPY 옵션 활용</vt:lpstr>
      <vt:lpstr>COPY 옵션 활용</vt:lpstr>
      <vt:lpstr>COPY 옵션 활용</vt:lpstr>
      <vt:lpstr>PowerPoint 프레젠테이션</vt:lpstr>
      <vt:lpstr>버티카 쿼리 작성 개요</vt:lpstr>
      <vt:lpstr>임시 테이블 사용</vt:lpstr>
      <vt:lpstr>서브 쿼리 작성</vt:lpstr>
      <vt:lpstr>서브 쿼리 작성</vt:lpstr>
      <vt:lpstr>서브 쿼리 작성</vt:lpstr>
      <vt:lpstr>조인 구문 작성</vt:lpstr>
      <vt:lpstr>PowerPoint 프레젠테이션</vt:lpstr>
      <vt:lpstr>쿼리 최적화를 위한 프로젝션 이해</vt:lpstr>
      <vt:lpstr>쿼리 성능 최적화의 첫번째 단계</vt:lpstr>
      <vt:lpstr>DBD (Database Designer) 실행 - admintools</vt:lpstr>
      <vt:lpstr>DBD (Database Designer) 실행 – designer function</vt:lpstr>
      <vt:lpstr>DBD (Database Designer) 실행 – DBD Lite</vt:lpstr>
      <vt:lpstr>쿼리 성능 향상을 위한 인코딩 최적화</vt:lpstr>
      <vt:lpstr>조건절 추가로 쿼리 성능 향상 예시</vt:lpstr>
      <vt:lpstr>Merge 성능을 위한 프로젝션 최적화</vt:lpstr>
      <vt:lpstr>Group by 쿼리 성능 최적화</vt:lpstr>
      <vt:lpstr>SELECT 쿼리의 DISTINCT 성능 최적화</vt:lpstr>
      <vt:lpstr>조인 쿼리 성능 최적화</vt:lpstr>
      <vt:lpstr>조인 쿼리 성능 최적화</vt:lpstr>
      <vt:lpstr>조인 쿼리 성능 최적화</vt:lpstr>
      <vt:lpstr>조인 쿼리 성능 최적화</vt:lpstr>
      <vt:lpstr>사전에 정렬된 프로젝션을 통해 Order by 쿼리 성능 최적화</vt:lpstr>
      <vt:lpstr>SQL-99 분석 쿼리 최적화</vt:lpstr>
      <vt:lpstr>INSERT-SELECT 최적화</vt:lpstr>
      <vt:lpstr>파티셔닝을 활용한 최적화(1)</vt:lpstr>
      <vt:lpstr>파티셔닝을 활용한 최적화(2)</vt:lpstr>
      <vt:lpstr>Pre-Aggregating Data in Projections</vt:lpstr>
      <vt:lpstr>How to define segment keys and sort order for projection</vt:lpstr>
      <vt:lpstr>PowerPoint 프레젠테이션</vt:lpstr>
      <vt:lpstr>데이터 삭제</vt:lpstr>
      <vt:lpstr>PowerPoint 프레젠테이션</vt:lpstr>
      <vt:lpstr>기타</vt:lpstr>
      <vt:lpstr>lock mode</vt:lpstr>
      <vt:lpstr>주요 시스템 테이블</vt:lpstr>
      <vt:lpstr>프로젝트 수행 시 고려 사항</vt:lpstr>
      <vt:lpstr>Data type 비교(Oracle to Vertica )</vt:lpstr>
      <vt:lpstr>감사합니다.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버티카 개발자 가이드</dc:title>
  <dc:creator>sunghwan.kim</dc:creator>
  <cp:lastModifiedBy>T25839</cp:lastModifiedBy>
  <cp:revision>1283</cp:revision>
  <cp:lastPrinted>2018-09-20T00:03:08Z</cp:lastPrinted>
  <dcterms:modified xsi:type="dcterms:W3CDTF">2022-10-07T07:30:29Z</dcterms:modified>
</cp:coreProperties>
</file>