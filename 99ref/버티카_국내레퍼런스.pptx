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handoutMasterIdLst>
    <p:handoutMasterId r:id="rId7"/>
  </p:handoutMasterIdLst>
  <p:sldIdLst>
    <p:sldId id="291" r:id="rId2"/>
    <p:sldId id="292" r:id="rId3"/>
    <p:sldId id="293" r:id="rId4"/>
    <p:sldId id="294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3CE"/>
    <a:srgbClr val="1C4076"/>
    <a:srgbClr val="02709C"/>
    <a:srgbClr val="00518E"/>
    <a:srgbClr val="709DCA"/>
    <a:srgbClr val="009ED6"/>
    <a:srgbClr val="000000"/>
    <a:srgbClr val="4ABEE3"/>
    <a:srgbClr val="4B5F68"/>
    <a:srgbClr val="4169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37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5" d="100"/>
          <a:sy n="85" d="100"/>
        </p:scale>
        <p:origin x="3804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40A901-53E6-41C4-9EEA-8BEE09C37D41}" type="datetimeFigureOut">
              <a:rPr lang="ko-KR" altLang="en-US" smtClean="0"/>
              <a:t>2026-04-28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6B63D7-6443-4B75-AADE-7EE57B9683E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541074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B429C4-6C66-4BB2-903E-0003D83D0C80}" type="datetimeFigureOut">
              <a:rPr lang="ko-KR" altLang="en-US" smtClean="0"/>
              <a:t>2026-04-28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10DF4C-EA12-4F11-84B6-FBA4F377C98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8442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" y="0"/>
            <a:ext cx="12190476" cy="6858000"/>
          </a:xfrm>
          <a:prstGeom prst="rect">
            <a:avLst/>
          </a:prstGeom>
        </p:spPr>
      </p:pic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A02C0B-84B5-4CD2-A6CE-C6BD7D6F90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1018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" y="0"/>
            <a:ext cx="12190476" cy="6858000"/>
          </a:xfrm>
          <a:prstGeom prst="rect">
            <a:avLst/>
          </a:prstGeom>
        </p:spPr>
      </p:pic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A02C0B-84B5-4CD2-A6CE-C6BD7D6F9045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13614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소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9022" cy="6858000"/>
          </a:xfrm>
          <a:prstGeom prst="rect">
            <a:avLst/>
          </a:prstGeom>
        </p:spPr>
      </p:pic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841711" y="774440"/>
            <a:ext cx="10515600" cy="578499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defRPr sz="3800">
                <a:solidFill>
                  <a:schemeClr val="bg1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10241230" y="6313620"/>
            <a:ext cx="370690" cy="365125"/>
          </a:xfrm>
        </p:spPr>
        <p:txBody>
          <a:bodyPr/>
          <a:lstStyle/>
          <a:p>
            <a:fld id="{AFA02C0B-84B5-4CD2-A6CE-C6BD7D6F90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28566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841711" y="774440"/>
            <a:ext cx="10515600" cy="578499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defRPr sz="3800">
                <a:solidFill>
                  <a:srgbClr val="000000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10241230" y="6313620"/>
            <a:ext cx="370690" cy="365125"/>
          </a:xfrm>
        </p:spPr>
        <p:txBody>
          <a:bodyPr/>
          <a:lstStyle>
            <a:lvl1pPr>
              <a:defRPr b="1"/>
            </a:lvl1pPr>
          </a:lstStyle>
          <a:p>
            <a:fld id="{AFA02C0B-84B5-4CD2-A6CE-C6BD7D6F9045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993638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01895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08F6DC-6B17-467A-8F5F-542C658D840B}" type="datetime1">
              <a:rPr lang="ko-KR" altLang="en-US" smtClean="0"/>
              <a:t>2026-04-28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10771070" y="6356350"/>
            <a:ext cx="37069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00">
                <a:solidFill>
                  <a:schemeClr val="tx1">
                    <a:tint val="7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defRPr>
            </a:lvl1pPr>
          </a:lstStyle>
          <a:p>
            <a:fld id="{AFA02C0B-84B5-4CD2-A6CE-C6BD7D6F9045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14582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5" r:id="rId2"/>
    <p:sldLayoutId id="2147483654" r:id="rId3"/>
    <p:sldLayoutId id="2147483656" r:id="rId4"/>
    <p:sldLayoutId id="2147483657" r:id="rId5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jpe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0.png"/><Relationship Id="rId5" Type="http://schemas.openxmlformats.org/officeDocument/2006/relationships/image" Target="../media/image9.jpe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jpe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jpeg"/><Relationship Id="rId9" Type="http://schemas.openxmlformats.org/officeDocument/2006/relationships/image" Target="../media/image20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2.jpeg"/><Relationship Id="rId7" Type="http://schemas.openxmlformats.org/officeDocument/2006/relationships/image" Target="../media/image26.png"/><Relationship Id="rId12" Type="http://schemas.openxmlformats.org/officeDocument/2006/relationships/image" Target="../media/image31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5.png"/><Relationship Id="rId11" Type="http://schemas.openxmlformats.org/officeDocument/2006/relationships/image" Target="../media/image30.png"/><Relationship Id="rId5" Type="http://schemas.openxmlformats.org/officeDocument/2006/relationships/image" Target="../media/image24.png"/><Relationship Id="rId10" Type="http://schemas.openxmlformats.org/officeDocument/2006/relationships/image" Target="../media/image29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 txBox="1">
            <a:spLocks/>
          </p:cNvSpPr>
          <p:nvPr/>
        </p:nvSpPr>
        <p:spPr>
          <a:xfrm>
            <a:off x="1524000" y="2702045"/>
            <a:ext cx="9144001" cy="76076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00000"/>
              </a:lnSpc>
            </a:pPr>
            <a:r>
              <a:rPr lang="ko-KR" altLang="en-US" sz="3800" dirty="0">
                <a:solidFill>
                  <a:schemeClr val="bg1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</a:rPr>
              <a:t>레퍼런스</a:t>
            </a:r>
          </a:p>
        </p:txBody>
      </p:sp>
      <p:sp>
        <p:nvSpPr>
          <p:cNvPr id="3" name="제목 1"/>
          <p:cNvSpPr txBox="1">
            <a:spLocks/>
          </p:cNvSpPr>
          <p:nvPr/>
        </p:nvSpPr>
        <p:spPr>
          <a:xfrm>
            <a:off x="5631825" y="3839619"/>
            <a:ext cx="928350" cy="429432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00000"/>
              </a:lnSpc>
            </a:pPr>
            <a:r>
              <a:rPr lang="en-US" altLang="ko-KR" sz="1600" dirty="0">
                <a:solidFill>
                  <a:schemeClr val="bg1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</a:rPr>
              <a:t>00</a:t>
            </a:r>
            <a:endParaRPr lang="ko-KR" altLang="en-US" sz="1600" dirty="0">
              <a:solidFill>
                <a:schemeClr val="bg1"/>
              </a:solidFill>
              <a:latin typeface="SB 어그로 Bold" panose="02020603020101020101" pitchFamily="18" charset="-127"/>
              <a:ea typeface="SB 어그로 Bold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770279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+mj-ea"/>
                <a:ea typeface="+mj-ea"/>
              </a:rPr>
              <a:t>금융 레퍼런스</a:t>
            </a:r>
            <a:endParaRPr lang="ko-KR" altLang="en-US" sz="1400" dirty="0">
              <a:solidFill>
                <a:srgbClr val="0083CE"/>
              </a:solidFill>
              <a:latin typeface="+mj-ea"/>
              <a:ea typeface="+mj-ea"/>
            </a:endParaRPr>
          </a:p>
        </p:txBody>
      </p:sp>
      <p:graphicFrame>
        <p:nvGraphicFramePr>
          <p:cNvPr id="2" name="표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4854993"/>
              </p:ext>
            </p:extLst>
          </p:nvPr>
        </p:nvGraphicFramePr>
        <p:xfrm>
          <a:off x="1117936" y="1631654"/>
          <a:ext cx="8084404" cy="466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6546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2908329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980573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2578956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</a:tblGrid>
              <a:tr h="29634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1" dirty="0">
                          <a:solidFill>
                            <a:srgbClr val="0083CE"/>
                          </a:solidFill>
                          <a:latin typeface="+mn-ea"/>
                          <a:ea typeface="+mn-ea"/>
                        </a:rPr>
                        <a:t>발주처</a:t>
                      </a:r>
                    </a:p>
                  </a:txBody>
                  <a:tcPr anchor="ctr"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1" dirty="0">
                          <a:solidFill>
                            <a:srgbClr val="0083CE"/>
                          </a:solidFill>
                          <a:latin typeface="+mn-ea"/>
                          <a:ea typeface="+mn-ea"/>
                        </a:rPr>
                        <a:t>사업내용</a:t>
                      </a:r>
                    </a:p>
                  </a:txBody>
                  <a:tcPr anchor="ctr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1" dirty="0">
                          <a:solidFill>
                            <a:srgbClr val="0083CE"/>
                          </a:solidFill>
                          <a:latin typeface="+mn-ea"/>
                          <a:ea typeface="+mn-ea"/>
                        </a:rPr>
                        <a:t>도입 용량</a:t>
                      </a:r>
                    </a:p>
                  </a:txBody>
                  <a:tcPr anchor="ctr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1" dirty="0">
                          <a:solidFill>
                            <a:srgbClr val="0083CE"/>
                          </a:solidFill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anchor="ctr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594189"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SemiBold" panose="02000003000000020004" pitchFamily="2" charset="-127"/>
                        </a:rPr>
                        <a:t>신한은행</a:t>
                      </a:r>
                    </a:p>
                  </a:txBody>
                  <a:tcPr anchor="ctr" horzOverflow="overflow"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통합 분석 </a:t>
                      </a: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One DW / Machine Learning / AML </a:t>
                      </a: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시스템 </a:t>
                      </a: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/ </a:t>
                      </a:r>
                      <a:r>
                        <a:rPr kumimoji="0" lang="ko-KR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마이데이터</a:t>
                      </a:r>
                      <a:endParaRPr kumimoji="0" lang="en-US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Node</a:t>
                      </a:r>
                      <a:b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</a:b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License</a:t>
                      </a:r>
                    </a:p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1.3PB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Teradata</a:t>
                      </a: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 </a:t>
                      </a: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/ IBM DB2 </a:t>
                      </a: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대체 </a:t>
                      </a:r>
                      <a:endParaRPr kumimoji="0" lang="en-US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Enterprise mode </a:t>
                      </a: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에서 </a:t>
                      </a: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EON Mode</a:t>
                      </a: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로 전환</a:t>
                      </a:r>
                      <a:endParaRPr kumimoji="0" lang="en-US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Multi cluster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564220"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SemiBold" panose="02000003000000020004" pitchFamily="2" charset="-127"/>
                        </a:rPr>
                        <a:t>하나은행</a:t>
                      </a:r>
                    </a:p>
                  </a:txBody>
                  <a:tcPr anchor="ctr" horzOverflow="overflow"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분석 </a:t>
                      </a: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DW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Node</a:t>
                      </a:r>
                      <a:b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</a:b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License</a:t>
                      </a:r>
                    </a:p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100TB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정보계 분석 </a:t>
                      </a: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DW</a:t>
                      </a:r>
                    </a:p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EON Mode </a:t>
                      </a: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구축</a:t>
                      </a:r>
                      <a:endParaRPr kumimoji="0" lang="en-US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564220"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SemiBold" panose="02000003000000020004" pitchFamily="2" charset="-127"/>
                        </a:rPr>
                        <a:t>한국신용정보원</a:t>
                      </a:r>
                    </a:p>
                  </a:txBody>
                  <a:tcPr anchor="ctr" horzOverflow="overflow"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빅데이터 분석 </a:t>
                      </a:r>
                      <a:endParaRPr kumimoji="0" lang="en-US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285TB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빅데이터 분석 및 마이데이터 분석</a:t>
                      </a:r>
                      <a:endParaRPr kumimoji="0" lang="en-US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564220"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SemiBold" panose="02000003000000020004" pitchFamily="2" charset="-127"/>
                        </a:rPr>
                        <a:t>새마을금고연합회</a:t>
                      </a:r>
                    </a:p>
                  </a:txBody>
                  <a:tcPr anchor="ctr" horzOverflow="overflow"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상시감시 분석시스템</a:t>
                      </a:r>
                      <a:endParaRPr kumimoji="0" lang="en-US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25TB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분석</a:t>
                      </a: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/</a:t>
                      </a: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통계 시스템</a:t>
                      </a:r>
                      <a:endParaRPr kumimoji="0" lang="en-US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564220"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SemiBold" panose="02000003000000020004" pitchFamily="2" charset="-127"/>
                        </a:rPr>
                        <a:t>빗썸 코리아</a:t>
                      </a:r>
                    </a:p>
                  </a:txBody>
                  <a:tcPr anchor="ctr" horzOverflow="overflow"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Enterprise Data Warehouse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Node</a:t>
                      </a:r>
                      <a:b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</a:b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License</a:t>
                      </a:r>
                    </a:p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100TB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kumimoji="0" lang="ko-KR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신규 </a:t>
                      </a:r>
                      <a:r>
                        <a:rPr kumimoji="0" lang="en-GB" altLang="ko-KR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EDW</a:t>
                      </a:r>
                    </a:p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kumimoji="0" lang="ko-KR" altLang="en-US" sz="1200" b="0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버티카</a:t>
                      </a:r>
                      <a:r>
                        <a:rPr kumimoji="0" lang="ko-KR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 라이선스 증설</a:t>
                      </a:r>
                      <a:endParaRPr kumimoji="0" lang="en-US" altLang="ko-KR" sz="12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  <a:tr h="564220"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SemiBold" panose="02000003000000020004" pitchFamily="2" charset="-127"/>
                        </a:rPr>
                        <a:t>한화생명금융서비스</a:t>
                      </a:r>
                    </a:p>
                  </a:txBody>
                  <a:tcPr anchor="ctr" horzOverflow="overflow"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Open </a:t>
                      </a: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통합영업플랫폼 구축</a:t>
                      </a:r>
                      <a:endParaRPr kumimoji="0" lang="en-US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2TB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kumimoji="0" lang="ko-KR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신규 </a:t>
                      </a:r>
                      <a:r>
                        <a:rPr kumimoji="0" lang="en-US" altLang="ko-KR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EDW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6"/>
                  </a:ext>
                </a:extLst>
              </a:tr>
              <a:tr h="564220"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SemiBold" panose="02000003000000020004" pitchFamily="2" charset="-127"/>
                        </a:rPr>
                        <a:t>테크핀레이팅스</a:t>
                      </a:r>
                      <a:endParaRPr kumimoji="0" lang="ko-KR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SemiBold" panose="02000003000000020004" pitchFamily="2" charset="-127"/>
                      </a:endParaRPr>
                    </a:p>
                  </a:txBody>
                  <a:tcPr anchor="ctr" horzOverflow="overflow"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기업 </a:t>
                      </a: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CB </a:t>
                      </a: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등급 산출 및 분석</a:t>
                      </a:r>
                      <a:endParaRPr kumimoji="0" lang="en-US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40TB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kumimoji="0" lang="en-US" altLang="ko-KR" sz="1200" b="0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Postgresql</a:t>
                      </a:r>
                      <a:r>
                        <a:rPr kumimoji="0" lang="en-US" altLang="ko-KR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 </a:t>
                      </a:r>
                      <a:r>
                        <a:rPr kumimoji="0" lang="ko-KR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대체</a:t>
                      </a:r>
                      <a:endParaRPr kumimoji="0" lang="en-US" altLang="ko-KR" sz="12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="" xmlns:a16="http://schemas.microsoft.com/office/drawing/2014/main" val="1757568263"/>
                  </a:ext>
                </a:extLst>
              </a:tr>
            </a:tbl>
          </a:graphicData>
        </a:graphic>
      </p:graphicFrame>
      <p:pic>
        <p:nvPicPr>
          <p:cNvPr id="70" name="그림 69">
            <a:extLst>
              <a:ext uri="{FF2B5EF4-FFF2-40B4-BE49-F238E27FC236}">
                <a16:creationId xmlns="" xmlns:a16="http://schemas.microsoft.com/office/drawing/2014/main" id="{39E8787F-53D8-4DC8-AA4B-9086EEE110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89801" y="3426505"/>
            <a:ext cx="1930921" cy="577286"/>
          </a:xfrm>
          <a:prstGeom prst="rect">
            <a:avLst/>
          </a:prstGeom>
        </p:spPr>
      </p:pic>
      <p:pic>
        <p:nvPicPr>
          <p:cNvPr id="87" name="Picture 2">
            <a:extLst>
              <a:ext uri="{FF2B5EF4-FFF2-40B4-BE49-F238E27FC236}">
                <a16:creationId xmlns="" xmlns:a16="http://schemas.microsoft.com/office/drawing/2014/main" id="{E1D6FAB2-6CA7-4E1A-9D7B-FA7D270A7A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70857" y="2992333"/>
            <a:ext cx="1900482" cy="3942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9" name="그림 88">
            <a:extLst>
              <a:ext uri="{FF2B5EF4-FFF2-40B4-BE49-F238E27FC236}">
                <a16:creationId xmlns="" xmlns:a16="http://schemas.microsoft.com/office/drawing/2014/main" id="{674FFF98-1418-4BED-BA58-9227A8A41B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9541" y="1991069"/>
            <a:ext cx="1837530" cy="531517"/>
          </a:xfrm>
          <a:prstGeom prst="rect">
            <a:avLst/>
          </a:prstGeom>
        </p:spPr>
      </p:pic>
      <p:pic>
        <p:nvPicPr>
          <p:cNvPr id="90" name="Picture 2" descr="Corporate Identity Guidelines (CIG) for KEB Hana Bank"/>
          <p:cNvPicPr>
            <a:picLocks noChangeAspect="1" noChangeArrowheads="1"/>
          </p:cNvPicPr>
          <p:nvPr/>
        </p:nvPicPr>
        <p:blipFill>
          <a:blip r:embed="rId5" cstate="print">
            <a:clrChange>
              <a:clrFrom>
                <a:srgbClr val="F1F1F1"/>
              </a:clrFrom>
              <a:clrTo>
                <a:srgbClr val="F1F1F1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23917" y="2206769"/>
            <a:ext cx="1592774" cy="8368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1" name="그림 90">
            <a:extLst>
              <a:ext uri="{FF2B5EF4-FFF2-40B4-BE49-F238E27FC236}">
                <a16:creationId xmlns="" xmlns:a16="http://schemas.microsoft.com/office/drawing/2014/main" id="{8480CA0B-6F4D-4BFB-8F68-61E78545FDF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43748" y="3910336"/>
            <a:ext cx="1645874" cy="486282"/>
          </a:xfrm>
          <a:prstGeom prst="rect">
            <a:avLst/>
          </a:prstGeom>
        </p:spPr>
      </p:pic>
      <p:pic>
        <p:nvPicPr>
          <p:cNvPr id="92" name="그림 91"/>
          <p:cNvPicPr>
            <a:picLocks noChangeAspect="1"/>
          </p:cNvPicPr>
          <p:nvPr/>
        </p:nvPicPr>
        <p:blipFill>
          <a:blip r:embed="rId7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17375" y="4263852"/>
            <a:ext cx="2016436" cy="664238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10285798" y="6377234"/>
            <a:ext cx="278505" cy="249385"/>
          </a:xfrm>
        </p:spPr>
        <p:txBody>
          <a:bodyPr/>
          <a:lstStyle/>
          <a:p>
            <a:fld id="{AFA02C0B-84B5-4CD2-A6CE-C6BD7D6F9045}" type="slidenum">
              <a:rPr lang="ko-KR" altLang="en-US" smtClean="0">
                <a:solidFill>
                  <a:schemeClr val="bg1"/>
                </a:solidFill>
              </a:rPr>
              <a:t>2</a:t>
            </a:fld>
            <a:endParaRPr lang="ko-KR" altLang="en-US" dirty="0">
              <a:solidFill>
                <a:schemeClr val="bg1"/>
              </a:solidFill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="" xmlns:a16="http://schemas.microsoft.com/office/drawing/2014/main" id="{679A1E04-F04B-D5E7-88EB-DECF86E8B13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32396" y="4828257"/>
            <a:ext cx="1656105" cy="333947"/>
          </a:xfrm>
          <a:prstGeom prst="rect">
            <a:avLst/>
          </a:prstGeom>
        </p:spPr>
      </p:pic>
      <p:sp>
        <p:nvSpPr>
          <p:cNvPr id="4" name="직사각형 3"/>
          <p:cNvSpPr/>
          <p:nvPr/>
        </p:nvSpPr>
        <p:spPr>
          <a:xfrm>
            <a:off x="9343505" y="1936865"/>
            <a:ext cx="2709950" cy="33417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57054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+mj-ea"/>
                <a:ea typeface="+mj-ea"/>
              </a:rPr>
              <a:t>기업 레퍼런스</a:t>
            </a:r>
            <a:endParaRPr lang="ko-KR" altLang="en-US" sz="1400" dirty="0">
              <a:solidFill>
                <a:srgbClr val="0083CE"/>
              </a:solidFill>
              <a:latin typeface="+mj-ea"/>
              <a:ea typeface="+mj-ea"/>
            </a:endParaRPr>
          </a:p>
        </p:txBody>
      </p:sp>
      <p:graphicFrame>
        <p:nvGraphicFramePr>
          <p:cNvPr id="2" name="표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2270782"/>
              </p:ext>
            </p:extLst>
          </p:nvPr>
        </p:nvGraphicFramePr>
        <p:xfrm>
          <a:off x="1117936" y="1620859"/>
          <a:ext cx="8128000" cy="4065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4364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2181225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1021180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2881231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1" dirty="0">
                          <a:solidFill>
                            <a:srgbClr val="0083CE"/>
                          </a:solidFill>
                          <a:latin typeface="+mn-ea"/>
                          <a:ea typeface="+mn-ea"/>
                        </a:rPr>
                        <a:t>발주처</a:t>
                      </a:r>
                    </a:p>
                  </a:txBody>
                  <a:tcPr anchor="ctr"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1" dirty="0">
                          <a:solidFill>
                            <a:srgbClr val="0083CE"/>
                          </a:solidFill>
                          <a:latin typeface="+mn-ea"/>
                          <a:ea typeface="+mn-ea"/>
                        </a:rPr>
                        <a:t>사업내용</a:t>
                      </a:r>
                    </a:p>
                  </a:txBody>
                  <a:tcPr anchor="ctr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1" dirty="0">
                          <a:solidFill>
                            <a:srgbClr val="0083CE"/>
                          </a:solidFill>
                          <a:latin typeface="+mn-ea"/>
                          <a:ea typeface="+mn-ea"/>
                        </a:rPr>
                        <a:t>도입 용량</a:t>
                      </a:r>
                    </a:p>
                  </a:txBody>
                  <a:tcPr anchor="ctr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1" dirty="0">
                          <a:solidFill>
                            <a:srgbClr val="0083CE"/>
                          </a:solidFill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anchor="ctr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262551"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SemiBold" panose="02000003000000020004" pitchFamily="2" charset="-127"/>
                        </a:rPr>
                        <a:t>삼성전자</a:t>
                      </a:r>
                    </a:p>
                  </a:txBody>
                  <a:tcPr anchor="ctr" horzOverflow="overflow"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워크로드 관리 플랫폼</a:t>
                      </a: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40TB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kumimoji="0" lang="en-US" altLang="ko-KR" sz="9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Platform </a:t>
                      </a:r>
                      <a:r>
                        <a:rPr kumimoji="0" lang="en-US" altLang="ko-KR" sz="900" b="0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LSF</a:t>
                      </a:r>
                      <a:r>
                        <a:rPr kumimoji="0" lang="en-US" altLang="ko-KR" sz="9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 - PA</a:t>
                      </a:r>
                      <a:r>
                        <a:rPr kumimoji="0" lang="ko-KR" altLang="en-US" sz="9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용 </a:t>
                      </a:r>
                      <a:r>
                        <a:rPr kumimoji="0" lang="en-US" altLang="ko-KR" sz="9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DBMS</a:t>
                      </a:r>
                    </a:p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kumimoji="0" lang="ko-KR" altLang="en-US" sz="900" b="0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버티카</a:t>
                      </a:r>
                      <a:r>
                        <a:rPr kumimoji="0" lang="ko-KR" altLang="en-US" sz="9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 라이선스 증설</a:t>
                      </a:r>
                      <a:endParaRPr kumimoji="0" lang="en-US" altLang="ko-KR" sz="9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364779"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SemiBold" panose="02000003000000020004" pitchFamily="2" charset="-127"/>
                        </a:rPr>
                        <a:t>삼성</a:t>
                      </a: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SemiBold" panose="02000003000000020004" pitchFamily="2" charset="-127"/>
                        </a:rPr>
                        <a:t>SDS</a:t>
                      </a:r>
                      <a:endParaRPr kumimoji="0" lang="ko-KR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SemiBold" panose="02000003000000020004" pitchFamily="2" charset="-127"/>
                      </a:endParaRPr>
                    </a:p>
                  </a:txBody>
                  <a:tcPr anchor="ctr" horzOverflow="overflow"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운영 자동화 지원 </a:t>
                      </a:r>
                      <a:r>
                        <a:rPr kumimoji="0" lang="en-US" altLang="ko-KR" sz="1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DW</a:t>
                      </a: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5TB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kumimoji="0" lang="ko-KR" altLang="en-US" sz="9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삼성</a:t>
                      </a:r>
                      <a:r>
                        <a:rPr kumimoji="0" lang="en-US" altLang="ko-KR" sz="9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SDS </a:t>
                      </a:r>
                      <a:r>
                        <a:rPr kumimoji="0" lang="ko-KR" altLang="en-US" sz="9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클라우드</a:t>
                      </a:r>
                      <a:r>
                        <a:rPr kumimoji="0" lang="en-US" altLang="ko-KR" sz="9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 </a:t>
                      </a:r>
                      <a:r>
                        <a:rPr kumimoji="0" lang="ko-KR" altLang="en-US" sz="9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누리</a:t>
                      </a:r>
                      <a:r>
                        <a:rPr kumimoji="0" lang="en-US" altLang="ko-KR" sz="9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(Nuri) </a:t>
                      </a:r>
                      <a:r>
                        <a:rPr kumimoji="0" lang="ko-KR" altLang="en-US" sz="9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구축</a:t>
                      </a:r>
                      <a:endParaRPr kumimoji="0" lang="en-US" altLang="ko-KR" sz="9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kumimoji="0" lang="ko-KR" altLang="en-US" sz="900" b="0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버티카</a:t>
                      </a:r>
                      <a:r>
                        <a:rPr kumimoji="0" lang="ko-KR" altLang="en-US" sz="9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 라이선스 증설</a:t>
                      </a:r>
                      <a:endParaRPr kumimoji="0" lang="en-US" altLang="ko-KR" sz="9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en-GB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SemiBold" panose="02000003000000020004" pitchFamily="2" charset="-127"/>
                        </a:rPr>
                        <a:t>KT</a:t>
                      </a:r>
                      <a:endParaRPr kumimoji="0" lang="ko-KR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SemiBold" panose="02000003000000020004" pitchFamily="2" charset="-127"/>
                      </a:endParaRPr>
                    </a:p>
                  </a:txBody>
                  <a:tcPr anchor="ctr" horzOverflow="overflow"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차세대 </a:t>
                      </a:r>
                      <a:r>
                        <a:rPr kumimoji="0" lang="en-GB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BIDW</a:t>
                      </a: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500TB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kumimoji="0" lang="en-US" altLang="ko-KR" sz="9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Teradata </a:t>
                      </a:r>
                      <a:r>
                        <a:rPr kumimoji="0" lang="ko-KR" altLang="en-US" sz="9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대체</a:t>
                      </a:r>
                      <a:endParaRPr kumimoji="0" lang="en-US" altLang="ko-KR" sz="9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364779"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SemiBold" panose="02000003000000020004" pitchFamily="2" charset="-127"/>
                        </a:rPr>
                        <a:t>LG</a:t>
                      </a: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SemiBold" panose="02000003000000020004" pitchFamily="2" charset="-127"/>
                        </a:rPr>
                        <a:t>유플러스</a:t>
                      </a:r>
                    </a:p>
                  </a:txBody>
                  <a:tcPr anchor="ctr" horzOverflow="overflow"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BS </a:t>
                      </a:r>
                      <a:r>
                        <a:rPr kumimoji="0" lang="ko-KR" alt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통합 정보계 </a:t>
                      </a: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/ </a:t>
                      </a:r>
                      <a:r>
                        <a:rPr kumimoji="0" lang="en-US" altLang="ko-KR" sz="1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IFRS7</a:t>
                      </a:r>
                      <a:r>
                        <a:rPr kumimoji="0" lang="ko-KR" alt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 시스템</a:t>
                      </a: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292TB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kumimoji="0" lang="ko-KR" altLang="en-US" sz="9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정보계 </a:t>
                      </a:r>
                      <a:r>
                        <a:rPr kumimoji="0" lang="en-US" altLang="ko-KR" sz="9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DBMS</a:t>
                      </a:r>
                    </a:p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kumimoji="0" lang="en-US" altLang="ko-KR" sz="9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Enterprise mode </a:t>
                      </a:r>
                      <a:r>
                        <a:rPr kumimoji="0" lang="ko-KR" altLang="en-US" sz="9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에서 </a:t>
                      </a:r>
                      <a:r>
                        <a:rPr kumimoji="0" lang="en-US" altLang="ko-KR" sz="9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EON Mode</a:t>
                      </a:r>
                      <a:r>
                        <a:rPr kumimoji="0" lang="ko-KR" altLang="en-US" sz="9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로 전환</a:t>
                      </a:r>
                      <a:endParaRPr kumimoji="0" lang="en-US" altLang="ko-KR" sz="9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kumimoji="0" lang="ko-KR" altLang="en-US" sz="9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버티카 라이선스 증설</a:t>
                      </a:r>
                      <a:endParaRPr kumimoji="0" lang="en-US" altLang="ko-KR" sz="9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="" xmlns:a16="http://schemas.microsoft.com/office/drawing/2014/main" val="10007"/>
                  </a:ext>
                </a:extLst>
              </a:tr>
              <a:tr h="249555"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SemiBold" panose="02000003000000020004" pitchFamily="2" charset="-127"/>
                        </a:rPr>
                        <a:t>한국조폐공사</a:t>
                      </a:r>
                    </a:p>
                  </a:txBody>
                  <a:tcPr anchor="ctr" horzOverflow="overflow"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신뢰 구축 플랫폼 구축</a:t>
                      </a: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5TB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kumimoji="0" lang="ko-KR" altLang="en-US" sz="9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분석</a:t>
                      </a:r>
                      <a:r>
                        <a:rPr kumimoji="0" lang="en-US" altLang="ko-KR" sz="9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/</a:t>
                      </a:r>
                      <a:r>
                        <a:rPr kumimoji="0" lang="ko-KR" altLang="en-US" sz="9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통계 시스템</a:t>
                      </a:r>
                      <a:endParaRPr kumimoji="0" lang="en-US" altLang="ko-KR" sz="9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="" xmlns:a16="http://schemas.microsoft.com/office/drawing/2014/main" val="10008"/>
                  </a:ext>
                </a:extLst>
              </a:tr>
              <a:tr h="364779"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SemiBold" panose="02000003000000020004" pitchFamily="2" charset="-127"/>
                        </a:rPr>
                        <a:t>LG</a:t>
                      </a: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SemiBold" panose="02000003000000020004" pitchFamily="2" charset="-127"/>
                        </a:rPr>
                        <a:t>전자</a:t>
                      </a:r>
                    </a:p>
                  </a:txBody>
                  <a:tcPr anchor="ctr" horzOverflow="overflow"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New BEST </a:t>
                      </a:r>
                      <a:r>
                        <a:rPr kumimoji="0" lang="en-US" altLang="ko-KR" sz="1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DW</a:t>
                      </a: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14TB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kumimoji="0" lang="en-US" altLang="ko-KR" sz="9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LG</a:t>
                      </a:r>
                      <a:r>
                        <a:rPr kumimoji="0" lang="ko-KR" altLang="en-US" sz="9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전자 한국 물류 </a:t>
                      </a:r>
                      <a:r>
                        <a:rPr kumimoji="0" lang="en-US" altLang="ko-KR" sz="900" b="0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DW</a:t>
                      </a:r>
                      <a:endParaRPr kumimoji="0" lang="en-US" altLang="ko-KR" sz="9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kumimoji="0" lang="en-US" altLang="ko-KR" sz="9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Oracle Exadata </a:t>
                      </a:r>
                      <a:r>
                        <a:rPr kumimoji="0" lang="ko-KR" altLang="en-US" sz="9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대체</a:t>
                      </a:r>
                      <a:endParaRPr kumimoji="0" lang="en-US" altLang="ko-KR" sz="9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="" xmlns:a16="http://schemas.microsoft.com/office/drawing/2014/main" val="10009"/>
                  </a:ext>
                </a:extLst>
              </a:tr>
              <a:tr h="295063"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SemiBold" panose="02000003000000020004" pitchFamily="2" charset="-127"/>
                        </a:rPr>
                        <a:t>펑타이그레이트차이나</a:t>
                      </a:r>
                      <a:endParaRPr kumimoji="0" lang="ko-KR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SemiBold" panose="02000003000000020004" pitchFamily="2" charset="-127"/>
                      </a:endParaRPr>
                    </a:p>
                  </a:txBody>
                  <a:tcPr anchor="ctr" horzOverflow="overflow"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Enterprise Data Warehouse</a:t>
                      </a: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12TB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kumimoji="0" lang="en-US" altLang="ko-KR" sz="9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AWS Eon Mode </a:t>
                      </a:r>
                      <a:r>
                        <a:rPr kumimoji="0" lang="ko-KR" altLang="en-US" sz="9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구축</a:t>
                      </a:r>
                      <a:endParaRPr kumimoji="0" lang="en-US" altLang="ko-KR" sz="9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kumimoji="0" lang="ko-KR" altLang="en-US" sz="900" b="0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버티카</a:t>
                      </a:r>
                      <a:r>
                        <a:rPr kumimoji="0" lang="ko-KR" altLang="en-US" sz="9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 라이선스 증설</a:t>
                      </a:r>
                      <a:endParaRPr kumimoji="0" lang="en-US" altLang="ko-KR" sz="9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="" xmlns:a16="http://schemas.microsoft.com/office/drawing/2014/main" val="10012"/>
                  </a:ext>
                </a:extLst>
              </a:tr>
              <a:tr h="295063"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SemiBold" panose="02000003000000020004" pitchFamily="2" charset="-127"/>
                        </a:rPr>
                        <a:t>대검찰청</a:t>
                      </a:r>
                    </a:p>
                  </a:txBody>
                  <a:tcPr anchor="ctr" horzOverflow="overflow"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Enterprise Data Warehouse</a:t>
                      </a: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8TB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kumimoji="0" lang="ko-KR" altLang="en-US" sz="9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분석</a:t>
                      </a:r>
                      <a:r>
                        <a:rPr kumimoji="0" lang="en-US" altLang="ko-KR" sz="9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/</a:t>
                      </a:r>
                      <a:r>
                        <a:rPr kumimoji="0" lang="ko-KR" altLang="en-US" sz="9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통계 시스템</a:t>
                      </a:r>
                      <a:endParaRPr kumimoji="0" lang="en-US" altLang="ko-KR" sz="9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="" xmlns:a16="http://schemas.microsoft.com/office/drawing/2014/main" val="10013"/>
                  </a:ext>
                </a:extLst>
              </a:tr>
              <a:tr h="295063"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SemiBold" panose="02000003000000020004" pitchFamily="2" charset="-127"/>
                        </a:rPr>
                        <a:t>미스토홀딩스</a:t>
                      </a: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SemiBold" panose="02000003000000020004" pitchFamily="2" charset="-127"/>
                        </a:rPr>
                        <a:t>(</a:t>
                      </a: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SemiBold" panose="02000003000000020004" pitchFamily="2" charset="-127"/>
                        </a:rPr>
                        <a:t>구</a:t>
                      </a: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SemiBold" panose="02000003000000020004" pitchFamily="2" charset="-127"/>
                        </a:rPr>
                        <a:t>.</a:t>
                      </a: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SemiBold" panose="02000003000000020004" pitchFamily="2" charset="-127"/>
                        </a:rPr>
                        <a:t>휠라</a:t>
                      </a: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SemiBold" panose="02000003000000020004" pitchFamily="2" charset="-127"/>
                        </a:rPr>
                        <a:t>)</a:t>
                      </a:r>
                      <a:endParaRPr kumimoji="0" lang="ko-KR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SemiBold" panose="02000003000000020004" pitchFamily="2" charset="-127"/>
                      </a:endParaRPr>
                    </a:p>
                  </a:txBody>
                  <a:tcPr anchor="ctr" horzOverflow="overflow"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Enterprise Data Warehouse</a:t>
                      </a: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5TB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kumimoji="0" lang="en-US" altLang="ko-KR" sz="9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EDW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="" xmlns:a16="http://schemas.microsoft.com/office/drawing/2014/main" val="1174830984"/>
                  </a:ext>
                </a:extLst>
              </a:tr>
              <a:tr h="295063"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SemiBold" panose="02000003000000020004" pitchFamily="2" charset="-127"/>
                        </a:rPr>
                        <a:t>건설근로자공제회</a:t>
                      </a:r>
                    </a:p>
                  </a:txBody>
                  <a:tcPr anchor="ctr" horzOverflow="overflow"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Enterprise Data Warehouse</a:t>
                      </a: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20TB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kumimoji="0" lang="en-US" altLang="ko-KR" sz="9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EDW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="" xmlns:a16="http://schemas.microsoft.com/office/drawing/2014/main" val="3254849268"/>
                  </a:ext>
                </a:extLst>
              </a:tr>
              <a:tr h="295063"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SemiBold" panose="02000003000000020004" pitchFamily="2" charset="-127"/>
                        </a:rPr>
                        <a:t>SH</a:t>
                      </a: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SemiBold" panose="02000003000000020004" pitchFamily="2" charset="-127"/>
                        </a:rPr>
                        <a:t>서울주택도시공사</a:t>
                      </a:r>
                    </a:p>
                  </a:txBody>
                  <a:tcPr anchor="ctr" horzOverflow="overflow"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Enterprise Data Warehouse</a:t>
                      </a: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2TB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kumimoji="0" lang="en-US" altLang="ko-KR" sz="9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EDW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="" xmlns:a16="http://schemas.microsoft.com/office/drawing/2014/main" val="3891974251"/>
                  </a:ext>
                </a:extLst>
              </a:tr>
            </a:tbl>
          </a:graphicData>
        </a:graphic>
      </p:graphicFrame>
      <p:pic>
        <p:nvPicPr>
          <p:cNvPr id="11" name="Picture 2" descr="디지털캠페인 AE 인턴 채용 | 공모전 대외활동-링커리어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67119" y="4313295"/>
            <a:ext cx="1120082" cy="7925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그림 11">
            <a:extLst>
              <a:ext uri="{FF2B5EF4-FFF2-40B4-BE49-F238E27FC236}">
                <a16:creationId xmlns="" xmlns:a16="http://schemas.microsoft.com/office/drawing/2014/main" id="{567C6C7C-BEFB-475F-952B-7402E9223C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4089" y="3801183"/>
            <a:ext cx="2438458" cy="584132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="" xmlns:a16="http://schemas.microsoft.com/office/drawing/2014/main" id="{E22075A5-CCE1-4885-9C50-99E4F06E2CD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0447827" y="2416685"/>
            <a:ext cx="1495856" cy="430246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Picture 2" descr="kt png 이미지 검색결과">
            <a:extLst>
              <a:ext uri="{FF2B5EF4-FFF2-40B4-BE49-F238E27FC236}">
                <a16:creationId xmlns="" xmlns:a16="http://schemas.microsoft.com/office/drawing/2014/main" id="{8A65C02F-DE05-4D3A-A71A-9DE0584F47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89773" y="2760253"/>
            <a:ext cx="460564" cy="3763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19">
            <a:extLst>
              <a:ext uri="{FF2B5EF4-FFF2-40B4-BE49-F238E27FC236}">
                <a16:creationId xmlns="" xmlns:a16="http://schemas.microsoft.com/office/drawing/2014/main" id="{A51AA4B7-4ED7-4766-85D7-32FBC05AE7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10511559" y="2915777"/>
            <a:ext cx="1476328" cy="487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9" name="그림 18"/>
          <p:cNvPicPr>
            <a:picLocks noChangeAspect="1"/>
          </p:cNvPicPr>
          <p:nvPr/>
        </p:nvPicPr>
        <p:blipFill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9549941" y="3356540"/>
            <a:ext cx="1094496" cy="447140"/>
          </a:xfrm>
          <a:prstGeom prst="rect">
            <a:avLst/>
          </a:prstGeom>
        </p:spPr>
      </p:pic>
      <p:pic>
        <p:nvPicPr>
          <p:cNvPr id="20" name="Picture 14" descr="검찰청 CI, 로고 &lt;2015.12&gt; : 네이버 블로그"/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62924" y="4352405"/>
            <a:ext cx="746422" cy="7464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9529153" y="1982044"/>
            <a:ext cx="1165082" cy="438796"/>
          </a:xfrm>
          <a:prstGeom prst="rect">
            <a:avLst/>
          </a:prstGeom>
        </p:spPr>
      </p:pic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286578" y="6360911"/>
            <a:ext cx="278505" cy="274324"/>
          </a:xfrm>
        </p:spPr>
        <p:txBody>
          <a:bodyPr/>
          <a:lstStyle/>
          <a:p>
            <a:fld id="{AFA02C0B-84B5-4CD2-A6CE-C6BD7D6F9045}" type="slidenum">
              <a:rPr lang="ko-KR" altLang="en-US" smtClean="0">
                <a:solidFill>
                  <a:schemeClr val="bg1"/>
                </a:solidFill>
              </a:rPr>
              <a:t>3</a:t>
            </a:fld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9335192" y="1820487"/>
            <a:ext cx="2709950" cy="33417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9595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5"/>
          <p:cNvSpPr>
            <a:spLocks noGrp="1"/>
          </p:cNvSpPr>
          <p:nvPr>
            <p:ph type="title"/>
          </p:nvPr>
        </p:nvSpPr>
        <p:spPr>
          <a:xfrm>
            <a:off x="841711" y="774440"/>
            <a:ext cx="4920914" cy="578499"/>
          </a:xfrm>
        </p:spPr>
        <p:txBody>
          <a:bodyPr/>
          <a:lstStyle/>
          <a:p>
            <a:r>
              <a:rPr lang="ko-KR" altLang="en-US" dirty="0">
                <a:latin typeface="+mj-ea"/>
                <a:ea typeface="+mj-ea"/>
              </a:rPr>
              <a:t>병원 레퍼런스</a:t>
            </a:r>
            <a:endParaRPr lang="ko-KR" altLang="en-US" sz="1400" dirty="0">
              <a:solidFill>
                <a:srgbClr val="0083CE"/>
              </a:solidFill>
              <a:latin typeface="+mj-ea"/>
              <a:ea typeface="+mj-ea"/>
            </a:endParaRPr>
          </a:p>
        </p:txBody>
      </p:sp>
      <p:graphicFrame>
        <p:nvGraphicFramePr>
          <p:cNvPr id="2" name="표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841329"/>
              </p:ext>
            </p:extLst>
          </p:nvPr>
        </p:nvGraphicFramePr>
        <p:xfrm>
          <a:off x="777114" y="1630385"/>
          <a:ext cx="8128000" cy="4785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2939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2381250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1000125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2673686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</a:tblGrid>
              <a:tr h="29235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1" dirty="0">
                          <a:solidFill>
                            <a:srgbClr val="0083CE"/>
                          </a:solidFill>
                          <a:latin typeface="+mn-ea"/>
                          <a:ea typeface="+mn-ea"/>
                        </a:rPr>
                        <a:t>발주처</a:t>
                      </a:r>
                    </a:p>
                  </a:txBody>
                  <a:tcPr anchor="ctr"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1" dirty="0">
                          <a:solidFill>
                            <a:srgbClr val="0083CE"/>
                          </a:solidFill>
                          <a:latin typeface="+mn-ea"/>
                          <a:ea typeface="+mn-ea"/>
                        </a:rPr>
                        <a:t>사업내용</a:t>
                      </a:r>
                    </a:p>
                  </a:txBody>
                  <a:tcPr anchor="ctr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1" dirty="0">
                          <a:solidFill>
                            <a:srgbClr val="0083CE"/>
                          </a:solidFill>
                          <a:latin typeface="+mn-ea"/>
                          <a:ea typeface="+mn-ea"/>
                        </a:rPr>
                        <a:t>도입 용량</a:t>
                      </a:r>
                    </a:p>
                  </a:txBody>
                  <a:tcPr anchor="ctr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1" dirty="0">
                          <a:solidFill>
                            <a:srgbClr val="0083CE"/>
                          </a:solidFill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anchor="ctr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263118"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SemiBold" panose="02000003000000020004" pitchFamily="2" charset="-127"/>
                        </a:rPr>
                        <a:t>삼성서울병원</a:t>
                      </a:r>
                    </a:p>
                  </a:txBody>
                  <a:tcPr anchor="ctr" horzOverflow="overflow"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의료정보분석</a:t>
                      </a:r>
                      <a:r>
                        <a:rPr kumimoji="0" lang="en-US" altLang="ko-KR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 </a:t>
                      </a:r>
                      <a:r>
                        <a:rPr kumimoji="0" lang="ko-KR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시스템</a:t>
                      </a:r>
                      <a:endParaRPr kumimoji="0" lang="en-US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4TB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kumimoji="0" lang="en-US" altLang="ko-KR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CDW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263118"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SemiBold" panose="02000003000000020004" pitchFamily="2" charset="-127"/>
                        </a:rPr>
                        <a:t>서울대학교병원</a:t>
                      </a:r>
                    </a:p>
                  </a:txBody>
                  <a:tcPr anchor="ctr" horzOverflow="overflow"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의료정보분석</a:t>
                      </a:r>
                      <a:r>
                        <a:rPr kumimoji="0" lang="en-US" altLang="ko-KR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 </a:t>
                      </a:r>
                      <a:r>
                        <a:rPr kumimoji="0" lang="ko-KR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시스템</a:t>
                      </a:r>
                      <a:endParaRPr kumimoji="0" lang="en-US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4TB</a:t>
                      </a:r>
                      <a:endParaRPr kumimoji="0" lang="en-US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kumimoji="0" lang="en-US" altLang="ko-KR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CDW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438529"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SemiBold" panose="02000003000000020004" pitchFamily="2" charset="-127"/>
                        </a:rPr>
                        <a:t>고려대학교병원</a:t>
                      </a:r>
                    </a:p>
                  </a:txBody>
                  <a:tcPr anchor="ctr" horzOverflow="overflow"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의료정보분석</a:t>
                      </a:r>
                      <a:r>
                        <a:rPr kumimoji="0" lang="en-US" altLang="ko-KR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 </a:t>
                      </a:r>
                      <a:r>
                        <a:rPr kumimoji="0" lang="ko-KR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시스템</a:t>
                      </a:r>
                      <a:endParaRPr kumimoji="0" lang="en-US" altLang="ko-KR" sz="12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15TB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kumimoji="0" lang="en-US" altLang="ko-KR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CDW / EDW</a:t>
                      </a:r>
                    </a:p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kumimoji="0" lang="ko-KR" altLang="en-US" sz="1200" b="0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버티카</a:t>
                      </a:r>
                      <a:r>
                        <a:rPr kumimoji="0" lang="ko-KR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 라이선스 및 노드 증설</a:t>
                      </a:r>
                      <a:endParaRPr kumimoji="0" lang="en-US" altLang="ko-KR" sz="12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263118"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SemiBold" panose="02000003000000020004" pitchFamily="2" charset="-127"/>
                        </a:rPr>
                        <a:t>건국대학교병원</a:t>
                      </a:r>
                    </a:p>
                  </a:txBody>
                  <a:tcPr anchor="ctr" horzOverflow="overflow"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의료정보분석</a:t>
                      </a:r>
                      <a:r>
                        <a:rPr kumimoji="0" lang="en-US" altLang="ko-KR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 </a:t>
                      </a:r>
                      <a:r>
                        <a:rPr kumimoji="0" lang="ko-KR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시스템</a:t>
                      </a:r>
                      <a:endParaRPr kumimoji="0" lang="en-US" altLang="ko-KR" sz="12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4TB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kumimoji="0" lang="en-US" altLang="ko-KR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CDW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263118"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SemiBold" panose="02000003000000020004" pitchFamily="2" charset="-127"/>
                        </a:rPr>
                        <a:t>경북대학병원</a:t>
                      </a:r>
                    </a:p>
                  </a:txBody>
                  <a:tcPr anchor="ctr" horzOverflow="overflow"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의료정보분석</a:t>
                      </a: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 </a:t>
                      </a: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시스템</a:t>
                      </a:r>
                      <a:endParaRPr kumimoji="0" lang="en-US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2TB</a:t>
                      </a:r>
                      <a:endParaRPr kumimoji="0" lang="en-US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kumimoji="0" lang="en-US" altLang="ko-KR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CDW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  <a:tr h="263118"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SemiBold" panose="02000003000000020004" pitchFamily="2" charset="-127"/>
                        </a:rPr>
                        <a:t>울산대학병원</a:t>
                      </a:r>
                    </a:p>
                  </a:txBody>
                  <a:tcPr anchor="ctr" horzOverflow="overflow"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의료정보분석</a:t>
                      </a: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 </a:t>
                      </a: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시스템</a:t>
                      </a:r>
                      <a:endParaRPr kumimoji="0" lang="en-US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3TB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kumimoji="0" lang="en-US" altLang="ko-KR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CDW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="" xmlns:a16="http://schemas.microsoft.com/office/drawing/2014/main" val="10006"/>
                  </a:ext>
                </a:extLst>
              </a:tr>
              <a:tr h="263118"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SemiBold" panose="02000003000000020004" pitchFamily="2" charset="-127"/>
                        </a:rPr>
                        <a:t>서울의료원 </a:t>
                      </a:r>
                    </a:p>
                  </a:txBody>
                  <a:tcPr anchor="ctr" horzOverflow="overflow"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의료정보분석</a:t>
                      </a: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 </a:t>
                      </a: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시스템</a:t>
                      </a:r>
                      <a:endParaRPr kumimoji="0" lang="en-US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3TB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kumimoji="0" lang="en-US" altLang="ko-KR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CDW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="" xmlns:a16="http://schemas.microsoft.com/office/drawing/2014/main" val="10007"/>
                  </a:ext>
                </a:extLst>
              </a:tr>
              <a:tr h="438529"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SemiBold" panose="02000003000000020004" pitchFamily="2" charset="-127"/>
                        </a:rPr>
                        <a:t>인하대학병원</a:t>
                      </a:r>
                    </a:p>
                  </a:txBody>
                  <a:tcPr anchor="ctr" horzOverflow="overflow"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의료정보분석</a:t>
                      </a:r>
                      <a:r>
                        <a:rPr kumimoji="0" lang="en-US" altLang="ko-KR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 </a:t>
                      </a:r>
                      <a:r>
                        <a:rPr kumimoji="0" lang="ko-KR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시스템</a:t>
                      </a:r>
                      <a:endParaRPr kumimoji="0" lang="en-US" altLang="ko-KR" sz="12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4TB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kumimoji="0" lang="en-US" altLang="ko-KR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AWS </a:t>
                      </a:r>
                      <a:r>
                        <a:rPr kumimoji="0" lang="ko-KR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구축</a:t>
                      </a:r>
                      <a:endParaRPr kumimoji="0" lang="en-US" altLang="ko-KR" sz="12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kumimoji="0" lang="en-US" altLang="ko-KR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CDW / EDW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="" xmlns:a16="http://schemas.microsoft.com/office/drawing/2014/main" val="10008"/>
                  </a:ext>
                </a:extLst>
              </a:tr>
              <a:tr h="263118"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SemiBold" panose="02000003000000020004" pitchFamily="2" charset="-127"/>
                        </a:rPr>
                        <a:t>원주세브란스기독병원</a:t>
                      </a:r>
                    </a:p>
                  </a:txBody>
                  <a:tcPr anchor="ctr" horzOverflow="overflow"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의료정보분석</a:t>
                      </a:r>
                      <a:r>
                        <a:rPr kumimoji="0" lang="en-US" altLang="ko-KR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 </a:t>
                      </a:r>
                      <a:r>
                        <a:rPr kumimoji="0" lang="ko-KR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시스템</a:t>
                      </a:r>
                      <a:endParaRPr kumimoji="0" lang="en-US" altLang="ko-KR" sz="12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1TB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kumimoji="0" lang="en-US" altLang="ko-KR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CDW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="" xmlns:a16="http://schemas.microsoft.com/office/drawing/2014/main" val="10009"/>
                  </a:ext>
                </a:extLst>
              </a:tr>
              <a:tr h="263118"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SemiBold" panose="02000003000000020004" pitchFamily="2" charset="-127"/>
                        </a:rPr>
                        <a:t>분당차병원</a:t>
                      </a:r>
                    </a:p>
                  </a:txBody>
                  <a:tcPr anchor="ctr" horzOverflow="overflow"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의료정보분석</a:t>
                      </a:r>
                      <a:r>
                        <a:rPr kumimoji="0" lang="en-US" altLang="ko-KR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 </a:t>
                      </a:r>
                      <a:r>
                        <a:rPr kumimoji="0" lang="ko-KR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시스템</a:t>
                      </a:r>
                      <a:endParaRPr kumimoji="0" lang="en-US" altLang="ko-KR" sz="12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4TB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kumimoji="0" lang="en-US" altLang="ko-KR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CDW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263118"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SemiBold" panose="02000003000000020004" pitchFamily="2" charset="-127"/>
                        </a:rPr>
                        <a:t>국립병원</a:t>
                      </a:r>
                    </a:p>
                  </a:txBody>
                  <a:tcPr anchor="ctr" horzOverflow="overflow"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의료정보분석</a:t>
                      </a:r>
                      <a:r>
                        <a:rPr kumimoji="0" lang="en-US" altLang="ko-KR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 </a:t>
                      </a:r>
                      <a:r>
                        <a:rPr kumimoji="0" lang="ko-KR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시스템</a:t>
                      </a:r>
                      <a:endParaRPr kumimoji="0" lang="en-US" altLang="ko-KR" sz="12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4TB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kumimoji="0" lang="en-US" altLang="ko-KR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CDW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  <a:tr h="263118"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SemiBold" panose="02000003000000020004" pitchFamily="2" charset="-127"/>
                        </a:rPr>
                        <a:t>충무병원</a:t>
                      </a:r>
                    </a:p>
                  </a:txBody>
                  <a:tcPr anchor="ctr" horzOverflow="overflow"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의료정보분석</a:t>
                      </a:r>
                      <a:r>
                        <a:rPr kumimoji="0" lang="en-US" altLang="ko-KR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 </a:t>
                      </a:r>
                      <a:r>
                        <a:rPr kumimoji="0" lang="ko-KR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시스템</a:t>
                      </a:r>
                      <a:endParaRPr kumimoji="0" lang="en-US" altLang="ko-KR" sz="12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2TB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kumimoji="0" lang="en-US" altLang="ko-KR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CDW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="" xmlns:a16="http://schemas.microsoft.com/office/drawing/2014/main" val="1913449048"/>
                  </a:ext>
                </a:extLst>
              </a:tr>
              <a:tr h="263118"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SemiBold" panose="02000003000000020004" pitchFamily="2" charset="-127"/>
                        </a:rPr>
                        <a:t>삼육대병원</a:t>
                      </a:r>
                    </a:p>
                  </a:txBody>
                  <a:tcPr anchor="ctr" horzOverflow="overflow"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의료정보분석</a:t>
                      </a:r>
                      <a:r>
                        <a:rPr kumimoji="0" lang="en-US" altLang="ko-KR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 </a:t>
                      </a:r>
                      <a:r>
                        <a:rPr kumimoji="0" lang="ko-KR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시스템</a:t>
                      </a:r>
                      <a:endParaRPr kumimoji="0" lang="en-US" altLang="ko-KR" sz="12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2TB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kumimoji="0" lang="en-US" altLang="ko-KR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CDW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="" xmlns:a16="http://schemas.microsoft.com/office/drawing/2014/main" val="3907166578"/>
                  </a:ext>
                </a:extLst>
              </a:tr>
              <a:tr h="263118"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SemiBold" panose="02000003000000020004" pitchFamily="2" charset="-127"/>
                        </a:rPr>
                        <a:t>강원대병원</a:t>
                      </a:r>
                    </a:p>
                  </a:txBody>
                  <a:tcPr anchor="ctr" horzOverflow="overflow"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의료정보분석</a:t>
                      </a:r>
                      <a:r>
                        <a:rPr kumimoji="0" lang="en-US" altLang="ko-KR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 </a:t>
                      </a:r>
                      <a:r>
                        <a:rPr kumimoji="0" lang="ko-KR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시스템</a:t>
                      </a:r>
                      <a:endParaRPr kumimoji="0" lang="en-US" altLang="ko-KR" sz="12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4TB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kumimoji="0" lang="en-US" altLang="ko-KR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CDW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="" xmlns:a16="http://schemas.microsoft.com/office/drawing/2014/main" val="1522583133"/>
                  </a:ext>
                </a:extLst>
              </a:tr>
              <a:tr h="263118"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SemiBold" panose="02000003000000020004" pitchFamily="2" charset="-127"/>
                        </a:rPr>
                        <a:t>삼광랩트리</a:t>
                      </a:r>
                      <a:endParaRPr kumimoji="0" lang="ko-KR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SemiBold" panose="02000003000000020004" pitchFamily="2" charset="-127"/>
                      </a:endParaRPr>
                    </a:p>
                  </a:txBody>
                  <a:tcPr anchor="ctr" horzOverflow="overflow"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의료정보분석</a:t>
                      </a:r>
                      <a:r>
                        <a:rPr kumimoji="0" lang="en-US" altLang="ko-KR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 </a:t>
                      </a:r>
                      <a:r>
                        <a:rPr kumimoji="0" lang="ko-KR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시스템</a:t>
                      </a:r>
                      <a:endParaRPr kumimoji="0" lang="en-US" altLang="ko-KR" sz="12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Pretendard Variable Light" panose="02000003000000020004" pitchFamily="2" charset="-127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8E001D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3TB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kumimoji="0" lang="en-US" altLang="ko-KR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Pretendard Variable Light" panose="02000003000000020004" pitchFamily="2" charset="-127"/>
                        </a:rPr>
                        <a:t>CDW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270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="" xmlns:a16="http://schemas.microsoft.com/office/drawing/2014/main" val="1376781956"/>
                  </a:ext>
                </a:extLst>
              </a:tr>
            </a:tbl>
          </a:graphicData>
        </a:graphic>
      </p:graphicFrame>
      <p:pic>
        <p:nvPicPr>
          <p:cNvPr id="15" name="그림 14">
            <a:extLst>
              <a:ext uri="{FF2B5EF4-FFF2-40B4-BE49-F238E27FC236}">
                <a16:creationId xmlns="" xmlns:a16="http://schemas.microsoft.com/office/drawing/2014/main" id="{0D30D4A2-F239-4902-A93F-E539F2144D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6625" y="4788089"/>
            <a:ext cx="1232922" cy="337787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="" xmlns:a16="http://schemas.microsoft.com/office/drawing/2014/main" id="{7BE99C68-3F01-4EA9-980F-087F635FA39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08740" y="4156363"/>
            <a:ext cx="1089377" cy="337970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="" xmlns:a16="http://schemas.microsoft.com/office/drawing/2014/main" id="{65836530-8145-479C-98AD-B53AA83E8E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48056" y="4686078"/>
            <a:ext cx="1084417" cy="341502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="" xmlns:a16="http://schemas.microsoft.com/office/drawing/2014/main" id="{8619A116-A858-4B41-A8C7-96A7329E8E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71079" y="3833093"/>
            <a:ext cx="1621416" cy="311811"/>
          </a:xfrm>
          <a:prstGeom prst="rect">
            <a:avLst/>
          </a:prstGeom>
        </p:spPr>
      </p:pic>
      <p:pic>
        <p:nvPicPr>
          <p:cNvPr id="24" name="그림 2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15503" y="2298587"/>
            <a:ext cx="1206810" cy="350122"/>
          </a:xfrm>
          <a:prstGeom prst="rect">
            <a:avLst/>
          </a:prstGeom>
        </p:spPr>
      </p:pic>
      <p:pic>
        <p:nvPicPr>
          <p:cNvPr id="25" name="그림 24">
            <a:extLst>
              <a:ext uri="{FF2B5EF4-FFF2-40B4-BE49-F238E27FC236}">
                <a16:creationId xmlns="" xmlns:a16="http://schemas.microsoft.com/office/drawing/2014/main" id="{6387FAFA-4C74-4A02-A36C-B49A9C32BD9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87978" y="3582787"/>
            <a:ext cx="881316" cy="306580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="" xmlns:a16="http://schemas.microsoft.com/office/drawing/2014/main" id="{D0094439-CFE5-4EB8-B3CB-2C034A1B547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22894" y="2606609"/>
            <a:ext cx="1373822" cy="497214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="" xmlns:a16="http://schemas.microsoft.com/office/drawing/2014/main" id="{266FEB56-7C66-45C3-B6B4-E7718EFD025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01267" y="3034146"/>
            <a:ext cx="1424712" cy="410975"/>
          </a:xfrm>
          <a:prstGeom prst="rect">
            <a:avLst/>
          </a:prstGeom>
        </p:spPr>
      </p:pic>
      <p:pic>
        <p:nvPicPr>
          <p:cNvPr id="28" name="그림 2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97986" y="4387839"/>
            <a:ext cx="939590" cy="209490"/>
          </a:xfrm>
          <a:prstGeom prst="rect">
            <a:avLst/>
          </a:prstGeom>
        </p:spPr>
      </p:pic>
      <p:pic>
        <p:nvPicPr>
          <p:cNvPr id="29" name="그림 2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055460" y="3186834"/>
            <a:ext cx="862805" cy="384691"/>
          </a:xfrm>
          <a:prstGeom prst="rect">
            <a:avLst/>
          </a:prstGeom>
        </p:spPr>
      </p:pic>
      <p:pic>
        <p:nvPicPr>
          <p:cNvPr id="30" name="그림 29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342637" y="1977812"/>
            <a:ext cx="1405720" cy="457142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>
          <a:xfrm>
            <a:off x="10289811" y="6365316"/>
            <a:ext cx="278505" cy="274324"/>
          </a:xfrm>
        </p:spPr>
        <p:txBody>
          <a:bodyPr/>
          <a:lstStyle/>
          <a:p>
            <a:fld id="{AFA02C0B-84B5-4CD2-A6CE-C6BD7D6F9045}" type="slidenum">
              <a:rPr lang="ko-KR" altLang="en-US" smtClean="0">
                <a:solidFill>
                  <a:schemeClr val="bg1"/>
                </a:solidFill>
              </a:rPr>
              <a:t>4</a:t>
            </a:fld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9285316" y="1911927"/>
            <a:ext cx="2709950" cy="33417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42226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1422</TotalTime>
  <Words>323</Words>
  <Application>Microsoft Office PowerPoint</Application>
  <PresentationFormat>와이드스크린</PresentationFormat>
  <Paragraphs>167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12" baseType="lpstr">
      <vt:lpstr>Pretendard Variable Light</vt:lpstr>
      <vt:lpstr>Pretendard Variable Medium</vt:lpstr>
      <vt:lpstr>Pretendard Variable SemiBold</vt:lpstr>
      <vt:lpstr>SB 어그로 Bold</vt:lpstr>
      <vt:lpstr>맑은 고딕</vt:lpstr>
      <vt:lpstr>Arial</vt:lpstr>
      <vt:lpstr>Wingdings</vt:lpstr>
      <vt:lpstr>Office 테마</vt:lpstr>
      <vt:lpstr>PowerPoint 프레젠테이션</vt:lpstr>
      <vt:lpstr>금융 레퍼런스</vt:lpstr>
      <vt:lpstr>기업 레퍼런스</vt:lpstr>
      <vt:lpstr>병원 레퍼런스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Vertica Analytics Platform</dc:title>
  <dc:creator>SungHyun.Kim</dc:creator>
  <cp:lastModifiedBy>SOO</cp:lastModifiedBy>
  <cp:revision>175</cp:revision>
  <dcterms:created xsi:type="dcterms:W3CDTF">2025-01-07T05:50:41Z</dcterms:created>
  <dcterms:modified xsi:type="dcterms:W3CDTF">2026-04-28T01:23:02Z</dcterms:modified>
</cp:coreProperties>
</file>