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91" r:id="rId2"/>
    <p:sldId id="292" r:id="rId3"/>
    <p:sldId id="293" r:id="rId4"/>
    <p:sldId id="294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CE"/>
    <a:srgbClr val="1C4076"/>
    <a:srgbClr val="02709C"/>
    <a:srgbClr val="00518E"/>
    <a:srgbClr val="709DCA"/>
    <a:srgbClr val="009ED6"/>
    <a:srgbClr val="000000"/>
    <a:srgbClr val="4ABEE3"/>
    <a:srgbClr val="4B5F68"/>
    <a:srgbClr val="416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0A901-53E6-41C4-9EEA-8BEE09C37D41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B63D7-6443-4B75-AADE-7EE57B9683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410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429C4-6C66-4BB2-903E-0003D83D0C8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0DF4C-EA12-4F11-84B6-FBA4F377C9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4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800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2C0B-84B5-4CD2-A6CE-C6BD7D6F9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1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8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02C0B-84B5-4CD2-A6CE-C6BD7D6F904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36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9022" cy="68580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841711" y="774440"/>
            <a:ext cx="10515600" cy="578499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80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241230" y="6313620"/>
            <a:ext cx="370690" cy="365125"/>
          </a:xfrm>
        </p:spPr>
        <p:txBody>
          <a:bodyPr/>
          <a:lstStyle/>
          <a:p>
            <a:fld id="{AFA02C0B-84B5-4CD2-A6CE-C6BD7D6F90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85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41711" y="774440"/>
            <a:ext cx="10515600" cy="578499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800">
                <a:solidFill>
                  <a:srgbClr val="000000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241230" y="6313620"/>
            <a:ext cx="370690" cy="365125"/>
          </a:xfrm>
        </p:spPr>
        <p:txBody>
          <a:bodyPr/>
          <a:lstStyle>
            <a:lvl1pPr>
              <a:defRPr b="1"/>
            </a:lvl1pPr>
          </a:lstStyle>
          <a:p>
            <a:fld id="{AFA02C0B-84B5-4CD2-A6CE-C6BD7D6F90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36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8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8F6DC-6B17-467A-8F5F-542C658D840B}" type="datetime1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71070" y="6356350"/>
            <a:ext cx="370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AFA02C0B-84B5-4CD2-A6CE-C6BD7D6F90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458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4" r:id="rId3"/>
    <p:sldLayoutId id="2147483656" r:id="rId4"/>
    <p:sldLayoutId id="214748365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1524000" y="2702045"/>
            <a:ext cx="9144001" cy="7607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8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레퍼런스</a:t>
            </a: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5631825" y="3839619"/>
            <a:ext cx="928350" cy="4294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SB 어그로 Bold" panose="02020603020101020101" pitchFamily="18" charset="-127"/>
                <a:ea typeface="SB 어그로 Bold" panose="02020603020101020101" pitchFamily="18" charset="-127"/>
              </a:rPr>
              <a:t>00</a:t>
            </a:r>
            <a:endParaRPr lang="ko-KR" altLang="en-US" sz="1600" dirty="0">
              <a:solidFill>
                <a:schemeClr val="bg1"/>
              </a:solidFill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027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금융 레퍼런스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854993"/>
              </p:ext>
            </p:extLst>
          </p:nvPr>
        </p:nvGraphicFramePr>
        <p:xfrm>
          <a:off x="1117936" y="1631654"/>
          <a:ext cx="8084404" cy="46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5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083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057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789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6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발주처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사업내용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도입 용량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9418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신한은행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통합 분석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One DW / Machine Learning / AML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마이데이터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Node</a:t>
                      </a:r>
                      <a:b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</a:b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License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1.3PB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Teradata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IBM DB2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 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mode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에서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EON Mode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로 전환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Multi cluster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하나은행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Node</a:t>
                      </a:r>
                      <a:b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</a:b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License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100TB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정보계 분석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EON Mode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한국신용정보원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빅데이터 분석 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285TB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빅데이터 분석 및 마이데이터 분석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새마을금고연합회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상시감시 분석시스템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25TB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통계 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빗썸 코리아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Node</a:t>
                      </a:r>
                      <a:b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</a:b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License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100TB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신규 </a:t>
                      </a:r>
                      <a:r>
                        <a:rPr kumimoji="0" lang="en-GB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한화생명금융서비스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Open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통합영업플랫폼 구축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신규 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6422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테크핀레이팅스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기업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CB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등급 산출 및 분석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40TB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Postgresql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57568263"/>
                  </a:ext>
                </a:extLst>
              </a:tr>
            </a:tbl>
          </a:graphicData>
        </a:graphic>
      </p:graphicFrame>
      <p:pic>
        <p:nvPicPr>
          <p:cNvPr id="70" name="그림 69">
            <a:extLst>
              <a:ext uri="{FF2B5EF4-FFF2-40B4-BE49-F238E27FC236}">
                <a16:creationId xmlns:a16="http://schemas.microsoft.com/office/drawing/2014/main" xmlns="" id="{39E8787F-53D8-4DC8-AA4B-9086EEE11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14" y="3459756"/>
            <a:ext cx="1930921" cy="577286"/>
          </a:xfrm>
          <a:prstGeom prst="rect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:a16="http://schemas.microsoft.com/office/drawing/2014/main" xmlns="" id="{E1D6FAB2-6CA7-4E1A-9D7B-FA7D270A7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2668" y="3025584"/>
            <a:ext cx="1900482" cy="39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xmlns="" id="{674FFF98-1418-4BED-BA58-9227A8A41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915" y="1924567"/>
            <a:ext cx="1837530" cy="531517"/>
          </a:xfrm>
          <a:prstGeom prst="rect">
            <a:avLst/>
          </a:prstGeom>
        </p:spPr>
      </p:pic>
      <p:pic>
        <p:nvPicPr>
          <p:cNvPr id="90" name="Picture 2" descr="Corporate Identity Guidelines (CIG) for KEB Hana Bank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322" y="2215083"/>
            <a:ext cx="1592774" cy="83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xmlns="" id="{8480CA0B-6F4D-4BFB-8F68-61E78545F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122" y="3968525"/>
            <a:ext cx="1645874" cy="486282"/>
          </a:xfrm>
          <a:prstGeom prst="rect">
            <a:avLst/>
          </a:prstGeom>
        </p:spPr>
      </p:pic>
      <p:pic>
        <p:nvPicPr>
          <p:cNvPr id="92" name="그림 91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564" y="4280478"/>
            <a:ext cx="2016436" cy="664238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5798" y="6377234"/>
            <a:ext cx="278505" cy="249385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79A1E04-F04B-D5E7-88EB-DECF86E8B1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458" y="4811631"/>
            <a:ext cx="1656105" cy="3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0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기업 레퍼런스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270782"/>
              </p:ext>
            </p:extLst>
          </p:nvPr>
        </p:nvGraphicFramePr>
        <p:xfrm>
          <a:off x="1117936" y="1620859"/>
          <a:ext cx="8128000" cy="4065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36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11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88123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발주처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사업내용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도입 용량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51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삼성전자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워크로드 관리 플랫폼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40TB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Platform </a:t>
                      </a:r>
                      <a:r>
                        <a:rPr kumimoji="0" lang="en-US" altLang="ko-K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LSF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- PA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용 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DBMS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477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삼성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SDS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운영 자동화 지원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5TB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삼성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SDS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클라우드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누리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(Nuri)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KT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차세대 </a:t>
                      </a:r>
                      <a:r>
                        <a:rPr kumimoji="0" lang="en-GB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BIDW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500TB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Teradata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477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LG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유플러스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BS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통합 정보계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IFRS7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시스템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292TB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정보계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DBMS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mode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에서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EON Mode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로 전환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 라이선스 증설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49555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한국조폐공사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신뢰 구축 플랫폼 구축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5TB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통계 시스템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477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LG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전자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New BEST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LG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전자 한국 물류 </a:t>
                      </a:r>
                      <a:r>
                        <a:rPr kumimoji="0" lang="en-US" altLang="ko-KR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DW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Oracle Exadata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대체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펑타이그레이트차이나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12TB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AWS Eon Mode 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증설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대검찰청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8TB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분석</a:t>
                      </a: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/</a:t>
                      </a:r>
                      <a:r>
                        <a:rPr kumimoji="0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통계 시스템</a:t>
                      </a:r>
                      <a:endParaRPr kumimoji="0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미스토홀딩스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(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구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.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휠라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5TB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174830984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건설근로자공제회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20TB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54849268"/>
                  </a:ext>
                </a:extLst>
              </a:tr>
              <a:tr h="295063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SH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서울주택도시공사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Enterprise Data Warehouse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91974251"/>
                  </a:ext>
                </a:extLst>
              </a:tr>
            </a:tbl>
          </a:graphicData>
        </a:graphic>
      </p:graphicFrame>
      <p:pic>
        <p:nvPicPr>
          <p:cNvPr id="11" name="Picture 2" descr="디지털캠페인 AE 인턴 채용 | 공모전 대외활동-링커리어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416" y="4128119"/>
            <a:ext cx="891596" cy="63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567C6C7C-BEFB-475F-952B-7402E922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73" y="3819199"/>
            <a:ext cx="1941036" cy="4649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E22075A5-CCE1-4885-9C50-99E4F06E2C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26077" y="2360815"/>
            <a:ext cx="1190715" cy="34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2" descr="kt png 이미지 검색결과">
            <a:extLst>
              <a:ext uri="{FF2B5EF4-FFF2-40B4-BE49-F238E27FC236}">
                <a16:creationId xmlns:a16="http://schemas.microsoft.com/office/drawing/2014/main" xmlns="" id="{8A65C02F-DE05-4D3A-A71A-9DE0584F4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4937" y="2732142"/>
            <a:ext cx="366614" cy="2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9">
            <a:extLst>
              <a:ext uri="{FF2B5EF4-FFF2-40B4-BE49-F238E27FC236}">
                <a16:creationId xmlns:a16="http://schemas.microsoft.com/office/drawing/2014/main" xmlns="" id="{A51AA4B7-4ED7-4766-85D7-32FBC05AE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362879" y="2940522"/>
            <a:ext cx="1175171" cy="387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78200" y="3468647"/>
            <a:ext cx="871229" cy="355929"/>
          </a:xfrm>
          <a:prstGeom prst="rect">
            <a:avLst/>
          </a:prstGeom>
        </p:spPr>
      </p:pic>
      <p:pic>
        <p:nvPicPr>
          <p:cNvPr id="20" name="Picture 14" descr="검찰청 CI, 로고 &lt;2015.12&gt; : 네이버 블로그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001" y="4403597"/>
            <a:ext cx="594159" cy="59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1483" y="1985235"/>
            <a:ext cx="927416" cy="349287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286578" y="6360911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95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841711" y="774440"/>
            <a:ext cx="4920914" cy="578499"/>
          </a:xfrm>
        </p:spPr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병원 레퍼런스</a:t>
            </a:r>
            <a:endParaRPr lang="ko-KR" altLang="en-US" sz="1400" dirty="0">
              <a:solidFill>
                <a:srgbClr val="0083CE"/>
              </a:solidFill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41329"/>
              </p:ext>
            </p:extLst>
          </p:nvPr>
        </p:nvGraphicFramePr>
        <p:xfrm>
          <a:off x="777114" y="1630385"/>
          <a:ext cx="8128000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9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6736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92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발주처</a:t>
                      </a:r>
                    </a:p>
                  </a:txBody>
                  <a:tcPr anchor="ctr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사업내용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도입 용량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0083CE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삼성서울병원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서울대학교병원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52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고려대학교병원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15TB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 / EDW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ko-KR" altLang="en-US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버티카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라이선스 및 노드 증설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건국대학교병원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경북대학병원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2TB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울산대학병원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3TB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서울의료원 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3TB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8529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인하대학병원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AWS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구축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 / EDW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원주세브란스기독병원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1TB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분당차병원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국립병원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충무병원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13449048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삼육대병원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2TB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07166578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강원대병원</a:t>
                      </a: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4TB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22583133"/>
                  </a:ext>
                </a:extLst>
              </a:tr>
              <a:tr h="26311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SemiBold" panose="02000003000000020004" pitchFamily="2" charset="-127"/>
                        </a:rPr>
                        <a:t>삼광랩트리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SemiBold" panose="02000003000000020004" pitchFamily="2" charset="-127"/>
                      </a:endParaRPr>
                    </a:p>
                  </a:txBody>
                  <a:tcPr anchor="ctr" horzOverflow="overflow"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의료정보분석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시스템</a:t>
                      </a: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Variable Light" panose="02000003000000020004" pitchFamily="2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E001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3TB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Variable Light" panose="02000003000000020004" pitchFamily="2" charset="-127"/>
                        </a:rPr>
                        <a:t>CDW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270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76781956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0D30D4A2-F239-4902-A93F-E539F214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000" y="4704962"/>
            <a:ext cx="1232922" cy="33778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7BE99C68-3F01-4EA9-980F-087F635FA3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238" y="4172989"/>
            <a:ext cx="1089377" cy="33797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65836530-8145-479C-98AD-B53AA83E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616" y="4711016"/>
            <a:ext cx="1084417" cy="34150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8619A116-A858-4B41-A8C7-96A7329E8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268" y="3733340"/>
            <a:ext cx="1621416" cy="311811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4791" y="2391028"/>
            <a:ext cx="1027986" cy="29824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6387FAFA-4C74-4A02-A36C-B49A9C32BD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4851" y="3649289"/>
            <a:ext cx="881316" cy="30658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D0094439-CFE5-4EB8-B3CB-2C034A1B54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4062" y="2701636"/>
            <a:ext cx="1170249" cy="42353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266FEB56-7C66-45C3-B6B4-E7718EFD02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18140" y="3092335"/>
            <a:ext cx="1424712" cy="41097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9673" y="4304711"/>
            <a:ext cx="939590" cy="20949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64019" y="3178521"/>
            <a:ext cx="862805" cy="384691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779" y="2327564"/>
            <a:ext cx="1197421" cy="389405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10289811" y="6365316"/>
            <a:ext cx="278505" cy="274324"/>
          </a:xfrm>
        </p:spPr>
        <p:txBody>
          <a:bodyPr/>
          <a:lstStyle/>
          <a:p>
            <a:fld id="{AFA02C0B-84B5-4CD2-A6CE-C6BD7D6F9045}" type="slidenum">
              <a:rPr lang="ko-KR" altLang="en-US" smtClean="0">
                <a:solidFill>
                  <a:schemeClr val="bg1"/>
                </a:solidFill>
              </a:rPr>
              <a:t>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22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323</Words>
  <Application>Microsoft Office PowerPoint</Application>
  <PresentationFormat>와이드스크린</PresentationFormat>
  <Paragraphs>167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Pretendard Variable Light</vt:lpstr>
      <vt:lpstr>Pretendard Variable Medium</vt:lpstr>
      <vt:lpstr>Pretendard Variable SemiBold</vt:lpstr>
      <vt:lpstr>SB 어그로 Bold</vt:lpstr>
      <vt:lpstr>맑은 고딕</vt:lpstr>
      <vt:lpstr>Arial</vt:lpstr>
      <vt:lpstr>Wingdings</vt:lpstr>
      <vt:lpstr>Office 테마</vt:lpstr>
      <vt:lpstr>PowerPoint 프레젠테이션</vt:lpstr>
      <vt:lpstr>금융 레퍼런스</vt:lpstr>
      <vt:lpstr>기업 레퍼런스</vt:lpstr>
      <vt:lpstr>병원 레퍼런스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Vertica Analytics Platform</dc:title>
  <dc:creator>SungHyun.Kim</dc:creator>
  <cp:lastModifiedBy>SOO</cp:lastModifiedBy>
  <cp:revision>174</cp:revision>
  <dcterms:created xsi:type="dcterms:W3CDTF">2025-01-07T05:50:41Z</dcterms:created>
  <dcterms:modified xsi:type="dcterms:W3CDTF">2026-04-27T07:38:15Z</dcterms:modified>
</cp:coreProperties>
</file>