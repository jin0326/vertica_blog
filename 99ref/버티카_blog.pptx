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68" r:id="rId2"/>
    <p:sldId id="261" r:id="rId3"/>
    <p:sldId id="257" r:id="rId4"/>
    <p:sldId id="262" r:id="rId5"/>
    <p:sldId id="259" r:id="rId6"/>
    <p:sldId id="260" r:id="rId7"/>
    <p:sldId id="269" r:id="rId8"/>
    <p:sldId id="266" r:id="rId9"/>
    <p:sldId id="282" r:id="rId10"/>
    <p:sldId id="263" r:id="rId11"/>
    <p:sldId id="264" r:id="rId12"/>
    <p:sldId id="265" r:id="rId13"/>
    <p:sldId id="270" r:id="rId14"/>
    <p:sldId id="271" r:id="rId15"/>
    <p:sldId id="274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720263" cy="8999538"/>
  <p:notesSz cx="6858000" cy="9144000"/>
  <p:defaultTextStyle>
    <a:defPPr>
      <a:defRPr lang="ko-KR"/>
    </a:defPPr>
    <a:lvl1pPr marL="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1pPr>
    <a:lvl2pPr marL="53483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2pPr>
    <a:lvl3pPr marL="106966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3pPr>
    <a:lvl4pPr marL="160449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4pPr>
    <a:lvl5pPr marL="213933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5pPr>
    <a:lvl6pPr marL="267416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6pPr>
    <a:lvl7pPr marL="320899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7pPr>
    <a:lvl8pPr marL="374382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8pPr>
    <a:lvl9pPr marL="427866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4" userDrawn="1">
          <p15:clr>
            <a:srgbClr val="A4A3A4"/>
          </p15:clr>
        </p15:guide>
        <p15:guide id="2" pos="30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181B1F"/>
    <a:srgbClr val="D080BC"/>
    <a:srgbClr val="EB39EF"/>
    <a:srgbClr val="99B7FF"/>
    <a:srgbClr val="CCDBFF"/>
    <a:srgbClr val="618153"/>
    <a:srgbClr val="F8CBAD"/>
    <a:srgbClr val="8497B0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 autoAdjust="0"/>
    <p:restoredTop sz="94660" autoAdjust="0"/>
  </p:normalViewPr>
  <p:slideViewPr>
    <p:cSldViewPr snapToGrid="0">
      <p:cViewPr varScale="1">
        <p:scale>
          <a:sx n="88" d="100"/>
          <a:sy n="88" d="100"/>
        </p:scale>
        <p:origin x="2496" y="102"/>
      </p:cViewPr>
      <p:guideLst>
        <p:guide orient="horz" pos="2834"/>
        <p:guide pos="30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94B31-9877-4AE9-B54F-895ACA0C6140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62125" y="1143000"/>
            <a:ext cx="3333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2AA42-8EDB-4A54-A102-9CFDB0A822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77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2AA42-8EDB-4A54-A102-9CFDB0A822F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833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472842"/>
            <a:ext cx="8262224" cy="3133172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4726842"/>
            <a:ext cx="7290197" cy="2172804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46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67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243638"/>
            <a:ext cx="8383727" cy="3743557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6022610"/>
            <a:ext cx="8383727" cy="196864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/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83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79144"/>
            <a:ext cx="8383727" cy="173949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206137"/>
            <a:ext cx="4112126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3287331"/>
            <a:ext cx="4112126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206137"/>
            <a:ext cx="4132378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3287331"/>
            <a:ext cx="4132378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2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35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70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295769"/>
            <a:ext cx="4920883" cy="6395505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81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295769"/>
            <a:ext cx="4920883" cy="6395505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58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2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479142"/>
            <a:ext cx="2095932" cy="762669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479142"/>
            <a:ext cx="6166292" cy="762669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479144"/>
            <a:ext cx="838372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2395710"/>
            <a:ext cx="838372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46140-E90A-48B1-9E02-0E867CD1ADA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8341240"/>
            <a:ext cx="328058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01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2007" rtl="0" eaLnBrk="1" latinLnBrk="1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1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Playbook</a:t>
            </a:r>
          </a:p>
        </p:txBody>
      </p:sp>
    </p:spTree>
    <p:extLst>
      <p:ext uri="{BB962C8B-B14F-4D97-AF65-F5344CB8AC3E}">
        <p14:creationId xmlns:p14="http://schemas.microsoft.com/office/powerpoint/2010/main" val="33901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52400" y="125187"/>
            <a:ext cx="2062617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란 무엇인가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1471" y="556986"/>
            <a:ext cx="9312729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데이터 수집부터 분석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시각화에 이르는 전 과정을 통합한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현대적인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아키텍처를 제공합니다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object 18"/>
          <p:cNvSpPr txBox="1"/>
          <p:nvPr/>
        </p:nvSpPr>
        <p:spPr>
          <a:xfrm>
            <a:off x="729724" y="2212412"/>
            <a:ext cx="1701920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SQL Data Warehouse</a:t>
            </a:r>
            <a:endParaRPr sz="1200" dirty="0">
              <a:latin typeface="+mn-ea"/>
              <a:cs typeface="맑은 고딕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981619" y="969371"/>
            <a:ext cx="1188000" cy="1188000"/>
            <a:chOff x="981619" y="969371"/>
            <a:chExt cx="1188000" cy="1188000"/>
          </a:xfrm>
        </p:grpSpPr>
        <p:sp>
          <p:nvSpPr>
            <p:cNvPr id="200" name="직사각형 199"/>
            <p:cNvSpPr/>
            <p:nvPr/>
          </p:nvSpPr>
          <p:spPr>
            <a:xfrm>
              <a:off x="981619" y="969371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object 7"/>
            <p:cNvPicPr/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16569" y="1022321"/>
              <a:ext cx="1116000" cy="1080000"/>
            </a:xfrm>
            <a:prstGeom prst="rect">
              <a:avLst/>
            </a:prstGeom>
            <a:ln>
              <a:solidFill>
                <a:srgbClr val="99B7FF"/>
              </a:solidFill>
            </a:ln>
          </p:spPr>
        </p:pic>
      </p:grpSp>
      <p:sp>
        <p:nvSpPr>
          <p:cNvPr id="16" name="object 9"/>
          <p:cNvSpPr txBox="1"/>
          <p:nvPr/>
        </p:nvSpPr>
        <p:spPr>
          <a:xfrm>
            <a:off x="163286" y="2528748"/>
            <a:ext cx="3113314" cy="112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000" spc="-20" dirty="0">
                <a:latin typeface="+mn-ea"/>
                <a:cs typeface="맑은 고딕"/>
              </a:rPr>
              <a:t>MP</a:t>
            </a:r>
            <a:r>
              <a:rPr sz="1000" spc="-50" dirty="0">
                <a:latin typeface="+mn-ea"/>
                <a:cs typeface="맑은 고딕"/>
              </a:rPr>
              <a:t>P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+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5" dirty="0">
                <a:latin typeface="+mn-ea"/>
                <a:cs typeface="맑은 고딕"/>
              </a:rPr>
              <a:t>Colu</a:t>
            </a:r>
            <a:r>
              <a:rPr sz="1000" spc="-15" dirty="0">
                <a:latin typeface="+mn-ea"/>
                <a:cs typeface="맑은 고딕"/>
              </a:rPr>
              <a:t>m</a:t>
            </a:r>
            <a:r>
              <a:rPr sz="1000" spc="-5" dirty="0">
                <a:latin typeface="+mn-ea"/>
                <a:cs typeface="맑은 고딕"/>
              </a:rPr>
              <a:t>n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40" dirty="0">
                <a:latin typeface="+mn-ea"/>
                <a:cs typeface="맑은 고딕"/>
              </a:rPr>
              <a:t>r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>
                <a:latin typeface="+mn-ea"/>
                <a:cs typeface="맑은 고딕"/>
              </a:rPr>
              <a:t>아키텍처를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75" dirty="0">
                <a:latin typeface="+mn-ea"/>
                <a:cs typeface="맑은 고딕"/>
              </a:rPr>
              <a:t>통해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0" dirty="0">
                <a:latin typeface="+mn-ea"/>
                <a:cs typeface="맑은 고딕"/>
              </a:rPr>
              <a:t>대용량  데이터</a:t>
            </a:r>
            <a:r>
              <a:rPr sz="1000" spc="-135" dirty="0">
                <a:latin typeface="+mn-ea"/>
                <a:cs typeface="맑은 고딕"/>
              </a:rPr>
              <a:t> </a:t>
            </a:r>
            <a:r>
              <a:rPr sz="1000" spc="-85" dirty="0" err="1">
                <a:latin typeface="+mn-ea"/>
                <a:cs typeface="맑은 고딕"/>
              </a:rPr>
              <a:t>분석</a:t>
            </a:r>
            <a:r>
              <a:rPr sz="1000" spc="-75" dirty="0" err="1">
                <a:latin typeface="+mn-ea"/>
                <a:cs typeface="맑은 고딕"/>
              </a:rPr>
              <a:t>에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최적화</a:t>
            </a:r>
            <a:endParaRPr lang="en-US" sz="1000" dirty="0">
              <a:latin typeface="+mn-ea"/>
              <a:cs typeface="맑은 고딕"/>
            </a:endParaRPr>
          </a:p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000" dirty="0" smtClean="0">
                <a:latin typeface="+mn-ea"/>
                <a:cs typeface="맑은 고딕"/>
              </a:rPr>
              <a:t>On</a:t>
            </a:r>
            <a:r>
              <a:rPr sz="1000" spc="-70" dirty="0" smtClean="0">
                <a:latin typeface="+mn-ea"/>
                <a:cs typeface="맑은 고딕"/>
              </a:rPr>
              <a:t>-</a:t>
            </a:r>
            <a:r>
              <a:rPr sz="1000" spc="-25" dirty="0" smtClean="0">
                <a:latin typeface="+mn-ea"/>
                <a:cs typeface="맑은 고딕"/>
              </a:rPr>
              <a:t>p</a:t>
            </a:r>
            <a:r>
              <a:rPr sz="1000" spc="-45" dirty="0" smtClean="0">
                <a:latin typeface="+mn-ea"/>
                <a:cs typeface="맑은 고딕"/>
              </a:rPr>
              <a:t>r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40" dirty="0" smtClean="0">
                <a:latin typeface="+mn-ea"/>
                <a:cs typeface="맑은 고딕"/>
              </a:rPr>
              <a:t>mi</a:t>
            </a:r>
            <a:r>
              <a:rPr sz="1000" spc="-35" dirty="0" smtClean="0">
                <a:latin typeface="+mn-ea"/>
                <a:cs typeface="맑은 고딕"/>
              </a:rPr>
              <a:t>s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95" dirty="0" smtClean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/</a:t>
            </a:r>
            <a:r>
              <a:rPr sz="1000" spc="-95" dirty="0">
                <a:latin typeface="+mn-ea"/>
                <a:cs typeface="맑은 고딕"/>
              </a:rPr>
              <a:t> P</a:t>
            </a:r>
            <a:r>
              <a:rPr sz="1000" spc="-5" dirty="0">
                <a:latin typeface="+mn-ea"/>
                <a:cs typeface="맑은 고딕"/>
              </a:rPr>
              <a:t>u</a:t>
            </a:r>
            <a:r>
              <a:rPr sz="1000" spc="-25" dirty="0">
                <a:latin typeface="+mn-ea"/>
                <a:cs typeface="맑은 고딕"/>
              </a:rPr>
              <a:t>b</a:t>
            </a:r>
            <a:r>
              <a:rPr sz="1000" spc="-40" dirty="0">
                <a:latin typeface="+mn-ea"/>
                <a:cs typeface="맑은 고딕"/>
              </a:rPr>
              <a:t>l</a:t>
            </a:r>
            <a:r>
              <a:rPr sz="1000" spc="-45" dirty="0">
                <a:latin typeface="+mn-ea"/>
                <a:cs typeface="맑은 고딕"/>
              </a:rPr>
              <a:t>i</a:t>
            </a:r>
            <a:r>
              <a:rPr sz="1000" spc="-5" dirty="0">
                <a:latin typeface="+mn-ea"/>
                <a:cs typeface="맑은 고딕"/>
              </a:rPr>
              <a:t>c</a:t>
            </a:r>
            <a:r>
              <a:rPr sz="1000" spc="-114" dirty="0">
                <a:latin typeface="+mn-ea"/>
                <a:cs typeface="맑은 고딕"/>
              </a:rPr>
              <a:t> </a:t>
            </a:r>
            <a:r>
              <a:rPr sz="1000" dirty="0">
                <a:latin typeface="+mn-ea"/>
                <a:cs typeface="맑은 고딕"/>
              </a:rPr>
              <a:t>C</a:t>
            </a:r>
            <a:r>
              <a:rPr sz="1000" spc="-5" dirty="0">
                <a:latin typeface="+mn-ea"/>
                <a:cs typeface="맑은 고딕"/>
              </a:rPr>
              <a:t>l</a:t>
            </a:r>
            <a:r>
              <a:rPr sz="1000" spc="-20" dirty="0">
                <a:latin typeface="+mn-ea"/>
                <a:cs typeface="맑은 고딕"/>
              </a:rPr>
              <a:t>o</a:t>
            </a:r>
            <a:r>
              <a:rPr sz="1000" spc="-5" dirty="0">
                <a:latin typeface="+mn-ea"/>
                <a:cs typeface="맑은 고딕"/>
              </a:rPr>
              <a:t>u</a:t>
            </a:r>
            <a:r>
              <a:rPr sz="1000" spc="-25" dirty="0">
                <a:latin typeface="+mn-ea"/>
                <a:cs typeface="맑은 고딕"/>
              </a:rPr>
              <a:t>d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/</a:t>
            </a:r>
            <a:r>
              <a:rPr sz="1000" spc="-85" dirty="0">
                <a:latin typeface="+mn-ea"/>
                <a:cs typeface="맑은 고딕"/>
              </a:rPr>
              <a:t> </a:t>
            </a:r>
            <a:r>
              <a:rPr sz="1000" spc="-50" dirty="0">
                <a:latin typeface="+mn-ea"/>
                <a:cs typeface="맑은 고딕"/>
              </a:rPr>
              <a:t>P</a:t>
            </a:r>
            <a:r>
              <a:rPr sz="1000" spc="-45" dirty="0">
                <a:latin typeface="+mn-ea"/>
                <a:cs typeface="맑은 고딕"/>
              </a:rPr>
              <a:t>r</a:t>
            </a:r>
            <a:r>
              <a:rPr sz="1000" spc="-35" dirty="0">
                <a:latin typeface="+mn-ea"/>
                <a:cs typeface="맑은 고딕"/>
              </a:rPr>
              <a:t>i</a:t>
            </a:r>
            <a:r>
              <a:rPr sz="1000" spc="-80" dirty="0">
                <a:latin typeface="+mn-ea"/>
                <a:cs typeface="맑은 고딕"/>
              </a:rPr>
              <a:t>v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35" dirty="0">
                <a:latin typeface="+mn-ea"/>
                <a:cs typeface="맑은 고딕"/>
              </a:rPr>
              <a:t>t</a:t>
            </a:r>
            <a:r>
              <a:rPr sz="1000" spc="-10" dirty="0">
                <a:latin typeface="+mn-ea"/>
                <a:cs typeface="맑은 고딕"/>
              </a:rPr>
              <a:t>e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dirty="0" smtClean="0">
                <a:latin typeface="+mn-ea"/>
                <a:cs typeface="맑은 고딕"/>
              </a:rPr>
              <a:t>C</a:t>
            </a:r>
            <a:r>
              <a:rPr sz="1000" spc="-5" dirty="0" smtClean="0">
                <a:latin typeface="+mn-ea"/>
                <a:cs typeface="맑은 고딕"/>
              </a:rPr>
              <a:t>l</a:t>
            </a:r>
            <a:r>
              <a:rPr sz="1000" spc="-20" dirty="0" smtClean="0">
                <a:latin typeface="+mn-ea"/>
                <a:cs typeface="맑은 고딕"/>
              </a:rPr>
              <a:t>o</a:t>
            </a:r>
            <a:r>
              <a:rPr sz="1000" spc="-5" dirty="0" smtClean="0">
                <a:latin typeface="+mn-ea"/>
                <a:cs typeface="맑은 고딕"/>
              </a:rPr>
              <a:t>u</a:t>
            </a:r>
            <a:r>
              <a:rPr sz="1000" spc="-25" dirty="0" smtClean="0">
                <a:latin typeface="+mn-ea"/>
                <a:cs typeface="맑은 고딕"/>
              </a:rPr>
              <a:t>d</a:t>
            </a:r>
            <a:r>
              <a:rPr lang="en-US" sz="1000" spc="-25" dirty="0" smtClean="0">
                <a:latin typeface="+mn-ea"/>
                <a:cs typeface="맑은 고딕"/>
              </a:rPr>
              <a:t> </a:t>
            </a:r>
            <a:r>
              <a:rPr sz="1000" spc="-80" dirty="0" smtClean="0">
                <a:latin typeface="+mn-ea"/>
                <a:cs typeface="맑은 고딕"/>
              </a:rPr>
              <a:t>/</a:t>
            </a:r>
            <a:r>
              <a:rPr sz="1000" spc="-85" dirty="0" smtClean="0">
                <a:latin typeface="+mn-ea"/>
                <a:cs typeface="맑은 고딕"/>
              </a:rPr>
              <a:t> </a:t>
            </a:r>
            <a:r>
              <a:rPr sz="1000" spc="-20" dirty="0" smtClean="0">
                <a:latin typeface="+mn-ea"/>
                <a:cs typeface="맑은 고딕"/>
              </a:rPr>
              <a:t>k8s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0" dirty="0" smtClean="0">
                <a:latin typeface="+mn-ea"/>
                <a:cs typeface="맑은 고딕"/>
              </a:rPr>
              <a:t>등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어</a:t>
            </a:r>
            <a:r>
              <a:rPr sz="1000" spc="-80" dirty="0" err="1" smtClean="0">
                <a:latin typeface="+mn-ea"/>
                <a:cs typeface="맑은 고딕"/>
              </a:rPr>
              <a:t>떤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인프</a:t>
            </a:r>
            <a:r>
              <a:rPr sz="1000" spc="-80" dirty="0" err="1" smtClean="0">
                <a:latin typeface="+mn-ea"/>
                <a:cs typeface="맑은 고딕"/>
              </a:rPr>
              <a:t>라</a:t>
            </a:r>
            <a:r>
              <a:rPr sz="1000" spc="-135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환</a:t>
            </a:r>
            <a:r>
              <a:rPr sz="1000" spc="-80" dirty="0" err="1" smtClean="0">
                <a:latin typeface="+mn-ea"/>
                <a:cs typeface="맑은 고딕"/>
              </a:rPr>
              <a:t>경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70" dirty="0" err="1" smtClean="0">
                <a:latin typeface="+mn-ea"/>
                <a:cs typeface="맑은 고딕"/>
              </a:rPr>
              <a:t>에서도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배</a:t>
            </a:r>
            <a:r>
              <a:rPr sz="1000" spc="-70" dirty="0" err="1" smtClean="0">
                <a:latin typeface="+mn-ea"/>
                <a:cs typeface="맑은 고딕"/>
              </a:rPr>
              <a:t>포</a:t>
            </a:r>
            <a:r>
              <a:rPr sz="1000" spc="-105" dirty="0" smtClean="0">
                <a:latin typeface="+mn-ea"/>
                <a:cs typeface="맑은 고딕"/>
              </a:rPr>
              <a:t> </a:t>
            </a:r>
            <a:r>
              <a:rPr sz="1000" spc="-70" dirty="0" smtClean="0">
                <a:latin typeface="+mn-ea"/>
                <a:cs typeface="맑은 고딕"/>
              </a:rPr>
              <a:t>및</a:t>
            </a:r>
            <a:r>
              <a:rPr lang="en-US" sz="10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운영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지원</a:t>
            </a:r>
            <a:endParaRPr lang="en-US" sz="10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spc="-330" dirty="0" smtClean="0">
                <a:latin typeface="+mn-ea"/>
                <a:cs typeface="Courier New"/>
              </a:rPr>
              <a:t> </a:t>
            </a:r>
            <a:r>
              <a:rPr lang="en-US" altLang="ko-KR" sz="1000" spc="-55" dirty="0">
                <a:latin typeface="+mn-ea"/>
                <a:cs typeface="맑은 고딕"/>
              </a:rPr>
              <a:t>I/O</a:t>
            </a:r>
            <a:r>
              <a:rPr lang="ko-KR" altLang="en-US" sz="1000" spc="-114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최적화</a:t>
            </a:r>
            <a:r>
              <a:rPr lang="ko-KR" altLang="en-US" sz="1000" spc="-135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아키텍처</a:t>
            </a:r>
            <a:r>
              <a:rPr lang="ko-KR" altLang="en-US" sz="1000" spc="-75" dirty="0">
                <a:latin typeface="+mn-ea"/>
                <a:cs typeface="맑은 고딕"/>
              </a:rPr>
              <a:t>로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전통적인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25" dirty="0" smtClean="0">
                <a:latin typeface="+mn-ea"/>
                <a:cs typeface="맑은 고딕"/>
              </a:rPr>
              <a:t>D</a:t>
            </a:r>
            <a:r>
              <a:rPr lang="en-US" altLang="ko-KR" sz="1000" spc="20" dirty="0" smtClean="0">
                <a:latin typeface="+mn-ea"/>
                <a:cs typeface="맑은 고딕"/>
              </a:rPr>
              <a:t>W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환경보다</a:t>
            </a:r>
            <a:r>
              <a:rPr lang="ko-KR" altLang="en-US" sz="1000" spc="-100" dirty="0" smtClean="0">
                <a:latin typeface="+mn-ea"/>
                <a:cs typeface="맑은 고딕"/>
              </a:rPr>
              <a:t> </a:t>
            </a:r>
            <a:r>
              <a:rPr lang="en-US" altLang="ko-KR" sz="1000" spc="30" dirty="0">
                <a:latin typeface="+mn-ea"/>
                <a:cs typeface="맑은 고딕"/>
              </a:rPr>
              <a:t>10</a:t>
            </a:r>
            <a:r>
              <a:rPr lang="en-US" altLang="ko-KR" sz="1000" spc="-70" dirty="0">
                <a:latin typeface="+mn-ea"/>
                <a:cs typeface="맑은 고딕"/>
              </a:rPr>
              <a:t>-</a:t>
            </a:r>
            <a:r>
              <a:rPr lang="en-US" altLang="ko-KR" sz="1000" spc="30" dirty="0">
                <a:latin typeface="+mn-ea"/>
                <a:cs typeface="맑은 고딕"/>
              </a:rPr>
              <a:t>50</a:t>
            </a:r>
            <a:r>
              <a:rPr lang="ko-KR" altLang="en-US" sz="1000" spc="-75" dirty="0">
                <a:latin typeface="+mn-ea"/>
                <a:cs typeface="맑은 고딕"/>
              </a:rPr>
              <a:t>배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이상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빠른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처리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성능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제공</a:t>
            </a:r>
            <a:endParaRPr lang="en-US" altLang="ko-KR" sz="1000" spc="-75" dirty="0" smtClean="0">
              <a:latin typeface="+mn-ea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ko-KR" altLang="en-US" sz="1000" dirty="0">
              <a:latin typeface="+mn-ea"/>
              <a:cs typeface="맑은 고딕"/>
            </a:endParaRPr>
          </a:p>
        </p:txBody>
      </p:sp>
      <p:sp>
        <p:nvSpPr>
          <p:cNvPr id="9" name="object 18"/>
          <p:cNvSpPr txBox="1"/>
          <p:nvPr/>
        </p:nvSpPr>
        <p:spPr>
          <a:xfrm>
            <a:off x="3701202" y="2220532"/>
            <a:ext cx="2311952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Analytics &amp; Machine Learning</a:t>
            </a:r>
            <a:endParaRPr sz="1200" dirty="0">
              <a:latin typeface="+mn-ea"/>
              <a:cs typeface="맑은 고딕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4210594" y="1016996"/>
            <a:ext cx="1188000" cy="1188000"/>
            <a:chOff x="4210594" y="1016996"/>
            <a:chExt cx="1188000" cy="1188000"/>
          </a:xfrm>
        </p:grpSpPr>
        <p:sp>
          <p:nvSpPr>
            <p:cNvPr id="201" name="직사각형 200"/>
            <p:cNvSpPr/>
            <p:nvPr/>
          </p:nvSpPr>
          <p:spPr>
            <a:xfrm>
              <a:off x="4210594" y="1016996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object 14"/>
            <p:cNvPicPr/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264594" y="1088996"/>
              <a:ext cx="1080000" cy="1044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8" name="object 19"/>
          <p:cNvSpPr txBox="1"/>
          <p:nvPr/>
        </p:nvSpPr>
        <p:spPr>
          <a:xfrm>
            <a:off x="3439781" y="2532035"/>
            <a:ext cx="3113314" cy="112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000" spc="-85" dirty="0" err="1" smtClean="0">
                <a:latin typeface="+mn-ea"/>
                <a:cs typeface="맑은 고딕"/>
              </a:rPr>
              <a:t>페</a:t>
            </a:r>
            <a:r>
              <a:rPr sz="1000" spc="-80" dirty="0" err="1" smtClean="0">
                <a:latin typeface="+mn-ea"/>
                <a:cs typeface="맑은 고딕"/>
              </a:rPr>
              <a:t>타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85" dirty="0" err="1">
                <a:latin typeface="+mn-ea"/>
                <a:cs typeface="맑은 고딕"/>
              </a:rPr>
              <a:t>바이</a:t>
            </a:r>
            <a:r>
              <a:rPr sz="1000" spc="-80" dirty="0" err="1">
                <a:latin typeface="+mn-ea"/>
                <a:cs typeface="맑은 고딕"/>
              </a:rPr>
              <a:t>트</a:t>
            </a:r>
            <a:r>
              <a:rPr sz="1000" spc="-135" dirty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규모</a:t>
            </a:r>
            <a:r>
              <a:rPr sz="1000" spc="-75" dirty="0" err="1" smtClean="0">
                <a:latin typeface="+mn-ea"/>
                <a:cs typeface="맑은 고딕"/>
              </a:rPr>
              <a:t>의</a:t>
            </a:r>
            <a:r>
              <a:rPr lang="en-US" sz="1000" spc="-75" dirty="0" smtClean="0">
                <a:latin typeface="+mn-ea"/>
                <a:cs typeface="맑은 고딕"/>
              </a:rPr>
              <a:t> </a:t>
            </a:r>
            <a:r>
              <a:rPr sz="1000" spc="-35" dirty="0" smtClean="0">
                <a:latin typeface="+mn-ea"/>
                <a:cs typeface="맑은 고딕"/>
              </a:rPr>
              <a:t>I</a:t>
            </a:r>
            <a:r>
              <a:rPr sz="1000" spc="-60" dirty="0" smtClean="0">
                <a:latin typeface="+mn-ea"/>
                <a:cs typeface="맑은 고딕"/>
              </a:rPr>
              <a:t>n</a:t>
            </a:r>
            <a:r>
              <a:rPr sz="1000" spc="-70" dirty="0" smtClean="0">
                <a:latin typeface="+mn-ea"/>
                <a:cs typeface="맑은 고딕"/>
              </a:rPr>
              <a:t>-</a:t>
            </a:r>
            <a:r>
              <a:rPr sz="1000" spc="-25" dirty="0" smtClean="0">
                <a:latin typeface="+mn-ea"/>
                <a:cs typeface="맑은 고딕"/>
              </a:rPr>
              <a:t>D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35" dirty="0" smtClean="0">
                <a:latin typeface="+mn-ea"/>
                <a:cs typeface="맑은 고딕"/>
              </a:rPr>
              <a:t>t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25" dirty="0" smtClean="0">
                <a:latin typeface="+mn-ea"/>
                <a:cs typeface="맑은 고딕"/>
              </a:rPr>
              <a:t>b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55" dirty="0" smtClean="0">
                <a:latin typeface="+mn-ea"/>
                <a:cs typeface="맑은 고딕"/>
              </a:rPr>
              <a:t>s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110" dirty="0" smtClean="0">
                <a:latin typeface="+mn-ea"/>
                <a:cs typeface="맑은 고딕"/>
              </a:rPr>
              <a:t> </a:t>
            </a:r>
            <a:r>
              <a:rPr sz="1000" spc="5" dirty="0">
                <a:latin typeface="+mn-ea"/>
                <a:cs typeface="맑은 고딕"/>
              </a:rPr>
              <a:t>Ma</a:t>
            </a:r>
            <a:r>
              <a:rPr sz="1000" spc="-10" dirty="0">
                <a:latin typeface="+mn-ea"/>
                <a:cs typeface="맑은 고딕"/>
              </a:rPr>
              <a:t>c</a:t>
            </a:r>
            <a:r>
              <a:rPr sz="1000" spc="-5" dirty="0">
                <a:latin typeface="+mn-ea"/>
                <a:cs typeface="맑은 고딕"/>
              </a:rPr>
              <a:t>h</a:t>
            </a:r>
            <a:r>
              <a:rPr sz="1000" spc="-20" dirty="0">
                <a:latin typeface="+mn-ea"/>
                <a:cs typeface="맑은 고딕"/>
              </a:rPr>
              <a:t>ine</a:t>
            </a:r>
            <a:r>
              <a:rPr sz="1000" spc="-114" dirty="0">
                <a:latin typeface="+mn-ea"/>
                <a:cs typeface="맑은 고딕"/>
              </a:rPr>
              <a:t> </a:t>
            </a:r>
            <a:r>
              <a:rPr sz="1000" spc="-40" dirty="0">
                <a:latin typeface="+mn-ea"/>
                <a:cs typeface="맑은 고딕"/>
              </a:rPr>
              <a:t>L</a:t>
            </a:r>
            <a:r>
              <a:rPr sz="1000" spc="-10" dirty="0">
                <a:latin typeface="+mn-ea"/>
                <a:cs typeface="맑은 고딕"/>
              </a:rPr>
              <a:t>e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45" dirty="0">
                <a:latin typeface="+mn-ea"/>
                <a:cs typeface="맑은 고딕"/>
              </a:rPr>
              <a:t>r</a:t>
            </a:r>
            <a:r>
              <a:rPr sz="1000" spc="-5" dirty="0">
                <a:latin typeface="+mn-ea"/>
                <a:cs typeface="맑은 고딕"/>
              </a:rPr>
              <a:t>n</a:t>
            </a:r>
            <a:r>
              <a:rPr sz="1000" spc="-25" dirty="0">
                <a:latin typeface="+mn-ea"/>
                <a:cs typeface="맑은 고딕"/>
              </a:rPr>
              <a:t>ing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지원</a:t>
            </a:r>
            <a:endParaRPr lang="en-US" sz="1000" spc="-75" dirty="0" smtClean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ko-KR" altLang="en-US" sz="1000" spc="-75" dirty="0" smtClean="0">
                <a:latin typeface="+mn-ea"/>
                <a:cs typeface="맑은 고딕"/>
              </a:rPr>
              <a:t>사용자에게</a:t>
            </a:r>
            <a:r>
              <a:rPr lang="ko-KR" altLang="en-US" sz="1000" spc="-10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친숙한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en-US" altLang="ko-KR" sz="1000" spc="-20" dirty="0" smtClean="0">
                <a:latin typeface="+mn-ea"/>
                <a:cs typeface="맑은 고딕"/>
              </a:rPr>
              <a:t>SQ</a:t>
            </a:r>
            <a:r>
              <a:rPr lang="en-US" altLang="ko-KR" sz="1000" spc="-10" dirty="0" smtClean="0">
                <a:latin typeface="+mn-ea"/>
                <a:cs typeface="맑은 고딕"/>
              </a:rPr>
              <a:t>L</a:t>
            </a:r>
            <a:r>
              <a:rPr lang="ko-KR" altLang="en-US" sz="1000" spc="-85" dirty="0">
                <a:latin typeface="+mn-ea"/>
                <a:cs typeface="맑은 고딕"/>
              </a:rPr>
              <a:t>로</a:t>
            </a:r>
            <a:r>
              <a:rPr lang="ko-KR" altLang="en-US" sz="1000" spc="-135" dirty="0">
                <a:latin typeface="+mn-ea"/>
                <a:cs typeface="맑은 고딕"/>
              </a:rPr>
              <a:t> </a:t>
            </a:r>
            <a:r>
              <a:rPr lang="en-US" altLang="ko-KR" sz="1000" spc="-25" dirty="0">
                <a:latin typeface="+mn-ea"/>
                <a:cs typeface="맑은 고딕"/>
              </a:rPr>
              <a:t>M</a:t>
            </a:r>
            <a:r>
              <a:rPr lang="en-US" altLang="ko-KR" sz="1000" spc="-10" dirty="0">
                <a:latin typeface="+mn-ea"/>
                <a:cs typeface="맑은 고딕"/>
              </a:rPr>
              <a:t>L</a:t>
            </a:r>
            <a:r>
              <a:rPr lang="ko-KR" altLang="en-US" sz="1000" spc="-105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프로세스</a:t>
            </a:r>
            <a:r>
              <a:rPr lang="ko-KR" altLang="en-US" sz="1000" spc="-18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000" spc="-55" dirty="0" smtClean="0">
                <a:latin typeface="+mn-ea"/>
                <a:cs typeface="맑은 고딕"/>
              </a:rPr>
              <a:t>P</a:t>
            </a:r>
            <a:r>
              <a:rPr lang="en-US" altLang="ko-KR" sz="1000" spc="5" dirty="0" smtClean="0">
                <a:latin typeface="+mn-ea"/>
                <a:cs typeface="맑은 고딕"/>
              </a:rPr>
              <a:t>MM</a:t>
            </a:r>
            <a:r>
              <a:rPr lang="en-US" altLang="ko-KR" sz="1000" spc="-40" dirty="0" smtClean="0">
                <a:latin typeface="+mn-ea"/>
                <a:cs typeface="맑은 고딕"/>
              </a:rPr>
              <a:t>L</a:t>
            </a:r>
            <a:r>
              <a:rPr lang="ko-KR" altLang="en-US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90" dirty="0">
                <a:latin typeface="+mn-ea"/>
                <a:cs typeface="맑은 고딕"/>
              </a:rPr>
              <a:t>/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en-US" altLang="ko-KR" sz="1000" spc="-175" dirty="0" err="1">
                <a:latin typeface="+mn-ea"/>
                <a:cs typeface="맑은 고딕"/>
              </a:rPr>
              <a:t>T</a:t>
            </a:r>
            <a:r>
              <a:rPr lang="en-US" altLang="ko-KR" sz="1000" spc="-25" dirty="0" err="1">
                <a:latin typeface="+mn-ea"/>
                <a:cs typeface="맑은 고딕"/>
              </a:rPr>
              <a:t>en</a:t>
            </a:r>
            <a:r>
              <a:rPr lang="en-US" altLang="ko-KR" sz="1000" spc="-15" dirty="0" err="1">
                <a:latin typeface="+mn-ea"/>
                <a:cs typeface="맑은 고딕"/>
              </a:rPr>
              <a:t>s</a:t>
            </a:r>
            <a:r>
              <a:rPr lang="en-US" altLang="ko-KR" sz="1000" spc="-40" dirty="0" err="1">
                <a:latin typeface="+mn-ea"/>
                <a:cs typeface="맑은 고딕"/>
              </a:rPr>
              <a:t>o</a:t>
            </a:r>
            <a:r>
              <a:rPr lang="en-US" altLang="ko-KR" sz="1000" spc="-30" dirty="0" err="1">
                <a:latin typeface="+mn-ea"/>
                <a:cs typeface="맑은 고딕"/>
              </a:rPr>
              <a:t>r</a:t>
            </a:r>
            <a:r>
              <a:rPr lang="en-US" altLang="ko-KR" sz="1000" spc="-5" dirty="0" err="1">
                <a:latin typeface="+mn-ea"/>
                <a:cs typeface="맑은 고딕"/>
              </a:rPr>
              <a:t>Flow</a:t>
            </a:r>
            <a:r>
              <a:rPr lang="ko-KR" altLang="en-US" sz="1000" spc="-140" dirty="0">
                <a:latin typeface="+mn-ea"/>
                <a:cs typeface="맑은 고딕"/>
              </a:rPr>
              <a:t> </a:t>
            </a:r>
            <a:r>
              <a:rPr lang="en-US" altLang="ko-KR" sz="1000" spc="5" dirty="0">
                <a:latin typeface="+mn-ea"/>
                <a:cs typeface="맑은 고딕"/>
              </a:rPr>
              <a:t>M</a:t>
            </a:r>
            <a:r>
              <a:rPr lang="en-US" altLang="ko-KR" sz="1000" spc="-20" dirty="0">
                <a:latin typeface="+mn-ea"/>
                <a:cs typeface="맑은 고딕"/>
              </a:rPr>
              <a:t>ode</a:t>
            </a:r>
            <a:r>
              <a:rPr lang="en-US" altLang="ko-KR" sz="1000" spc="-45" dirty="0">
                <a:latin typeface="+mn-ea"/>
                <a:cs typeface="맑은 고딕"/>
              </a:rPr>
              <a:t>l</a:t>
            </a:r>
            <a:r>
              <a:rPr lang="ko-KR" altLang="en-US" sz="1000" spc="-15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에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대해 </a:t>
            </a:r>
            <a:r>
              <a:rPr lang="en-US" altLang="ko-KR" sz="1000" spc="-10" dirty="0" smtClean="0">
                <a:latin typeface="+mn-ea"/>
                <a:cs typeface="맑은 고딕"/>
              </a:rPr>
              <a:t>e</a:t>
            </a:r>
            <a:r>
              <a:rPr lang="en-US" altLang="ko-KR" sz="1000" spc="-30" dirty="0" smtClean="0">
                <a:latin typeface="+mn-ea"/>
                <a:cs typeface="맑은 고딕"/>
              </a:rPr>
              <a:t>xp</a:t>
            </a:r>
            <a:r>
              <a:rPr lang="en-US" altLang="ko-KR" sz="1000" spc="-20" dirty="0" smtClean="0">
                <a:latin typeface="+mn-ea"/>
                <a:cs typeface="맑은 고딕"/>
              </a:rPr>
              <a:t>o</a:t>
            </a:r>
            <a:r>
              <a:rPr lang="en-US" altLang="ko-KR" sz="1000" spc="-45" dirty="0" smtClean="0">
                <a:latin typeface="+mn-ea"/>
                <a:cs typeface="맑은 고딕"/>
              </a:rPr>
              <a:t>r</a:t>
            </a:r>
            <a:r>
              <a:rPr lang="en-US" altLang="ko-KR" sz="1000" spc="-30" dirty="0" smtClean="0">
                <a:latin typeface="+mn-ea"/>
                <a:cs typeface="맑은 고딕"/>
              </a:rPr>
              <a:t>t</a:t>
            </a:r>
            <a:r>
              <a:rPr lang="ko-KR" altLang="en-US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-30" dirty="0">
                <a:latin typeface="+mn-ea"/>
                <a:cs typeface="맑은 고딕"/>
              </a:rPr>
              <a:t>imp</a:t>
            </a:r>
            <a:r>
              <a:rPr lang="en-US" altLang="ko-KR" sz="1000" spc="-20" dirty="0">
                <a:latin typeface="+mn-ea"/>
                <a:cs typeface="맑은 고딕"/>
              </a:rPr>
              <a:t>o</a:t>
            </a:r>
            <a:r>
              <a:rPr lang="en-US" altLang="ko-KR" sz="1000" spc="-45" dirty="0">
                <a:latin typeface="+mn-ea"/>
                <a:cs typeface="맑은 고딕"/>
              </a:rPr>
              <a:t>r</a:t>
            </a:r>
            <a:r>
              <a:rPr lang="en-US" altLang="ko-KR" sz="1000" spc="-30" dirty="0">
                <a:latin typeface="+mn-ea"/>
                <a:cs typeface="맑은 고딕"/>
              </a:rPr>
              <a:t>t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기능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spc="-75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000" spc="5" dirty="0" smtClean="0">
                <a:latin typeface="+mn-ea"/>
                <a:cs typeface="맑은 고딕"/>
              </a:rPr>
              <a:t>Geos</a:t>
            </a:r>
            <a:r>
              <a:rPr lang="en-US" altLang="ko-KR" sz="1000" spc="-30" dirty="0" smtClean="0">
                <a:latin typeface="+mn-ea"/>
                <a:cs typeface="맑은 고딕"/>
              </a:rPr>
              <a:t>pat</a:t>
            </a:r>
            <a:r>
              <a:rPr lang="en-US" altLang="ko-KR" sz="1000" spc="-25" dirty="0" smtClean="0">
                <a:latin typeface="+mn-ea"/>
                <a:cs typeface="맑은 고딕"/>
              </a:rPr>
              <a:t>i</a:t>
            </a:r>
            <a:r>
              <a:rPr lang="en-US" altLang="ko-KR" sz="1000" spc="-20" dirty="0" smtClean="0">
                <a:latin typeface="+mn-ea"/>
                <a:cs typeface="맑은 고딕"/>
              </a:rPr>
              <a:t>al</a:t>
            </a:r>
            <a:r>
              <a:rPr lang="en-US" altLang="ko-KR" sz="1000" spc="-135" dirty="0" smtClean="0">
                <a:latin typeface="+mn-ea"/>
                <a:cs typeface="맑은 고딕"/>
              </a:rPr>
              <a:t> </a:t>
            </a:r>
            <a:r>
              <a:rPr lang="en-US" altLang="ko-KR" sz="1000" spc="-90" dirty="0" smtClean="0">
                <a:latin typeface="+mn-ea"/>
                <a:cs typeface="맑은 고딕"/>
              </a:rPr>
              <a:t>/</a:t>
            </a:r>
            <a:r>
              <a:rPr lang="en-US" altLang="ko-KR" sz="1000" spc="-110" dirty="0" smtClean="0">
                <a:latin typeface="+mn-ea"/>
                <a:cs typeface="맑은 고딕"/>
              </a:rPr>
              <a:t> </a:t>
            </a:r>
            <a:r>
              <a:rPr lang="en-US" altLang="ko-KR" sz="1000" spc="-30" dirty="0" smtClean="0">
                <a:latin typeface="+mn-ea"/>
                <a:cs typeface="맑은 고딕"/>
              </a:rPr>
              <a:t>Full</a:t>
            </a:r>
            <a:r>
              <a:rPr lang="en-US" altLang="ko-KR" sz="1000" spc="-114" dirty="0" smtClean="0">
                <a:latin typeface="+mn-ea"/>
                <a:cs typeface="맑은 고딕"/>
              </a:rPr>
              <a:t> </a:t>
            </a:r>
            <a:r>
              <a:rPr lang="en-US" altLang="ko-KR" sz="1000" spc="-40" dirty="0" smtClean="0">
                <a:latin typeface="+mn-ea"/>
                <a:cs typeface="맑은 고딕"/>
              </a:rPr>
              <a:t>t</a:t>
            </a:r>
            <a:r>
              <a:rPr lang="en-US" altLang="ko-KR" sz="1000" spc="-25" dirty="0" smtClean="0">
                <a:latin typeface="+mn-ea"/>
                <a:cs typeface="맑은 고딕"/>
              </a:rPr>
              <a:t>e</a:t>
            </a:r>
            <a:r>
              <a:rPr lang="en-US" altLang="ko-KR" sz="1000" spc="-20" dirty="0" smtClean="0">
                <a:latin typeface="+mn-ea"/>
                <a:cs typeface="맑은 고딕"/>
              </a:rPr>
              <a:t>x</a:t>
            </a:r>
            <a:r>
              <a:rPr lang="en-US" altLang="ko-KR" sz="1000" spc="-30" dirty="0" smtClean="0">
                <a:latin typeface="+mn-ea"/>
                <a:cs typeface="맑은 고딕"/>
              </a:rPr>
              <a:t>t</a:t>
            </a:r>
            <a:r>
              <a:rPr lang="en-US" altLang="ko-KR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50" dirty="0" smtClean="0">
                <a:latin typeface="+mn-ea"/>
                <a:cs typeface="맑은 고딕"/>
              </a:rPr>
              <a:t>s</a:t>
            </a:r>
            <a:r>
              <a:rPr lang="en-US" altLang="ko-KR" sz="1000" dirty="0" smtClean="0">
                <a:latin typeface="+mn-ea"/>
                <a:cs typeface="맑은 고딕"/>
              </a:rPr>
              <a:t>ea</a:t>
            </a:r>
            <a:r>
              <a:rPr lang="en-US" altLang="ko-KR" sz="1000" spc="-55" dirty="0" smtClean="0">
                <a:latin typeface="+mn-ea"/>
                <a:cs typeface="맑은 고딕"/>
              </a:rPr>
              <a:t>r</a:t>
            </a:r>
            <a:r>
              <a:rPr lang="en-US" altLang="ko-KR" sz="1000" spc="-5" dirty="0" smtClean="0">
                <a:latin typeface="+mn-ea"/>
                <a:cs typeface="맑은 고딕"/>
              </a:rPr>
              <a:t>c</a:t>
            </a:r>
            <a:r>
              <a:rPr lang="en-US" altLang="ko-KR" sz="1000" dirty="0" smtClean="0">
                <a:latin typeface="+mn-ea"/>
                <a:cs typeface="맑은 고딕"/>
              </a:rPr>
              <a:t>h</a:t>
            </a:r>
            <a:r>
              <a:rPr lang="en-US" altLang="ko-KR" sz="1000" spc="-125" dirty="0" smtClean="0">
                <a:latin typeface="+mn-ea"/>
                <a:cs typeface="맑은 고딕"/>
              </a:rPr>
              <a:t> </a:t>
            </a:r>
            <a:r>
              <a:rPr lang="ko-KR" altLang="en-US" sz="1000" spc="-60" dirty="0" smtClean="0">
                <a:latin typeface="+mn-ea"/>
                <a:cs typeface="맑은 고딕"/>
              </a:rPr>
              <a:t>등의  향상된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고급</a:t>
            </a:r>
            <a:r>
              <a:rPr lang="ko-KR" altLang="en-US" sz="1000" spc="-12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분석</a:t>
            </a:r>
            <a:r>
              <a:rPr lang="ko-KR" altLang="en-US" sz="1000" spc="-12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기능</a:t>
            </a:r>
            <a:r>
              <a:rPr lang="ko-KR" altLang="en-US" sz="1000" spc="-17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ko-KR" altLang="en-US" sz="1000" dirty="0" smtClean="0">
              <a:latin typeface="+mn-ea"/>
              <a:cs typeface="맑은 고딕"/>
            </a:endParaRPr>
          </a:p>
          <a:p>
            <a:pPr marL="356235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ko-KR" altLang="en-US" sz="1000" dirty="0">
              <a:latin typeface="+mn-ea"/>
              <a:cs typeface="맑은 고딕"/>
            </a:endParaRPr>
          </a:p>
        </p:txBody>
      </p:sp>
      <p:sp>
        <p:nvSpPr>
          <p:cNvPr id="10" name="object 18"/>
          <p:cNvSpPr txBox="1"/>
          <p:nvPr/>
        </p:nvSpPr>
        <p:spPr>
          <a:xfrm>
            <a:off x="7266531" y="2270139"/>
            <a:ext cx="1734286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Query Engine</a:t>
            </a:r>
            <a:endParaRPr sz="1200" dirty="0">
              <a:latin typeface="+mn-ea"/>
              <a:cs typeface="맑은 고딕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7506244" y="1055096"/>
            <a:ext cx="1188000" cy="1188000"/>
            <a:chOff x="7506244" y="1055096"/>
            <a:chExt cx="1188000" cy="1188000"/>
          </a:xfrm>
        </p:grpSpPr>
        <p:sp>
          <p:nvSpPr>
            <p:cNvPr id="202" name="직사각형 201"/>
            <p:cNvSpPr/>
            <p:nvPr/>
          </p:nvSpPr>
          <p:spPr>
            <a:xfrm>
              <a:off x="7506244" y="1055096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object 13"/>
            <p:cNvPicPr/>
            <p:nvPr/>
          </p:nvPicPr>
          <p:blipFill>
            <a:blip r:embed="rId4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550719" y="1079471"/>
              <a:ext cx="1116000" cy="1152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1" name="object 15"/>
          <p:cNvSpPr txBox="1"/>
          <p:nvPr/>
        </p:nvSpPr>
        <p:spPr>
          <a:xfrm>
            <a:off x="6715809" y="2544544"/>
            <a:ext cx="3048930" cy="92461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97815" marR="5080" indent="-28575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000" spc="-35" dirty="0" smtClean="0">
                <a:latin typeface="+mn-ea"/>
                <a:cs typeface="맑은 고딕"/>
              </a:rPr>
              <a:t>HDFS</a:t>
            </a:r>
            <a:r>
              <a:rPr sz="1000" spc="-130" dirty="0" smtClean="0">
                <a:latin typeface="+mn-ea"/>
                <a:cs typeface="맑은 고딕"/>
              </a:rPr>
              <a:t> </a:t>
            </a:r>
            <a:r>
              <a:rPr sz="1000" spc="-90" dirty="0">
                <a:latin typeface="+mn-ea"/>
                <a:cs typeface="맑은 고딕"/>
              </a:rPr>
              <a:t>/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spc="-10" dirty="0">
                <a:latin typeface="+mn-ea"/>
                <a:cs typeface="맑은 고딕"/>
              </a:rPr>
              <a:t>Ob</a:t>
            </a:r>
            <a:r>
              <a:rPr sz="1000" spc="-15" dirty="0">
                <a:latin typeface="+mn-ea"/>
                <a:cs typeface="맑은 고딕"/>
              </a:rPr>
              <a:t>j</a:t>
            </a:r>
            <a:r>
              <a:rPr sz="1000" spc="-5" dirty="0">
                <a:latin typeface="+mn-ea"/>
                <a:cs typeface="맑은 고딕"/>
              </a:rPr>
              <a:t>e</a:t>
            </a:r>
            <a:r>
              <a:rPr sz="1000" dirty="0">
                <a:latin typeface="+mn-ea"/>
                <a:cs typeface="맑은 고딕"/>
              </a:rPr>
              <a:t>c</a:t>
            </a:r>
            <a:r>
              <a:rPr sz="1000" spc="-30" dirty="0">
                <a:latin typeface="+mn-ea"/>
                <a:cs typeface="맑은 고딕"/>
              </a:rPr>
              <a:t>t</a:t>
            </a:r>
            <a:r>
              <a:rPr sz="1000" spc="-130" dirty="0">
                <a:latin typeface="+mn-ea"/>
                <a:cs typeface="맑은 고딕"/>
              </a:rPr>
              <a:t> </a:t>
            </a:r>
            <a:r>
              <a:rPr sz="1000" spc="-35" dirty="0">
                <a:latin typeface="+mn-ea"/>
                <a:cs typeface="맑은 고딕"/>
              </a:rPr>
              <a:t>Stor</a:t>
            </a:r>
            <a:r>
              <a:rPr sz="1000" dirty="0">
                <a:latin typeface="+mn-ea"/>
                <a:cs typeface="맑은 고딕"/>
              </a:rPr>
              <a:t>e</a:t>
            </a:r>
            <a:r>
              <a:rPr sz="1000" spc="-75" dirty="0">
                <a:latin typeface="+mn-ea"/>
                <a:cs typeface="맑은 고딕"/>
              </a:rPr>
              <a:t>에 </a:t>
            </a:r>
            <a:r>
              <a:rPr sz="1000" spc="-65" dirty="0">
                <a:latin typeface="+mn-ea"/>
                <a:cs typeface="맑은 고딕"/>
              </a:rPr>
              <a:t>저장된  </a:t>
            </a:r>
            <a:r>
              <a:rPr sz="1000" spc="-65" dirty="0" err="1">
                <a:latin typeface="+mn-ea"/>
                <a:cs typeface="맑은 고딕"/>
              </a:rPr>
              <a:t>다양한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포맷</a:t>
            </a:r>
            <a:endParaRPr lang="en-US" sz="1000" spc="-75" dirty="0" smtClean="0">
              <a:latin typeface="+mn-ea"/>
              <a:cs typeface="맑은 고딕"/>
            </a:endParaRPr>
          </a:p>
          <a:p>
            <a:pPr marL="12065" marR="5080" algn="just">
              <a:lnSpc>
                <a:spcPct val="99600"/>
              </a:lnSpc>
              <a:spcBef>
                <a:spcPts val="10"/>
              </a:spcBef>
            </a:pPr>
            <a:r>
              <a:rPr sz="1000" dirty="0" smtClean="0">
                <a:latin typeface="+mn-ea"/>
                <a:cs typeface="맑은 고딕"/>
              </a:rPr>
              <a:t>(</a:t>
            </a:r>
            <a:r>
              <a:rPr sz="1000" spc="-95" dirty="0" smtClean="0">
                <a:latin typeface="+mn-ea"/>
                <a:cs typeface="맑은 고딕"/>
              </a:rPr>
              <a:t>P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45" dirty="0" smtClean="0">
                <a:latin typeface="+mn-ea"/>
                <a:cs typeface="맑은 고딕"/>
              </a:rPr>
              <a:t>r</a:t>
            </a:r>
            <a:r>
              <a:rPr sz="1000" spc="-25" dirty="0" smtClean="0">
                <a:latin typeface="+mn-ea"/>
                <a:cs typeface="맑은 고딕"/>
              </a:rPr>
              <a:t>q</a:t>
            </a:r>
            <a:r>
              <a:rPr sz="1000" spc="-5" dirty="0" smtClean="0">
                <a:latin typeface="+mn-ea"/>
                <a:cs typeface="맑은 고딕"/>
              </a:rPr>
              <a:t>u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30" dirty="0" smtClean="0">
                <a:latin typeface="+mn-ea"/>
                <a:cs typeface="맑은 고딕"/>
              </a:rPr>
              <a:t>t</a:t>
            </a:r>
            <a:r>
              <a:rPr lang="en-US" sz="1000" spc="-114" dirty="0" smtClean="0">
                <a:latin typeface="+mn-ea"/>
                <a:cs typeface="맑은 고딕"/>
              </a:rPr>
              <a:t> </a:t>
            </a:r>
            <a:r>
              <a:rPr sz="1000" spc="-80" dirty="0" smtClean="0">
                <a:latin typeface="+mn-ea"/>
                <a:cs typeface="맑은 고딕"/>
              </a:rPr>
              <a:t>/</a:t>
            </a:r>
            <a:r>
              <a:rPr sz="1000" spc="-95" dirty="0" smtClean="0">
                <a:latin typeface="+mn-ea"/>
                <a:cs typeface="맑은 고딕"/>
              </a:rPr>
              <a:t> </a:t>
            </a:r>
            <a:r>
              <a:rPr sz="1000" dirty="0" smtClean="0">
                <a:latin typeface="+mn-ea"/>
                <a:cs typeface="맑은 고딕"/>
              </a:rPr>
              <a:t>ORC</a:t>
            </a:r>
            <a:r>
              <a:rPr sz="1000" spc="-60" dirty="0" smtClean="0">
                <a:latin typeface="+mn-ea"/>
                <a:cs typeface="맑은 고딕"/>
              </a:rPr>
              <a:t> </a:t>
            </a:r>
            <a:r>
              <a:rPr sz="1000" spc="-75" dirty="0" smtClean="0">
                <a:latin typeface="+mn-ea"/>
                <a:cs typeface="맑은 고딕"/>
              </a:rPr>
              <a:t>등</a:t>
            </a:r>
            <a:r>
              <a:rPr sz="1000" spc="5" dirty="0" smtClean="0">
                <a:latin typeface="+mn-ea"/>
                <a:cs typeface="맑은 고딕"/>
              </a:rPr>
              <a:t>)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45" dirty="0" smtClean="0">
                <a:latin typeface="+mn-ea"/>
                <a:cs typeface="맑은 고딕"/>
              </a:rPr>
              <a:t>의  </a:t>
            </a:r>
            <a:r>
              <a:rPr sz="1000" spc="-75" dirty="0" err="1" smtClean="0">
                <a:latin typeface="+mn-ea"/>
                <a:cs typeface="맑은 고딕"/>
              </a:rPr>
              <a:t>데이터</a:t>
            </a:r>
            <a:r>
              <a:rPr sz="1000" spc="-70" dirty="0" err="1" smtClean="0">
                <a:latin typeface="+mn-ea"/>
                <a:cs typeface="맑은 고딕"/>
              </a:rPr>
              <a:t>를</a:t>
            </a:r>
            <a:r>
              <a:rPr sz="1000" spc="-105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직</a:t>
            </a:r>
            <a:r>
              <a:rPr sz="1000" spc="-70" dirty="0" err="1" smtClean="0">
                <a:latin typeface="+mn-ea"/>
                <a:cs typeface="맑은 고딕"/>
              </a:rPr>
              <a:t>접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0" dirty="0" err="1" smtClean="0">
                <a:latin typeface="+mn-ea"/>
                <a:cs typeface="맑은 고딕"/>
              </a:rPr>
              <a:t>조회</a:t>
            </a:r>
            <a:endParaRPr lang="en-US" sz="1000" spc="-70" dirty="0" smtClean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+mn-ea"/>
                <a:cs typeface="맑은 고딕"/>
              </a:rPr>
              <a:t>DW</a:t>
            </a:r>
            <a:r>
              <a:rPr lang="ko-KR" altLang="en-US" sz="1000" spc="-85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데이터와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en-US" altLang="ko-KR" sz="1000" spc="-25" dirty="0">
                <a:latin typeface="+mn-ea"/>
                <a:cs typeface="맑은 고딕"/>
              </a:rPr>
              <a:t>D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en-US" altLang="ko-KR" sz="1000" spc="-35" dirty="0">
                <a:latin typeface="+mn-ea"/>
                <a:cs typeface="맑은 고딕"/>
              </a:rPr>
              <a:t>t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40" dirty="0">
                <a:latin typeface="+mn-ea"/>
                <a:cs typeface="맑은 고딕"/>
              </a:rPr>
              <a:t>L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en-US" altLang="ko-KR" sz="1000" spc="-25" dirty="0">
                <a:latin typeface="+mn-ea"/>
                <a:cs typeface="맑은 고딕"/>
              </a:rPr>
              <a:t>k</a:t>
            </a:r>
            <a:r>
              <a:rPr lang="en-US" altLang="ko-KR" sz="1000" spc="-15" dirty="0">
                <a:latin typeface="+mn-ea"/>
                <a:cs typeface="맑은 고딕"/>
              </a:rPr>
              <a:t>e</a:t>
            </a:r>
            <a:r>
              <a:rPr lang="ko-KR" altLang="en-US" sz="1000" spc="-75" dirty="0">
                <a:latin typeface="+mn-ea"/>
                <a:cs typeface="맑은 고딕"/>
              </a:rPr>
              <a:t>에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존재하는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데이터</a:t>
            </a:r>
            <a:r>
              <a:rPr lang="ko-KR" altLang="en-US" sz="1000" spc="-135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연계</a:t>
            </a:r>
            <a:r>
              <a:rPr lang="ko-KR" altLang="en-US" sz="1000" spc="-120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분</a:t>
            </a:r>
            <a:r>
              <a:rPr lang="ko-KR" altLang="en-US" sz="1000" spc="-90" dirty="0">
                <a:latin typeface="+mn-ea"/>
                <a:cs typeface="맑은 고딕"/>
              </a:rPr>
              <a:t>석</a:t>
            </a:r>
            <a:r>
              <a:rPr lang="en-US" altLang="ko-KR" sz="1000" dirty="0">
                <a:latin typeface="+mn-ea"/>
                <a:cs typeface="맑은 고딕"/>
              </a:rPr>
              <a:t>(</a:t>
            </a:r>
            <a:r>
              <a:rPr lang="en-US" altLang="ko-KR" sz="1000" spc="-90" dirty="0">
                <a:latin typeface="+mn-ea"/>
                <a:cs typeface="맑은 고딕"/>
              </a:rPr>
              <a:t>J</a:t>
            </a:r>
            <a:r>
              <a:rPr lang="en-US" altLang="ko-KR" sz="1000" spc="-20" dirty="0">
                <a:latin typeface="+mn-ea"/>
                <a:cs typeface="맑은 고딕"/>
              </a:rPr>
              <a:t>o</a:t>
            </a:r>
            <a:r>
              <a:rPr lang="en-US" altLang="ko-KR" sz="1000" spc="-25" dirty="0">
                <a:latin typeface="+mn-ea"/>
                <a:cs typeface="맑은 고딕"/>
              </a:rPr>
              <a:t>in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처리</a:t>
            </a:r>
            <a:r>
              <a:rPr lang="en-US" altLang="ko-KR" sz="1000" spc="5" dirty="0">
                <a:latin typeface="+mn-ea"/>
                <a:cs typeface="맑은 고딕"/>
              </a:rPr>
              <a:t>)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spc="-75" dirty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000" spc="25" dirty="0" smtClean="0">
                <a:latin typeface="+mn-ea"/>
                <a:cs typeface="맑은 고딕"/>
              </a:rPr>
              <a:t>A</a:t>
            </a:r>
            <a:r>
              <a:rPr lang="en-US" altLang="ko-KR" sz="1000" spc="-40" dirty="0" smtClean="0">
                <a:latin typeface="+mn-ea"/>
                <a:cs typeface="맑은 고딕"/>
              </a:rPr>
              <a:t>R</a:t>
            </a:r>
            <a:r>
              <a:rPr lang="en-US" altLang="ko-KR" sz="1000" spc="-45" dirty="0" smtClean="0">
                <a:latin typeface="+mn-ea"/>
                <a:cs typeface="맑은 고딕"/>
              </a:rPr>
              <a:t>R</a:t>
            </a:r>
            <a:r>
              <a:rPr lang="en-US" altLang="ko-KR" sz="1000" spc="-105" dirty="0" smtClean="0">
                <a:latin typeface="+mn-ea"/>
                <a:cs typeface="맑은 고딕"/>
              </a:rPr>
              <a:t>A</a:t>
            </a:r>
            <a:r>
              <a:rPr lang="en-US" altLang="ko-KR" sz="1000" spc="70" dirty="0" smtClean="0">
                <a:latin typeface="+mn-ea"/>
                <a:cs typeface="맑은 고딕"/>
              </a:rPr>
              <a:t>Y</a:t>
            </a:r>
            <a:r>
              <a:rPr lang="ko-KR" altLang="en-US" sz="1000" spc="-85" dirty="0" smtClean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15" dirty="0">
                <a:latin typeface="+mn-ea"/>
                <a:cs typeface="맑은 고딕"/>
              </a:rPr>
              <a:t>MA</a:t>
            </a:r>
            <a:r>
              <a:rPr lang="en-US" altLang="ko-KR" sz="1000" spc="-50" dirty="0">
                <a:latin typeface="+mn-ea"/>
                <a:cs typeface="맑은 고딕"/>
              </a:rPr>
              <a:t>P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-30" dirty="0">
                <a:latin typeface="+mn-ea"/>
                <a:cs typeface="맑은 고딕"/>
              </a:rPr>
              <a:t>S</a:t>
            </a:r>
            <a:r>
              <a:rPr lang="en-US" altLang="ko-KR" sz="1000" spc="-45" dirty="0">
                <a:latin typeface="+mn-ea"/>
                <a:cs typeface="맑은 고딕"/>
              </a:rPr>
              <a:t>T</a:t>
            </a:r>
            <a:r>
              <a:rPr lang="en-US" altLang="ko-KR" sz="1000" spc="-15" dirty="0">
                <a:latin typeface="+mn-ea"/>
                <a:cs typeface="맑은 고딕"/>
              </a:rPr>
              <a:t>RUCT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60" dirty="0">
                <a:latin typeface="+mn-ea"/>
                <a:cs typeface="맑은 고딕"/>
              </a:rPr>
              <a:t>등  </a:t>
            </a:r>
            <a:r>
              <a:rPr lang="ko-KR" altLang="en-US" sz="1000" spc="-60" dirty="0" err="1">
                <a:latin typeface="+mn-ea"/>
                <a:cs typeface="맑은 고딕"/>
              </a:rPr>
              <a:t>오픈소스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파일에서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60" dirty="0" smtClean="0">
                <a:latin typeface="+mn-ea"/>
                <a:cs typeface="맑은 고딕"/>
              </a:rPr>
              <a:t>빈번하게  </a:t>
            </a:r>
            <a:r>
              <a:rPr lang="ko-KR" altLang="en-US" sz="1000" spc="-75" dirty="0">
                <a:latin typeface="+mn-ea"/>
                <a:cs typeface="맑은 고딕"/>
              </a:rPr>
              <a:t>활용되</a:t>
            </a:r>
            <a:r>
              <a:rPr lang="ko-KR" altLang="en-US" sz="1000" spc="-70" dirty="0">
                <a:latin typeface="+mn-ea"/>
                <a:cs typeface="맑은 고딕"/>
              </a:rPr>
              <a:t>는</a:t>
            </a:r>
            <a:r>
              <a:rPr lang="ko-KR" altLang="en-US" sz="1000" spc="-105" dirty="0">
                <a:latin typeface="+mn-ea"/>
                <a:cs typeface="맑은 고딕"/>
              </a:rPr>
              <a:t> </a:t>
            </a:r>
            <a:r>
              <a:rPr lang="en-US" altLang="ko-KR" sz="1000" spc="-15" dirty="0">
                <a:latin typeface="+mn-ea"/>
                <a:cs typeface="맑은 고딕"/>
              </a:rPr>
              <a:t>Compl</a:t>
            </a:r>
            <a:r>
              <a:rPr lang="en-US" altLang="ko-KR" sz="1000" spc="-20" dirty="0">
                <a:latin typeface="+mn-ea"/>
                <a:cs typeface="맑은 고딕"/>
              </a:rPr>
              <a:t>ex</a:t>
            </a:r>
            <a:r>
              <a:rPr lang="ko-KR" altLang="en-US" sz="1000" spc="-130" dirty="0">
                <a:latin typeface="+mn-ea"/>
                <a:cs typeface="맑은 고딕"/>
              </a:rPr>
              <a:t> </a:t>
            </a:r>
            <a:r>
              <a:rPr lang="en-US" altLang="ko-KR" sz="1000" spc="-135" dirty="0">
                <a:latin typeface="+mn-ea"/>
                <a:cs typeface="맑은 고딕"/>
              </a:rPr>
              <a:t>T</a:t>
            </a:r>
            <a:r>
              <a:rPr lang="en-US" altLang="ko-KR" sz="1000" spc="-105" dirty="0">
                <a:latin typeface="+mn-ea"/>
                <a:cs typeface="맑은 고딕"/>
              </a:rPr>
              <a:t>y</a:t>
            </a:r>
            <a:r>
              <a:rPr lang="en-US" altLang="ko-KR" sz="1000" spc="-15" dirty="0">
                <a:latin typeface="+mn-ea"/>
                <a:cs typeface="맑은 고딕"/>
              </a:rPr>
              <a:t>pe</a:t>
            </a:r>
            <a:r>
              <a:rPr lang="ko-KR" altLang="en-US" sz="1000" spc="-155" dirty="0">
                <a:latin typeface="+mn-ea"/>
                <a:cs typeface="맑은 고딕"/>
              </a:rPr>
              <a:t> </a:t>
            </a:r>
            <a:r>
              <a:rPr lang="ko-KR" altLang="en-US" sz="1000" spc="-40" dirty="0">
                <a:latin typeface="+mn-ea"/>
                <a:cs typeface="맑은 고딕"/>
              </a:rPr>
              <a:t>을  </a:t>
            </a:r>
            <a:r>
              <a:rPr lang="ko-KR" altLang="en-US" sz="1000" spc="-75" dirty="0">
                <a:latin typeface="+mn-ea"/>
                <a:cs typeface="맑은 고딕"/>
              </a:rPr>
              <a:t>완벽하게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ko-KR" altLang="en-US" sz="1000" dirty="0">
              <a:latin typeface="+mn-ea"/>
              <a:cs typeface="맑은 고딕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215900" y="4953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119742" y="3933374"/>
            <a:ext cx="2186829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핵심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기술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28813" y="4265385"/>
            <a:ext cx="9873546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다음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가지 기술 요소를 중심으로 고성능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연결선 88"/>
          <p:cNvCxnSpPr/>
          <p:nvPr/>
        </p:nvCxnSpPr>
        <p:spPr>
          <a:xfrm flipV="1">
            <a:off x="234042" y="4290787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>
            <a:off x="7434664" y="4635135"/>
            <a:ext cx="1247062" cy="1188000"/>
            <a:chOff x="7434664" y="4635135"/>
            <a:chExt cx="1247062" cy="1188000"/>
          </a:xfrm>
        </p:grpSpPr>
        <p:sp>
          <p:nvSpPr>
            <p:cNvPr id="157" name="직사각형 156"/>
            <p:cNvSpPr/>
            <p:nvPr/>
          </p:nvSpPr>
          <p:spPr>
            <a:xfrm>
              <a:off x="7493726" y="4635135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Rectangle 61"/>
            <p:cNvSpPr/>
            <p:nvPr/>
          </p:nvSpPr>
          <p:spPr>
            <a:xfrm>
              <a:off x="7516456" y="4696161"/>
              <a:ext cx="144000" cy="108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8" name="Rectangle 62"/>
            <p:cNvSpPr/>
            <p:nvPr/>
          </p:nvSpPr>
          <p:spPr>
            <a:xfrm>
              <a:off x="7698481" y="4696161"/>
              <a:ext cx="144000" cy="10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9" name="Rectangle 63"/>
            <p:cNvSpPr/>
            <p:nvPr/>
          </p:nvSpPr>
          <p:spPr>
            <a:xfrm>
              <a:off x="7880506" y="4696161"/>
              <a:ext cx="144000" cy="108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0" name="Rectangle 64"/>
            <p:cNvSpPr/>
            <p:nvPr/>
          </p:nvSpPr>
          <p:spPr>
            <a:xfrm>
              <a:off x="8150364" y="4696160"/>
              <a:ext cx="144000" cy="108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1" name="Rectangle 65"/>
            <p:cNvSpPr/>
            <p:nvPr/>
          </p:nvSpPr>
          <p:spPr>
            <a:xfrm>
              <a:off x="8332388" y="4696160"/>
              <a:ext cx="144000" cy="10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Rectangle 66"/>
            <p:cNvSpPr/>
            <p:nvPr/>
          </p:nvSpPr>
          <p:spPr>
            <a:xfrm>
              <a:off x="8514413" y="4696160"/>
              <a:ext cx="144000" cy="108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434664" y="4702512"/>
              <a:ext cx="226341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622308" y="4702512"/>
              <a:ext cx="226341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B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805758" y="4702512"/>
              <a:ext cx="232656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D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070162" y="4702512"/>
              <a:ext cx="232656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C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8265739" y="4702512"/>
              <a:ext cx="226341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E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453953" y="4702513"/>
              <a:ext cx="226341" cy="21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A</a:t>
              </a:r>
            </a:p>
          </p:txBody>
        </p:sp>
        <p:cxnSp>
          <p:nvCxnSpPr>
            <p:cNvPr id="109" name="Straight Arrow Connector 73"/>
            <p:cNvCxnSpPr/>
            <p:nvPr/>
          </p:nvCxnSpPr>
          <p:spPr>
            <a:xfrm flipH="1">
              <a:off x="7577008" y="5092943"/>
              <a:ext cx="776" cy="51732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74"/>
            <p:cNvCxnSpPr/>
            <p:nvPr/>
          </p:nvCxnSpPr>
          <p:spPr>
            <a:xfrm>
              <a:off x="8209648" y="5101534"/>
              <a:ext cx="0" cy="460394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75"/>
            <p:cNvCxnSpPr/>
            <p:nvPr/>
          </p:nvCxnSpPr>
          <p:spPr>
            <a:xfrm flipV="1">
              <a:off x="7763645" y="5104939"/>
              <a:ext cx="0" cy="460394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/>
          <p:cNvGrpSpPr/>
          <p:nvPr/>
        </p:nvGrpSpPr>
        <p:grpSpPr>
          <a:xfrm>
            <a:off x="4324894" y="4684121"/>
            <a:ext cx="1188000" cy="1188000"/>
            <a:chOff x="4324894" y="4684121"/>
            <a:chExt cx="1188000" cy="1188000"/>
          </a:xfrm>
        </p:grpSpPr>
        <p:sp>
          <p:nvSpPr>
            <p:cNvPr id="2" name="직사각형 1"/>
            <p:cNvSpPr/>
            <p:nvPr/>
          </p:nvSpPr>
          <p:spPr>
            <a:xfrm>
              <a:off x="4324894" y="4684121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Freeform 166"/>
            <p:cNvSpPr>
              <a:spLocks noChangeAspect="1" noChangeArrowheads="1"/>
            </p:cNvSpPr>
            <p:nvPr/>
          </p:nvSpPr>
          <p:spPr bwMode="auto">
            <a:xfrm>
              <a:off x="4445366" y="4729221"/>
              <a:ext cx="947057" cy="1097800"/>
            </a:xfrm>
            <a:custGeom>
              <a:avLst/>
              <a:gdLst>
                <a:gd name="T0" fmla="*/ 26342358 w 394"/>
                <a:gd name="T1" fmla="*/ 0 h 511"/>
                <a:gd name="T2" fmla="*/ 0 w 394"/>
                <a:gd name="T3" fmla="*/ 27520686 h 511"/>
                <a:gd name="T4" fmla="*/ 82025463 w 394"/>
                <a:gd name="T5" fmla="*/ 109653647 h 511"/>
                <a:gd name="T6" fmla="*/ 82025463 w 394"/>
                <a:gd name="T7" fmla="*/ 0 h 511"/>
                <a:gd name="T8" fmla="*/ 47972830 w 394"/>
                <a:gd name="T9" fmla="*/ 4515033 h 511"/>
                <a:gd name="T10" fmla="*/ 54183679 w 394"/>
                <a:gd name="T11" fmla="*/ 21715578 h 511"/>
                <a:gd name="T12" fmla="*/ 25271538 w 394"/>
                <a:gd name="T13" fmla="*/ 6450378 h 511"/>
                <a:gd name="T14" fmla="*/ 7709812 w 394"/>
                <a:gd name="T15" fmla="*/ 25370561 h 511"/>
                <a:gd name="T16" fmla="*/ 47544687 w 394"/>
                <a:gd name="T17" fmla="*/ 33541039 h 511"/>
                <a:gd name="T18" fmla="*/ 49472256 w 394"/>
                <a:gd name="T19" fmla="*/ 36335971 h 511"/>
                <a:gd name="T20" fmla="*/ 47544687 w 394"/>
                <a:gd name="T21" fmla="*/ 40851467 h 511"/>
                <a:gd name="T22" fmla="*/ 49472256 w 394"/>
                <a:gd name="T23" fmla="*/ 43646400 h 511"/>
                <a:gd name="T24" fmla="*/ 47544687 w 394"/>
                <a:gd name="T25" fmla="*/ 47946652 h 511"/>
                <a:gd name="T26" fmla="*/ 49472256 w 394"/>
                <a:gd name="T27" fmla="*/ 50741584 h 511"/>
                <a:gd name="T28" fmla="*/ 47544687 w 394"/>
                <a:gd name="T29" fmla="*/ 55256617 h 511"/>
                <a:gd name="T30" fmla="*/ 49472256 w 394"/>
                <a:gd name="T31" fmla="*/ 58052012 h 511"/>
                <a:gd name="T32" fmla="*/ 47544687 w 394"/>
                <a:gd name="T33" fmla="*/ 62567045 h 511"/>
                <a:gd name="T34" fmla="*/ 49472256 w 394"/>
                <a:gd name="T35" fmla="*/ 65361978 h 511"/>
                <a:gd name="T36" fmla="*/ 47544687 w 394"/>
                <a:gd name="T37" fmla="*/ 69662230 h 511"/>
                <a:gd name="T38" fmla="*/ 49472256 w 394"/>
                <a:gd name="T39" fmla="*/ 72457162 h 511"/>
                <a:gd name="T40" fmla="*/ 47544687 w 394"/>
                <a:gd name="T41" fmla="*/ 76972195 h 511"/>
                <a:gd name="T42" fmla="*/ 49472256 w 394"/>
                <a:gd name="T43" fmla="*/ 79767590 h 511"/>
                <a:gd name="T44" fmla="*/ 47544687 w 394"/>
                <a:gd name="T45" fmla="*/ 84282623 h 511"/>
                <a:gd name="T46" fmla="*/ 49472256 w 394"/>
                <a:gd name="T47" fmla="*/ 87077555 h 511"/>
                <a:gd name="T48" fmla="*/ 47544687 w 394"/>
                <a:gd name="T49" fmla="*/ 91593051 h 511"/>
                <a:gd name="T50" fmla="*/ 49472256 w 394"/>
                <a:gd name="T51" fmla="*/ 94387984 h 511"/>
                <a:gd name="T52" fmla="*/ 47544687 w 394"/>
                <a:gd name="T53" fmla="*/ 98688236 h 511"/>
                <a:gd name="T54" fmla="*/ 49472256 w 394"/>
                <a:gd name="T55" fmla="*/ 101483168 h 511"/>
                <a:gd name="T56" fmla="*/ 45831190 w 394"/>
                <a:gd name="T57" fmla="*/ 105138151 h 511"/>
                <a:gd name="T58" fmla="*/ 27841321 w 394"/>
                <a:gd name="T59" fmla="*/ 29886056 h 511"/>
                <a:gd name="T60" fmla="*/ 43689550 w 394"/>
                <a:gd name="T61" fmla="*/ 4515033 h 511"/>
                <a:gd name="T62" fmla="*/ 49472256 w 394"/>
                <a:gd name="T63" fmla="*/ 26230611 h 511"/>
                <a:gd name="T64" fmla="*/ 47544687 w 394"/>
                <a:gd name="T65" fmla="*/ 29026006 h 511"/>
                <a:gd name="T66" fmla="*/ 58895565 w 394"/>
                <a:gd name="T67" fmla="*/ 24080948 h 511"/>
                <a:gd name="T68" fmla="*/ 79455217 w 394"/>
                <a:gd name="T69" fmla="*/ 4515033 h 511"/>
                <a:gd name="T70" fmla="*/ 53327394 w 394"/>
                <a:gd name="T71" fmla="*/ 103848075 h 511"/>
                <a:gd name="T72" fmla="*/ 56967996 w 394"/>
                <a:gd name="T73" fmla="*/ 100193092 h 511"/>
                <a:gd name="T74" fmla="*/ 53327394 w 394"/>
                <a:gd name="T75" fmla="*/ 96538110 h 511"/>
                <a:gd name="T76" fmla="*/ 56967996 w 394"/>
                <a:gd name="T77" fmla="*/ 92883127 h 511"/>
                <a:gd name="T78" fmla="*/ 53327394 w 394"/>
                <a:gd name="T79" fmla="*/ 89227681 h 511"/>
                <a:gd name="T80" fmla="*/ 56967996 w 394"/>
                <a:gd name="T81" fmla="*/ 85572699 h 511"/>
                <a:gd name="T82" fmla="*/ 53327394 w 394"/>
                <a:gd name="T83" fmla="*/ 82132497 h 511"/>
                <a:gd name="T84" fmla="*/ 56967996 w 394"/>
                <a:gd name="T85" fmla="*/ 78477514 h 511"/>
                <a:gd name="T86" fmla="*/ 53327394 w 394"/>
                <a:gd name="T87" fmla="*/ 74822532 h 511"/>
                <a:gd name="T88" fmla="*/ 56967996 w 394"/>
                <a:gd name="T89" fmla="*/ 71167086 h 511"/>
                <a:gd name="T90" fmla="*/ 53327394 w 394"/>
                <a:gd name="T91" fmla="*/ 67512104 h 511"/>
                <a:gd name="T92" fmla="*/ 56967996 w 394"/>
                <a:gd name="T93" fmla="*/ 63857121 h 511"/>
                <a:gd name="T94" fmla="*/ 53327394 w 394"/>
                <a:gd name="T95" fmla="*/ 60201675 h 511"/>
                <a:gd name="T96" fmla="*/ 56967996 w 394"/>
                <a:gd name="T97" fmla="*/ 56761937 h 511"/>
                <a:gd name="T98" fmla="*/ 53327394 w 394"/>
                <a:gd name="T99" fmla="*/ 53106491 h 511"/>
                <a:gd name="T100" fmla="*/ 56967996 w 394"/>
                <a:gd name="T101" fmla="*/ 49451508 h 511"/>
                <a:gd name="T102" fmla="*/ 53327394 w 394"/>
                <a:gd name="T103" fmla="*/ 45796526 h 511"/>
                <a:gd name="T104" fmla="*/ 56967996 w 394"/>
                <a:gd name="T105" fmla="*/ 42141543 h 511"/>
                <a:gd name="T106" fmla="*/ 53327394 w 394"/>
                <a:gd name="T107" fmla="*/ 38486097 h 511"/>
                <a:gd name="T108" fmla="*/ 56967996 w 394"/>
                <a:gd name="T109" fmla="*/ 34831115 h 511"/>
                <a:gd name="T110" fmla="*/ 53327394 w 394"/>
                <a:gd name="T111" fmla="*/ 31390913 h 511"/>
                <a:gd name="T112" fmla="*/ 56967996 w 394"/>
                <a:gd name="T113" fmla="*/ 27735931 h 511"/>
                <a:gd name="T114" fmla="*/ 58895565 w 394"/>
                <a:gd name="T115" fmla="*/ 24080948 h 51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94" h="511">
                  <a:moveTo>
                    <a:pt x="214" y="0"/>
                  </a:moveTo>
                  <a:lnTo>
                    <a:pt x="214" y="0"/>
                  </a:ln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17" y="1"/>
                    <a:pt x="116" y="4"/>
                  </a:cubicBezTo>
                  <a:cubicBezTo>
                    <a:pt x="3" y="121"/>
                    <a:pt x="3" y="121"/>
                    <a:pt x="3" y="121"/>
                  </a:cubicBezTo>
                  <a:cubicBezTo>
                    <a:pt x="2" y="124"/>
                    <a:pt x="0" y="126"/>
                    <a:pt x="0" y="128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0" y="506"/>
                    <a:pt x="6" y="510"/>
                    <a:pt x="12" y="510"/>
                  </a:cubicBezTo>
                  <a:cubicBezTo>
                    <a:pt x="383" y="510"/>
                    <a:pt x="383" y="510"/>
                    <a:pt x="383" y="510"/>
                  </a:cubicBezTo>
                  <a:cubicBezTo>
                    <a:pt x="388" y="510"/>
                    <a:pt x="393" y="506"/>
                    <a:pt x="393" y="499"/>
                  </a:cubicBezTo>
                  <a:cubicBezTo>
                    <a:pt x="393" y="11"/>
                    <a:pt x="393" y="11"/>
                    <a:pt x="393" y="11"/>
                  </a:cubicBezTo>
                  <a:cubicBezTo>
                    <a:pt x="393" y="6"/>
                    <a:pt x="388" y="0"/>
                    <a:pt x="383" y="0"/>
                  </a:cubicBezTo>
                  <a:cubicBezTo>
                    <a:pt x="265" y="0"/>
                    <a:pt x="265" y="0"/>
                    <a:pt x="265" y="0"/>
                  </a:cubicBezTo>
                  <a:lnTo>
                    <a:pt x="214" y="0"/>
                  </a:lnTo>
                  <a:close/>
                  <a:moveTo>
                    <a:pt x="224" y="21"/>
                  </a:moveTo>
                  <a:lnTo>
                    <a:pt x="224" y="21"/>
                  </a:lnTo>
                  <a:cubicBezTo>
                    <a:pt x="253" y="21"/>
                    <a:pt x="253" y="21"/>
                    <a:pt x="253" y="21"/>
                  </a:cubicBezTo>
                  <a:cubicBezTo>
                    <a:pt x="253" y="101"/>
                    <a:pt x="253" y="101"/>
                    <a:pt x="253" y="101"/>
                  </a:cubicBezTo>
                  <a:cubicBezTo>
                    <a:pt x="224" y="101"/>
                    <a:pt x="224" y="101"/>
                    <a:pt x="224" y="101"/>
                  </a:cubicBezTo>
                  <a:lnTo>
                    <a:pt x="224" y="21"/>
                  </a:lnTo>
                  <a:close/>
                  <a:moveTo>
                    <a:pt x="118" y="30"/>
                  </a:moveTo>
                  <a:lnTo>
                    <a:pt x="118" y="30"/>
                  </a:lnTo>
                  <a:cubicBezTo>
                    <a:pt x="118" y="118"/>
                    <a:pt x="118" y="118"/>
                    <a:pt x="118" y="118"/>
                  </a:cubicBezTo>
                  <a:cubicBezTo>
                    <a:pt x="36" y="118"/>
                    <a:pt x="36" y="118"/>
                    <a:pt x="36" y="118"/>
                  </a:cubicBezTo>
                  <a:lnTo>
                    <a:pt x="118" y="30"/>
                  </a:lnTo>
                  <a:close/>
                  <a:moveTo>
                    <a:pt x="222" y="156"/>
                  </a:moveTo>
                  <a:lnTo>
                    <a:pt x="222" y="156"/>
                  </a:lnTo>
                  <a:cubicBezTo>
                    <a:pt x="231" y="156"/>
                    <a:pt x="231" y="156"/>
                    <a:pt x="231" y="156"/>
                  </a:cubicBezTo>
                  <a:cubicBezTo>
                    <a:pt x="229" y="158"/>
                    <a:pt x="228" y="160"/>
                    <a:pt x="228" y="162"/>
                  </a:cubicBezTo>
                  <a:cubicBezTo>
                    <a:pt x="228" y="165"/>
                    <a:pt x="229" y="168"/>
                    <a:pt x="231" y="169"/>
                  </a:cubicBezTo>
                  <a:cubicBezTo>
                    <a:pt x="222" y="169"/>
                    <a:pt x="222" y="169"/>
                    <a:pt x="222" y="169"/>
                  </a:cubicBezTo>
                  <a:cubicBezTo>
                    <a:pt x="216" y="169"/>
                    <a:pt x="211" y="173"/>
                    <a:pt x="211" y="179"/>
                  </a:cubicBezTo>
                  <a:cubicBezTo>
                    <a:pt x="211" y="185"/>
                    <a:pt x="216" y="190"/>
                    <a:pt x="222" y="190"/>
                  </a:cubicBezTo>
                  <a:cubicBezTo>
                    <a:pt x="231" y="190"/>
                    <a:pt x="231" y="190"/>
                    <a:pt x="231" y="190"/>
                  </a:cubicBezTo>
                  <a:cubicBezTo>
                    <a:pt x="229" y="192"/>
                    <a:pt x="228" y="193"/>
                    <a:pt x="228" y="196"/>
                  </a:cubicBezTo>
                  <a:cubicBezTo>
                    <a:pt x="228" y="199"/>
                    <a:pt x="229" y="200"/>
                    <a:pt x="231" y="203"/>
                  </a:cubicBezTo>
                  <a:cubicBezTo>
                    <a:pt x="222" y="203"/>
                    <a:pt x="222" y="203"/>
                    <a:pt x="222" y="203"/>
                  </a:cubicBezTo>
                  <a:cubicBezTo>
                    <a:pt x="216" y="203"/>
                    <a:pt x="211" y="207"/>
                    <a:pt x="211" y="213"/>
                  </a:cubicBezTo>
                  <a:cubicBezTo>
                    <a:pt x="211" y="219"/>
                    <a:pt x="216" y="223"/>
                    <a:pt x="222" y="223"/>
                  </a:cubicBezTo>
                  <a:cubicBezTo>
                    <a:pt x="231" y="223"/>
                    <a:pt x="231" y="223"/>
                    <a:pt x="231" y="223"/>
                  </a:cubicBezTo>
                  <a:cubicBezTo>
                    <a:pt x="229" y="226"/>
                    <a:pt x="228" y="227"/>
                    <a:pt x="228" y="230"/>
                  </a:cubicBezTo>
                  <a:cubicBezTo>
                    <a:pt x="228" y="233"/>
                    <a:pt x="229" y="234"/>
                    <a:pt x="231" y="236"/>
                  </a:cubicBezTo>
                  <a:cubicBezTo>
                    <a:pt x="222" y="236"/>
                    <a:pt x="222" y="236"/>
                    <a:pt x="222" y="236"/>
                  </a:cubicBezTo>
                  <a:cubicBezTo>
                    <a:pt x="216" y="236"/>
                    <a:pt x="211" y="241"/>
                    <a:pt x="211" y="247"/>
                  </a:cubicBezTo>
                  <a:cubicBezTo>
                    <a:pt x="211" y="253"/>
                    <a:pt x="216" y="257"/>
                    <a:pt x="222" y="257"/>
                  </a:cubicBezTo>
                  <a:cubicBezTo>
                    <a:pt x="231" y="257"/>
                    <a:pt x="231" y="257"/>
                    <a:pt x="231" y="257"/>
                  </a:cubicBezTo>
                  <a:cubicBezTo>
                    <a:pt x="229" y="259"/>
                    <a:pt x="228" y="261"/>
                    <a:pt x="228" y="264"/>
                  </a:cubicBezTo>
                  <a:cubicBezTo>
                    <a:pt x="228" y="266"/>
                    <a:pt x="229" y="268"/>
                    <a:pt x="231" y="270"/>
                  </a:cubicBezTo>
                  <a:cubicBezTo>
                    <a:pt x="222" y="270"/>
                    <a:pt x="222" y="270"/>
                    <a:pt x="222" y="270"/>
                  </a:cubicBezTo>
                  <a:cubicBezTo>
                    <a:pt x="216" y="270"/>
                    <a:pt x="211" y="274"/>
                    <a:pt x="211" y="280"/>
                  </a:cubicBezTo>
                  <a:cubicBezTo>
                    <a:pt x="211" y="285"/>
                    <a:pt x="216" y="291"/>
                    <a:pt x="222" y="291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29" y="293"/>
                    <a:pt x="228" y="294"/>
                    <a:pt x="228" y="297"/>
                  </a:cubicBezTo>
                  <a:cubicBezTo>
                    <a:pt x="228" y="300"/>
                    <a:pt x="229" y="301"/>
                    <a:pt x="231" y="304"/>
                  </a:cubicBezTo>
                  <a:cubicBezTo>
                    <a:pt x="222" y="304"/>
                    <a:pt x="222" y="304"/>
                    <a:pt x="222" y="304"/>
                  </a:cubicBezTo>
                  <a:cubicBezTo>
                    <a:pt x="216" y="304"/>
                    <a:pt x="211" y="308"/>
                    <a:pt x="211" y="314"/>
                  </a:cubicBezTo>
                  <a:cubicBezTo>
                    <a:pt x="211" y="320"/>
                    <a:pt x="216" y="324"/>
                    <a:pt x="222" y="324"/>
                  </a:cubicBezTo>
                  <a:cubicBezTo>
                    <a:pt x="231" y="324"/>
                    <a:pt x="231" y="324"/>
                    <a:pt x="231" y="324"/>
                  </a:cubicBezTo>
                  <a:cubicBezTo>
                    <a:pt x="229" y="327"/>
                    <a:pt x="228" y="328"/>
                    <a:pt x="228" y="331"/>
                  </a:cubicBezTo>
                  <a:cubicBezTo>
                    <a:pt x="228" y="334"/>
                    <a:pt x="229" y="335"/>
                    <a:pt x="231" y="337"/>
                  </a:cubicBezTo>
                  <a:cubicBezTo>
                    <a:pt x="222" y="337"/>
                    <a:pt x="222" y="337"/>
                    <a:pt x="222" y="337"/>
                  </a:cubicBezTo>
                  <a:cubicBezTo>
                    <a:pt x="216" y="337"/>
                    <a:pt x="211" y="342"/>
                    <a:pt x="211" y="348"/>
                  </a:cubicBezTo>
                  <a:cubicBezTo>
                    <a:pt x="211" y="354"/>
                    <a:pt x="216" y="358"/>
                    <a:pt x="222" y="358"/>
                  </a:cubicBezTo>
                  <a:cubicBezTo>
                    <a:pt x="231" y="358"/>
                    <a:pt x="231" y="358"/>
                    <a:pt x="231" y="358"/>
                  </a:cubicBezTo>
                  <a:cubicBezTo>
                    <a:pt x="229" y="359"/>
                    <a:pt x="228" y="362"/>
                    <a:pt x="228" y="365"/>
                  </a:cubicBezTo>
                  <a:cubicBezTo>
                    <a:pt x="228" y="367"/>
                    <a:pt x="229" y="369"/>
                    <a:pt x="231" y="371"/>
                  </a:cubicBezTo>
                  <a:cubicBezTo>
                    <a:pt x="222" y="371"/>
                    <a:pt x="222" y="371"/>
                    <a:pt x="222" y="371"/>
                  </a:cubicBezTo>
                  <a:cubicBezTo>
                    <a:pt x="216" y="371"/>
                    <a:pt x="211" y="375"/>
                    <a:pt x="211" y="382"/>
                  </a:cubicBezTo>
                  <a:cubicBezTo>
                    <a:pt x="211" y="388"/>
                    <a:pt x="216" y="392"/>
                    <a:pt x="222" y="392"/>
                  </a:cubicBezTo>
                  <a:cubicBezTo>
                    <a:pt x="231" y="392"/>
                    <a:pt x="231" y="392"/>
                    <a:pt x="231" y="392"/>
                  </a:cubicBezTo>
                  <a:cubicBezTo>
                    <a:pt x="229" y="393"/>
                    <a:pt x="228" y="396"/>
                    <a:pt x="228" y="398"/>
                  </a:cubicBezTo>
                  <a:cubicBezTo>
                    <a:pt x="228" y="401"/>
                    <a:pt x="229" y="403"/>
                    <a:pt x="231" y="405"/>
                  </a:cubicBezTo>
                  <a:cubicBezTo>
                    <a:pt x="222" y="405"/>
                    <a:pt x="222" y="405"/>
                    <a:pt x="222" y="405"/>
                  </a:cubicBezTo>
                  <a:cubicBezTo>
                    <a:pt x="216" y="405"/>
                    <a:pt x="211" y="409"/>
                    <a:pt x="211" y="415"/>
                  </a:cubicBezTo>
                  <a:cubicBezTo>
                    <a:pt x="211" y="420"/>
                    <a:pt x="216" y="426"/>
                    <a:pt x="222" y="426"/>
                  </a:cubicBezTo>
                  <a:cubicBezTo>
                    <a:pt x="231" y="426"/>
                    <a:pt x="231" y="426"/>
                    <a:pt x="231" y="426"/>
                  </a:cubicBezTo>
                  <a:cubicBezTo>
                    <a:pt x="229" y="428"/>
                    <a:pt x="228" y="429"/>
                    <a:pt x="228" y="432"/>
                  </a:cubicBezTo>
                  <a:cubicBezTo>
                    <a:pt x="228" y="435"/>
                    <a:pt x="229" y="436"/>
                    <a:pt x="231" y="439"/>
                  </a:cubicBezTo>
                  <a:cubicBezTo>
                    <a:pt x="222" y="439"/>
                    <a:pt x="222" y="439"/>
                    <a:pt x="222" y="439"/>
                  </a:cubicBezTo>
                  <a:cubicBezTo>
                    <a:pt x="216" y="439"/>
                    <a:pt x="211" y="443"/>
                    <a:pt x="211" y="449"/>
                  </a:cubicBezTo>
                  <a:cubicBezTo>
                    <a:pt x="211" y="455"/>
                    <a:pt x="216" y="459"/>
                    <a:pt x="222" y="459"/>
                  </a:cubicBezTo>
                  <a:cubicBezTo>
                    <a:pt x="231" y="459"/>
                    <a:pt x="231" y="459"/>
                    <a:pt x="231" y="459"/>
                  </a:cubicBezTo>
                  <a:cubicBezTo>
                    <a:pt x="229" y="462"/>
                    <a:pt x="228" y="463"/>
                    <a:pt x="228" y="466"/>
                  </a:cubicBezTo>
                  <a:cubicBezTo>
                    <a:pt x="228" y="469"/>
                    <a:pt x="229" y="470"/>
                    <a:pt x="231" y="472"/>
                  </a:cubicBezTo>
                  <a:cubicBezTo>
                    <a:pt x="222" y="472"/>
                    <a:pt x="222" y="472"/>
                    <a:pt x="222" y="472"/>
                  </a:cubicBezTo>
                  <a:cubicBezTo>
                    <a:pt x="216" y="472"/>
                    <a:pt x="211" y="477"/>
                    <a:pt x="211" y="483"/>
                  </a:cubicBezTo>
                  <a:cubicBezTo>
                    <a:pt x="211" y="484"/>
                    <a:pt x="212" y="487"/>
                    <a:pt x="214" y="489"/>
                  </a:cubicBezTo>
                  <a:cubicBezTo>
                    <a:pt x="22" y="489"/>
                    <a:pt x="22" y="489"/>
                    <a:pt x="22" y="489"/>
                  </a:cubicBezTo>
                  <a:cubicBezTo>
                    <a:pt x="22" y="139"/>
                    <a:pt x="22" y="139"/>
                    <a:pt x="22" y="139"/>
                  </a:cubicBezTo>
                  <a:cubicBezTo>
                    <a:pt x="130" y="139"/>
                    <a:pt x="130" y="139"/>
                    <a:pt x="130" y="139"/>
                  </a:cubicBezTo>
                  <a:cubicBezTo>
                    <a:pt x="135" y="139"/>
                    <a:pt x="140" y="135"/>
                    <a:pt x="140" y="1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204" y="21"/>
                    <a:pt x="204" y="21"/>
                    <a:pt x="204" y="21"/>
                  </a:cubicBezTo>
                  <a:cubicBezTo>
                    <a:pt x="204" y="112"/>
                    <a:pt x="204" y="112"/>
                    <a:pt x="204" y="112"/>
                  </a:cubicBezTo>
                  <a:cubicBezTo>
                    <a:pt x="204" y="118"/>
                    <a:pt x="208" y="122"/>
                    <a:pt x="214" y="122"/>
                  </a:cubicBezTo>
                  <a:cubicBezTo>
                    <a:pt x="231" y="122"/>
                    <a:pt x="231" y="122"/>
                    <a:pt x="231" y="122"/>
                  </a:cubicBezTo>
                  <a:cubicBezTo>
                    <a:pt x="229" y="125"/>
                    <a:pt x="228" y="126"/>
                    <a:pt x="228" y="129"/>
                  </a:cubicBezTo>
                  <a:cubicBezTo>
                    <a:pt x="228" y="131"/>
                    <a:pt x="229" y="133"/>
                    <a:pt x="231" y="135"/>
                  </a:cubicBezTo>
                  <a:cubicBezTo>
                    <a:pt x="222" y="135"/>
                    <a:pt x="222" y="135"/>
                    <a:pt x="222" y="135"/>
                  </a:cubicBezTo>
                  <a:cubicBezTo>
                    <a:pt x="216" y="135"/>
                    <a:pt x="211" y="139"/>
                    <a:pt x="211" y="146"/>
                  </a:cubicBezTo>
                  <a:cubicBezTo>
                    <a:pt x="211" y="152"/>
                    <a:pt x="216" y="156"/>
                    <a:pt x="222" y="156"/>
                  </a:cubicBezTo>
                  <a:close/>
                  <a:moveTo>
                    <a:pt x="275" y="112"/>
                  </a:moveTo>
                  <a:lnTo>
                    <a:pt x="275" y="112"/>
                  </a:lnTo>
                  <a:cubicBezTo>
                    <a:pt x="275" y="21"/>
                    <a:pt x="275" y="21"/>
                    <a:pt x="275" y="21"/>
                  </a:cubicBezTo>
                  <a:cubicBezTo>
                    <a:pt x="371" y="21"/>
                    <a:pt x="371" y="21"/>
                    <a:pt x="371" y="21"/>
                  </a:cubicBezTo>
                  <a:cubicBezTo>
                    <a:pt x="371" y="489"/>
                    <a:pt x="371" y="489"/>
                    <a:pt x="371" y="489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8" y="487"/>
                    <a:pt x="249" y="484"/>
                    <a:pt x="249" y="483"/>
                  </a:cubicBezTo>
                  <a:cubicBezTo>
                    <a:pt x="249" y="480"/>
                    <a:pt x="248" y="477"/>
                    <a:pt x="246" y="476"/>
                  </a:cubicBezTo>
                  <a:cubicBezTo>
                    <a:pt x="256" y="476"/>
                    <a:pt x="256" y="476"/>
                    <a:pt x="256" y="476"/>
                  </a:cubicBezTo>
                  <a:cubicBezTo>
                    <a:pt x="262" y="476"/>
                    <a:pt x="266" y="472"/>
                    <a:pt x="266" y="466"/>
                  </a:cubicBezTo>
                  <a:cubicBezTo>
                    <a:pt x="266" y="460"/>
                    <a:pt x="262" y="455"/>
                    <a:pt x="256" y="455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8" y="453"/>
                    <a:pt x="249" y="452"/>
                    <a:pt x="249" y="449"/>
                  </a:cubicBezTo>
                  <a:cubicBezTo>
                    <a:pt x="249" y="446"/>
                    <a:pt x="248" y="445"/>
                    <a:pt x="246" y="442"/>
                  </a:cubicBezTo>
                  <a:cubicBezTo>
                    <a:pt x="256" y="442"/>
                    <a:pt x="256" y="442"/>
                    <a:pt x="256" y="442"/>
                  </a:cubicBezTo>
                  <a:cubicBezTo>
                    <a:pt x="262" y="442"/>
                    <a:pt x="266" y="438"/>
                    <a:pt x="266" y="432"/>
                  </a:cubicBezTo>
                  <a:cubicBezTo>
                    <a:pt x="266" y="426"/>
                    <a:pt x="262" y="422"/>
                    <a:pt x="256" y="422"/>
                  </a:cubicBezTo>
                  <a:cubicBezTo>
                    <a:pt x="246" y="422"/>
                    <a:pt x="246" y="422"/>
                    <a:pt x="246" y="422"/>
                  </a:cubicBezTo>
                  <a:cubicBezTo>
                    <a:pt x="248" y="419"/>
                    <a:pt x="249" y="418"/>
                    <a:pt x="249" y="415"/>
                  </a:cubicBezTo>
                  <a:cubicBezTo>
                    <a:pt x="249" y="412"/>
                    <a:pt x="248" y="411"/>
                    <a:pt x="246" y="409"/>
                  </a:cubicBezTo>
                  <a:cubicBezTo>
                    <a:pt x="256" y="409"/>
                    <a:pt x="256" y="409"/>
                    <a:pt x="256" y="409"/>
                  </a:cubicBezTo>
                  <a:cubicBezTo>
                    <a:pt x="262" y="409"/>
                    <a:pt x="266" y="403"/>
                    <a:pt x="266" y="398"/>
                  </a:cubicBezTo>
                  <a:cubicBezTo>
                    <a:pt x="266" y="392"/>
                    <a:pt x="262" y="388"/>
                    <a:pt x="256" y="388"/>
                  </a:cubicBezTo>
                  <a:cubicBezTo>
                    <a:pt x="246" y="388"/>
                    <a:pt x="246" y="388"/>
                    <a:pt x="246" y="388"/>
                  </a:cubicBezTo>
                  <a:cubicBezTo>
                    <a:pt x="248" y="386"/>
                    <a:pt x="249" y="384"/>
                    <a:pt x="249" y="382"/>
                  </a:cubicBezTo>
                  <a:cubicBezTo>
                    <a:pt x="249" y="379"/>
                    <a:pt x="248" y="376"/>
                    <a:pt x="246" y="375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62" y="375"/>
                    <a:pt x="266" y="371"/>
                    <a:pt x="266" y="365"/>
                  </a:cubicBezTo>
                  <a:cubicBezTo>
                    <a:pt x="266" y="359"/>
                    <a:pt x="262" y="354"/>
                    <a:pt x="256" y="354"/>
                  </a:cubicBezTo>
                  <a:cubicBezTo>
                    <a:pt x="246" y="354"/>
                    <a:pt x="246" y="354"/>
                    <a:pt x="246" y="354"/>
                  </a:cubicBezTo>
                  <a:cubicBezTo>
                    <a:pt x="248" y="352"/>
                    <a:pt x="249" y="351"/>
                    <a:pt x="249" y="348"/>
                  </a:cubicBezTo>
                  <a:cubicBezTo>
                    <a:pt x="249" y="345"/>
                    <a:pt x="248" y="344"/>
                    <a:pt x="246" y="341"/>
                  </a:cubicBezTo>
                  <a:cubicBezTo>
                    <a:pt x="256" y="341"/>
                    <a:pt x="256" y="341"/>
                    <a:pt x="256" y="341"/>
                  </a:cubicBezTo>
                  <a:cubicBezTo>
                    <a:pt x="262" y="341"/>
                    <a:pt x="266" y="337"/>
                    <a:pt x="266" y="331"/>
                  </a:cubicBezTo>
                  <a:cubicBezTo>
                    <a:pt x="266" y="325"/>
                    <a:pt x="262" y="321"/>
                    <a:pt x="256" y="321"/>
                  </a:cubicBezTo>
                  <a:cubicBezTo>
                    <a:pt x="246" y="321"/>
                    <a:pt x="246" y="321"/>
                    <a:pt x="246" y="321"/>
                  </a:cubicBezTo>
                  <a:cubicBezTo>
                    <a:pt x="248" y="318"/>
                    <a:pt x="249" y="317"/>
                    <a:pt x="249" y="314"/>
                  </a:cubicBezTo>
                  <a:cubicBezTo>
                    <a:pt x="249" y="311"/>
                    <a:pt x="248" y="310"/>
                    <a:pt x="246" y="308"/>
                  </a:cubicBezTo>
                  <a:cubicBezTo>
                    <a:pt x="256" y="308"/>
                    <a:pt x="256" y="308"/>
                    <a:pt x="256" y="308"/>
                  </a:cubicBezTo>
                  <a:cubicBezTo>
                    <a:pt x="262" y="308"/>
                    <a:pt x="266" y="303"/>
                    <a:pt x="266" y="297"/>
                  </a:cubicBezTo>
                  <a:cubicBezTo>
                    <a:pt x="266" y="291"/>
                    <a:pt x="262" y="287"/>
                    <a:pt x="256" y="287"/>
                  </a:cubicBezTo>
                  <a:cubicBezTo>
                    <a:pt x="246" y="287"/>
                    <a:pt x="246" y="287"/>
                    <a:pt x="246" y="287"/>
                  </a:cubicBezTo>
                  <a:cubicBezTo>
                    <a:pt x="248" y="285"/>
                    <a:pt x="249" y="283"/>
                    <a:pt x="249" y="280"/>
                  </a:cubicBezTo>
                  <a:cubicBezTo>
                    <a:pt x="249" y="278"/>
                    <a:pt x="248" y="276"/>
                    <a:pt x="246" y="274"/>
                  </a:cubicBezTo>
                  <a:cubicBezTo>
                    <a:pt x="256" y="274"/>
                    <a:pt x="256" y="274"/>
                    <a:pt x="256" y="274"/>
                  </a:cubicBezTo>
                  <a:cubicBezTo>
                    <a:pt x="262" y="274"/>
                    <a:pt x="266" y="270"/>
                    <a:pt x="266" y="264"/>
                  </a:cubicBezTo>
                  <a:cubicBezTo>
                    <a:pt x="266" y="257"/>
                    <a:pt x="262" y="253"/>
                    <a:pt x="256" y="253"/>
                  </a:cubicBezTo>
                  <a:cubicBezTo>
                    <a:pt x="246" y="253"/>
                    <a:pt x="246" y="253"/>
                    <a:pt x="246" y="253"/>
                  </a:cubicBezTo>
                  <a:cubicBezTo>
                    <a:pt x="248" y="251"/>
                    <a:pt x="249" y="249"/>
                    <a:pt x="249" y="247"/>
                  </a:cubicBezTo>
                  <a:cubicBezTo>
                    <a:pt x="249" y="244"/>
                    <a:pt x="248" y="241"/>
                    <a:pt x="246" y="240"/>
                  </a:cubicBezTo>
                  <a:cubicBezTo>
                    <a:pt x="256" y="240"/>
                    <a:pt x="256" y="240"/>
                    <a:pt x="256" y="240"/>
                  </a:cubicBezTo>
                  <a:cubicBezTo>
                    <a:pt x="262" y="240"/>
                    <a:pt x="266" y="236"/>
                    <a:pt x="266" y="230"/>
                  </a:cubicBezTo>
                  <a:cubicBezTo>
                    <a:pt x="266" y="224"/>
                    <a:pt x="262" y="219"/>
                    <a:pt x="256" y="219"/>
                  </a:cubicBezTo>
                  <a:cubicBezTo>
                    <a:pt x="246" y="219"/>
                    <a:pt x="246" y="219"/>
                    <a:pt x="246" y="219"/>
                  </a:cubicBezTo>
                  <a:cubicBezTo>
                    <a:pt x="248" y="217"/>
                    <a:pt x="249" y="216"/>
                    <a:pt x="249" y="213"/>
                  </a:cubicBezTo>
                  <a:cubicBezTo>
                    <a:pt x="249" y="210"/>
                    <a:pt x="248" y="209"/>
                    <a:pt x="246" y="207"/>
                  </a:cubicBezTo>
                  <a:cubicBezTo>
                    <a:pt x="256" y="207"/>
                    <a:pt x="256" y="207"/>
                    <a:pt x="256" y="207"/>
                  </a:cubicBezTo>
                  <a:cubicBezTo>
                    <a:pt x="262" y="207"/>
                    <a:pt x="266" y="202"/>
                    <a:pt x="266" y="196"/>
                  </a:cubicBezTo>
                  <a:cubicBezTo>
                    <a:pt x="266" y="190"/>
                    <a:pt x="262" y="186"/>
                    <a:pt x="256" y="186"/>
                  </a:cubicBezTo>
                  <a:cubicBezTo>
                    <a:pt x="246" y="186"/>
                    <a:pt x="246" y="186"/>
                    <a:pt x="246" y="186"/>
                  </a:cubicBezTo>
                  <a:cubicBezTo>
                    <a:pt x="248" y="183"/>
                    <a:pt x="249" y="182"/>
                    <a:pt x="249" y="179"/>
                  </a:cubicBezTo>
                  <a:cubicBezTo>
                    <a:pt x="249" y="177"/>
                    <a:pt x="248" y="175"/>
                    <a:pt x="246" y="173"/>
                  </a:cubicBezTo>
                  <a:cubicBezTo>
                    <a:pt x="256" y="173"/>
                    <a:pt x="256" y="173"/>
                    <a:pt x="256" y="173"/>
                  </a:cubicBezTo>
                  <a:cubicBezTo>
                    <a:pt x="262" y="173"/>
                    <a:pt x="266" y="168"/>
                    <a:pt x="266" y="162"/>
                  </a:cubicBezTo>
                  <a:cubicBezTo>
                    <a:pt x="266" y="156"/>
                    <a:pt x="262" y="152"/>
                    <a:pt x="256" y="152"/>
                  </a:cubicBezTo>
                  <a:cubicBezTo>
                    <a:pt x="246" y="152"/>
                    <a:pt x="246" y="152"/>
                    <a:pt x="246" y="152"/>
                  </a:cubicBezTo>
                  <a:cubicBezTo>
                    <a:pt x="248" y="151"/>
                    <a:pt x="249" y="148"/>
                    <a:pt x="249" y="146"/>
                  </a:cubicBezTo>
                  <a:cubicBezTo>
                    <a:pt x="249" y="143"/>
                    <a:pt x="248" y="141"/>
                    <a:pt x="246" y="139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62" y="139"/>
                    <a:pt x="266" y="135"/>
                    <a:pt x="266" y="129"/>
                  </a:cubicBezTo>
                  <a:cubicBezTo>
                    <a:pt x="266" y="126"/>
                    <a:pt x="265" y="125"/>
                    <a:pt x="263" y="122"/>
                  </a:cubicBezTo>
                  <a:cubicBezTo>
                    <a:pt x="265" y="122"/>
                    <a:pt x="265" y="122"/>
                    <a:pt x="265" y="122"/>
                  </a:cubicBezTo>
                  <a:cubicBezTo>
                    <a:pt x="270" y="122"/>
                    <a:pt x="275" y="118"/>
                    <a:pt x="275" y="112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9BB9FE"/>
              </a:solidFill>
            </a:ln>
          </p:spPr>
          <p:txBody>
            <a:bodyPr wrap="none" anchor="ctr"/>
            <a:lstStyle/>
            <a:p>
              <a:endParaRPr lang="en-US" sz="700">
                <a:latin typeface="+mn-ea"/>
              </a:endParaRPr>
            </a:p>
          </p:txBody>
        </p:sp>
      </p:grpSp>
      <p:sp>
        <p:nvSpPr>
          <p:cNvPr id="113" name="Rectangle 86"/>
          <p:cNvSpPr/>
          <p:nvPr/>
        </p:nvSpPr>
        <p:spPr>
          <a:xfrm>
            <a:off x="628446" y="5885542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Native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Columnar Storage</a:t>
            </a:r>
          </a:p>
        </p:txBody>
      </p:sp>
      <p:sp>
        <p:nvSpPr>
          <p:cNvPr id="114" name="Rectangle 89"/>
          <p:cNvSpPr/>
          <p:nvPr/>
        </p:nvSpPr>
        <p:spPr>
          <a:xfrm>
            <a:off x="4126046" y="5885542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Compression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/Encoding</a:t>
            </a:r>
          </a:p>
        </p:txBody>
      </p:sp>
      <p:sp>
        <p:nvSpPr>
          <p:cNvPr id="115" name="Rectangle 105"/>
          <p:cNvSpPr/>
          <p:nvPr/>
        </p:nvSpPr>
        <p:spPr>
          <a:xfrm>
            <a:off x="7304675" y="5867401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Projections</a:t>
            </a:r>
          </a:p>
        </p:txBody>
      </p:sp>
      <p:sp>
        <p:nvSpPr>
          <p:cNvPr id="116" name="object 10"/>
          <p:cNvSpPr txBox="1"/>
          <p:nvPr/>
        </p:nvSpPr>
        <p:spPr>
          <a:xfrm>
            <a:off x="21772" y="6275247"/>
            <a:ext cx="2808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spc="-70" dirty="0" smtClean="0">
                <a:latin typeface="+mn-ea"/>
                <a:cs typeface="맑은 고딕"/>
              </a:rPr>
              <a:t>필요한 </a:t>
            </a:r>
            <a:r>
              <a:rPr lang="ko-KR" altLang="en-US" sz="1000" spc="-70" dirty="0">
                <a:latin typeface="+mn-ea"/>
                <a:cs typeface="맑은 고딕"/>
              </a:rPr>
              <a:t>컬럼만을 조회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하여 </a:t>
            </a:r>
            <a:r>
              <a:rPr lang="ko-KR" altLang="en-US" sz="1000" dirty="0" smtClean="0">
                <a:latin typeface="+mn-ea"/>
                <a:cs typeface="Pretendard Variable Medium" panose="02000003000000020004" pitchFamily="2" charset="-127"/>
              </a:rPr>
              <a:t>빠른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쿼리 성능 보장</a:t>
            </a:r>
            <a:endParaRPr sz="1000" dirty="0">
              <a:latin typeface="+mn-ea"/>
              <a:cs typeface="맑은 고딕"/>
            </a:endParaRPr>
          </a:p>
        </p:txBody>
      </p:sp>
      <p:sp>
        <p:nvSpPr>
          <p:cNvPr id="117" name="object 10"/>
          <p:cNvSpPr txBox="1"/>
          <p:nvPr/>
        </p:nvSpPr>
        <p:spPr>
          <a:xfrm>
            <a:off x="3519372" y="6318791"/>
            <a:ext cx="28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spc="-330" dirty="0" smtClean="0">
                <a:latin typeface="+mn-ea"/>
                <a:cs typeface="Courier New"/>
              </a:rPr>
              <a:t> </a:t>
            </a:r>
            <a:r>
              <a:rPr lang="en-US" altLang="ko-KR" sz="1000" dirty="0">
                <a:latin typeface="+mn-ea"/>
                <a:cs typeface="Pretendard Variable Medium" panose="02000003000000020004" pitchFamily="2" charset="-127"/>
              </a:rPr>
              <a:t>Disk </a:t>
            </a:r>
            <a:r>
              <a:rPr lang="en-US" altLang="ko-KR" sz="1000" spc="-70" dirty="0">
                <a:latin typeface="+mn-ea"/>
                <a:cs typeface="맑은 고딕"/>
              </a:rPr>
              <a:t>I/O </a:t>
            </a:r>
            <a:r>
              <a:rPr lang="ko-KR" altLang="en-US" sz="1000" spc="-70" dirty="0">
                <a:latin typeface="+mn-ea"/>
                <a:cs typeface="맑은 고딕"/>
              </a:rPr>
              <a:t>비용을 최소화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하는</a:t>
            </a:r>
            <a:r>
              <a:rPr lang="ko-KR" altLang="en-US" sz="1000" spc="-70" dirty="0">
                <a:latin typeface="+mn-ea"/>
                <a:cs typeface="맑은 고딕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동시에 성능을 가속화</a:t>
            </a:r>
            <a:endParaRPr lang="en-US" altLang="ko-KR" sz="100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118" name="object 10"/>
          <p:cNvSpPr txBox="1"/>
          <p:nvPr/>
        </p:nvSpPr>
        <p:spPr>
          <a:xfrm>
            <a:off x="6717001" y="6322420"/>
            <a:ext cx="28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latin typeface="+mn-ea"/>
                <a:cs typeface="Pretendard Variable Medium" panose="02000003000000020004" pitchFamily="2" charset="-127"/>
              </a:rPr>
              <a:t>노드</a:t>
            </a:r>
            <a:r>
              <a:rPr lang="ko-KR" altLang="en-US" sz="1000" dirty="0" smtClean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장애 대처와 </a:t>
            </a:r>
            <a:r>
              <a:rPr lang="ko-KR" altLang="en-US" sz="1000" spc="-70" dirty="0">
                <a:latin typeface="+mn-ea"/>
                <a:cs typeface="맑은 고딕"/>
              </a:rPr>
              <a:t>쿼리 성능을 담보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하기</a:t>
            </a:r>
            <a:r>
              <a:rPr lang="ko-KR" altLang="en-US" sz="1000" spc="-70" dirty="0">
                <a:latin typeface="+mn-ea"/>
                <a:cs typeface="맑은 고딕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위한 최적화 방안 제공</a:t>
            </a:r>
            <a:endParaRPr lang="en-US" altLang="ko-KR" sz="100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541459" y="6700537"/>
            <a:ext cx="1188000" cy="1188000"/>
            <a:chOff x="7541459" y="6700537"/>
            <a:chExt cx="1188000" cy="1188000"/>
          </a:xfrm>
        </p:grpSpPr>
        <p:sp>
          <p:nvSpPr>
            <p:cNvPr id="160" name="직사각형 159"/>
            <p:cNvSpPr/>
            <p:nvPr/>
          </p:nvSpPr>
          <p:spPr>
            <a:xfrm>
              <a:off x="7541459" y="6700537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9" name="Group 76"/>
            <p:cNvGrpSpPr>
              <a:grpSpLocks noChangeAspect="1"/>
            </p:cNvGrpSpPr>
            <p:nvPr/>
          </p:nvGrpSpPr>
          <p:grpSpPr>
            <a:xfrm>
              <a:off x="7583387" y="6811125"/>
              <a:ext cx="1117622" cy="972000"/>
              <a:chOff x="1392799" y="8552193"/>
              <a:chExt cx="285312" cy="263081"/>
            </a:xfrm>
            <a:solidFill>
              <a:srgbClr val="0078EF"/>
            </a:solidFill>
          </p:grpSpPr>
          <p:sp>
            <p:nvSpPr>
              <p:cNvPr id="120" name="Freeform 119"/>
              <p:cNvSpPr>
                <a:spLocks noChangeArrowheads="1"/>
              </p:cNvSpPr>
              <p:nvPr/>
            </p:nvSpPr>
            <p:spPr bwMode="auto">
              <a:xfrm>
                <a:off x="1392799" y="8642980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1" name="Freeform 120"/>
              <p:cNvSpPr>
                <a:spLocks noChangeArrowheads="1"/>
              </p:cNvSpPr>
              <p:nvPr/>
            </p:nvSpPr>
            <p:spPr bwMode="auto">
              <a:xfrm>
                <a:off x="1624383" y="8657801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2" name="Freeform 121"/>
              <p:cNvSpPr>
                <a:spLocks noChangeArrowheads="1"/>
              </p:cNvSpPr>
              <p:nvPr/>
            </p:nvSpPr>
            <p:spPr bwMode="auto">
              <a:xfrm>
                <a:off x="1596595" y="8552193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3" name="Freeform 122"/>
              <p:cNvSpPr>
                <a:spLocks noChangeArrowheads="1"/>
              </p:cNvSpPr>
              <p:nvPr/>
            </p:nvSpPr>
            <p:spPr bwMode="auto">
              <a:xfrm>
                <a:off x="1596596" y="8761546"/>
                <a:ext cx="53727" cy="53728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4" name="Freeform 123"/>
              <p:cNvSpPr>
                <a:spLocks noChangeArrowheads="1"/>
              </p:cNvSpPr>
              <p:nvPr/>
            </p:nvSpPr>
            <p:spPr bwMode="auto">
              <a:xfrm>
                <a:off x="1483582" y="8705968"/>
                <a:ext cx="101898" cy="62991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5" name="Freeform 124"/>
              <p:cNvSpPr>
                <a:spLocks noChangeArrowheads="1"/>
              </p:cNvSpPr>
              <p:nvPr/>
            </p:nvSpPr>
            <p:spPr bwMode="auto">
              <a:xfrm>
                <a:off x="1485437" y="8598519"/>
                <a:ext cx="103750" cy="61139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26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</p:grpSp>
      </p:grpSp>
      <p:sp>
        <p:nvSpPr>
          <p:cNvPr id="127" name="Rectangle 99"/>
          <p:cNvSpPr/>
          <p:nvPr/>
        </p:nvSpPr>
        <p:spPr>
          <a:xfrm>
            <a:off x="7310485" y="7915345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+mn-ea"/>
              </a:rPr>
              <a:t>MPP Scale-out</a:t>
            </a:r>
          </a:p>
        </p:txBody>
      </p:sp>
      <p:sp>
        <p:nvSpPr>
          <p:cNvPr id="128" name="Rectangle 102"/>
          <p:cNvSpPr/>
          <p:nvPr/>
        </p:nvSpPr>
        <p:spPr>
          <a:xfrm>
            <a:off x="598560" y="7915345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+mn-ea"/>
              </a:rPr>
              <a:t>Distributed Query  </a:t>
            </a:r>
          </a:p>
        </p:txBody>
      </p:sp>
      <p:sp>
        <p:nvSpPr>
          <p:cNvPr id="129" name="object 10"/>
          <p:cNvSpPr txBox="1"/>
          <p:nvPr/>
        </p:nvSpPr>
        <p:spPr>
          <a:xfrm>
            <a:off x="6534203" y="8300243"/>
            <a:ext cx="2988496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Name 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node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와 같은 </a:t>
            </a:r>
            <a:r>
              <a:rPr lang="en-US" altLang="ko-KR" sz="900" spc="-70" dirty="0">
                <a:latin typeface="+mn-ea"/>
                <a:cs typeface="맑은 고딕"/>
              </a:rPr>
              <a:t>Single point of failure</a:t>
            </a:r>
            <a:r>
              <a:rPr lang="ko-KR" altLang="en-US" sz="900" spc="-70" dirty="0">
                <a:latin typeface="+mn-ea"/>
                <a:cs typeface="맑은 고딕"/>
              </a:rPr>
              <a:t>를 제거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한</a:t>
            </a:r>
            <a:r>
              <a:rPr lang="ko-KR" altLang="en-US" sz="900" spc="-70" dirty="0">
                <a:latin typeface="+mn-ea"/>
                <a:cs typeface="맑은 고딕"/>
              </a:rPr>
              <a:t>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순수 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MPP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아키텍처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/>
            </a:r>
            <a:br>
              <a:rPr lang="en-US" altLang="ko-KR" sz="900" dirty="0">
                <a:latin typeface="+mn-ea"/>
                <a:cs typeface="Pretendard Variable Medium" panose="02000003000000020004" pitchFamily="2" charset="-127"/>
              </a:rPr>
            </a:b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(</a:t>
            </a:r>
            <a:r>
              <a:rPr lang="en-US" altLang="ko-KR" sz="900" i="0" dirty="0">
                <a:effectLst/>
                <a:latin typeface="+mn-ea"/>
              </a:rPr>
              <a:t>Massively Parallel Processing)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Exabyte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수준의 </a:t>
            </a:r>
            <a:r>
              <a:rPr lang="ko-KR" altLang="en-US" sz="900" dirty="0" err="1">
                <a:latin typeface="+mn-ea"/>
                <a:cs typeface="Pretendard Variable Medium" panose="02000003000000020004" pitchFamily="2" charset="-127"/>
              </a:rPr>
              <a:t>확장성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제공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130" name="object 10"/>
          <p:cNvSpPr txBox="1"/>
          <p:nvPr/>
        </p:nvSpPr>
        <p:spPr>
          <a:xfrm>
            <a:off x="48104" y="8300243"/>
            <a:ext cx="2944953" cy="179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특정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노드에 대한 종속성이 없는 </a:t>
            </a:r>
            <a:r>
              <a:rPr lang="ko-KR" altLang="en-US" sz="900" spc="-70" dirty="0">
                <a:latin typeface="+mn-ea"/>
                <a:cs typeface="맑은 고딕"/>
              </a:rPr>
              <a:t>분산 쿼리 수행</a:t>
            </a:r>
            <a:endParaRPr lang="en-US" altLang="ko-KR" sz="900" spc="-70" dirty="0">
              <a:latin typeface="+mn-ea"/>
              <a:cs typeface="맑은 고딕"/>
            </a:endParaRPr>
          </a:p>
        </p:txBody>
      </p:sp>
      <p:sp>
        <p:nvSpPr>
          <p:cNvPr id="147" name="Rectangle 99"/>
          <p:cNvSpPr/>
          <p:nvPr/>
        </p:nvSpPr>
        <p:spPr>
          <a:xfrm>
            <a:off x="4131856" y="7915345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 smtClean="0">
                <a:solidFill>
                  <a:schemeClr val="bg1"/>
                </a:solidFill>
                <a:latin typeface="+mn-ea"/>
              </a:rPr>
              <a:t>MCP</a:t>
            </a:r>
            <a:r>
              <a:rPr 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050" b="1" dirty="0" err="1" smtClean="0">
                <a:solidFill>
                  <a:schemeClr val="bg1"/>
                </a:solidFill>
                <a:latin typeface="+mn-ea"/>
              </a:rPr>
              <a:t>Intergration</a:t>
            </a:r>
            <a:endParaRPr 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8" name="object 10"/>
          <p:cNvSpPr txBox="1"/>
          <p:nvPr/>
        </p:nvSpPr>
        <p:spPr>
          <a:xfrm>
            <a:off x="3363687" y="8300243"/>
            <a:ext cx="2988496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MCP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기반 자연어 질의 지원으로 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SQL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에 익숙하지 않은 사용자도 데이터 분석가능</a:t>
            </a:r>
            <a:endParaRPr lang="en-US" altLang="ko-KR" sz="900" dirty="0" smtClean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이미지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/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비정형 데이터에 대한 고차원 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Vector Search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기능으로 유사도 기반 고속 검색 및 분석 가능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286630" y="6667881"/>
            <a:ext cx="1204789" cy="1249407"/>
            <a:chOff x="4286630" y="6667881"/>
            <a:chExt cx="1204789" cy="1249407"/>
          </a:xfrm>
        </p:grpSpPr>
        <p:sp>
          <p:nvSpPr>
            <p:cNvPr id="159" name="직사각형 158"/>
            <p:cNvSpPr/>
            <p:nvPr/>
          </p:nvSpPr>
          <p:spPr>
            <a:xfrm>
              <a:off x="4286630" y="6667881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9" name="그룹 148"/>
            <p:cNvGrpSpPr/>
            <p:nvPr/>
          </p:nvGrpSpPr>
          <p:grpSpPr>
            <a:xfrm>
              <a:off x="4358017" y="6765289"/>
              <a:ext cx="1133402" cy="1151999"/>
              <a:chOff x="7591251" y="4865071"/>
              <a:chExt cx="1300952" cy="1045582"/>
            </a:xfrm>
          </p:grpSpPr>
          <p:grpSp>
            <p:nvGrpSpPr>
              <p:cNvPr id="150" name="그룹 149"/>
              <p:cNvGrpSpPr/>
              <p:nvPr/>
            </p:nvGrpSpPr>
            <p:grpSpPr>
              <a:xfrm>
                <a:off x="7591251" y="4865071"/>
                <a:ext cx="1093175" cy="745481"/>
                <a:chOff x="7432430" y="4888525"/>
                <a:chExt cx="858084" cy="546833"/>
              </a:xfrm>
            </p:grpSpPr>
            <p:sp>
              <p:nvSpPr>
                <p:cNvPr id="155" name="모서리가 둥근 사각형 설명선 154"/>
                <p:cNvSpPr/>
                <p:nvPr/>
              </p:nvSpPr>
              <p:spPr>
                <a:xfrm>
                  <a:off x="7432430" y="4888525"/>
                  <a:ext cx="836425" cy="518306"/>
                </a:xfrm>
                <a:prstGeom prst="wedgeRoundRectCallout">
                  <a:avLst>
                    <a:gd name="adj1" fmla="val -35162"/>
                    <a:gd name="adj2" fmla="val 77557"/>
                    <a:gd name="adj3" fmla="val 16667"/>
                  </a:avLst>
                </a:prstGeom>
                <a:noFill/>
                <a:ln w="28575">
                  <a:solidFill>
                    <a:srgbClr val="9BB9F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>
                    <a:lnSpc>
                      <a:spcPct val="30000"/>
                    </a:lnSpc>
                  </a:pPr>
                  <a:endParaRPr lang="en-US" altLang="ko-KR" sz="1800" b="1" dirty="0">
                    <a:solidFill>
                      <a:srgbClr val="9BB9FE"/>
                    </a:solidFill>
                  </a:endParaRPr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7434730" y="4943578"/>
                  <a:ext cx="855784" cy="49178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 anchor="b">
                  <a:spAutoFit/>
                </a:bodyPr>
                <a:lstStyle/>
                <a:p>
                  <a:pPr algn="ctr">
                    <a:lnSpc>
                      <a:spcPct val="30000"/>
                    </a:lnSpc>
                  </a:pPr>
                  <a:r>
                    <a:rPr lang="en-US" altLang="ko-KR" sz="2800" b="1" dirty="0">
                      <a:solidFill>
                        <a:srgbClr val="9BB9FE"/>
                      </a:solidFill>
                    </a:rPr>
                    <a:t>------</a:t>
                  </a:r>
                  <a:endParaRPr lang="en-US" altLang="ko-KR" sz="2800" b="1" dirty="0" smtClean="0">
                    <a:solidFill>
                      <a:srgbClr val="9BB9FE"/>
                    </a:solidFill>
                  </a:endParaRPr>
                </a:p>
                <a:p>
                  <a:pPr algn="ctr">
                    <a:lnSpc>
                      <a:spcPct val="30000"/>
                    </a:lnSpc>
                  </a:pPr>
                  <a:r>
                    <a:rPr lang="en-US" altLang="ko-KR" sz="2800" b="1" dirty="0" smtClean="0">
                      <a:solidFill>
                        <a:srgbClr val="9BB9FE"/>
                      </a:solidFill>
                    </a:rPr>
                    <a:t>----</a:t>
                  </a:r>
                  <a:r>
                    <a:rPr lang="en-US" altLang="ko-KR" sz="2800" b="1" dirty="0">
                      <a:solidFill>
                        <a:srgbClr val="9BB9FE"/>
                      </a:solidFill>
                    </a:rPr>
                    <a:t>-</a:t>
                  </a:r>
                  <a:r>
                    <a:rPr lang="en-US" altLang="ko-KR" sz="2800" b="1" dirty="0" smtClean="0">
                      <a:solidFill>
                        <a:srgbClr val="9BB9FE"/>
                      </a:solidFill>
                    </a:rPr>
                    <a:t>-</a:t>
                  </a:r>
                  <a:endParaRPr lang="en-US" altLang="ko-KR" sz="2800" b="1" dirty="0">
                    <a:solidFill>
                      <a:srgbClr val="9BB9FE"/>
                    </a:solidFill>
                  </a:endParaRPr>
                </a:p>
                <a:p>
                  <a:pPr algn="ctr">
                    <a:lnSpc>
                      <a:spcPct val="30000"/>
                    </a:lnSpc>
                  </a:pPr>
                  <a:r>
                    <a:rPr lang="en-US" altLang="ko-KR" sz="2800" b="1" dirty="0" smtClean="0">
                      <a:solidFill>
                        <a:srgbClr val="9BB9FE"/>
                      </a:solidFill>
                    </a:rPr>
                    <a:t>----</a:t>
                  </a:r>
                  <a:r>
                    <a:rPr lang="en-US" altLang="ko-KR" sz="2800" b="1" dirty="0">
                      <a:solidFill>
                        <a:srgbClr val="9BB9FE"/>
                      </a:solidFill>
                    </a:rPr>
                    <a:t>-</a:t>
                  </a:r>
                  <a:r>
                    <a:rPr lang="en-US" altLang="ko-KR" sz="2800" b="1" dirty="0" smtClean="0">
                      <a:solidFill>
                        <a:srgbClr val="9BB9FE"/>
                      </a:solidFill>
                    </a:rPr>
                    <a:t>-</a:t>
                  </a:r>
                  <a:endParaRPr lang="en-US" altLang="ko-KR" sz="2800" b="1" dirty="0">
                    <a:solidFill>
                      <a:srgbClr val="9BB9FE"/>
                    </a:solidFill>
                  </a:endParaRPr>
                </a:p>
                <a:p>
                  <a:pPr algn="ctr">
                    <a:lnSpc>
                      <a:spcPct val="30000"/>
                    </a:lnSpc>
                  </a:pPr>
                  <a:r>
                    <a:rPr lang="en-US" altLang="ko-KR" sz="2800" b="1" dirty="0">
                      <a:solidFill>
                        <a:srgbClr val="9BB9FE"/>
                      </a:solidFill>
                    </a:rPr>
                    <a:t>------</a:t>
                  </a:r>
                </a:p>
                <a:p>
                  <a:pPr algn="ctr">
                    <a:lnSpc>
                      <a:spcPct val="30000"/>
                    </a:lnSpc>
                  </a:pPr>
                  <a:r>
                    <a:rPr lang="en-US" altLang="ko-KR" sz="2800" b="1" dirty="0">
                      <a:solidFill>
                        <a:srgbClr val="9BB9FE"/>
                      </a:solidFill>
                    </a:rPr>
                    <a:t>------</a:t>
                  </a:r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8172450" y="5175250"/>
                <a:ext cx="719753" cy="735403"/>
                <a:chOff x="8229600" y="5207000"/>
                <a:chExt cx="719753" cy="735403"/>
              </a:xfrm>
            </p:grpSpPr>
            <p:sp>
              <p:nvSpPr>
                <p:cNvPr id="152" name="뺄셈 기호 151"/>
                <p:cNvSpPr/>
                <p:nvPr/>
              </p:nvSpPr>
              <p:spPr>
                <a:xfrm rot="2468983">
                  <a:off x="8514037" y="5539715"/>
                  <a:ext cx="435316" cy="402688"/>
                </a:xfrm>
                <a:prstGeom prst="mathMinus">
                  <a:avLst/>
                </a:prstGeom>
                <a:solidFill>
                  <a:schemeClr val="bg1"/>
                </a:solidFill>
                <a:ln w="28575">
                  <a:solidFill>
                    <a:srgbClr val="9BB9F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53" name="타원 152"/>
                <p:cNvSpPr/>
                <p:nvPr/>
              </p:nvSpPr>
              <p:spPr>
                <a:xfrm>
                  <a:off x="8229600" y="5207000"/>
                  <a:ext cx="543600" cy="5400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9BB9F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54" name="타원 153"/>
                <p:cNvSpPr/>
                <p:nvPr/>
              </p:nvSpPr>
              <p:spPr>
                <a:xfrm>
                  <a:off x="8306687" y="5277100"/>
                  <a:ext cx="396000" cy="3960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9BB9F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</p:grpSp>
      <p:grpSp>
        <p:nvGrpSpPr>
          <p:cNvPr id="26" name="그룹 25"/>
          <p:cNvGrpSpPr/>
          <p:nvPr/>
        </p:nvGrpSpPr>
        <p:grpSpPr>
          <a:xfrm>
            <a:off x="778709" y="6633862"/>
            <a:ext cx="1188000" cy="1188000"/>
            <a:chOff x="778709" y="6633862"/>
            <a:chExt cx="1188000" cy="1188000"/>
          </a:xfrm>
        </p:grpSpPr>
        <p:sp>
          <p:nvSpPr>
            <p:cNvPr id="161" name="직사각형 160"/>
            <p:cNvSpPr/>
            <p:nvPr/>
          </p:nvSpPr>
          <p:spPr>
            <a:xfrm rot="16200000">
              <a:off x="778709" y="663386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Group 76"/>
            <p:cNvGrpSpPr>
              <a:grpSpLocks noChangeAspect="1"/>
            </p:cNvGrpSpPr>
            <p:nvPr/>
          </p:nvGrpSpPr>
          <p:grpSpPr>
            <a:xfrm rot="16200000">
              <a:off x="813957" y="6663569"/>
              <a:ext cx="1117622" cy="1136312"/>
              <a:chOff x="1392799" y="8530710"/>
              <a:chExt cx="285312" cy="307553"/>
            </a:xfrm>
            <a:solidFill>
              <a:srgbClr val="0078EF"/>
            </a:solidFill>
          </p:grpSpPr>
          <p:sp>
            <p:nvSpPr>
              <p:cNvPr id="163" name="Freeform 119"/>
              <p:cNvSpPr>
                <a:spLocks noChangeArrowheads="1"/>
              </p:cNvSpPr>
              <p:nvPr/>
            </p:nvSpPr>
            <p:spPr bwMode="auto">
              <a:xfrm>
                <a:off x="1392799" y="8642980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4" name="Freeform 120"/>
              <p:cNvSpPr>
                <a:spLocks noChangeArrowheads="1"/>
              </p:cNvSpPr>
              <p:nvPr/>
            </p:nvSpPr>
            <p:spPr bwMode="auto">
              <a:xfrm>
                <a:off x="1624383" y="8657801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5" name="Freeform 121"/>
              <p:cNvSpPr>
                <a:spLocks noChangeArrowheads="1"/>
              </p:cNvSpPr>
              <p:nvPr/>
            </p:nvSpPr>
            <p:spPr bwMode="auto">
              <a:xfrm>
                <a:off x="1580181" y="8530710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6" name="Freeform 122"/>
              <p:cNvSpPr>
                <a:spLocks noChangeArrowheads="1"/>
              </p:cNvSpPr>
              <p:nvPr/>
            </p:nvSpPr>
            <p:spPr bwMode="auto">
              <a:xfrm>
                <a:off x="1577957" y="8784535"/>
                <a:ext cx="53727" cy="53728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7" name="Freeform 123"/>
              <p:cNvSpPr>
                <a:spLocks noChangeArrowheads="1"/>
              </p:cNvSpPr>
              <p:nvPr/>
            </p:nvSpPr>
            <p:spPr bwMode="auto">
              <a:xfrm rot="373208">
                <a:off x="1473047" y="8724656"/>
                <a:ext cx="101898" cy="62991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8" name="Freeform 124"/>
              <p:cNvSpPr>
                <a:spLocks noChangeArrowheads="1"/>
              </p:cNvSpPr>
              <p:nvPr/>
            </p:nvSpPr>
            <p:spPr bwMode="auto">
              <a:xfrm rot="21433045">
                <a:off x="1472469" y="8578542"/>
                <a:ext cx="103750" cy="61139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  <p:sp>
            <p:nvSpPr>
              <p:cNvPr id="169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+mn-ea"/>
                </a:endParaRPr>
              </a:p>
            </p:txBody>
          </p:sp>
        </p:grpSp>
      </p:grpSp>
      <p:grpSp>
        <p:nvGrpSpPr>
          <p:cNvPr id="20" name="그룹 19"/>
          <p:cNvGrpSpPr/>
          <p:nvPr/>
        </p:nvGrpSpPr>
        <p:grpSpPr>
          <a:xfrm>
            <a:off x="864326" y="4673235"/>
            <a:ext cx="1188000" cy="1188000"/>
            <a:chOff x="864326" y="4673235"/>
            <a:chExt cx="1188000" cy="1188000"/>
          </a:xfrm>
        </p:grpSpPr>
        <p:sp>
          <p:nvSpPr>
            <p:cNvPr id="86" name="직사각형 85"/>
            <p:cNvSpPr/>
            <p:nvPr/>
          </p:nvSpPr>
          <p:spPr>
            <a:xfrm>
              <a:off x="864326" y="4673235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924719" y="4715669"/>
              <a:ext cx="1086975" cy="1116000"/>
              <a:chOff x="924719" y="4715669"/>
              <a:chExt cx="1086975" cy="1116000"/>
            </a:xfrm>
          </p:grpSpPr>
          <p:grpSp>
            <p:nvGrpSpPr>
              <p:cNvPr id="14" name="그룹 13"/>
              <p:cNvGrpSpPr/>
              <p:nvPr/>
            </p:nvGrpSpPr>
            <p:grpSpPr>
              <a:xfrm>
                <a:off x="924719" y="4715669"/>
                <a:ext cx="144000" cy="1116000"/>
                <a:chOff x="631031" y="4785519"/>
                <a:chExt cx="132556" cy="1012030"/>
              </a:xfrm>
            </p:grpSpPr>
            <p:sp>
              <p:nvSpPr>
                <p:cNvPr id="5" name="직사각형 4"/>
                <p:cNvSpPr/>
                <p:nvPr/>
              </p:nvSpPr>
              <p:spPr>
                <a:xfrm>
                  <a:off x="631031" y="4785519"/>
                  <a:ext cx="132556" cy="183356"/>
                </a:xfrm>
                <a:prstGeom prst="rect">
                  <a:avLst/>
                </a:prstGeom>
                <a:solidFill>
                  <a:srgbClr val="D6DC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1" name="직사각형 170"/>
                <p:cNvSpPr/>
                <p:nvPr/>
              </p:nvSpPr>
              <p:spPr>
                <a:xfrm>
                  <a:off x="631031" y="4983163"/>
                  <a:ext cx="132556" cy="192881"/>
                </a:xfrm>
                <a:prstGeom prst="rect">
                  <a:avLst/>
                </a:prstGeom>
                <a:solidFill>
                  <a:srgbClr val="D6DC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2" name="직사각형 171"/>
                <p:cNvSpPr/>
                <p:nvPr/>
              </p:nvSpPr>
              <p:spPr>
                <a:xfrm>
                  <a:off x="631031" y="5190332"/>
                  <a:ext cx="132556" cy="192881"/>
                </a:xfrm>
                <a:prstGeom prst="rect">
                  <a:avLst/>
                </a:prstGeom>
                <a:solidFill>
                  <a:srgbClr val="D6DC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3" name="직사각형 172"/>
                <p:cNvSpPr/>
                <p:nvPr/>
              </p:nvSpPr>
              <p:spPr>
                <a:xfrm>
                  <a:off x="631031" y="5397500"/>
                  <a:ext cx="132556" cy="192881"/>
                </a:xfrm>
                <a:prstGeom prst="rect">
                  <a:avLst/>
                </a:prstGeom>
                <a:solidFill>
                  <a:srgbClr val="D6DC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4" name="직사각형 173"/>
                <p:cNvSpPr/>
                <p:nvPr/>
              </p:nvSpPr>
              <p:spPr>
                <a:xfrm>
                  <a:off x="631031" y="5604668"/>
                  <a:ext cx="132556" cy="192881"/>
                </a:xfrm>
                <a:prstGeom prst="rect">
                  <a:avLst/>
                </a:prstGeom>
                <a:solidFill>
                  <a:srgbClr val="D6DC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75" name="그룹 174"/>
              <p:cNvGrpSpPr/>
              <p:nvPr/>
            </p:nvGrpSpPr>
            <p:grpSpPr>
              <a:xfrm>
                <a:off x="1160463" y="4715669"/>
                <a:ext cx="144000" cy="1116000"/>
                <a:chOff x="631031" y="4785519"/>
                <a:chExt cx="132556" cy="1012030"/>
              </a:xfrm>
              <a:solidFill>
                <a:srgbClr val="ED7D31"/>
              </a:solidFill>
            </p:grpSpPr>
            <p:sp>
              <p:nvSpPr>
                <p:cNvPr id="176" name="직사각형 175"/>
                <p:cNvSpPr/>
                <p:nvPr/>
              </p:nvSpPr>
              <p:spPr>
                <a:xfrm>
                  <a:off x="631031" y="4785519"/>
                  <a:ext cx="132556" cy="18335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7" name="직사각형 176"/>
                <p:cNvSpPr/>
                <p:nvPr/>
              </p:nvSpPr>
              <p:spPr>
                <a:xfrm>
                  <a:off x="631031" y="4983163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8" name="직사각형 177"/>
                <p:cNvSpPr/>
                <p:nvPr/>
              </p:nvSpPr>
              <p:spPr>
                <a:xfrm>
                  <a:off x="631031" y="5190332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9" name="직사각형 178"/>
                <p:cNvSpPr/>
                <p:nvPr/>
              </p:nvSpPr>
              <p:spPr>
                <a:xfrm>
                  <a:off x="631031" y="5397500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0" name="직사각형 179"/>
                <p:cNvSpPr/>
                <p:nvPr/>
              </p:nvSpPr>
              <p:spPr>
                <a:xfrm>
                  <a:off x="631031" y="5604668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81" name="그룹 180"/>
              <p:cNvGrpSpPr/>
              <p:nvPr/>
            </p:nvGrpSpPr>
            <p:grpSpPr>
              <a:xfrm>
                <a:off x="1396207" y="4715669"/>
                <a:ext cx="144000" cy="1116000"/>
                <a:chOff x="631031" y="4785519"/>
                <a:chExt cx="132556" cy="1012030"/>
              </a:xfrm>
              <a:solidFill>
                <a:srgbClr val="333F50"/>
              </a:solidFill>
            </p:grpSpPr>
            <p:sp>
              <p:nvSpPr>
                <p:cNvPr id="182" name="직사각형 181"/>
                <p:cNvSpPr/>
                <p:nvPr/>
              </p:nvSpPr>
              <p:spPr>
                <a:xfrm>
                  <a:off x="631031" y="4785519"/>
                  <a:ext cx="132556" cy="18335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3" name="직사각형 182"/>
                <p:cNvSpPr/>
                <p:nvPr/>
              </p:nvSpPr>
              <p:spPr>
                <a:xfrm>
                  <a:off x="631031" y="4983163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4" name="직사각형 183"/>
                <p:cNvSpPr/>
                <p:nvPr/>
              </p:nvSpPr>
              <p:spPr>
                <a:xfrm>
                  <a:off x="631031" y="5190332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5" name="직사각형 184"/>
                <p:cNvSpPr/>
                <p:nvPr/>
              </p:nvSpPr>
              <p:spPr>
                <a:xfrm>
                  <a:off x="631031" y="5397500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6" name="직사각형 185"/>
                <p:cNvSpPr/>
                <p:nvPr/>
              </p:nvSpPr>
              <p:spPr>
                <a:xfrm>
                  <a:off x="631031" y="5604668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87" name="그룹 186"/>
              <p:cNvGrpSpPr/>
              <p:nvPr/>
            </p:nvGrpSpPr>
            <p:grpSpPr>
              <a:xfrm>
                <a:off x="1867694" y="4715669"/>
                <a:ext cx="144000" cy="1116000"/>
                <a:chOff x="631031" y="4785519"/>
                <a:chExt cx="132556" cy="1012030"/>
              </a:xfrm>
              <a:solidFill>
                <a:srgbClr val="F8CBAD"/>
              </a:solidFill>
            </p:grpSpPr>
            <p:sp>
              <p:nvSpPr>
                <p:cNvPr id="188" name="직사각형 187"/>
                <p:cNvSpPr/>
                <p:nvPr/>
              </p:nvSpPr>
              <p:spPr>
                <a:xfrm>
                  <a:off x="631031" y="4785519"/>
                  <a:ext cx="132556" cy="18335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9" name="직사각형 188"/>
                <p:cNvSpPr/>
                <p:nvPr/>
              </p:nvSpPr>
              <p:spPr>
                <a:xfrm>
                  <a:off x="631031" y="4983163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0" name="직사각형 189"/>
                <p:cNvSpPr/>
                <p:nvPr/>
              </p:nvSpPr>
              <p:spPr>
                <a:xfrm>
                  <a:off x="631031" y="5190332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1" name="직사각형 190"/>
                <p:cNvSpPr/>
                <p:nvPr/>
              </p:nvSpPr>
              <p:spPr>
                <a:xfrm>
                  <a:off x="631031" y="5397500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2" name="직사각형 191"/>
                <p:cNvSpPr/>
                <p:nvPr/>
              </p:nvSpPr>
              <p:spPr>
                <a:xfrm>
                  <a:off x="631031" y="5604668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3" name="그룹 192"/>
              <p:cNvGrpSpPr/>
              <p:nvPr/>
            </p:nvGrpSpPr>
            <p:grpSpPr>
              <a:xfrm>
                <a:off x="1631951" y="4715669"/>
                <a:ext cx="144000" cy="1116000"/>
                <a:chOff x="631031" y="4785519"/>
                <a:chExt cx="132556" cy="1012030"/>
              </a:xfrm>
              <a:solidFill>
                <a:srgbClr val="8497B0"/>
              </a:solidFill>
            </p:grpSpPr>
            <p:sp>
              <p:nvSpPr>
                <p:cNvPr id="194" name="직사각형 193"/>
                <p:cNvSpPr/>
                <p:nvPr/>
              </p:nvSpPr>
              <p:spPr>
                <a:xfrm>
                  <a:off x="631031" y="4785519"/>
                  <a:ext cx="132556" cy="18335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" name="직사각형 194"/>
                <p:cNvSpPr/>
                <p:nvPr/>
              </p:nvSpPr>
              <p:spPr>
                <a:xfrm>
                  <a:off x="631031" y="4983163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6" name="직사각형 195"/>
                <p:cNvSpPr/>
                <p:nvPr/>
              </p:nvSpPr>
              <p:spPr>
                <a:xfrm>
                  <a:off x="631031" y="5190332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7" name="직사각형 196"/>
                <p:cNvSpPr/>
                <p:nvPr/>
              </p:nvSpPr>
              <p:spPr>
                <a:xfrm>
                  <a:off x="631031" y="5397500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" name="직사각형 197"/>
                <p:cNvSpPr/>
                <p:nvPr/>
              </p:nvSpPr>
              <p:spPr>
                <a:xfrm>
                  <a:off x="631031" y="5604668"/>
                  <a:ext cx="132556" cy="19288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199" name="Straight Arrow Connector 96"/>
              <p:cNvCxnSpPr/>
              <p:nvPr/>
            </p:nvCxnSpPr>
            <p:spPr>
              <a:xfrm>
                <a:off x="998390" y="4749602"/>
                <a:ext cx="0" cy="1032159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4737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9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15" y="5730068"/>
            <a:ext cx="1912809" cy="719215"/>
          </a:xfrm>
          <a:prstGeom prst="rect">
            <a:avLst/>
          </a:prstGeom>
        </p:spPr>
      </p:pic>
      <p:pic>
        <p:nvPicPr>
          <p:cNvPr id="3" name="Picture 30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40" y="5628537"/>
            <a:ext cx="1613988" cy="922277"/>
          </a:xfrm>
          <a:prstGeom prst="rect">
            <a:avLst/>
          </a:prstGeom>
        </p:spPr>
      </p:pic>
      <p:pic>
        <p:nvPicPr>
          <p:cNvPr id="4" name="Picture 3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637" y="4772602"/>
            <a:ext cx="1610159" cy="10355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F25A3B3A-32C8-4401-A476-E8CCEB325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00" y="4808506"/>
            <a:ext cx="1292973" cy="96372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="" xmlns:a16="http://schemas.microsoft.com/office/drawing/2014/main" id="{051FB3A4-C7F9-45D0-A73B-557A6E1C4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743" y="5797256"/>
            <a:ext cx="2482895" cy="58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포트폴리오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01171" y="1028700"/>
            <a:ext cx="701148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컬럼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처리 및 선진 압축 기법 기반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최대 성능 및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보장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ML, Pattern Matching, Flex Tables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 다양한 고급 기능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80786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온프레미스부터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퍼블릭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프라이빗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클라우드까지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고객의 환경에 최적화된 다양한 배포 옵션을 제공합니다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8471" y="2159000"/>
            <a:ext cx="7011489" cy="107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in the Clouds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플랫폼으로의 빠른 전개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(BYOL)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AWS, Azure, Google,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Vmware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완벽 지원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유연한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기반 옵션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01171" y="3289300"/>
            <a:ext cx="7011489" cy="1181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Eon in the Clouds &amp;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Computing Node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Storage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완전 분리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Object Storage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기반의 무한한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Workload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 따른 유연한 증설 및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Multi-Cluster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구성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지원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2726" y="6671388"/>
            <a:ext cx="9393237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Public / Private Cloud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AWS Azure GCP </a:t>
            </a:r>
            <a:r>
              <a:rPr lang="en-US" altLang="ko-KR" sz="1400" dirty="0" err="1">
                <a:latin typeface="+mj-ea"/>
                <a:ea typeface="+mj-ea"/>
              </a:rPr>
              <a:t>Naver</a:t>
            </a:r>
            <a:r>
              <a:rPr lang="en-US" altLang="ko-KR" sz="1400" dirty="0">
                <a:latin typeface="+mj-ea"/>
                <a:ea typeface="+mj-ea"/>
              </a:rPr>
              <a:t> Cloud KT Cloud </a:t>
            </a:r>
            <a:r>
              <a:rPr lang="en-US" altLang="ko-KR" sz="1400" dirty="0" err="1">
                <a:latin typeface="+mj-ea"/>
                <a:ea typeface="+mj-ea"/>
              </a:rPr>
              <a:t>Kubernetes</a:t>
            </a:r>
            <a:r>
              <a:rPr lang="en-US" altLang="ko-KR" sz="1400" dirty="0">
                <a:latin typeface="+mj-ea"/>
                <a:ea typeface="+mj-ea"/>
              </a:rPr>
              <a:t> 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주요 </a:t>
            </a:r>
            <a:r>
              <a:rPr lang="en-US" altLang="ko-KR" sz="1400" dirty="0">
                <a:latin typeface="+mj-ea"/>
                <a:ea typeface="+mj-ea"/>
              </a:rPr>
              <a:t>Public cloud marketplace</a:t>
            </a:r>
            <a:r>
              <a:rPr lang="ko-KR" altLang="en-US" sz="1400" dirty="0">
                <a:latin typeface="+mj-ea"/>
                <a:ea typeface="+mj-ea"/>
              </a:rPr>
              <a:t>를 통한 수분 내 클러스터 </a:t>
            </a:r>
            <a:r>
              <a:rPr lang="ko-KR" altLang="en-US" sz="1400" dirty="0" err="1">
                <a:latin typeface="+mj-ea"/>
                <a:ea typeface="+mj-ea"/>
              </a:rPr>
              <a:t>프로비저닝</a:t>
            </a:r>
            <a:r>
              <a:rPr lang="ko-KR" altLang="en-US" sz="1400" dirty="0">
                <a:latin typeface="+mj-ea"/>
                <a:ea typeface="+mj-ea"/>
              </a:rPr>
              <a:t> 지원 및 </a:t>
            </a:r>
            <a:r>
              <a:rPr lang="en-US" altLang="ko-KR" sz="1400" dirty="0">
                <a:latin typeface="+mj-ea"/>
                <a:ea typeface="+mj-ea"/>
              </a:rPr>
              <a:t>Private cloud(K8s, 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r>
              <a:rPr lang="en-US" altLang="ko-KR" sz="1400" dirty="0">
                <a:latin typeface="+mj-ea"/>
                <a:ea typeface="+mj-ea"/>
              </a:rPr>
              <a:t>) </a:t>
            </a:r>
            <a:r>
              <a:rPr lang="ko-KR" altLang="en-US" sz="1400" dirty="0">
                <a:latin typeface="+mj-ea"/>
                <a:ea typeface="+mj-ea"/>
              </a:rPr>
              <a:t>기반의 </a:t>
            </a:r>
            <a:r>
              <a:rPr lang="en-US" altLang="ko-KR" sz="1400" dirty="0">
                <a:latin typeface="+mj-ea"/>
                <a:ea typeface="+mj-ea"/>
              </a:rPr>
              <a:t>DW </a:t>
            </a:r>
            <a:r>
              <a:rPr lang="ko-KR" altLang="en-US" sz="1400" dirty="0">
                <a:latin typeface="+mj-ea"/>
                <a:ea typeface="+mj-ea"/>
              </a:rPr>
              <a:t>구축 지원</a:t>
            </a:r>
          </a:p>
        </p:txBody>
      </p:sp>
      <p:cxnSp>
        <p:nvCxnSpPr>
          <p:cNvPr id="20" name="직선 연결선 1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7481295" y="3368040"/>
            <a:ext cx="1188000" cy="1059180"/>
            <a:chOff x="7572919" y="3368040"/>
            <a:chExt cx="1188000" cy="1059180"/>
          </a:xfrm>
        </p:grpSpPr>
        <p:sp>
          <p:nvSpPr>
            <p:cNvPr id="23" name="직사각형 22"/>
            <p:cNvSpPr/>
            <p:nvPr/>
          </p:nvSpPr>
          <p:spPr>
            <a:xfrm>
              <a:off x="7572919" y="3368040"/>
              <a:ext cx="1188000" cy="1059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198718" y="3525566"/>
              <a:ext cx="526182" cy="787355"/>
              <a:chOff x="9486498" y="3832860"/>
              <a:chExt cx="526182" cy="785151"/>
            </a:xfrm>
          </p:grpSpPr>
          <p:sp>
            <p:nvSpPr>
              <p:cNvPr id="34" name="Freeform 117">
                <a:extLst>
                  <a:ext uri="{FF2B5EF4-FFF2-40B4-BE49-F238E27FC236}">
                    <a16:creationId xmlns="" xmlns:a16="http://schemas.microsoft.com/office/drawing/2014/main" id="{ACB5F511-0467-4F80-BCD6-94BAC3603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9787" y="3889214"/>
                <a:ext cx="81940" cy="92051"/>
              </a:xfrm>
              <a:custGeom>
                <a:avLst/>
                <a:gdLst>
                  <a:gd name="T0" fmla="*/ 39 w 76"/>
                  <a:gd name="T1" fmla="*/ 0 h 76"/>
                  <a:gd name="T2" fmla="*/ 39 w 76"/>
                  <a:gd name="T3" fmla="*/ 0 h 76"/>
                  <a:gd name="T4" fmla="*/ 0 w 76"/>
                  <a:gd name="T5" fmla="*/ 38 h 76"/>
                  <a:gd name="T6" fmla="*/ 39 w 76"/>
                  <a:gd name="T7" fmla="*/ 75 h 76"/>
                  <a:gd name="T8" fmla="*/ 75 w 76"/>
                  <a:gd name="T9" fmla="*/ 38 h 76"/>
                  <a:gd name="T10" fmla="*/ 39 w 76"/>
                  <a:gd name="T11" fmla="*/ 0 h 76"/>
                  <a:gd name="T12" fmla="*/ 39 w 76"/>
                  <a:gd name="T13" fmla="*/ 54 h 76"/>
                  <a:gd name="T14" fmla="*/ 39 w 76"/>
                  <a:gd name="T15" fmla="*/ 54 h 76"/>
                  <a:gd name="T16" fmla="*/ 22 w 76"/>
                  <a:gd name="T17" fmla="*/ 38 h 76"/>
                  <a:gd name="T18" fmla="*/ 39 w 76"/>
                  <a:gd name="T19" fmla="*/ 22 h 76"/>
                  <a:gd name="T20" fmla="*/ 53 w 76"/>
                  <a:gd name="T21" fmla="*/ 38 h 76"/>
                  <a:gd name="T22" fmla="*/ 39 w 76"/>
                  <a:gd name="T23" fmla="*/ 5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6" h="76">
                    <a:moveTo>
                      <a:pt x="39" y="0"/>
                    </a:moveTo>
                    <a:lnTo>
                      <a:pt x="39" y="0"/>
                    </a:lnTo>
                    <a:cubicBezTo>
                      <a:pt x="18" y="0"/>
                      <a:pt x="0" y="17"/>
                      <a:pt x="0" y="38"/>
                    </a:cubicBezTo>
                    <a:cubicBezTo>
                      <a:pt x="0" y="58"/>
                      <a:pt x="18" y="75"/>
                      <a:pt x="39" y="75"/>
                    </a:cubicBezTo>
                    <a:cubicBezTo>
                      <a:pt x="59" y="75"/>
                      <a:pt x="75" y="58"/>
                      <a:pt x="75" y="38"/>
                    </a:cubicBezTo>
                    <a:cubicBezTo>
                      <a:pt x="75" y="17"/>
                      <a:pt x="59" y="0"/>
                      <a:pt x="39" y="0"/>
                    </a:cubicBezTo>
                    <a:close/>
                    <a:moveTo>
                      <a:pt x="39" y="54"/>
                    </a:moveTo>
                    <a:lnTo>
                      <a:pt x="39" y="54"/>
                    </a:lnTo>
                    <a:cubicBezTo>
                      <a:pt x="29" y="54"/>
                      <a:pt x="22" y="47"/>
                      <a:pt x="22" y="38"/>
                    </a:cubicBezTo>
                    <a:cubicBezTo>
                      <a:pt x="22" y="28"/>
                      <a:pt x="29" y="22"/>
                      <a:pt x="39" y="22"/>
                    </a:cubicBezTo>
                    <a:cubicBezTo>
                      <a:pt x="47" y="22"/>
                      <a:pt x="53" y="28"/>
                      <a:pt x="53" y="38"/>
                    </a:cubicBezTo>
                    <a:cubicBezTo>
                      <a:pt x="53" y="47"/>
                      <a:pt x="47" y="54"/>
                      <a:pt x="39" y="54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5" name="Freeform 118">
                <a:extLst>
                  <a:ext uri="{FF2B5EF4-FFF2-40B4-BE49-F238E27FC236}">
                    <a16:creationId xmlns="" xmlns:a16="http://schemas.microsoft.com/office/drawing/2014/main" id="{8F3B04C3-D501-4070-B0AC-5FB6C26F8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0812" y="3912883"/>
                <a:ext cx="216000" cy="36000"/>
              </a:xfrm>
              <a:custGeom>
                <a:avLst/>
                <a:gdLst>
                  <a:gd name="T0" fmla="*/ 160 w 171"/>
                  <a:gd name="T1" fmla="*/ 0 h 23"/>
                  <a:gd name="T2" fmla="*/ 160 w 171"/>
                  <a:gd name="T3" fmla="*/ 0 h 23"/>
                  <a:gd name="T4" fmla="*/ 11 w 171"/>
                  <a:gd name="T5" fmla="*/ 0 h 23"/>
                  <a:gd name="T6" fmla="*/ 0 w 171"/>
                  <a:gd name="T7" fmla="*/ 10 h 23"/>
                  <a:gd name="T8" fmla="*/ 11 w 171"/>
                  <a:gd name="T9" fmla="*/ 22 h 23"/>
                  <a:gd name="T10" fmla="*/ 160 w 171"/>
                  <a:gd name="T11" fmla="*/ 22 h 23"/>
                  <a:gd name="T12" fmla="*/ 170 w 171"/>
                  <a:gd name="T13" fmla="*/ 10 h 23"/>
                  <a:gd name="T14" fmla="*/ 160 w 171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23">
                    <a:moveTo>
                      <a:pt x="160" y="0"/>
                    </a:moveTo>
                    <a:lnTo>
                      <a:pt x="160" y="0"/>
                    </a:ln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7"/>
                      <a:pt x="4" y="22"/>
                      <a:pt x="11" y="22"/>
                    </a:cubicBezTo>
                    <a:cubicBezTo>
                      <a:pt x="160" y="22"/>
                      <a:pt x="160" y="22"/>
                      <a:pt x="160" y="22"/>
                    </a:cubicBezTo>
                    <a:cubicBezTo>
                      <a:pt x="166" y="22"/>
                      <a:pt x="170" y="17"/>
                      <a:pt x="170" y="10"/>
                    </a:cubicBezTo>
                    <a:cubicBezTo>
                      <a:pt x="170" y="4"/>
                      <a:pt x="166" y="0"/>
                      <a:pt x="160" y="0"/>
                    </a:cubicBezTo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="" xmlns:a16="http://schemas.microsoft.com/office/drawing/2014/main" id="{36E9553A-4692-4D5B-A665-94CC09C4A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9787" y="4053464"/>
                <a:ext cx="81940" cy="92051"/>
              </a:xfrm>
              <a:custGeom>
                <a:avLst/>
                <a:gdLst>
                  <a:gd name="T0" fmla="*/ 39 w 76"/>
                  <a:gd name="T1" fmla="*/ 0 h 75"/>
                  <a:gd name="T2" fmla="*/ 39 w 76"/>
                  <a:gd name="T3" fmla="*/ 0 h 75"/>
                  <a:gd name="T4" fmla="*/ 0 w 76"/>
                  <a:gd name="T5" fmla="*/ 37 h 75"/>
                  <a:gd name="T6" fmla="*/ 39 w 76"/>
                  <a:gd name="T7" fmla="*/ 74 h 75"/>
                  <a:gd name="T8" fmla="*/ 75 w 76"/>
                  <a:gd name="T9" fmla="*/ 37 h 75"/>
                  <a:gd name="T10" fmla="*/ 39 w 76"/>
                  <a:gd name="T11" fmla="*/ 0 h 75"/>
                  <a:gd name="T12" fmla="*/ 39 w 76"/>
                  <a:gd name="T13" fmla="*/ 53 h 75"/>
                  <a:gd name="T14" fmla="*/ 39 w 76"/>
                  <a:gd name="T15" fmla="*/ 53 h 75"/>
                  <a:gd name="T16" fmla="*/ 22 w 76"/>
                  <a:gd name="T17" fmla="*/ 37 h 75"/>
                  <a:gd name="T18" fmla="*/ 39 w 76"/>
                  <a:gd name="T19" fmla="*/ 21 h 75"/>
                  <a:gd name="T20" fmla="*/ 53 w 76"/>
                  <a:gd name="T21" fmla="*/ 37 h 75"/>
                  <a:gd name="T22" fmla="*/ 39 w 76"/>
                  <a:gd name="T23" fmla="*/ 5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6" h="75">
                    <a:moveTo>
                      <a:pt x="39" y="0"/>
                    </a:moveTo>
                    <a:lnTo>
                      <a:pt x="39" y="0"/>
                    </a:lnTo>
                    <a:cubicBezTo>
                      <a:pt x="18" y="0"/>
                      <a:pt x="0" y="16"/>
                      <a:pt x="0" y="37"/>
                    </a:cubicBezTo>
                    <a:cubicBezTo>
                      <a:pt x="0" y="58"/>
                      <a:pt x="18" y="74"/>
                      <a:pt x="39" y="74"/>
                    </a:cubicBezTo>
                    <a:cubicBezTo>
                      <a:pt x="59" y="74"/>
                      <a:pt x="75" y="58"/>
                      <a:pt x="75" y="37"/>
                    </a:cubicBezTo>
                    <a:cubicBezTo>
                      <a:pt x="75" y="16"/>
                      <a:pt x="59" y="0"/>
                      <a:pt x="39" y="0"/>
                    </a:cubicBezTo>
                    <a:close/>
                    <a:moveTo>
                      <a:pt x="39" y="53"/>
                    </a:moveTo>
                    <a:lnTo>
                      <a:pt x="39" y="53"/>
                    </a:lnTo>
                    <a:cubicBezTo>
                      <a:pt x="29" y="53"/>
                      <a:pt x="22" y="46"/>
                      <a:pt x="22" y="37"/>
                    </a:cubicBezTo>
                    <a:cubicBezTo>
                      <a:pt x="22" y="29"/>
                      <a:pt x="29" y="21"/>
                      <a:pt x="39" y="21"/>
                    </a:cubicBezTo>
                    <a:cubicBezTo>
                      <a:pt x="47" y="21"/>
                      <a:pt x="53" y="29"/>
                      <a:pt x="53" y="37"/>
                    </a:cubicBezTo>
                    <a:cubicBezTo>
                      <a:pt x="53" y="46"/>
                      <a:pt x="47" y="53"/>
                      <a:pt x="39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="" xmlns:a16="http://schemas.microsoft.com/office/drawing/2014/main" id="{936475C6-EBDB-47C8-8ADD-312FB8E3E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0812" y="4078936"/>
                <a:ext cx="216000" cy="36000"/>
              </a:xfrm>
              <a:custGeom>
                <a:avLst/>
                <a:gdLst>
                  <a:gd name="T0" fmla="*/ 160 w 171"/>
                  <a:gd name="T1" fmla="*/ 0 h 22"/>
                  <a:gd name="T2" fmla="*/ 160 w 171"/>
                  <a:gd name="T3" fmla="*/ 0 h 22"/>
                  <a:gd name="T4" fmla="*/ 11 w 171"/>
                  <a:gd name="T5" fmla="*/ 0 h 22"/>
                  <a:gd name="T6" fmla="*/ 0 w 171"/>
                  <a:gd name="T7" fmla="*/ 10 h 22"/>
                  <a:gd name="T8" fmla="*/ 11 w 171"/>
                  <a:gd name="T9" fmla="*/ 21 h 22"/>
                  <a:gd name="T10" fmla="*/ 160 w 171"/>
                  <a:gd name="T11" fmla="*/ 21 h 22"/>
                  <a:gd name="T12" fmla="*/ 170 w 171"/>
                  <a:gd name="T13" fmla="*/ 10 h 22"/>
                  <a:gd name="T14" fmla="*/ 160 w 171"/>
                  <a:gd name="T1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22">
                    <a:moveTo>
                      <a:pt x="160" y="0"/>
                    </a:moveTo>
                    <a:lnTo>
                      <a:pt x="160" y="0"/>
                    </a:ln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16"/>
                      <a:pt x="4" y="21"/>
                      <a:pt x="11" y="21"/>
                    </a:cubicBezTo>
                    <a:cubicBezTo>
                      <a:pt x="160" y="21"/>
                      <a:pt x="160" y="21"/>
                      <a:pt x="160" y="21"/>
                    </a:cubicBezTo>
                    <a:cubicBezTo>
                      <a:pt x="166" y="21"/>
                      <a:pt x="170" y="16"/>
                      <a:pt x="170" y="10"/>
                    </a:cubicBezTo>
                    <a:cubicBezTo>
                      <a:pt x="170" y="5"/>
                      <a:pt x="166" y="0"/>
                      <a:pt x="160" y="0"/>
                    </a:cubicBezTo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8" name="Freeform 121">
                <a:extLst>
                  <a:ext uri="{FF2B5EF4-FFF2-40B4-BE49-F238E27FC236}">
                    <a16:creationId xmlns="" xmlns:a16="http://schemas.microsoft.com/office/drawing/2014/main" id="{169A2FBC-0956-4DC7-ADF8-83D5DC609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9787" y="4217714"/>
                <a:ext cx="81940" cy="92051"/>
              </a:xfrm>
              <a:custGeom>
                <a:avLst/>
                <a:gdLst>
                  <a:gd name="T0" fmla="*/ 39 w 76"/>
                  <a:gd name="T1" fmla="*/ 0 h 76"/>
                  <a:gd name="T2" fmla="*/ 39 w 76"/>
                  <a:gd name="T3" fmla="*/ 0 h 76"/>
                  <a:gd name="T4" fmla="*/ 0 w 76"/>
                  <a:gd name="T5" fmla="*/ 37 h 76"/>
                  <a:gd name="T6" fmla="*/ 39 w 76"/>
                  <a:gd name="T7" fmla="*/ 75 h 76"/>
                  <a:gd name="T8" fmla="*/ 75 w 76"/>
                  <a:gd name="T9" fmla="*/ 37 h 76"/>
                  <a:gd name="T10" fmla="*/ 39 w 76"/>
                  <a:gd name="T11" fmla="*/ 0 h 76"/>
                  <a:gd name="T12" fmla="*/ 39 w 76"/>
                  <a:gd name="T13" fmla="*/ 54 h 76"/>
                  <a:gd name="T14" fmla="*/ 39 w 76"/>
                  <a:gd name="T15" fmla="*/ 54 h 76"/>
                  <a:gd name="T16" fmla="*/ 22 w 76"/>
                  <a:gd name="T17" fmla="*/ 37 h 76"/>
                  <a:gd name="T18" fmla="*/ 39 w 76"/>
                  <a:gd name="T19" fmla="*/ 21 h 76"/>
                  <a:gd name="T20" fmla="*/ 53 w 76"/>
                  <a:gd name="T21" fmla="*/ 37 h 76"/>
                  <a:gd name="T22" fmla="*/ 39 w 76"/>
                  <a:gd name="T23" fmla="*/ 5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6" h="76">
                    <a:moveTo>
                      <a:pt x="39" y="0"/>
                    </a:moveTo>
                    <a:lnTo>
                      <a:pt x="39" y="0"/>
                    </a:lnTo>
                    <a:cubicBezTo>
                      <a:pt x="18" y="0"/>
                      <a:pt x="0" y="16"/>
                      <a:pt x="0" y="37"/>
                    </a:cubicBezTo>
                    <a:cubicBezTo>
                      <a:pt x="0" y="58"/>
                      <a:pt x="18" y="75"/>
                      <a:pt x="39" y="75"/>
                    </a:cubicBezTo>
                    <a:cubicBezTo>
                      <a:pt x="59" y="75"/>
                      <a:pt x="75" y="58"/>
                      <a:pt x="75" y="37"/>
                    </a:cubicBezTo>
                    <a:cubicBezTo>
                      <a:pt x="75" y="16"/>
                      <a:pt x="59" y="0"/>
                      <a:pt x="39" y="0"/>
                    </a:cubicBezTo>
                    <a:close/>
                    <a:moveTo>
                      <a:pt x="39" y="54"/>
                    </a:moveTo>
                    <a:lnTo>
                      <a:pt x="39" y="54"/>
                    </a:lnTo>
                    <a:cubicBezTo>
                      <a:pt x="29" y="54"/>
                      <a:pt x="22" y="45"/>
                      <a:pt x="22" y="37"/>
                    </a:cubicBezTo>
                    <a:cubicBezTo>
                      <a:pt x="22" y="29"/>
                      <a:pt x="29" y="21"/>
                      <a:pt x="39" y="21"/>
                    </a:cubicBezTo>
                    <a:cubicBezTo>
                      <a:pt x="47" y="21"/>
                      <a:pt x="53" y="29"/>
                      <a:pt x="53" y="37"/>
                    </a:cubicBezTo>
                    <a:cubicBezTo>
                      <a:pt x="53" y="45"/>
                      <a:pt x="47" y="54"/>
                      <a:pt x="39" y="54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9" name="Freeform 122">
                <a:extLst>
                  <a:ext uri="{FF2B5EF4-FFF2-40B4-BE49-F238E27FC236}">
                    <a16:creationId xmlns="" xmlns:a16="http://schemas.microsoft.com/office/drawing/2014/main" id="{59EA31B7-D7DB-4DBF-B245-2AE82627F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0812" y="4244993"/>
                <a:ext cx="216000" cy="36000"/>
              </a:xfrm>
              <a:custGeom>
                <a:avLst/>
                <a:gdLst>
                  <a:gd name="T0" fmla="*/ 160 w 171"/>
                  <a:gd name="T1" fmla="*/ 0 h 23"/>
                  <a:gd name="T2" fmla="*/ 160 w 171"/>
                  <a:gd name="T3" fmla="*/ 0 h 23"/>
                  <a:gd name="T4" fmla="*/ 11 w 171"/>
                  <a:gd name="T5" fmla="*/ 0 h 23"/>
                  <a:gd name="T6" fmla="*/ 0 w 171"/>
                  <a:gd name="T7" fmla="*/ 10 h 23"/>
                  <a:gd name="T8" fmla="*/ 11 w 171"/>
                  <a:gd name="T9" fmla="*/ 22 h 23"/>
                  <a:gd name="T10" fmla="*/ 160 w 171"/>
                  <a:gd name="T11" fmla="*/ 22 h 23"/>
                  <a:gd name="T12" fmla="*/ 170 w 171"/>
                  <a:gd name="T13" fmla="*/ 10 h 23"/>
                  <a:gd name="T14" fmla="*/ 160 w 171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23">
                    <a:moveTo>
                      <a:pt x="160" y="0"/>
                    </a:moveTo>
                    <a:lnTo>
                      <a:pt x="160" y="0"/>
                    </a:ln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18"/>
                      <a:pt x="4" y="22"/>
                      <a:pt x="11" y="22"/>
                    </a:cubicBezTo>
                    <a:cubicBezTo>
                      <a:pt x="160" y="22"/>
                      <a:pt x="160" y="22"/>
                      <a:pt x="160" y="22"/>
                    </a:cubicBezTo>
                    <a:cubicBezTo>
                      <a:pt x="166" y="22"/>
                      <a:pt x="170" y="18"/>
                      <a:pt x="170" y="10"/>
                    </a:cubicBezTo>
                    <a:cubicBezTo>
                      <a:pt x="170" y="5"/>
                      <a:pt x="166" y="0"/>
                      <a:pt x="160" y="0"/>
                    </a:cubicBezTo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40" name="Freeform 123">
                <a:extLst>
                  <a:ext uri="{FF2B5EF4-FFF2-40B4-BE49-F238E27FC236}">
                    <a16:creationId xmlns="" xmlns:a16="http://schemas.microsoft.com/office/drawing/2014/main" id="{07115F20-4892-4DCD-A419-4CD8D03F5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86498" y="3832860"/>
                <a:ext cx="526182" cy="785151"/>
              </a:xfrm>
              <a:custGeom>
                <a:avLst/>
                <a:gdLst>
                  <a:gd name="T0" fmla="*/ 398 w 426"/>
                  <a:gd name="T1" fmla="*/ 640 h 641"/>
                  <a:gd name="T2" fmla="*/ 398 w 426"/>
                  <a:gd name="T3" fmla="*/ 640 h 641"/>
                  <a:gd name="T4" fmla="*/ 425 w 426"/>
                  <a:gd name="T5" fmla="*/ 612 h 641"/>
                  <a:gd name="T6" fmla="*/ 425 w 426"/>
                  <a:gd name="T7" fmla="*/ 544 h 641"/>
                  <a:gd name="T8" fmla="*/ 425 w 426"/>
                  <a:gd name="T9" fmla="*/ 416 h 641"/>
                  <a:gd name="T10" fmla="*/ 425 w 426"/>
                  <a:gd name="T11" fmla="*/ 288 h 641"/>
                  <a:gd name="T12" fmla="*/ 425 w 426"/>
                  <a:gd name="T13" fmla="*/ 139 h 641"/>
                  <a:gd name="T14" fmla="*/ 425 w 426"/>
                  <a:gd name="T15" fmla="*/ 27 h 641"/>
                  <a:gd name="T16" fmla="*/ 398 w 426"/>
                  <a:gd name="T17" fmla="*/ 0 h 641"/>
                  <a:gd name="T18" fmla="*/ 27 w 426"/>
                  <a:gd name="T19" fmla="*/ 0 h 641"/>
                  <a:gd name="T20" fmla="*/ 0 w 426"/>
                  <a:gd name="T21" fmla="*/ 27 h 641"/>
                  <a:gd name="T22" fmla="*/ 0 w 426"/>
                  <a:gd name="T23" fmla="*/ 139 h 641"/>
                  <a:gd name="T24" fmla="*/ 0 w 426"/>
                  <a:gd name="T25" fmla="*/ 288 h 641"/>
                  <a:gd name="T26" fmla="*/ 0 w 426"/>
                  <a:gd name="T27" fmla="*/ 416 h 641"/>
                  <a:gd name="T28" fmla="*/ 0 w 426"/>
                  <a:gd name="T29" fmla="*/ 544 h 641"/>
                  <a:gd name="T30" fmla="*/ 0 w 426"/>
                  <a:gd name="T31" fmla="*/ 612 h 641"/>
                  <a:gd name="T32" fmla="*/ 27 w 426"/>
                  <a:gd name="T33" fmla="*/ 640 h 641"/>
                  <a:gd name="T34" fmla="*/ 398 w 426"/>
                  <a:gd name="T35" fmla="*/ 640 h 641"/>
                  <a:gd name="T36" fmla="*/ 21 w 426"/>
                  <a:gd name="T37" fmla="*/ 27 h 641"/>
                  <a:gd name="T38" fmla="*/ 21 w 426"/>
                  <a:gd name="T39" fmla="*/ 27 h 641"/>
                  <a:gd name="T40" fmla="*/ 27 w 426"/>
                  <a:gd name="T41" fmla="*/ 22 h 641"/>
                  <a:gd name="T42" fmla="*/ 398 w 426"/>
                  <a:gd name="T43" fmla="*/ 22 h 641"/>
                  <a:gd name="T44" fmla="*/ 404 w 426"/>
                  <a:gd name="T45" fmla="*/ 27 h 641"/>
                  <a:gd name="T46" fmla="*/ 404 w 426"/>
                  <a:gd name="T47" fmla="*/ 129 h 641"/>
                  <a:gd name="T48" fmla="*/ 21 w 426"/>
                  <a:gd name="T49" fmla="*/ 129 h 641"/>
                  <a:gd name="T50" fmla="*/ 21 w 426"/>
                  <a:gd name="T51" fmla="*/ 27 h 641"/>
                  <a:gd name="T52" fmla="*/ 21 w 426"/>
                  <a:gd name="T53" fmla="*/ 150 h 641"/>
                  <a:gd name="T54" fmla="*/ 21 w 426"/>
                  <a:gd name="T55" fmla="*/ 150 h 641"/>
                  <a:gd name="T56" fmla="*/ 404 w 426"/>
                  <a:gd name="T57" fmla="*/ 150 h 641"/>
                  <a:gd name="T58" fmla="*/ 404 w 426"/>
                  <a:gd name="T59" fmla="*/ 277 h 641"/>
                  <a:gd name="T60" fmla="*/ 21 w 426"/>
                  <a:gd name="T61" fmla="*/ 277 h 641"/>
                  <a:gd name="T62" fmla="*/ 21 w 426"/>
                  <a:gd name="T63" fmla="*/ 150 h 641"/>
                  <a:gd name="T64" fmla="*/ 21 w 426"/>
                  <a:gd name="T65" fmla="*/ 298 h 641"/>
                  <a:gd name="T66" fmla="*/ 21 w 426"/>
                  <a:gd name="T67" fmla="*/ 298 h 641"/>
                  <a:gd name="T68" fmla="*/ 404 w 426"/>
                  <a:gd name="T69" fmla="*/ 298 h 641"/>
                  <a:gd name="T70" fmla="*/ 404 w 426"/>
                  <a:gd name="T71" fmla="*/ 406 h 641"/>
                  <a:gd name="T72" fmla="*/ 21 w 426"/>
                  <a:gd name="T73" fmla="*/ 406 h 641"/>
                  <a:gd name="T74" fmla="*/ 21 w 426"/>
                  <a:gd name="T75" fmla="*/ 298 h 641"/>
                  <a:gd name="T76" fmla="*/ 21 w 426"/>
                  <a:gd name="T77" fmla="*/ 427 h 641"/>
                  <a:gd name="T78" fmla="*/ 21 w 426"/>
                  <a:gd name="T79" fmla="*/ 427 h 641"/>
                  <a:gd name="T80" fmla="*/ 404 w 426"/>
                  <a:gd name="T81" fmla="*/ 427 h 641"/>
                  <a:gd name="T82" fmla="*/ 404 w 426"/>
                  <a:gd name="T83" fmla="*/ 533 h 641"/>
                  <a:gd name="T84" fmla="*/ 21 w 426"/>
                  <a:gd name="T85" fmla="*/ 533 h 641"/>
                  <a:gd name="T86" fmla="*/ 21 w 426"/>
                  <a:gd name="T87" fmla="*/ 427 h 641"/>
                  <a:gd name="T88" fmla="*/ 21 w 426"/>
                  <a:gd name="T89" fmla="*/ 612 h 641"/>
                  <a:gd name="T90" fmla="*/ 21 w 426"/>
                  <a:gd name="T91" fmla="*/ 612 h 641"/>
                  <a:gd name="T92" fmla="*/ 21 w 426"/>
                  <a:gd name="T93" fmla="*/ 554 h 641"/>
                  <a:gd name="T94" fmla="*/ 404 w 426"/>
                  <a:gd name="T95" fmla="*/ 554 h 641"/>
                  <a:gd name="T96" fmla="*/ 404 w 426"/>
                  <a:gd name="T97" fmla="*/ 612 h 641"/>
                  <a:gd name="T98" fmla="*/ 398 w 426"/>
                  <a:gd name="T99" fmla="*/ 619 h 641"/>
                  <a:gd name="T100" fmla="*/ 27 w 426"/>
                  <a:gd name="T101" fmla="*/ 619 h 641"/>
                  <a:gd name="T102" fmla="*/ 21 w 426"/>
                  <a:gd name="T103" fmla="*/ 612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26" h="641">
                    <a:moveTo>
                      <a:pt x="398" y="640"/>
                    </a:moveTo>
                    <a:lnTo>
                      <a:pt x="398" y="640"/>
                    </a:lnTo>
                    <a:cubicBezTo>
                      <a:pt x="413" y="640"/>
                      <a:pt x="425" y="627"/>
                      <a:pt x="425" y="612"/>
                    </a:cubicBezTo>
                    <a:cubicBezTo>
                      <a:pt x="425" y="544"/>
                      <a:pt x="425" y="544"/>
                      <a:pt x="425" y="544"/>
                    </a:cubicBezTo>
                    <a:cubicBezTo>
                      <a:pt x="425" y="416"/>
                      <a:pt x="425" y="416"/>
                      <a:pt x="425" y="416"/>
                    </a:cubicBezTo>
                    <a:cubicBezTo>
                      <a:pt x="425" y="288"/>
                      <a:pt x="425" y="288"/>
                      <a:pt x="425" y="288"/>
                    </a:cubicBezTo>
                    <a:cubicBezTo>
                      <a:pt x="425" y="139"/>
                      <a:pt x="425" y="139"/>
                      <a:pt x="425" y="139"/>
                    </a:cubicBezTo>
                    <a:cubicBezTo>
                      <a:pt x="425" y="27"/>
                      <a:pt x="425" y="27"/>
                      <a:pt x="425" y="27"/>
                    </a:cubicBezTo>
                    <a:cubicBezTo>
                      <a:pt x="425" y="13"/>
                      <a:pt x="413" y="0"/>
                      <a:pt x="39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3"/>
                      <a:pt x="0" y="2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288"/>
                      <a:pt x="0" y="288"/>
                      <a:pt x="0" y="288"/>
                    </a:cubicBezTo>
                    <a:cubicBezTo>
                      <a:pt x="0" y="416"/>
                      <a:pt x="0" y="416"/>
                      <a:pt x="0" y="416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612"/>
                      <a:pt x="0" y="612"/>
                      <a:pt x="0" y="612"/>
                    </a:cubicBezTo>
                    <a:cubicBezTo>
                      <a:pt x="0" y="627"/>
                      <a:pt x="12" y="640"/>
                      <a:pt x="27" y="640"/>
                    </a:cubicBezTo>
                    <a:lnTo>
                      <a:pt x="398" y="640"/>
                    </a:lnTo>
                    <a:close/>
                    <a:moveTo>
                      <a:pt x="21" y="27"/>
                    </a:moveTo>
                    <a:lnTo>
                      <a:pt x="21" y="27"/>
                    </a:lnTo>
                    <a:cubicBezTo>
                      <a:pt x="21" y="25"/>
                      <a:pt x="23" y="22"/>
                      <a:pt x="27" y="22"/>
                    </a:cubicBezTo>
                    <a:cubicBezTo>
                      <a:pt x="398" y="22"/>
                      <a:pt x="398" y="22"/>
                      <a:pt x="398" y="22"/>
                    </a:cubicBezTo>
                    <a:cubicBezTo>
                      <a:pt x="401" y="22"/>
                      <a:pt x="404" y="25"/>
                      <a:pt x="404" y="27"/>
                    </a:cubicBezTo>
                    <a:cubicBezTo>
                      <a:pt x="404" y="129"/>
                      <a:pt x="404" y="129"/>
                      <a:pt x="404" y="129"/>
                    </a:cubicBezTo>
                    <a:cubicBezTo>
                      <a:pt x="21" y="129"/>
                      <a:pt x="21" y="129"/>
                      <a:pt x="21" y="129"/>
                    </a:cubicBezTo>
                    <a:lnTo>
                      <a:pt x="21" y="27"/>
                    </a:lnTo>
                    <a:close/>
                    <a:moveTo>
                      <a:pt x="21" y="150"/>
                    </a:moveTo>
                    <a:lnTo>
                      <a:pt x="21" y="150"/>
                    </a:lnTo>
                    <a:cubicBezTo>
                      <a:pt x="404" y="150"/>
                      <a:pt x="404" y="150"/>
                      <a:pt x="404" y="150"/>
                    </a:cubicBezTo>
                    <a:cubicBezTo>
                      <a:pt x="404" y="277"/>
                      <a:pt x="404" y="277"/>
                      <a:pt x="404" y="277"/>
                    </a:cubicBezTo>
                    <a:cubicBezTo>
                      <a:pt x="21" y="277"/>
                      <a:pt x="21" y="277"/>
                      <a:pt x="21" y="277"/>
                    </a:cubicBezTo>
                    <a:lnTo>
                      <a:pt x="21" y="150"/>
                    </a:lnTo>
                    <a:close/>
                    <a:moveTo>
                      <a:pt x="21" y="298"/>
                    </a:moveTo>
                    <a:lnTo>
                      <a:pt x="21" y="298"/>
                    </a:lnTo>
                    <a:cubicBezTo>
                      <a:pt x="404" y="298"/>
                      <a:pt x="404" y="298"/>
                      <a:pt x="404" y="298"/>
                    </a:cubicBezTo>
                    <a:cubicBezTo>
                      <a:pt x="404" y="406"/>
                      <a:pt x="404" y="406"/>
                      <a:pt x="404" y="406"/>
                    </a:cubicBezTo>
                    <a:cubicBezTo>
                      <a:pt x="21" y="406"/>
                      <a:pt x="21" y="406"/>
                      <a:pt x="21" y="406"/>
                    </a:cubicBezTo>
                    <a:lnTo>
                      <a:pt x="21" y="298"/>
                    </a:lnTo>
                    <a:close/>
                    <a:moveTo>
                      <a:pt x="21" y="427"/>
                    </a:moveTo>
                    <a:lnTo>
                      <a:pt x="21" y="427"/>
                    </a:lnTo>
                    <a:cubicBezTo>
                      <a:pt x="404" y="427"/>
                      <a:pt x="404" y="427"/>
                      <a:pt x="404" y="427"/>
                    </a:cubicBezTo>
                    <a:cubicBezTo>
                      <a:pt x="404" y="533"/>
                      <a:pt x="404" y="533"/>
                      <a:pt x="404" y="533"/>
                    </a:cubicBezTo>
                    <a:cubicBezTo>
                      <a:pt x="21" y="533"/>
                      <a:pt x="21" y="533"/>
                      <a:pt x="21" y="533"/>
                    </a:cubicBezTo>
                    <a:lnTo>
                      <a:pt x="21" y="427"/>
                    </a:lnTo>
                    <a:close/>
                    <a:moveTo>
                      <a:pt x="21" y="612"/>
                    </a:moveTo>
                    <a:lnTo>
                      <a:pt x="21" y="612"/>
                    </a:lnTo>
                    <a:cubicBezTo>
                      <a:pt x="21" y="554"/>
                      <a:pt x="21" y="554"/>
                      <a:pt x="21" y="554"/>
                    </a:cubicBezTo>
                    <a:cubicBezTo>
                      <a:pt x="404" y="554"/>
                      <a:pt x="404" y="554"/>
                      <a:pt x="404" y="554"/>
                    </a:cubicBezTo>
                    <a:cubicBezTo>
                      <a:pt x="404" y="612"/>
                      <a:pt x="404" y="612"/>
                      <a:pt x="404" y="612"/>
                    </a:cubicBezTo>
                    <a:cubicBezTo>
                      <a:pt x="404" y="616"/>
                      <a:pt x="401" y="619"/>
                      <a:pt x="398" y="619"/>
                    </a:cubicBezTo>
                    <a:cubicBezTo>
                      <a:pt x="27" y="619"/>
                      <a:pt x="27" y="619"/>
                      <a:pt x="27" y="619"/>
                    </a:cubicBezTo>
                    <a:cubicBezTo>
                      <a:pt x="23" y="619"/>
                      <a:pt x="21" y="616"/>
                      <a:pt x="21" y="61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41" name="Freeform 124">
                <a:extLst>
                  <a:ext uri="{FF2B5EF4-FFF2-40B4-BE49-F238E27FC236}">
                    <a16:creationId xmlns="" xmlns:a16="http://schemas.microsoft.com/office/drawing/2014/main" id="{9EA60E95-59DD-4A01-B0FA-42513BEAF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9787" y="4381963"/>
                <a:ext cx="81940" cy="92054"/>
              </a:xfrm>
              <a:custGeom>
                <a:avLst/>
                <a:gdLst>
                  <a:gd name="T0" fmla="*/ 39 w 76"/>
                  <a:gd name="T1" fmla="*/ 0 h 75"/>
                  <a:gd name="T2" fmla="*/ 39 w 76"/>
                  <a:gd name="T3" fmla="*/ 0 h 75"/>
                  <a:gd name="T4" fmla="*/ 0 w 76"/>
                  <a:gd name="T5" fmla="*/ 37 h 75"/>
                  <a:gd name="T6" fmla="*/ 39 w 76"/>
                  <a:gd name="T7" fmla="*/ 74 h 75"/>
                  <a:gd name="T8" fmla="*/ 75 w 76"/>
                  <a:gd name="T9" fmla="*/ 37 h 75"/>
                  <a:gd name="T10" fmla="*/ 39 w 76"/>
                  <a:gd name="T11" fmla="*/ 0 h 75"/>
                  <a:gd name="T12" fmla="*/ 39 w 76"/>
                  <a:gd name="T13" fmla="*/ 54 h 75"/>
                  <a:gd name="T14" fmla="*/ 39 w 76"/>
                  <a:gd name="T15" fmla="*/ 54 h 75"/>
                  <a:gd name="T16" fmla="*/ 22 w 76"/>
                  <a:gd name="T17" fmla="*/ 37 h 75"/>
                  <a:gd name="T18" fmla="*/ 39 w 76"/>
                  <a:gd name="T19" fmla="*/ 21 h 75"/>
                  <a:gd name="T20" fmla="*/ 53 w 76"/>
                  <a:gd name="T21" fmla="*/ 37 h 75"/>
                  <a:gd name="T22" fmla="*/ 39 w 76"/>
                  <a:gd name="T23" fmla="*/ 5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6" h="75">
                    <a:moveTo>
                      <a:pt x="39" y="0"/>
                    </a:moveTo>
                    <a:lnTo>
                      <a:pt x="39" y="0"/>
                    </a:lnTo>
                    <a:cubicBezTo>
                      <a:pt x="18" y="0"/>
                      <a:pt x="0" y="17"/>
                      <a:pt x="0" y="37"/>
                    </a:cubicBezTo>
                    <a:cubicBezTo>
                      <a:pt x="0" y="58"/>
                      <a:pt x="18" y="74"/>
                      <a:pt x="39" y="74"/>
                    </a:cubicBezTo>
                    <a:cubicBezTo>
                      <a:pt x="59" y="74"/>
                      <a:pt x="75" y="58"/>
                      <a:pt x="75" y="37"/>
                    </a:cubicBezTo>
                    <a:cubicBezTo>
                      <a:pt x="75" y="17"/>
                      <a:pt x="59" y="0"/>
                      <a:pt x="39" y="0"/>
                    </a:cubicBezTo>
                    <a:close/>
                    <a:moveTo>
                      <a:pt x="39" y="54"/>
                    </a:moveTo>
                    <a:lnTo>
                      <a:pt x="39" y="54"/>
                    </a:lnTo>
                    <a:cubicBezTo>
                      <a:pt x="29" y="54"/>
                      <a:pt x="22" y="46"/>
                      <a:pt x="22" y="37"/>
                    </a:cubicBezTo>
                    <a:cubicBezTo>
                      <a:pt x="22" y="28"/>
                      <a:pt x="29" y="21"/>
                      <a:pt x="39" y="21"/>
                    </a:cubicBezTo>
                    <a:cubicBezTo>
                      <a:pt x="47" y="21"/>
                      <a:pt x="53" y="28"/>
                      <a:pt x="53" y="37"/>
                    </a:cubicBezTo>
                    <a:cubicBezTo>
                      <a:pt x="53" y="46"/>
                      <a:pt x="47" y="54"/>
                      <a:pt x="39" y="54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42" name="Freeform 125">
                <a:extLst>
                  <a:ext uri="{FF2B5EF4-FFF2-40B4-BE49-F238E27FC236}">
                    <a16:creationId xmlns="" xmlns:a16="http://schemas.microsoft.com/office/drawing/2014/main" id="{277C2BFE-7B2E-4B06-836A-8103FB641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0812" y="4411046"/>
                <a:ext cx="216000" cy="36000"/>
              </a:xfrm>
              <a:custGeom>
                <a:avLst/>
                <a:gdLst>
                  <a:gd name="T0" fmla="*/ 160 w 171"/>
                  <a:gd name="T1" fmla="*/ 0 h 23"/>
                  <a:gd name="T2" fmla="*/ 160 w 171"/>
                  <a:gd name="T3" fmla="*/ 0 h 23"/>
                  <a:gd name="T4" fmla="*/ 11 w 171"/>
                  <a:gd name="T5" fmla="*/ 0 h 23"/>
                  <a:gd name="T6" fmla="*/ 0 w 171"/>
                  <a:gd name="T7" fmla="*/ 11 h 23"/>
                  <a:gd name="T8" fmla="*/ 11 w 171"/>
                  <a:gd name="T9" fmla="*/ 22 h 23"/>
                  <a:gd name="T10" fmla="*/ 160 w 171"/>
                  <a:gd name="T11" fmla="*/ 22 h 23"/>
                  <a:gd name="T12" fmla="*/ 170 w 171"/>
                  <a:gd name="T13" fmla="*/ 11 h 23"/>
                  <a:gd name="T14" fmla="*/ 160 w 171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23">
                    <a:moveTo>
                      <a:pt x="160" y="0"/>
                    </a:moveTo>
                    <a:lnTo>
                      <a:pt x="160" y="0"/>
                    </a:ln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0" y="11"/>
                    </a:cubicBezTo>
                    <a:cubicBezTo>
                      <a:pt x="0" y="17"/>
                      <a:pt x="4" y="22"/>
                      <a:pt x="11" y="22"/>
                    </a:cubicBezTo>
                    <a:cubicBezTo>
                      <a:pt x="160" y="22"/>
                      <a:pt x="160" y="22"/>
                      <a:pt x="160" y="22"/>
                    </a:cubicBezTo>
                    <a:cubicBezTo>
                      <a:pt x="166" y="22"/>
                      <a:pt x="170" y="17"/>
                      <a:pt x="170" y="11"/>
                    </a:cubicBezTo>
                    <a:cubicBezTo>
                      <a:pt x="170" y="6"/>
                      <a:pt x="166" y="0"/>
                      <a:pt x="160" y="0"/>
                    </a:cubicBezTo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7615589" y="3587138"/>
              <a:ext cx="461612" cy="683618"/>
              <a:chOff x="7539389" y="3807187"/>
              <a:chExt cx="416888" cy="451880"/>
            </a:xfrm>
          </p:grpSpPr>
          <p:sp>
            <p:nvSpPr>
              <p:cNvPr id="32" name="Freeform 111">
                <a:extLst>
                  <a:ext uri="{FF2B5EF4-FFF2-40B4-BE49-F238E27FC236}">
                    <a16:creationId xmlns="" xmlns:a16="http://schemas.microsoft.com/office/drawing/2014/main" id="{BC11850A-92B9-404F-BF5E-D621571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9742" y="3926802"/>
                <a:ext cx="193118" cy="209326"/>
              </a:xfrm>
              <a:custGeom>
                <a:avLst/>
                <a:gdLst>
                  <a:gd name="T0" fmla="*/ 268 w 279"/>
                  <a:gd name="T1" fmla="*/ 0 h 278"/>
                  <a:gd name="T2" fmla="*/ 268 w 279"/>
                  <a:gd name="T3" fmla="*/ 0 h 278"/>
                  <a:gd name="T4" fmla="*/ 12 w 279"/>
                  <a:gd name="T5" fmla="*/ 0 h 278"/>
                  <a:gd name="T6" fmla="*/ 0 w 279"/>
                  <a:gd name="T7" fmla="*/ 11 h 278"/>
                  <a:gd name="T8" fmla="*/ 0 w 279"/>
                  <a:gd name="T9" fmla="*/ 266 h 278"/>
                  <a:gd name="T10" fmla="*/ 12 w 279"/>
                  <a:gd name="T11" fmla="*/ 277 h 278"/>
                  <a:gd name="T12" fmla="*/ 268 w 279"/>
                  <a:gd name="T13" fmla="*/ 277 h 278"/>
                  <a:gd name="T14" fmla="*/ 278 w 279"/>
                  <a:gd name="T15" fmla="*/ 266 h 278"/>
                  <a:gd name="T16" fmla="*/ 278 w 279"/>
                  <a:gd name="T17" fmla="*/ 11 h 278"/>
                  <a:gd name="T18" fmla="*/ 268 w 279"/>
                  <a:gd name="T19" fmla="*/ 0 h 278"/>
                  <a:gd name="T20" fmla="*/ 256 w 279"/>
                  <a:gd name="T21" fmla="*/ 255 h 278"/>
                  <a:gd name="T22" fmla="*/ 256 w 279"/>
                  <a:gd name="T23" fmla="*/ 255 h 278"/>
                  <a:gd name="T24" fmla="*/ 22 w 279"/>
                  <a:gd name="T25" fmla="*/ 255 h 278"/>
                  <a:gd name="T26" fmla="*/ 22 w 279"/>
                  <a:gd name="T27" fmla="*/ 21 h 278"/>
                  <a:gd name="T28" fmla="*/ 256 w 279"/>
                  <a:gd name="T29" fmla="*/ 21 h 278"/>
                  <a:gd name="T30" fmla="*/ 256 w 279"/>
                  <a:gd name="T31" fmla="*/ 255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79" h="278">
                    <a:moveTo>
                      <a:pt x="268" y="0"/>
                    </a:moveTo>
                    <a:lnTo>
                      <a:pt x="268" y="0"/>
                    </a:ln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4"/>
                      <a:pt x="0" y="11"/>
                    </a:cubicBezTo>
                    <a:cubicBezTo>
                      <a:pt x="0" y="266"/>
                      <a:pt x="0" y="266"/>
                      <a:pt x="0" y="266"/>
                    </a:cubicBezTo>
                    <a:cubicBezTo>
                      <a:pt x="0" y="273"/>
                      <a:pt x="5" y="277"/>
                      <a:pt x="12" y="277"/>
                    </a:cubicBezTo>
                    <a:cubicBezTo>
                      <a:pt x="268" y="277"/>
                      <a:pt x="268" y="277"/>
                      <a:pt x="268" y="277"/>
                    </a:cubicBezTo>
                    <a:cubicBezTo>
                      <a:pt x="273" y="277"/>
                      <a:pt x="278" y="273"/>
                      <a:pt x="278" y="266"/>
                    </a:cubicBezTo>
                    <a:cubicBezTo>
                      <a:pt x="278" y="11"/>
                      <a:pt x="278" y="11"/>
                      <a:pt x="278" y="11"/>
                    </a:cubicBezTo>
                    <a:cubicBezTo>
                      <a:pt x="278" y="4"/>
                      <a:pt x="273" y="0"/>
                      <a:pt x="268" y="0"/>
                    </a:cubicBezTo>
                    <a:close/>
                    <a:moveTo>
                      <a:pt x="256" y="255"/>
                    </a:moveTo>
                    <a:lnTo>
                      <a:pt x="256" y="255"/>
                    </a:lnTo>
                    <a:cubicBezTo>
                      <a:pt x="22" y="255"/>
                      <a:pt x="22" y="255"/>
                      <a:pt x="22" y="255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56" y="21"/>
                      <a:pt x="256" y="21"/>
                      <a:pt x="256" y="21"/>
                    </a:cubicBezTo>
                    <a:lnTo>
                      <a:pt x="256" y="255"/>
                    </a:ln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  <p:sp>
            <p:nvSpPr>
              <p:cNvPr id="33" name="Freeform 112">
                <a:extLst>
                  <a:ext uri="{FF2B5EF4-FFF2-40B4-BE49-F238E27FC236}">
                    <a16:creationId xmlns="" xmlns:a16="http://schemas.microsoft.com/office/drawing/2014/main" id="{9BB65042-15E8-4757-A437-CB30B736B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9389" y="3807187"/>
                <a:ext cx="416888" cy="451880"/>
              </a:xfrm>
              <a:custGeom>
                <a:avLst/>
                <a:gdLst>
                  <a:gd name="T0" fmla="*/ 11 w 598"/>
                  <a:gd name="T1" fmla="*/ 501 h 598"/>
                  <a:gd name="T2" fmla="*/ 96 w 598"/>
                  <a:gd name="T3" fmla="*/ 522 h 598"/>
                  <a:gd name="T4" fmla="*/ 117 w 598"/>
                  <a:gd name="T5" fmla="*/ 522 h 598"/>
                  <a:gd name="T6" fmla="*/ 160 w 598"/>
                  <a:gd name="T7" fmla="*/ 586 h 598"/>
                  <a:gd name="T8" fmla="*/ 192 w 598"/>
                  <a:gd name="T9" fmla="*/ 597 h 598"/>
                  <a:gd name="T10" fmla="*/ 225 w 598"/>
                  <a:gd name="T11" fmla="*/ 586 h 598"/>
                  <a:gd name="T12" fmla="*/ 267 w 598"/>
                  <a:gd name="T13" fmla="*/ 522 h 598"/>
                  <a:gd name="T14" fmla="*/ 289 w 598"/>
                  <a:gd name="T15" fmla="*/ 522 h 598"/>
                  <a:gd name="T16" fmla="*/ 331 w 598"/>
                  <a:gd name="T17" fmla="*/ 586 h 598"/>
                  <a:gd name="T18" fmla="*/ 363 w 598"/>
                  <a:gd name="T19" fmla="*/ 597 h 598"/>
                  <a:gd name="T20" fmla="*/ 395 w 598"/>
                  <a:gd name="T21" fmla="*/ 586 h 598"/>
                  <a:gd name="T22" fmla="*/ 438 w 598"/>
                  <a:gd name="T23" fmla="*/ 522 h 598"/>
                  <a:gd name="T24" fmla="*/ 459 w 598"/>
                  <a:gd name="T25" fmla="*/ 522 h 598"/>
                  <a:gd name="T26" fmla="*/ 501 w 598"/>
                  <a:gd name="T27" fmla="*/ 586 h 598"/>
                  <a:gd name="T28" fmla="*/ 523 w 598"/>
                  <a:gd name="T29" fmla="*/ 501 h 598"/>
                  <a:gd name="T30" fmla="*/ 523 w 598"/>
                  <a:gd name="T31" fmla="*/ 479 h 598"/>
                  <a:gd name="T32" fmla="*/ 586 w 598"/>
                  <a:gd name="T33" fmla="*/ 437 h 598"/>
                  <a:gd name="T34" fmla="*/ 597 w 598"/>
                  <a:gd name="T35" fmla="*/ 405 h 598"/>
                  <a:gd name="T36" fmla="*/ 586 w 598"/>
                  <a:gd name="T37" fmla="*/ 372 h 598"/>
                  <a:gd name="T38" fmla="*/ 523 w 598"/>
                  <a:gd name="T39" fmla="*/ 329 h 598"/>
                  <a:gd name="T40" fmla="*/ 523 w 598"/>
                  <a:gd name="T41" fmla="*/ 308 h 598"/>
                  <a:gd name="T42" fmla="*/ 586 w 598"/>
                  <a:gd name="T43" fmla="*/ 266 h 598"/>
                  <a:gd name="T44" fmla="*/ 597 w 598"/>
                  <a:gd name="T45" fmla="*/ 234 h 598"/>
                  <a:gd name="T46" fmla="*/ 586 w 598"/>
                  <a:gd name="T47" fmla="*/ 202 h 598"/>
                  <a:gd name="T48" fmla="*/ 523 w 598"/>
                  <a:gd name="T49" fmla="*/ 160 h 598"/>
                  <a:gd name="T50" fmla="*/ 523 w 598"/>
                  <a:gd name="T51" fmla="*/ 139 h 598"/>
                  <a:gd name="T52" fmla="*/ 586 w 598"/>
                  <a:gd name="T53" fmla="*/ 96 h 598"/>
                  <a:gd name="T54" fmla="*/ 501 w 598"/>
                  <a:gd name="T55" fmla="*/ 74 h 598"/>
                  <a:gd name="T56" fmla="*/ 480 w 598"/>
                  <a:gd name="T57" fmla="*/ 74 h 598"/>
                  <a:gd name="T58" fmla="*/ 438 w 598"/>
                  <a:gd name="T59" fmla="*/ 11 h 598"/>
                  <a:gd name="T60" fmla="*/ 406 w 598"/>
                  <a:gd name="T61" fmla="*/ 0 h 598"/>
                  <a:gd name="T62" fmla="*/ 374 w 598"/>
                  <a:gd name="T63" fmla="*/ 11 h 598"/>
                  <a:gd name="T64" fmla="*/ 331 w 598"/>
                  <a:gd name="T65" fmla="*/ 74 h 598"/>
                  <a:gd name="T66" fmla="*/ 309 w 598"/>
                  <a:gd name="T67" fmla="*/ 74 h 598"/>
                  <a:gd name="T68" fmla="*/ 267 w 598"/>
                  <a:gd name="T69" fmla="*/ 11 h 598"/>
                  <a:gd name="T70" fmla="*/ 235 w 598"/>
                  <a:gd name="T71" fmla="*/ 0 h 598"/>
                  <a:gd name="T72" fmla="*/ 203 w 598"/>
                  <a:gd name="T73" fmla="*/ 11 h 598"/>
                  <a:gd name="T74" fmla="*/ 160 w 598"/>
                  <a:gd name="T75" fmla="*/ 74 h 598"/>
                  <a:gd name="T76" fmla="*/ 139 w 598"/>
                  <a:gd name="T77" fmla="*/ 74 h 598"/>
                  <a:gd name="T78" fmla="*/ 96 w 598"/>
                  <a:gd name="T79" fmla="*/ 11 h 598"/>
                  <a:gd name="T80" fmla="*/ 75 w 598"/>
                  <a:gd name="T81" fmla="*/ 96 h 598"/>
                  <a:gd name="T82" fmla="*/ 75 w 598"/>
                  <a:gd name="T83" fmla="*/ 117 h 598"/>
                  <a:gd name="T84" fmla="*/ 11 w 598"/>
                  <a:gd name="T85" fmla="*/ 160 h 598"/>
                  <a:gd name="T86" fmla="*/ 0 w 598"/>
                  <a:gd name="T87" fmla="*/ 192 h 598"/>
                  <a:gd name="T88" fmla="*/ 11 w 598"/>
                  <a:gd name="T89" fmla="*/ 223 h 598"/>
                  <a:gd name="T90" fmla="*/ 75 w 598"/>
                  <a:gd name="T91" fmla="*/ 266 h 598"/>
                  <a:gd name="T92" fmla="*/ 75 w 598"/>
                  <a:gd name="T93" fmla="*/ 288 h 598"/>
                  <a:gd name="T94" fmla="*/ 11 w 598"/>
                  <a:gd name="T95" fmla="*/ 329 h 598"/>
                  <a:gd name="T96" fmla="*/ 0 w 598"/>
                  <a:gd name="T97" fmla="*/ 362 h 598"/>
                  <a:gd name="T98" fmla="*/ 11 w 598"/>
                  <a:gd name="T99" fmla="*/ 394 h 598"/>
                  <a:gd name="T100" fmla="*/ 75 w 598"/>
                  <a:gd name="T101" fmla="*/ 437 h 598"/>
                  <a:gd name="T102" fmla="*/ 75 w 598"/>
                  <a:gd name="T103" fmla="*/ 458 h 598"/>
                  <a:gd name="T104" fmla="*/ 96 w 598"/>
                  <a:gd name="T105" fmla="*/ 96 h 598"/>
                  <a:gd name="T106" fmla="*/ 96 w 598"/>
                  <a:gd name="T107" fmla="*/ 96 h 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98" h="598">
                    <a:moveTo>
                      <a:pt x="11" y="479"/>
                    </a:moveTo>
                    <a:lnTo>
                      <a:pt x="11" y="479"/>
                    </a:lnTo>
                    <a:cubicBezTo>
                      <a:pt x="5" y="479"/>
                      <a:pt x="0" y="484"/>
                      <a:pt x="0" y="490"/>
                    </a:cubicBezTo>
                    <a:cubicBezTo>
                      <a:pt x="0" y="496"/>
                      <a:pt x="5" y="501"/>
                      <a:pt x="11" y="501"/>
                    </a:cubicBezTo>
                    <a:cubicBezTo>
                      <a:pt x="75" y="501"/>
                      <a:pt x="75" y="501"/>
                      <a:pt x="75" y="501"/>
                    </a:cubicBezTo>
                    <a:cubicBezTo>
                      <a:pt x="75" y="511"/>
                      <a:pt x="75" y="511"/>
                      <a:pt x="75" y="511"/>
                    </a:cubicBezTo>
                    <a:cubicBezTo>
                      <a:pt x="75" y="517"/>
                      <a:pt x="81" y="522"/>
                      <a:pt x="86" y="522"/>
                    </a:cubicBezTo>
                    <a:cubicBezTo>
                      <a:pt x="96" y="522"/>
                      <a:pt x="96" y="522"/>
                      <a:pt x="96" y="522"/>
                    </a:cubicBezTo>
                    <a:cubicBezTo>
                      <a:pt x="96" y="586"/>
                      <a:pt x="96" y="586"/>
                      <a:pt x="96" y="586"/>
                    </a:cubicBezTo>
                    <a:cubicBezTo>
                      <a:pt x="96" y="592"/>
                      <a:pt x="101" y="597"/>
                      <a:pt x="107" y="597"/>
                    </a:cubicBezTo>
                    <a:cubicBezTo>
                      <a:pt x="113" y="597"/>
                      <a:pt x="117" y="592"/>
                      <a:pt x="117" y="586"/>
                    </a:cubicBezTo>
                    <a:cubicBezTo>
                      <a:pt x="117" y="522"/>
                      <a:pt x="117" y="522"/>
                      <a:pt x="117" y="522"/>
                    </a:cubicBezTo>
                    <a:cubicBezTo>
                      <a:pt x="139" y="522"/>
                      <a:pt x="139" y="522"/>
                      <a:pt x="139" y="522"/>
                    </a:cubicBezTo>
                    <a:cubicBezTo>
                      <a:pt x="139" y="586"/>
                      <a:pt x="139" y="586"/>
                      <a:pt x="139" y="586"/>
                    </a:cubicBezTo>
                    <a:cubicBezTo>
                      <a:pt x="139" y="592"/>
                      <a:pt x="144" y="597"/>
                      <a:pt x="150" y="597"/>
                    </a:cubicBezTo>
                    <a:cubicBezTo>
                      <a:pt x="155" y="597"/>
                      <a:pt x="160" y="592"/>
                      <a:pt x="160" y="586"/>
                    </a:cubicBezTo>
                    <a:cubicBezTo>
                      <a:pt x="160" y="522"/>
                      <a:pt x="160" y="522"/>
                      <a:pt x="160" y="522"/>
                    </a:cubicBezTo>
                    <a:cubicBezTo>
                      <a:pt x="182" y="522"/>
                      <a:pt x="182" y="522"/>
                      <a:pt x="182" y="522"/>
                    </a:cubicBezTo>
                    <a:cubicBezTo>
                      <a:pt x="182" y="586"/>
                      <a:pt x="182" y="586"/>
                      <a:pt x="182" y="586"/>
                    </a:cubicBezTo>
                    <a:cubicBezTo>
                      <a:pt x="182" y="592"/>
                      <a:pt x="187" y="597"/>
                      <a:pt x="192" y="597"/>
                    </a:cubicBezTo>
                    <a:cubicBezTo>
                      <a:pt x="198" y="597"/>
                      <a:pt x="203" y="592"/>
                      <a:pt x="203" y="586"/>
                    </a:cubicBezTo>
                    <a:cubicBezTo>
                      <a:pt x="203" y="522"/>
                      <a:pt x="203" y="522"/>
                      <a:pt x="203" y="522"/>
                    </a:cubicBezTo>
                    <a:cubicBezTo>
                      <a:pt x="225" y="522"/>
                      <a:pt x="225" y="522"/>
                      <a:pt x="225" y="522"/>
                    </a:cubicBezTo>
                    <a:cubicBezTo>
                      <a:pt x="225" y="586"/>
                      <a:pt x="225" y="586"/>
                      <a:pt x="225" y="586"/>
                    </a:cubicBezTo>
                    <a:cubicBezTo>
                      <a:pt x="225" y="592"/>
                      <a:pt x="229" y="597"/>
                      <a:pt x="235" y="597"/>
                    </a:cubicBezTo>
                    <a:cubicBezTo>
                      <a:pt x="241" y="597"/>
                      <a:pt x="246" y="592"/>
                      <a:pt x="246" y="586"/>
                    </a:cubicBezTo>
                    <a:cubicBezTo>
                      <a:pt x="246" y="522"/>
                      <a:pt x="246" y="522"/>
                      <a:pt x="246" y="522"/>
                    </a:cubicBezTo>
                    <a:cubicBezTo>
                      <a:pt x="267" y="522"/>
                      <a:pt x="267" y="522"/>
                      <a:pt x="267" y="522"/>
                    </a:cubicBezTo>
                    <a:cubicBezTo>
                      <a:pt x="267" y="586"/>
                      <a:pt x="267" y="586"/>
                      <a:pt x="267" y="586"/>
                    </a:cubicBezTo>
                    <a:cubicBezTo>
                      <a:pt x="267" y="592"/>
                      <a:pt x="271" y="597"/>
                      <a:pt x="278" y="597"/>
                    </a:cubicBezTo>
                    <a:cubicBezTo>
                      <a:pt x="283" y="597"/>
                      <a:pt x="289" y="592"/>
                      <a:pt x="289" y="586"/>
                    </a:cubicBezTo>
                    <a:cubicBezTo>
                      <a:pt x="289" y="522"/>
                      <a:pt x="289" y="522"/>
                      <a:pt x="289" y="522"/>
                    </a:cubicBezTo>
                    <a:cubicBezTo>
                      <a:pt x="309" y="522"/>
                      <a:pt x="309" y="522"/>
                      <a:pt x="309" y="522"/>
                    </a:cubicBezTo>
                    <a:cubicBezTo>
                      <a:pt x="309" y="586"/>
                      <a:pt x="309" y="586"/>
                      <a:pt x="309" y="586"/>
                    </a:cubicBezTo>
                    <a:cubicBezTo>
                      <a:pt x="309" y="592"/>
                      <a:pt x="314" y="597"/>
                      <a:pt x="320" y="597"/>
                    </a:cubicBezTo>
                    <a:cubicBezTo>
                      <a:pt x="326" y="597"/>
                      <a:pt x="331" y="592"/>
                      <a:pt x="331" y="586"/>
                    </a:cubicBezTo>
                    <a:cubicBezTo>
                      <a:pt x="331" y="522"/>
                      <a:pt x="331" y="522"/>
                      <a:pt x="331" y="522"/>
                    </a:cubicBezTo>
                    <a:cubicBezTo>
                      <a:pt x="352" y="522"/>
                      <a:pt x="352" y="522"/>
                      <a:pt x="352" y="522"/>
                    </a:cubicBezTo>
                    <a:cubicBezTo>
                      <a:pt x="352" y="586"/>
                      <a:pt x="352" y="586"/>
                      <a:pt x="352" y="586"/>
                    </a:cubicBezTo>
                    <a:cubicBezTo>
                      <a:pt x="352" y="592"/>
                      <a:pt x="357" y="597"/>
                      <a:pt x="363" y="597"/>
                    </a:cubicBezTo>
                    <a:cubicBezTo>
                      <a:pt x="369" y="597"/>
                      <a:pt x="374" y="592"/>
                      <a:pt x="374" y="586"/>
                    </a:cubicBezTo>
                    <a:cubicBezTo>
                      <a:pt x="374" y="522"/>
                      <a:pt x="374" y="522"/>
                      <a:pt x="374" y="522"/>
                    </a:cubicBezTo>
                    <a:cubicBezTo>
                      <a:pt x="395" y="522"/>
                      <a:pt x="395" y="522"/>
                      <a:pt x="395" y="522"/>
                    </a:cubicBezTo>
                    <a:cubicBezTo>
                      <a:pt x="395" y="586"/>
                      <a:pt x="395" y="586"/>
                      <a:pt x="395" y="586"/>
                    </a:cubicBezTo>
                    <a:cubicBezTo>
                      <a:pt x="395" y="592"/>
                      <a:pt x="399" y="597"/>
                      <a:pt x="406" y="597"/>
                    </a:cubicBezTo>
                    <a:cubicBezTo>
                      <a:pt x="411" y="597"/>
                      <a:pt x="416" y="592"/>
                      <a:pt x="416" y="586"/>
                    </a:cubicBezTo>
                    <a:cubicBezTo>
                      <a:pt x="416" y="522"/>
                      <a:pt x="416" y="522"/>
                      <a:pt x="416" y="522"/>
                    </a:cubicBezTo>
                    <a:cubicBezTo>
                      <a:pt x="438" y="522"/>
                      <a:pt x="438" y="522"/>
                      <a:pt x="438" y="522"/>
                    </a:cubicBezTo>
                    <a:cubicBezTo>
                      <a:pt x="438" y="586"/>
                      <a:pt x="438" y="586"/>
                      <a:pt x="438" y="586"/>
                    </a:cubicBezTo>
                    <a:cubicBezTo>
                      <a:pt x="438" y="592"/>
                      <a:pt x="442" y="597"/>
                      <a:pt x="448" y="597"/>
                    </a:cubicBezTo>
                    <a:cubicBezTo>
                      <a:pt x="454" y="597"/>
                      <a:pt x="459" y="592"/>
                      <a:pt x="459" y="586"/>
                    </a:cubicBezTo>
                    <a:cubicBezTo>
                      <a:pt x="459" y="522"/>
                      <a:pt x="459" y="522"/>
                      <a:pt x="459" y="522"/>
                    </a:cubicBezTo>
                    <a:cubicBezTo>
                      <a:pt x="480" y="522"/>
                      <a:pt x="480" y="522"/>
                      <a:pt x="480" y="522"/>
                    </a:cubicBezTo>
                    <a:cubicBezTo>
                      <a:pt x="480" y="586"/>
                      <a:pt x="480" y="586"/>
                      <a:pt x="480" y="586"/>
                    </a:cubicBezTo>
                    <a:cubicBezTo>
                      <a:pt x="480" y="592"/>
                      <a:pt x="485" y="597"/>
                      <a:pt x="491" y="597"/>
                    </a:cubicBezTo>
                    <a:cubicBezTo>
                      <a:pt x="497" y="597"/>
                      <a:pt x="501" y="592"/>
                      <a:pt x="501" y="586"/>
                    </a:cubicBezTo>
                    <a:cubicBezTo>
                      <a:pt x="501" y="522"/>
                      <a:pt x="501" y="522"/>
                      <a:pt x="501" y="522"/>
                    </a:cubicBezTo>
                    <a:cubicBezTo>
                      <a:pt x="512" y="522"/>
                      <a:pt x="512" y="522"/>
                      <a:pt x="512" y="522"/>
                    </a:cubicBezTo>
                    <a:cubicBezTo>
                      <a:pt x="519" y="522"/>
                      <a:pt x="523" y="517"/>
                      <a:pt x="523" y="511"/>
                    </a:cubicBezTo>
                    <a:cubicBezTo>
                      <a:pt x="523" y="501"/>
                      <a:pt x="523" y="501"/>
                      <a:pt x="523" y="501"/>
                    </a:cubicBezTo>
                    <a:cubicBezTo>
                      <a:pt x="586" y="501"/>
                      <a:pt x="586" y="501"/>
                      <a:pt x="586" y="501"/>
                    </a:cubicBezTo>
                    <a:cubicBezTo>
                      <a:pt x="593" y="501"/>
                      <a:pt x="597" y="496"/>
                      <a:pt x="597" y="490"/>
                    </a:cubicBezTo>
                    <a:cubicBezTo>
                      <a:pt x="597" y="484"/>
                      <a:pt x="593" y="479"/>
                      <a:pt x="586" y="479"/>
                    </a:cubicBezTo>
                    <a:cubicBezTo>
                      <a:pt x="523" y="479"/>
                      <a:pt x="523" y="479"/>
                      <a:pt x="523" y="479"/>
                    </a:cubicBezTo>
                    <a:cubicBezTo>
                      <a:pt x="523" y="458"/>
                      <a:pt x="523" y="458"/>
                      <a:pt x="523" y="458"/>
                    </a:cubicBezTo>
                    <a:cubicBezTo>
                      <a:pt x="586" y="458"/>
                      <a:pt x="586" y="458"/>
                      <a:pt x="586" y="458"/>
                    </a:cubicBezTo>
                    <a:cubicBezTo>
                      <a:pt x="593" y="458"/>
                      <a:pt x="597" y="454"/>
                      <a:pt x="597" y="448"/>
                    </a:cubicBezTo>
                    <a:cubicBezTo>
                      <a:pt x="597" y="442"/>
                      <a:pt x="593" y="437"/>
                      <a:pt x="586" y="437"/>
                    </a:cubicBezTo>
                    <a:cubicBezTo>
                      <a:pt x="523" y="437"/>
                      <a:pt x="523" y="437"/>
                      <a:pt x="523" y="437"/>
                    </a:cubicBezTo>
                    <a:cubicBezTo>
                      <a:pt x="523" y="415"/>
                      <a:pt x="523" y="415"/>
                      <a:pt x="523" y="415"/>
                    </a:cubicBezTo>
                    <a:cubicBezTo>
                      <a:pt x="586" y="415"/>
                      <a:pt x="586" y="415"/>
                      <a:pt x="586" y="415"/>
                    </a:cubicBezTo>
                    <a:cubicBezTo>
                      <a:pt x="593" y="415"/>
                      <a:pt x="597" y="411"/>
                      <a:pt x="597" y="405"/>
                    </a:cubicBezTo>
                    <a:cubicBezTo>
                      <a:pt x="597" y="399"/>
                      <a:pt x="593" y="394"/>
                      <a:pt x="586" y="394"/>
                    </a:cubicBezTo>
                    <a:cubicBezTo>
                      <a:pt x="523" y="394"/>
                      <a:pt x="523" y="394"/>
                      <a:pt x="523" y="394"/>
                    </a:cubicBezTo>
                    <a:cubicBezTo>
                      <a:pt x="523" y="372"/>
                      <a:pt x="523" y="372"/>
                      <a:pt x="523" y="372"/>
                    </a:cubicBezTo>
                    <a:cubicBezTo>
                      <a:pt x="586" y="372"/>
                      <a:pt x="586" y="372"/>
                      <a:pt x="586" y="372"/>
                    </a:cubicBezTo>
                    <a:cubicBezTo>
                      <a:pt x="593" y="372"/>
                      <a:pt x="597" y="368"/>
                      <a:pt x="597" y="362"/>
                    </a:cubicBezTo>
                    <a:cubicBezTo>
                      <a:pt x="597" y="357"/>
                      <a:pt x="593" y="351"/>
                      <a:pt x="586" y="351"/>
                    </a:cubicBezTo>
                    <a:cubicBezTo>
                      <a:pt x="523" y="351"/>
                      <a:pt x="523" y="351"/>
                      <a:pt x="523" y="351"/>
                    </a:cubicBezTo>
                    <a:cubicBezTo>
                      <a:pt x="523" y="329"/>
                      <a:pt x="523" y="329"/>
                      <a:pt x="523" y="329"/>
                    </a:cubicBezTo>
                    <a:cubicBezTo>
                      <a:pt x="586" y="329"/>
                      <a:pt x="586" y="329"/>
                      <a:pt x="586" y="329"/>
                    </a:cubicBezTo>
                    <a:cubicBezTo>
                      <a:pt x="593" y="329"/>
                      <a:pt x="597" y="325"/>
                      <a:pt x="597" y="319"/>
                    </a:cubicBezTo>
                    <a:cubicBezTo>
                      <a:pt x="597" y="314"/>
                      <a:pt x="593" y="308"/>
                      <a:pt x="586" y="308"/>
                    </a:cubicBezTo>
                    <a:cubicBezTo>
                      <a:pt x="523" y="308"/>
                      <a:pt x="523" y="308"/>
                      <a:pt x="523" y="308"/>
                    </a:cubicBezTo>
                    <a:cubicBezTo>
                      <a:pt x="523" y="288"/>
                      <a:pt x="523" y="288"/>
                      <a:pt x="523" y="288"/>
                    </a:cubicBezTo>
                    <a:cubicBezTo>
                      <a:pt x="586" y="288"/>
                      <a:pt x="586" y="288"/>
                      <a:pt x="586" y="288"/>
                    </a:cubicBezTo>
                    <a:cubicBezTo>
                      <a:pt x="593" y="288"/>
                      <a:pt x="597" y="283"/>
                      <a:pt x="597" y="276"/>
                    </a:cubicBezTo>
                    <a:cubicBezTo>
                      <a:pt x="597" y="271"/>
                      <a:pt x="593" y="266"/>
                      <a:pt x="586" y="266"/>
                    </a:cubicBezTo>
                    <a:cubicBezTo>
                      <a:pt x="523" y="266"/>
                      <a:pt x="523" y="266"/>
                      <a:pt x="523" y="266"/>
                    </a:cubicBezTo>
                    <a:cubicBezTo>
                      <a:pt x="523" y="245"/>
                      <a:pt x="523" y="245"/>
                      <a:pt x="523" y="245"/>
                    </a:cubicBezTo>
                    <a:cubicBezTo>
                      <a:pt x="586" y="245"/>
                      <a:pt x="586" y="245"/>
                      <a:pt x="586" y="245"/>
                    </a:cubicBezTo>
                    <a:cubicBezTo>
                      <a:pt x="593" y="245"/>
                      <a:pt x="597" y="241"/>
                      <a:pt x="597" y="234"/>
                    </a:cubicBezTo>
                    <a:cubicBezTo>
                      <a:pt x="597" y="228"/>
                      <a:pt x="593" y="223"/>
                      <a:pt x="586" y="223"/>
                    </a:cubicBezTo>
                    <a:cubicBezTo>
                      <a:pt x="523" y="223"/>
                      <a:pt x="523" y="223"/>
                      <a:pt x="523" y="223"/>
                    </a:cubicBezTo>
                    <a:cubicBezTo>
                      <a:pt x="523" y="202"/>
                      <a:pt x="523" y="202"/>
                      <a:pt x="523" y="202"/>
                    </a:cubicBezTo>
                    <a:cubicBezTo>
                      <a:pt x="586" y="202"/>
                      <a:pt x="586" y="202"/>
                      <a:pt x="586" y="202"/>
                    </a:cubicBezTo>
                    <a:cubicBezTo>
                      <a:pt x="593" y="202"/>
                      <a:pt x="597" y="198"/>
                      <a:pt x="597" y="192"/>
                    </a:cubicBezTo>
                    <a:cubicBezTo>
                      <a:pt x="597" y="186"/>
                      <a:pt x="593" y="181"/>
                      <a:pt x="586" y="181"/>
                    </a:cubicBezTo>
                    <a:cubicBezTo>
                      <a:pt x="523" y="181"/>
                      <a:pt x="523" y="181"/>
                      <a:pt x="523" y="181"/>
                    </a:cubicBezTo>
                    <a:cubicBezTo>
                      <a:pt x="523" y="160"/>
                      <a:pt x="523" y="160"/>
                      <a:pt x="523" y="160"/>
                    </a:cubicBezTo>
                    <a:cubicBezTo>
                      <a:pt x="586" y="160"/>
                      <a:pt x="586" y="160"/>
                      <a:pt x="586" y="160"/>
                    </a:cubicBezTo>
                    <a:cubicBezTo>
                      <a:pt x="593" y="160"/>
                      <a:pt x="597" y="155"/>
                      <a:pt x="597" y="150"/>
                    </a:cubicBezTo>
                    <a:cubicBezTo>
                      <a:pt x="597" y="143"/>
                      <a:pt x="593" y="139"/>
                      <a:pt x="586" y="139"/>
                    </a:cubicBezTo>
                    <a:cubicBezTo>
                      <a:pt x="523" y="139"/>
                      <a:pt x="523" y="139"/>
                      <a:pt x="523" y="139"/>
                    </a:cubicBezTo>
                    <a:cubicBezTo>
                      <a:pt x="523" y="117"/>
                      <a:pt x="523" y="117"/>
                      <a:pt x="523" y="117"/>
                    </a:cubicBezTo>
                    <a:cubicBezTo>
                      <a:pt x="586" y="117"/>
                      <a:pt x="586" y="117"/>
                      <a:pt x="586" y="117"/>
                    </a:cubicBezTo>
                    <a:cubicBezTo>
                      <a:pt x="593" y="117"/>
                      <a:pt x="597" y="112"/>
                      <a:pt x="597" y="107"/>
                    </a:cubicBezTo>
                    <a:cubicBezTo>
                      <a:pt x="597" y="101"/>
                      <a:pt x="593" y="96"/>
                      <a:pt x="586" y="96"/>
                    </a:cubicBezTo>
                    <a:cubicBezTo>
                      <a:pt x="523" y="96"/>
                      <a:pt x="523" y="96"/>
                      <a:pt x="523" y="96"/>
                    </a:cubicBezTo>
                    <a:cubicBezTo>
                      <a:pt x="523" y="86"/>
                      <a:pt x="523" y="86"/>
                      <a:pt x="523" y="86"/>
                    </a:cubicBezTo>
                    <a:cubicBezTo>
                      <a:pt x="523" y="79"/>
                      <a:pt x="519" y="74"/>
                      <a:pt x="512" y="74"/>
                    </a:cubicBezTo>
                    <a:cubicBezTo>
                      <a:pt x="501" y="74"/>
                      <a:pt x="501" y="74"/>
                      <a:pt x="501" y="74"/>
                    </a:cubicBezTo>
                    <a:cubicBezTo>
                      <a:pt x="501" y="11"/>
                      <a:pt x="501" y="11"/>
                      <a:pt x="501" y="11"/>
                    </a:cubicBezTo>
                    <a:cubicBezTo>
                      <a:pt x="501" y="4"/>
                      <a:pt x="497" y="0"/>
                      <a:pt x="491" y="0"/>
                    </a:cubicBezTo>
                    <a:cubicBezTo>
                      <a:pt x="485" y="0"/>
                      <a:pt x="480" y="4"/>
                      <a:pt x="480" y="11"/>
                    </a:cubicBezTo>
                    <a:cubicBezTo>
                      <a:pt x="480" y="74"/>
                      <a:pt x="480" y="74"/>
                      <a:pt x="480" y="74"/>
                    </a:cubicBezTo>
                    <a:cubicBezTo>
                      <a:pt x="459" y="74"/>
                      <a:pt x="459" y="74"/>
                      <a:pt x="459" y="74"/>
                    </a:cubicBezTo>
                    <a:cubicBezTo>
                      <a:pt x="459" y="11"/>
                      <a:pt x="459" y="11"/>
                      <a:pt x="459" y="11"/>
                    </a:cubicBezTo>
                    <a:cubicBezTo>
                      <a:pt x="459" y="4"/>
                      <a:pt x="454" y="0"/>
                      <a:pt x="448" y="0"/>
                    </a:cubicBezTo>
                    <a:cubicBezTo>
                      <a:pt x="442" y="0"/>
                      <a:pt x="438" y="4"/>
                      <a:pt x="438" y="11"/>
                    </a:cubicBezTo>
                    <a:cubicBezTo>
                      <a:pt x="438" y="74"/>
                      <a:pt x="438" y="74"/>
                      <a:pt x="438" y="74"/>
                    </a:cubicBezTo>
                    <a:cubicBezTo>
                      <a:pt x="416" y="74"/>
                      <a:pt x="416" y="74"/>
                      <a:pt x="416" y="74"/>
                    </a:cubicBezTo>
                    <a:cubicBezTo>
                      <a:pt x="416" y="11"/>
                      <a:pt x="416" y="11"/>
                      <a:pt x="416" y="11"/>
                    </a:cubicBezTo>
                    <a:cubicBezTo>
                      <a:pt x="416" y="4"/>
                      <a:pt x="411" y="0"/>
                      <a:pt x="406" y="0"/>
                    </a:cubicBezTo>
                    <a:cubicBezTo>
                      <a:pt x="399" y="0"/>
                      <a:pt x="395" y="4"/>
                      <a:pt x="395" y="11"/>
                    </a:cubicBezTo>
                    <a:cubicBezTo>
                      <a:pt x="395" y="74"/>
                      <a:pt x="395" y="74"/>
                      <a:pt x="395" y="74"/>
                    </a:cubicBezTo>
                    <a:cubicBezTo>
                      <a:pt x="374" y="74"/>
                      <a:pt x="374" y="74"/>
                      <a:pt x="374" y="74"/>
                    </a:cubicBezTo>
                    <a:cubicBezTo>
                      <a:pt x="374" y="11"/>
                      <a:pt x="374" y="11"/>
                      <a:pt x="374" y="11"/>
                    </a:cubicBezTo>
                    <a:cubicBezTo>
                      <a:pt x="374" y="4"/>
                      <a:pt x="369" y="0"/>
                      <a:pt x="363" y="0"/>
                    </a:cubicBezTo>
                    <a:cubicBezTo>
                      <a:pt x="357" y="0"/>
                      <a:pt x="352" y="4"/>
                      <a:pt x="352" y="11"/>
                    </a:cubicBezTo>
                    <a:cubicBezTo>
                      <a:pt x="352" y="74"/>
                      <a:pt x="352" y="74"/>
                      <a:pt x="352" y="74"/>
                    </a:cubicBezTo>
                    <a:cubicBezTo>
                      <a:pt x="331" y="74"/>
                      <a:pt x="331" y="74"/>
                      <a:pt x="331" y="74"/>
                    </a:cubicBezTo>
                    <a:cubicBezTo>
                      <a:pt x="331" y="11"/>
                      <a:pt x="331" y="11"/>
                      <a:pt x="331" y="11"/>
                    </a:cubicBezTo>
                    <a:cubicBezTo>
                      <a:pt x="331" y="4"/>
                      <a:pt x="326" y="0"/>
                      <a:pt x="320" y="0"/>
                    </a:cubicBezTo>
                    <a:cubicBezTo>
                      <a:pt x="314" y="0"/>
                      <a:pt x="309" y="4"/>
                      <a:pt x="309" y="11"/>
                    </a:cubicBezTo>
                    <a:cubicBezTo>
                      <a:pt x="309" y="74"/>
                      <a:pt x="309" y="74"/>
                      <a:pt x="309" y="74"/>
                    </a:cubicBezTo>
                    <a:cubicBezTo>
                      <a:pt x="289" y="74"/>
                      <a:pt x="289" y="74"/>
                      <a:pt x="289" y="74"/>
                    </a:cubicBezTo>
                    <a:cubicBezTo>
                      <a:pt x="289" y="11"/>
                      <a:pt x="289" y="11"/>
                      <a:pt x="289" y="11"/>
                    </a:cubicBezTo>
                    <a:cubicBezTo>
                      <a:pt x="289" y="4"/>
                      <a:pt x="283" y="0"/>
                      <a:pt x="278" y="0"/>
                    </a:cubicBezTo>
                    <a:cubicBezTo>
                      <a:pt x="271" y="0"/>
                      <a:pt x="267" y="4"/>
                      <a:pt x="267" y="11"/>
                    </a:cubicBezTo>
                    <a:cubicBezTo>
                      <a:pt x="267" y="74"/>
                      <a:pt x="267" y="74"/>
                      <a:pt x="267" y="74"/>
                    </a:cubicBezTo>
                    <a:cubicBezTo>
                      <a:pt x="246" y="74"/>
                      <a:pt x="246" y="74"/>
                      <a:pt x="246" y="74"/>
                    </a:cubicBezTo>
                    <a:cubicBezTo>
                      <a:pt x="246" y="11"/>
                      <a:pt x="246" y="11"/>
                      <a:pt x="246" y="11"/>
                    </a:cubicBezTo>
                    <a:cubicBezTo>
                      <a:pt x="246" y="4"/>
                      <a:pt x="241" y="0"/>
                      <a:pt x="235" y="0"/>
                    </a:cubicBezTo>
                    <a:cubicBezTo>
                      <a:pt x="229" y="0"/>
                      <a:pt x="225" y="4"/>
                      <a:pt x="225" y="11"/>
                    </a:cubicBezTo>
                    <a:cubicBezTo>
                      <a:pt x="225" y="74"/>
                      <a:pt x="225" y="74"/>
                      <a:pt x="225" y="74"/>
                    </a:cubicBezTo>
                    <a:cubicBezTo>
                      <a:pt x="203" y="74"/>
                      <a:pt x="203" y="74"/>
                      <a:pt x="203" y="74"/>
                    </a:cubicBezTo>
                    <a:cubicBezTo>
                      <a:pt x="203" y="11"/>
                      <a:pt x="203" y="11"/>
                      <a:pt x="203" y="11"/>
                    </a:cubicBezTo>
                    <a:cubicBezTo>
                      <a:pt x="203" y="4"/>
                      <a:pt x="198" y="0"/>
                      <a:pt x="192" y="0"/>
                    </a:cubicBezTo>
                    <a:cubicBezTo>
                      <a:pt x="187" y="0"/>
                      <a:pt x="182" y="4"/>
                      <a:pt x="182" y="11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60" y="74"/>
                      <a:pt x="160" y="74"/>
                      <a:pt x="160" y="74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60" y="4"/>
                      <a:pt x="155" y="0"/>
                      <a:pt x="150" y="0"/>
                    </a:cubicBezTo>
                    <a:cubicBezTo>
                      <a:pt x="144" y="0"/>
                      <a:pt x="139" y="4"/>
                      <a:pt x="139" y="11"/>
                    </a:cubicBezTo>
                    <a:cubicBezTo>
                      <a:pt x="139" y="74"/>
                      <a:pt x="139" y="74"/>
                      <a:pt x="139" y="74"/>
                    </a:cubicBezTo>
                    <a:cubicBezTo>
                      <a:pt x="117" y="74"/>
                      <a:pt x="117" y="74"/>
                      <a:pt x="117" y="74"/>
                    </a:cubicBezTo>
                    <a:cubicBezTo>
                      <a:pt x="117" y="11"/>
                      <a:pt x="117" y="11"/>
                      <a:pt x="117" y="11"/>
                    </a:cubicBezTo>
                    <a:cubicBezTo>
                      <a:pt x="117" y="4"/>
                      <a:pt x="113" y="0"/>
                      <a:pt x="107" y="0"/>
                    </a:cubicBezTo>
                    <a:cubicBezTo>
                      <a:pt x="101" y="0"/>
                      <a:pt x="96" y="4"/>
                      <a:pt x="96" y="11"/>
                    </a:cubicBezTo>
                    <a:cubicBezTo>
                      <a:pt x="96" y="74"/>
                      <a:pt x="96" y="74"/>
                      <a:pt x="96" y="74"/>
                    </a:cubicBezTo>
                    <a:cubicBezTo>
                      <a:pt x="86" y="74"/>
                      <a:pt x="86" y="74"/>
                      <a:pt x="86" y="74"/>
                    </a:cubicBezTo>
                    <a:cubicBezTo>
                      <a:pt x="81" y="74"/>
                      <a:pt x="75" y="79"/>
                      <a:pt x="75" y="86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5" y="96"/>
                      <a:pt x="0" y="101"/>
                      <a:pt x="0" y="107"/>
                    </a:cubicBezTo>
                    <a:cubicBezTo>
                      <a:pt x="0" y="112"/>
                      <a:pt x="5" y="117"/>
                      <a:pt x="11" y="117"/>
                    </a:cubicBezTo>
                    <a:cubicBezTo>
                      <a:pt x="75" y="117"/>
                      <a:pt x="75" y="117"/>
                      <a:pt x="75" y="11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11" y="139"/>
                      <a:pt x="11" y="139"/>
                      <a:pt x="11" y="139"/>
                    </a:cubicBezTo>
                    <a:cubicBezTo>
                      <a:pt x="5" y="139"/>
                      <a:pt x="0" y="143"/>
                      <a:pt x="0" y="150"/>
                    </a:cubicBezTo>
                    <a:cubicBezTo>
                      <a:pt x="0" y="155"/>
                      <a:pt x="5" y="160"/>
                      <a:pt x="11" y="160"/>
                    </a:cubicBezTo>
                    <a:cubicBezTo>
                      <a:pt x="75" y="160"/>
                      <a:pt x="75" y="160"/>
                      <a:pt x="75" y="160"/>
                    </a:cubicBezTo>
                    <a:cubicBezTo>
                      <a:pt x="75" y="181"/>
                      <a:pt x="75" y="181"/>
                      <a:pt x="75" y="181"/>
                    </a:cubicBezTo>
                    <a:cubicBezTo>
                      <a:pt x="11" y="181"/>
                      <a:pt x="11" y="181"/>
                      <a:pt x="11" y="181"/>
                    </a:cubicBezTo>
                    <a:cubicBezTo>
                      <a:pt x="5" y="181"/>
                      <a:pt x="0" y="186"/>
                      <a:pt x="0" y="192"/>
                    </a:cubicBezTo>
                    <a:cubicBezTo>
                      <a:pt x="0" y="198"/>
                      <a:pt x="5" y="202"/>
                      <a:pt x="11" y="202"/>
                    </a:cubicBezTo>
                    <a:cubicBezTo>
                      <a:pt x="75" y="202"/>
                      <a:pt x="75" y="202"/>
                      <a:pt x="75" y="202"/>
                    </a:cubicBezTo>
                    <a:cubicBezTo>
                      <a:pt x="75" y="223"/>
                      <a:pt x="75" y="223"/>
                      <a:pt x="75" y="223"/>
                    </a:cubicBezTo>
                    <a:cubicBezTo>
                      <a:pt x="11" y="223"/>
                      <a:pt x="11" y="223"/>
                      <a:pt x="11" y="223"/>
                    </a:cubicBezTo>
                    <a:cubicBezTo>
                      <a:pt x="5" y="223"/>
                      <a:pt x="0" y="228"/>
                      <a:pt x="0" y="234"/>
                    </a:cubicBezTo>
                    <a:cubicBezTo>
                      <a:pt x="0" y="241"/>
                      <a:pt x="5" y="245"/>
                      <a:pt x="11" y="245"/>
                    </a:cubicBezTo>
                    <a:cubicBezTo>
                      <a:pt x="75" y="245"/>
                      <a:pt x="75" y="245"/>
                      <a:pt x="75" y="245"/>
                    </a:cubicBezTo>
                    <a:cubicBezTo>
                      <a:pt x="75" y="266"/>
                      <a:pt x="75" y="266"/>
                      <a:pt x="75" y="266"/>
                    </a:cubicBezTo>
                    <a:cubicBezTo>
                      <a:pt x="11" y="266"/>
                      <a:pt x="11" y="266"/>
                      <a:pt x="11" y="266"/>
                    </a:cubicBezTo>
                    <a:cubicBezTo>
                      <a:pt x="5" y="266"/>
                      <a:pt x="0" y="271"/>
                      <a:pt x="0" y="276"/>
                    </a:cubicBezTo>
                    <a:cubicBezTo>
                      <a:pt x="0" y="283"/>
                      <a:pt x="5" y="288"/>
                      <a:pt x="11" y="288"/>
                    </a:cubicBezTo>
                    <a:cubicBezTo>
                      <a:pt x="75" y="288"/>
                      <a:pt x="75" y="288"/>
                      <a:pt x="75" y="288"/>
                    </a:cubicBezTo>
                    <a:cubicBezTo>
                      <a:pt x="75" y="308"/>
                      <a:pt x="75" y="308"/>
                      <a:pt x="75" y="308"/>
                    </a:cubicBezTo>
                    <a:cubicBezTo>
                      <a:pt x="11" y="308"/>
                      <a:pt x="11" y="308"/>
                      <a:pt x="11" y="308"/>
                    </a:cubicBezTo>
                    <a:cubicBezTo>
                      <a:pt x="5" y="308"/>
                      <a:pt x="0" y="314"/>
                      <a:pt x="0" y="319"/>
                    </a:cubicBezTo>
                    <a:cubicBezTo>
                      <a:pt x="0" y="325"/>
                      <a:pt x="5" y="329"/>
                      <a:pt x="11" y="329"/>
                    </a:cubicBezTo>
                    <a:cubicBezTo>
                      <a:pt x="75" y="329"/>
                      <a:pt x="75" y="329"/>
                      <a:pt x="75" y="329"/>
                    </a:cubicBezTo>
                    <a:cubicBezTo>
                      <a:pt x="75" y="351"/>
                      <a:pt x="75" y="351"/>
                      <a:pt x="75" y="351"/>
                    </a:cubicBezTo>
                    <a:cubicBezTo>
                      <a:pt x="11" y="351"/>
                      <a:pt x="11" y="351"/>
                      <a:pt x="11" y="351"/>
                    </a:cubicBezTo>
                    <a:cubicBezTo>
                      <a:pt x="5" y="351"/>
                      <a:pt x="0" y="357"/>
                      <a:pt x="0" y="362"/>
                    </a:cubicBezTo>
                    <a:cubicBezTo>
                      <a:pt x="0" y="368"/>
                      <a:pt x="5" y="372"/>
                      <a:pt x="11" y="372"/>
                    </a:cubicBezTo>
                    <a:cubicBezTo>
                      <a:pt x="75" y="372"/>
                      <a:pt x="75" y="372"/>
                      <a:pt x="75" y="372"/>
                    </a:cubicBezTo>
                    <a:cubicBezTo>
                      <a:pt x="75" y="394"/>
                      <a:pt x="75" y="394"/>
                      <a:pt x="75" y="394"/>
                    </a:cubicBezTo>
                    <a:cubicBezTo>
                      <a:pt x="11" y="394"/>
                      <a:pt x="11" y="394"/>
                      <a:pt x="11" y="394"/>
                    </a:cubicBezTo>
                    <a:cubicBezTo>
                      <a:pt x="5" y="394"/>
                      <a:pt x="0" y="399"/>
                      <a:pt x="0" y="405"/>
                    </a:cubicBezTo>
                    <a:cubicBezTo>
                      <a:pt x="0" y="411"/>
                      <a:pt x="5" y="415"/>
                      <a:pt x="11" y="415"/>
                    </a:cubicBezTo>
                    <a:cubicBezTo>
                      <a:pt x="75" y="415"/>
                      <a:pt x="75" y="415"/>
                      <a:pt x="75" y="415"/>
                    </a:cubicBezTo>
                    <a:cubicBezTo>
                      <a:pt x="75" y="437"/>
                      <a:pt x="75" y="437"/>
                      <a:pt x="75" y="437"/>
                    </a:cubicBezTo>
                    <a:cubicBezTo>
                      <a:pt x="11" y="437"/>
                      <a:pt x="11" y="437"/>
                      <a:pt x="11" y="437"/>
                    </a:cubicBezTo>
                    <a:cubicBezTo>
                      <a:pt x="5" y="437"/>
                      <a:pt x="0" y="442"/>
                      <a:pt x="0" y="448"/>
                    </a:cubicBezTo>
                    <a:cubicBezTo>
                      <a:pt x="0" y="454"/>
                      <a:pt x="5" y="458"/>
                      <a:pt x="11" y="458"/>
                    </a:cubicBezTo>
                    <a:cubicBezTo>
                      <a:pt x="75" y="458"/>
                      <a:pt x="75" y="458"/>
                      <a:pt x="75" y="458"/>
                    </a:cubicBezTo>
                    <a:cubicBezTo>
                      <a:pt x="75" y="479"/>
                      <a:pt x="75" y="479"/>
                      <a:pt x="75" y="479"/>
                    </a:cubicBezTo>
                    <a:lnTo>
                      <a:pt x="11" y="479"/>
                    </a:lnTo>
                    <a:close/>
                    <a:moveTo>
                      <a:pt x="96" y="96"/>
                    </a:moveTo>
                    <a:lnTo>
                      <a:pt x="96" y="96"/>
                    </a:lnTo>
                    <a:cubicBezTo>
                      <a:pt x="501" y="96"/>
                      <a:pt x="501" y="96"/>
                      <a:pt x="501" y="96"/>
                    </a:cubicBezTo>
                    <a:cubicBezTo>
                      <a:pt x="501" y="501"/>
                      <a:pt x="501" y="501"/>
                      <a:pt x="501" y="501"/>
                    </a:cubicBezTo>
                    <a:cubicBezTo>
                      <a:pt x="96" y="501"/>
                      <a:pt x="96" y="501"/>
                      <a:pt x="96" y="501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rgbClr val="618153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64"/>
              </a:p>
            </p:txBody>
          </p:sp>
        </p:grpSp>
        <p:cxnSp>
          <p:nvCxnSpPr>
            <p:cNvPr id="43" name="Straight Connector 64">
              <a:extLst>
                <a:ext uri="{FF2B5EF4-FFF2-40B4-BE49-F238E27FC236}">
                  <a16:creationId xmlns="" xmlns:a16="http://schemas.microsoft.com/office/drawing/2014/main" id="{D22F4E57-90BA-4899-909E-5829E7A9C72A}"/>
                </a:ext>
              </a:extLst>
            </p:cNvPr>
            <p:cNvCxnSpPr/>
            <p:nvPr/>
          </p:nvCxnSpPr>
          <p:spPr>
            <a:xfrm flipH="1">
              <a:off x="8135667" y="3598633"/>
              <a:ext cx="1" cy="664248"/>
            </a:xfrm>
            <a:prstGeom prst="line">
              <a:avLst/>
            </a:prstGeom>
            <a:ln w="19050">
              <a:solidFill>
                <a:srgbClr val="61815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/>
          <p:cNvGrpSpPr/>
          <p:nvPr/>
        </p:nvGrpSpPr>
        <p:grpSpPr>
          <a:xfrm>
            <a:off x="7290435" y="965835"/>
            <a:ext cx="1569720" cy="1059180"/>
            <a:chOff x="7338060" y="975360"/>
            <a:chExt cx="1569720" cy="1059180"/>
          </a:xfrm>
        </p:grpSpPr>
        <p:sp>
          <p:nvSpPr>
            <p:cNvPr id="47" name="직사각형 46"/>
            <p:cNvSpPr/>
            <p:nvPr/>
          </p:nvSpPr>
          <p:spPr>
            <a:xfrm>
              <a:off x="7534819" y="975360"/>
              <a:ext cx="1188000" cy="1059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Picture 47"/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8060" y="1045996"/>
              <a:ext cx="1569720" cy="914492"/>
            </a:xfrm>
            <a:prstGeom prst="rect">
              <a:avLst/>
            </a:prstGeom>
          </p:spPr>
        </p:pic>
      </p:grpSp>
      <p:grpSp>
        <p:nvGrpSpPr>
          <p:cNvPr id="50" name="그룹 49"/>
          <p:cNvGrpSpPr/>
          <p:nvPr/>
        </p:nvGrpSpPr>
        <p:grpSpPr>
          <a:xfrm>
            <a:off x="7481295" y="2170902"/>
            <a:ext cx="1188000" cy="1144923"/>
            <a:chOff x="7550059" y="2170902"/>
            <a:chExt cx="1188000" cy="1144923"/>
          </a:xfrm>
        </p:grpSpPr>
        <p:sp>
          <p:nvSpPr>
            <p:cNvPr id="46" name="직사각형 45"/>
            <p:cNvSpPr/>
            <p:nvPr/>
          </p:nvSpPr>
          <p:spPr>
            <a:xfrm>
              <a:off x="7550059" y="2221792"/>
              <a:ext cx="1188000" cy="1059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5" name="Picture 45"/>
            <p:cNvPicPr>
              <a:picLocks noChangeAspect="1"/>
            </p:cNvPicPr>
            <p:nvPr/>
          </p:nvPicPr>
          <p:blipFill>
            <a:blip r:embed="rId9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8578" y="2170902"/>
              <a:ext cx="1062982" cy="1144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838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아키텍처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단순하고 효율적인 아키텍처로 대규모 데이터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68047" y="676727"/>
            <a:ext cx="931272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Pure-MPP (Massively Parallel Processing)</a:t>
            </a:r>
            <a:br>
              <a:rPr lang="en-US" altLang="ko-KR" sz="1400" b="1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는 별도의 마스터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분리하지 않고 모든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동일한 역할을 수행하는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pure-MPP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구조입니다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 클러스터 구성이나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구성에 특별한 하드웨어나 소프트웨어를 필요로 하지 않기 때문에 비용적인 강점이 있으며 복잡한 구성이 불필요하여 클러스터 구성 과정이 매우 간단하고 빠릅니다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69050" y="2034553"/>
            <a:ext cx="3192971" cy="1393647"/>
            <a:chOff x="5918698" y="2256619"/>
            <a:chExt cx="3192971" cy="1393647"/>
          </a:xfrm>
        </p:grpSpPr>
        <p:sp>
          <p:nvSpPr>
            <p:cNvPr id="50" name="Rounded Rectangle 32"/>
            <p:cNvSpPr/>
            <p:nvPr/>
          </p:nvSpPr>
          <p:spPr>
            <a:xfrm>
              <a:off x="7124680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51" name="Rounded Rectangle 33"/>
            <p:cNvSpPr/>
            <p:nvPr/>
          </p:nvSpPr>
          <p:spPr>
            <a:xfrm>
              <a:off x="7492864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52" name="Rounded Rectangle 34"/>
            <p:cNvSpPr/>
            <p:nvPr/>
          </p:nvSpPr>
          <p:spPr>
            <a:xfrm>
              <a:off x="7861048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53" name="Straight Connector 35"/>
            <p:cNvCxnSpPr>
              <a:endCxn id="50" idx="0"/>
            </p:cNvCxnSpPr>
            <p:nvPr/>
          </p:nvCxnSpPr>
          <p:spPr>
            <a:xfrm>
              <a:off x="7277866" y="2971703"/>
              <a:ext cx="0" cy="109887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36"/>
            <p:cNvCxnSpPr/>
            <p:nvPr/>
          </p:nvCxnSpPr>
          <p:spPr>
            <a:xfrm>
              <a:off x="7646049" y="2976466"/>
              <a:ext cx="0" cy="12780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37"/>
            <p:cNvCxnSpPr/>
            <p:nvPr/>
          </p:nvCxnSpPr>
          <p:spPr>
            <a:xfrm>
              <a:off x="8014233" y="2976466"/>
              <a:ext cx="0" cy="12780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38"/>
            <p:cNvSpPr/>
            <p:nvPr/>
          </p:nvSpPr>
          <p:spPr>
            <a:xfrm>
              <a:off x="7277867" y="2529655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57" name="Straight Connector 39"/>
            <p:cNvCxnSpPr/>
            <p:nvPr/>
          </p:nvCxnSpPr>
          <p:spPr>
            <a:xfrm>
              <a:off x="7431052" y="2850536"/>
              <a:ext cx="1" cy="125930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40"/>
            <p:cNvCxnSpPr>
              <a:stCxn id="59" idx="2"/>
            </p:cNvCxnSpPr>
            <p:nvPr/>
          </p:nvCxnSpPr>
          <p:spPr>
            <a:xfrm>
              <a:off x="7830142" y="2857053"/>
              <a:ext cx="2654" cy="1289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ounded Rectangle 41"/>
            <p:cNvSpPr/>
            <p:nvPr/>
          </p:nvSpPr>
          <p:spPr>
            <a:xfrm>
              <a:off x="7676956" y="2529655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227501" y="2264314"/>
              <a:ext cx="801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DB Server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06672" y="3396350"/>
              <a:ext cx="10919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Storage Server</a:t>
              </a:r>
            </a:p>
          </p:txBody>
        </p:sp>
        <p:sp>
          <p:nvSpPr>
            <p:cNvPr id="62" name="Rounded Rectangle 44"/>
            <p:cNvSpPr/>
            <p:nvPr/>
          </p:nvSpPr>
          <p:spPr>
            <a:xfrm>
              <a:off x="7054159" y="2918514"/>
              <a:ext cx="1161065" cy="115905"/>
            </a:xfrm>
            <a:prstGeom prst="roundRect">
              <a:avLst/>
            </a:prstGeom>
            <a:solidFill>
              <a:srgbClr val="F053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>
                  <a:latin typeface="+mn-ea"/>
                </a:rPr>
                <a:t>InfiniBand</a:t>
              </a:r>
              <a:endParaRPr lang="en-US" sz="800" dirty="0">
                <a:latin typeface="+mn-ea"/>
              </a:endParaRPr>
            </a:p>
          </p:txBody>
        </p:sp>
        <p:sp>
          <p:nvSpPr>
            <p:cNvPr id="63" name="Rounded Rectangle 45"/>
            <p:cNvSpPr/>
            <p:nvPr/>
          </p:nvSpPr>
          <p:spPr>
            <a:xfrm>
              <a:off x="7158426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64" name="Rounded Rectangle 46"/>
            <p:cNvSpPr/>
            <p:nvPr/>
          </p:nvSpPr>
          <p:spPr>
            <a:xfrm>
              <a:off x="7535621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65" name="Rounded Rectangle 47"/>
            <p:cNvSpPr/>
            <p:nvPr/>
          </p:nvSpPr>
          <p:spPr>
            <a:xfrm>
              <a:off x="7903804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34531" y="2264314"/>
              <a:ext cx="10326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000" b="1" dirty="0">
                  <a:latin typeface="+mn-ea"/>
                  <a:cs typeface="HP Simplified" pitchFamily="34" charset="0"/>
                </a:rPr>
                <a:t>Master Server</a:t>
              </a:r>
              <a:endParaRPr lang="en-US" sz="10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38" name="Rounded Rectangle 19"/>
            <p:cNvSpPr/>
            <p:nvPr/>
          </p:nvSpPr>
          <p:spPr>
            <a:xfrm>
              <a:off x="5918698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39" name="Rounded Rectangle 20"/>
            <p:cNvSpPr/>
            <p:nvPr/>
          </p:nvSpPr>
          <p:spPr>
            <a:xfrm>
              <a:off x="6286882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40" name="Rounded Rectangle 21"/>
            <p:cNvSpPr/>
            <p:nvPr/>
          </p:nvSpPr>
          <p:spPr>
            <a:xfrm>
              <a:off x="6655065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1" name="Straight Connector 22"/>
            <p:cNvCxnSpPr/>
            <p:nvPr/>
          </p:nvCxnSpPr>
          <p:spPr>
            <a:xfrm>
              <a:off x="5918698" y="2973457"/>
              <a:ext cx="1042738" cy="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23"/>
            <p:cNvCxnSpPr>
              <a:endCxn id="38" idx="0"/>
            </p:cNvCxnSpPr>
            <p:nvPr/>
          </p:nvCxnSpPr>
          <p:spPr>
            <a:xfrm>
              <a:off x="6071884" y="2968694"/>
              <a:ext cx="0" cy="112896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24"/>
            <p:cNvCxnSpPr/>
            <p:nvPr/>
          </p:nvCxnSpPr>
          <p:spPr>
            <a:xfrm>
              <a:off x="6440066" y="2973457"/>
              <a:ext cx="0" cy="127809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25"/>
            <p:cNvCxnSpPr/>
            <p:nvPr/>
          </p:nvCxnSpPr>
          <p:spPr>
            <a:xfrm>
              <a:off x="6808250" y="2973457"/>
              <a:ext cx="0" cy="127809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26"/>
            <p:cNvSpPr/>
            <p:nvPr/>
          </p:nvSpPr>
          <p:spPr>
            <a:xfrm>
              <a:off x="6094207" y="2529655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6" name="Straight Connector 27"/>
            <p:cNvCxnSpPr/>
            <p:nvPr/>
          </p:nvCxnSpPr>
          <p:spPr>
            <a:xfrm>
              <a:off x="6247393" y="2847527"/>
              <a:ext cx="1" cy="12593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28"/>
            <p:cNvCxnSpPr>
              <a:stCxn id="48" idx="2"/>
            </p:cNvCxnSpPr>
            <p:nvPr/>
          </p:nvCxnSpPr>
          <p:spPr>
            <a:xfrm>
              <a:off x="6646483" y="2857053"/>
              <a:ext cx="2654" cy="12593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29"/>
            <p:cNvSpPr/>
            <p:nvPr/>
          </p:nvSpPr>
          <p:spPr>
            <a:xfrm>
              <a:off x="6493297" y="2529655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9" name="Straight Arrow Connector 31"/>
            <p:cNvCxnSpPr/>
            <p:nvPr/>
          </p:nvCxnSpPr>
          <p:spPr>
            <a:xfrm>
              <a:off x="6225622" y="2682059"/>
              <a:ext cx="429996" cy="0"/>
            </a:xfrm>
            <a:prstGeom prst="straightConnector1">
              <a:avLst/>
            </a:prstGeom>
            <a:ln w="12700" cmpd="sng">
              <a:solidFill>
                <a:srgbClr val="003300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021140" y="3396350"/>
              <a:ext cx="8467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000" b="1" dirty="0">
                  <a:latin typeface="+mn-ea"/>
                  <a:cs typeface="HP Simplified" pitchFamily="34" charset="0"/>
                </a:rPr>
                <a:t>Data Node</a:t>
              </a:r>
              <a:endParaRPr lang="en-US" sz="10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27" name="Rounded Rectangle 33"/>
            <p:cNvSpPr/>
            <p:nvPr/>
          </p:nvSpPr>
          <p:spPr>
            <a:xfrm>
              <a:off x="8489978" y="3081590"/>
              <a:ext cx="306372" cy="327398"/>
            </a:xfrm>
            <a:prstGeom prst="roundRect">
              <a:avLst/>
            </a:prstGeom>
            <a:solidFill>
              <a:srgbClr val="104E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28" name="Rounded Rectangle 38"/>
            <p:cNvSpPr/>
            <p:nvPr/>
          </p:nvSpPr>
          <p:spPr>
            <a:xfrm>
              <a:off x="8284451" y="2529655"/>
              <a:ext cx="306372" cy="327398"/>
            </a:xfrm>
            <a:prstGeom prst="roundRect">
              <a:avLst/>
            </a:prstGeom>
            <a:solidFill>
              <a:srgbClr val="60A4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cxnSp>
          <p:nvCxnSpPr>
            <p:cNvPr id="29" name="Straight Connector 39"/>
            <p:cNvCxnSpPr>
              <a:endCxn id="27" idx="0"/>
            </p:cNvCxnSpPr>
            <p:nvPr/>
          </p:nvCxnSpPr>
          <p:spPr>
            <a:xfrm>
              <a:off x="8428166" y="2845775"/>
              <a:ext cx="214998" cy="235815"/>
            </a:xfrm>
            <a:prstGeom prst="line">
              <a:avLst/>
            </a:prstGeom>
            <a:ln w="28575" cmpd="sng"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40"/>
            <p:cNvCxnSpPr>
              <a:stCxn id="31" idx="2"/>
              <a:endCxn id="27" idx="0"/>
            </p:cNvCxnSpPr>
            <p:nvPr/>
          </p:nvCxnSpPr>
          <p:spPr>
            <a:xfrm flipH="1">
              <a:off x="8643164" y="2857053"/>
              <a:ext cx="193562" cy="224537"/>
            </a:xfrm>
            <a:prstGeom prst="line">
              <a:avLst/>
            </a:prstGeom>
            <a:ln w="28575" cmpd="sng"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41"/>
            <p:cNvSpPr/>
            <p:nvPr/>
          </p:nvSpPr>
          <p:spPr>
            <a:xfrm>
              <a:off x="8683540" y="2529655"/>
              <a:ext cx="306372" cy="327398"/>
            </a:xfrm>
            <a:prstGeom prst="roundRect">
              <a:avLst/>
            </a:prstGeom>
            <a:solidFill>
              <a:srgbClr val="60A4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12704" y="2256619"/>
              <a:ext cx="4459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R/W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312160" y="3396350"/>
              <a:ext cx="6864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Storage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543884" y="2256619"/>
              <a:ext cx="5677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READ</a:t>
              </a:r>
            </a:p>
          </p:txBody>
        </p:sp>
      </p:grpSp>
      <p:sp>
        <p:nvSpPr>
          <p:cNvPr id="23" name="Rectangle 18"/>
          <p:cNvSpPr/>
          <p:nvPr/>
        </p:nvSpPr>
        <p:spPr>
          <a:xfrm>
            <a:off x="1548645" y="1694192"/>
            <a:ext cx="16337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30213">
              <a:spcAft>
                <a:spcPts val="400"/>
              </a:spcAft>
              <a:buSzPct val="100000"/>
            </a:pPr>
            <a:r>
              <a:rPr lang="en-US" sz="1600" b="1" dirty="0">
                <a:latin typeface="+mn-ea"/>
                <a:cs typeface="HP Simplified" pitchFamily="34" charset="0"/>
              </a:rPr>
              <a:t>Other Systems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229146" y="2059520"/>
            <a:ext cx="2514330" cy="1482492"/>
            <a:chOff x="6385195" y="3966698"/>
            <a:chExt cx="2514330" cy="1482492"/>
          </a:xfrm>
        </p:grpSpPr>
        <p:cxnSp>
          <p:nvCxnSpPr>
            <p:cNvPr id="73" name="Straight Connector 8"/>
            <p:cNvCxnSpPr/>
            <p:nvPr/>
          </p:nvCxnSpPr>
          <p:spPr>
            <a:xfrm>
              <a:off x="6390704" y="4238626"/>
              <a:ext cx="2350576" cy="0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4"/>
            <p:cNvSpPr/>
            <p:nvPr/>
          </p:nvSpPr>
          <p:spPr>
            <a:xfrm>
              <a:off x="6435120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5" name="Straight Connector 9"/>
            <p:cNvCxnSpPr/>
            <p:nvPr/>
          </p:nvCxnSpPr>
          <p:spPr>
            <a:xfrm>
              <a:off x="6626859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ounded Rectangle 5"/>
            <p:cNvSpPr/>
            <p:nvPr/>
          </p:nvSpPr>
          <p:spPr>
            <a:xfrm>
              <a:off x="7055513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3" name="Straight Connector 10"/>
            <p:cNvCxnSpPr/>
            <p:nvPr/>
          </p:nvCxnSpPr>
          <p:spPr>
            <a:xfrm>
              <a:off x="7247251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ounded Rectangle 6"/>
            <p:cNvSpPr/>
            <p:nvPr/>
          </p:nvSpPr>
          <p:spPr>
            <a:xfrm>
              <a:off x="7675905" y="434863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1" name="Straight Connector 11"/>
            <p:cNvCxnSpPr/>
            <p:nvPr/>
          </p:nvCxnSpPr>
          <p:spPr>
            <a:xfrm>
              <a:off x="7867644" y="423227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ounded Rectangle 7"/>
            <p:cNvSpPr/>
            <p:nvPr/>
          </p:nvSpPr>
          <p:spPr>
            <a:xfrm>
              <a:off x="8296297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79" name="Straight Connector 12"/>
            <p:cNvCxnSpPr/>
            <p:nvPr/>
          </p:nvCxnSpPr>
          <p:spPr>
            <a:xfrm>
              <a:off x="8488036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6860682" y="3966698"/>
              <a:ext cx="1441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10G Ethernet N/W 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576328" y="4422186"/>
              <a:ext cx="1965634" cy="23083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Commodity Servers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385195" y="4741304"/>
              <a:ext cx="25143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No specialized nodes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All nodes are peers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Query/Load to any node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Continuous/real-time load &amp; query</a:t>
              </a:r>
            </a:p>
          </p:txBody>
        </p:sp>
      </p:grpSp>
      <p:sp>
        <p:nvSpPr>
          <p:cNvPr id="72" name="Rectangle 17"/>
          <p:cNvSpPr/>
          <p:nvPr/>
        </p:nvSpPr>
        <p:spPr>
          <a:xfrm>
            <a:off x="6945137" y="1694192"/>
            <a:ext cx="10823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600" b="1" dirty="0">
                <a:latin typeface="+mn-ea"/>
                <a:cs typeface="HP Simplified" pitchFamily="34" charset="0"/>
              </a:rPr>
              <a:t>VERTICA</a:t>
            </a: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421" y="5905474"/>
            <a:ext cx="4850208" cy="237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내용 개체 틀 2"/>
          <p:cNvSpPr txBox="1">
            <a:spLocks/>
          </p:cNvSpPr>
          <p:nvPr/>
        </p:nvSpPr>
        <p:spPr bwMode="auto">
          <a:xfrm>
            <a:off x="5214003" y="6271052"/>
            <a:ext cx="4275845" cy="18466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압축과 질의가 물리적인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I/O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레벨부터 컬럼 단위로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기반 저장 기술에 맞는 쿼리 옵티마이저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단위 저장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,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처리를 위한 별도의 옵션이나 절차가 불필요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저장 구조에 최적화된 데이터 적재와 트랜잭션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적은 하드웨어 리소스로 다른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DBMS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와 동일한 작업 수행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140833" y="4738919"/>
            <a:ext cx="9312729" cy="1030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Native Columnar</a:t>
            </a:r>
            <a:br>
              <a:rPr lang="en-US" altLang="ko-KR" sz="1400" b="1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대용량 데이터를 관리하는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데이터베이스의 성능은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I/O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얼마나 줄일 수 있느냐에 달려 있습니다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Columnar DBMS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아키텍처는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Query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수행에 필요한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Column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만을 읽어 올 수 있도록 설계되었기 때문에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Query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시 마다 모든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`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열을 읽어와야 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row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DBMS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와 비교하여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발생량을 획기적으로 감소시킬 수 있습니다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직선 연결선 90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435702" y="3454405"/>
            <a:ext cx="3859666" cy="108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두 종류 이상의 서버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특별한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H/W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사용으로 복잡도 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마스터 서버를 통한 작업 수행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저가형 서버 사용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운영에 다양한 고려사항 존재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14965" y="3552375"/>
            <a:ext cx="4142693" cy="108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동일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스펙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동일 구성의 서버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단순한 구성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아무 서버에나 작업을 요청하면 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병렬 수행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시장의 신뢰도를 확보한 서버 사용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관리 및 사용 용이성 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473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연계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72142" y="435429"/>
            <a:ext cx="9312729" cy="910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Kafka / Spark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다양한 채널 및 플랫폼에서 유입되는 데이터를 실시간으로 저장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분석하기 위해서는 데이터 파이프 라인 플랫폼과의 유기적인 연계가 필수적입니다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/>
        </p:nvGrpSpPr>
        <p:grpSpPr>
          <a:xfrm>
            <a:off x="197281" y="3759130"/>
            <a:ext cx="4710817" cy="1092607"/>
            <a:chOff x="3974094" y="1195996"/>
            <a:chExt cx="5738410" cy="1092607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xmlns="" id="{2A6A11AC-31D1-C238-469B-B8065561C8B3}"/>
                </a:ext>
              </a:extLst>
            </p:cNvPr>
            <p:cNvSpPr/>
            <p:nvPr/>
          </p:nvSpPr>
          <p:spPr>
            <a:xfrm>
              <a:off x="3974094" y="1232477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370FDDD1-392F-C3F6-7926-8F5450602B51}"/>
                </a:ext>
              </a:extLst>
            </p:cNvPr>
            <p:cNvSpPr txBox="1"/>
            <p:nvPr/>
          </p:nvSpPr>
          <p:spPr>
            <a:xfrm>
              <a:off x="4118110" y="1195996"/>
              <a:ext cx="5594394" cy="1092607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GB" sz="11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Consume</a:t>
              </a: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별도의 솔루션이나 커넥터 없이 카프카 토픽을 적재하는 기능을 빌트인 함수로 제공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카프카 토픽의 파티션을 병렬로 적재하여 실시간 스트리밍 데이터 처리에 최적화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자동으로 지속적인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컨슈밍을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지원하기 위한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마이크로배치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기능 탑재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endParaRPr lang="en-GB" sz="9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95944" y="4668608"/>
            <a:ext cx="4755888" cy="884858"/>
            <a:chOff x="3926949" y="2618919"/>
            <a:chExt cx="5793314" cy="884858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xmlns="" id="{8A596585-4EFC-7C6C-63D0-E577FBF1E255}"/>
                </a:ext>
              </a:extLst>
            </p:cNvPr>
            <p:cNvSpPr/>
            <p:nvPr/>
          </p:nvSpPr>
          <p:spPr>
            <a:xfrm>
              <a:off x="3926949" y="2655400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A2DBD73D-1544-9997-4B5E-7BE89DA70BD5}"/>
                </a:ext>
              </a:extLst>
            </p:cNvPr>
            <p:cNvSpPr txBox="1"/>
            <p:nvPr/>
          </p:nvSpPr>
          <p:spPr>
            <a:xfrm>
              <a:off x="4070965" y="2618919"/>
              <a:ext cx="5649298" cy="884858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1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Produce</a:t>
              </a:r>
              <a:endParaRPr lang="en-GB" sz="11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버티카에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저장된 데이터를 카프카로 추출하는 기능을 제공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추가적인 구축 없이 데이터 파이프 라인과 양방향으로 데이터를 주고 받을 수 있는 아키텍처</a:t>
              </a:r>
              <a:endParaRPr lang="en-GB" sz="9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4964375" y="4581958"/>
            <a:ext cx="4755888" cy="1300356"/>
            <a:chOff x="3926949" y="3338266"/>
            <a:chExt cx="5793314" cy="1300356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xmlns="" id="{D7536991-A61A-F58E-EC18-61A6F108717B}"/>
                </a:ext>
              </a:extLst>
            </p:cNvPr>
            <p:cNvSpPr/>
            <p:nvPr/>
          </p:nvSpPr>
          <p:spPr>
            <a:xfrm>
              <a:off x="3926949" y="3374747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4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688289CD-94AD-1B72-1500-6EAFBCF42BA0}"/>
                </a:ext>
              </a:extLst>
            </p:cNvPr>
            <p:cNvSpPr txBox="1"/>
            <p:nvPr/>
          </p:nvSpPr>
          <p:spPr>
            <a:xfrm>
              <a:off x="4070965" y="3338266"/>
              <a:ext cx="5649298" cy="1300356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1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Spark integration</a:t>
              </a:r>
              <a:endParaRPr lang="en-GB" sz="11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en-US" altLang="ko-KR" sz="900" dirty="0">
                  <a:solidFill>
                    <a:srgbClr val="1668C1"/>
                  </a:solidFill>
                  <a:latin typeface="+mn-ea"/>
                </a:rPr>
                <a:t>Spark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연계를 위한 커넥터가 기본 제공</a:t>
              </a:r>
              <a:r>
                <a:rPr lang="en-US" altLang="ko-KR" sz="900" dirty="0">
                  <a:solidFill>
                    <a:srgbClr val="1668C1"/>
                  </a:solidFill>
                  <a:latin typeface="+mn-ea"/>
                </a:rPr>
                <a:t/>
              </a:r>
              <a:br>
                <a:rPr lang="en-US" altLang="ko-KR" sz="900" dirty="0">
                  <a:solidFill>
                    <a:srgbClr val="1668C1"/>
                  </a:solidFill>
                  <a:latin typeface="+mn-ea"/>
                </a:rPr>
              </a:br>
              <a:r>
                <a:rPr lang="en-US" altLang="ko-KR" sz="900" dirty="0">
                  <a:solidFill>
                    <a:srgbClr val="1668C1"/>
                  </a:solidFill>
                  <a:latin typeface="+mn-ea"/>
                </a:rPr>
                <a:t>Spark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에서 분석이 필요한 업무를 위해 빠르게 스파크 메모리로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버티카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데이터를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로드하여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실시간 분석 수행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오브젝트 스토리지를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스테이징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파일 시스템으로 활용하여 병렬 추출 및</a:t>
              </a:r>
              <a:r>
                <a:rPr lang="en-US" altLang="ko-KR" sz="900" dirty="0">
                  <a:solidFill>
                    <a:srgbClr val="1668C1"/>
                  </a:solidFill>
                  <a:latin typeface="+mn-ea"/>
                </a:rPr>
                <a:t> 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병렬 적재 지원</a:t>
              </a:r>
              <a:endParaRPr lang="en-GB" altLang="ko-KR" sz="9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스파크에서 분석된 결과도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버티카로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병렬 추출 및 적재 수행</a:t>
              </a:r>
              <a:endParaRPr lang="en-GB" sz="9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4849586" y="3789626"/>
            <a:ext cx="4755888" cy="469359"/>
            <a:chOff x="3926949" y="2162212"/>
            <a:chExt cx="5793314" cy="469359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xmlns="" id="{F74DE22F-BE57-990F-10C7-5A28137FF97D}"/>
                </a:ext>
              </a:extLst>
            </p:cNvPr>
            <p:cNvSpPr/>
            <p:nvPr/>
          </p:nvSpPr>
          <p:spPr>
            <a:xfrm>
              <a:off x="3926949" y="2198693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2709A4DE-7D99-060B-4332-72EAE25DA559}"/>
                </a:ext>
              </a:extLst>
            </p:cNvPr>
            <p:cNvSpPr txBox="1"/>
            <p:nvPr/>
          </p:nvSpPr>
          <p:spPr>
            <a:xfrm>
              <a:off x="4070965" y="2162212"/>
              <a:ext cx="5649298" cy="469359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1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Realtime Analytics</a:t>
              </a:r>
              <a:endParaRPr lang="en-GB" sz="11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매우 짧은 주기로 적재되는 대용량 데이터를 </a:t>
              </a:r>
              <a:r>
                <a:rPr lang="ko-KR" altLang="en-US" sz="900" dirty="0" err="1">
                  <a:solidFill>
                    <a:srgbClr val="1668C1"/>
                  </a:solidFill>
                  <a:latin typeface="+mn-ea"/>
                </a:rPr>
                <a:t>버티카를</a:t>
              </a:r>
              <a:r>
                <a:rPr lang="ko-KR" altLang="en-US" sz="900" dirty="0">
                  <a:solidFill>
                    <a:srgbClr val="1668C1"/>
                  </a:solidFill>
                  <a:latin typeface="+mn-ea"/>
                </a:rPr>
                <a:t> 통해 분석 수행</a:t>
              </a:r>
              <a:endParaRPr lang="en-GB" sz="900" dirty="0">
                <a:solidFill>
                  <a:srgbClr val="1668C1"/>
                </a:solidFill>
                <a:latin typeface="+mn-ea"/>
              </a:endParaRPr>
            </a:p>
          </p:txBody>
        </p:sp>
      </p:grpSp>
      <p:sp>
        <p:nvSpPr>
          <p:cNvPr id="105" name="직사각형 104"/>
          <p:cNvSpPr/>
          <p:nvPr/>
        </p:nvSpPr>
        <p:spPr>
          <a:xfrm>
            <a:off x="170823" y="6114984"/>
            <a:ext cx="4709782" cy="910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HDFS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연계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연계를 지원하여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버티카를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통해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DW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와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데이터 연계 분석을 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지원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122" name="그림 1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74" y="1376132"/>
            <a:ext cx="3421269" cy="2217696"/>
          </a:xfrm>
          <a:prstGeom prst="rect">
            <a:avLst/>
          </a:prstGeom>
        </p:spPr>
      </p:pic>
      <p:sp>
        <p:nvSpPr>
          <p:cNvPr id="124" name="직사각형 123"/>
          <p:cNvSpPr/>
          <p:nvPr/>
        </p:nvSpPr>
        <p:spPr>
          <a:xfrm>
            <a:off x="4930391" y="6126705"/>
            <a:ext cx="4746328" cy="12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+mj-ea"/>
                <a:ea typeface="+mj-ea"/>
              </a:rPr>
              <a:t>Object Storage </a:t>
            </a:r>
            <a:r>
              <a:rPr lang="ko-KR" altLang="en-US" sz="1200" b="1" dirty="0" smtClean="0">
                <a:solidFill>
                  <a:schemeClr val="tx1"/>
                </a:solidFill>
                <a:latin typeface="+mj-ea"/>
                <a:ea typeface="+mj-ea"/>
              </a:rPr>
              <a:t>연계</a:t>
            </a:r>
            <a:endParaRPr lang="en-US" altLang="ko-KR" sz="1200" b="1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Object Storage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에 저장된 데이터를 직접 분석할 수 있으며</a:t>
            </a:r>
          </a:p>
          <a:p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버티카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 데이터를 다양한 오픈 포맷으로 추출할 수 있어 타 시스템과 유연한 데이터 연계 지원</a:t>
            </a:r>
          </a:p>
        </p:txBody>
      </p:sp>
      <p:cxnSp>
        <p:nvCxnSpPr>
          <p:cNvPr id="125" name="직선 연결선 124"/>
          <p:cNvCxnSpPr/>
          <p:nvPr/>
        </p:nvCxnSpPr>
        <p:spPr>
          <a:xfrm>
            <a:off x="4859338" y="6281057"/>
            <a:ext cx="0" cy="252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그림 1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126" y="7298586"/>
            <a:ext cx="3549878" cy="1646522"/>
          </a:xfrm>
          <a:prstGeom prst="rect">
            <a:avLst/>
          </a:prstGeom>
        </p:spPr>
      </p:pic>
      <p:pic>
        <p:nvPicPr>
          <p:cNvPr id="129" name="그림 1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6" y="7175554"/>
            <a:ext cx="3495266" cy="173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EonMode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878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이코노믹스의 동적 워크로드 및 효율적인 확장 요구에 대응하기 위해 설계된 컴퓨팅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스토리지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(C/S)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분리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아키텍처입니다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페타바이트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규모 이상의 통합 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Lakehouse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플랫폼을 구축하는 데 최적화되어 있습니다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191493" y="1113830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대 핵심이점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230327" y="1476375"/>
            <a:ext cx="1206472" cy="815254"/>
            <a:chOff x="2457450" y="1505173"/>
            <a:chExt cx="1781175" cy="1203600"/>
          </a:xfrm>
        </p:grpSpPr>
        <p:sp>
          <p:nvSpPr>
            <p:cNvPr id="18" name="직사각형 17"/>
            <p:cNvSpPr/>
            <p:nvPr/>
          </p:nvSpPr>
          <p:spPr>
            <a:xfrm>
              <a:off x="2754037" y="1505173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Picture 11" descr="Sandbox Software – In the Cloud | FortiSandbox Cloud">
              <a:extLst>
                <a:ext uri="{FF2B5EF4-FFF2-40B4-BE49-F238E27FC236}">
                  <a16:creationId xmlns="" xmlns:a16="http://schemas.microsoft.com/office/drawing/2014/main" id="{73BBF3D0-6B40-E280-BA30-1E77B5C4F4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7450" y="1508623"/>
              <a:ext cx="17811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/>
          <p:cNvGrpSpPr/>
          <p:nvPr/>
        </p:nvGrpSpPr>
        <p:grpSpPr>
          <a:xfrm>
            <a:off x="4507054" y="1409700"/>
            <a:ext cx="823680" cy="990600"/>
            <a:chOff x="5620294" y="1190625"/>
            <a:chExt cx="1188000" cy="1428750"/>
          </a:xfrm>
        </p:grpSpPr>
        <p:sp>
          <p:nvSpPr>
            <p:cNvPr id="19" name="직사각형 18"/>
            <p:cNvSpPr/>
            <p:nvPr/>
          </p:nvSpPr>
          <p:spPr>
            <a:xfrm>
              <a:off x="5620294" y="1302746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Picture 8" descr="cost Icon - Free PNG &amp; SVG 930448 - Noun Project">
              <a:extLst>
                <a:ext uri="{FF2B5EF4-FFF2-40B4-BE49-F238E27FC236}">
                  <a16:creationId xmlns="" xmlns:a16="http://schemas.microsoft.com/office/drawing/2014/main" id="{B89FFE28-AD15-4FA1-FDD1-8DF6F4744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4946" y="1190625"/>
              <a:ext cx="1064752" cy="142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그룹 3"/>
          <p:cNvGrpSpPr/>
          <p:nvPr/>
        </p:nvGrpSpPr>
        <p:grpSpPr>
          <a:xfrm>
            <a:off x="7599413" y="1409700"/>
            <a:ext cx="849262" cy="849262"/>
            <a:chOff x="8439694" y="1055096"/>
            <a:chExt cx="1188000" cy="1188000"/>
          </a:xfrm>
        </p:grpSpPr>
        <p:sp>
          <p:nvSpPr>
            <p:cNvPr id="23" name="직사각형 22"/>
            <p:cNvSpPr/>
            <p:nvPr/>
          </p:nvSpPr>
          <p:spPr>
            <a:xfrm>
              <a:off x="8439694" y="1055096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Picture 6" descr="Project Cargo Services | CFA">
              <a:extLst>
                <a:ext uri="{FF2B5EF4-FFF2-40B4-BE49-F238E27FC236}">
                  <a16:creationId xmlns="" xmlns:a16="http://schemas.microsoft.com/office/drawing/2014/main" id="{A9578F59-39A1-6B09-C1A4-24DA78C49B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0817" y="1066159"/>
              <a:ext cx="1110383" cy="1153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직사각형 9"/>
          <p:cNvSpPr/>
          <p:nvPr/>
        </p:nvSpPr>
        <p:spPr>
          <a:xfrm>
            <a:off x="237812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뛰어난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Scalability)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스토리지와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컴퓨팅이 분리되어 있어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재분산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(Rebalancing)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이나 조정 작업 없이 필요 시 즉각적으로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확장할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자원과 완전히 독립적으로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무한 확장할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67874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비용 효율성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Cost)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대용량의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영구 데이터를 비용 효율적인 오픈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저장하여 전체 스토리지 비용을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최적화합니다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파워가 필요한 순간에만 동적으로 자원을 할당하고 활용하여 효율적인 컴퓨팅 비용 모델을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제공합니다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474489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고가용성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보장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Availability)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퍼블릭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엔터프라이즈급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최고 수준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SLA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그대로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상속받습니다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영구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데이터가 로컬 디스크가 아닌 중앙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저장되므로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특정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장애가 발생하거나 훼손되어도 데이터 유실이 전혀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없습니다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047" y="3985986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혁신적인 컴퓨팅 및 스토리지 아키텍처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0246" y="4232037"/>
            <a:ext cx="1848894" cy="1817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스마트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캐싱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Compute Architecture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):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완벽한 트랜잭션 지원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(Storage Architecture):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인프라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종속성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탈피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28800" y="3997575"/>
            <a:ext cx="7891463" cy="2309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각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영구 데이터를 자체 보관하지 않습니다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[cite: 991].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대신 자주 활용되는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핫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데이터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(Hot Data)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만 로컬 디스크 캐시에 보관하며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LRU(Least Recently Used)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알고리즘으로 관리하여 쿼리 성능을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극대화합니다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사용함에도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Write-Once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기반으로 동작하여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DML(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갱신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삭제 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처리에 제약이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없습니다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트랜잭션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발생 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커밋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(Commit)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된 데이터는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수에 맞춘 최적의 조각으로 나뉘어 저장되며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즉시 모든 서브클러스터에서 동시에 조회할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특정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하드웨어에 종속되지 않고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AWS, Azure, GCP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같은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퍼블릭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물론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Kubernetes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환경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VMware,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그리고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온프레미스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(Dell,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PureStorage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MinIO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하이브리드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구성을 완벽하게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지원합니다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0" y="6063759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실전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Use Case: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동시성 확보 및 운영 단순화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48475" y="6150709"/>
            <a:ext cx="4692596" cy="300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서브클러스터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Subcluster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기반 워크로드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격리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전통적 방식에서는 운영 업무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SLA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지키기 위해 분석 업무나 새로운 워크로드를 제약해야만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독립적인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리소스 구성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각 서브클러스터는 다른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CPU, Memory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 개별적인 리소스로 구성할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멀티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클러스터 동시성 확장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주간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Batch, BI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대시보드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ML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분석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Spark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연계 등 용도별로 서브클러스터를 분리하여 워크로드 간의 간섭을 원천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차단합니다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빠른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확장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클러스터나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추가할 때 가장 오래 걸리는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리밸런싱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(Data Rebalancing)'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및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클러스터 간 데이터 동기화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과정이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불필요합니다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843289" y="6183087"/>
            <a:ext cx="4692596" cy="300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Revive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를 통한 제로 다운타임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(Zero Downtime) </a:t>
            </a:r>
            <a:r>
              <a:rPr lang="ko-KR" altLang="en-US" sz="1200" b="1" dirty="0" err="1" smtClean="0">
                <a:solidFill>
                  <a:schemeClr val="tx1"/>
                </a:solidFill>
                <a:latin typeface="+mn-ea"/>
              </a:rPr>
              <a:t>마이그레이션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하드웨어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EOL(End of Life)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전환 시 막대한 데이터 이관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(Migration)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대한 부담을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해소합니다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OS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및 데이터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무의존성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메타데이터와 영구 데이터는 모두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있으므로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OS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나 인프라 환경에 얽매이지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않습니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이관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(Migration)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불필요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인프라나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빈 클러스터를 띄운 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메타 정보만 동기화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(Revive)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하면 즉시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DB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복구됩니다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서비스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중단 최소화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시스템을 중단할 필요 없이 백그라운드에서 신규 구성을 완료한 뒤 전환할 수 있어 다운타임을 수 분 이내로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최소화합니다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30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46423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Table . Projection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 txBox="1">
            <a:spLocks/>
          </p:cNvSpPr>
          <p:nvPr/>
        </p:nvSpPr>
        <p:spPr>
          <a:xfrm>
            <a:off x="4920343" y="582911"/>
            <a:ext cx="4673844" cy="3144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b="1" dirty="0" smtClean="0">
                <a:latin typeface="+mj-ea"/>
                <a:ea typeface="+mj-ea"/>
              </a:rPr>
              <a:t>Table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u="sng" dirty="0" smtClean="0">
                <a:latin typeface="+mj-ea"/>
                <a:ea typeface="+mj-ea"/>
              </a:rPr>
              <a:t>데이터 논리 모델링의 오브젝트</a:t>
            </a:r>
            <a:endParaRPr lang="en-US" altLang="ko-KR" sz="900" u="sng" dirty="0" smtClean="0">
              <a:latin typeface="+mj-ea"/>
              <a:ea typeface="+mj-ea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 smtClean="0">
                <a:latin typeface="+mj-ea"/>
                <a:ea typeface="+mj-ea"/>
              </a:rPr>
              <a:t>대부분의 </a:t>
            </a:r>
            <a:r>
              <a:rPr lang="ko-KR" altLang="en-US" sz="900" dirty="0">
                <a:latin typeface="+mj-ea"/>
                <a:ea typeface="+mj-ea"/>
              </a:rPr>
              <a:t>상용 </a:t>
            </a:r>
            <a:r>
              <a:rPr lang="en-US" altLang="ko-KR" sz="900" dirty="0">
                <a:latin typeface="+mj-ea"/>
                <a:ea typeface="+mj-ea"/>
              </a:rPr>
              <a:t>DB</a:t>
            </a:r>
            <a:r>
              <a:rPr lang="ko-KR" altLang="en-US" sz="900" dirty="0">
                <a:latin typeface="+mj-ea"/>
                <a:ea typeface="+mj-ea"/>
              </a:rPr>
              <a:t>의 데이터 타입과 호환</a:t>
            </a:r>
            <a:endParaRPr lang="en-US" altLang="ko-KR" sz="900" dirty="0">
              <a:latin typeface="+mj-ea"/>
              <a:ea typeface="+mj-ea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>
                <a:latin typeface="+mj-ea"/>
                <a:ea typeface="+mj-ea"/>
              </a:rPr>
              <a:t>데이터 타입</a:t>
            </a:r>
            <a:endParaRPr lang="en-US" altLang="ko-KR" sz="900" dirty="0">
              <a:latin typeface="+mj-ea"/>
              <a:ea typeface="+mj-ea"/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>
                <a:latin typeface="+mj-ea"/>
                <a:ea typeface="+mj-ea"/>
              </a:rPr>
              <a:t>Character Type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CHAR : 1-65,000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VARCHAR : 1-65,000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LONG VARCHAR : 1-32,000,000 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>
                <a:latin typeface="+mj-ea"/>
                <a:ea typeface="+mj-ea"/>
              </a:rPr>
              <a:t>Date/Time Type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DATE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DATETIME = TIMESTAMP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INTERVAL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>
                <a:latin typeface="+mj-ea"/>
                <a:ea typeface="+mj-ea"/>
              </a:rPr>
              <a:t>Approximate numeric types 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Signed 64-bit IEEE floating point number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DOUBLE PRECISION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FLOAT / FLOAT(n) / FLOAT8 / REAL</a:t>
            </a:r>
          </a:p>
          <a:p>
            <a:pPr lvl="2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900" dirty="0">
                <a:latin typeface="+mj-ea"/>
                <a:ea typeface="+mj-ea"/>
              </a:rPr>
              <a:t>Exact numeric types  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INT / INTEGER / BIGINT / INT8 / SMALLINT / TINYINT</a:t>
            </a:r>
          </a:p>
          <a:p>
            <a:pPr lvl="3">
              <a:lnSpc>
                <a:spcPct val="100000"/>
              </a:lnSpc>
              <a:spcAft>
                <a:spcPts val="0"/>
              </a:spcAft>
            </a:pPr>
            <a:r>
              <a:rPr lang="en-US" altLang="ko-KR" sz="900" dirty="0">
                <a:latin typeface="+mj-ea"/>
                <a:ea typeface="+mj-ea"/>
              </a:rPr>
              <a:t>DECIMAL / NUMERIC / NUMBER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900" dirty="0">
                <a:latin typeface="+mj-ea"/>
                <a:ea typeface="+mj-ea"/>
              </a:rPr>
              <a:t>테이블 정의에 특별한 옵션이 필요하지 않고</a:t>
            </a:r>
            <a:r>
              <a:rPr lang="en-US" altLang="ko-KR" sz="900" dirty="0">
                <a:latin typeface="+mj-ea"/>
                <a:ea typeface="+mj-ea"/>
              </a:rPr>
              <a:t>, </a:t>
            </a:r>
            <a:r>
              <a:rPr lang="ko-KR" altLang="en-US" sz="900" dirty="0">
                <a:latin typeface="+mj-ea"/>
                <a:ea typeface="+mj-ea"/>
              </a:rPr>
              <a:t>대부분 </a:t>
            </a:r>
            <a:r>
              <a:rPr lang="ko-KR" altLang="en-US" sz="900" dirty="0" err="1">
                <a:latin typeface="+mj-ea"/>
                <a:ea typeface="+mj-ea"/>
              </a:rPr>
              <a:t>프로젝션</a:t>
            </a:r>
            <a:r>
              <a:rPr lang="ko-KR" altLang="en-US" sz="900" dirty="0">
                <a:latin typeface="+mj-ea"/>
                <a:ea typeface="+mj-ea"/>
              </a:rPr>
              <a:t> 생성 단계에서 정의하고 테이블 생성 단계에서 필요한 부가적인 옵션은 파티션 구문 정도</a:t>
            </a:r>
            <a:endParaRPr lang="en-US" altLang="ko-KR" sz="900" dirty="0">
              <a:latin typeface="+mj-ea"/>
              <a:ea typeface="+mj-ea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ko-KR" altLang="en-US" sz="900" dirty="0">
              <a:latin typeface="+mj-ea"/>
              <a:ea typeface="+mj-ea"/>
            </a:endParaRP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0" y="591073"/>
            <a:ext cx="4929764" cy="3107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Projection</a:t>
            </a: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sng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실제 테이블 데이터가 저장되는 오브젝트</a:t>
            </a:r>
            <a:endParaRPr kumimoji="0" lang="en-US" altLang="ko-KR" sz="900" b="0" i="0" u="sng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프로젝션이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만들어지는 시기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테이블 생성 후 처음으로 데이터가 저장될 때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명시적으로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프로젝션을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생성할 때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(CREATE PROJECTION)</a:t>
            </a: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Database Designer (DBD)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에 의해 생성될 때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테이블을 생성할 때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속성을 함께 지정할 때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예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, Segment, Order, </a:t>
            </a:r>
            <a:r>
              <a:rPr kumimoji="0" lang="en-US" altLang="ko-KR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Ksafe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등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b="1" dirty="0">
                <a:solidFill>
                  <a:srgbClr val="212E35"/>
                </a:solidFill>
                <a:latin typeface="+mj-ea"/>
                <a:ea typeface="+mj-ea"/>
              </a:rPr>
              <a:t>Projection </a:t>
            </a:r>
            <a:r>
              <a:rPr lang="en-US" altLang="ko-KR" sz="900" b="1" dirty="0" smtClean="0">
                <a:solidFill>
                  <a:srgbClr val="212E35"/>
                </a:solidFill>
                <a:latin typeface="+mj-ea"/>
                <a:ea typeface="+mj-ea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속성</a:t>
            </a:r>
            <a:endParaRPr kumimoji="0" lang="en-US" altLang="ko-KR" sz="900" b="1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인코딩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및 압축 정의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(encoding)</a:t>
            </a: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매뉴얼하게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정의 가능하지만 보통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DBD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의 가이드로 재 정의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DBD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가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인코딩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정보를 정확히 추천하기 위해서는 데이터가 적절히 저장되어 있어야 함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실제 데이터 값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데이터의 분포 고려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정렬 저장 순서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(order by)</a:t>
            </a: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데이터가 물리적으로 정렬되어 저장하여 조회 및 조인 속도를 높일 때 사용한다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.</a:t>
            </a: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데이터 분산 정책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(segmentation)</a:t>
            </a: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멀티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데이터를 분산시키기 위한 기준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컬럼을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지정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⁻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데이터를 모든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또는 일부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복제 가능</a:t>
            </a: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4902881" y="604784"/>
            <a:ext cx="0" cy="277795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/>
          <p:cNvSpPr txBox="1">
            <a:spLocks/>
          </p:cNvSpPr>
          <p:nvPr/>
        </p:nvSpPr>
        <p:spPr>
          <a:xfrm>
            <a:off x="130787" y="3663882"/>
            <a:ext cx="4847614" cy="1169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Projection</a:t>
            </a:r>
            <a:r>
              <a:rPr kumimoji="0" lang="en-US" altLang="ko-KR" sz="900" b="1" i="0" u="none" strike="noStrike" kern="1200" cap="none" spc="0" normalizeH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종류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1) Super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테이블의 모든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포함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다른 속성의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Super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만들어 데이터를 동기화 시킨 후에 만 기존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Super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삭제 가능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3) Query-specific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특정 쿼리 튜닝을 위해 추가된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일부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컬럼만으로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생성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가능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151720" y="5308600"/>
            <a:ext cx="4705350" cy="2859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ko-KR" sz="900" b="1" dirty="0">
                <a:solidFill>
                  <a:srgbClr val="212E35"/>
                </a:solidFill>
                <a:latin typeface="+mj-ea"/>
              </a:rPr>
              <a:t>Projection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분산 저장 방법</a:t>
            </a:r>
            <a:endParaRPr lang="en-US" altLang="ko-KR" sz="900" b="1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[Segmentation] </a:t>
            </a:r>
            <a:endParaRPr lang="en-US" altLang="ko-KR" sz="900" noProof="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</a:t>
            </a:r>
            <a:r>
              <a:rPr kumimoji="0" lang="en-US" altLang="ko-KR" sz="900" b="0" i="0" u="none" strike="noStrike" kern="1200" cap="none" spc="0" normalizeH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segment key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컬럼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데이터의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해시값에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의해 모든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분산 저장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특정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노드로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데이터가 몰리는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skew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현상 주의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Skew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현상을 최소화하기 위한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Modular hash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기법 제공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동일한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Segment key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를 가진 테이블간의 조인 성능이 우수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ko-KR" sz="900" dirty="0">
                <a:solidFill>
                  <a:srgbClr val="212E35"/>
                </a:solidFill>
                <a:latin typeface="+mj-ea"/>
                <a:ea typeface="+mj-ea"/>
              </a:rPr>
              <a:t>[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Replication]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Dimension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과 같이 작은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프로젝션은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모든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복제시켜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Fact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테이블간의 조인 성능을 높임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데이터가 항상 복제되어 있으므로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장애시에도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고가용성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제공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UNSEGMENTED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구문이 없을 경우 기본으로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segmentation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으로 생성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4854349" y="5367111"/>
            <a:ext cx="4865914" cy="27282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[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특정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생성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]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경우에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따라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네트워크 부하 및 복제 부하를 최소화하여 입출력 처리가 필요한 경우 특정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노드에만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데이터를 저장할 수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있다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ko-KR" sz="900" dirty="0" smtClean="0">
                <a:solidFill>
                  <a:srgbClr val="212E35"/>
                </a:solidFill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노드명은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nodes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테이블에 저장된 이름을 사용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 smtClean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[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고가용성을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위한 데이터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이중화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]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Segment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프로젝션은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각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전체 데이터의 일부가 저장되어 있으므로 이에 대한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고가용성을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제공하기 위해 다른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노드로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프로젝션을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복제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항상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버디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프로젝션으로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데이터가 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동기화</a:t>
            </a:r>
            <a:endParaRPr lang="en-US" altLang="ko-KR" sz="900" dirty="0">
              <a:solidFill>
                <a:srgbClr val="212E35"/>
              </a:solidFill>
              <a:latin typeface="+mj-ea"/>
              <a:ea typeface="+mj-ea"/>
            </a:endParaRPr>
          </a:p>
          <a:p>
            <a:pPr marL="228600" marR="0" lvl="1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-</a:t>
            </a:r>
            <a:r>
              <a:rPr kumimoji="0" lang="en-US" altLang="ko-KR" sz="900" b="0" i="0" u="none" strike="noStrike" kern="1200" cap="none" spc="0" normalizeH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장애 시 복제된 버디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프로젝션에서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데이터 변경이 발생하면 변경된 데이터는 장애 노드가 복구된 후 자동으로 동기화됨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4909458" y="5354582"/>
            <a:ext cx="0" cy="327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ontent Placeholder 4"/>
          <p:cNvSpPr txBox="1">
            <a:spLocks/>
          </p:cNvSpPr>
          <p:nvPr/>
        </p:nvSpPr>
        <p:spPr>
          <a:xfrm>
            <a:off x="4872649" y="3787255"/>
            <a:ext cx="4847614" cy="991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2) Aggregate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SUM, COUNT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와 같은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표현식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또는 집계함수를 포함하고 있는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이미 집계된 데이터가 포함되어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2286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4) Buddy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57150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속성의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KSAFE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로 데이터를 이중화 또는 삼중화할 때 다른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노드에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 복제되는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+mj-ea"/>
                <a:ea typeface="+mj-ea"/>
              </a:rPr>
              <a:t>프로젝션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4000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-"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631190" y="7898130"/>
            <a:ext cx="3456000" cy="899160"/>
            <a:chOff x="624840" y="7879080"/>
            <a:chExt cx="3456000" cy="899160"/>
          </a:xfrm>
        </p:grpSpPr>
        <p:grpSp>
          <p:nvGrpSpPr>
            <p:cNvPr id="81" name="그룹 80"/>
            <p:cNvGrpSpPr/>
            <p:nvPr/>
          </p:nvGrpSpPr>
          <p:grpSpPr>
            <a:xfrm>
              <a:off x="656455" y="7953148"/>
              <a:ext cx="3186547" cy="810760"/>
              <a:chOff x="840832" y="4355911"/>
              <a:chExt cx="3186547" cy="1002371"/>
            </a:xfrm>
          </p:grpSpPr>
          <p:sp>
            <p:nvSpPr>
              <p:cNvPr id="83" name="Rounded Rectangle 32"/>
              <p:cNvSpPr/>
              <p:nvPr/>
            </p:nvSpPr>
            <p:spPr>
              <a:xfrm>
                <a:off x="1301078" y="4355911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1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4" name="Rounded Rectangle 33"/>
              <p:cNvSpPr/>
              <p:nvPr/>
            </p:nvSpPr>
            <p:spPr>
              <a:xfrm>
                <a:off x="2177537" y="4355911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2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5" name="Rounded Rectangle 34"/>
              <p:cNvSpPr/>
              <p:nvPr/>
            </p:nvSpPr>
            <p:spPr>
              <a:xfrm>
                <a:off x="3053996" y="4355911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3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434033" y="5209862"/>
                <a:ext cx="229230" cy="11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table</a:t>
                </a:r>
                <a:endPara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7" name="Rectangle 36"/>
              <p:cNvSpPr/>
              <p:nvPr/>
            </p:nvSpPr>
            <p:spPr>
              <a:xfrm>
                <a:off x="2287152" y="5066213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9" name="Rectangle 39"/>
              <p:cNvSpPr/>
              <p:nvPr/>
            </p:nvSpPr>
            <p:spPr>
              <a:xfrm>
                <a:off x="2287152" y="4647702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cxnSp>
            <p:nvCxnSpPr>
              <p:cNvPr id="91" name="Straight Arrow Connector 42"/>
              <p:cNvCxnSpPr>
                <a:stCxn id="87" idx="1"/>
                <a:endCxn id="95" idx="2"/>
              </p:cNvCxnSpPr>
              <p:nvPr/>
            </p:nvCxnSpPr>
            <p:spPr>
              <a:xfrm flipH="1" flipV="1">
                <a:off x="1668073" y="4774422"/>
                <a:ext cx="619079" cy="35515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92" name="Straight Arrow Connector 43"/>
              <p:cNvCxnSpPr>
                <a:stCxn id="87" idx="0"/>
              </p:cNvCxnSpPr>
              <p:nvPr/>
            </p:nvCxnSpPr>
            <p:spPr>
              <a:xfrm flipH="1" flipV="1">
                <a:off x="2531002" y="4774424"/>
                <a:ext cx="0" cy="291788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93" name="Straight Arrow Connector 44"/>
              <p:cNvCxnSpPr>
                <a:stCxn id="87" idx="3"/>
                <a:endCxn id="96" idx="2"/>
              </p:cNvCxnSpPr>
              <p:nvPr/>
            </p:nvCxnSpPr>
            <p:spPr>
              <a:xfrm flipV="1">
                <a:off x="2810146" y="4774422"/>
                <a:ext cx="602784" cy="35515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94" name="TextBox 93"/>
              <p:cNvSpPr txBox="1"/>
              <p:nvPr/>
            </p:nvSpPr>
            <p:spPr>
              <a:xfrm>
                <a:off x="840832" y="4663922"/>
                <a:ext cx="411972" cy="119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projection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95" name="Rectangle 46"/>
              <p:cNvSpPr/>
              <p:nvPr/>
            </p:nvSpPr>
            <p:spPr>
              <a:xfrm>
                <a:off x="1406576" y="4647702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96" name="Rectangle 47"/>
              <p:cNvSpPr/>
              <p:nvPr/>
            </p:nvSpPr>
            <p:spPr>
              <a:xfrm>
                <a:off x="3151433" y="4647702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3063974" y="4998695"/>
                <a:ext cx="963405" cy="3595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CREATE PROJECTION …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UNSEGMENTED </a:t>
                </a:r>
                <a:endParaRPr kumimoji="0" lang="en-US" altLang="ko-KR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ALL 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NODES; 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82" name="직사각형 81"/>
            <p:cNvSpPr/>
            <p:nvPr/>
          </p:nvSpPr>
          <p:spPr>
            <a:xfrm>
              <a:off x="624840" y="7879080"/>
              <a:ext cx="3456000" cy="8991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5694680" y="6075132"/>
            <a:ext cx="3456000" cy="899160"/>
            <a:chOff x="5713730" y="5981700"/>
            <a:chExt cx="3456000" cy="899160"/>
          </a:xfrm>
        </p:grpSpPr>
        <p:grpSp>
          <p:nvGrpSpPr>
            <p:cNvPr id="99" name="그룹 98"/>
            <p:cNvGrpSpPr/>
            <p:nvPr/>
          </p:nvGrpSpPr>
          <p:grpSpPr>
            <a:xfrm>
              <a:off x="6143598" y="6065332"/>
              <a:ext cx="2976751" cy="798518"/>
              <a:chOff x="6736976" y="1810107"/>
              <a:chExt cx="2930515" cy="995898"/>
            </a:xfrm>
          </p:grpSpPr>
          <p:sp>
            <p:nvSpPr>
              <p:cNvPr id="101" name="Rounded Rectangle 53"/>
              <p:cNvSpPr/>
              <p:nvPr/>
            </p:nvSpPr>
            <p:spPr>
              <a:xfrm>
                <a:off x="6736976" y="1810107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1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2" name="Rounded Rectangle 54"/>
              <p:cNvSpPr/>
              <p:nvPr/>
            </p:nvSpPr>
            <p:spPr>
              <a:xfrm>
                <a:off x="7613435" y="1810107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2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3" name="Rounded Rectangle 55"/>
              <p:cNvSpPr/>
              <p:nvPr/>
            </p:nvSpPr>
            <p:spPr>
              <a:xfrm>
                <a:off x="8489894" y="1810107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3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7869931" y="2663921"/>
                <a:ext cx="229230" cy="11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table</a:t>
                </a:r>
                <a:endPara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5" name="Rectangle 57"/>
              <p:cNvSpPr/>
              <p:nvPr/>
            </p:nvSpPr>
            <p:spPr>
              <a:xfrm>
                <a:off x="7723050" y="2520409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cxnSp>
            <p:nvCxnSpPr>
              <p:cNvPr id="106" name="Straight Arrow Connector 61"/>
              <p:cNvCxnSpPr>
                <a:stCxn id="105" idx="3"/>
                <a:endCxn id="108" idx="2"/>
              </p:cNvCxnSpPr>
              <p:nvPr/>
            </p:nvCxnSpPr>
            <p:spPr>
              <a:xfrm flipV="1">
                <a:off x="8246044" y="2228618"/>
                <a:ext cx="602784" cy="35515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107" name="TextBox 106"/>
              <p:cNvSpPr txBox="1"/>
              <p:nvPr/>
            </p:nvSpPr>
            <p:spPr>
              <a:xfrm>
                <a:off x="9261919" y="2096343"/>
                <a:ext cx="405572" cy="120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projection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8" name="Rectangle 64"/>
              <p:cNvSpPr/>
              <p:nvPr/>
            </p:nvSpPr>
            <p:spPr>
              <a:xfrm>
                <a:off x="8587331" y="2101898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8522141" y="2443263"/>
                <a:ext cx="948441" cy="362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CREATE PROJECTION …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UNSEGMENTED </a:t>
                </a:r>
                <a:endParaRPr kumimoji="0" lang="en-US" altLang="ko-KR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NODE </a:t>
                </a:r>
                <a:r>
                  <a:rPr kumimoji="0" lang="ko-KR" altLang="en-US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3 ; 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100" name="직사각형 99"/>
            <p:cNvSpPr/>
            <p:nvPr/>
          </p:nvSpPr>
          <p:spPr>
            <a:xfrm>
              <a:off x="5713730" y="5981700"/>
              <a:ext cx="3456000" cy="8991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5756910" y="7943850"/>
            <a:ext cx="3456000" cy="899160"/>
            <a:chOff x="5750560" y="7924800"/>
            <a:chExt cx="3456000" cy="899160"/>
          </a:xfrm>
        </p:grpSpPr>
        <p:grpSp>
          <p:nvGrpSpPr>
            <p:cNvPr id="111" name="그룹 110"/>
            <p:cNvGrpSpPr/>
            <p:nvPr/>
          </p:nvGrpSpPr>
          <p:grpSpPr>
            <a:xfrm>
              <a:off x="5835652" y="7929067"/>
              <a:ext cx="3282950" cy="851713"/>
              <a:chOff x="6295350" y="4262891"/>
              <a:chExt cx="3392945" cy="1347245"/>
            </a:xfrm>
          </p:grpSpPr>
          <p:sp>
            <p:nvSpPr>
              <p:cNvPr id="113" name="Rounded Rectangle 66"/>
              <p:cNvSpPr/>
              <p:nvPr/>
            </p:nvSpPr>
            <p:spPr>
              <a:xfrm>
                <a:off x="6736976" y="4390180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1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4" name="Rounded Rectangle 67"/>
              <p:cNvSpPr/>
              <p:nvPr/>
            </p:nvSpPr>
            <p:spPr>
              <a:xfrm>
                <a:off x="7613435" y="4390180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2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5" name="Rounded Rectangle 68"/>
              <p:cNvSpPr/>
              <p:nvPr/>
            </p:nvSpPr>
            <p:spPr>
              <a:xfrm>
                <a:off x="8489894" y="4390180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3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7881825" y="5499335"/>
                <a:ext cx="229230" cy="110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table</a:t>
                </a:r>
                <a:endPara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7" name="Rectangle 70"/>
              <p:cNvSpPr/>
              <p:nvPr/>
            </p:nvSpPr>
            <p:spPr>
              <a:xfrm>
                <a:off x="7723050" y="5100482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8" name="Rectangle 71"/>
              <p:cNvSpPr/>
              <p:nvPr/>
            </p:nvSpPr>
            <p:spPr>
              <a:xfrm>
                <a:off x="7723050" y="5227202"/>
                <a:ext cx="522994" cy="126720"/>
              </a:xfrm>
              <a:prstGeom prst="rect">
                <a:avLst/>
              </a:prstGeom>
              <a:pattFill prst="ltUpDiag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19" name="Rectangle 72"/>
              <p:cNvSpPr/>
              <p:nvPr/>
            </p:nvSpPr>
            <p:spPr>
              <a:xfrm>
                <a:off x="7723050" y="5350422"/>
                <a:ext cx="522994" cy="126720"/>
              </a:xfrm>
              <a:prstGeom prst="rect">
                <a:avLst/>
              </a:prstGeom>
              <a:pattFill prst="pct80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0" name="Rectangle 73"/>
              <p:cNvSpPr/>
              <p:nvPr/>
            </p:nvSpPr>
            <p:spPr>
              <a:xfrm>
                <a:off x="7723050" y="4681971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1" name="Rectangle 74"/>
              <p:cNvSpPr/>
              <p:nvPr/>
            </p:nvSpPr>
            <p:spPr>
              <a:xfrm>
                <a:off x="6834575" y="4681971"/>
                <a:ext cx="522994" cy="126720"/>
              </a:xfrm>
              <a:prstGeom prst="rect">
                <a:avLst/>
              </a:prstGeom>
              <a:pattFill prst="ltUpDiag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2" name="Rectangle 75"/>
              <p:cNvSpPr/>
              <p:nvPr/>
            </p:nvSpPr>
            <p:spPr>
              <a:xfrm>
                <a:off x="8608659" y="4681971"/>
                <a:ext cx="522994" cy="126720"/>
              </a:xfrm>
              <a:prstGeom prst="rect">
                <a:avLst/>
              </a:prstGeom>
              <a:pattFill prst="pct80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cxnSp>
            <p:nvCxnSpPr>
              <p:cNvPr id="123" name="Straight Arrow Connector 76"/>
              <p:cNvCxnSpPr>
                <a:stCxn id="118" idx="1"/>
                <a:endCxn id="121" idx="2"/>
              </p:cNvCxnSpPr>
              <p:nvPr/>
            </p:nvCxnSpPr>
            <p:spPr>
              <a:xfrm flipH="1" flipV="1">
                <a:off x="7096072" y="4808691"/>
                <a:ext cx="626978" cy="48187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124" name="Straight Arrow Connector 77"/>
              <p:cNvCxnSpPr>
                <a:stCxn id="117" idx="0"/>
              </p:cNvCxnSpPr>
              <p:nvPr/>
            </p:nvCxnSpPr>
            <p:spPr>
              <a:xfrm flipH="1" flipV="1">
                <a:off x="7966900" y="4808693"/>
                <a:ext cx="0" cy="291789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125" name="Straight Arrow Connector 78"/>
              <p:cNvCxnSpPr>
                <a:stCxn id="119" idx="3"/>
                <a:endCxn id="122" idx="2"/>
              </p:cNvCxnSpPr>
              <p:nvPr/>
            </p:nvCxnSpPr>
            <p:spPr>
              <a:xfrm flipV="1">
                <a:off x="8246044" y="4808691"/>
                <a:ext cx="624112" cy="60509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126" name="TextBox 125"/>
              <p:cNvSpPr txBox="1"/>
              <p:nvPr/>
            </p:nvSpPr>
            <p:spPr>
              <a:xfrm>
                <a:off x="8533754" y="5140445"/>
                <a:ext cx="1154541" cy="4600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CREATE PROJECTION …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SEGMENTED BY </a:t>
                </a:r>
                <a:endParaRPr kumimoji="0" lang="en-US" altLang="ko-KR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HASH 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(C1,C2) 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ALL 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NODES </a:t>
                </a: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;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6303957" y="4745206"/>
                <a:ext cx="425775" cy="153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projection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8" name="Rectangle 82"/>
              <p:cNvSpPr/>
              <p:nvPr/>
            </p:nvSpPr>
            <p:spPr>
              <a:xfrm>
                <a:off x="7715687" y="4313092"/>
                <a:ext cx="522994" cy="126720"/>
              </a:xfrm>
              <a:prstGeom prst="rect">
                <a:avLst/>
              </a:prstGeom>
              <a:pattFill prst="ltUpDiag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29" name="Rectangle 83"/>
              <p:cNvSpPr/>
              <p:nvPr/>
            </p:nvSpPr>
            <p:spPr>
              <a:xfrm>
                <a:off x="8592224" y="4313092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0" name="Rectangle 85"/>
              <p:cNvSpPr/>
              <p:nvPr/>
            </p:nvSpPr>
            <p:spPr>
              <a:xfrm>
                <a:off x="6829518" y="4313092"/>
                <a:ext cx="522994" cy="126720"/>
              </a:xfrm>
              <a:prstGeom prst="rect">
                <a:avLst/>
              </a:prstGeom>
              <a:pattFill prst="pct80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6295350" y="4262891"/>
                <a:ext cx="498768" cy="306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Buddy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projection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112" name="직사각형 111"/>
            <p:cNvSpPr/>
            <p:nvPr/>
          </p:nvSpPr>
          <p:spPr>
            <a:xfrm>
              <a:off x="5750560" y="7924800"/>
              <a:ext cx="3456000" cy="8991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628650" y="6236970"/>
            <a:ext cx="3456000" cy="899160"/>
            <a:chOff x="622300" y="6217920"/>
            <a:chExt cx="3456000" cy="899160"/>
          </a:xfrm>
        </p:grpSpPr>
        <p:grpSp>
          <p:nvGrpSpPr>
            <p:cNvPr id="133" name="그룹 132"/>
            <p:cNvGrpSpPr/>
            <p:nvPr/>
          </p:nvGrpSpPr>
          <p:grpSpPr>
            <a:xfrm>
              <a:off x="640073" y="6262318"/>
              <a:ext cx="3411227" cy="823349"/>
              <a:chOff x="843046" y="1895424"/>
              <a:chExt cx="3411227" cy="1279251"/>
            </a:xfrm>
          </p:grpSpPr>
          <p:sp>
            <p:nvSpPr>
              <p:cNvPr id="135" name="Rounded Rectangle 6"/>
              <p:cNvSpPr/>
              <p:nvPr/>
            </p:nvSpPr>
            <p:spPr>
              <a:xfrm>
                <a:off x="1302022" y="1895424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1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6" name="Rounded Rectangle 7"/>
              <p:cNvSpPr/>
              <p:nvPr/>
            </p:nvSpPr>
            <p:spPr>
              <a:xfrm>
                <a:off x="2178481" y="1895424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2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7" name="Rounded Rectangle 8"/>
              <p:cNvSpPr/>
              <p:nvPr/>
            </p:nvSpPr>
            <p:spPr>
              <a:xfrm>
                <a:off x="3054940" y="1895424"/>
                <a:ext cx="720080" cy="515404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노드</a:t>
                </a: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3</a:t>
                </a:r>
                <a:endPara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2432347" y="3014021"/>
                <a:ext cx="229230" cy="11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table</a:t>
                </a:r>
                <a:endPara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39" name="Rectangle 10"/>
              <p:cNvSpPr/>
              <p:nvPr/>
            </p:nvSpPr>
            <p:spPr>
              <a:xfrm>
                <a:off x="2288096" y="2605726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0" name="Rectangle 11"/>
              <p:cNvSpPr/>
              <p:nvPr/>
            </p:nvSpPr>
            <p:spPr>
              <a:xfrm>
                <a:off x="2288096" y="2732446"/>
                <a:ext cx="522994" cy="126720"/>
              </a:xfrm>
              <a:prstGeom prst="rect">
                <a:avLst/>
              </a:prstGeom>
              <a:pattFill prst="ltUpDiag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1" name="Rectangle 12"/>
              <p:cNvSpPr/>
              <p:nvPr/>
            </p:nvSpPr>
            <p:spPr>
              <a:xfrm>
                <a:off x="2288096" y="2855666"/>
                <a:ext cx="522994" cy="126720"/>
              </a:xfrm>
              <a:prstGeom prst="rect">
                <a:avLst/>
              </a:prstGeom>
              <a:pattFill prst="pct80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2" name="Rectangle 13"/>
              <p:cNvSpPr/>
              <p:nvPr/>
            </p:nvSpPr>
            <p:spPr>
              <a:xfrm>
                <a:off x="2288096" y="2187215"/>
                <a:ext cx="522994" cy="1267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3" name="Rectangle 14"/>
              <p:cNvSpPr/>
              <p:nvPr/>
            </p:nvSpPr>
            <p:spPr>
              <a:xfrm>
                <a:off x="1399621" y="2187215"/>
                <a:ext cx="522994" cy="126720"/>
              </a:xfrm>
              <a:prstGeom prst="rect">
                <a:avLst/>
              </a:prstGeom>
              <a:pattFill prst="ltUpDiag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4" name="Rectangle 15"/>
              <p:cNvSpPr/>
              <p:nvPr/>
            </p:nvSpPr>
            <p:spPr>
              <a:xfrm>
                <a:off x="3173705" y="2187215"/>
                <a:ext cx="522994" cy="126720"/>
              </a:xfrm>
              <a:prstGeom prst="rect">
                <a:avLst/>
              </a:prstGeom>
              <a:pattFill prst="pct80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9050" cap="flat" cmpd="sng" algn="ctr">
                <a:solidFill>
                  <a:srgbClr val="99B7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cxnSp>
            <p:nvCxnSpPr>
              <p:cNvPr id="145" name="Straight Arrow Connector 16"/>
              <p:cNvCxnSpPr>
                <a:stCxn id="140" idx="1"/>
                <a:endCxn id="143" idx="2"/>
              </p:cNvCxnSpPr>
              <p:nvPr/>
            </p:nvCxnSpPr>
            <p:spPr>
              <a:xfrm flipH="1" flipV="1">
                <a:off x="1661118" y="2313935"/>
                <a:ext cx="626978" cy="48187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146" name="Straight Arrow Connector 17"/>
              <p:cNvCxnSpPr>
                <a:stCxn id="139" idx="0"/>
              </p:cNvCxnSpPr>
              <p:nvPr/>
            </p:nvCxnSpPr>
            <p:spPr>
              <a:xfrm flipH="1" flipV="1">
                <a:off x="2531946" y="2313938"/>
                <a:ext cx="0" cy="291788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cxnSp>
            <p:nvCxnSpPr>
              <p:cNvPr id="147" name="Straight Arrow Connector 18"/>
              <p:cNvCxnSpPr>
                <a:stCxn id="141" idx="3"/>
                <a:endCxn id="144" idx="2"/>
              </p:cNvCxnSpPr>
              <p:nvPr/>
            </p:nvCxnSpPr>
            <p:spPr>
              <a:xfrm flipV="1">
                <a:off x="2811090" y="2313935"/>
                <a:ext cx="624112" cy="60509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99B7FF"/>
                </a:solidFill>
                <a:prstDash val="sysDash"/>
                <a:miter lim="800000"/>
                <a:tailEnd type="triangle"/>
              </a:ln>
              <a:effectLst/>
            </p:spPr>
          </p:cxnSp>
          <p:sp>
            <p:nvSpPr>
              <p:cNvPr id="148" name="TextBox 147"/>
              <p:cNvSpPr txBox="1"/>
              <p:nvPr/>
            </p:nvSpPr>
            <p:spPr>
              <a:xfrm>
                <a:off x="3032224" y="2722778"/>
                <a:ext cx="1222049" cy="451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CREATE PROJECTION …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SEGMENTED BY HASH (C1,C2) </a:t>
                </a:r>
              </a:p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ALL NODES; 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843046" y="2171714"/>
                <a:ext cx="411972" cy="150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212E35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projection</a:t>
                </a:r>
                <a:endParaRPr kumimoji="0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134" name="직사각형 133"/>
            <p:cNvSpPr/>
            <p:nvPr/>
          </p:nvSpPr>
          <p:spPr>
            <a:xfrm>
              <a:off x="622300" y="6217920"/>
              <a:ext cx="3456000" cy="8991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929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Schema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878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37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User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99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Profile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37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Resource Pool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4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Privilege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6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Backup / Restore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3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</a:t>
            </a:r>
            <a:r>
              <a:rPr lang="en-US" altLang="ko-KR" sz="7200" b="1" dirty="0" err="1" smtClean="0"/>
              <a:t>CoreTech</a:t>
            </a:r>
            <a:endParaRPr lang="en-US" altLang="ko-KR" sz="7200" b="1" dirty="0"/>
          </a:p>
        </p:txBody>
      </p:sp>
    </p:spTree>
    <p:extLst>
      <p:ext uri="{BB962C8B-B14F-4D97-AF65-F5344CB8AC3E}">
        <p14:creationId xmlns:p14="http://schemas.microsoft.com/office/powerpoint/2010/main" val="368105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vsql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97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Copy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97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Export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7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Utilization</a:t>
            </a:r>
          </a:p>
        </p:txBody>
      </p:sp>
    </p:spTree>
    <p:extLst>
      <p:ext uri="{BB962C8B-B14F-4D97-AF65-F5344CB8AC3E}">
        <p14:creationId xmlns:p14="http://schemas.microsoft.com/office/powerpoint/2010/main" val="119554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Connection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3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Monitoring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9" y="599005"/>
            <a:ext cx="6809274" cy="4188440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2864781" y="4811098"/>
            <a:ext cx="6855482" cy="4188440"/>
            <a:chOff x="8192364" y="1224564"/>
            <a:chExt cx="6281349" cy="396000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l="16961" r="1140"/>
            <a:stretch/>
          </p:blipFill>
          <p:spPr>
            <a:xfrm>
              <a:off x="8196943" y="1224564"/>
              <a:ext cx="6276770" cy="3960000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/>
            <a:srcRect l="-1" r="78636" b="92747"/>
            <a:stretch/>
          </p:blipFill>
          <p:spPr>
            <a:xfrm>
              <a:off x="8192364" y="1235450"/>
              <a:ext cx="1637437" cy="288550"/>
            </a:xfrm>
            <a:prstGeom prst="rect">
              <a:avLst/>
            </a:prstGeom>
          </p:spPr>
        </p:pic>
      </p:grpSp>
      <p:sp>
        <p:nvSpPr>
          <p:cNvPr id="4" name="직사각형 3"/>
          <p:cNvSpPr/>
          <p:nvPr/>
        </p:nvSpPr>
        <p:spPr>
          <a:xfrm>
            <a:off x="590550" y="1212850"/>
            <a:ext cx="660400" cy="82550"/>
          </a:xfrm>
          <a:prstGeom prst="rect">
            <a:avLst/>
          </a:prstGeom>
          <a:solidFill>
            <a:srgbClr val="181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070100" y="4006850"/>
            <a:ext cx="533400" cy="596900"/>
          </a:xfrm>
          <a:prstGeom prst="rect">
            <a:avLst/>
          </a:prstGeom>
          <a:solidFill>
            <a:srgbClr val="181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674100" y="5340350"/>
            <a:ext cx="660400" cy="825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72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Python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86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Fundamentals</a:t>
            </a:r>
          </a:p>
        </p:txBody>
      </p:sp>
    </p:spTree>
    <p:extLst>
      <p:ext uri="{BB962C8B-B14F-4D97-AF65-F5344CB8AC3E}">
        <p14:creationId xmlns:p14="http://schemas.microsoft.com/office/powerpoint/2010/main" val="367623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학습하기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9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6649</TotalTime>
  <Words>1766</Words>
  <Application>Microsoft Office PowerPoint</Application>
  <PresentationFormat>사용자 지정</PresentationFormat>
  <Paragraphs>321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HP Simplified</vt:lpstr>
      <vt:lpstr>Pretendard Variable Medium</vt:lpstr>
      <vt:lpstr>Pretendard Variable SemiBold</vt:lpstr>
      <vt:lpstr>Roboto Light</vt:lpstr>
      <vt:lpstr>맑은 고딕</vt:lpstr>
      <vt:lpstr>Arial</vt:lpstr>
      <vt:lpstr>Calibri</vt:lpstr>
      <vt:lpstr>Calibri Light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SOO</dc:creator>
  <cp:lastModifiedBy>SOO</cp:lastModifiedBy>
  <cp:revision>62</cp:revision>
  <dcterms:created xsi:type="dcterms:W3CDTF">2026-04-17T01:43:36Z</dcterms:created>
  <dcterms:modified xsi:type="dcterms:W3CDTF">2026-04-29T01:31:49Z</dcterms:modified>
</cp:coreProperties>
</file>