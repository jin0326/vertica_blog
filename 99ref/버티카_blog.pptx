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67" r:id="rId10"/>
    <p:sldId id="263" r:id="rId11"/>
    <p:sldId id="264" r:id="rId12"/>
    <p:sldId id="265" r:id="rId13"/>
    <p:sldId id="270" r:id="rId14"/>
    <p:sldId id="271" r:id="rId15"/>
    <p:sldId id="274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BAD"/>
    <a:srgbClr val="8497B0"/>
    <a:srgbClr val="333F50"/>
    <a:srgbClr val="ED7D31"/>
    <a:srgbClr val="D6DCE5"/>
    <a:srgbClr val="C5DBFF"/>
    <a:srgbClr val="98B6FE"/>
    <a:srgbClr val="9BB9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/>
  </p:normalViewPr>
  <p:slideViewPr>
    <p:cSldViewPr snapToGrid="0">
      <p:cViewPr varScale="1">
        <p:scale>
          <a:sx n="88" d="100"/>
          <a:sy n="88" d="100"/>
        </p:scale>
        <p:origin x="2496" y="66"/>
      </p:cViewPr>
      <p:guideLst>
        <p:guide orient="horz" pos="2834"/>
        <p:guide pos="30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microsoft.com/office/2007/relationships/hdphoto" Target="../media/hdphoto2.wdp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7572919" y="3483971"/>
            <a:ext cx="1188000" cy="118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533405" y="2207621"/>
            <a:ext cx="1188000" cy="118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544344" y="902696"/>
            <a:ext cx="1188000" cy="118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a16="http://schemas.microsoft.com/office/drawing/2014/main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="" xmlns:a16="http://schemas.microsoft.com/office/drawing/2014/main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931272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931272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93231" y="989505"/>
            <a:ext cx="1090227" cy="101438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29910" y="2285520"/>
            <a:ext cx="1194990" cy="1032203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95419" y="3635059"/>
            <a:ext cx="1143000" cy="885825"/>
          </a:xfrm>
          <a:prstGeom prst="rect">
            <a:avLst/>
          </a:prstGeom>
        </p:spPr>
      </p:pic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11556" y="3616255"/>
            <a:ext cx="4710817" cy="1200329"/>
            <a:chOff x="3974094" y="1195996"/>
            <a:chExt cx="5738410" cy="1200329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xmlns="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xmlns="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20032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19744" y="5097233"/>
            <a:ext cx="4755888" cy="738664"/>
            <a:chOff x="3926949" y="2618919"/>
            <a:chExt cx="5793314" cy="738664"/>
          </a:xfrm>
        </p:grpSpPr>
        <p:sp>
          <p:nvSpPr>
            <p:cNvPr id="99" name="타원 98">
              <a:extLst>
                <a:ext uri="{FF2B5EF4-FFF2-40B4-BE49-F238E27FC236}">
                  <a16:creationId xmlns:a16="http://schemas.microsoft.com/office/drawing/2014/main" xmlns="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xmlns="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738664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74772" y="4448608"/>
            <a:ext cx="4755888" cy="1431161"/>
            <a:chOff x="3926949" y="3338266"/>
            <a:chExt cx="5793314" cy="1431161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xmlns="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xmlns="" id="{688289CD-94AD-1B72-1500-6EAFBCF42BA0}"/>
                </a:ext>
              </a:extLst>
            </p:cNvPr>
            <p:cNvSpPr txBox="1"/>
            <p:nvPr/>
          </p:nvSpPr>
          <p:spPr>
            <a:xfrm>
              <a:off x="4070966" y="3338266"/>
              <a:ext cx="5649297" cy="143116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10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10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10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963886" y="3903926"/>
            <a:ext cx="4755888" cy="507831"/>
            <a:chOff x="3926949" y="2162212"/>
            <a:chExt cx="5793314" cy="507831"/>
          </a:xfrm>
        </p:grpSpPr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xmlns="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xmlns="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507831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2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2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10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10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10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214367" y="6147642"/>
            <a:ext cx="453264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4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73935" y="6159363"/>
            <a:ext cx="4567813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4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4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="" xmlns:a16="http://schemas.microsoft.com/office/drawing/2014/main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="" xmlns:a16="http://schemas.microsoft.com/office/drawing/2014/main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="" xmlns:a16="http://schemas.microsoft.com/office/drawing/2014/main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110441" y="674079"/>
            <a:ext cx="4496728" cy="396825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1100" b="1" dirty="0" smtClean="0"/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 smtClean="0"/>
              <a:t>데이터 논리 모델링의 오브젝트</a:t>
            </a:r>
            <a:endParaRPr lang="en-US" altLang="ko-KR" sz="1100" dirty="0" smtClean="0"/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 smtClean="0"/>
              <a:t>대부분의 </a:t>
            </a:r>
            <a:r>
              <a:rPr lang="ko-KR" altLang="en-US" sz="1100" dirty="0"/>
              <a:t>상용 </a:t>
            </a:r>
            <a:r>
              <a:rPr lang="en-US" altLang="ko-KR" sz="1100" dirty="0"/>
              <a:t>DB</a:t>
            </a:r>
            <a:r>
              <a:rPr lang="ko-KR" altLang="en-US" sz="1100" dirty="0"/>
              <a:t>의 데이터 타입과 호환</a:t>
            </a:r>
            <a:endParaRPr lang="en-US" altLang="ko-KR" sz="1100" dirty="0"/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/>
              <a:t>데이터 타입</a:t>
            </a:r>
            <a:endParaRPr lang="en-US" altLang="ko-KR" sz="1100" dirty="0"/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1100" dirty="0"/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1100" dirty="0"/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1100" dirty="0"/>
              <a:t>테이블 정의에 특별한 옵션이 필요하지 않고</a:t>
            </a:r>
            <a:r>
              <a:rPr lang="en-US" altLang="ko-KR" sz="1100" dirty="0"/>
              <a:t>, </a:t>
            </a:r>
            <a:r>
              <a:rPr lang="ko-KR" altLang="en-US" sz="1100" dirty="0"/>
              <a:t>대부분 </a:t>
            </a:r>
            <a:r>
              <a:rPr lang="ko-KR" altLang="en-US" sz="1100" dirty="0" err="1"/>
              <a:t>프로젝션</a:t>
            </a:r>
            <a:r>
              <a:rPr lang="ko-KR" altLang="en-US" sz="1100" dirty="0"/>
              <a:t> 생성 단계에서 정의하고 테이블 생성 단계에서 필요한 부가적인 옵션은 파티션 구문 정도</a:t>
            </a:r>
            <a:endParaRPr lang="en-US" altLang="ko-KR" sz="1100" dirty="0"/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1100" dirty="0"/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4630614" y="674078"/>
            <a:ext cx="4810077" cy="3921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실제 테이블 데이터가 저장되는 오브젝트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프로젝션이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만들어지는 시기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 생성 후 처음으로 데이터가 저장될 때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명시적으로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프로젝션을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생성할 때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Database Designer (DBD)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에 의해 생성될 때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테이블을 생성할 때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속성을 함께 지정할 때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예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, Segment, Order, </a:t>
            </a:r>
            <a:r>
              <a:rPr kumimoji="0" lang="en-US" altLang="ko-KR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Ksafe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등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1100" b="1" dirty="0">
                <a:solidFill>
                  <a:srgbClr val="212E35"/>
                </a:solidFill>
              </a:rPr>
              <a:t>Projection </a:t>
            </a:r>
            <a:r>
              <a:rPr lang="en-US" altLang="ko-KR" sz="1100" b="1" dirty="0" smtClean="0">
                <a:solidFill>
                  <a:srgbClr val="212E35"/>
                </a:solidFill>
              </a:rPr>
              <a:t> </a:t>
            </a:r>
            <a:r>
              <a:rPr kumimoji="0" lang="ko-KR" altLang="en-US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속성</a:t>
            </a:r>
            <a:endParaRPr kumimoji="0" lang="en-US" altLang="ko-KR" sz="11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인코딩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및 압축 정의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매뉴얼하게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정의 가능하지만 보통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DBD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의 가이드로 재 정의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DBD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가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인코딩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정보를 정확히 추천하기 위해서는 데이터가 적절히 저장되어 있어야 함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실제 데이터 값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데이터의 분포 고려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정렬 저장 순서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데이터가 물리적으로 정렬되어 저장하여 조회 및 조인 속도를 높일 때 사용한다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 분산 정책 </a:t>
            </a:r>
            <a:r>
              <a:rPr kumimoji="0" lang="en-US" altLang="ko-KR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멀티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노드에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데이터를 분산시키기 위한 기준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컬럼을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지정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데이터를 모든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또는 일부 </a:t>
            </a:r>
            <a:r>
              <a:rPr kumimoji="0" lang="ko-KR" altLang="en-US" sz="11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노드에</a:t>
            </a:r>
            <a:r>
              <a:rPr kumimoji="0" lang="ko-KR" altLang="en-US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복제 가능</a:t>
            </a:r>
            <a:endParaRPr kumimoji="0" lang="en-US" altLang="ko-KR" sz="11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566261" y="689149"/>
            <a:ext cx="0" cy="3601497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93784" y="4659926"/>
            <a:ext cx="9437077" cy="29483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Projection</a:t>
            </a:r>
            <a:r>
              <a:rPr kumimoji="0" lang="en-US" altLang="ko-KR" sz="11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</a:t>
            </a:r>
            <a:r>
              <a:rPr kumimoji="0" lang="ko-KR" altLang="en-US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종류</a:t>
            </a:r>
            <a:endParaRPr kumimoji="0" lang="en-US" altLang="ko-KR" sz="11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Super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테이블의 모든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포함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다른 속성의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Super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프로젝션을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만들어 데이터를 동기화 시킨 후에 만 기존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Super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삭제 가능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Query-specific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특정 쿼리 튜닝을 위해 추가된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일부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컬럼만으로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생성 가능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Aggregate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SUM, COUNT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와 같은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표현식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또는 집계함수를 포함하고 있는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이미 집계된 데이터가 포함되어 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Buddy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속성의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KSAFE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로 데이터를 이중화 또는 삼중화할 때 다른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노드에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복제되는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1100" b="1" dirty="0">
                <a:solidFill>
                  <a:srgbClr val="212E35"/>
                </a:solidFill>
              </a:rPr>
              <a:t>Projection </a:t>
            </a:r>
            <a:r>
              <a:rPr kumimoji="0" lang="ko-KR" altLang="en-US" sz="11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관리</a:t>
            </a:r>
            <a:endParaRPr kumimoji="0" lang="en-US" altLang="ko-KR" sz="11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프로젝션은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테이블 당 복수개가 가능하지만 너무 많은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프로젝션은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데이터 적재 속도에 영향을 미침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테이블 당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2-4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개 이내의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권장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추가 생성 및 동기화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,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삭제 등의 과정은 기존 </a:t>
            </a:r>
            <a:r>
              <a:rPr kumimoji="0" lang="ko-KR" alt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프로젝션이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</a:rPr>
              <a:t> 사용 중인 상태에서 가능한 온라인 작업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Calibri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246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6325</TotalTime>
  <Words>1598</Words>
  <Application>Microsoft Office PowerPoint</Application>
  <PresentationFormat>사용자 지정</PresentationFormat>
  <Paragraphs>260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52</cp:revision>
  <dcterms:created xsi:type="dcterms:W3CDTF">2026-04-17T01:43:36Z</dcterms:created>
  <dcterms:modified xsi:type="dcterms:W3CDTF">2026-04-28T01:19:35Z</dcterms:modified>
</cp:coreProperties>
</file>