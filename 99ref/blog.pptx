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777" autoAdjust="0"/>
    <p:restoredTop sz="94660"/>
  </p:normalViewPr>
  <p:slideViewPr>
    <p:cSldViewPr snapToGrid="0">
      <p:cViewPr>
        <p:scale>
          <a:sx n="75" d="100"/>
          <a:sy n="75" d="100"/>
        </p:scale>
        <p:origin x="289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4934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5598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0776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0262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5679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1196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0295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6175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1552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0641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0" y="44177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7606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461271"/>
              </p:ext>
            </p:extLst>
          </p:nvPr>
        </p:nvGraphicFramePr>
        <p:xfrm>
          <a:off x="246308" y="5458187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1713452"/>
              </p:ext>
            </p:extLst>
          </p:nvPr>
        </p:nvGraphicFramePr>
        <p:xfrm>
          <a:off x="516052" y="5458187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800928"/>
              </p:ext>
            </p:extLst>
          </p:nvPr>
        </p:nvGraphicFramePr>
        <p:xfrm>
          <a:off x="761055" y="5458187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143817"/>
              </p:ext>
            </p:extLst>
          </p:nvPr>
        </p:nvGraphicFramePr>
        <p:xfrm>
          <a:off x="995218" y="5458187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891744"/>
              </p:ext>
            </p:extLst>
          </p:nvPr>
        </p:nvGraphicFramePr>
        <p:xfrm>
          <a:off x="1258304" y="5459907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337563" y="5682153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917832" y="5542849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3971921" y="5639579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2173506" y="5499926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99782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2047610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3995438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5943266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891093" y="69843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42829" y="7586979"/>
            <a:ext cx="1723822" cy="3825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1880579" y="7586979"/>
            <a:ext cx="1498137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3721113" y="7597865"/>
            <a:ext cx="1830601" cy="13701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확장성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5907535" y="7586979"/>
            <a:ext cx="1749145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7822196" y="7586979"/>
            <a:ext cx="1749145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6078731" y="5563601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  <p:cxnSp>
        <p:nvCxnSpPr>
          <p:cNvPr id="3" name="직선 연결선 2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/>
          <p:cNvCxnSpPr/>
          <p:nvPr/>
        </p:nvCxnSpPr>
        <p:spPr>
          <a:xfrm flipV="1">
            <a:off x="114300" y="47752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407534" y="785585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6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141102" y="1737731"/>
            <a:ext cx="4366941" cy="2183652"/>
            <a:chOff x="1088681" y="2547978"/>
            <a:chExt cx="4366941" cy="2183652"/>
          </a:xfrm>
        </p:grpSpPr>
        <p:grpSp>
          <p:nvGrpSpPr>
            <p:cNvPr id="22" name="그룹 21"/>
            <p:cNvGrpSpPr/>
            <p:nvPr/>
          </p:nvGrpSpPr>
          <p:grpSpPr>
            <a:xfrm>
              <a:off x="1088681" y="2986780"/>
              <a:ext cx="4366941" cy="1744850"/>
              <a:chOff x="1088681" y="2986780"/>
              <a:chExt cx="4366941" cy="1744850"/>
            </a:xfrm>
          </p:grpSpPr>
          <p:grpSp>
            <p:nvGrpSpPr>
              <p:cNvPr id="24" name="그룹 54"/>
              <p:cNvGrpSpPr/>
              <p:nvPr/>
            </p:nvGrpSpPr>
            <p:grpSpPr>
              <a:xfrm>
                <a:off x="2666944" y="2986780"/>
                <a:ext cx="1463020" cy="1704455"/>
                <a:chOff x="2763035" y="2506034"/>
                <a:chExt cx="1594245" cy="1723318"/>
              </a:xfrm>
            </p:grpSpPr>
            <p:sp>
              <p:nvSpPr>
                <p:cNvPr id="50" name="Rounded Rectangle 32"/>
                <p:cNvSpPr/>
                <p:nvPr/>
              </p:nvSpPr>
              <p:spPr>
                <a:xfrm>
                  <a:off x="2859399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51" name="Rounded Rectangle 33"/>
                <p:cNvSpPr/>
                <p:nvPr/>
              </p:nvSpPr>
              <p:spPr>
                <a:xfrm>
                  <a:off x="3362503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52" name="Rounded Rectangle 34"/>
                <p:cNvSpPr/>
                <p:nvPr/>
              </p:nvSpPr>
              <p:spPr>
                <a:xfrm>
                  <a:off x="3865607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cxnSp>
              <p:nvCxnSpPr>
                <p:cNvPr id="53" name="Straight Connector 35"/>
                <p:cNvCxnSpPr>
                  <a:endCxn id="50" idx="0"/>
                </p:cNvCxnSpPr>
                <p:nvPr/>
              </p:nvCxnSpPr>
              <p:spPr>
                <a:xfrm>
                  <a:off x="3068719" y="3406619"/>
                  <a:ext cx="1" cy="143136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36"/>
                <p:cNvCxnSpPr/>
                <p:nvPr/>
              </p:nvCxnSpPr>
              <p:spPr>
                <a:xfrm>
                  <a:off x="3571822" y="3406619"/>
                  <a:ext cx="0" cy="162043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37"/>
                <p:cNvCxnSpPr/>
                <p:nvPr/>
              </p:nvCxnSpPr>
              <p:spPr>
                <a:xfrm>
                  <a:off x="4074927" y="3406619"/>
                  <a:ext cx="0" cy="162043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6" name="Rounded Rectangle 38"/>
                <p:cNvSpPr/>
                <p:nvPr/>
              </p:nvSpPr>
              <p:spPr>
                <a:xfrm>
                  <a:off x="3068720" y="2831866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cxnSp>
              <p:nvCxnSpPr>
                <p:cNvPr id="57" name="Straight Connector 39"/>
                <p:cNvCxnSpPr/>
                <p:nvPr/>
              </p:nvCxnSpPr>
              <p:spPr>
                <a:xfrm>
                  <a:off x="3278040" y="3246958"/>
                  <a:ext cx="1" cy="159661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40"/>
                <p:cNvCxnSpPr>
                  <a:stCxn id="59" idx="2"/>
                </p:cNvCxnSpPr>
                <p:nvPr/>
              </p:nvCxnSpPr>
              <p:spPr>
                <a:xfrm>
                  <a:off x="3823376" y="3246958"/>
                  <a:ext cx="3626" cy="159661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Rounded Rectangle 41"/>
                <p:cNvSpPr/>
                <p:nvPr/>
              </p:nvSpPr>
              <p:spPr>
                <a:xfrm>
                  <a:off x="3614055" y="2831866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60" name="TextBox 59"/>
                <p:cNvSpPr txBox="1"/>
                <p:nvPr/>
              </p:nvSpPr>
              <p:spPr>
                <a:xfrm>
                  <a:off x="3095658" y="2506034"/>
                  <a:ext cx="945359" cy="2645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DB Server</a:t>
                  </a:r>
                </a:p>
              </p:txBody>
            </p:sp>
            <p:sp>
              <p:nvSpPr>
                <p:cNvPr id="61" name="TextBox 60"/>
                <p:cNvSpPr txBox="1"/>
                <p:nvPr/>
              </p:nvSpPr>
              <p:spPr>
                <a:xfrm>
                  <a:off x="3062564" y="3964847"/>
                  <a:ext cx="1294716" cy="2645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Storage Server</a:t>
                  </a:r>
                </a:p>
              </p:txBody>
            </p:sp>
            <p:sp>
              <p:nvSpPr>
                <p:cNvPr id="62" name="Rounded Rectangle 44"/>
                <p:cNvSpPr/>
                <p:nvPr/>
              </p:nvSpPr>
              <p:spPr>
                <a:xfrm>
                  <a:off x="2763035" y="3333144"/>
                  <a:ext cx="1586536" cy="146950"/>
                </a:xfrm>
                <a:prstGeom prst="roundRect">
                  <a:avLst/>
                </a:prstGeom>
                <a:solidFill>
                  <a:srgbClr val="F05332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 err="1">
                      <a:latin typeface="+mn-ea"/>
                    </a:rPr>
                    <a:t>InfiniBand</a:t>
                  </a:r>
                  <a:endParaRPr lang="en-US" sz="1000" dirty="0">
                    <a:latin typeface="+mn-ea"/>
                  </a:endParaRPr>
                </a:p>
              </p:txBody>
            </p:sp>
            <p:sp>
              <p:nvSpPr>
                <p:cNvPr id="63" name="Rounded Rectangle 45"/>
                <p:cNvSpPr/>
                <p:nvPr/>
              </p:nvSpPr>
              <p:spPr>
                <a:xfrm>
                  <a:off x="2905511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  <p:sp>
              <p:nvSpPr>
                <p:cNvPr id="64" name="Rounded Rectangle 46"/>
                <p:cNvSpPr/>
                <p:nvPr/>
              </p:nvSpPr>
              <p:spPr>
                <a:xfrm>
                  <a:off x="3420928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  <p:sp>
              <p:nvSpPr>
                <p:cNvPr id="65" name="Rounded Rectangle 47"/>
                <p:cNvSpPr/>
                <p:nvPr/>
              </p:nvSpPr>
              <p:spPr>
                <a:xfrm>
                  <a:off x="3924031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</p:grpSp>
          <p:grpSp>
            <p:nvGrpSpPr>
              <p:cNvPr id="25" name="그룹 24"/>
              <p:cNvGrpSpPr/>
              <p:nvPr/>
            </p:nvGrpSpPr>
            <p:grpSpPr>
              <a:xfrm>
                <a:off x="1088681" y="2990108"/>
                <a:ext cx="1307567" cy="1741522"/>
                <a:chOff x="1088681" y="2990108"/>
                <a:chExt cx="1307567" cy="1741522"/>
              </a:xfrm>
            </p:grpSpPr>
            <p:sp>
              <p:nvSpPr>
                <p:cNvPr id="35" name="TextBox 34"/>
                <p:cNvSpPr txBox="1"/>
                <p:nvPr/>
              </p:nvSpPr>
              <p:spPr>
                <a:xfrm>
                  <a:off x="1237358" y="2990108"/>
                  <a:ext cx="112242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altLang="ko-KR" sz="1100" b="1" dirty="0">
                      <a:latin typeface="+mn-ea"/>
                      <a:cs typeface="HP Simplified" pitchFamily="34" charset="0"/>
                    </a:rPr>
                    <a:t>Master Server</a:t>
                  </a:r>
                  <a:endParaRPr lang="en-US" sz="1100" b="1" dirty="0">
                    <a:latin typeface="+mn-ea"/>
                    <a:cs typeface="HP Simplified" pitchFamily="34" charset="0"/>
                  </a:endParaRPr>
                </a:p>
              </p:txBody>
            </p:sp>
            <p:grpSp>
              <p:nvGrpSpPr>
                <p:cNvPr id="36" name="그룹 35"/>
                <p:cNvGrpSpPr/>
                <p:nvPr/>
              </p:nvGrpSpPr>
              <p:grpSpPr>
                <a:xfrm>
                  <a:off x="1088681" y="3332572"/>
                  <a:ext cx="1307567" cy="1120580"/>
                  <a:chOff x="1088681" y="3332572"/>
                  <a:chExt cx="1307567" cy="1120580"/>
                </a:xfrm>
              </p:grpSpPr>
              <p:sp>
                <p:nvSpPr>
                  <p:cNvPr id="38" name="Rounded Rectangle 19"/>
                  <p:cNvSpPr/>
                  <p:nvPr/>
                </p:nvSpPr>
                <p:spPr>
                  <a:xfrm>
                    <a:off x="1088681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sp>
                <p:nvSpPr>
                  <p:cNvPr id="39" name="Rounded Rectangle 20"/>
                  <p:cNvSpPr/>
                  <p:nvPr/>
                </p:nvSpPr>
                <p:spPr>
                  <a:xfrm>
                    <a:off x="1550374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sp>
                <p:nvSpPr>
                  <p:cNvPr id="40" name="Rounded Rectangle 21"/>
                  <p:cNvSpPr/>
                  <p:nvPr/>
                </p:nvSpPr>
                <p:spPr>
                  <a:xfrm>
                    <a:off x="2012066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1" name="Straight Connector 22"/>
                  <p:cNvCxnSpPr/>
                  <p:nvPr/>
                </p:nvCxnSpPr>
                <p:spPr>
                  <a:xfrm>
                    <a:off x="1088681" y="3901034"/>
                    <a:ext cx="1307567" cy="0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Connector 23"/>
                  <p:cNvCxnSpPr>
                    <a:endCxn id="38" idx="0"/>
                  </p:cNvCxnSpPr>
                  <p:nvPr/>
                </p:nvCxnSpPr>
                <p:spPr>
                  <a:xfrm>
                    <a:off x="1280772" y="3901034"/>
                    <a:ext cx="1" cy="1415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Connector 24"/>
                  <p:cNvCxnSpPr/>
                  <p:nvPr/>
                </p:nvCxnSpPr>
                <p:spPr>
                  <a:xfrm>
                    <a:off x="1742463" y="3901034"/>
                    <a:ext cx="0" cy="1602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Straight Connector 25"/>
                  <p:cNvCxnSpPr/>
                  <p:nvPr/>
                </p:nvCxnSpPr>
                <p:spPr>
                  <a:xfrm>
                    <a:off x="2204157" y="3901034"/>
                    <a:ext cx="0" cy="1602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5" name="Rounded Rectangle 26"/>
                  <p:cNvSpPr/>
                  <p:nvPr/>
                </p:nvSpPr>
                <p:spPr>
                  <a:xfrm>
                    <a:off x="1308765" y="3332572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6" name="Straight Connector 27"/>
                  <p:cNvCxnSpPr/>
                  <p:nvPr/>
                </p:nvCxnSpPr>
                <p:spPr>
                  <a:xfrm>
                    <a:off x="1500856" y="3743121"/>
                    <a:ext cx="1" cy="157913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28"/>
                  <p:cNvCxnSpPr>
                    <a:stCxn id="48" idx="2"/>
                  </p:cNvCxnSpPr>
                  <p:nvPr/>
                </p:nvCxnSpPr>
                <p:spPr>
                  <a:xfrm>
                    <a:off x="2001305" y="3743121"/>
                    <a:ext cx="3328" cy="157913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8" name="Rounded Rectangle 29"/>
                  <p:cNvSpPr/>
                  <p:nvPr/>
                </p:nvSpPr>
                <p:spPr>
                  <a:xfrm>
                    <a:off x="1809213" y="3332572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9" name="Straight Arrow Connector 31"/>
                  <p:cNvCxnSpPr/>
                  <p:nvPr/>
                </p:nvCxnSpPr>
                <p:spPr>
                  <a:xfrm>
                    <a:off x="1500857" y="3537846"/>
                    <a:ext cx="539203" cy="0"/>
                  </a:xfrm>
                  <a:prstGeom prst="straightConnector1">
                    <a:avLst/>
                  </a:prstGeom>
                  <a:ln w="12700" cmpd="sng">
                    <a:solidFill>
                      <a:srgbClr val="003300"/>
                    </a:solidFill>
                    <a:headEnd type="arrow"/>
                    <a:tailEnd type="arrow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7" name="TextBox 36"/>
                <p:cNvSpPr txBox="1"/>
                <p:nvPr/>
              </p:nvSpPr>
              <p:spPr>
                <a:xfrm>
                  <a:off x="1339149" y="4470020"/>
                  <a:ext cx="91403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altLang="ko-KR" sz="1100" b="1" dirty="0">
                      <a:latin typeface="+mn-ea"/>
                      <a:cs typeface="HP Simplified" pitchFamily="34" charset="0"/>
                    </a:rPr>
                    <a:t>Data Node</a:t>
                  </a:r>
                  <a:endParaRPr lang="en-US" sz="1100" b="1" dirty="0">
                    <a:latin typeface="+mn-ea"/>
                    <a:cs typeface="HP Simplified" pitchFamily="34" charset="0"/>
                  </a:endParaRPr>
                </a:p>
              </p:txBody>
            </p:sp>
          </p:grpSp>
          <p:grpSp>
            <p:nvGrpSpPr>
              <p:cNvPr id="26" name="그룹 125"/>
              <p:cNvGrpSpPr/>
              <p:nvPr/>
            </p:nvGrpSpPr>
            <p:grpSpPr>
              <a:xfrm>
                <a:off x="4393588" y="2986780"/>
                <a:ext cx="1062034" cy="1704455"/>
                <a:chOff x="3685766" y="2399156"/>
                <a:chExt cx="1062034" cy="1704455"/>
              </a:xfrm>
            </p:grpSpPr>
            <p:sp>
              <p:nvSpPr>
                <p:cNvPr id="27" name="Rounded Rectangle 33"/>
                <p:cNvSpPr/>
                <p:nvPr/>
              </p:nvSpPr>
              <p:spPr>
                <a:xfrm>
                  <a:off x="4001897" y="3431453"/>
                  <a:ext cx="384182" cy="410549"/>
                </a:xfrm>
                <a:prstGeom prst="roundRect">
                  <a:avLst/>
                </a:prstGeom>
                <a:solidFill>
                  <a:srgbClr val="104E91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28" name="Rounded Rectangle 38"/>
                <p:cNvSpPr/>
                <p:nvPr/>
              </p:nvSpPr>
              <p:spPr>
                <a:xfrm>
                  <a:off x="3744171" y="2721422"/>
                  <a:ext cx="384182" cy="410549"/>
                </a:xfrm>
                <a:prstGeom prst="roundRect">
                  <a:avLst/>
                </a:prstGeom>
                <a:solidFill>
                  <a:srgbClr val="60A4E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solidFill>
                      <a:schemeClr val="accent4">
                        <a:lumMod val="60000"/>
                        <a:lumOff val="40000"/>
                      </a:schemeClr>
                    </a:solidFill>
                    <a:latin typeface="+mn-ea"/>
                  </a:endParaRPr>
                </a:p>
              </p:txBody>
            </p:sp>
            <p:cxnSp>
              <p:nvCxnSpPr>
                <p:cNvPr id="29" name="Straight Connector 39"/>
                <p:cNvCxnSpPr>
                  <a:endCxn id="27" idx="0"/>
                </p:cNvCxnSpPr>
                <p:nvPr/>
              </p:nvCxnSpPr>
              <p:spPr>
                <a:xfrm>
                  <a:off x="3924386" y="3131970"/>
                  <a:ext cx="269602" cy="299483"/>
                </a:xfrm>
                <a:prstGeom prst="line">
                  <a:avLst/>
                </a:prstGeom>
                <a:ln w="28575" cmpd="sng">
                  <a:solidFill>
                    <a:schemeClr val="accent4">
                      <a:lumMod val="50000"/>
                    </a:schemeClr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40"/>
                <p:cNvCxnSpPr>
                  <a:stCxn id="31" idx="2"/>
                  <a:endCxn id="27" idx="0"/>
                </p:cNvCxnSpPr>
                <p:nvPr/>
              </p:nvCxnSpPr>
              <p:spPr>
                <a:xfrm flipH="1">
                  <a:off x="4193988" y="3131971"/>
                  <a:ext cx="242721" cy="299482"/>
                </a:xfrm>
                <a:prstGeom prst="line">
                  <a:avLst/>
                </a:prstGeom>
                <a:ln w="28575" cmpd="sng">
                  <a:solidFill>
                    <a:schemeClr val="accent4">
                      <a:lumMod val="50000"/>
                    </a:schemeClr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Rounded Rectangle 41"/>
                <p:cNvSpPr/>
                <p:nvPr/>
              </p:nvSpPr>
              <p:spPr>
                <a:xfrm>
                  <a:off x="4244618" y="2721422"/>
                  <a:ext cx="384182" cy="410549"/>
                </a:xfrm>
                <a:prstGeom prst="roundRect">
                  <a:avLst/>
                </a:prstGeom>
                <a:solidFill>
                  <a:srgbClr val="60A4E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32" name="TextBox 31"/>
                <p:cNvSpPr txBox="1"/>
                <p:nvPr/>
              </p:nvSpPr>
              <p:spPr>
                <a:xfrm>
                  <a:off x="3685766" y="2399156"/>
                  <a:ext cx="45878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R/W</a:t>
                  </a:r>
                </a:p>
              </p:txBody>
            </p:sp>
            <p:sp>
              <p:nvSpPr>
                <p:cNvPr id="33" name="TextBox 32"/>
                <p:cNvSpPr txBox="1"/>
                <p:nvPr/>
              </p:nvSpPr>
              <p:spPr>
                <a:xfrm>
                  <a:off x="3833521" y="3842001"/>
                  <a:ext cx="71045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Storage</a:t>
                  </a:r>
                </a:p>
              </p:txBody>
            </p:sp>
            <p:sp>
              <p:nvSpPr>
                <p:cNvPr id="34" name="TextBox 33"/>
                <p:cNvSpPr txBox="1"/>
                <p:nvPr/>
              </p:nvSpPr>
              <p:spPr>
                <a:xfrm>
                  <a:off x="4160780" y="2399156"/>
                  <a:ext cx="58702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READ</a:t>
                  </a:r>
                </a:p>
              </p:txBody>
            </p:sp>
          </p:grpSp>
        </p:grpSp>
        <p:sp>
          <p:nvSpPr>
            <p:cNvPr id="23" name="Rectangle 18"/>
            <p:cNvSpPr/>
            <p:nvPr/>
          </p:nvSpPr>
          <p:spPr>
            <a:xfrm>
              <a:off x="2415186" y="2547978"/>
              <a:ext cx="163378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sz="1600" b="1" dirty="0">
                  <a:latin typeface="+mn-ea"/>
                  <a:cs typeface="HP Simplified" pitchFamily="34" charset="0"/>
                </a:rPr>
                <a:t>Other Systems</a:t>
              </a:r>
            </a:p>
          </p:txBody>
        </p:sp>
      </p:grpSp>
      <p:pic>
        <p:nvPicPr>
          <p:cNvPr id="66" name="Picture 2" descr="versus png에 대한 이미지 검색결과">
            <a:extLst>
              <a:ext uri="{FF2B5EF4-FFF2-40B4-BE49-F238E27FC236}">
                <a16:creationId xmlns:a16="http://schemas.microsoft.com/office/drawing/2014/main" xmlns="" id="{7CF353E0-AD86-40C8-A8CD-549B859527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1009" y="2903897"/>
            <a:ext cx="1170546" cy="117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7" name="그룹 66"/>
          <p:cNvGrpSpPr/>
          <p:nvPr/>
        </p:nvGrpSpPr>
        <p:grpSpPr>
          <a:xfrm>
            <a:off x="6283271" y="1779028"/>
            <a:ext cx="2643013" cy="2270649"/>
            <a:chOff x="7746031" y="2605603"/>
            <a:chExt cx="2643013" cy="2270649"/>
          </a:xfrm>
        </p:grpSpPr>
        <p:grpSp>
          <p:nvGrpSpPr>
            <p:cNvPr id="68" name="그룹 67"/>
            <p:cNvGrpSpPr/>
            <p:nvPr/>
          </p:nvGrpSpPr>
          <p:grpSpPr>
            <a:xfrm>
              <a:off x="7767471" y="3263550"/>
              <a:ext cx="2566104" cy="649573"/>
              <a:chOff x="7767471" y="3263550"/>
              <a:chExt cx="2566104" cy="649573"/>
            </a:xfrm>
          </p:grpSpPr>
          <p:cxnSp>
            <p:nvCxnSpPr>
              <p:cNvPr id="73" name="Straight Connector 8"/>
              <p:cNvCxnSpPr/>
              <p:nvPr/>
            </p:nvCxnSpPr>
            <p:spPr>
              <a:xfrm>
                <a:off x="7767471" y="3263550"/>
                <a:ext cx="2566104" cy="0"/>
              </a:xfrm>
              <a:prstGeom prst="line">
                <a:avLst/>
              </a:prstGeom>
              <a:ln w="28575" cmpd="sng">
                <a:solidFill>
                  <a:srgbClr val="0079EF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4" name="그룹 73"/>
              <p:cNvGrpSpPr/>
              <p:nvPr/>
            </p:nvGrpSpPr>
            <p:grpSpPr>
              <a:xfrm>
                <a:off x="7815960" y="3263550"/>
                <a:ext cx="418641" cy="649573"/>
                <a:chOff x="8086547" y="3263550"/>
                <a:chExt cx="418641" cy="649573"/>
              </a:xfrm>
            </p:grpSpPr>
            <p:sp>
              <p:nvSpPr>
                <p:cNvPr id="84" name="Rounded Rectangle 4"/>
                <p:cNvSpPr/>
                <p:nvPr/>
              </p:nvSpPr>
              <p:spPr>
                <a:xfrm>
                  <a:off x="8086547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5" name="Straight Connector 9"/>
                <p:cNvCxnSpPr/>
                <p:nvPr/>
              </p:nvCxnSpPr>
              <p:spPr>
                <a:xfrm>
                  <a:off x="8295867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5" name="그룹 74"/>
              <p:cNvGrpSpPr/>
              <p:nvPr/>
            </p:nvGrpSpPr>
            <p:grpSpPr>
              <a:xfrm>
                <a:off x="8493237" y="3263550"/>
                <a:ext cx="418641" cy="649573"/>
                <a:chOff x="8589651" y="3263550"/>
                <a:chExt cx="418641" cy="649573"/>
              </a:xfrm>
            </p:grpSpPr>
            <p:sp>
              <p:nvSpPr>
                <p:cNvPr id="82" name="Rounded Rectangle 5"/>
                <p:cNvSpPr/>
                <p:nvPr/>
              </p:nvSpPr>
              <p:spPr>
                <a:xfrm>
                  <a:off x="8589651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3" name="Straight Connector 10"/>
                <p:cNvCxnSpPr/>
                <p:nvPr/>
              </p:nvCxnSpPr>
              <p:spPr>
                <a:xfrm>
                  <a:off x="8798970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그룹 75"/>
              <p:cNvGrpSpPr/>
              <p:nvPr/>
            </p:nvGrpSpPr>
            <p:grpSpPr>
              <a:xfrm>
                <a:off x="9170514" y="3263550"/>
                <a:ext cx="418641" cy="649573"/>
                <a:chOff x="9092755" y="3263550"/>
                <a:chExt cx="418641" cy="649573"/>
              </a:xfrm>
            </p:grpSpPr>
            <p:sp>
              <p:nvSpPr>
                <p:cNvPr id="80" name="Rounded Rectangle 6"/>
                <p:cNvSpPr/>
                <p:nvPr/>
              </p:nvSpPr>
              <p:spPr>
                <a:xfrm>
                  <a:off x="9092755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1" name="Straight Connector 11"/>
                <p:cNvCxnSpPr/>
                <p:nvPr/>
              </p:nvCxnSpPr>
              <p:spPr>
                <a:xfrm>
                  <a:off x="9302075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그룹 76"/>
              <p:cNvGrpSpPr/>
              <p:nvPr/>
            </p:nvGrpSpPr>
            <p:grpSpPr>
              <a:xfrm>
                <a:off x="9847791" y="3263550"/>
                <a:ext cx="418641" cy="649573"/>
                <a:chOff x="9595858" y="3263550"/>
                <a:chExt cx="418641" cy="649573"/>
              </a:xfrm>
            </p:grpSpPr>
            <p:sp>
              <p:nvSpPr>
                <p:cNvPr id="78" name="Rounded Rectangle 7"/>
                <p:cNvSpPr/>
                <p:nvPr/>
              </p:nvSpPr>
              <p:spPr>
                <a:xfrm>
                  <a:off x="9595858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79" name="Straight Connector 12"/>
                <p:cNvCxnSpPr/>
                <p:nvPr/>
              </p:nvCxnSpPr>
              <p:spPr>
                <a:xfrm>
                  <a:off x="9805178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9" name="TextBox 68"/>
            <p:cNvSpPr txBox="1"/>
            <p:nvPr/>
          </p:nvSpPr>
          <p:spPr>
            <a:xfrm>
              <a:off x="8238483" y="2972991"/>
              <a:ext cx="148309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70741" y="3574932"/>
              <a:ext cx="2145870" cy="25200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746031" y="4168366"/>
              <a:ext cx="264301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  <p:sp>
          <p:nvSpPr>
            <p:cNvPr id="72" name="Rectangle 17"/>
            <p:cNvSpPr/>
            <p:nvPr/>
          </p:nvSpPr>
          <p:spPr>
            <a:xfrm>
              <a:off x="8488904" y="2605603"/>
              <a:ext cx="108234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600" b="1" dirty="0">
                  <a:latin typeface="+mn-ea"/>
                  <a:cs typeface="HP Simplified" pitchFamily="34" charset="0"/>
                </a:rPr>
                <a:t>VERTICA</a:t>
              </a:r>
            </a:p>
          </p:txBody>
        </p:sp>
      </p:grpSp>
      <p:graphicFrame>
        <p:nvGraphicFramePr>
          <p:cNvPr id="86" name="표 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500335"/>
              </p:ext>
            </p:extLst>
          </p:nvPr>
        </p:nvGraphicFramePr>
        <p:xfrm>
          <a:off x="647127" y="4037317"/>
          <a:ext cx="3351959" cy="162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959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184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Other</a:t>
                      </a:r>
                      <a:r>
                        <a:rPr lang="en-US" altLang="ko-KR" sz="1400" baseline="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 System</a:t>
                      </a:r>
                      <a:endParaRPr lang="ko-KR" altLang="en-US" sz="1400" dirty="0">
                        <a:solidFill>
                          <a:srgbClr val="0081CD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799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두 종류 이상의 서버</a:t>
                      </a:r>
                      <a:endParaRPr lang="ko-KR" altLang="en-US" sz="1100" b="0" kern="1200" dirty="0">
                        <a:solidFill>
                          <a:srgbClr val="000000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5097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특별한 </a:t>
                      </a:r>
                      <a:r>
                        <a:rPr lang="en-US" altLang="ko-KR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H/W </a:t>
                      </a: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사용으로 복잡도 증가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06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마스터 서버를 통한 작업 수행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저가형 서버 사용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관리</a:t>
                      </a:r>
                      <a:r>
                        <a:rPr lang="en-US" altLang="ko-KR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운영에 다양한 고려사항 존재</a:t>
                      </a:r>
                      <a:endParaRPr lang="en-US" sz="110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87" name="표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082494"/>
              </p:ext>
            </p:extLst>
          </p:nvPr>
        </p:nvGraphicFramePr>
        <p:xfrm>
          <a:off x="5717803" y="4070313"/>
          <a:ext cx="3721808" cy="162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180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184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VERTICA</a:t>
                      </a:r>
                      <a:endParaRPr lang="ko-KR" altLang="en-US" sz="1400" dirty="0">
                        <a:solidFill>
                          <a:srgbClr val="0081CD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799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동일 스펙 </a:t>
                      </a:r>
                      <a:r>
                        <a:rPr lang="en-US" altLang="ko-KR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동일 구성의 서버</a:t>
                      </a:r>
                      <a:endParaRPr lang="en-US" altLang="ko-KR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5097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단순한 구성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06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아무 서버에나 작업을 요청하면 전 노드가 병렬 수행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시장의 신뢰도를 확보한 서버 사용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관리 및 사용 용이성 확보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1393" y="6623929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90203" y="7000393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282348" y="5751289"/>
            <a:ext cx="9312729" cy="132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6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450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263</TotalTime>
  <Words>496</Words>
  <Application>Microsoft Office PowerPoint</Application>
  <PresentationFormat>사용자 지정</PresentationFormat>
  <Paragraphs>100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6" baseType="lpstr">
      <vt:lpstr>HP Simplified</vt:lpstr>
      <vt:lpstr>Pretendard Variable Light</vt:lpstr>
      <vt:lpstr>Pretendard Variable Medium</vt:lpstr>
      <vt:lpstr>Pretendard Variable SemiBold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21</cp:revision>
  <dcterms:created xsi:type="dcterms:W3CDTF">2026-04-17T01:43:36Z</dcterms:created>
  <dcterms:modified xsi:type="dcterms:W3CDTF">2026-04-17T08:05:09Z</dcterms:modified>
</cp:coreProperties>
</file>