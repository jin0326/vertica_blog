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9720263" cy="8999538"/>
  <p:notesSz cx="6858000" cy="9144000"/>
  <p:defaultTextStyle>
    <a:defPPr>
      <a:defRPr lang="ko-KR"/>
    </a:defPPr>
    <a:lvl1pPr marL="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1pPr>
    <a:lvl2pPr marL="53483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2pPr>
    <a:lvl3pPr marL="106966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3pPr>
    <a:lvl4pPr marL="160449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4pPr>
    <a:lvl5pPr marL="213933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5pPr>
    <a:lvl6pPr marL="2674163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6pPr>
    <a:lvl7pPr marL="3208995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7pPr>
    <a:lvl8pPr marL="3743828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8pPr>
    <a:lvl9pPr marL="4278660" algn="l" defTabSz="1069665" rtl="0" eaLnBrk="1" latinLnBrk="1" hangingPunct="1">
      <a:defRPr sz="21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60"/>
  </p:normalViewPr>
  <p:slideViewPr>
    <p:cSldViewPr snapToGrid="0">
      <p:cViewPr>
        <p:scale>
          <a:sx n="66" d="100"/>
          <a:sy n="66" d="100"/>
        </p:scale>
        <p:origin x="366" y="7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9020" y="1472842"/>
            <a:ext cx="8262224" cy="3133172"/>
          </a:xfrm>
        </p:spPr>
        <p:txBody>
          <a:bodyPr anchor="b"/>
          <a:lstStyle>
            <a:lvl1pPr algn="ctr"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5033" y="4726842"/>
            <a:ext cx="7290197" cy="2172804"/>
          </a:xfrm>
        </p:spPr>
        <p:txBody>
          <a:bodyPr/>
          <a:lstStyle>
            <a:lvl1pPr marL="0" indent="0" algn="ctr">
              <a:buNone/>
              <a:defRPr sz="2551"/>
            </a:lvl1pPr>
            <a:lvl2pPr marL="486004" indent="0" algn="ctr">
              <a:buNone/>
              <a:defRPr sz="2126"/>
            </a:lvl2pPr>
            <a:lvl3pPr marL="972007" indent="0" algn="ctr">
              <a:buNone/>
              <a:defRPr sz="1913"/>
            </a:lvl3pPr>
            <a:lvl4pPr marL="1458011" indent="0" algn="ctr">
              <a:buNone/>
              <a:defRPr sz="1701"/>
            </a:lvl4pPr>
            <a:lvl5pPr marL="1944014" indent="0" algn="ctr">
              <a:buNone/>
              <a:defRPr sz="1701"/>
            </a:lvl5pPr>
            <a:lvl6pPr marL="2430018" indent="0" algn="ctr">
              <a:buNone/>
              <a:defRPr sz="1701"/>
            </a:lvl6pPr>
            <a:lvl7pPr marL="2916022" indent="0" algn="ctr">
              <a:buNone/>
              <a:defRPr sz="1701"/>
            </a:lvl7pPr>
            <a:lvl8pPr marL="3402025" indent="0" algn="ctr">
              <a:buNone/>
              <a:defRPr sz="1701"/>
            </a:lvl8pPr>
            <a:lvl9pPr marL="3888029" indent="0" algn="ctr">
              <a:buNone/>
              <a:defRPr sz="1701"/>
            </a:lvl9pPr>
          </a:lstStyle>
          <a:p>
            <a:r>
              <a:rPr lang="ko-KR" altLang="en-US" smtClean="0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468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367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3206" y="2243638"/>
            <a:ext cx="8383727" cy="3743557"/>
          </a:xfrm>
        </p:spPr>
        <p:txBody>
          <a:bodyPr anchor="b"/>
          <a:lstStyle>
            <a:lvl1pPr>
              <a:defRPr sz="637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3206" y="6022610"/>
            <a:ext cx="8383727" cy="1968648"/>
          </a:xfrm>
        </p:spPr>
        <p:txBody>
          <a:bodyPr/>
          <a:lstStyle>
            <a:lvl1pPr marL="0" indent="0">
              <a:buNone/>
              <a:defRPr sz="2551">
                <a:solidFill>
                  <a:schemeClr val="tx1"/>
                </a:solidFill>
              </a:defRPr>
            </a:lvl1pPr>
            <a:lvl2pPr marL="486004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2pPr>
            <a:lvl3pPr marL="972007" indent="0">
              <a:buNone/>
              <a:defRPr sz="1913">
                <a:solidFill>
                  <a:schemeClr val="tx1">
                    <a:tint val="75000"/>
                  </a:schemeClr>
                </a:solidFill>
              </a:defRPr>
            </a:lvl3pPr>
            <a:lvl4pPr marL="1458011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4pPr>
            <a:lvl5pPr marL="1944014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5pPr>
            <a:lvl6pPr marL="2430018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6pPr>
            <a:lvl7pPr marL="2916022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7pPr>
            <a:lvl8pPr marL="3402025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8pPr>
            <a:lvl9pPr marL="3888029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835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8268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20883" y="2395710"/>
            <a:ext cx="4131112" cy="5710124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502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479144"/>
            <a:ext cx="8383727" cy="173949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535" y="2206137"/>
            <a:ext cx="4112126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9535" y="3287331"/>
            <a:ext cx="4112126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20884" y="2206137"/>
            <a:ext cx="4132378" cy="1081194"/>
          </a:xfrm>
        </p:spPr>
        <p:txBody>
          <a:bodyPr anchor="b"/>
          <a:lstStyle>
            <a:lvl1pPr marL="0" indent="0">
              <a:buNone/>
              <a:defRPr sz="2551" b="1"/>
            </a:lvl1pPr>
            <a:lvl2pPr marL="486004" indent="0">
              <a:buNone/>
              <a:defRPr sz="2126" b="1"/>
            </a:lvl2pPr>
            <a:lvl3pPr marL="972007" indent="0">
              <a:buNone/>
              <a:defRPr sz="1913" b="1"/>
            </a:lvl3pPr>
            <a:lvl4pPr marL="1458011" indent="0">
              <a:buNone/>
              <a:defRPr sz="1701" b="1"/>
            </a:lvl4pPr>
            <a:lvl5pPr marL="1944014" indent="0">
              <a:buNone/>
              <a:defRPr sz="1701" b="1"/>
            </a:lvl5pPr>
            <a:lvl6pPr marL="2430018" indent="0">
              <a:buNone/>
              <a:defRPr sz="1701" b="1"/>
            </a:lvl6pPr>
            <a:lvl7pPr marL="2916022" indent="0">
              <a:buNone/>
              <a:defRPr sz="1701" b="1"/>
            </a:lvl7pPr>
            <a:lvl8pPr marL="3402025" indent="0">
              <a:buNone/>
              <a:defRPr sz="1701" b="1"/>
            </a:lvl8pPr>
            <a:lvl9pPr marL="3888029" indent="0">
              <a:buNone/>
              <a:defRPr sz="1701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20884" y="3287331"/>
            <a:ext cx="4132378" cy="4835169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222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358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702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2378" y="1295769"/>
            <a:ext cx="4920883" cy="6395505"/>
          </a:xfrm>
        </p:spPr>
        <p:txBody>
          <a:bodyPr/>
          <a:lstStyle>
            <a:lvl1pPr>
              <a:defRPr sz="3402"/>
            </a:lvl1pPr>
            <a:lvl2pPr>
              <a:defRPr sz="2976"/>
            </a:lvl2pPr>
            <a:lvl3pPr>
              <a:defRPr sz="2551"/>
            </a:lvl3pPr>
            <a:lvl4pPr>
              <a:defRPr sz="2126"/>
            </a:lvl4pPr>
            <a:lvl5pPr>
              <a:defRPr sz="2126"/>
            </a:lvl5pPr>
            <a:lvl6pPr>
              <a:defRPr sz="2126"/>
            </a:lvl6pPr>
            <a:lvl7pPr>
              <a:defRPr sz="2126"/>
            </a:lvl7pPr>
            <a:lvl8pPr>
              <a:defRPr sz="2126"/>
            </a:lvl8pPr>
            <a:lvl9pPr>
              <a:defRPr sz="2126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8142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534" y="599969"/>
            <a:ext cx="3135038" cy="2099892"/>
          </a:xfrm>
        </p:spPr>
        <p:txBody>
          <a:bodyPr anchor="b"/>
          <a:lstStyle>
            <a:lvl1pPr>
              <a:defRPr sz="3402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32378" y="1295769"/>
            <a:ext cx="4920883" cy="6395505"/>
          </a:xfrm>
        </p:spPr>
        <p:txBody>
          <a:bodyPr anchor="t"/>
          <a:lstStyle>
            <a:lvl1pPr marL="0" indent="0">
              <a:buNone/>
              <a:defRPr sz="3402"/>
            </a:lvl1pPr>
            <a:lvl2pPr marL="486004" indent="0">
              <a:buNone/>
              <a:defRPr sz="2976"/>
            </a:lvl2pPr>
            <a:lvl3pPr marL="972007" indent="0">
              <a:buNone/>
              <a:defRPr sz="2551"/>
            </a:lvl3pPr>
            <a:lvl4pPr marL="1458011" indent="0">
              <a:buNone/>
              <a:defRPr sz="2126"/>
            </a:lvl4pPr>
            <a:lvl5pPr marL="1944014" indent="0">
              <a:buNone/>
              <a:defRPr sz="2126"/>
            </a:lvl5pPr>
            <a:lvl6pPr marL="2430018" indent="0">
              <a:buNone/>
              <a:defRPr sz="2126"/>
            </a:lvl6pPr>
            <a:lvl7pPr marL="2916022" indent="0">
              <a:buNone/>
              <a:defRPr sz="2126"/>
            </a:lvl7pPr>
            <a:lvl8pPr marL="3402025" indent="0">
              <a:buNone/>
              <a:defRPr sz="2126"/>
            </a:lvl8pPr>
            <a:lvl9pPr marL="3888029" indent="0">
              <a:buNone/>
              <a:defRPr sz="2126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9534" y="2699862"/>
            <a:ext cx="3135038" cy="5001827"/>
          </a:xfrm>
        </p:spPr>
        <p:txBody>
          <a:bodyPr/>
          <a:lstStyle>
            <a:lvl1pPr marL="0" indent="0">
              <a:buNone/>
              <a:defRPr sz="1701"/>
            </a:lvl1pPr>
            <a:lvl2pPr marL="486004" indent="0">
              <a:buNone/>
              <a:defRPr sz="1488"/>
            </a:lvl2pPr>
            <a:lvl3pPr marL="972007" indent="0">
              <a:buNone/>
              <a:defRPr sz="1276"/>
            </a:lvl3pPr>
            <a:lvl4pPr marL="1458011" indent="0">
              <a:buNone/>
              <a:defRPr sz="1063"/>
            </a:lvl4pPr>
            <a:lvl5pPr marL="1944014" indent="0">
              <a:buNone/>
              <a:defRPr sz="1063"/>
            </a:lvl5pPr>
            <a:lvl6pPr marL="2430018" indent="0">
              <a:buNone/>
              <a:defRPr sz="1063"/>
            </a:lvl6pPr>
            <a:lvl7pPr marL="2916022" indent="0">
              <a:buNone/>
              <a:defRPr sz="1063"/>
            </a:lvl7pPr>
            <a:lvl8pPr marL="3402025" indent="0">
              <a:buNone/>
              <a:defRPr sz="1063"/>
            </a:lvl8pPr>
            <a:lvl9pPr marL="3888029" indent="0">
              <a:buNone/>
              <a:defRPr sz="1063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589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5422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56064" y="479142"/>
            <a:ext cx="2095932" cy="7626692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8269" y="479142"/>
            <a:ext cx="6166292" cy="7626692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510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8268" y="479144"/>
            <a:ext cx="838372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8268" y="2395710"/>
            <a:ext cx="838372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8268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B46140-E90A-48B1-9E02-0E867CD1ADA8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19837" y="8341240"/>
            <a:ext cx="328058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64936" y="8341240"/>
            <a:ext cx="2187059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7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A2E430-26F2-45E0-91DB-9D36365265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5016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72007" rtl="0" eaLnBrk="1" latinLnBrk="1" hangingPunct="1">
        <a:lnSpc>
          <a:spcPct val="90000"/>
        </a:lnSpc>
        <a:spcBef>
          <a:spcPct val="0"/>
        </a:spcBef>
        <a:buNone/>
        <a:defRPr sz="467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002" indent="-243002" algn="l" defTabSz="972007" rtl="0" eaLnBrk="1" latinLnBrk="1" hangingPunct="1">
        <a:lnSpc>
          <a:spcPct val="90000"/>
        </a:lnSpc>
        <a:spcBef>
          <a:spcPts val="1063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29005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551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9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70101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2187016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673020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3159023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645027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4131031" indent="-243002" algn="l" defTabSz="972007" rtl="0" eaLnBrk="1" latinLnBrk="1" hangingPunct="1">
        <a:lnSpc>
          <a:spcPct val="90000"/>
        </a:lnSpc>
        <a:spcBef>
          <a:spcPts val="532"/>
        </a:spcBef>
        <a:buFont typeface="Arial" panose="020B0604020202020204" pitchFamily="34" charset="0"/>
        <a:buChar char="•"/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1pPr>
      <a:lvl2pPr marL="48600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2pPr>
      <a:lvl3pPr marL="972007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3pPr>
      <a:lvl4pPr marL="1458011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4pPr>
      <a:lvl5pPr marL="1944014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5pPr>
      <a:lvl6pPr marL="2430018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6pPr>
      <a:lvl7pPr marL="2916022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7pPr>
      <a:lvl8pPr marL="3402025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8pPr>
      <a:lvl9pPr marL="3888029" algn="l" defTabSz="972007" rtl="0" eaLnBrk="1" latinLnBrk="1" hangingPunct="1">
        <a:defRPr sz="19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38629"/>
            <a:ext cx="1596571" cy="4064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>
                <a:solidFill>
                  <a:schemeClr val="tx1"/>
                </a:solidFill>
                <a:latin typeface="+mn-ea"/>
              </a:rPr>
              <a:t>ㅌ</a:t>
            </a:r>
            <a:endParaRPr lang="ko-KR" altLang="en-US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“</a:t>
            </a:r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tx1"/>
                </a:solidFill>
                <a:latin typeface="+mn-ea"/>
              </a:rPr>
              <a:t>란 무엇인가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”</a:t>
            </a:r>
            <a:endParaRPr lang="ko-KR" altLang="en-US" sz="1600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4680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516056" y="2730372"/>
            <a:ext cx="2129255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SQL Data Warehouse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0683" y="1248228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40683" y="3196815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spc="-20" dirty="0">
                <a:latin typeface="+mn-ea"/>
                <a:cs typeface="맑은 고딕"/>
              </a:rPr>
              <a:t>MP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+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5" dirty="0">
                <a:latin typeface="+mn-ea"/>
                <a:cs typeface="맑은 고딕"/>
              </a:rPr>
              <a:t>Colu</a:t>
            </a:r>
            <a:r>
              <a:rPr sz="1100" spc="-15" dirty="0">
                <a:latin typeface="+mn-ea"/>
                <a:cs typeface="맑은 고딕"/>
              </a:rPr>
              <a:t>m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0" dirty="0">
                <a:latin typeface="+mn-ea"/>
                <a:cs typeface="맑은 고딕"/>
              </a:rPr>
              <a:t>r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아키텍처를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통해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0" dirty="0">
                <a:latin typeface="+mn-ea"/>
                <a:cs typeface="맑은 고딕"/>
              </a:rPr>
              <a:t>대용량  데이터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분석</a:t>
            </a:r>
            <a:r>
              <a:rPr sz="1100" spc="-75" dirty="0" err="1">
                <a:latin typeface="+mn-ea"/>
                <a:cs typeface="맑은 고딕"/>
              </a:rPr>
              <a:t>에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최적화</a:t>
            </a:r>
            <a:endParaRPr lang="en-US" sz="11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dirty="0" smtClean="0">
                <a:latin typeface="+mn-ea"/>
                <a:cs typeface="맑은 고딕"/>
              </a:rPr>
              <a:t>On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p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40" dirty="0" smtClean="0">
                <a:latin typeface="+mn-ea"/>
                <a:cs typeface="맑은 고딕"/>
              </a:rPr>
              <a:t>mi</a:t>
            </a:r>
            <a:r>
              <a:rPr sz="1100" spc="-3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95" dirty="0">
                <a:latin typeface="+mn-ea"/>
                <a:cs typeface="맑은 고딕"/>
              </a:rPr>
              <a:t> P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b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45" dirty="0">
                <a:latin typeface="+mn-ea"/>
                <a:cs typeface="맑은 고딕"/>
              </a:rPr>
              <a:t>i</a:t>
            </a:r>
            <a:r>
              <a:rPr sz="1100" spc="-5" dirty="0">
                <a:latin typeface="+mn-ea"/>
                <a:cs typeface="맑은 고딕"/>
              </a:rPr>
              <a:t>c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l</a:t>
            </a:r>
            <a:r>
              <a:rPr sz="1100" spc="-20" dirty="0">
                <a:latin typeface="+mn-ea"/>
                <a:cs typeface="맑은 고딕"/>
              </a:rPr>
              <a:t>o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d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85" dirty="0">
                <a:latin typeface="+mn-ea"/>
                <a:cs typeface="맑은 고딕"/>
              </a:rPr>
              <a:t> 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35" dirty="0">
                <a:latin typeface="+mn-ea"/>
                <a:cs typeface="맑은 고딕"/>
              </a:rPr>
              <a:t>i</a:t>
            </a:r>
            <a:r>
              <a:rPr sz="1100" spc="-80" dirty="0">
                <a:latin typeface="+mn-ea"/>
                <a:cs typeface="맑은 고딕"/>
              </a:rPr>
              <a:t>v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35" dirty="0">
                <a:latin typeface="+mn-ea"/>
                <a:cs typeface="맑은 고딕"/>
              </a:rPr>
              <a:t>t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C</a:t>
            </a:r>
            <a:r>
              <a:rPr sz="1100" spc="-5" dirty="0" smtClean="0">
                <a:latin typeface="+mn-ea"/>
                <a:cs typeface="맑은 고딕"/>
              </a:rPr>
              <a:t>l</a:t>
            </a:r>
            <a:r>
              <a:rPr sz="1100" spc="-20" dirty="0" smtClean="0">
                <a:latin typeface="+mn-ea"/>
                <a:cs typeface="맑은 고딕"/>
              </a:rPr>
              <a:t>o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lang="en-US" sz="1100" spc="-25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85" dirty="0" smtClean="0">
                <a:latin typeface="+mn-ea"/>
                <a:cs typeface="맑은 고딕"/>
              </a:rPr>
              <a:t> </a:t>
            </a:r>
            <a:r>
              <a:rPr sz="1100" spc="-20" dirty="0" smtClean="0">
                <a:latin typeface="+mn-ea"/>
                <a:cs typeface="맑은 고딕"/>
              </a:rPr>
              <a:t>k8s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등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어</a:t>
            </a:r>
            <a:r>
              <a:rPr sz="1100" spc="-80" dirty="0" err="1" smtClean="0">
                <a:latin typeface="+mn-ea"/>
                <a:cs typeface="맑은 고딕"/>
              </a:rPr>
              <a:t>떤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인프</a:t>
            </a:r>
            <a:r>
              <a:rPr sz="1100" spc="-80" dirty="0" err="1" smtClean="0">
                <a:latin typeface="+mn-ea"/>
                <a:cs typeface="맑은 고딕"/>
              </a:rPr>
              <a:t>라</a:t>
            </a:r>
            <a:r>
              <a:rPr sz="1100" spc="-13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환</a:t>
            </a:r>
            <a:r>
              <a:rPr sz="1100" spc="-80" dirty="0" err="1" smtClean="0">
                <a:latin typeface="+mn-ea"/>
                <a:cs typeface="맑은 고딕"/>
              </a:rPr>
              <a:t>경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에서도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배</a:t>
            </a:r>
            <a:r>
              <a:rPr sz="1100" spc="-70" dirty="0" err="1" smtClean="0">
                <a:latin typeface="+mn-ea"/>
                <a:cs typeface="맑은 고딕"/>
              </a:rPr>
              <a:t>포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및</a:t>
            </a:r>
            <a:r>
              <a:rPr lang="en-US" sz="1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운영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100" spc="-330" dirty="0" smtClean="0">
                <a:latin typeface="+mn-ea"/>
                <a:cs typeface="Courier New"/>
              </a:rPr>
              <a:t> </a:t>
            </a:r>
            <a:r>
              <a:rPr lang="en-US" altLang="ko-KR" sz="1100" spc="-55" dirty="0">
                <a:latin typeface="+mn-ea"/>
                <a:cs typeface="맑은 고딕"/>
              </a:rPr>
              <a:t>I/O</a:t>
            </a:r>
            <a:r>
              <a:rPr lang="ko-KR" altLang="en-US" sz="1100" spc="-114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최적화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아키텍처</a:t>
            </a:r>
            <a:r>
              <a:rPr lang="ko-KR" altLang="en-US" sz="1100" spc="-75" dirty="0">
                <a:latin typeface="+mn-ea"/>
                <a:cs typeface="맑은 고딕"/>
              </a:rPr>
              <a:t>로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전통적인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25" dirty="0" smtClean="0">
                <a:latin typeface="+mn-ea"/>
                <a:cs typeface="맑은 고딕"/>
              </a:rPr>
              <a:t>D</a:t>
            </a:r>
            <a:r>
              <a:rPr lang="en-US" altLang="ko-KR" sz="1100" spc="20" dirty="0" smtClean="0">
                <a:latin typeface="+mn-ea"/>
                <a:cs typeface="맑은 고딕"/>
              </a:rPr>
              <a:t>W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en-US" altLang="ko-KR" sz="1100" spc="30" dirty="0">
                <a:latin typeface="+mn-ea"/>
                <a:cs typeface="맑은 고딕"/>
              </a:rPr>
              <a:t>10</a:t>
            </a:r>
            <a:r>
              <a:rPr lang="en-US" altLang="ko-KR" sz="1100" spc="-70" dirty="0">
                <a:latin typeface="+mn-ea"/>
                <a:cs typeface="맑은 고딕"/>
              </a:rPr>
              <a:t>-</a:t>
            </a:r>
            <a:r>
              <a:rPr lang="en-US" altLang="ko-KR" sz="1100" spc="30" dirty="0">
                <a:latin typeface="+mn-ea"/>
                <a:cs typeface="맑은 고딕"/>
              </a:rPr>
              <a:t>50</a:t>
            </a:r>
            <a:r>
              <a:rPr lang="ko-KR" altLang="en-US" sz="1100" spc="-75" dirty="0">
                <a:latin typeface="+mn-ea"/>
                <a:cs typeface="맑은 고딕"/>
              </a:rPr>
              <a:t>배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이상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빠른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성능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제공</a:t>
            </a:r>
            <a:endParaRPr lang="en-US" altLang="ko-KR" sz="11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410947" y="2738492"/>
            <a:ext cx="2892462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Analytics &amp; Machine Learning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27178" y="1290208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17178" y="3200102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100" spc="-85" dirty="0" err="1" smtClean="0">
                <a:latin typeface="+mn-ea"/>
                <a:cs typeface="맑은 고딕"/>
              </a:rPr>
              <a:t>페</a:t>
            </a:r>
            <a:r>
              <a:rPr sz="1100" spc="-80" dirty="0" err="1" smtClean="0">
                <a:latin typeface="+mn-ea"/>
                <a:cs typeface="맑은 고딕"/>
              </a:rPr>
              <a:t>타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바이</a:t>
            </a:r>
            <a:r>
              <a:rPr sz="1100" spc="-80" dirty="0" err="1">
                <a:latin typeface="+mn-ea"/>
                <a:cs typeface="맑은 고딕"/>
              </a:rPr>
              <a:t>트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규모</a:t>
            </a:r>
            <a:r>
              <a:rPr sz="1100" spc="-75" dirty="0" err="1" smtClean="0">
                <a:latin typeface="+mn-ea"/>
                <a:cs typeface="맑은 고딕"/>
              </a:rPr>
              <a:t>의</a:t>
            </a:r>
            <a:r>
              <a:rPr lang="en-US" sz="1100" spc="-75" dirty="0" smtClean="0">
                <a:latin typeface="+mn-ea"/>
                <a:cs typeface="맑은 고딕"/>
              </a:rPr>
              <a:t> </a:t>
            </a:r>
            <a:r>
              <a:rPr sz="1100" spc="-35" dirty="0" smtClean="0">
                <a:latin typeface="+mn-ea"/>
                <a:cs typeface="맑은 고딕"/>
              </a:rPr>
              <a:t>I</a:t>
            </a:r>
            <a:r>
              <a:rPr sz="1100" spc="-60" dirty="0" smtClean="0">
                <a:latin typeface="+mn-ea"/>
                <a:cs typeface="맑은 고딕"/>
              </a:rPr>
              <a:t>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35" dirty="0" smtClean="0">
                <a:latin typeface="+mn-ea"/>
                <a:cs typeface="맑은 고딕"/>
              </a:rPr>
              <a:t>t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25" dirty="0" smtClean="0">
                <a:latin typeface="+mn-ea"/>
                <a:cs typeface="맑은 고딕"/>
              </a:rPr>
              <a:t>b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5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110" dirty="0" smtClean="0">
                <a:latin typeface="+mn-ea"/>
                <a:cs typeface="맑은 고딕"/>
              </a:rPr>
              <a:t> </a:t>
            </a:r>
            <a:r>
              <a:rPr sz="1100" spc="5" dirty="0">
                <a:latin typeface="+mn-ea"/>
                <a:cs typeface="맑은 고딕"/>
              </a:rPr>
              <a:t>Ma</a:t>
            </a:r>
            <a:r>
              <a:rPr sz="1100" spc="-1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h</a:t>
            </a:r>
            <a:r>
              <a:rPr sz="1100" spc="-20" dirty="0">
                <a:latin typeface="+mn-ea"/>
                <a:cs typeface="맑은 고딕"/>
              </a:rPr>
              <a:t>ine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spc="-25" dirty="0">
                <a:latin typeface="+mn-ea"/>
                <a:cs typeface="맑은 고딕"/>
              </a:rPr>
              <a:t>ing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1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en-US" altLang="ko-KR" sz="1100" spc="-20" dirty="0" smtClean="0">
                <a:latin typeface="+mn-ea"/>
                <a:cs typeface="맑은 고딕"/>
              </a:rPr>
              <a:t>SQ</a:t>
            </a:r>
            <a:r>
              <a:rPr lang="en-US" altLang="ko-KR" sz="1100" spc="-10" dirty="0" smtClean="0">
                <a:latin typeface="+mn-ea"/>
                <a:cs typeface="맑은 고딕"/>
              </a:rPr>
              <a:t>L</a:t>
            </a:r>
            <a:r>
              <a:rPr lang="ko-KR" altLang="en-US" sz="1100" spc="-85" dirty="0">
                <a:latin typeface="+mn-ea"/>
                <a:cs typeface="맑은 고딕"/>
              </a:rPr>
              <a:t>로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M</a:t>
            </a:r>
            <a:r>
              <a:rPr lang="en-US" altLang="ko-KR" sz="1100" spc="-10" dirty="0">
                <a:latin typeface="+mn-ea"/>
                <a:cs typeface="맑은 고딕"/>
              </a:rPr>
              <a:t>L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프로세스</a:t>
            </a:r>
            <a:r>
              <a:rPr lang="ko-KR" altLang="en-US" sz="1100" spc="-18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-55" dirty="0" smtClean="0">
                <a:latin typeface="+mn-ea"/>
                <a:cs typeface="맑은 고딕"/>
              </a:rPr>
              <a:t>P</a:t>
            </a:r>
            <a:r>
              <a:rPr lang="en-US" altLang="ko-KR" sz="1100" spc="5" dirty="0" smtClean="0">
                <a:latin typeface="+mn-ea"/>
                <a:cs typeface="맑은 고딕"/>
              </a:rPr>
              <a:t>MM</a:t>
            </a:r>
            <a:r>
              <a:rPr lang="en-US" altLang="ko-KR" sz="1100" spc="-40" dirty="0" smtClean="0">
                <a:latin typeface="+mn-ea"/>
                <a:cs typeface="맑은 고딕"/>
              </a:rPr>
              <a:t>L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>
                <a:latin typeface="+mn-ea"/>
                <a:cs typeface="맑은 고딕"/>
              </a:rPr>
              <a:t>/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en-US" altLang="ko-KR" sz="1100" spc="-175" dirty="0" err="1">
                <a:latin typeface="+mn-ea"/>
                <a:cs typeface="맑은 고딕"/>
              </a:rPr>
              <a:t>T</a:t>
            </a:r>
            <a:r>
              <a:rPr lang="en-US" altLang="ko-KR" sz="1100" spc="-25" dirty="0" err="1">
                <a:latin typeface="+mn-ea"/>
                <a:cs typeface="맑은 고딕"/>
              </a:rPr>
              <a:t>en</a:t>
            </a:r>
            <a:r>
              <a:rPr lang="en-US" altLang="ko-KR" sz="1100" spc="-15" dirty="0" err="1">
                <a:latin typeface="+mn-ea"/>
                <a:cs typeface="맑은 고딕"/>
              </a:rPr>
              <a:t>s</a:t>
            </a:r>
            <a:r>
              <a:rPr lang="en-US" altLang="ko-KR" sz="1100" spc="-40" dirty="0" err="1">
                <a:latin typeface="+mn-ea"/>
                <a:cs typeface="맑은 고딕"/>
              </a:rPr>
              <a:t>o</a:t>
            </a:r>
            <a:r>
              <a:rPr lang="en-US" altLang="ko-KR" sz="1100" spc="-30" dirty="0" err="1">
                <a:latin typeface="+mn-ea"/>
                <a:cs typeface="맑은 고딕"/>
              </a:rPr>
              <a:t>r</a:t>
            </a:r>
            <a:r>
              <a:rPr lang="en-US" altLang="ko-KR" sz="1100" spc="-5" dirty="0" err="1">
                <a:latin typeface="+mn-ea"/>
                <a:cs typeface="맑은 고딕"/>
              </a:rPr>
              <a:t>Flow</a:t>
            </a:r>
            <a:r>
              <a:rPr lang="ko-KR" altLang="en-US" sz="1100" spc="-140" dirty="0">
                <a:latin typeface="+mn-ea"/>
                <a:cs typeface="맑은 고딕"/>
              </a:rPr>
              <a:t> </a:t>
            </a:r>
            <a:r>
              <a:rPr lang="en-US" altLang="ko-KR" sz="1100" spc="5" dirty="0">
                <a:latin typeface="+mn-ea"/>
                <a:cs typeface="맑은 고딕"/>
              </a:rPr>
              <a:t>M</a:t>
            </a:r>
            <a:r>
              <a:rPr lang="en-US" altLang="ko-KR" sz="1100" spc="-20" dirty="0">
                <a:latin typeface="+mn-ea"/>
                <a:cs typeface="맑은 고딕"/>
              </a:rPr>
              <a:t>ode</a:t>
            </a:r>
            <a:r>
              <a:rPr lang="en-US" altLang="ko-KR" sz="1100" spc="-45" dirty="0">
                <a:latin typeface="+mn-ea"/>
                <a:cs typeface="맑은 고딕"/>
              </a:rPr>
              <a:t>l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100" spc="-10" dirty="0" smtClean="0">
                <a:latin typeface="+mn-ea"/>
                <a:cs typeface="맑은 고딕"/>
              </a:rPr>
              <a:t>e</a:t>
            </a:r>
            <a:r>
              <a:rPr lang="en-US" altLang="ko-KR" sz="1100" spc="-30" dirty="0" smtClean="0">
                <a:latin typeface="+mn-ea"/>
                <a:cs typeface="맑은 고딕"/>
              </a:rPr>
              <a:t>xp</a:t>
            </a:r>
            <a:r>
              <a:rPr lang="en-US" altLang="ko-KR" sz="1100" spc="-20" dirty="0" smtClean="0">
                <a:latin typeface="+mn-ea"/>
                <a:cs typeface="맑은 고딕"/>
              </a:rPr>
              <a:t>o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imp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45" dirty="0">
                <a:latin typeface="+mn-ea"/>
                <a:cs typeface="맑은 고딕"/>
              </a:rPr>
              <a:t>r</a:t>
            </a:r>
            <a:r>
              <a:rPr lang="en-US" altLang="ko-KR" sz="1100" spc="-30" dirty="0">
                <a:latin typeface="+mn-ea"/>
                <a:cs typeface="맑은 고딕"/>
              </a:rPr>
              <a:t>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기능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5" dirty="0" smtClean="0">
                <a:latin typeface="+mn-ea"/>
                <a:cs typeface="맑은 고딕"/>
              </a:rPr>
              <a:t>Geos</a:t>
            </a:r>
            <a:r>
              <a:rPr lang="en-US" altLang="ko-KR" sz="1100" spc="-30" dirty="0" smtClean="0">
                <a:latin typeface="+mn-ea"/>
                <a:cs typeface="맑은 고딕"/>
              </a:rPr>
              <a:t>pat</a:t>
            </a:r>
            <a:r>
              <a:rPr lang="en-US" altLang="ko-KR" sz="1100" spc="-25" dirty="0" smtClean="0">
                <a:latin typeface="+mn-ea"/>
                <a:cs typeface="맑은 고딕"/>
              </a:rPr>
              <a:t>i</a:t>
            </a:r>
            <a:r>
              <a:rPr lang="en-US" altLang="ko-KR" sz="1100" spc="-20" dirty="0" smtClean="0">
                <a:latin typeface="+mn-ea"/>
                <a:cs typeface="맑은 고딕"/>
              </a:rPr>
              <a:t>al</a:t>
            </a:r>
            <a:r>
              <a:rPr lang="en-US" altLang="ko-KR" sz="1100" spc="-13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 smtClean="0">
                <a:latin typeface="+mn-ea"/>
                <a:cs typeface="맑은 고딕"/>
              </a:rPr>
              <a:t>/</a:t>
            </a:r>
            <a:r>
              <a:rPr lang="en-US" altLang="ko-KR" sz="1100" spc="-110" dirty="0" smtClean="0">
                <a:latin typeface="+mn-ea"/>
                <a:cs typeface="맑은 고딕"/>
              </a:rPr>
              <a:t> </a:t>
            </a:r>
            <a:r>
              <a:rPr lang="en-US" altLang="ko-KR" sz="1100" spc="-30" dirty="0" smtClean="0">
                <a:latin typeface="+mn-ea"/>
                <a:cs typeface="맑은 고딕"/>
              </a:rPr>
              <a:t>Full</a:t>
            </a:r>
            <a:r>
              <a:rPr lang="en-US" altLang="ko-KR" sz="1100" spc="-114" dirty="0" smtClean="0">
                <a:latin typeface="+mn-ea"/>
                <a:cs typeface="맑은 고딕"/>
              </a:rPr>
              <a:t> </a:t>
            </a:r>
            <a:r>
              <a:rPr lang="en-US" altLang="ko-KR" sz="1100" spc="-40" dirty="0" smtClean="0">
                <a:latin typeface="+mn-ea"/>
                <a:cs typeface="맑은 고딕"/>
              </a:rPr>
              <a:t>t</a:t>
            </a:r>
            <a:r>
              <a:rPr lang="en-US" altLang="ko-KR" sz="1100" spc="-25" dirty="0" smtClean="0">
                <a:latin typeface="+mn-ea"/>
                <a:cs typeface="맑은 고딕"/>
              </a:rPr>
              <a:t>e</a:t>
            </a:r>
            <a:r>
              <a:rPr lang="en-US" altLang="ko-KR" sz="1100" spc="-20" dirty="0" smtClean="0">
                <a:latin typeface="+mn-ea"/>
                <a:cs typeface="맑은 고딕"/>
              </a:rPr>
              <a:t>x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en-US" altLang="ko-KR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50" dirty="0" smtClean="0">
                <a:latin typeface="+mn-ea"/>
                <a:cs typeface="맑은 고딕"/>
              </a:rPr>
              <a:t>s</a:t>
            </a:r>
            <a:r>
              <a:rPr lang="en-US" altLang="ko-KR" sz="1100" dirty="0" smtClean="0">
                <a:latin typeface="+mn-ea"/>
                <a:cs typeface="맑은 고딕"/>
              </a:rPr>
              <a:t>ea</a:t>
            </a:r>
            <a:r>
              <a:rPr lang="en-US" altLang="ko-KR" sz="1100" spc="-55" dirty="0" smtClean="0">
                <a:latin typeface="+mn-ea"/>
                <a:cs typeface="맑은 고딕"/>
              </a:rPr>
              <a:t>r</a:t>
            </a:r>
            <a:r>
              <a:rPr lang="en-US" altLang="ko-KR" sz="1100" spc="-5" dirty="0" smtClean="0">
                <a:latin typeface="+mn-ea"/>
                <a:cs typeface="맑은 고딕"/>
              </a:rPr>
              <a:t>c</a:t>
            </a:r>
            <a:r>
              <a:rPr lang="en-US" altLang="ko-KR" sz="1100" dirty="0" smtClean="0">
                <a:latin typeface="+mn-ea"/>
                <a:cs typeface="맑은 고딕"/>
              </a:rPr>
              <a:t>h</a:t>
            </a:r>
            <a:r>
              <a:rPr lang="en-US" altLang="ko-KR" sz="1100" spc="-125" dirty="0" smtClean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고급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분석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기능</a:t>
            </a:r>
            <a:r>
              <a:rPr lang="ko-KR" altLang="en-US" sz="1100" spc="-17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048799" y="2788099"/>
            <a:ext cx="2169750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Query Engine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03674" y="1325815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693674" y="3234681"/>
            <a:ext cx="2880000" cy="1355499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100" spc="-35" dirty="0" smtClean="0">
                <a:latin typeface="+mn-ea"/>
                <a:cs typeface="맑은 고딕"/>
              </a:rPr>
              <a:t>HDFS</a:t>
            </a:r>
            <a:r>
              <a:rPr sz="1100" spc="-130" dirty="0" smtClean="0">
                <a:latin typeface="+mn-ea"/>
                <a:cs typeface="맑은 고딕"/>
              </a:rPr>
              <a:t> </a:t>
            </a:r>
            <a:r>
              <a:rPr sz="1100" spc="-90" dirty="0">
                <a:latin typeface="+mn-ea"/>
                <a:cs typeface="맑은 고딕"/>
              </a:rPr>
              <a:t>/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10" dirty="0">
                <a:latin typeface="+mn-ea"/>
                <a:cs typeface="맑은 고딕"/>
              </a:rPr>
              <a:t>Ob</a:t>
            </a:r>
            <a:r>
              <a:rPr sz="1100" spc="-15" dirty="0">
                <a:latin typeface="+mn-ea"/>
                <a:cs typeface="맑은 고딕"/>
              </a:rPr>
              <a:t>j</a:t>
            </a:r>
            <a:r>
              <a:rPr sz="1100" spc="-5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30" dirty="0">
                <a:latin typeface="+mn-ea"/>
                <a:cs typeface="맑은 고딕"/>
              </a:rPr>
              <a:t>t</a:t>
            </a:r>
            <a:r>
              <a:rPr sz="1100" spc="-130" dirty="0">
                <a:latin typeface="+mn-ea"/>
                <a:cs typeface="맑은 고딕"/>
              </a:rPr>
              <a:t> </a:t>
            </a:r>
            <a:r>
              <a:rPr sz="1100" spc="-35" dirty="0">
                <a:latin typeface="+mn-ea"/>
                <a:cs typeface="맑은 고딕"/>
              </a:rPr>
              <a:t>Stor</a:t>
            </a:r>
            <a:r>
              <a:rPr sz="1100" dirty="0">
                <a:latin typeface="+mn-ea"/>
                <a:cs typeface="맑은 고딕"/>
              </a:rPr>
              <a:t>e</a:t>
            </a:r>
            <a:r>
              <a:rPr sz="1100" spc="-75" dirty="0">
                <a:latin typeface="+mn-ea"/>
                <a:cs typeface="맑은 고딕"/>
              </a:rPr>
              <a:t>에 </a:t>
            </a:r>
            <a:r>
              <a:rPr sz="1100" spc="-65" dirty="0">
                <a:latin typeface="+mn-ea"/>
                <a:cs typeface="맑은 고딕"/>
              </a:rPr>
              <a:t>저장된  다양한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포맷</a:t>
            </a:r>
            <a:r>
              <a:rPr sz="1100" dirty="0">
                <a:latin typeface="+mn-ea"/>
                <a:cs typeface="맑은 고딕"/>
              </a:rPr>
              <a:t>(</a:t>
            </a:r>
            <a:r>
              <a:rPr sz="1100" spc="-95" dirty="0" smtClean="0">
                <a:latin typeface="+mn-ea"/>
                <a:cs typeface="맑은 고딕"/>
              </a:rPr>
              <a:t>P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25" dirty="0" smtClean="0">
                <a:latin typeface="+mn-ea"/>
                <a:cs typeface="맑은 고딕"/>
              </a:rPr>
              <a:t>q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30" dirty="0" smtClean="0">
                <a:latin typeface="+mn-ea"/>
                <a:cs typeface="맑은 고딕"/>
              </a:rPr>
              <a:t>t</a:t>
            </a:r>
            <a:r>
              <a:rPr lang="en-US" sz="1100" spc="-114" dirty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ORC</a:t>
            </a:r>
            <a:r>
              <a:rPr sz="1100" spc="-6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등</a:t>
            </a:r>
            <a:r>
              <a:rPr sz="1100" spc="5" dirty="0">
                <a:latin typeface="+mn-ea"/>
                <a:cs typeface="맑은 고딕"/>
              </a:rPr>
              <a:t>)</a:t>
            </a:r>
            <a:r>
              <a:rPr sz="1100" spc="-90" dirty="0">
                <a:latin typeface="+mn-ea"/>
                <a:cs typeface="맑은 고딕"/>
              </a:rPr>
              <a:t> </a:t>
            </a:r>
            <a:r>
              <a:rPr sz="1100" spc="-45" dirty="0">
                <a:latin typeface="+mn-ea"/>
                <a:cs typeface="맑은 고딕"/>
              </a:rPr>
              <a:t>의  </a:t>
            </a:r>
            <a:r>
              <a:rPr sz="1100" spc="-75" dirty="0">
                <a:latin typeface="+mn-ea"/>
                <a:cs typeface="맑은 고딕"/>
              </a:rPr>
              <a:t>데이터</a:t>
            </a:r>
            <a:r>
              <a:rPr sz="1100" spc="-70" dirty="0">
                <a:latin typeface="+mn-ea"/>
                <a:cs typeface="맑은 고딕"/>
              </a:rPr>
              <a:t>를</a:t>
            </a:r>
            <a:r>
              <a:rPr sz="1100" spc="-105" dirty="0">
                <a:latin typeface="+mn-ea"/>
                <a:cs typeface="맑은 고딕"/>
              </a:rPr>
              <a:t> </a:t>
            </a:r>
            <a:r>
              <a:rPr sz="1100" spc="-75" dirty="0" err="1">
                <a:latin typeface="+mn-ea"/>
                <a:cs typeface="맑은 고딕"/>
              </a:rPr>
              <a:t>직</a:t>
            </a:r>
            <a:r>
              <a:rPr sz="1100" spc="-70" dirty="0" err="1">
                <a:latin typeface="+mn-ea"/>
                <a:cs typeface="맑은 고딕"/>
              </a:rPr>
              <a:t>접</a:t>
            </a:r>
            <a:r>
              <a:rPr sz="1100" spc="-90" dirty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조회</a:t>
            </a:r>
            <a:endParaRPr lang="en-US" sz="1100" spc="-70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+mn-ea"/>
                <a:cs typeface="맑은 고딕"/>
              </a:rPr>
              <a:t>DW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데이터와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D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35" dirty="0">
                <a:latin typeface="+mn-ea"/>
                <a:cs typeface="맑은 고딕"/>
              </a:rPr>
              <a:t>t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40" dirty="0">
                <a:latin typeface="+mn-ea"/>
                <a:cs typeface="맑은 고딕"/>
              </a:rPr>
              <a:t>L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25" dirty="0">
                <a:latin typeface="+mn-ea"/>
                <a:cs typeface="맑은 고딕"/>
              </a:rPr>
              <a:t>k</a:t>
            </a:r>
            <a:r>
              <a:rPr lang="en-US" altLang="ko-KR" sz="1100" spc="-15" dirty="0">
                <a:latin typeface="+mn-ea"/>
                <a:cs typeface="맑은 고딕"/>
              </a:rPr>
              <a:t>e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100" spc="-135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연계</a:t>
            </a:r>
            <a:r>
              <a:rPr lang="ko-KR" altLang="en-US" sz="1100" spc="-120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분</a:t>
            </a:r>
            <a:r>
              <a:rPr lang="ko-KR" altLang="en-US" sz="1100" spc="-90" dirty="0">
                <a:latin typeface="+mn-ea"/>
                <a:cs typeface="맑은 고딕"/>
              </a:rPr>
              <a:t>석</a:t>
            </a:r>
            <a:r>
              <a:rPr lang="en-US" altLang="ko-KR" sz="1100" dirty="0">
                <a:latin typeface="+mn-ea"/>
                <a:cs typeface="맑은 고딕"/>
              </a:rPr>
              <a:t>(</a:t>
            </a:r>
            <a:r>
              <a:rPr lang="en-US" altLang="ko-KR" sz="1100" spc="-90" dirty="0">
                <a:latin typeface="+mn-ea"/>
                <a:cs typeface="맑은 고딕"/>
              </a:rPr>
              <a:t>J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25" dirty="0">
                <a:latin typeface="+mn-ea"/>
                <a:cs typeface="맑은 고딕"/>
              </a:rPr>
              <a:t>in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en-US" altLang="ko-KR" sz="1100" spc="5" dirty="0">
                <a:latin typeface="+mn-ea"/>
                <a:cs typeface="맑은 고딕"/>
              </a:rPr>
              <a:t>)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spc="25" dirty="0" smtClean="0">
                <a:latin typeface="+mn-ea"/>
                <a:cs typeface="맑은 고딕"/>
              </a:rPr>
              <a:t>A</a:t>
            </a:r>
            <a:r>
              <a:rPr lang="en-US" altLang="ko-KR" sz="1100" spc="-40" dirty="0" smtClean="0">
                <a:latin typeface="+mn-ea"/>
                <a:cs typeface="맑은 고딕"/>
              </a:rPr>
              <a:t>R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105" dirty="0" smtClean="0">
                <a:latin typeface="+mn-ea"/>
                <a:cs typeface="맑은 고딕"/>
              </a:rPr>
              <a:t>A</a:t>
            </a:r>
            <a:r>
              <a:rPr lang="en-US" altLang="ko-KR" sz="1100" spc="70" dirty="0" smtClean="0">
                <a:latin typeface="+mn-ea"/>
                <a:cs typeface="맑은 고딕"/>
              </a:rPr>
              <a:t>Y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15" dirty="0">
                <a:latin typeface="+mn-ea"/>
                <a:cs typeface="맑은 고딕"/>
              </a:rPr>
              <a:t>MA</a:t>
            </a:r>
            <a:r>
              <a:rPr lang="en-US" altLang="ko-KR" sz="1100" spc="-50" dirty="0">
                <a:latin typeface="+mn-ea"/>
                <a:cs typeface="맑은 고딕"/>
              </a:rPr>
              <a:t>P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S</a:t>
            </a:r>
            <a:r>
              <a:rPr lang="en-US" altLang="ko-KR" sz="1100" spc="-45" dirty="0">
                <a:latin typeface="+mn-ea"/>
                <a:cs typeface="맑은 고딕"/>
              </a:rPr>
              <a:t>T</a:t>
            </a:r>
            <a:r>
              <a:rPr lang="en-US" altLang="ko-KR" sz="1100" spc="-15" dirty="0">
                <a:latin typeface="+mn-ea"/>
                <a:cs typeface="맑은 고딕"/>
              </a:rPr>
              <a:t>RUCT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60" dirty="0">
                <a:latin typeface="+mn-ea"/>
                <a:cs typeface="맑은 고딕"/>
              </a:rPr>
              <a:t>등  </a:t>
            </a:r>
            <a:r>
              <a:rPr lang="ko-KR" altLang="en-US" sz="11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파일에서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100" spc="-75" dirty="0">
                <a:latin typeface="+mn-ea"/>
                <a:cs typeface="맑은 고딕"/>
              </a:rPr>
              <a:t>활용되</a:t>
            </a:r>
            <a:r>
              <a:rPr lang="ko-KR" altLang="en-US" sz="1100" spc="-70" dirty="0">
                <a:latin typeface="+mn-ea"/>
                <a:cs typeface="맑은 고딕"/>
              </a:rPr>
              <a:t>는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en-US" altLang="ko-KR" sz="1100" spc="-15" dirty="0">
                <a:latin typeface="+mn-ea"/>
                <a:cs typeface="맑은 고딕"/>
              </a:rPr>
              <a:t>Compl</a:t>
            </a:r>
            <a:r>
              <a:rPr lang="en-US" altLang="ko-KR" sz="1100" spc="-20" dirty="0">
                <a:latin typeface="+mn-ea"/>
                <a:cs typeface="맑은 고딕"/>
              </a:rPr>
              <a:t>ex</a:t>
            </a:r>
            <a:r>
              <a:rPr lang="ko-KR" altLang="en-US" sz="1100" spc="-130" dirty="0">
                <a:latin typeface="+mn-ea"/>
                <a:cs typeface="맑은 고딕"/>
              </a:rPr>
              <a:t> </a:t>
            </a:r>
            <a:r>
              <a:rPr lang="en-US" altLang="ko-KR" sz="1100" spc="-135" dirty="0">
                <a:latin typeface="+mn-ea"/>
                <a:cs typeface="맑은 고딕"/>
              </a:rPr>
              <a:t>T</a:t>
            </a:r>
            <a:r>
              <a:rPr lang="en-US" altLang="ko-KR" sz="1100" spc="-105" dirty="0">
                <a:latin typeface="+mn-ea"/>
                <a:cs typeface="맑은 고딕"/>
              </a:rPr>
              <a:t>y</a:t>
            </a:r>
            <a:r>
              <a:rPr lang="en-US" altLang="ko-KR" sz="1100" spc="-15" dirty="0">
                <a:latin typeface="+mn-ea"/>
                <a:cs typeface="맑은 고딕"/>
              </a:rPr>
              <a:t>pe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40" dirty="0">
                <a:latin typeface="+mn-ea"/>
                <a:cs typeface="맑은 고딕"/>
              </a:rPr>
              <a:t>을  </a:t>
            </a:r>
            <a:r>
              <a:rPr lang="ko-KR" altLang="en-US" sz="1100" spc="-75" dirty="0">
                <a:latin typeface="+mn-ea"/>
                <a:cs typeface="맑은 고딕"/>
              </a:rPr>
              <a:t>완벽하게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>
              <a:latin typeface="+mn-ea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2074160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38629"/>
            <a:ext cx="1596571" cy="4064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>
                <a:solidFill>
                  <a:schemeClr val="tx1"/>
                </a:solidFill>
                <a:latin typeface="+mn-ea"/>
              </a:rPr>
              <a:t>ㅌ</a:t>
            </a:r>
            <a:endParaRPr lang="ko-KR" altLang="en-US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52400" y="125187"/>
            <a:ext cx="2062617" cy="31296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“</a:t>
            </a:r>
            <a:r>
              <a:rPr lang="en-US" altLang="ko-KR" sz="1600" b="1" dirty="0" err="1" smtClean="0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600" b="1" dirty="0" smtClean="0">
                <a:solidFill>
                  <a:schemeClr val="tx1"/>
                </a:solidFill>
                <a:latin typeface="+mn-ea"/>
              </a:rPr>
              <a:t>란 무엇인가</a:t>
            </a:r>
            <a:r>
              <a:rPr lang="en-US" altLang="ko-KR" sz="1600" b="1" dirty="0" smtClean="0">
                <a:solidFill>
                  <a:schemeClr val="tx1"/>
                </a:solidFill>
                <a:latin typeface="+mn-ea"/>
              </a:rPr>
              <a:t>”</a:t>
            </a:r>
            <a:endParaRPr lang="ko-KR" altLang="en-US" sz="1600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61471" y="468086"/>
            <a:ext cx="9312729" cy="4971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tx1"/>
                </a:solidFill>
                <a:latin typeface="+mn-ea"/>
              </a:rPr>
              <a:t>Vertica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는 데이터 수집부터 분석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시각화에 이르는 전 과정을 통합한 </a:t>
            </a:r>
            <a:r>
              <a:rPr lang="ko-KR" altLang="en-US" sz="1400" dirty="0" smtClean="0">
                <a:solidFill>
                  <a:schemeClr val="tx1"/>
                </a:solidFill>
                <a:latin typeface="+mn-ea"/>
              </a:rPr>
              <a:t>현대적인 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데이터 </a:t>
            </a:r>
            <a:r>
              <a:rPr lang="ko-KR" altLang="en-US" sz="1400" dirty="0" err="1">
                <a:solidFill>
                  <a:schemeClr val="tx1"/>
                </a:solidFill>
                <a:latin typeface="+mn-ea"/>
              </a:rPr>
              <a:t>레이크하우스</a:t>
            </a:r>
            <a:r>
              <a:rPr lang="ko-KR" altLang="en-US" sz="1400" dirty="0">
                <a:solidFill>
                  <a:schemeClr val="tx1"/>
                </a:solidFill>
                <a:latin typeface="+mn-ea"/>
              </a:rPr>
              <a:t> 아키텍처를 제공합니다</a:t>
            </a:r>
            <a:r>
              <a:rPr lang="en-US" altLang="ko-KR" sz="1400" dirty="0">
                <a:solidFill>
                  <a:schemeClr val="tx1"/>
                </a:solidFill>
                <a:latin typeface="+mn-ea"/>
              </a:rPr>
              <a:t>.</a:t>
            </a:r>
            <a:endParaRPr lang="ko-KR" altLang="en-US" sz="140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8" name="object 18"/>
          <p:cNvSpPr txBox="1"/>
          <p:nvPr/>
        </p:nvSpPr>
        <p:spPr>
          <a:xfrm>
            <a:off x="516056" y="2730372"/>
            <a:ext cx="2129255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SQL Data Warehouse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1" name="object 7"/>
          <p:cNvPicPr/>
          <p:nvPr/>
        </p:nvPicPr>
        <p:blipFill>
          <a:blip r:embed="rId2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0683" y="1248228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6" name="object 9"/>
          <p:cNvSpPr txBox="1"/>
          <p:nvPr/>
        </p:nvSpPr>
        <p:spPr>
          <a:xfrm>
            <a:off x="140683" y="3196815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spc="-20" dirty="0">
                <a:latin typeface="+mn-ea"/>
                <a:cs typeface="맑은 고딕"/>
              </a:rPr>
              <a:t>MP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+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5" dirty="0">
                <a:latin typeface="+mn-ea"/>
                <a:cs typeface="맑은 고딕"/>
              </a:rPr>
              <a:t>Colu</a:t>
            </a:r>
            <a:r>
              <a:rPr sz="1100" spc="-15" dirty="0">
                <a:latin typeface="+mn-ea"/>
                <a:cs typeface="맑은 고딕"/>
              </a:rPr>
              <a:t>m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0" dirty="0">
                <a:latin typeface="+mn-ea"/>
                <a:cs typeface="맑은 고딕"/>
              </a:rPr>
              <a:t>r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아키텍처를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통해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0" dirty="0">
                <a:latin typeface="+mn-ea"/>
                <a:cs typeface="맑은 고딕"/>
              </a:rPr>
              <a:t>대용량  데이터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분석</a:t>
            </a:r>
            <a:r>
              <a:rPr sz="1100" spc="-75" dirty="0" err="1">
                <a:latin typeface="+mn-ea"/>
                <a:cs typeface="맑은 고딕"/>
              </a:rPr>
              <a:t>에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최적화</a:t>
            </a:r>
            <a:endParaRPr lang="en-US" sz="1100" dirty="0">
              <a:latin typeface="+mn-ea"/>
              <a:cs typeface="맑은 고딕"/>
            </a:endParaRPr>
          </a:p>
          <a:p>
            <a:pPr marL="183515" marR="79375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  <a:tabLst>
                <a:tab pos="185420" algn="l"/>
              </a:tabLst>
            </a:pPr>
            <a:r>
              <a:rPr sz="1100" dirty="0" smtClean="0">
                <a:latin typeface="+mn-ea"/>
                <a:cs typeface="맑은 고딕"/>
              </a:rPr>
              <a:t>On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p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40" dirty="0" smtClean="0">
                <a:latin typeface="+mn-ea"/>
                <a:cs typeface="맑은 고딕"/>
              </a:rPr>
              <a:t>mi</a:t>
            </a:r>
            <a:r>
              <a:rPr sz="1100" spc="-3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95" dirty="0">
                <a:latin typeface="+mn-ea"/>
                <a:cs typeface="맑은 고딕"/>
              </a:rPr>
              <a:t> P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b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45" dirty="0">
                <a:latin typeface="+mn-ea"/>
                <a:cs typeface="맑은 고딕"/>
              </a:rPr>
              <a:t>i</a:t>
            </a:r>
            <a:r>
              <a:rPr sz="1100" spc="-5" dirty="0">
                <a:latin typeface="+mn-ea"/>
                <a:cs typeface="맑은 고딕"/>
              </a:rPr>
              <a:t>c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l</a:t>
            </a:r>
            <a:r>
              <a:rPr sz="1100" spc="-20" dirty="0">
                <a:latin typeface="+mn-ea"/>
                <a:cs typeface="맑은 고딕"/>
              </a:rPr>
              <a:t>o</a:t>
            </a:r>
            <a:r>
              <a:rPr sz="1100" spc="-5" dirty="0">
                <a:latin typeface="+mn-ea"/>
                <a:cs typeface="맑은 고딕"/>
              </a:rPr>
              <a:t>u</a:t>
            </a:r>
            <a:r>
              <a:rPr sz="1100" spc="-25" dirty="0">
                <a:latin typeface="+mn-ea"/>
                <a:cs typeface="맑은 고딕"/>
              </a:rPr>
              <a:t>d</a:t>
            </a:r>
            <a:r>
              <a:rPr sz="1100" spc="-95" dirty="0">
                <a:latin typeface="+mn-ea"/>
                <a:cs typeface="맑은 고딕"/>
              </a:rPr>
              <a:t> </a:t>
            </a:r>
            <a:r>
              <a:rPr sz="1100" spc="-80" dirty="0">
                <a:latin typeface="+mn-ea"/>
                <a:cs typeface="맑은 고딕"/>
              </a:rPr>
              <a:t>/</a:t>
            </a:r>
            <a:r>
              <a:rPr sz="1100" spc="-85" dirty="0">
                <a:latin typeface="+mn-ea"/>
                <a:cs typeface="맑은 고딕"/>
              </a:rPr>
              <a:t> </a:t>
            </a:r>
            <a:r>
              <a:rPr sz="1100" spc="-50" dirty="0">
                <a:latin typeface="+mn-ea"/>
                <a:cs typeface="맑은 고딕"/>
              </a:rPr>
              <a:t>P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35" dirty="0">
                <a:latin typeface="+mn-ea"/>
                <a:cs typeface="맑은 고딕"/>
              </a:rPr>
              <a:t>i</a:t>
            </a:r>
            <a:r>
              <a:rPr sz="1100" spc="-80" dirty="0">
                <a:latin typeface="+mn-ea"/>
                <a:cs typeface="맑은 고딕"/>
              </a:rPr>
              <a:t>v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35" dirty="0">
                <a:latin typeface="+mn-ea"/>
                <a:cs typeface="맑은 고딕"/>
              </a:rPr>
              <a:t>t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dirty="0" smtClean="0">
                <a:latin typeface="+mn-ea"/>
                <a:cs typeface="맑은 고딕"/>
              </a:rPr>
              <a:t>C</a:t>
            </a:r>
            <a:r>
              <a:rPr sz="1100" spc="-5" dirty="0" smtClean="0">
                <a:latin typeface="+mn-ea"/>
                <a:cs typeface="맑은 고딕"/>
              </a:rPr>
              <a:t>l</a:t>
            </a:r>
            <a:r>
              <a:rPr sz="1100" spc="-20" dirty="0" smtClean="0">
                <a:latin typeface="+mn-ea"/>
                <a:cs typeface="맑은 고딕"/>
              </a:rPr>
              <a:t>o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lang="en-US" sz="1100" spc="-25" dirty="0" smtClean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85" dirty="0" smtClean="0">
                <a:latin typeface="+mn-ea"/>
                <a:cs typeface="맑은 고딕"/>
              </a:rPr>
              <a:t> </a:t>
            </a:r>
            <a:r>
              <a:rPr sz="1100" spc="-20" dirty="0" smtClean="0">
                <a:latin typeface="+mn-ea"/>
                <a:cs typeface="맑은 고딕"/>
              </a:rPr>
              <a:t>k8s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등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어</a:t>
            </a:r>
            <a:r>
              <a:rPr sz="1100" spc="-80" dirty="0" err="1" smtClean="0">
                <a:latin typeface="+mn-ea"/>
                <a:cs typeface="맑은 고딕"/>
              </a:rPr>
              <a:t>떤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인프</a:t>
            </a:r>
            <a:r>
              <a:rPr sz="1100" spc="-80" dirty="0" err="1" smtClean="0">
                <a:latin typeface="+mn-ea"/>
                <a:cs typeface="맑은 고딕"/>
              </a:rPr>
              <a:t>라</a:t>
            </a:r>
            <a:r>
              <a:rPr sz="1100" spc="-135" dirty="0" smtClean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환</a:t>
            </a:r>
            <a:r>
              <a:rPr sz="1100" spc="-80" dirty="0" err="1" smtClean="0">
                <a:latin typeface="+mn-ea"/>
                <a:cs typeface="맑은 고딕"/>
              </a:rPr>
              <a:t>경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에서도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배</a:t>
            </a:r>
            <a:r>
              <a:rPr sz="1100" spc="-70" dirty="0" err="1" smtClean="0">
                <a:latin typeface="+mn-ea"/>
                <a:cs typeface="맑은 고딕"/>
              </a:rPr>
              <a:t>포</a:t>
            </a:r>
            <a:r>
              <a:rPr sz="1100" spc="-105" dirty="0" smtClean="0">
                <a:latin typeface="+mn-ea"/>
                <a:cs typeface="맑은 고딕"/>
              </a:rPr>
              <a:t> </a:t>
            </a:r>
            <a:r>
              <a:rPr sz="1100" spc="-70" dirty="0" smtClean="0">
                <a:latin typeface="+mn-ea"/>
                <a:cs typeface="맑은 고딕"/>
              </a:rPr>
              <a:t>및</a:t>
            </a:r>
            <a:r>
              <a:rPr lang="en-US" sz="110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운영</a:t>
            </a:r>
            <a:r>
              <a:rPr sz="1100" spc="-90" dirty="0" smtClean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ko-KR" altLang="en-US" sz="1100" spc="-330" dirty="0" smtClean="0">
                <a:latin typeface="+mn-ea"/>
                <a:cs typeface="Courier New"/>
              </a:rPr>
              <a:t> </a:t>
            </a:r>
            <a:r>
              <a:rPr lang="en-US" altLang="ko-KR" sz="1100" spc="-55" dirty="0">
                <a:latin typeface="+mn-ea"/>
                <a:cs typeface="맑은 고딕"/>
              </a:rPr>
              <a:t>I/O</a:t>
            </a:r>
            <a:r>
              <a:rPr lang="ko-KR" altLang="en-US" sz="1100" spc="-114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최적화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아키텍처</a:t>
            </a:r>
            <a:r>
              <a:rPr lang="ko-KR" altLang="en-US" sz="1100" spc="-75" dirty="0">
                <a:latin typeface="+mn-ea"/>
                <a:cs typeface="맑은 고딕"/>
              </a:rPr>
              <a:t>로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전통적인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25" dirty="0" smtClean="0">
                <a:latin typeface="+mn-ea"/>
                <a:cs typeface="맑은 고딕"/>
              </a:rPr>
              <a:t>D</a:t>
            </a:r>
            <a:r>
              <a:rPr lang="en-US" altLang="ko-KR" sz="1100" spc="20" dirty="0" smtClean="0">
                <a:latin typeface="+mn-ea"/>
                <a:cs typeface="맑은 고딕"/>
              </a:rPr>
              <a:t>W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환경보다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en-US" altLang="ko-KR" sz="1100" spc="30" dirty="0">
                <a:latin typeface="+mn-ea"/>
                <a:cs typeface="맑은 고딕"/>
              </a:rPr>
              <a:t>10</a:t>
            </a:r>
            <a:r>
              <a:rPr lang="en-US" altLang="ko-KR" sz="1100" spc="-70" dirty="0">
                <a:latin typeface="+mn-ea"/>
                <a:cs typeface="맑은 고딕"/>
              </a:rPr>
              <a:t>-</a:t>
            </a:r>
            <a:r>
              <a:rPr lang="en-US" altLang="ko-KR" sz="1100" spc="30" dirty="0">
                <a:latin typeface="+mn-ea"/>
                <a:cs typeface="맑은 고딕"/>
              </a:rPr>
              <a:t>50</a:t>
            </a:r>
            <a:r>
              <a:rPr lang="ko-KR" altLang="en-US" sz="1100" spc="-75" dirty="0">
                <a:latin typeface="+mn-ea"/>
                <a:cs typeface="맑은 고딕"/>
              </a:rPr>
              <a:t>배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이상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빠른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성능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제공</a:t>
            </a:r>
            <a:endParaRPr lang="en-US" altLang="ko-KR" sz="1100" spc="-75" dirty="0" smtClean="0">
              <a:latin typeface="+mn-ea"/>
              <a:cs typeface="맑은 고딕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9" name="object 18"/>
          <p:cNvSpPr txBox="1"/>
          <p:nvPr/>
        </p:nvSpPr>
        <p:spPr>
          <a:xfrm>
            <a:off x="3410947" y="2738492"/>
            <a:ext cx="2892462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Analytics &amp; Machine Learning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3" name="object 14"/>
          <p:cNvPicPr/>
          <p:nvPr/>
        </p:nvPicPr>
        <p:blipFill>
          <a:blip r:embed="rId3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227178" y="1290208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18" name="object 19"/>
          <p:cNvSpPr txBox="1"/>
          <p:nvPr/>
        </p:nvSpPr>
        <p:spPr>
          <a:xfrm>
            <a:off x="3417178" y="3200102"/>
            <a:ext cx="2880000" cy="140615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sz="1100" spc="-85" dirty="0" err="1" smtClean="0">
                <a:latin typeface="+mn-ea"/>
                <a:cs typeface="맑은 고딕"/>
              </a:rPr>
              <a:t>페</a:t>
            </a:r>
            <a:r>
              <a:rPr sz="1100" spc="-80" dirty="0" err="1" smtClean="0">
                <a:latin typeface="+mn-ea"/>
                <a:cs typeface="맑은 고딕"/>
              </a:rPr>
              <a:t>타</a:t>
            </a:r>
            <a:r>
              <a:rPr sz="1100" spc="-125" dirty="0" smtClean="0">
                <a:latin typeface="+mn-ea"/>
                <a:cs typeface="맑은 고딕"/>
              </a:rPr>
              <a:t> </a:t>
            </a:r>
            <a:r>
              <a:rPr sz="1100" spc="-85" dirty="0" err="1">
                <a:latin typeface="+mn-ea"/>
                <a:cs typeface="맑은 고딕"/>
              </a:rPr>
              <a:t>바이</a:t>
            </a:r>
            <a:r>
              <a:rPr sz="1100" spc="-80" dirty="0" err="1">
                <a:latin typeface="+mn-ea"/>
                <a:cs typeface="맑은 고딕"/>
              </a:rPr>
              <a:t>트</a:t>
            </a:r>
            <a:r>
              <a:rPr sz="1100" spc="-135" dirty="0">
                <a:latin typeface="+mn-ea"/>
                <a:cs typeface="맑은 고딕"/>
              </a:rPr>
              <a:t> </a:t>
            </a:r>
            <a:r>
              <a:rPr sz="1100" spc="-85" dirty="0" err="1" smtClean="0">
                <a:latin typeface="+mn-ea"/>
                <a:cs typeface="맑은 고딕"/>
              </a:rPr>
              <a:t>규모</a:t>
            </a:r>
            <a:r>
              <a:rPr sz="1100" spc="-75" dirty="0" err="1" smtClean="0">
                <a:latin typeface="+mn-ea"/>
                <a:cs typeface="맑은 고딕"/>
              </a:rPr>
              <a:t>의</a:t>
            </a:r>
            <a:r>
              <a:rPr lang="en-US" sz="1100" spc="-75" dirty="0" smtClean="0">
                <a:latin typeface="+mn-ea"/>
                <a:cs typeface="맑은 고딕"/>
              </a:rPr>
              <a:t> </a:t>
            </a:r>
            <a:r>
              <a:rPr sz="1100" spc="-35" dirty="0" smtClean="0">
                <a:latin typeface="+mn-ea"/>
                <a:cs typeface="맑은 고딕"/>
              </a:rPr>
              <a:t>I</a:t>
            </a:r>
            <a:r>
              <a:rPr sz="1100" spc="-60" dirty="0" smtClean="0">
                <a:latin typeface="+mn-ea"/>
                <a:cs typeface="맑은 고딕"/>
              </a:rPr>
              <a:t>n</a:t>
            </a:r>
            <a:r>
              <a:rPr sz="1100" spc="-70" dirty="0" smtClean="0">
                <a:latin typeface="+mn-ea"/>
                <a:cs typeface="맑은 고딕"/>
              </a:rPr>
              <a:t>-</a:t>
            </a:r>
            <a:r>
              <a:rPr sz="1100" spc="-25" dirty="0" smtClean="0">
                <a:latin typeface="+mn-ea"/>
                <a:cs typeface="맑은 고딕"/>
              </a:rPr>
              <a:t>D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35" dirty="0" smtClean="0">
                <a:latin typeface="+mn-ea"/>
                <a:cs typeface="맑은 고딕"/>
              </a:rPr>
              <a:t>t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25" dirty="0" smtClean="0">
                <a:latin typeface="+mn-ea"/>
                <a:cs typeface="맑은 고딕"/>
              </a:rPr>
              <a:t>b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55" dirty="0" smtClean="0">
                <a:latin typeface="+mn-ea"/>
                <a:cs typeface="맑은 고딕"/>
              </a:rPr>
              <a:t>s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110" dirty="0" smtClean="0">
                <a:latin typeface="+mn-ea"/>
                <a:cs typeface="맑은 고딕"/>
              </a:rPr>
              <a:t> </a:t>
            </a:r>
            <a:r>
              <a:rPr sz="1100" spc="5" dirty="0">
                <a:latin typeface="+mn-ea"/>
                <a:cs typeface="맑은 고딕"/>
              </a:rPr>
              <a:t>Ma</a:t>
            </a:r>
            <a:r>
              <a:rPr sz="1100" spc="-10" dirty="0">
                <a:latin typeface="+mn-ea"/>
                <a:cs typeface="맑은 고딕"/>
              </a:rPr>
              <a:t>c</a:t>
            </a:r>
            <a:r>
              <a:rPr sz="1100" spc="-5" dirty="0">
                <a:latin typeface="+mn-ea"/>
                <a:cs typeface="맑은 고딕"/>
              </a:rPr>
              <a:t>h</a:t>
            </a:r>
            <a:r>
              <a:rPr sz="1100" spc="-20" dirty="0">
                <a:latin typeface="+mn-ea"/>
                <a:cs typeface="맑은 고딕"/>
              </a:rPr>
              <a:t>ine</a:t>
            </a:r>
            <a:r>
              <a:rPr sz="1100" spc="-114" dirty="0">
                <a:latin typeface="+mn-ea"/>
                <a:cs typeface="맑은 고딕"/>
              </a:rPr>
              <a:t> </a:t>
            </a:r>
            <a:r>
              <a:rPr sz="1100" spc="-40" dirty="0">
                <a:latin typeface="+mn-ea"/>
                <a:cs typeface="맑은 고딕"/>
              </a:rPr>
              <a:t>L</a:t>
            </a:r>
            <a:r>
              <a:rPr sz="1100" spc="-10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a</a:t>
            </a:r>
            <a:r>
              <a:rPr sz="1100" spc="-45" dirty="0">
                <a:latin typeface="+mn-ea"/>
                <a:cs typeface="맑은 고딕"/>
              </a:rPr>
              <a:t>r</a:t>
            </a:r>
            <a:r>
              <a:rPr sz="1100" spc="-5" dirty="0">
                <a:latin typeface="+mn-ea"/>
                <a:cs typeface="맑은 고딕"/>
              </a:rPr>
              <a:t>n</a:t>
            </a:r>
            <a:r>
              <a:rPr sz="1100" spc="-25" dirty="0">
                <a:latin typeface="+mn-ea"/>
                <a:cs typeface="맑은 고딕"/>
              </a:rPr>
              <a:t>ing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75" dirty="0" err="1" smtClean="0">
                <a:latin typeface="+mn-ea"/>
                <a:cs typeface="맑은 고딕"/>
              </a:rPr>
              <a:t>지원</a:t>
            </a:r>
            <a:endParaRPr lang="en-US" sz="1100" spc="-75" dirty="0" smtClean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ko-KR" altLang="en-US" sz="1100" spc="-75" dirty="0" smtClean="0">
                <a:latin typeface="+mn-ea"/>
                <a:cs typeface="맑은 고딕"/>
              </a:rPr>
              <a:t>사용자에게</a:t>
            </a:r>
            <a:r>
              <a:rPr lang="ko-KR" altLang="en-US" sz="1100" spc="-10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친숙한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en-US" altLang="ko-KR" sz="1100" spc="-20" dirty="0" smtClean="0">
                <a:latin typeface="+mn-ea"/>
                <a:cs typeface="맑은 고딕"/>
              </a:rPr>
              <a:t>SQ</a:t>
            </a:r>
            <a:r>
              <a:rPr lang="en-US" altLang="ko-KR" sz="1100" spc="-10" dirty="0" smtClean="0">
                <a:latin typeface="+mn-ea"/>
                <a:cs typeface="맑은 고딕"/>
              </a:rPr>
              <a:t>L</a:t>
            </a:r>
            <a:r>
              <a:rPr lang="ko-KR" altLang="en-US" sz="1100" spc="-85" dirty="0">
                <a:latin typeface="+mn-ea"/>
                <a:cs typeface="맑은 고딕"/>
              </a:rPr>
              <a:t>로</a:t>
            </a:r>
            <a:r>
              <a:rPr lang="ko-KR" altLang="en-US" sz="1100" spc="-135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M</a:t>
            </a:r>
            <a:r>
              <a:rPr lang="en-US" altLang="ko-KR" sz="1100" spc="-10" dirty="0">
                <a:latin typeface="+mn-ea"/>
                <a:cs typeface="맑은 고딕"/>
              </a:rPr>
              <a:t>L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프로세스</a:t>
            </a:r>
            <a:r>
              <a:rPr lang="ko-KR" altLang="en-US" sz="1100" spc="-18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-55" dirty="0" smtClean="0">
                <a:latin typeface="+mn-ea"/>
                <a:cs typeface="맑은 고딕"/>
              </a:rPr>
              <a:t>P</a:t>
            </a:r>
            <a:r>
              <a:rPr lang="en-US" altLang="ko-KR" sz="1100" spc="5" dirty="0" smtClean="0">
                <a:latin typeface="+mn-ea"/>
                <a:cs typeface="맑은 고딕"/>
              </a:rPr>
              <a:t>MM</a:t>
            </a:r>
            <a:r>
              <a:rPr lang="en-US" altLang="ko-KR" sz="1100" spc="-40" dirty="0" smtClean="0">
                <a:latin typeface="+mn-ea"/>
                <a:cs typeface="맑은 고딕"/>
              </a:rPr>
              <a:t>L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>
                <a:latin typeface="+mn-ea"/>
                <a:cs typeface="맑은 고딕"/>
              </a:rPr>
              <a:t>/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en-US" altLang="ko-KR" sz="1100" spc="-175" dirty="0" err="1">
                <a:latin typeface="+mn-ea"/>
                <a:cs typeface="맑은 고딕"/>
              </a:rPr>
              <a:t>T</a:t>
            </a:r>
            <a:r>
              <a:rPr lang="en-US" altLang="ko-KR" sz="1100" spc="-25" dirty="0" err="1">
                <a:latin typeface="+mn-ea"/>
                <a:cs typeface="맑은 고딕"/>
              </a:rPr>
              <a:t>en</a:t>
            </a:r>
            <a:r>
              <a:rPr lang="en-US" altLang="ko-KR" sz="1100" spc="-15" dirty="0" err="1">
                <a:latin typeface="+mn-ea"/>
                <a:cs typeface="맑은 고딕"/>
              </a:rPr>
              <a:t>s</a:t>
            </a:r>
            <a:r>
              <a:rPr lang="en-US" altLang="ko-KR" sz="1100" spc="-40" dirty="0" err="1">
                <a:latin typeface="+mn-ea"/>
                <a:cs typeface="맑은 고딕"/>
              </a:rPr>
              <a:t>o</a:t>
            </a:r>
            <a:r>
              <a:rPr lang="en-US" altLang="ko-KR" sz="1100" spc="-30" dirty="0" err="1">
                <a:latin typeface="+mn-ea"/>
                <a:cs typeface="맑은 고딕"/>
              </a:rPr>
              <a:t>r</a:t>
            </a:r>
            <a:r>
              <a:rPr lang="en-US" altLang="ko-KR" sz="1100" spc="-5" dirty="0" err="1">
                <a:latin typeface="+mn-ea"/>
                <a:cs typeface="맑은 고딕"/>
              </a:rPr>
              <a:t>Flow</a:t>
            </a:r>
            <a:r>
              <a:rPr lang="ko-KR" altLang="en-US" sz="1100" spc="-140" dirty="0">
                <a:latin typeface="+mn-ea"/>
                <a:cs typeface="맑은 고딕"/>
              </a:rPr>
              <a:t> </a:t>
            </a:r>
            <a:r>
              <a:rPr lang="en-US" altLang="ko-KR" sz="1100" spc="5" dirty="0">
                <a:latin typeface="+mn-ea"/>
                <a:cs typeface="맑은 고딕"/>
              </a:rPr>
              <a:t>M</a:t>
            </a:r>
            <a:r>
              <a:rPr lang="en-US" altLang="ko-KR" sz="1100" spc="-20" dirty="0">
                <a:latin typeface="+mn-ea"/>
                <a:cs typeface="맑은 고딕"/>
              </a:rPr>
              <a:t>ode</a:t>
            </a:r>
            <a:r>
              <a:rPr lang="en-US" altLang="ko-KR" sz="1100" spc="-45" dirty="0">
                <a:latin typeface="+mn-ea"/>
                <a:cs typeface="맑은 고딕"/>
              </a:rPr>
              <a:t>l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대해 </a:t>
            </a:r>
            <a:r>
              <a:rPr lang="en-US" altLang="ko-KR" sz="1100" spc="-10" dirty="0" smtClean="0">
                <a:latin typeface="+mn-ea"/>
                <a:cs typeface="맑은 고딕"/>
              </a:rPr>
              <a:t>e</a:t>
            </a:r>
            <a:r>
              <a:rPr lang="en-US" altLang="ko-KR" sz="1100" spc="-30" dirty="0" smtClean="0">
                <a:latin typeface="+mn-ea"/>
                <a:cs typeface="맑은 고딕"/>
              </a:rPr>
              <a:t>xp</a:t>
            </a:r>
            <a:r>
              <a:rPr lang="en-US" altLang="ko-KR" sz="1100" spc="-20" dirty="0" smtClean="0">
                <a:latin typeface="+mn-ea"/>
                <a:cs typeface="맑은 고딕"/>
              </a:rPr>
              <a:t>o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ko-KR" altLang="en-US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imp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45" dirty="0">
                <a:latin typeface="+mn-ea"/>
                <a:cs typeface="맑은 고딕"/>
              </a:rPr>
              <a:t>r</a:t>
            </a:r>
            <a:r>
              <a:rPr lang="en-US" altLang="ko-KR" sz="1100" spc="-30" dirty="0">
                <a:latin typeface="+mn-ea"/>
                <a:cs typeface="맑은 고딕"/>
              </a:rPr>
              <a:t>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기능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150" indent="-171450">
              <a:lnSpc>
                <a:spcPct val="100000"/>
              </a:lnSpc>
              <a:spcBef>
                <a:spcPts val="105"/>
              </a:spcBef>
              <a:buFont typeface="Arial" panose="020B0604020202020204" pitchFamily="34" charset="0"/>
              <a:buChar char="•"/>
            </a:pPr>
            <a:r>
              <a:rPr lang="en-US" altLang="ko-KR" sz="1100" spc="5" dirty="0" smtClean="0">
                <a:latin typeface="+mn-ea"/>
                <a:cs typeface="맑은 고딕"/>
              </a:rPr>
              <a:t>Geos</a:t>
            </a:r>
            <a:r>
              <a:rPr lang="en-US" altLang="ko-KR" sz="1100" spc="-30" dirty="0" smtClean="0">
                <a:latin typeface="+mn-ea"/>
                <a:cs typeface="맑은 고딕"/>
              </a:rPr>
              <a:t>pat</a:t>
            </a:r>
            <a:r>
              <a:rPr lang="en-US" altLang="ko-KR" sz="1100" spc="-25" dirty="0" smtClean="0">
                <a:latin typeface="+mn-ea"/>
                <a:cs typeface="맑은 고딕"/>
              </a:rPr>
              <a:t>i</a:t>
            </a:r>
            <a:r>
              <a:rPr lang="en-US" altLang="ko-KR" sz="1100" spc="-20" dirty="0" smtClean="0">
                <a:latin typeface="+mn-ea"/>
                <a:cs typeface="맑은 고딕"/>
              </a:rPr>
              <a:t>al</a:t>
            </a:r>
            <a:r>
              <a:rPr lang="en-US" altLang="ko-KR" sz="1100" spc="-135" dirty="0" smtClean="0">
                <a:latin typeface="+mn-ea"/>
                <a:cs typeface="맑은 고딕"/>
              </a:rPr>
              <a:t> </a:t>
            </a:r>
            <a:r>
              <a:rPr lang="en-US" altLang="ko-KR" sz="1100" spc="-90" dirty="0" smtClean="0">
                <a:latin typeface="+mn-ea"/>
                <a:cs typeface="맑은 고딕"/>
              </a:rPr>
              <a:t>/</a:t>
            </a:r>
            <a:r>
              <a:rPr lang="en-US" altLang="ko-KR" sz="1100" spc="-110" dirty="0" smtClean="0">
                <a:latin typeface="+mn-ea"/>
                <a:cs typeface="맑은 고딕"/>
              </a:rPr>
              <a:t> </a:t>
            </a:r>
            <a:r>
              <a:rPr lang="en-US" altLang="ko-KR" sz="1100" spc="-30" dirty="0" smtClean="0">
                <a:latin typeface="+mn-ea"/>
                <a:cs typeface="맑은 고딕"/>
              </a:rPr>
              <a:t>Full</a:t>
            </a:r>
            <a:r>
              <a:rPr lang="en-US" altLang="ko-KR" sz="1100" spc="-114" dirty="0" smtClean="0">
                <a:latin typeface="+mn-ea"/>
                <a:cs typeface="맑은 고딕"/>
              </a:rPr>
              <a:t> </a:t>
            </a:r>
            <a:r>
              <a:rPr lang="en-US" altLang="ko-KR" sz="1100" spc="-40" dirty="0" smtClean="0">
                <a:latin typeface="+mn-ea"/>
                <a:cs typeface="맑은 고딕"/>
              </a:rPr>
              <a:t>t</a:t>
            </a:r>
            <a:r>
              <a:rPr lang="en-US" altLang="ko-KR" sz="1100" spc="-25" dirty="0" smtClean="0">
                <a:latin typeface="+mn-ea"/>
                <a:cs typeface="맑은 고딕"/>
              </a:rPr>
              <a:t>e</a:t>
            </a:r>
            <a:r>
              <a:rPr lang="en-US" altLang="ko-KR" sz="1100" spc="-20" dirty="0" smtClean="0">
                <a:latin typeface="+mn-ea"/>
                <a:cs typeface="맑은 고딕"/>
              </a:rPr>
              <a:t>x</a:t>
            </a:r>
            <a:r>
              <a:rPr lang="en-US" altLang="ko-KR" sz="1100" spc="-30" dirty="0" smtClean="0">
                <a:latin typeface="+mn-ea"/>
                <a:cs typeface="맑은 고딕"/>
              </a:rPr>
              <a:t>t</a:t>
            </a:r>
            <a:r>
              <a:rPr lang="en-US" altLang="ko-KR" sz="1100" spc="-105" dirty="0" smtClean="0">
                <a:latin typeface="+mn-ea"/>
                <a:cs typeface="맑은 고딕"/>
              </a:rPr>
              <a:t> </a:t>
            </a:r>
            <a:r>
              <a:rPr lang="en-US" altLang="ko-KR" sz="1100" spc="-50" dirty="0" smtClean="0">
                <a:latin typeface="+mn-ea"/>
                <a:cs typeface="맑은 고딕"/>
              </a:rPr>
              <a:t>s</a:t>
            </a:r>
            <a:r>
              <a:rPr lang="en-US" altLang="ko-KR" sz="1100" dirty="0" smtClean="0">
                <a:latin typeface="+mn-ea"/>
                <a:cs typeface="맑은 고딕"/>
              </a:rPr>
              <a:t>ea</a:t>
            </a:r>
            <a:r>
              <a:rPr lang="en-US" altLang="ko-KR" sz="1100" spc="-55" dirty="0" smtClean="0">
                <a:latin typeface="+mn-ea"/>
                <a:cs typeface="맑은 고딕"/>
              </a:rPr>
              <a:t>r</a:t>
            </a:r>
            <a:r>
              <a:rPr lang="en-US" altLang="ko-KR" sz="1100" spc="-5" dirty="0" smtClean="0">
                <a:latin typeface="+mn-ea"/>
                <a:cs typeface="맑은 고딕"/>
              </a:rPr>
              <a:t>c</a:t>
            </a:r>
            <a:r>
              <a:rPr lang="en-US" altLang="ko-KR" sz="1100" dirty="0" smtClean="0">
                <a:latin typeface="+mn-ea"/>
                <a:cs typeface="맑은 고딕"/>
              </a:rPr>
              <a:t>h</a:t>
            </a:r>
            <a:r>
              <a:rPr lang="en-US" altLang="ko-KR" sz="1100" spc="-125" dirty="0" smtClean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등의  향상된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고급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분석</a:t>
            </a:r>
            <a:r>
              <a:rPr lang="ko-KR" altLang="en-US" sz="1100" spc="-12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기능</a:t>
            </a:r>
            <a:r>
              <a:rPr lang="ko-KR" altLang="en-US" sz="1100" spc="-170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 smtClean="0">
              <a:latin typeface="+mn-ea"/>
              <a:cs typeface="맑은 고딕"/>
            </a:endParaRPr>
          </a:p>
          <a:p>
            <a:pPr marL="356235" indent="-171450">
              <a:lnSpc>
                <a:spcPct val="100000"/>
              </a:lnSpc>
              <a:spcBef>
                <a:spcPts val="5"/>
              </a:spcBef>
              <a:buFont typeface="Arial" panose="020B0604020202020204" pitchFamily="34" charset="0"/>
              <a:buChar char="•"/>
            </a:pPr>
            <a:endParaRPr lang="ko-KR" altLang="en-US" sz="1100" dirty="0">
              <a:latin typeface="+mn-ea"/>
              <a:cs typeface="맑은 고딕"/>
            </a:endParaRPr>
          </a:p>
        </p:txBody>
      </p:sp>
      <p:sp>
        <p:nvSpPr>
          <p:cNvPr id="10" name="object 18"/>
          <p:cNvSpPr txBox="1"/>
          <p:nvPr/>
        </p:nvSpPr>
        <p:spPr>
          <a:xfrm>
            <a:off x="7048799" y="2788099"/>
            <a:ext cx="2169750" cy="2442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n-US" sz="1500" b="1" spc="25" dirty="0">
                <a:latin typeface="+mn-ea"/>
                <a:cs typeface="맑은 고딕"/>
              </a:rPr>
              <a:t>Query Engine</a:t>
            </a:r>
            <a:endParaRPr sz="1500" dirty="0">
              <a:latin typeface="+mn-ea"/>
              <a:cs typeface="맑은 고딕"/>
            </a:endParaRPr>
          </a:p>
        </p:txBody>
      </p:sp>
      <p:pic>
        <p:nvPicPr>
          <p:cNvPr id="12" name="object 13"/>
          <p:cNvPicPr/>
          <p:nvPr/>
        </p:nvPicPr>
        <p:blipFill>
          <a:blip r:embed="rId4" cstate="print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503674" y="1325815"/>
            <a:ext cx="1260000" cy="1260000"/>
          </a:xfrm>
          <a:prstGeom prst="rect">
            <a:avLst/>
          </a:prstGeom>
          <a:ln>
            <a:noFill/>
          </a:ln>
        </p:spPr>
      </p:pic>
      <p:sp>
        <p:nvSpPr>
          <p:cNvPr id="21" name="object 15"/>
          <p:cNvSpPr txBox="1"/>
          <p:nvPr/>
        </p:nvSpPr>
        <p:spPr>
          <a:xfrm>
            <a:off x="6693674" y="3234681"/>
            <a:ext cx="2880000" cy="1355499"/>
          </a:xfrm>
          <a:prstGeom prst="rect">
            <a:avLst/>
          </a:prstGeom>
        </p:spPr>
        <p:txBody>
          <a:bodyPr vert="horz" wrap="square" lIns="0" tIns="1270" rIns="0" bIns="0" rtlCol="0">
            <a:spAutoFit/>
          </a:bodyPr>
          <a:lstStyle/>
          <a:p>
            <a:pPr marL="297815" marR="5080" indent="-28575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sz="1100" spc="-35" dirty="0" smtClean="0">
                <a:latin typeface="+mn-ea"/>
                <a:cs typeface="맑은 고딕"/>
              </a:rPr>
              <a:t>HDFS</a:t>
            </a:r>
            <a:r>
              <a:rPr sz="1100" spc="-130" dirty="0" smtClean="0">
                <a:latin typeface="+mn-ea"/>
                <a:cs typeface="맑은 고딕"/>
              </a:rPr>
              <a:t> </a:t>
            </a:r>
            <a:r>
              <a:rPr sz="1100" spc="-90" dirty="0">
                <a:latin typeface="+mn-ea"/>
                <a:cs typeface="맑은 고딕"/>
              </a:rPr>
              <a:t>/</a:t>
            </a:r>
            <a:r>
              <a:rPr sz="1100" spc="-110" dirty="0">
                <a:latin typeface="+mn-ea"/>
                <a:cs typeface="맑은 고딕"/>
              </a:rPr>
              <a:t> </a:t>
            </a:r>
            <a:r>
              <a:rPr sz="1100" spc="-10" dirty="0">
                <a:latin typeface="+mn-ea"/>
                <a:cs typeface="맑은 고딕"/>
              </a:rPr>
              <a:t>Ob</a:t>
            </a:r>
            <a:r>
              <a:rPr sz="1100" spc="-15" dirty="0">
                <a:latin typeface="+mn-ea"/>
                <a:cs typeface="맑은 고딕"/>
              </a:rPr>
              <a:t>j</a:t>
            </a:r>
            <a:r>
              <a:rPr sz="1100" spc="-5" dirty="0">
                <a:latin typeface="+mn-ea"/>
                <a:cs typeface="맑은 고딕"/>
              </a:rPr>
              <a:t>e</a:t>
            </a:r>
            <a:r>
              <a:rPr sz="1100" dirty="0">
                <a:latin typeface="+mn-ea"/>
                <a:cs typeface="맑은 고딕"/>
              </a:rPr>
              <a:t>c</a:t>
            </a:r>
            <a:r>
              <a:rPr sz="1100" spc="-30" dirty="0">
                <a:latin typeface="+mn-ea"/>
                <a:cs typeface="맑은 고딕"/>
              </a:rPr>
              <a:t>t</a:t>
            </a:r>
            <a:r>
              <a:rPr sz="1100" spc="-130" dirty="0">
                <a:latin typeface="+mn-ea"/>
                <a:cs typeface="맑은 고딕"/>
              </a:rPr>
              <a:t> </a:t>
            </a:r>
            <a:r>
              <a:rPr sz="1100" spc="-35" dirty="0">
                <a:latin typeface="+mn-ea"/>
                <a:cs typeface="맑은 고딕"/>
              </a:rPr>
              <a:t>Stor</a:t>
            </a:r>
            <a:r>
              <a:rPr sz="1100" dirty="0">
                <a:latin typeface="+mn-ea"/>
                <a:cs typeface="맑은 고딕"/>
              </a:rPr>
              <a:t>e</a:t>
            </a:r>
            <a:r>
              <a:rPr sz="1100" spc="-75" dirty="0">
                <a:latin typeface="+mn-ea"/>
                <a:cs typeface="맑은 고딕"/>
              </a:rPr>
              <a:t>에 </a:t>
            </a:r>
            <a:r>
              <a:rPr sz="1100" spc="-65" dirty="0">
                <a:latin typeface="+mn-ea"/>
                <a:cs typeface="맑은 고딕"/>
              </a:rPr>
              <a:t>저장된  다양한</a:t>
            </a:r>
            <a:r>
              <a:rPr sz="1100" spc="-10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포맷</a:t>
            </a:r>
            <a:r>
              <a:rPr sz="1100" dirty="0">
                <a:latin typeface="+mn-ea"/>
                <a:cs typeface="맑은 고딕"/>
              </a:rPr>
              <a:t>(</a:t>
            </a:r>
            <a:r>
              <a:rPr sz="1100" spc="-95" dirty="0" smtClean="0">
                <a:latin typeface="+mn-ea"/>
                <a:cs typeface="맑은 고딕"/>
              </a:rPr>
              <a:t>P</a:t>
            </a:r>
            <a:r>
              <a:rPr sz="1100" dirty="0" smtClean="0">
                <a:latin typeface="+mn-ea"/>
                <a:cs typeface="맑은 고딕"/>
              </a:rPr>
              <a:t>a</a:t>
            </a:r>
            <a:r>
              <a:rPr sz="1100" spc="-45" dirty="0" smtClean="0">
                <a:latin typeface="+mn-ea"/>
                <a:cs typeface="맑은 고딕"/>
              </a:rPr>
              <a:t>r</a:t>
            </a:r>
            <a:r>
              <a:rPr sz="1100" spc="-25" dirty="0" smtClean="0">
                <a:latin typeface="+mn-ea"/>
                <a:cs typeface="맑은 고딕"/>
              </a:rPr>
              <a:t>q</a:t>
            </a:r>
            <a:r>
              <a:rPr sz="1100" spc="-5" dirty="0" smtClean="0">
                <a:latin typeface="+mn-ea"/>
                <a:cs typeface="맑은 고딕"/>
              </a:rPr>
              <a:t>u</a:t>
            </a:r>
            <a:r>
              <a:rPr sz="1100" spc="-10" dirty="0" smtClean="0">
                <a:latin typeface="+mn-ea"/>
                <a:cs typeface="맑은 고딕"/>
              </a:rPr>
              <a:t>e</a:t>
            </a:r>
            <a:r>
              <a:rPr sz="1100" spc="-30" dirty="0" smtClean="0">
                <a:latin typeface="+mn-ea"/>
                <a:cs typeface="맑은 고딕"/>
              </a:rPr>
              <a:t>t</a:t>
            </a:r>
            <a:r>
              <a:rPr lang="en-US" sz="1100" spc="-114" dirty="0">
                <a:latin typeface="+mn-ea"/>
                <a:cs typeface="맑은 고딕"/>
              </a:rPr>
              <a:t> </a:t>
            </a:r>
            <a:r>
              <a:rPr sz="1100" spc="-80" dirty="0" smtClean="0">
                <a:latin typeface="+mn-ea"/>
                <a:cs typeface="맑은 고딕"/>
              </a:rPr>
              <a:t>/</a:t>
            </a:r>
            <a:r>
              <a:rPr sz="1100" spc="-95" dirty="0" smtClean="0">
                <a:latin typeface="+mn-ea"/>
                <a:cs typeface="맑은 고딕"/>
              </a:rPr>
              <a:t> </a:t>
            </a:r>
            <a:r>
              <a:rPr sz="1100" dirty="0">
                <a:latin typeface="+mn-ea"/>
                <a:cs typeface="맑은 고딕"/>
              </a:rPr>
              <a:t>ORC</a:t>
            </a:r>
            <a:r>
              <a:rPr sz="1100" spc="-60" dirty="0">
                <a:latin typeface="+mn-ea"/>
                <a:cs typeface="맑은 고딕"/>
              </a:rPr>
              <a:t> </a:t>
            </a:r>
            <a:r>
              <a:rPr sz="1100" spc="-75" dirty="0">
                <a:latin typeface="+mn-ea"/>
                <a:cs typeface="맑은 고딕"/>
              </a:rPr>
              <a:t>등</a:t>
            </a:r>
            <a:r>
              <a:rPr sz="1100" spc="5" dirty="0">
                <a:latin typeface="+mn-ea"/>
                <a:cs typeface="맑은 고딕"/>
              </a:rPr>
              <a:t>)</a:t>
            </a:r>
            <a:r>
              <a:rPr sz="1100" spc="-90" dirty="0">
                <a:latin typeface="+mn-ea"/>
                <a:cs typeface="맑은 고딕"/>
              </a:rPr>
              <a:t> </a:t>
            </a:r>
            <a:r>
              <a:rPr sz="1100" spc="-45" dirty="0">
                <a:latin typeface="+mn-ea"/>
                <a:cs typeface="맑은 고딕"/>
              </a:rPr>
              <a:t>의  </a:t>
            </a:r>
            <a:r>
              <a:rPr sz="1100" spc="-75" dirty="0">
                <a:latin typeface="+mn-ea"/>
                <a:cs typeface="맑은 고딕"/>
              </a:rPr>
              <a:t>데이터</a:t>
            </a:r>
            <a:r>
              <a:rPr sz="1100" spc="-70" dirty="0">
                <a:latin typeface="+mn-ea"/>
                <a:cs typeface="맑은 고딕"/>
              </a:rPr>
              <a:t>를</a:t>
            </a:r>
            <a:r>
              <a:rPr sz="1100" spc="-105" dirty="0">
                <a:latin typeface="+mn-ea"/>
                <a:cs typeface="맑은 고딕"/>
              </a:rPr>
              <a:t> </a:t>
            </a:r>
            <a:r>
              <a:rPr sz="1100" spc="-75" dirty="0" err="1">
                <a:latin typeface="+mn-ea"/>
                <a:cs typeface="맑은 고딕"/>
              </a:rPr>
              <a:t>직</a:t>
            </a:r>
            <a:r>
              <a:rPr sz="1100" spc="-70" dirty="0" err="1">
                <a:latin typeface="+mn-ea"/>
                <a:cs typeface="맑은 고딕"/>
              </a:rPr>
              <a:t>접</a:t>
            </a:r>
            <a:r>
              <a:rPr sz="1100" spc="-90" dirty="0">
                <a:latin typeface="+mn-ea"/>
                <a:cs typeface="맑은 고딕"/>
              </a:rPr>
              <a:t> </a:t>
            </a:r>
            <a:r>
              <a:rPr sz="1100" spc="-70" dirty="0" err="1" smtClean="0">
                <a:latin typeface="+mn-ea"/>
                <a:cs typeface="맑은 고딕"/>
              </a:rPr>
              <a:t>조회</a:t>
            </a:r>
            <a:endParaRPr lang="en-US" sz="1100" spc="-70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dirty="0" smtClean="0">
                <a:latin typeface="+mn-ea"/>
                <a:cs typeface="맑은 고딕"/>
              </a:rPr>
              <a:t>DW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데이터와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en-US" altLang="ko-KR" sz="1100" spc="-25" dirty="0">
                <a:latin typeface="+mn-ea"/>
                <a:cs typeface="맑은 고딕"/>
              </a:rPr>
              <a:t>D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35" dirty="0">
                <a:latin typeface="+mn-ea"/>
                <a:cs typeface="맑은 고딕"/>
              </a:rPr>
              <a:t>t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40" dirty="0">
                <a:latin typeface="+mn-ea"/>
                <a:cs typeface="맑은 고딕"/>
              </a:rPr>
              <a:t>L</a:t>
            </a:r>
            <a:r>
              <a:rPr lang="en-US" altLang="ko-KR" sz="1100" dirty="0">
                <a:latin typeface="+mn-ea"/>
                <a:cs typeface="맑은 고딕"/>
              </a:rPr>
              <a:t>a</a:t>
            </a:r>
            <a:r>
              <a:rPr lang="en-US" altLang="ko-KR" sz="1100" spc="-25" dirty="0">
                <a:latin typeface="+mn-ea"/>
                <a:cs typeface="맑은 고딕"/>
              </a:rPr>
              <a:t>k</a:t>
            </a:r>
            <a:r>
              <a:rPr lang="en-US" altLang="ko-KR" sz="1100" spc="-15" dirty="0">
                <a:latin typeface="+mn-ea"/>
                <a:cs typeface="맑은 고딕"/>
              </a:rPr>
              <a:t>e</a:t>
            </a:r>
            <a:r>
              <a:rPr lang="ko-KR" altLang="en-US" sz="1100" spc="-75" dirty="0">
                <a:latin typeface="+mn-ea"/>
                <a:cs typeface="맑은 고딕"/>
              </a:rPr>
              <a:t>에</a:t>
            </a:r>
            <a:r>
              <a:rPr lang="ko-KR" altLang="en-US" sz="1100" spc="-11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존재하는</a:t>
            </a:r>
            <a:r>
              <a:rPr lang="ko-KR" altLang="en-US" sz="1100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 smtClean="0">
                <a:latin typeface="+mn-ea"/>
                <a:cs typeface="맑은 고딕"/>
              </a:rPr>
              <a:t>데이터</a:t>
            </a:r>
            <a:r>
              <a:rPr lang="ko-KR" altLang="en-US" sz="1100" spc="-135" dirty="0" smtClean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연계</a:t>
            </a:r>
            <a:r>
              <a:rPr lang="ko-KR" altLang="en-US" sz="1100" spc="-120" dirty="0">
                <a:latin typeface="+mn-ea"/>
                <a:cs typeface="맑은 고딕"/>
              </a:rPr>
              <a:t> </a:t>
            </a:r>
            <a:r>
              <a:rPr lang="ko-KR" altLang="en-US" sz="1100" spc="-85" dirty="0">
                <a:latin typeface="+mn-ea"/>
                <a:cs typeface="맑은 고딕"/>
              </a:rPr>
              <a:t>분</a:t>
            </a:r>
            <a:r>
              <a:rPr lang="ko-KR" altLang="en-US" sz="1100" spc="-90" dirty="0">
                <a:latin typeface="+mn-ea"/>
                <a:cs typeface="맑은 고딕"/>
              </a:rPr>
              <a:t>석</a:t>
            </a:r>
            <a:r>
              <a:rPr lang="en-US" altLang="ko-KR" sz="1100" dirty="0">
                <a:latin typeface="+mn-ea"/>
                <a:cs typeface="맑은 고딕"/>
              </a:rPr>
              <a:t>(</a:t>
            </a:r>
            <a:r>
              <a:rPr lang="en-US" altLang="ko-KR" sz="1100" spc="-90" dirty="0">
                <a:latin typeface="+mn-ea"/>
                <a:cs typeface="맑은 고딕"/>
              </a:rPr>
              <a:t>J</a:t>
            </a:r>
            <a:r>
              <a:rPr lang="en-US" altLang="ko-KR" sz="1100" spc="-20" dirty="0">
                <a:latin typeface="+mn-ea"/>
                <a:cs typeface="맑은 고딕"/>
              </a:rPr>
              <a:t>o</a:t>
            </a:r>
            <a:r>
              <a:rPr lang="en-US" altLang="ko-KR" sz="1100" spc="-25" dirty="0">
                <a:latin typeface="+mn-ea"/>
                <a:cs typeface="맑은 고딕"/>
              </a:rPr>
              <a:t>in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처리</a:t>
            </a:r>
            <a:r>
              <a:rPr lang="en-US" altLang="ko-KR" sz="1100" spc="5" dirty="0">
                <a:latin typeface="+mn-ea"/>
                <a:cs typeface="맑은 고딕"/>
              </a:rPr>
              <a:t>)</a:t>
            </a:r>
            <a:r>
              <a:rPr lang="ko-KR" altLang="en-US" sz="1100" spc="-9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en-US" altLang="ko-KR" sz="1100" spc="-75" dirty="0">
              <a:latin typeface="+mn-ea"/>
              <a:cs typeface="맑은 고딕"/>
            </a:endParaRPr>
          </a:p>
          <a:p>
            <a:pPr marL="184785" marR="5080" indent="-172720" algn="just">
              <a:lnSpc>
                <a:spcPct val="99600"/>
              </a:lnSpc>
              <a:spcBef>
                <a:spcPts val="10"/>
              </a:spcBef>
              <a:buFont typeface="Arial" panose="020B0604020202020204" pitchFamily="34" charset="0"/>
              <a:buChar char="•"/>
            </a:pPr>
            <a:r>
              <a:rPr lang="en-US" altLang="ko-KR" sz="1100" spc="25" dirty="0" smtClean="0">
                <a:latin typeface="+mn-ea"/>
                <a:cs typeface="맑은 고딕"/>
              </a:rPr>
              <a:t>A</a:t>
            </a:r>
            <a:r>
              <a:rPr lang="en-US" altLang="ko-KR" sz="1100" spc="-40" dirty="0" smtClean="0">
                <a:latin typeface="+mn-ea"/>
                <a:cs typeface="맑은 고딕"/>
              </a:rPr>
              <a:t>R</a:t>
            </a:r>
            <a:r>
              <a:rPr lang="en-US" altLang="ko-KR" sz="1100" spc="-45" dirty="0" smtClean="0">
                <a:latin typeface="+mn-ea"/>
                <a:cs typeface="맑은 고딕"/>
              </a:rPr>
              <a:t>R</a:t>
            </a:r>
            <a:r>
              <a:rPr lang="en-US" altLang="ko-KR" sz="1100" spc="-105" dirty="0" smtClean="0">
                <a:latin typeface="+mn-ea"/>
                <a:cs typeface="맑은 고딕"/>
              </a:rPr>
              <a:t>A</a:t>
            </a:r>
            <a:r>
              <a:rPr lang="en-US" altLang="ko-KR" sz="1100" spc="70" dirty="0" smtClean="0">
                <a:latin typeface="+mn-ea"/>
                <a:cs typeface="맑은 고딕"/>
              </a:rPr>
              <a:t>Y</a:t>
            </a:r>
            <a:r>
              <a:rPr lang="ko-KR" altLang="en-US" sz="1100" spc="-85" dirty="0" smtClean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15" dirty="0">
                <a:latin typeface="+mn-ea"/>
                <a:cs typeface="맑은 고딕"/>
              </a:rPr>
              <a:t>MA</a:t>
            </a:r>
            <a:r>
              <a:rPr lang="en-US" altLang="ko-KR" sz="1100" spc="-50" dirty="0">
                <a:latin typeface="+mn-ea"/>
                <a:cs typeface="맑은 고딕"/>
              </a:rPr>
              <a:t>P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en-US" altLang="ko-KR" sz="1100" spc="-80" dirty="0">
                <a:latin typeface="+mn-ea"/>
                <a:cs typeface="맑은 고딕"/>
              </a:rPr>
              <a:t>/</a:t>
            </a:r>
            <a:r>
              <a:rPr lang="ko-KR" altLang="en-US" sz="1100" spc="-85" dirty="0">
                <a:latin typeface="+mn-ea"/>
                <a:cs typeface="맑은 고딕"/>
              </a:rPr>
              <a:t> </a:t>
            </a:r>
            <a:r>
              <a:rPr lang="en-US" altLang="ko-KR" sz="1100" spc="-30" dirty="0">
                <a:latin typeface="+mn-ea"/>
                <a:cs typeface="맑은 고딕"/>
              </a:rPr>
              <a:t>S</a:t>
            </a:r>
            <a:r>
              <a:rPr lang="en-US" altLang="ko-KR" sz="1100" spc="-45" dirty="0">
                <a:latin typeface="+mn-ea"/>
                <a:cs typeface="맑은 고딕"/>
              </a:rPr>
              <a:t>T</a:t>
            </a:r>
            <a:r>
              <a:rPr lang="en-US" altLang="ko-KR" sz="1100" spc="-15" dirty="0">
                <a:latin typeface="+mn-ea"/>
                <a:cs typeface="맑은 고딕"/>
              </a:rPr>
              <a:t>RUCT</a:t>
            </a:r>
            <a:r>
              <a:rPr lang="ko-KR" altLang="en-US" sz="1100" spc="-95" dirty="0">
                <a:latin typeface="+mn-ea"/>
                <a:cs typeface="맑은 고딕"/>
              </a:rPr>
              <a:t> </a:t>
            </a:r>
            <a:r>
              <a:rPr lang="ko-KR" altLang="en-US" sz="1100" spc="-60" dirty="0">
                <a:latin typeface="+mn-ea"/>
                <a:cs typeface="맑은 고딕"/>
              </a:rPr>
              <a:t>등  </a:t>
            </a:r>
            <a:r>
              <a:rPr lang="ko-KR" altLang="en-US" sz="1100" spc="-60" dirty="0" err="1">
                <a:latin typeface="+mn-ea"/>
                <a:cs typeface="맑은 고딕"/>
              </a:rPr>
              <a:t>오픈소스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>
                <a:latin typeface="+mn-ea"/>
                <a:cs typeface="맑은 고딕"/>
              </a:rPr>
              <a:t>파일에서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60" dirty="0" smtClean="0">
                <a:latin typeface="+mn-ea"/>
                <a:cs typeface="맑은 고딕"/>
              </a:rPr>
              <a:t>빈번하게  </a:t>
            </a:r>
            <a:r>
              <a:rPr lang="ko-KR" altLang="en-US" sz="1100" spc="-75" dirty="0">
                <a:latin typeface="+mn-ea"/>
                <a:cs typeface="맑은 고딕"/>
              </a:rPr>
              <a:t>활용되</a:t>
            </a:r>
            <a:r>
              <a:rPr lang="ko-KR" altLang="en-US" sz="1100" spc="-70" dirty="0">
                <a:latin typeface="+mn-ea"/>
                <a:cs typeface="맑은 고딕"/>
              </a:rPr>
              <a:t>는</a:t>
            </a:r>
            <a:r>
              <a:rPr lang="ko-KR" altLang="en-US" sz="1100" spc="-105" dirty="0">
                <a:latin typeface="+mn-ea"/>
                <a:cs typeface="맑은 고딕"/>
              </a:rPr>
              <a:t> </a:t>
            </a:r>
            <a:r>
              <a:rPr lang="en-US" altLang="ko-KR" sz="1100" spc="-15" dirty="0">
                <a:latin typeface="+mn-ea"/>
                <a:cs typeface="맑은 고딕"/>
              </a:rPr>
              <a:t>Compl</a:t>
            </a:r>
            <a:r>
              <a:rPr lang="en-US" altLang="ko-KR" sz="1100" spc="-20" dirty="0">
                <a:latin typeface="+mn-ea"/>
                <a:cs typeface="맑은 고딕"/>
              </a:rPr>
              <a:t>ex</a:t>
            </a:r>
            <a:r>
              <a:rPr lang="ko-KR" altLang="en-US" sz="1100" spc="-130" dirty="0">
                <a:latin typeface="+mn-ea"/>
                <a:cs typeface="맑은 고딕"/>
              </a:rPr>
              <a:t> </a:t>
            </a:r>
            <a:r>
              <a:rPr lang="en-US" altLang="ko-KR" sz="1100" spc="-135" dirty="0">
                <a:latin typeface="+mn-ea"/>
                <a:cs typeface="맑은 고딕"/>
              </a:rPr>
              <a:t>T</a:t>
            </a:r>
            <a:r>
              <a:rPr lang="en-US" altLang="ko-KR" sz="1100" spc="-105" dirty="0">
                <a:latin typeface="+mn-ea"/>
                <a:cs typeface="맑은 고딕"/>
              </a:rPr>
              <a:t>y</a:t>
            </a:r>
            <a:r>
              <a:rPr lang="en-US" altLang="ko-KR" sz="1100" spc="-15" dirty="0">
                <a:latin typeface="+mn-ea"/>
                <a:cs typeface="맑은 고딕"/>
              </a:rPr>
              <a:t>pe</a:t>
            </a:r>
            <a:r>
              <a:rPr lang="ko-KR" altLang="en-US" sz="1100" spc="-155" dirty="0">
                <a:latin typeface="+mn-ea"/>
                <a:cs typeface="맑은 고딕"/>
              </a:rPr>
              <a:t> </a:t>
            </a:r>
            <a:r>
              <a:rPr lang="ko-KR" altLang="en-US" sz="1100" spc="-40" dirty="0">
                <a:latin typeface="+mn-ea"/>
                <a:cs typeface="맑은 고딕"/>
              </a:rPr>
              <a:t>을  </a:t>
            </a:r>
            <a:r>
              <a:rPr lang="ko-KR" altLang="en-US" sz="1100" spc="-75" dirty="0">
                <a:latin typeface="+mn-ea"/>
                <a:cs typeface="맑은 고딕"/>
              </a:rPr>
              <a:t>완벽하게</a:t>
            </a:r>
            <a:r>
              <a:rPr lang="ko-KR" altLang="en-US" sz="1100" spc="-100" dirty="0">
                <a:latin typeface="+mn-ea"/>
                <a:cs typeface="맑은 고딕"/>
              </a:rPr>
              <a:t> </a:t>
            </a:r>
            <a:r>
              <a:rPr lang="ko-KR" altLang="en-US" sz="1100" spc="-75" dirty="0" smtClean="0">
                <a:latin typeface="+mn-ea"/>
                <a:cs typeface="맑은 고딕"/>
              </a:rPr>
              <a:t>지원</a:t>
            </a:r>
            <a:endParaRPr lang="ko-KR" altLang="en-US" sz="1100" dirty="0">
              <a:latin typeface="+mn-ea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449138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</TotalTime>
  <Words>312</Words>
  <Application>Microsoft Office PowerPoint</Application>
  <PresentationFormat>사용자 지정</PresentationFormat>
  <Paragraphs>32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맑은 고딕</vt:lpstr>
      <vt:lpstr>Arial</vt:lpstr>
      <vt:lpstr>Calibri</vt:lpstr>
      <vt:lpstr>Calibri Light</vt:lpstr>
      <vt:lpstr>Courier New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SOO</dc:creator>
  <cp:lastModifiedBy>SOO</cp:lastModifiedBy>
  <cp:revision>6</cp:revision>
  <dcterms:created xsi:type="dcterms:W3CDTF">2026-04-17T01:43:36Z</dcterms:created>
  <dcterms:modified xsi:type="dcterms:W3CDTF">2026-04-17T02:20:06Z</dcterms:modified>
</cp:coreProperties>
</file>