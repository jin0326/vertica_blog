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720263" cy="8999538"/>
  <p:notesSz cx="6858000" cy="9144000"/>
  <p:defaultTextStyle>
    <a:defPPr>
      <a:defRPr lang="ko-KR"/>
    </a:defPPr>
    <a:lvl1pPr marL="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1pPr>
    <a:lvl2pPr marL="53483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2pPr>
    <a:lvl3pPr marL="106966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3pPr>
    <a:lvl4pPr marL="160449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4pPr>
    <a:lvl5pPr marL="213933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5pPr>
    <a:lvl6pPr marL="267416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6pPr>
    <a:lvl7pPr marL="320899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7pPr>
    <a:lvl8pPr marL="374382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8pPr>
    <a:lvl9pPr marL="427866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472842"/>
            <a:ext cx="8262224" cy="3133172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4726842"/>
            <a:ext cx="7290197" cy="2172804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46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67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243638"/>
            <a:ext cx="8383727" cy="3743557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6022610"/>
            <a:ext cx="8383727" cy="196864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/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83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79144"/>
            <a:ext cx="8383727" cy="173949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206137"/>
            <a:ext cx="4112126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3287331"/>
            <a:ext cx="4112126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206137"/>
            <a:ext cx="4132378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3287331"/>
            <a:ext cx="4132378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2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35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70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295769"/>
            <a:ext cx="4920883" cy="6395505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81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295769"/>
            <a:ext cx="4920883" cy="6395505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58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2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479142"/>
            <a:ext cx="2095932" cy="762669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479142"/>
            <a:ext cx="6166292" cy="762669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479144"/>
            <a:ext cx="838372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2395710"/>
            <a:ext cx="838372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46140-E90A-48B1-9E02-0E867CD1ADA8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8341240"/>
            <a:ext cx="328058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01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2007" rtl="0" eaLnBrk="1" latinLnBrk="1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1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52400" y="125187"/>
            <a:ext cx="2062617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란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무엇인가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1471" y="556986"/>
            <a:ext cx="9312729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데이터 수집부터 분석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시각화에 이르는 전 과정을 통합한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현대적인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아키텍처를 제공합니다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object 18"/>
          <p:cNvSpPr txBox="1"/>
          <p:nvPr/>
        </p:nvSpPr>
        <p:spPr>
          <a:xfrm>
            <a:off x="516056" y="2699524"/>
            <a:ext cx="212925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500" b="1" spc="25" dirty="0">
                <a:latin typeface="+mn-ea"/>
                <a:cs typeface="맑은 고딕"/>
              </a:rPr>
              <a:t>SQL Data Warehouse</a:t>
            </a:r>
            <a:endParaRPr sz="1500" dirty="0">
              <a:latin typeface="+mn-ea"/>
              <a:cs typeface="맑은 고딕"/>
            </a:endParaRPr>
          </a:p>
        </p:txBody>
      </p:sp>
      <p:pic>
        <p:nvPicPr>
          <p:cNvPr id="11" name="object 7"/>
          <p:cNvPicPr/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50683" y="1179280"/>
            <a:ext cx="1260000" cy="1260000"/>
          </a:xfrm>
          <a:prstGeom prst="rect">
            <a:avLst/>
          </a:prstGeom>
          <a:ln>
            <a:noFill/>
          </a:ln>
        </p:spPr>
      </p:pic>
      <p:sp>
        <p:nvSpPr>
          <p:cNvPr id="16" name="object 9"/>
          <p:cNvSpPr txBox="1"/>
          <p:nvPr/>
        </p:nvSpPr>
        <p:spPr>
          <a:xfrm>
            <a:off x="140683" y="3204067"/>
            <a:ext cx="2880000" cy="1406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100" spc="-20" dirty="0">
                <a:latin typeface="+mn-ea"/>
                <a:cs typeface="맑은 고딕"/>
              </a:rPr>
              <a:t>MP</a:t>
            </a:r>
            <a:r>
              <a:rPr sz="1100" spc="-50" dirty="0">
                <a:latin typeface="+mn-ea"/>
                <a:cs typeface="맑은 고딕"/>
              </a:rPr>
              <a:t>P</a:t>
            </a:r>
            <a:r>
              <a:rPr sz="1100" spc="-95" dirty="0">
                <a:latin typeface="+mn-ea"/>
                <a:cs typeface="맑은 고딕"/>
              </a:rPr>
              <a:t> </a:t>
            </a:r>
            <a:r>
              <a:rPr sz="1100" spc="-80" dirty="0">
                <a:latin typeface="+mn-ea"/>
                <a:cs typeface="맑은 고딕"/>
              </a:rPr>
              <a:t>+</a:t>
            </a:r>
            <a:r>
              <a:rPr sz="1100" spc="-95" dirty="0">
                <a:latin typeface="+mn-ea"/>
                <a:cs typeface="맑은 고딕"/>
              </a:rPr>
              <a:t> </a:t>
            </a:r>
            <a:r>
              <a:rPr sz="1100" spc="-5" dirty="0">
                <a:latin typeface="+mn-ea"/>
                <a:cs typeface="맑은 고딕"/>
              </a:rPr>
              <a:t>Colu</a:t>
            </a:r>
            <a:r>
              <a:rPr sz="1100" spc="-15" dirty="0">
                <a:latin typeface="+mn-ea"/>
                <a:cs typeface="맑은 고딕"/>
              </a:rPr>
              <a:t>m</a:t>
            </a:r>
            <a:r>
              <a:rPr sz="1100" spc="-5" dirty="0">
                <a:latin typeface="+mn-ea"/>
                <a:cs typeface="맑은 고딕"/>
              </a:rPr>
              <a:t>n</a:t>
            </a:r>
            <a:r>
              <a:rPr sz="1100" dirty="0">
                <a:latin typeface="+mn-ea"/>
                <a:cs typeface="맑은 고딕"/>
              </a:rPr>
              <a:t>a</a:t>
            </a:r>
            <a:r>
              <a:rPr sz="1100" spc="-40" dirty="0">
                <a:latin typeface="+mn-ea"/>
                <a:cs typeface="맑은 고딕"/>
              </a:rPr>
              <a:t>r</a:t>
            </a:r>
            <a:r>
              <a:rPr sz="1100" spc="-100" dirty="0">
                <a:latin typeface="+mn-ea"/>
                <a:cs typeface="맑은 고딕"/>
              </a:rPr>
              <a:t> </a:t>
            </a:r>
            <a:r>
              <a:rPr sz="1100" spc="-75" dirty="0">
                <a:latin typeface="+mn-ea"/>
                <a:cs typeface="맑은 고딕"/>
              </a:rPr>
              <a:t>아키텍처를</a:t>
            </a:r>
            <a:r>
              <a:rPr sz="1100" spc="-95" dirty="0">
                <a:latin typeface="+mn-ea"/>
                <a:cs typeface="맑은 고딕"/>
              </a:rPr>
              <a:t> </a:t>
            </a:r>
            <a:r>
              <a:rPr sz="1100" spc="-75" dirty="0">
                <a:latin typeface="+mn-ea"/>
                <a:cs typeface="맑은 고딕"/>
              </a:rPr>
              <a:t>통해</a:t>
            </a:r>
            <a:r>
              <a:rPr sz="1100" spc="-100" dirty="0">
                <a:latin typeface="+mn-ea"/>
                <a:cs typeface="맑은 고딕"/>
              </a:rPr>
              <a:t> </a:t>
            </a:r>
            <a:r>
              <a:rPr sz="1100" spc="-70" dirty="0">
                <a:latin typeface="+mn-ea"/>
                <a:cs typeface="맑은 고딕"/>
              </a:rPr>
              <a:t>대용량  데이터</a:t>
            </a:r>
            <a:r>
              <a:rPr sz="1100" spc="-135" dirty="0">
                <a:latin typeface="+mn-ea"/>
                <a:cs typeface="맑은 고딕"/>
              </a:rPr>
              <a:t> </a:t>
            </a:r>
            <a:r>
              <a:rPr sz="1100" spc="-85" dirty="0" err="1">
                <a:latin typeface="+mn-ea"/>
                <a:cs typeface="맑은 고딕"/>
              </a:rPr>
              <a:t>분석</a:t>
            </a:r>
            <a:r>
              <a:rPr sz="1100" spc="-75" dirty="0" err="1">
                <a:latin typeface="+mn-ea"/>
                <a:cs typeface="맑은 고딕"/>
              </a:rPr>
              <a:t>에</a:t>
            </a:r>
            <a:r>
              <a:rPr sz="1100" spc="-100" dirty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최적화</a:t>
            </a:r>
            <a:endParaRPr lang="en-US" sz="1100" dirty="0">
              <a:latin typeface="+mn-ea"/>
              <a:cs typeface="맑은 고딕"/>
            </a:endParaRPr>
          </a:p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100" dirty="0" smtClean="0">
                <a:latin typeface="+mn-ea"/>
                <a:cs typeface="맑은 고딕"/>
              </a:rPr>
              <a:t>On</a:t>
            </a:r>
            <a:r>
              <a:rPr sz="1100" spc="-70" dirty="0" smtClean="0">
                <a:latin typeface="+mn-ea"/>
                <a:cs typeface="맑은 고딕"/>
              </a:rPr>
              <a:t>-</a:t>
            </a:r>
            <a:r>
              <a:rPr sz="1100" spc="-25" dirty="0" smtClean="0">
                <a:latin typeface="+mn-ea"/>
                <a:cs typeface="맑은 고딕"/>
              </a:rPr>
              <a:t>p</a:t>
            </a:r>
            <a:r>
              <a:rPr sz="1100" spc="-45" dirty="0" smtClean="0">
                <a:latin typeface="+mn-ea"/>
                <a:cs typeface="맑은 고딕"/>
              </a:rPr>
              <a:t>r</a:t>
            </a:r>
            <a:r>
              <a:rPr sz="1100" spc="-10" dirty="0" smtClean="0">
                <a:latin typeface="+mn-ea"/>
                <a:cs typeface="맑은 고딕"/>
              </a:rPr>
              <a:t>e</a:t>
            </a:r>
            <a:r>
              <a:rPr sz="1100" spc="-40" dirty="0" smtClean="0">
                <a:latin typeface="+mn-ea"/>
                <a:cs typeface="맑은 고딕"/>
              </a:rPr>
              <a:t>mi</a:t>
            </a:r>
            <a:r>
              <a:rPr sz="1100" spc="-35" dirty="0" smtClean="0">
                <a:latin typeface="+mn-ea"/>
                <a:cs typeface="맑은 고딕"/>
              </a:rPr>
              <a:t>s</a:t>
            </a:r>
            <a:r>
              <a:rPr sz="1100" spc="-10" dirty="0" smtClean="0">
                <a:latin typeface="+mn-ea"/>
                <a:cs typeface="맑은 고딕"/>
              </a:rPr>
              <a:t>e</a:t>
            </a:r>
            <a:r>
              <a:rPr sz="1100" spc="-95" dirty="0" smtClean="0">
                <a:latin typeface="+mn-ea"/>
                <a:cs typeface="맑은 고딕"/>
              </a:rPr>
              <a:t> </a:t>
            </a:r>
            <a:r>
              <a:rPr sz="1100" spc="-80" dirty="0">
                <a:latin typeface="+mn-ea"/>
                <a:cs typeface="맑은 고딕"/>
              </a:rPr>
              <a:t>/</a:t>
            </a:r>
            <a:r>
              <a:rPr sz="1100" spc="-95" dirty="0">
                <a:latin typeface="+mn-ea"/>
                <a:cs typeface="맑은 고딕"/>
              </a:rPr>
              <a:t> P</a:t>
            </a:r>
            <a:r>
              <a:rPr sz="1100" spc="-5" dirty="0">
                <a:latin typeface="+mn-ea"/>
                <a:cs typeface="맑은 고딕"/>
              </a:rPr>
              <a:t>u</a:t>
            </a:r>
            <a:r>
              <a:rPr sz="1100" spc="-25" dirty="0">
                <a:latin typeface="+mn-ea"/>
                <a:cs typeface="맑은 고딕"/>
              </a:rPr>
              <a:t>b</a:t>
            </a:r>
            <a:r>
              <a:rPr sz="1100" spc="-40" dirty="0">
                <a:latin typeface="+mn-ea"/>
                <a:cs typeface="맑은 고딕"/>
              </a:rPr>
              <a:t>l</a:t>
            </a:r>
            <a:r>
              <a:rPr sz="1100" spc="-45" dirty="0">
                <a:latin typeface="+mn-ea"/>
                <a:cs typeface="맑은 고딕"/>
              </a:rPr>
              <a:t>i</a:t>
            </a:r>
            <a:r>
              <a:rPr sz="1100" spc="-5" dirty="0">
                <a:latin typeface="+mn-ea"/>
                <a:cs typeface="맑은 고딕"/>
              </a:rPr>
              <a:t>c</a:t>
            </a:r>
            <a:r>
              <a:rPr sz="1100" spc="-114" dirty="0">
                <a:latin typeface="+mn-ea"/>
                <a:cs typeface="맑은 고딕"/>
              </a:rPr>
              <a:t> </a:t>
            </a:r>
            <a:r>
              <a:rPr sz="1100" dirty="0">
                <a:latin typeface="+mn-ea"/>
                <a:cs typeface="맑은 고딕"/>
              </a:rPr>
              <a:t>C</a:t>
            </a:r>
            <a:r>
              <a:rPr sz="1100" spc="-5" dirty="0">
                <a:latin typeface="+mn-ea"/>
                <a:cs typeface="맑은 고딕"/>
              </a:rPr>
              <a:t>l</a:t>
            </a:r>
            <a:r>
              <a:rPr sz="1100" spc="-20" dirty="0">
                <a:latin typeface="+mn-ea"/>
                <a:cs typeface="맑은 고딕"/>
              </a:rPr>
              <a:t>o</a:t>
            </a:r>
            <a:r>
              <a:rPr sz="1100" spc="-5" dirty="0">
                <a:latin typeface="+mn-ea"/>
                <a:cs typeface="맑은 고딕"/>
              </a:rPr>
              <a:t>u</a:t>
            </a:r>
            <a:r>
              <a:rPr sz="1100" spc="-25" dirty="0">
                <a:latin typeface="+mn-ea"/>
                <a:cs typeface="맑은 고딕"/>
              </a:rPr>
              <a:t>d</a:t>
            </a:r>
            <a:r>
              <a:rPr sz="1100" spc="-95" dirty="0">
                <a:latin typeface="+mn-ea"/>
                <a:cs typeface="맑은 고딕"/>
              </a:rPr>
              <a:t> </a:t>
            </a:r>
            <a:r>
              <a:rPr sz="1100" spc="-80" dirty="0">
                <a:latin typeface="+mn-ea"/>
                <a:cs typeface="맑은 고딕"/>
              </a:rPr>
              <a:t>/</a:t>
            </a:r>
            <a:r>
              <a:rPr sz="1100" spc="-85" dirty="0">
                <a:latin typeface="+mn-ea"/>
                <a:cs typeface="맑은 고딕"/>
              </a:rPr>
              <a:t> </a:t>
            </a:r>
            <a:r>
              <a:rPr sz="1100" spc="-50" dirty="0">
                <a:latin typeface="+mn-ea"/>
                <a:cs typeface="맑은 고딕"/>
              </a:rPr>
              <a:t>P</a:t>
            </a:r>
            <a:r>
              <a:rPr sz="1100" spc="-45" dirty="0">
                <a:latin typeface="+mn-ea"/>
                <a:cs typeface="맑은 고딕"/>
              </a:rPr>
              <a:t>r</a:t>
            </a:r>
            <a:r>
              <a:rPr sz="1100" spc="-35" dirty="0">
                <a:latin typeface="+mn-ea"/>
                <a:cs typeface="맑은 고딕"/>
              </a:rPr>
              <a:t>i</a:t>
            </a:r>
            <a:r>
              <a:rPr sz="1100" spc="-80" dirty="0">
                <a:latin typeface="+mn-ea"/>
                <a:cs typeface="맑은 고딕"/>
              </a:rPr>
              <a:t>v</a:t>
            </a:r>
            <a:r>
              <a:rPr sz="1100" dirty="0">
                <a:latin typeface="+mn-ea"/>
                <a:cs typeface="맑은 고딕"/>
              </a:rPr>
              <a:t>a</a:t>
            </a:r>
            <a:r>
              <a:rPr sz="1100" spc="-35" dirty="0">
                <a:latin typeface="+mn-ea"/>
                <a:cs typeface="맑은 고딕"/>
              </a:rPr>
              <a:t>t</a:t>
            </a:r>
            <a:r>
              <a:rPr sz="1100" spc="-10" dirty="0">
                <a:latin typeface="+mn-ea"/>
                <a:cs typeface="맑은 고딕"/>
              </a:rPr>
              <a:t>e</a:t>
            </a:r>
            <a:r>
              <a:rPr sz="1100" spc="-110" dirty="0">
                <a:latin typeface="+mn-ea"/>
                <a:cs typeface="맑은 고딕"/>
              </a:rPr>
              <a:t> </a:t>
            </a:r>
            <a:r>
              <a:rPr sz="1100" dirty="0" smtClean="0">
                <a:latin typeface="+mn-ea"/>
                <a:cs typeface="맑은 고딕"/>
              </a:rPr>
              <a:t>C</a:t>
            </a:r>
            <a:r>
              <a:rPr sz="1100" spc="-5" dirty="0" smtClean="0">
                <a:latin typeface="+mn-ea"/>
                <a:cs typeface="맑은 고딕"/>
              </a:rPr>
              <a:t>l</a:t>
            </a:r>
            <a:r>
              <a:rPr sz="1100" spc="-20" dirty="0" smtClean="0">
                <a:latin typeface="+mn-ea"/>
                <a:cs typeface="맑은 고딕"/>
              </a:rPr>
              <a:t>o</a:t>
            </a:r>
            <a:r>
              <a:rPr sz="1100" spc="-5" dirty="0" smtClean="0">
                <a:latin typeface="+mn-ea"/>
                <a:cs typeface="맑은 고딕"/>
              </a:rPr>
              <a:t>u</a:t>
            </a:r>
            <a:r>
              <a:rPr sz="1100" spc="-25" dirty="0" smtClean="0">
                <a:latin typeface="+mn-ea"/>
                <a:cs typeface="맑은 고딕"/>
              </a:rPr>
              <a:t>d</a:t>
            </a:r>
            <a:r>
              <a:rPr lang="en-US" sz="1100" spc="-25" dirty="0" smtClean="0">
                <a:latin typeface="+mn-ea"/>
                <a:cs typeface="맑은 고딕"/>
              </a:rPr>
              <a:t> </a:t>
            </a:r>
            <a:r>
              <a:rPr sz="1100" spc="-80" dirty="0" smtClean="0">
                <a:latin typeface="+mn-ea"/>
                <a:cs typeface="맑은 고딕"/>
              </a:rPr>
              <a:t>/</a:t>
            </a:r>
            <a:r>
              <a:rPr sz="1100" spc="-85" dirty="0" smtClean="0">
                <a:latin typeface="+mn-ea"/>
                <a:cs typeface="맑은 고딕"/>
              </a:rPr>
              <a:t> </a:t>
            </a:r>
            <a:r>
              <a:rPr sz="1100" spc="-20" dirty="0" smtClean="0">
                <a:latin typeface="+mn-ea"/>
                <a:cs typeface="맑은 고딕"/>
              </a:rPr>
              <a:t>k8s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70" dirty="0" smtClean="0">
                <a:latin typeface="+mn-ea"/>
                <a:cs typeface="맑은 고딕"/>
              </a:rPr>
              <a:t>등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85" dirty="0" err="1" smtClean="0">
                <a:latin typeface="+mn-ea"/>
                <a:cs typeface="맑은 고딕"/>
              </a:rPr>
              <a:t>어</a:t>
            </a:r>
            <a:r>
              <a:rPr sz="1100" spc="-80" dirty="0" err="1" smtClean="0">
                <a:latin typeface="+mn-ea"/>
                <a:cs typeface="맑은 고딕"/>
              </a:rPr>
              <a:t>떤</a:t>
            </a:r>
            <a:r>
              <a:rPr sz="1100" spc="-125" dirty="0" smtClean="0">
                <a:latin typeface="+mn-ea"/>
                <a:cs typeface="맑은 고딕"/>
              </a:rPr>
              <a:t> </a:t>
            </a:r>
            <a:r>
              <a:rPr sz="1100" spc="-85" dirty="0" err="1" smtClean="0">
                <a:latin typeface="+mn-ea"/>
                <a:cs typeface="맑은 고딕"/>
              </a:rPr>
              <a:t>인프</a:t>
            </a:r>
            <a:r>
              <a:rPr sz="1100" spc="-80" dirty="0" err="1" smtClean="0">
                <a:latin typeface="+mn-ea"/>
                <a:cs typeface="맑은 고딕"/>
              </a:rPr>
              <a:t>라</a:t>
            </a:r>
            <a:r>
              <a:rPr sz="1100" spc="-135" dirty="0" smtClean="0">
                <a:latin typeface="+mn-ea"/>
                <a:cs typeface="맑은 고딕"/>
              </a:rPr>
              <a:t> </a:t>
            </a:r>
            <a:r>
              <a:rPr sz="1100" spc="-85" dirty="0" err="1" smtClean="0">
                <a:latin typeface="+mn-ea"/>
                <a:cs typeface="맑은 고딕"/>
              </a:rPr>
              <a:t>환</a:t>
            </a:r>
            <a:r>
              <a:rPr sz="1100" spc="-80" dirty="0" err="1" smtClean="0">
                <a:latin typeface="+mn-ea"/>
                <a:cs typeface="맑은 고딕"/>
              </a:rPr>
              <a:t>경</a:t>
            </a:r>
            <a:r>
              <a:rPr sz="1100" spc="-125" dirty="0" smtClean="0">
                <a:latin typeface="+mn-ea"/>
                <a:cs typeface="맑은 고딕"/>
              </a:rPr>
              <a:t> </a:t>
            </a:r>
            <a:r>
              <a:rPr sz="1100" spc="-70" dirty="0" err="1" smtClean="0">
                <a:latin typeface="+mn-ea"/>
                <a:cs typeface="맑은 고딕"/>
              </a:rPr>
              <a:t>에서도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배</a:t>
            </a:r>
            <a:r>
              <a:rPr sz="1100" spc="-70" dirty="0" err="1" smtClean="0">
                <a:latin typeface="+mn-ea"/>
                <a:cs typeface="맑은 고딕"/>
              </a:rPr>
              <a:t>포</a:t>
            </a:r>
            <a:r>
              <a:rPr sz="1100" spc="-105" dirty="0" smtClean="0">
                <a:latin typeface="+mn-ea"/>
                <a:cs typeface="맑은 고딕"/>
              </a:rPr>
              <a:t> </a:t>
            </a:r>
            <a:r>
              <a:rPr sz="1100" spc="-70" dirty="0" smtClean="0">
                <a:latin typeface="+mn-ea"/>
                <a:cs typeface="맑은 고딕"/>
              </a:rPr>
              <a:t>및</a:t>
            </a:r>
            <a:r>
              <a:rPr lang="en-US" sz="1100" dirty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운영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지원</a:t>
            </a:r>
            <a:endParaRPr lang="en-US" sz="11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100" spc="-330" dirty="0" smtClean="0">
                <a:latin typeface="+mn-ea"/>
                <a:cs typeface="Courier New"/>
              </a:rPr>
              <a:t> </a:t>
            </a:r>
            <a:r>
              <a:rPr lang="en-US" altLang="ko-KR" sz="1100" spc="-55" dirty="0">
                <a:latin typeface="+mn-ea"/>
                <a:cs typeface="맑은 고딕"/>
              </a:rPr>
              <a:t>I/O</a:t>
            </a:r>
            <a:r>
              <a:rPr lang="ko-KR" altLang="en-US" sz="1100" spc="-114" dirty="0">
                <a:latin typeface="+mn-ea"/>
                <a:cs typeface="맑은 고딕"/>
              </a:rPr>
              <a:t> </a:t>
            </a:r>
            <a:r>
              <a:rPr lang="ko-KR" altLang="en-US" sz="1100" spc="-85" dirty="0">
                <a:latin typeface="+mn-ea"/>
                <a:cs typeface="맑은 고딕"/>
              </a:rPr>
              <a:t>최적화</a:t>
            </a:r>
            <a:r>
              <a:rPr lang="ko-KR" altLang="en-US" sz="1100" spc="-135" dirty="0">
                <a:latin typeface="+mn-ea"/>
                <a:cs typeface="맑은 고딕"/>
              </a:rPr>
              <a:t> </a:t>
            </a:r>
            <a:r>
              <a:rPr lang="ko-KR" altLang="en-US" sz="1100" spc="-85" dirty="0">
                <a:latin typeface="+mn-ea"/>
                <a:cs typeface="맑은 고딕"/>
              </a:rPr>
              <a:t>아키텍처</a:t>
            </a:r>
            <a:r>
              <a:rPr lang="ko-KR" altLang="en-US" sz="1100" spc="-75" dirty="0">
                <a:latin typeface="+mn-ea"/>
                <a:cs typeface="맑은 고딕"/>
              </a:rPr>
              <a:t>로</a:t>
            </a:r>
            <a:r>
              <a:rPr lang="ko-KR" altLang="en-US" sz="1100" spc="-11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전통적인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en-US" altLang="ko-KR" sz="1100" spc="-25" dirty="0" smtClean="0">
                <a:latin typeface="+mn-ea"/>
                <a:cs typeface="맑은 고딕"/>
              </a:rPr>
              <a:t>D</a:t>
            </a:r>
            <a:r>
              <a:rPr lang="en-US" altLang="ko-KR" sz="1100" spc="20" dirty="0" smtClean="0">
                <a:latin typeface="+mn-ea"/>
                <a:cs typeface="맑은 고딕"/>
              </a:rPr>
              <a:t>W</a:t>
            </a:r>
            <a:r>
              <a:rPr lang="ko-KR" altLang="en-US" sz="1100" dirty="0" smtClean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환경보다</a:t>
            </a:r>
            <a:r>
              <a:rPr lang="ko-KR" altLang="en-US" sz="1100" spc="-100" dirty="0" smtClean="0">
                <a:latin typeface="+mn-ea"/>
                <a:cs typeface="맑은 고딕"/>
              </a:rPr>
              <a:t> </a:t>
            </a:r>
            <a:r>
              <a:rPr lang="en-US" altLang="ko-KR" sz="1100" spc="30" dirty="0">
                <a:latin typeface="+mn-ea"/>
                <a:cs typeface="맑은 고딕"/>
              </a:rPr>
              <a:t>10</a:t>
            </a:r>
            <a:r>
              <a:rPr lang="en-US" altLang="ko-KR" sz="1100" spc="-70" dirty="0">
                <a:latin typeface="+mn-ea"/>
                <a:cs typeface="맑은 고딕"/>
              </a:rPr>
              <a:t>-</a:t>
            </a:r>
            <a:r>
              <a:rPr lang="en-US" altLang="ko-KR" sz="1100" spc="30" dirty="0">
                <a:latin typeface="+mn-ea"/>
                <a:cs typeface="맑은 고딕"/>
              </a:rPr>
              <a:t>50</a:t>
            </a:r>
            <a:r>
              <a:rPr lang="ko-KR" altLang="en-US" sz="1100" spc="-75" dirty="0">
                <a:latin typeface="+mn-ea"/>
                <a:cs typeface="맑은 고딕"/>
              </a:rPr>
              <a:t>배</a:t>
            </a:r>
            <a:r>
              <a:rPr lang="ko-KR" altLang="en-US" sz="1100" spc="-11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이상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빠른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처리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성능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제공</a:t>
            </a:r>
            <a:endParaRPr lang="en-US" altLang="ko-KR" sz="1100" spc="-75" dirty="0" smtClean="0">
              <a:latin typeface="+mn-ea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ko-KR" altLang="en-US" sz="1100" dirty="0">
              <a:latin typeface="+mn-ea"/>
              <a:cs typeface="맑은 고딕"/>
            </a:endParaRPr>
          </a:p>
        </p:txBody>
      </p:sp>
      <p:sp>
        <p:nvSpPr>
          <p:cNvPr id="9" name="object 18"/>
          <p:cNvSpPr txBox="1"/>
          <p:nvPr/>
        </p:nvSpPr>
        <p:spPr>
          <a:xfrm>
            <a:off x="3410947" y="2707644"/>
            <a:ext cx="2892462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500" b="1" spc="25" dirty="0">
                <a:latin typeface="+mn-ea"/>
                <a:cs typeface="맑은 고딕"/>
              </a:rPr>
              <a:t>Analytics &amp; Machine Learning</a:t>
            </a:r>
            <a:endParaRPr sz="1500" dirty="0">
              <a:latin typeface="+mn-ea"/>
              <a:cs typeface="맑은 고딕"/>
            </a:endParaRPr>
          </a:p>
        </p:txBody>
      </p:sp>
      <p:pic>
        <p:nvPicPr>
          <p:cNvPr id="13" name="object 14"/>
          <p:cNvPicPr/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27178" y="1221260"/>
            <a:ext cx="1260000" cy="1260000"/>
          </a:xfrm>
          <a:prstGeom prst="rect">
            <a:avLst/>
          </a:prstGeom>
          <a:ln>
            <a:noFill/>
          </a:ln>
        </p:spPr>
      </p:pic>
      <p:sp>
        <p:nvSpPr>
          <p:cNvPr id="18" name="object 19"/>
          <p:cNvSpPr txBox="1"/>
          <p:nvPr/>
        </p:nvSpPr>
        <p:spPr>
          <a:xfrm>
            <a:off x="3417178" y="3207354"/>
            <a:ext cx="2880000" cy="1406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100" spc="-85" dirty="0" err="1" smtClean="0">
                <a:latin typeface="+mn-ea"/>
                <a:cs typeface="맑은 고딕"/>
              </a:rPr>
              <a:t>페</a:t>
            </a:r>
            <a:r>
              <a:rPr sz="1100" spc="-80" dirty="0" err="1" smtClean="0">
                <a:latin typeface="+mn-ea"/>
                <a:cs typeface="맑은 고딕"/>
              </a:rPr>
              <a:t>타</a:t>
            </a:r>
            <a:r>
              <a:rPr sz="1100" spc="-125" dirty="0" smtClean="0">
                <a:latin typeface="+mn-ea"/>
                <a:cs typeface="맑은 고딕"/>
              </a:rPr>
              <a:t> </a:t>
            </a:r>
            <a:r>
              <a:rPr sz="1100" spc="-85" dirty="0" err="1">
                <a:latin typeface="+mn-ea"/>
                <a:cs typeface="맑은 고딕"/>
              </a:rPr>
              <a:t>바이</a:t>
            </a:r>
            <a:r>
              <a:rPr sz="1100" spc="-80" dirty="0" err="1">
                <a:latin typeface="+mn-ea"/>
                <a:cs typeface="맑은 고딕"/>
              </a:rPr>
              <a:t>트</a:t>
            </a:r>
            <a:r>
              <a:rPr sz="1100" spc="-135" dirty="0">
                <a:latin typeface="+mn-ea"/>
                <a:cs typeface="맑은 고딕"/>
              </a:rPr>
              <a:t> </a:t>
            </a:r>
            <a:r>
              <a:rPr sz="1100" spc="-85" dirty="0" err="1" smtClean="0">
                <a:latin typeface="+mn-ea"/>
                <a:cs typeface="맑은 고딕"/>
              </a:rPr>
              <a:t>규모</a:t>
            </a:r>
            <a:r>
              <a:rPr sz="1100" spc="-75" dirty="0" err="1" smtClean="0">
                <a:latin typeface="+mn-ea"/>
                <a:cs typeface="맑은 고딕"/>
              </a:rPr>
              <a:t>의</a:t>
            </a:r>
            <a:r>
              <a:rPr lang="en-US" sz="1100" spc="-75" dirty="0" smtClean="0">
                <a:latin typeface="+mn-ea"/>
                <a:cs typeface="맑은 고딕"/>
              </a:rPr>
              <a:t> </a:t>
            </a:r>
            <a:r>
              <a:rPr sz="1100" spc="-35" dirty="0" smtClean="0">
                <a:latin typeface="+mn-ea"/>
                <a:cs typeface="맑은 고딕"/>
              </a:rPr>
              <a:t>I</a:t>
            </a:r>
            <a:r>
              <a:rPr sz="1100" spc="-60" dirty="0" smtClean="0">
                <a:latin typeface="+mn-ea"/>
                <a:cs typeface="맑은 고딕"/>
              </a:rPr>
              <a:t>n</a:t>
            </a:r>
            <a:r>
              <a:rPr sz="1100" spc="-70" dirty="0" smtClean="0">
                <a:latin typeface="+mn-ea"/>
                <a:cs typeface="맑은 고딕"/>
              </a:rPr>
              <a:t>-</a:t>
            </a:r>
            <a:r>
              <a:rPr sz="1100" spc="-25" dirty="0" smtClean="0">
                <a:latin typeface="+mn-ea"/>
                <a:cs typeface="맑은 고딕"/>
              </a:rPr>
              <a:t>D</a:t>
            </a:r>
            <a:r>
              <a:rPr sz="1100" dirty="0" smtClean="0">
                <a:latin typeface="+mn-ea"/>
                <a:cs typeface="맑은 고딕"/>
              </a:rPr>
              <a:t>a</a:t>
            </a:r>
            <a:r>
              <a:rPr sz="1100" spc="-35" dirty="0" smtClean="0">
                <a:latin typeface="+mn-ea"/>
                <a:cs typeface="맑은 고딕"/>
              </a:rPr>
              <a:t>t</a:t>
            </a:r>
            <a:r>
              <a:rPr sz="1100" dirty="0" smtClean="0">
                <a:latin typeface="+mn-ea"/>
                <a:cs typeface="맑은 고딕"/>
              </a:rPr>
              <a:t>a</a:t>
            </a:r>
            <a:r>
              <a:rPr sz="1100" spc="-25" dirty="0" smtClean="0">
                <a:latin typeface="+mn-ea"/>
                <a:cs typeface="맑은 고딕"/>
              </a:rPr>
              <a:t>b</a:t>
            </a:r>
            <a:r>
              <a:rPr sz="1100" dirty="0" smtClean="0">
                <a:latin typeface="+mn-ea"/>
                <a:cs typeface="맑은 고딕"/>
              </a:rPr>
              <a:t>a</a:t>
            </a:r>
            <a:r>
              <a:rPr sz="1100" spc="-55" dirty="0" smtClean="0">
                <a:latin typeface="+mn-ea"/>
                <a:cs typeface="맑은 고딕"/>
              </a:rPr>
              <a:t>s</a:t>
            </a:r>
            <a:r>
              <a:rPr sz="1100" spc="-10" dirty="0" smtClean="0">
                <a:latin typeface="+mn-ea"/>
                <a:cs typeface="맑은 고딕"/>
              </a:rPr>
              <a:t>e</a:t>
            </a:r>
            <a:r>
              <a:rPr sz="1100" spc="-110" dirty="0" smtClean="0">
                <a:latin typeface="+mn-ea"/>
                <a:cs typeface="맑은 고딕"/>
              </a:rPr>
              <a:t> </a:t>
            </a:r>
            <a:r>
              <a:rPr sz="1100" spc="5" dirty="0">
                <a:latin typeface="+mn-ea"/>
                <a:cs typeface="맑은 고딕"/>
              </a:rPr>
              <a:t>Ma</a:t>
            </a:r>
            <a:r>
              <a:rPr sz="1100" spc="-10" dirty="0">
                <a:latin typeface="+mn-ea"/>
                <a:cs typeface="맑은 고딕"/>
              </a:rPr>
              <a:t>c</a:t>
            </a:r>
            <a:r>
              <a:rPr sz="1100" spc="-5" dirty="0">
                <a:latin typeface="+mn-ea"/>
                <a:cs typeface="맑은 고딕"/>
              </a:rPr>
              <a:t>h</a:t>
            </a:r>
            <a:r>
              <a:rPr sz="1100" spc="-20" dirty="0">
                <a:latin typeface="+mn-ea"/>
                <a:cs typeface="맑은 고딕"/>
              </a:rPr>
              <a:t>ine</a:t>
            </a:r>
            <a:r>
              <a:rPr sz="1100" spc="-114" dirty="0">
                <a:latin typeface="+mn-ea"/>
                <a:cs typeface="맑은 고딕"/>
              </a:rPr>
              <a:t> </a:t>
            </a:r>
            <a:r>
              <a:rPr sz="1100" spc="-40" dirty="0">
                <a:latin typeface="+mn-ea"/>
                <a:cs typeface="맑은 고딕"/>
              </a:rPr>
              <a:t>L</a:t>
            </a:r>
            <a:r>
              <a:rPr sz="1100" spc="-10" dirty="0">
                <a:latin typeface="+mn-ea"/>
                <a:cs typeface="맑은 고딕"/>
              </a:rPr>
              <a:t>e</a:t>
            </a:r>
            <a:r>
              <a:rPr sz="1100" dirty="0">
                <a:latin typeface="+mn-ea"/>
                <a:cs typeface="맑은 고딕"/>
              </a:rPr>
              <a:t>a</a:t>
            </a:r>
            <a:r>
              <a:rPr sz="1100" spc="-45" dirty="0">
                <a:latin typeface="+mn-ea"/>
                <a:cs typeface="맑은 고딕"/>
              </a:rPr>
              <a:t>r</a:t>
            </a:r>
            <a:r>
              <a:rPr sz="1100" spc="-5" dirty="0">
                <a:latin typeface="+mn-ea"/>
                <a:cs typeface="맑은 고딕"/>
              </a:rPr>
              <a:t>n</a:t>
            </a:r>
            <a:r>
              <a:rPr sz="1100" spc="-25" dirty="0">
                <a:latin typeface="+mn-ea"/>
                <a:cs typeface="맑은 고딕"/>
              </a:rPr>
              <a:t>ing</a:t>
            </a:r>
            <a:r>
              <a:rPr sz="1100" spc="-110" dirty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지원</a:t>
            </a:r>
            <a:endParaRPr lang="en-US" sz="1100" spc="-75" dirty="0" smtClean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ko-KR" altLang="en-US" sz="1100" spc="-75" dirty="0" smtClean="0">
                <a:latin typeface="+mn-ea"/>
                <a:cs typeface="맑은 고딕"/>
              </a:rPr>
              <a:t>사용자에게</a:t>
            </a:r>
            <a:r>
              <a:rPr lang="ko-KR" altLang="en-US" sz="1100" spc="-100" dirty="0" smtClean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친숙한</a:t>
            </a:r>
            <a:r>
              <a:rPr lang="ko-KR" altLang="en-US" sz="1100" dirty="0" smtClean="0">
                <a:latin typeface="+mn-ea"/>
                <a:cs typeface="맑은 고딕"/>
              </a:rPr>
              <a:t> </a:t>
            </a:r>
            <a:r>
              <a:rPr lang="en-US" altLang="ko-KR" sz="1100" spc="-20" dirty="0" smtClean="0">
                <a:latin typeface="+mn-ea"/>
                <a:cs typeface="맑은 고딕"/>
              </a:rPr>
              <a:t>SQ</a:t>
            </a:r>
            <a:r>
              <a:rPr lang="en-US" altLang="ko-KR" sz="1100" spc="-10" dirty="0" smtClean="0">
                <a:latin typeface="+mn-ea"/>
                <a:cs typeface="맑은 고딕"/>
              </a:rPr>
              <a:t>L</a:t>
            </a:r>
            <a:r>
              <a:rPr lang="ko-KR" altLang="en-US" sz="1100" spc="-85" dirty="0">
                <a:latin typeface="+mn-ea"/>
                <a:cs typeface="맑은 고딕"/>
              </a:rPr>
              <a:t>로</a:t>
            </a:r>
            <a:r>
              <a:rPr lang="ko-KR" altLang="en-US" sz="1100" spc="-135" dirty="0">
                <a:latin typeface="+mn-ea"/>
                <a:cs typeface="맑은 고딕"/>
              </a:rPr>
              <a:t> </a:t>
            </a:r>
            <a:r>
              <a:rPr lang="en-US" altLang="ko-KR" sz="1100" spc="-25" dirty="0">
                <a:latin typeface="+mn-ea"/>
                <a:cs typeface="맑은 고딕"/>
              </a:rPr>
              <a:t>M</a:t>
            </a:r>
            <a:r>
              <a:rPr lang="en-US" altLang="ko-KR" sz="1100" spc="-10" dirty="0">
                <a:latin typeface="+mn-ea"/>
                <a:cs typeface="맑은 고딕"/>
              </a:rPr>
              <a:t>L</a:t>
            </a:r>
            <a:r>
              <a:rPr lang="ko-KR" altLang="en-US" sz="1100" spc="-105" dirty="0">
                <a:latin typeface="+mn-ea"/>
                <a:cs typeface="맑은 고딕"/>
              </a:rPr>
              <a:t> </a:t>
            </a:r>
            <a:r>
              <a:rPr lang="ko-KR" altLang="en-US" sz="1100" spc="-85" dirty="0">
                <a:latin typeface="+mn-ea"/>
                <a:cs typeface="맑은 고딕"/>
              </a:rPr>
              <a:t>프로세스</a:t>
            </a:r>
            <a:r>
              <a:rPr lang="ko-KR" altLang="en-US" sz="1100" spc="-18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지원</a:t>
            </a:r>
            <a:endParaRPr lang="en-US" altLang="ko-KR" sz="11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100" spc="-55" dirty="0" smtClean="0">
                <a:latin typeface="+mn-ea"/>
                <a:cs typeface="맑은 고딕"/>
              </a:rPr>
              <a:t>P</a:t>
            </a:r>
            <a:r>
              <a:rPr lang="en-US" altLang="ko-KR" sz="1100" spc="5" dirty="0" smtClean="0">
                <a:latin typeface="+mn-ea"/>
                <a:cs typeface="맑은 고딕"/>
              </a:rPr>
              <a:t>MM</a:t>
            </a:r>
            <a:r>
              <a:rPr lang="en-US" altLang="ko-KR" sz="1100" spc="-40" dirty="0" smtClean="0">
                <a:latin typeface="+mn-ea"/>
                <a:cs typeface="맑은 고딕"/>
              </a:rPr>
              <a:t>L</a:t>
            </a:r>
            <a:r>
              <a:rPr lang="ko-KR" altLang="en-US" sz="1100" spc="-105" dirty="0" smtClean="0">
                <a:latin typeface="+mn-ea"/>
                <a:cs typeface="맑은 고딕"/>
              </a:rPr>
              <a:t> </a:t>
            </a:r>
            <a:r>
              <a:rPr lang="en-US" altLang="ko-KR" sz="1100" spc="-90" dirty="0">
                <a:latin typeface="+mn-ea"/>
                <a:cs typeface="맑은 고딕"/>
              </a:rPr>
              <a:t>/</a:t>
            </a:r>
            <a:r>
              <a:rPr lang="ko-KR" altLang="en-US" sz="1100" spc="-110" dirty="0">
                <a:latin typeface="+mn-ea"/>
                <a:cs typeface="맑은 고딕"/>
              </a:rPr>
              <a:t> </a:t>
            </a:r>
            <a:r>
              <a:rPr lang="en-US" altLang="ko-KR" sz="1100" spc="-175" dirty="0" err="1">
                <a:latin typeface="+mn-ea"/>
                <a:cs typeface="맑은 고딕"/>
              </a:rPr>
              <a:t>T</a:t>
            </a:r>
            <a:r>
              <a:rPr lang="en-US" altLang="ko-KR" sz="1100" spc="-25" dirty="0" err="1">
                <a:latin typeface="+mn-ea"/>
                <a:cs typeface="맑은 고딕"/>
              </a:rPr>
              <a:t>en</a:t>
            </a:r>
            <a:r>
              <a:rPr lang="en-US" altLang="ko-KR" sz="1100" spc="-15" dirty="0" err="1">
                <a:latin typeface="+mn-ea"/>
                <a:cs typeface="맑은 고딕"/>
              </a:rPr>
              <a:t>s</a:t>
            </a:r>
            <a:r>
              <a:rPr lang="en-US" altLang="ko-KR" sz="1100" spc="-40" dirty="0" err="1">
                <a:latin typeface="+mn-ea"/>
                <a:cs typeface="맑은 고딕"/>
              </a:rPr>
              <a:t>o</a:t>
            </a:r>
            <a:r>
              <a:rPr lang="en-US" altLang="ko-KR" sz="1100" spc="-30" dirty="0" err="1">
                <a:latin typeface="+mn-ea"/>
                <a:cs typeface="맑은 고딕"/>
              </a:rPr>
              <a:t>r</a:t>
            </a:r>
            <a:r>
              <a:rPr lang="en-US" altLang="ko-KR" sz="1100" spc="-5" dirty="0" err="1">
                <a:latin typeface="+mn-ea"/>
                <a:cs typeface="맑은 고딕"/>
              </a:rPr>
              <a:t>Flow</a:t>
            </a:r>
            <a:r>
              <a:rPr lang="ko-KR" altLang="en-US" sz="1100" spc="-140" dirty="0">
                <a:latin typeface="+mn-ea"/>
                <a:cs typeface="맑은 고딕"/>
              </a:rPr>
              <a:t> </a:t>
            </a:r>
            <a:r>
              <a:rPr lang="en-US" altLang="ko-KR" sz="1100" spc="5" dirty="0">
                <a:latin typeface="+mn-ea"/>
                <a:cs typeface="맑은 고딕"/>
              </a:rPr>
              <a:t>M</a:t>
            </a:r>
            <a:r>
              <a:rPr lang="en-US" altLang="ko-KR" sz="1100" spc="-20" dirty="0">
                <a:latin typeface="+mn-ea"/>
                <a:cs typeface="맑은 고딕"/>
              </a:rPr>
              <a:t>ode</a:t>
            </a:r>
            <a:r>
              <a:rPr lang="en-US" altLang="ko-KR" sz="1100" spc="-45" dirty="0">
                <a:latin typeface="+mn-ea"/>
                <a:cs typeface="맑은 고딕"/>
              </a:rPr>
              <a:t>l</a:t>
            </a:r>
            <a:r>
              <a:rPr lang="ko-KR" altLang="en-US" sz="1100" spc="-155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에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대해 </a:t>
            </a:r>
            <a:r>
              <a:rPr lang="en-US" altLang="ko-KR" sz="1100" spc="-10" dirty="0" smtClean="0">
                <a:latin typeface="+mn-ea"/>
                <a:cs typeface="맑은 고딕"/>
              </a:rPr>
              <a:t>e</a:t>
            </a:r>
            <a:r>
              <a:rPr lang="en-US" altLang="ko-KR" sz="1100" spc="-30" dirty="0" smtClean="0">
                <a:latin typeface="+mn-ea"/>
                <a:cs typeface="맑은 고딕"/>
              </a:rPr>
              <a:t>xp</a:t>
            </a:r>
            <a:r>
              <a:rPr lang="en-US" altLang="ko-KR" sz="1100" spc="-20" dirty="0" smtClean="0">
                <a:latin typeface="+mn-ea"/>
                <a:cs typeface="맑은 고딕"/>
              </a:rPr>
              <a:t>o</a:t>
            </a:r>
            <a:r>
              <a:rPr lang="en-US" altLang="ko-KR" sz="1100" spc="-45" dirty="0" smtClean="0">
                <a:latin typeface="+mn-ea"/>
                <a:cs typeface="맑은 고딕"/>
              </a:rPr>
              <a:t>r</a:t>
            </a:r>
            <a:r>
              <a:rPr lang="en-US" altLang="ko-KR" sz="1100" spc="-30" dirty="0" smtClean="0">
                <a:latin typeface="+mn-ea"/>
                <a:cs typeface="맑은 고딕"/>
              </a:rPr>
              <a:t>t</a:t>
            </a:r>
            <a:r>
              <a:rPr lang="ko-KR" altLang="en-US" sz="1100" spc="-105" dirty="0" smtClean="0">
                <a:latin typeface="+mn-ea"/>
                <a:cs typeface="맑은 고딕"/>
              </a:rPr>
              <a:t> </a:t>
            </a:r>
            <a:r>
              <a:rPr lang="en-US" altLang="ko-KR" sz="1100" spc="-80" dirty="0">
                <a:latin typeface="+mn-ea"/>
                <a:cs typeface="맑은 고딕"/>
              </a:rPr>
              <a:t>/</a:t>
            </a:r>
            <a:r>
              <a:rPr lang="ko-KR" altLang="en-US" sz="1100" spc="-85" dirty="0">
                <a:latin typeface="+mn-ea"/>
                <a:cs typeface="맑은 고딕"/>
              </a:rPr>
              <a:t> </a:t>
            </a:r>
            <a:r>
              <a:rPr lang="en-US" altLang="ko-KR" sz="1100" spc="-30" dirty="0">
                <a:latin typeface="+mn-ea"/>
                <a:cs typeface="맑은 고딕"/>
              </a:rPr>
              <a:t>imp</a:t>
            </a:r>
            <a:r>
              <a:rPr lang="en-US" altLang="ko-KR" sz="1100" spc="-20" dirty="0">
                <a:latin typeface="+mn-ea"/>
                <a:cs typeface="맑은 고딕"/>
              </a:rPr>
              <a:t>o</a:t>
            </a:r>
            <a:r>
              <a:rPr lang="en-US" altLang="ko-KR" sz="1100" spc="-45" dirty="0">
                <a:latin typeface="+mn-ea"/>
                <a:cs typeface="맑은 고딕"/>
              </a:rPr>
              <a:t>r</a:t>
            </a:r>
            <a:r>
              <a:rPr lang="en-US" altLang="ko-KR" sz="1100" spc="-30" dirty="0">
                <a:latin typeface="+mn-ea"/>
                <a:cs typeface="맑은 고딕"/>
              </a:rPr>
              <a:t>t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기능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지원</a:t>
            </a:r>
            <a:endParaRPr lang="en-US" altLang="ko-KR" sz="1100" spc="-75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100" spc="5" dirty="0" smtClean="0">
                <a:latin typeface="+mn-ea"/>
                <a:cs typeface="맑은 고딕"/>
              </a:rPr>
              <a:t>Geos</a:t>
            </a:r>
            <a:r>
              <a:rPr lang="en-US" altLang="ko-KR" sz="1100" spc="-30" dirty="0" smtClean="0">
                <a:latin typeface="+mn-ea"/>
                <a:cs typeface="맑은 고딕"/>
              </a:rPr>
              <a:t>pat</a:t>
            </a:r>
            <a:r>
              <a:rPr lang="en-US" altLang="ko-KR" sz="1100" spc="-25" dirty="0" smtClean="0">
                <a:latin typeface="+mn-ea"/>
                <a:cs typeface="맑은 고딕"/>
              </a:rPr>
              <a:t>i</a:t>
            </a:r>
            <a:r>
              <a:rPr lang="en-US" altLang="ko-KR" sz="1100" spc="-20" dirty="0" smtClean="0">
                <a:latin typeface="+mn-ea"/>
                <a:cs typeface="맑은 고딕"/>
              </a:rPr>
              <a:t>al</a:t>
            </a:r>
            <a:r>
              <a:rPr lang="en-US" altLang="ko-KR" sz="1100" spc="-135" dirty="0" smtClean="0">
                <a:latin typeface="+mn-ea"/>
                <a:cs typeface="맑은 고딕"/>
              </a:rPr>
              <a:t> </a:t>
            </a:r>
            <a:r>
              <a:rPr lang="en-US" altLang="ko-KR" sz="1100" spc="-90" dirty="0" smtClean="0">
                <a:latin typeface="+mn-ea"/>
                <a:cs typeface="맑은 고딕"/>
              </a:rPr>
              <a:t>/</a:t>
            </a:r>
            <a:r>
              <a:rPr lang="en-US" altLang="ko-KR" sz="1100" spc="-110" dirty="0" smtClean="0">
                <a:latin typeface="+mn-ea"/>
                <a:cs typeface="맑은 고딕"/>
              </a:rPr>
              <a:t> </a:t>
            </a:r>
            <a:r>
              <a:rPr lang="en-US" altLang="ko-KR" sz="1100" spc="-30" dirty="0" smtClean="0">
                <a:latin typeface="+mn-ea"/>
                <a:cs typeface="맑은 고딕"/>
              </a:rPr>
              <a:t>Full</a:t>
            </a:r>
            <a:r>
              <a:rPr lang="en-US" altLang="ko-KR" sz="1100" spc="-114" dirty="0" smtClean="0">
                <a:latin typeface="+mn-ea"/>
                <a:cs typeface="맑은 고딕"/>
              </a:rPr>
              <a:t> </a:t>
            </a:r>
            <a:r>
              <a:rPr lang="en-US" altLang="ko-KR" sz="1100" spc="-40" dirty="0" smtClean="0">
                <a:latin typeface="+mn-ea"/>
                <a:cs typeface="맑은 고딕"/>
              </a:rPr>
              <a:t>t</a:t>
            </a:r>
            <a:r>
              <a:rPr lang="en-US" altLang="ko-KR" sz="1100" spc="-25" dirty="0" smtClean="0">
                <a:latin typeface="+mn-ea"/>
                <a:cs typeface="맑은 고딕"/>
              </a:rPr>
              <a:t>e</a:t>
            </a:r>
            <a:r>
              <a:rPr lang="en-US" altLang="ko-KR" sz="1100" spc="-20" dirty="0" smtClean="0">
                <a:latin typeface="+mn-ea"/>
                <a:cs typeface="맑은 고딕"/>
              </a:rPr>
              <a:t>x</a:t>
            </a:r>
            <a:r>
              <a:rPr lang="en-US" altLang="ko-KR" sz="1100" spc="-30" dirty="0" smtClean="0">
                <a:latin typeface="+mn-ea"/>
                <a:cs typeface="맑은 고딕"/>
              </a:rPr>
              <a:t>t</a:t>
            </a:r>
            <a:r>
              <a:rPr lang="en-US" altLang="ko-KR" sz="1100" spc="-105" dirty="0" smtClean="0">
                <a:latin typeface="+mn-ea"/>
                <a:cs typeface="맑은 고딕"/>
              </a:rPr>
              <a:t> </a:t>
            </a:r>
            <a:r>
              <a:rPr lang="en-US" altLang="ko-KR" sz="1100" spc="-50" dirty="0" smtClean="0">
                <a:latin typeface="+mn-ea"/>
                <a:cs typeface="맑은 고딕"/>
              </a:rPr>
              <a:t>s</a:t>
            </a:r>
            <a:r>
              <a:rPr lang="en-US" altLang="ko-KR" sz="1100" dirty="0" smtClean="0">
                <a:latin typeface="+mn-ea"/>
                <a:cs typeface="맑은 고딕"/>
              </a:rPr>
              <a:t>ea</a:t>
            </a:r>
            <a:r>
              <a:rPr lang="en-US" altLang="ko-KR" sz="1100" spc="-55" dirty="0" smtClean="0">
                <a:latin typeface="+mn-ea"/>
                <a:cs typeface="맑은 고딕"/>
              </a:rPr>
              <a:t>r</a:t>
            </a:r>
            <a:r>
              <a:rPr lang="en-US" altLang="ko-KR" sz="1100" spc="-5" dirty="0" smtClean="0">
                <a:latin typeface="+mn-ea"/>
                <a:cs typeface="맑은 고딕"/>
              </a:rPr>
              <a:t>c</a:t>
            </a:r>
            <a:r>
              <a:rPr lang="en-US" altLang="ko-KR" sz="1100" dirty="0" smtClean="0">
                <a:latin typeface="+mn-ea"/>
                <a:cs typeface="맑은 고딕"/>
              </a:rPr>
              <a:t>h</a:t>
            </a:r>
            <a:r>
              <a:rPr lang="en-US" altLang="ko-KR" sz="1100" spc="-125" dirty="0" smtClean="0">
                <a:latin typeface="+mn-ea"/>
                <a:cs typeface="맑은 고딕"/>
              </a:rPr>
              <a:t> </a:t>
            </a:r>
            <a:r>
              <a:rPr lang="ko-KR" altLang="en-US" sz="1100" spc="-60" dirty="0" smtClean="0">
                <a:latin typeface="+mn-ea"/>
                <a:cs typeface="맑은 고딕"/>
              </a:rPr>
              <a:t>등의  향상된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ko-KR" altLang="en-US" sz="1100" spc="-85" dirty="0" smtClean="0">
                <a:latin typeface="+mn-ea"/>
                <a:cs typeface="맑은 고딕"/>
              </a:rPr>
              <a:t>고급</a:t>
            </a:r>
            <a:r>
              <a:rPr lang="ko-KR" altLang="en-US" sz="1100" spc="-120" dirty="0" smtClean="0">
                <a:latin typeface="+mn-ea"/>
                <a:cs typeface="맑은 고딕"/>
              </a:rPr>
              <a:t> </a:t>
            </a:r>
            <a:r>
              <a:rPr lang="ko-KR" altLang="en-US" sz="1100" spc="-85" dirty="0" smtClean="0">
                <a:latin typeface="+mn-ea"/>
                <a:cs typeface="맑은 고딕"/>
              </a:rPr>
              <a:t>분석</a:t>
            </a:r>
            <a:r>
              <a:rPr lang="ko-KR" altLang="en-US" sz="1100" spc="-120" dirty="0" smtClean="0">
                <a:latin typeface="+mn-ea"/>
                <a:cs typeface="맑은 고딕"/>
              </a:rPr>
              <a:t> </a:t>
            </a:r>
            <a:r>
              <a:rPr lang="ko-KR" altLang="en-US" sz="1100" spc="-85" dirty="0" smtClean="0">
                <a:latin typeface="+mn-ea"/>
                <a:cs typeface="맑은 고딕"/>
              </a:rPr>
              <a:t>기능</a:t>
            </a:r>
            <a:r>
              <a:rPr lang="ko-KR" altLang="en-US" sz="1100" spc="-170" dirty="0" smtClean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지원</a:t>
            </a:r>
            <a:endParaRPr lang="ko-KR" altLang="en-US" sz="1100" dirty="0" smtClean="0">
              <a:latin typeface="+mn-ea"/>
              <a:cs typeface="맑은 고딕"/>
            </a:endParaRPr>
          </a:p>
          <a:p>
            <a:pPr marL="356235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ko-KR" altLang="en-US" sz="1100" dirty="0">
              <a:latin typeface="+mn-ea"/>
              <a:cs typeface="맑은 고딕"/>
            </a:endParaRPr>
          </a:p>
        </p:txBody>
      </p:sp>
      <p:sp>
        <p:nvSpPr>
          <p:cNvPr id="10" name="object 18"/>
          <p:cNvSpPr txBox="1"/>
          <p:nvPr/>
        </p:nvSpPr>
        <p:spPr>
          <a:xfrm>
            <a:off x="7048799" y="2757251"/>
            <a:ext cx="2169750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500" b="1" spc="25" dirty="0">
                <a:latin typeface="+mn-ea"/>
                <a:cs typeface="맑은 고딕"/>
              </a:rPr>
              <a:t>Query Engine</a:t>
            </a:r>
            <a:endParaRPr sz="1500" dirty="0">
              <a:latin typeface="+mn-ea"/>
              <a:cs typeface="맑은 고딕"/>
            </a:endParaRPr>
          </a:p>
        </p:txBody>
      </p:sp>
      <p:pic>
        <p:nvPicPr>
          <p:cNvPr id="12" name="object 13"/>
          <p:cNvPicPr/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03674" y="1256867"/>
            <a:ext cx="1260000" cy="1260000"/>
          </a:xfrm>
          <a:prstGeom prst="rect">
            <a:avLst/>
          </a:prstGeom>
          <a:ln>
            <a:noFill/>
          </a:ln>
        </p:spPr>
      </p:pic>
      <p:sp>
        <p:nvSpPr>
          <p:cNvPr id="21" name="object 15"/>
          <p:cNvSpPr txBox="1"/>
          <p:nvPr/>
        </p:nvSpPr>
        <p:spPr>
          <a:xfrm>
            <a:off x="6693674" y="3241933"/>
            <a:ext cx="2820440" cy="118622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97815" marR="5080" indent="-28575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100" spc="-35" dirty="0" smtClean="0">
                <a:latin typeface="+mn-ea"/>
                <a:cs typeface="맑은 고딕"/>
              </a:rPr>
              <a:t>HDFS</a:t>
            </a:r>
            <a:r>
              <a:rPr sz="1100" spc="-130" dirty="0" smtClean="0">
                <a:latin typeface="+mn-ea"/>
                <a:cs typeface="맑은 고딕"/>
              </a:rPr>
              <a:t> </a:t>
            </a:r>
            <a:r>
              <a:rPr sz="1100" spc="-90" dirty="0">
                <a:latin typeface="+mn-ea"/>
                <a:cs typeface="맑은 고딕"/>
              </a:rPr>
              <a:t>/</a:t>
            </a:r>
            <a:r>
              <a:rPr sz="1100" spc="-110" dirty="0">
                <a:latin typeface="+mn-ea"/>
                <a:cs typeface="맑은 고딕"/>
              </a:rPr>
              <a:t> </a:t>
            </a:r>
            <a:r>
              <a:rPr sz="1100" spc="-10" dirty="0">
                <a:latin typeface="+mn-ea"/>
                <a:cs typeface="맑은 고딕"/>
              </a:rPr>
              <a:t>Ob</a:t>
            </a:r>
            <a:r>
              <a:rPr sz="1100" spc="-15" dirty="0">
                <a:latin typeface="+mn-ea"/>
                <a:cs typeface="맑은 고딕"/>
              </a:rPr>
              <a:t>j</a:t>
            </a:r>
            <a:r>
              <a:rPr sz="1100" spc="-5" dirty="0">
                <a:latin typeface="+mn-ea"/>
                <a:cs typeface="맑은 고딕"/>
              </a:rPr>
              <a:t>e</a:t>
            </a:r>
            <a:r>
              <a:rPr sz="1100" dirty="0">
                <a:latin typeface="+mn-ea"/>
                <a:cs typeface="맑은 고딕"/>
              </a:rPr>
              <a:t>c</a:t>
            </a:r>
            <a:r>
              <a:rPr sz="1100" spc="-30" dirty="0">
                <a:latin typeface="+mn-ea"/>
                <a:cs typeface="맑은 고딕"/>
              </a:rPr>
              <a:t>t</a:t>
            </a:r>
            <a:r>
              <a:rPr sz="1100" spc="-130" dirty="0">
                <a:latin typeface="+mn-ea"/>
                <a:cs typeface="맑은 고딕"/>
              </a:rPr>
              <a:t> </a:t>
            </a:r>
            <a:r>
              <a:rPr sz="1100" spc="-35" dirty="0">
                <a:latin typeface="+mn-ea"/>
                <a:cs typeface="맑은 고딕"/>
              </a:rPr>
              <a:t>Stor</a:t>
            </a:r>
            <a:r>
              <a:rPr sz="1100" dirty="0">
                <a:latin typeface="+mn-ea"/>
                <a:cs typeface="맑은 고딕"/>
              </a:rPr>
              <a:t>e</a:t>
            </a:r>
            <a:r>
              <a:rPr sz="1100" spc="-75" dirty="0">
                <a:latin typeface="+mn-ea"/>
                <a:cs typeface="맑은 고딕"/>
              </a:rPr>
              <a:t>에 </a:t>
            </a:r>
            <a:r>
              <a:rPr sz="1100" spc="-65" dirty="0">
                <a:latin typeface="+mn-ea"/>
                <a:cs typeface="맑은 고딕"/>
              </a:rPr>
              <a:t>저장된  </a:t>
            </a:r>
            <a:r>
              <a:rPr sz="1100" spc="-65" dirty="0" err="1">
                <a:latin typeface="+mn-ea"/>
                <a:cs typeface="맑은 고딕"/>
              </a:rPr>
              <a:t>다양한</a:t>
            </a:r>
            <a:r>
              <a:rPr sz="1100" spc="-100" dirty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포맷</a:t>
            </a:r>
            <a:endParaRPr lang="en-US" sz="1100" spc="-75" dirty="0" smtClean="0">
              <a:latin typeface="+mn-ea"/>
              <a:cs typeface="맑은 고딕"/>
            </a:endParaRPr>
          </a:p>
          <a:p>
            <a:pPr marL="12065" marR="5080" algn="just">
              <a:lnSpc>
                <a:spcPct val="99600"/>
              </a:lnSpc>
              <a:spcBef>
                <a:spcPts val="10"/>
              </a:spcBef>
            </a:pPr>
            <a:r>
              <a:rPr sz="1100" dirty="0" smtClean="0">
                <a:latin typeface="+mn-ea"/>
                <a:cs typeface="맑은 고딕"/>
              </a:rPr>
              <a:t>(</a:t>
            </a:r>
            <a:r>
              <a:rPr sz="1100" spc="-95" dirty="0" smtClean="0">
                <a:latin typeface="+mn-ea"/>
                <a:cs typeface="맑은 고딕"/>
              </a:rPr>
              <a:t>P</a:t>
            </a:r>
            <a:r>
              <a:rPr sz="1100" dirty="0" smtClean="0">
                <a:latin typeface="+mn-ea"/>
                <a:cs typeface="맑은 고딕"/>
              </a:rPr>
              <a:t>a</a:t>
            </a:r>
            <a:r>
              <a:rPr sz="1100" spc="-45" dirty="0" smtClean="0">
                <a:latin typeface="+mn-ea"/>
                <a:cs typeface="맑은 고딕"/>
              </a:rPr>
              <a:t>r</a:t>
            </a:r>
            <a:r>
              <a:rPr sz="1100" spc="-25" dirty="0" smtClean="0">
                <a:latin typeface="+mn-ea"/>
                <a:cs typeface="맑은 고딕"/>
              </a:rPr>
              <a:t>q</a:t>
            </a:r>
            <a:r>
              <a:rPr sz="1100" spc="-5" dirty="0" smtClean="0">
                <a:latin typeface="+mn-ea"/>
                <a:cs typeface="맑은 고딕"/>
              </a:rPr>
              <a:t>u</a:t>
            </a:r>
            <a:r>
              <a:rPr sz="1100" spc="-10" dirty="0" smtClean="0">
                <a:latin typeface="+mn-ea"/>
                <a:cs typeface="맑은 고딕"/>
              </a:rPr>
              <a:t>e</a:t>
            </a:r>
            <a:r>
              <a:rPr sz="1100" spc="-30" dirty="0" smtClean="0">
                <a:latin typeface="+mn-ea"/>
                <a:cs typeface="맑은 고딕"/>
              </a:rPr>
              <a:t>t</a:t>
            </a:r>
            <a:r>
              <a:rPr lang="en-US" sz="1100" spc="-114" dirty="0" smtClean="0">
                <a:latin typeface="+mn-ea"/>
                <a:cs typeface="맑은 고딕"/>
              </a:rPr>
              <a:t> </a:t>
            </a:r>
            <a:r>
              <a:rPr sz="1100" spc="-80" dirty="0" smtClean="0">
                <a:latin typeface="+mn-ea"/>
                <a:cs typeface="맑은 고딕"/>
              </a:rPr>
              <a:t>/</a:t>
            </a:r>
            <a:r>
              <a:rPr sz="1100" spc="-95" dirty="0" smtClean="0">
                <a:latin typeface="+mn-ea"/>
                <a:cs typeface="맑은 고딕"/>
              </a:rPr>
              <a:t> </a:t>
            </a:r>
            <a:r>
              <a:rPr sz="1100" dirty="0" smtClean="0">
                <a:latin typeface="+mn-ea"/>
                <a:cs typeface="맑은 고딕"/>
              </a:rPr>
              <a:t>ORC</a:t>
            </a:r>
            <a:r>
              <a:rPr sz="1100" spc="-60" dirty="0" smtClean="0">
                <a:latin typeface="+mn-ea"/>
                <a:cs typeface="맑은 고딕"/>
              </a:rPr>
              <a:t> </a:t>
            </a:r>
            <a:r>
              <a:rPr sz="1100" spc="-75" dirty="0" smtClean="0">
                <a:latin typeface="+mn-ea"/>
                <a:cs typeface="맑은 고딕"/>
              </a:rPr>
              <a:t>등</a:t>
            </a:r>
            <a:r>
              <a:rPr sz="1100" spc="5" dirty="0" smtClean="0">
                <a:latin typeface="+mn-ea"/>
                <a:cs typeface="맑은 고딕"/>
              </a:rPr>
              <a:t>)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45" dirty="0" smtClean="0">
                <a:latin typeface="+mn-ea"/>
                <a:cs typeface="맑은 고딕"/>
              </a:rPr>
              <a:t>의  </a:t>
            </a:r>
            <a:r>
              <a:rPr sz="1100" spc="-75" dirty="0" err="1" smtClean="0">
                <a:latin typeface="+mn-ea"/>
                <a:cs typeface="맑은 고딕"/>
              </a:rPr>
              <a:t>데이터</a:t>
            </a:r>
            <a:r>
              <a:rPr sz="1100" spc="-70" dirty="0" err="1" smtClean="0">
                <a:latin typeface="+mn-ea"/>
                <a:cs typeface="맑은 고딕"/>
              </a:rPr>
              <a:t>를</a:t>
            </a:r>
            <a:r>
              <a:rPr sz="1100" spc="-105" dirty="0" smtClean="0">
                <a:latin typeface="+mn-ea"/>
                <a:cs typeface="맑은 고딕"/>
              </a:rPr>
              <a:t> </a:t>
            </a:r>
            <a:r>
              <a:rPr sz="1100" spc="-75" dirty="0" err="1" smtClean="0">
                <a:latin typeface="+mn-ea"/>
                <a:cs typeface="맑은 고딕"/>
              </a:rPr>
              <a:t>직</a:t>
            </a:r>
            <a:r>
              <a:rPr sz="1100" spc="-70" dirty="0" err="1" smtClean="0">
                <a:latin typeface="+mn-ea"/>
                <a:cs typeface="맑은 고딕"/>
              </a:rPr>
              <a:t>접</a:t>
            </a:r>
            <a:r>
              <a:rPr sz="1100" spc="-90" dirty="0" smtClean="0">
                <a:latin typeface="+mn-ea"/>
                <a:cs typeface="맑은 고딕"/>
              </a:rPr>
              <a:t> </a:t>
            </a:r>
            <a:r>
              <a:rPr sz="1100" spc="-70" dirty="0" err="1" smtClean="0">
                <a:latin typeface="+mn-ea"/>
                <a:cs typeface="맑은 고딕"/>
              </a:rPr>
              <a:t>조회</a:t>
            </a:r>
            <a:endParaRPr lang="en-US" sz="1100" spc="-70" dirty="0" smtClean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+mn-ea"/>
                <a:cs typeface="맑은 고딕"/>
              </a:rPr>
              <a:t>DW</a:t>
            </a:r>
            <a:r>
              <a:rPr lang="ko-KR" altLang="en-US" sz="1100" spc="-85" dirty="0" smtClean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데이터와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en-US" altLang="ko-KR" sz="1100" spc="-25" dirty="0">
                <a:latin typeface="+mn-ea"/>
                <a:cs typeface="맑은 고딕"/>
              </a:rPr>
              <a:t>D</a:t>
            </a:r>
            <a:r>
              <a:rPr lang="en-US" altLang="ko-KR" sz="1100" dirty="0">
                <a:latin typeface="+mn-ea"/>
                <a:cs typeface="맑은 고딕"/>
              </a:rPr>
              <a:t>a</a:t>
            </a:r>
            <a:r>
              <a:rPr lang="en-US" altLang="ko-KR" sz="1100" spc="-35" dirty="0">
                <a:latin typeface="+mn-ea"/>
                <a:cs typeface="맑은 고딕"/>
              </a:rPr>
              <a:t>t</a:t>
            </a:r>
            <a:r>
              <a:rPr lang="en-US" altLang="ko-KR" sz="1100" dirty="0">
                <a:latin typeface="+mn-ea"/>
                <a:cs typeface="맑은 고딕"/>
              </a:rPr>
              <a:t>a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en-US" altLang="ko-KR" sz="1100" spc="-40" dirty="0">
                <a:latin typeface="+mn-ea"/>
                <a:cs typeface="맑은 고딕"/>
              </a:rPr>
              <a:t>L</a:t>
            </a:r>
            <a:r>
              <a:rPr lang="en-US" altLang="ko-KR" sz="1100" dirty="0">
                <a:latin typeface="+mn-ea"/>
                <a:cs typeface="맑은 고딕"/>
              </a:rPr>
              <a:t>a</a:t>
            </a:r>
            <a:r>
              <a:rPr lang="en-US" altLang="ko-KR" sz="1100" spc="-25" dirty="0">
                <a:latin typeface="+mn-ea"/>
                <a:cs typeface="맑은 고딕"/>
              </a:rPr>
              <a:t>k</a:t>
            </a:r>
            <a:r>
              <a:rPr lang="en-US" altLang="ko-KR" sz="1100" spc="-15" dirty="0">
                <a:latin typeface="+mn-ea"/>
                <a:cs typeface="맑은 고딕"/>
              </a:rPr>
              <a:t>e</a:t>
            </a:r>
            <a:r>
              <a:rPr lang="ko-KR" altLang="en-US" sz="1100" spc="-75" dirty="0">
                <a:latin typeface="+mn-ea"/>
                <a:cs typeface="맑은 고딕"/>
              </a:rPr>
              <a:t>에</a:t>
            </a:r>
            <a:r>
              <a:rPr lang="ko-KR" altLang="en-US" sz="1100" spc="-11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존재하는</a:t>
            </a:r>
            <a:r>
              <a:rPr lang="ko-KR" altLang="en-US" sz="1100" dirty="0" smtClean="0">
                <a:latin typeface="+mn-ea"/>
                <a:cs typeface="맑은 고딕"/>
              </a:rPr>
              <a:t> </a:t>
            </a:r>
            <a:r>
              <a:rPr lang="ko-KR" altLang="en-US" sz="1100" spc="-85" dirty="0" smtClean="0">
                <a:latin typeface="+mn-ea"/>
                <a:cs typeface="맑은 고딕"/>
              </a:rPr>
              <a:t>데이터</a:t>
            </a:r>
            <a:r>
              <a:rPr lang="ko-KR" altLang="en-US" sz="1100" spc="-135" dirty="0" smtClean="0">
                <a:latin typeface="+mn-ea"/>
                <a:cs typeface="맑은 고딕"/>
              </a:rPr>
              <a:t> </a:t>
            </a:r>
            <a:r>
              <a:rPr lang="ko-KR" altLang="en-US" sz="1100" spc="-85" dirty="0">
                <a:latin typeface="+mn-ea"/>
                <a:cs typeface="맑은 고딕"/>
              </a:rPr>
              <a:t>연계</a:t>
            </a:r>
            <a:r>
              <a:rPr lang="ko-KR" altLang="en-US" sz="1100" spc="-120" dirty="0">
                <a:latin typeface="+mn-ea"/>
                <a:cs typeface="맑은 고딕"/>
              </a:rPr>
              <a:t> </a:t>
            </a:r>
            <a:r>
              <a:rPr lang="ko-KR" altLang="en-US" sz="1100" spc="-85" dirty="0">
                <a:latin typeface="+mn-ea"/>
                <a:cs typeface="맑은 고딕"/>
              </a:rPr>
              <a:t>분</a:t>
            </a:r>
            <a:r>
              <a:rPr lang="ko-KR" altLang="en-US" sz="1100" spc="-90" dirty="0">
                <a:latin typeface="+mn-ea"/>
                <a:cs typeface="맑은 고딕"/>
              </a:rPr>
              <a:t>석</a:t>
            </a:r>
            <a:r>
              <a:rPr lang="en-US" altLang="ko-KR" sz="1100" dirty="0">
                <a:latin typeface="+mn-ea"/>
                <a:cs typeface="맑은 고딕"/>
              </a:rPr>
              <a:t>(</a:t>
            </a:r>
            <a:r>
              <a:rPr lang="en-US" altLang="ko-KR" sz="1100" spc="-90" dirty="0">
                <a:latin typeface="+mn-ea"/>
                <a:cs typeface="맑은 고딕"/>
              </a:rPr>
              <a:t>J</a:t>
            </a:r>
            <a:r>
              <a:rPr lang="en-US" altLang="ko-KR" sz="1100" spc="-20" dirty="0">
                <a:latin typeface="+mn-ea"/>
                <a:cs typeface="맑은 고딕"/>
              </a:rPr>
              <a:t>o</a:t>
            </a:r>
            <a:r>
              <a:rPr lang="en-US" altLang="ko-KR" sz="1100" spc="-25" dirty="0">
                <a:latin typeface="+mn-ea"/>
                <a:cs typeface="맑은 고딕"/>
              </a:rPr>
              <a:t>in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처리</a:t>
            </a:r>
            <a:r>
              <a:rPr lang="en-US" altLang="ko-KR" sz="1100" spc="5" dirty="0">
                <a:latin typeface="+mn-ea"/>
                <a:cs typeface="맑은 고딕"/>
              </a:rPr>
              <a:t>)</a:t>
            </a:r>
            <a:r>
              <a:rPr lang="ko-KR" altLang="en-US" sz="1100" spc="-9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지원</a:t>
            </a:r>
            <a:endParaRPr lang="en-US" altLang="ko-KR" sz="1100" spc="-75" dirty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100" spc="25" dirty="0" smtClean="0">
                <a:latin typeface="+mn-ea"/>
                <a:cs typeface="맑은 고딕"/>
              </a:rPr>
              <a:t>A</a:t>
            </a:r>
            <a:r>
              <a:rPr lang="en-US" altLang="ko-KR" sz="1100" spc="-40" dirty="0" smtClean="0">
                <a:latin typeface="+mn-ea"/>
                <a:cs typeface="맑은 고딕"/>
              </a:rPr>
              <a:t>R</a:t>
            </a:r>
            <a:r>
              <a:rPr lang="en-US" altLang="ko-KR" sz="1100" spc="-45" dirty="0" smtClean="0">
                <a:latin typeface="+mn-ea"/>
                <a:cs typeface="맑은 고딕"/>
              </a:rPr>
              <a:t>R</a:t>
            </a:r>
            <a:r>
              <a:rPr lang="en-US" altLang="ko-KR" sz="1100" spc="-105" dirty="0" smtClean="0">
                <a:latin typeface="+mn-ea"/>
                <a:cs typeface="맑은 고딕"/>
              </a:rPr>
              <a:t>A</a:t>
            </a:r>
            <a:r>
              <a:rPr lang="en-US" altLang="ko-KR" sz="1100" spc="70" dirty="0" smtClean="0">
                <a:latin typeface="+mn-ea"/>
                <a:cs typeface="맑은 고딕"/>
              </a:rPr>
              <a:t>Y</a:t>
            </a:r>
            <a:r>
              <a:rPr lang="ko-KR" altLang="en-US" sz="1100" spc="-85" dirty="0" smtClean="0">
                <a:latin typeface="+mn-ea"/>
                <a:cs typeface="맑은 고딕"/>
              </a:rPr>
              <a:t> </a:t>
            </a:r>
            <a:r>
              <a:rPr lang="en-US" altLang="ko-KR" sz="1100" spc="-80" dirty="0">
                <a:latin typeface="+mn-ea"/>
                <a:cs typeface="맑은 고딕"/>
              </a:rPr>
              <a:t>/</a:t>
            </a:r>
            <a:r>
              <a:rPr lang="ko-KR" altLang="en-US" sz="1100" spc="-85" dirty="0">
                <a:latin typeface="+mn-ea"/>
                <a:cs typeface="맑은 고딕"/>
              </a:rPr>
              <a:t> </a:t>
            </a:r>
            <a:r>
              <a:rPr lang="en-US" altLang="ko-KR" sz="1100" spc="15" dirty="0">
                <a:latin typeface="+mn-ea"/>
                <a:cs typeface="맑은 고딕"/>
              </a:rPr>
              <a:t>MA</a:t>
            </a:r>
            <a:r>
              <a:rPr lang="en-US" altLang="ko-KR" sz="1100" spc="-50" dirty="0">
                <a:latin typeface="+mn-ea"/>
                <a:cs typeface="맑은 고딕"/>
              </a:rPr>
              <a:t>P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en-US" altLang="ko-KR" sz="1100" spc="-80" dirty="0">
                <a:latin typeface="+mn-ea"/>
                <a:cs typeface="맑은 고딕"/>
              </a:rPr>
              <a:t>/</a:t>
            </a:r>
            <a:r>
              <a:rPr lang="ko-KR" altLang="en-US" sz="1100" spc="-85" dirty="0">
                <a:latin typeface="+mn-ea"/>
                <a:cs typeface="맑은 고딕"/>
              </a:rPr>
              <a:t> </a:t>
            </a:r>
            <a:r>
              <a:rPr lang="en-US" altLang="ko-KR" sz="1100" spc="-30" dirty="0">
                <a:latin typeface="+mn-ea"/>
                <a:cs typeface="맑은 고딕"/>
              </a:rPr>
              <a:t>S</a:t>
            </a:r>
            <a:r>
              <a:rPr lang="en-US" altLang="ko-KR" sz="1100" spc="-45" dirty="0">
                <a:latin typeface="+mn-ea"/>
                <a:cs typeface="맑은 고딕"/>
              </a:rPr>
              <a:t>T</a:t>
            </a:r>
            <a:r>
              <a:rPr lang="en-US" altLang="ko-KR" sz="1100" spc="-15" dirty="0">
                <a:latin typeface="+mn-ea"/>
                <a:cs typeface="맑은 고딕"/>
              </a:rPr>
              <a:t>RUCT</a:t>
            </a:r>
            <a:r>
              <a:rPr lang="ko-KR" altLang="en-US" sz="1100" spc="-95" dirty="0">
                <a:latin typeface="+mn-ea"/>
                <a:cs typeface="맑은 고딕"/>
              </a:rPr>
              <a:t> </a:t>
            </a:r>
            <a:r>
              <a:rPr lang="ko-KR" altLang="en-US" sz="1100" spc="-60" dirty="0">
                <a:latin typeface="+mn-ea"/>
                <a:cs typeface="맑은 고딕"/>
              </a:rPr>
              <a:t>등  </a:t>
            </a:r>
            <a:r>
              <a:rPr lang="ko-KR" altLang="en-US" sz="1100" spc="-60" dirty="0" err="1">
                <a:latin typeface="+mn-ea"/>
                <a:cs typeface="맑은 고딕"/>
              </a:rPr>
              <a:t>오픈소스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ko-KR" altLang="en-US" sz="1100" spc="-75" dirty="0">
                <a:latin typeface="+mn-ea"/>
                <a:cs typeface="맑은 고딕"/>
              </a:rPr>
              <a:t>파일에서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ko-KR" altLang="en-US" sz="1100" spc="-60" dirty="0" smtClean="0">
                <a:latin typeface="+mn-ea"/>
                <a:cs typeface="맑은 고딕"/>
              </a:rPr>
              <a:t>빈번하게  </a:t>
            </a:r>
            <a:r>
              <a:rPr lang="ko-KR" altLang="en-US" sz="1100" spc="-75" dirty="0">
                <a:latin typeface="+mn-ea"/>
                <a:cs typeface="맑은 고딕"/>
              </a:rPr>
              <a:t>활용되</a:t>
            </a:r>
            <a:r>
              <a:rPr lang="ko-KR" altLang="en-US" sz="1100" spc="-70" dirty="0">
                <a:latin typeface="+mn-ea"/>
                <a:cs typeface="맑은 고딕"/>
              </a:rPr>
              <a:t>는</a:t>
            </a:r>
            <a:r>
              <a:rPr lang="ko-KR" altLang="en-US" sz="1100" spc="-105" dirty="0">
                <a:latin typeface="+mn-ea"/>
                <a:cs typeface="맑은 고딕"/>
              </a:rPr>
              <a:t> </a:t>
            </a:r>
            <a:r>
              <a:rPr lang="en-US" altLang="ko-KR" sz="1100" spc="-15" dirty="0">
                <a:latin typeface="+mn-ea"/>
                <a:cs typeface="맑은 고딕"/>
              </a:rPr>
              <a:t>Compl</a:t>
            </a:r>
            <a:r>
              <a:rPr lang="en-US" altLang="ko-KR" sz="1100" spc="-20" dirty="0">
                <a:latin typeface="+mn-ea"/>
                <a:cs typeface="맑은 고딕"/>
              </a:rPr>
              <a:t>ex</a:t>
            </a:r>
            <a:r>
              <a:rPr lang="ko-KR" altLang="en-US" sz="1100" spc="-130" dirty="0">
                <a:latin typeface="+mn-ea"/>
                <a:cs typeface="맑은 고딕"/>
              </a:rPr>
              <a:t> </a:t>
            </a:r>
            <a:r>
              <a:rPr lang="en-US" altLang="ko-KR" sz="1100" spc="-135" dirty="0">
                <a:latin typeface="+mn-ea"/>
                <a:cs typeface="맑은 고딕"/>
              </a:rPr>
              <a:t>T</a:t>
            </a:r>
            <a:r>
              <a:rPr lang="en-US" altLang="ko-KR" sz="1100" spc="-105" dirty="0">
                <a:latin typeface="+mn-ea"/>
                <a:cs typeface="맑은 고딕"/>
              </a:rPr>
              <a:t>y</a:t>
            </a:r>
            <a:r>
              <a:rPr lang="en-US" altLang="ko-KR" sz="1100" spc="-15" dirty="0">
                <a:latin typeface="+mn-ea"/>
                <a:cs typeface="맑은 고딕"/>
              </a:rPr>
              <a:t>pe</a:t>
            </a:r>
            <a:r>
              <a:rPr lang="ko-KR" altLang="en-US" sz="1100" spc="-155" dirty="0">
                <a:latin typeface="+mn-ea"/>
                <a:cs typeface="맑은 고딕"/>
              </a:rPr>
              <a:t> </a:t>
            </a:r>
            <a:r>
              <a:rPr lang="ko-KR" altLang="en-US" sz="1100" spc="-40" dirty="0">
                <a:latin typeface="+mn-ea"/>
                <a:cs typeface="맑은 고딕"/>
              </a:rPr>
              <a:t>을  </a:t>
            </a:r>
            <a:r>
              <a:rPr lang="ko-KR" altLang="en-US" sz="1100" spc="-75" dirty="0">
                <a:latin typeface="+mn-ea"/>
                <a:cs typeface="맑은 고딕"/>
              </a:rPr>
              <a:t>완벽하게</a:t>
            </a:r>
            <a:r>
              <a:rPr lang="ko-KR" altLang="en-US" sz="1100" spc="-100" dirty="0">
                <a:latin typeface="+mn-ea"/>
                <a:cs typeface="맑은 고딕"/>
              </a:rPr>
              <a:t> </a:t>
            </a:r>
            <a:r>
              <a:rPr lang="ko-KR" altLang="en-US" sz="1100" spc="-75" dirty="0" smtClean="0">
                <a:latin typeface="+mn-ea"/>
                <a:cs typeface="맑은 고딕"/>
              </a:rPr>
              <a:t>지원</a:t>
            </a:r>
            <a:endParaRPr lang="ko-KR" altLang="en-US" sz="1100" dirty="0">
              <a:latin typeface="+mn-ea"/>
              <a:cs typeface="맑은 고딕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215900" y="4953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7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6287"/>
            <a:ext cx="2186829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핵심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기술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071" y="455386"/>
            <a:ext cx="9873546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다음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가지 기술 요소를 중심으로 고성능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7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670764"/>
              </p:ext>
            </p:extLst>
          </p:nvPr>
        </p:nvGraphicFramePr>
        <p:xfrm>
          <a:off x="854318" y="1323204"/>
          <a:ext cx="200863" cy="1310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017447"/>
              </p:ext>
            </p:extLst>
          </p:nvPr>
        </p:nvGraphicFramePr>
        <p:xfrm>
          <a:off x="1124062" y="1323204"/>
          <a:ext cx="200863" cy="131094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00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02153"/>
              </p:ext>
            </p:extLst>
          </p:nvPr>
        </p:nvGraphicFramePr>
        <p:xfrm>
          <a:off x="1430594" y="1323204"/>
          <a:ext cx="200863" cy="13109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0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57303"/>
              </p:ext>
            </p:extLst>
          </p:nvPr>
        </p:nvGraphicFramePr>
        <p:xfrm>
          <a:off x="1710385" y="1323204"/>
          <a:ext cx="200863" cy="13109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200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3042"/>
              </p:ext>
            </p:extLst>
          </p:nvPr>
        </p:nvGraphicFramePr>
        <p:xfrm>
          <a:off x="1973471" y="1324064"/>
          <a:ext cx="199782" cy="13092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997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4" name="Straight Arrow Connector 96"/>
          <p:cNvCxnSpPr/>
          <p:nvPr/>
        </p:nvCxnSpPr>
        <p:spPr>
          <a:xfrm flipH="1">
            <a:off x="945573" y="1435187"/>
            <a:ext cx="2" cy="1086974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7436328" y="1309491"/>
            <a:ext cx="1546355" cy="1226278"/>
            <a:chOff x="8060037" y="1837974"/>
            <a:chExt cx="1458522" cy="1305922"/>
          </a:xfrm>
        </p:grpSpPr>
        <p:sp>
          <p:nvSpPr>
            <p:cNvPr id="26" name="Rectangle 61"/>
            <p:cNvSpPr/>
            <p:nvPr/>
          </p:nvSpPr>
          <p:spPr>
            <a:xfrm>
              <a:off x="8131343" y="1837975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Rectangle 62"/>
            <p:cNvSpPr/>
            <p:nvPr/>
          </p:nvSpPr>
          <p:spPr>
            <a:xfrm>
              <a:off x="8318832" y="1837975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Rectangle 63"/>
            <p:cNvSpPr/>
            <p:nvPr/>
          </p:nvSpPr>
          <p:spPr>
            <a:xfrm>
              <a:off x="8506320" y="1837975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Rectangle 64"/>
            <p:cNvSpPr/>
            <p:nvPr/>
          </p:nvSpPr>
          <p:spPr>
            <a:xfrm>
              <a:off x="8901566" y="1837974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Rectangle 65"/>
            <p:cNvSpPr/>
            <p:nvPr/>
          </p:nvSpPr>
          <p:spPr>
            <a:xfrm>
              <a:off x="9089054" y="1837974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Rectangle 66"/>
            <p:cNvSpPr/>
            <p:nvPr/>
          </p:nvSpPr>
          <p:spPr>
            <a:xfrm>
              <a:off x="9276542" y="1837974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060037" y="1837975"/>
              <a:ext cx="304892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254252" y="1837975"/>
              <a:ext cx="304892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43446" y="1837975"/>
              <a:ext cx="314510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830260" y="1837975"/>
              <a:ext cx="314510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C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24472" y="1837975"/>
              <a:ext cx="304892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13667" y="1837977"/>
              <a:ext cx="304892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>
                  <a:latin typeface="+mn-ea"/>
                </a:rPr>
                <a:t>A</a:t>
              </a:r>
            </a:p>
          </p:txBody>
        </p:sp>
        <p:cxnSp>
          <p:nvCxnSpPr>
            <p:cNvPr id="38" name="Straight Arrow Connector 73"/>
            <p:cNvCxnSpPr/>
            <p:nvPr/>
          </p:nvCxnSpPr>
          <p:spPr>
            <a:xfrm flipH="1">
              <a:off x="8203826" y="2288428"/>
              <a:ext cx="929" cy="69920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74"/>
            <p:cNvCxnSpPr/>
            <p:nvPr/>
          </p:nvCxnSpPr>
          <p:spPr>
            <a:xfrm>
              <a:off x="8972531" y="2300039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75"/>
            <p:cNvCxnSpPr/>
            <p:nvPr/>
          </p:nvCxnSpPr>
          <p:spPr>
            <a:xfrm flipV="1">
              <a:off x="8396835" y="2304642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76"/>
          <p:cNvGrpSpPr>
            <a:grpSpLocks noChangeAspect="1"/>
          </p:cNvGrpSpPr>
          <p:nvPr/>
        </p:nvGrpSpPr>
        <p:grpSpPr>
          <a:xfrm>
            <a:off x="7595813" y="4467874"/>
            <a:ext cx="1298777" cy="1129548"/>
            <a:chOff x="1392799" y="8552193"/>
            <a:chExt cx="285312" cy="263081"/>
          </a:xfrm>
          <a:solidFill>
            <a:srgbClr val="0078EF"/>
          </a:solidFill>
        </p:grpSpPr>
        <p:sp>
          <p:nvSpPr>
            <p:cNvPr id="42" name="Freeform 119"/>
            <p:cNvSpPr>
              <a:spLocks noChangeArrowheads="1"/>
            </p:cNvSpPr>
            <p:nvPr/>
          </p:nvSpPr>
          <p:spPr bwMode="auto">
            <a:xfrm>
              <a:off x="1392799" y="8642980"/>
              <a:ext cx="83370" cy="83372"/>
            </a:xfrm>
            <a:custGeom>
              <a:avLst/>
              <a:gdLst>
                <a:gd name="T0" fmla="*/ 100 w 200"/>
                <a:gd name="T1" fmla="*/ 199 h 200"/>
                <a:gd name="T2" fmla="*/ 100 w 200"/>
                <a:gd name="T3" fmla="*/ 199 h 200"/>
                <a:gd name="T4" fmla="*/ 0 w 200"/>
                <a:gd name="T5" fmla="*/ 100 h 200"/>
                <a:gd name="T6" fmla="*/ 100 w 200"/>
                <a:gd name="T7" fmla="*/ 0 h 200"/>
                <a:gd name="T8" fmla="*/ 199 w 200"/>
                <a:gd name="T9" fmla="*/ 100 h 200"/>
                <a:gd name="T10" fmla="*/ 100 w 200"/>
                <a:gd name="T11" fmla="*/ 19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200">
                  <a:moveTo>
                    <a:pt x="100" y="199"/>
                  </a:moveTo>
                  <a:lnTo>
                    <a:pt x="100" y="199"/>
                  </a:lnTo>
                  <a:cubicBezTo>
                    <a:pt x="45" y="199"/>
                    <a:pt x="0" y="154"/>
                    <a:pt x="0" y="100"/>
                  </a:cubicBezTo>
                  <a:cubicBezTo>
                    <a:pt x="0" y="45"/>
                    <a:pt x="45" y="0"/>
                    <a:pt x="100" y="0"/>
                  </a:cubicBezTo>
                  <a:cubicBezTo>
                    <a:pt x="154" y="0"/>
                    <a:pt x="199" y="45"/>
                    <a:pt x="199" y="100"/>
                  </a:cubicBezTo>
                  <a:cubicBezTo>
                    <a:pt x="199" y="154"/>
                    <a:pt x="154" y="199"/>
                    <a:pt x="100" y="199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3" name="Freeform 120"/>
            <p:cNvSpPr>
              <a:spLocks noChangeArrowheads="1"/>
            </p:cNvSpPr>
            <p:nvPr/>
          </p:nvSpPr>
          <p:spPr bwMode="auto">
            <a:xfrm>
              <a:off x="1624383" y="8657801"/>
              <a:ext cx="53728" cy="55580"/>
            </a:xfrm>
            <a:custGeom>
              <a:avLst/>
              <a:gdLst>
                <a:gd name="T0" fmla="*/ 129 w 130"/>
                <a:gd name="T1" fmla="*/ 65 h 131"/>
                <a:gd name="T2" fmla="*/ 129 w 130"/>
                <a:gd name="T3" fmla="*/ 65 h 131"/>
                <a:gd name="T4" fmla="*/ 64 w 130"/>
                <a:gd name="T5" fmla="*/ 130 h 131"/>
                <a:gd name="T6" fmla="*/ 0 w 130"/>
                <a:gd name="T7" fmla="*/ 65 h 131"/>
                <a:gd name="T8" fmla="*/ 64 w 130"/>
                <a:gd name="T9" fmla="*/ 0 h 131"/>
                <a:gd name="T10" fmla="*/ 129 w 130"/>
                <a:gd name="T11" fmla="*/ 6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30"/>
                    <a:pt x="64" y="130"/>
                  </a:cubicBezTo>
                  <a:cubicBezTo>
                    <a:pt x="29" y="130"/>
                    <a:pt x="0" y="100"/>
                    <a:pt x="0" y="65"/>
                  </a:cubicBezTo>
                  <a:cubicBezTo>
                    <a:pt x="0" y="30"/>
                    <a:pt x="29" y="0"/>
                    <a:pt x="64" y="0"/>
                  </a:cubicBezTo>
                  <a:cubicBezTo>
                    <a:pt x="100" y="0"/>
                    <a:pt x="129" y="30"/>
                    <a:pt x="129" y="65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4" name="Freeform 121"/>
            <p:cNvSpPr>
              <a:spLocks noChangeArrowheads="1"/>
            </p:cNvSpPr>
            <p:nvPr/>
          </p:nvSpPr>
          <p:spPr bwMode="auto">
            <a:xfrm>
              <a:off x="1596595" y="8552193"/>
              <a:ext cx="53727" cy="55580"/>
            </a:xfrm>
            <a:custGeom>
              <a:avLst/>
              <a:gdLst>
                <a:gd name="T0" fmla="*/ 129 w 130"/>
                <a:gd name="T1" fmla="*/ 64 h 131"/>
                <a:gd name="T2" fmla="*/ 129 w 130"/>
                <a:gd name="T3" fmla="*/ 64 h 131"/>
                <a:gd name="T4" fmla="*/ 65 w 130"/>
                <a:gd name="T5" fmla="*/ 130 h 131"/>
                <a:gd name="T6" fmla="*/ 0 w 130"/>
                <a:gd name="T7" fmla="*/ 64 h 131"/>
                <a:gd name="T8" fmla="*/ 65 w 130"/>
                <a:gd name="T9" fmla="*/ 0 h 131"/>
                <a:gd name="T10" fmla="*/ 129 w 130"/>
                <a:gd name="T11" fmla="*/ 6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4"/>
                  </a:moveTo>
                  <a:lnTo>
                    <a:pt x="129" y="64"/>
                  </a:lnTo>
                  <a:cubicBezTo>
                    <a:pt x="129" y="101"/>
                    <a:pt x="100" y="130"/>
                    <a:pt x="65" y="130"/>
                  </a:cubicBezTo>
                  <a:cubicBezTo>
                    <a:pt x="28" y="130"/>
                    <a:pt x="0" y="101"/>
                    <a:pt x="0" y="64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5" name="Freeform 122"/>
            <p:cNvSpPr>
              <a:spLocks noChangeArrowheads="1"/>
            </p:cNvSpPr>
            <p:nvPr/>
          </p:nvSpPr>
          <p:spPr bwMode="auto">
            <a:xfrm>
              <a:off x="1596596" y="8761546"/>
              <a:ext cx="53727" cy="53728"/>
            </a:xfrm>
            <a:custGeom>
              <a:avLst/>
              <a:gdLst>
                <a:gd name="T0" fmla="*/ 129 w 130"/>
                <a:gd name="T1" fmla="*/ 65 h 130"/>
                <a:gd name="T2" fmla="*/ 129 w 130"/>
                <a:gd name="T3" fmla="*/ 65 h 130"/>
                <a:gd name="T4" fmla="*/ 65 w 130"/>
                <a:gd name="T5" fmla="*/ 129 h 130"/>
                <a:gd name="T6" fmla="*/ 0 w 130"/>
                <a:gd name="T7" fmla="*/ 65 h 130"/>
                <a:gd name="T8" fmla="*/ 65 w 130"/>
                <a:gd name="T9" fmla="*/ 0 h 130"/>
                <a:gd name="T10" fmla="*/ 129 w 130"/>
                <a:gd name="T11" fmla="*/ 6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0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29"/>
                    <a:pt x="65" y="129"/>
                  </a:cubicBezTo>
                  <a:cubicBezTo>
                    <a:pt x="28" y="129"/>
                    <a:pt x="0" y="100"/>
                    <a:pt x="0" y="65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5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6" name="Freeform 123"/>
            <p:cNvSpPr>
              <a:spLocks noChangeArrowheads="1"/>
            </p:cNvSpPr>
            <p:nvPr/>
          </p:nvSpPr>
          <p:spPr bwMode="auto">
            <a:xfrm>
              <a:off x="1483582" y="8705968"/>
              <a:ext cx="101898" cy="62991"/>
            </a:xfrm>
            <a:custGeom>
              <a:avLst/>
              <a:gdLst>
                <a:gd name="T0" fmla="*/ 228 w 242"/>
                <a:gd name="T1" fmla="*/ 150 h 151"/>
                <a:gd name="T2" fmla="*/ 228 w 242"/>
                <a:gd name="T3" fmla="*/ 150 h 151"/>
                <a:gd name="T4" fmla="*/ 222 w 242"/>
                <a:gd name="T5" fmla="*/ 149 h 151"/>
                <a:gd name="T6" fmla="*/ 191 w 242"/>
                <a:gd name="T7" fmla="*/ 131 h 151"/>
                <a:gd name="T8" fmla="*/ 187 w 242"/>
                <a:gd name="T9" fmla="*/ 114 h 151"/>
                <a:gd name="T10" fmla="*/ 203 w 242"/>
                <a:gd name="T11" fmla="*/ 110 h 151"/>
                <a:gd name="T12" fmla="*/ 234 w 242"/>
                <a:gd name="T13" fmla="*/ 129 h 151"/>
                <a:gd name="T14" fmla="*/ 238 w 242"/>
                <a:gd name="T15" fmla="*/ 145 h 151"/>
                <a:gd name="T16" fmla="*/ 228 w 242"/>
                <a:gd name="T17" fmla="*/ 150 h 151"/>
                <a:gd name="T18" fmla="*/ 136 w 242"/>
                <a:gd name="T19" fmla="*/ 97 h 151"/>
                <a:gd name="T20" fmla="*/ 136 w 242"/>
                <a:gd name="T21" fmla="*/ 97 h 151"/>
                <a:gd name="T22" fmla="*/ 130 w 242"/>
                <a:gd name="T23" fmla="*/ 95 h 151"/>
                <a:gd name="T24" fmla="*/ 99 w 242"/>
                <a:gd name="T25" fmla="*/ 77 h 151"/>
                <a:gd name="T26" fmla="*/ 94 w 242"/>
                <a:gd name="T27" fmla="*/ 61 h 151"/>
                <a:gd name="T28" fmla="*/ 111 w 242"/>
                <a:gd name="T29" fmla="*/ 57 h 151"/>
                <a:gd name="T30" fmla="*/ 141 w 242"/>
                <a:gd name="T31" fmla="*/ 75 h 151"/>
                <a:gd name="T32" fmla="*/ 145 w 242"/>
                <a:gd name="T33" fmla="*/ 91 h 151"/>
                <a:gd name="T34" fmla="*/ 136 w 242"/>
                <a:gd name="T35" fmla="*/ 97 h 151"/>
                <a:gd name="T36" fmla="*/ 43 w 242"/>
                <a:gd name="T37" fmla="*/ 43 h 151"/>
                <a:gd name="T38" fmla="*/ 43 w 242"/>
                <a:gd name="T39" fmla="*/ 43 h 151"/>
                <a:gd name="T40" fmla="*/ 37 w 242"/>
                <a:gd name="T41" fmla="*/ 42 h 151"/>
                <a:gd name="T42" fmla="*/ 7 w 242"/>
                <a:gd name="T43" fmla="*/ 23 h 151"/>
                <a:gd name="T44" fmla="*/ 3 w 242"/>
                <a:gd name="T45" fmla="*/ 7 h 151"/>
                <a:gd name="T46" fmla="*/ 18 w 242"/>
                <a:gd name="T47" fmla="*/ 3 h 151"/>
                <a:gd name="T48" fmla="*/ 50 w 242"/>
                <a:gd name="T49" fmla="*/ 21 h 151"/>
                <a:gd name="T50" fmla="*/ 54 w 242"/>
                <a:gd name="T51" fmla="*/ 37 h 151"/>
                <a:gd name="T52" fmla="*/ 43 w 242"/>
                <a:gd name="T53" fmla="*/ 4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2" h="151">
                  <a:moveTo>
                    <a:pt x="228" y="150"/>
                  </a:moveTo>
                  <a:lnTo>
                    <a:pt x="228" y="150"/>
                  </a:lnTo>
                  <a:cubicBezTo>
                    <a:pt x="226" y="150"/>
                    <a:pt x="223" y="150"/>
                    <a:pt x="222" y="149"/>
                  </a:cubicBezTo>
                  <a:cubicBezTo>
                    <a:pt x="191" y="131"/>
                    <a:pt x="191" y="131"/>
                    <a:pt x="191" y="131"/>
                  </a:cubicBezTo>
                  <a:cubicBezTo>
                    <a:pt x="186" y="128"/>
                    <a:pt x="184" y="121"/>
                    <a:pt x="187" y="114"/>
                  </a:cubicBezTo>
                  <a:cubicBezTo>
                    <a:pt x="190" y="109"/>
                    <a:pt x="197" y="107"/>
                    <a:pt x="203" y="110"/>
                  </a:cubicBezTo>
                  <a:cubicBezTo>
                    <a:pt x="234" y="129"/>
                    <a:pt x="234" y="129"/>
                    <a:pt x="234" y="129"/>
                  </a:cubicBezTo>
                  <a:cubicBezTo>
                    <a:pt x="239" y="132"/>
                    <a:pt x="241" y="139"/>
                    <a:pt x="238" y="145"/>
                  </a:cubicBezTo>
                  <a:cubicBezTo>
                    <a:pt x="236" y="148"/>
                    <a:pt x="232" y="150"/>
                    <a:pt x="228" y="150"/>
                  </a:cubicBezTo>
                  <a:close/>
                  <a:moveTo>
                    <a:pt x="136" y="97"/>
                  </a:moveTo>
                  <a:lnTo>
                    <a:pt x="136" y="97"/>
                  </a:lnTo>
                  <a:cubicBezTo>
                    <a:pt x="134" y="97"/>
                    <a:pt x="132" y="96"/>
                    <a:pt x="130" y="95"/>
                  </a:cubicBezTo>
                  <a:cubicBezTo>
                    <a:pt x="99" y="77"/>
                    <a:pt x="99" y="77"/>
                    <a:pt x="99" y="77"/>
                  </a:cubicBezTo>
                  <a:cubicBezTo>
                    <a:pt x="93" y="74"/>
                    <a:pt x="91" y="67"/>
                    <a:pt x="94" y="61"/>
                  </a:cubicBezTo>
                  <a:cubicBezTo>
                    <a:pt x="97" y="55"/>
                    <a:pt x="105" y="54"/>
                    <a:pt x="111" y="57"/>
                  </a:cubicBezTo>
                  <a:cubicBezTo>
                    <a:pt x="141" y="75"/>
                    <a:pt x="141" y="75"/>
                    <a:pt x="141" y="75"/>
                  </a:cubicBezTo>
                  <a:cubicBezTo>
                    <a:pt x="147" y="78"/>
                    <a:pt x="149" y="85"/>
                    <a:pt x="145" y="91"/>
                  </a:cubicBezTo>
                  <a:cubicBezTo>
                    <a:pt x="143" y="95"/>
                    <a:pt x="139" y="97"/>
                    <a:pt x="136" y="97"/>
                  </a:cubicBezTo>
                  <a:close/>
                  <a:moveTo>
                    <a:pt x="43" y="43"/>
                  </a:moveTo>
                  <a:lnTo>
                    <a:pt x="43" y="43"/>
                  </a:lnTo>
                  <a:cubicBezTo>
                    <a:pt x="41" y="43"/>
                    <a:pt x="39" y="43"/>
                    <a:pt x="37" y="4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" y="20"/>
                    <a:pt x="0" y="12"/>
                    <a:pt x="3" y="7"/>
                  </a:cubicBezTo>
                  <a:cubicBezTo>
                    <a:pt x="6" y="2"/>
                    <a:pt x="13" y="0"/>
                    <a:pt x="18" y="3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5" y="24"/>
                    <a:pt x="57" y="31"/>
                    <a:pt x="54" y="37"/>
                  </a:cubicBezTo>
                  <a:cubicBezTo>
                    <a:pt x="52" y="41"/>
                    <a:pt x="48" y="43"/>
                    <a:pt x="43" y="43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7" name="Freeform 124"/>
            <p:cNvSpPr>
              <a:spLocks noChangeArrowheads="1"/>
            </p:cNvSpPr>
            <p:nvPr/>
          </p:nvSpPr>
          <p:spPr bwMode="auto">
            <a:xfrm>
              <a:off x="1485437" y="8598519"/>
              <a:ext cx="103750" cy="61139"/>
            </a:xfrm>
            <a:custGeom>
              <a:avLst/>
              <a:gdLst>
                <a:gd name="T0" fmla="*/ 13 w 245"/>
                <a:gd name="T1" fmla="*/ 146 h 147"/>
                <a:gd name="T2" fmla="*/ 13 w 245"/>
                <a:gd name="T3" fmla="*/ 146 h 147"/>
                <a:gd name="T4" fmla="*/ 3 w 245"/>
                <a:gd name="T5" fmla="*/ 139 h 147"/>
                <a:gd name="T6" fmla="*/ 7 w 245"/>
                <a:gd name="T7" fmla="*/ 124 h 147"/>
                <a:gd name="T8" fmla="*/ 38 w 245"/>
                <a:gd name="T9" fmla="*/ 107 h 147"/>
                <a:gd name="T10" fmla="*/ 54 w 245"/>
                <a:gd name="T11" fmla="*/ 111 h 147"/>
                <a:gd name="T12" fmla="*/ 50 w 245"/>
                <a:gd name="T13" fmla="*/ 127 h 147"/>
                <a:gd name="T14" fmla="*/ 18 w 245"/>
                <a:gd name="T15" fmla="*/ 145 h 147"/>
                <a:gd name="T16" fmla="*/ 13 w 245"/>
                <a:gd name="T17" fmla="*/ 146 h 147"/>
                <a:gd name="T18" fmla="*/ 106 w 245"/>
                <a:gd name="T19" fmla="*/ 94 h 147"/>
                <a:gd name="T20" fmla="*/ 106 w 245"/>
                <a:gd name="T21" fmla="*/ 94 h 147"/>
                <a:gd name="T22" fmla="*/ 97 w 245"/>
                <a:gd name="T23" fmla="*/ 88 h 147"/>
                <a:gd name="T24" fmla="*/ 101 w 245"/>
                <a:gd name="T25" fmla="*/ 72 h 147"/>
                <a:gd name="T26" fmla="*/ 132 w 245"/>
                <a:gd name="T27" fmla="*/ 55 h 147"/>
                <a:gd name="T28" fmla="*/ 148 w 245"/>
                <a:gd name="T29" fmla="*/ 59 h 147"/>
                <a:gd name="T30" fmla="*/ 143 w 245"/>
                <a:gd name="T31" fmla="*/ 75 h 147"/>
                <a:gd name="T32" fmla="*/ 112 w 245"/>
                <a:gd name="T33" fmla="*/ 93 h 147"/>
                <a:gd name="T34" fmla="*/ 106 w 245"/>
                <a:gd name="T35" fmla="*/ 94 h 147"/>
                <a:gd name="T36" fmla="*/ 200 w 245"/>
                <a:gd name="T37" fmla="*/ 43 h 147"/>
                <a:gd name="T38" fmla="*/ 200 w 245"/>
                <a:gd name="T39" fmla="*/ 43 h 147"/>
                <a:gd name="T40" fmla="*/ 189 w 245"/>
                <a:gd name="T41" fmla="*/ 36 h 147"/>
                <a:gd name="T42" fmla="*/ 194 w 245"/>
                <a:gd name="T43" fmla="*/ 21 h 147"/>
                <a:gd name="T44" fmla="*/ 226 w 245"/>
                <a:gd name="T45" fmla="*/ 3 h 147"/>
                <a:gd name="T46" fmla="*/ 241 w 245"/>
                <a:gd name="T47" fmla="*/ 8 h 147"/>
                <a:gd name="T48" fmla="*/ 237 w 245"/>
                <a:gd name="T49" fmla="*/ 24 h 147"/>
                <a:gd name="T50" fmla="*/ 206 w 245"/>
                <a:gd name="T51" fmla="*/ 41 h 147"/>
                <a:gd name="T52" fmla="*/ 200 w 245"/>
                <a:gd name="T53" fmla="*/ 4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5" h="147">
                  <a:moveTo>
                    <a:pt x="13" y="146"/>
                  </a:moveTo>
                  <a:lnTo>
                    <a:pt x="13" y="146"/>
                  </a:lnTo>
                  <a:cubicBezTo>
                    <a:pt x="9" y="146"/>
                    <a:pt x="5" y="144"/>
                    <a:pt x="3" y="139"/>
                  </a:cubicBezTo>
                  <a:cubicBezTo>
                    <a:pt x="0" y="134"/>
                    <a:pt x="2" y="127"/>
                    <a:pt x="7" y="124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5" y="104"/>
                    <a:pt x="51" y="106"/>
                    <a:pt x="54" y="111"/>
                  </a:cubicBezTo>
                  <a:cubicBezTo>
                    <a:pt x="57" y="117"/>
                    <a:pt x="55" y="124"/>
                    <a:pt x="50" y="127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6" y="146"/>
                    <a:pt x="14" y="146"/>
                    <a:pt x="13" y="146"/>
                  </a:cubicBezTo>
                  <a:close/>
                  <a:moveTo>
                    <a:pt x="106" y="94"/>
                  </a:moveTo>
                  <a:lnTo>
                    <a:pt x="106" y="94"/>
                  </a:lnTo>
                  <a:cubicBezTo>
                    <a:pt x="102" y="94"/>
                    <a:pt x="99" y="92"/>
                    <a:pt x="97" y="88"/>
                  </a:cubicBezTo>
                  <a:cubicBezTo>
                    <a:pt x="93" y="82"/>
                    <a:pt x="96" y="75"/>
                    <a:pt x="101" y="72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7" y="52"/>
                    <a:pt x="144" y="54"/>
                    <a:pt x="148" y="59"/>
                  </a:cubicBezTo>
                  <a:cubicBezTo>
                    <a:pt x="151" y="66"/>
                    <a:pt x="149" y="72"/>
                    <a:pt x="143" y="75"/>
                  </a:cubicBezTo>
                  <a:cubicBezTo>
                    <a:pt x="112" y="93"/>
                    <a:pt x="112" y="93"/>
                    <a:pt x="112" y="93"/>
                  </a:cubicBezTo>
                  <a:cubicBezTo>
                    <a:pt x="110" y="94"/>
                    <a:pt x="108" y="94"/>
                    <a:pt x="106" y="94"/>
                  </a:cubicBezTo>
                  <a:close/>
                  <a:moveTo>
                    <a:pt x="200" y="43"/>
                  </a:moveTo>
                  <a:lnTo>
                    <a:pt x="200" y="43"/>
                  </a:lnTo>
                  <a:cubicBezTo>
                    <a:pt x="195" y="43"/>
                    <a:pt x="191" y="41"/>
                    <a:pt x="189" y="36"/>
                  </a:cubicBezTo>
                  <a:cubicBezTo>
                    <a:pt x="186" y="31"/>
                    <a:pt x="188" y="24"/>
                    <a:pt x="194" y="21"/>
                  </a:cubicBezTo>
                  <a:cubicBezTo>
                    <a:pt x="226" y="3"/>
                    <a:pt x="226" y="3"/>
                    <a:pt x="226" y="3"/>
                  </a:cubicBezTo>
                  <a:cubicBezTo>
                    <a:pt x="231" y="0"/>
                    <a:pt x="238" y="2"/>
                    <a:pt x="241" y="8"/>
                  </a:cubicBezTo>
                  <a:cubicBezTo>
                    <a:pt x="244" y="14"/>
                    <a:pt x="242" y="21"/>
                    <a:pt x="237" y="24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04" y="42"/>
                    <a:pt x="202" y="43"/>
                    <a:pt x="200" y="43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  <p:sp>
          <p:nvSpPr>
            <p:cNvPr id="48" name="Freeform 125"/>
            <p:cNvSpPr>
              <a:spLocks noChangeArrowheads="1"/>
            </p:cNvSpPr>
            <p:nvPr/>
          </p:nvSpPr>
          <p:spPr bwMode="auto">
            <a:xfrm>
              <a:off x="1492848" y="8678154"/>
              <a:ext cx="114866" cy="11116"/>
            </a:xfrm>
            <a:custGeom>
              <a:avLst/>
              <a:gdLst>
                <a:gd name="T0" fmla="*/ 262 w 274"/>
                <a:gd name="T1" fmla="*/ 24 h 25"/>
                <a:gd name="T2" fmla="*/ 262 w 274"/>
                <a:gd name="T3" fmla="*/ 24 h 25"/>
                <a:gd name="T4" fmla="*/ 225 w 274"/>
                <a:gd name="T5" fmla="*/ 24 h 25"/>
                <a:gd name="T6" fmla="*/ 214 w 274"/>
                <a:gd name="T7" fmla="*/ 13 h 25"/>
                <a:gd name="T8" fmla="*/ 225 w 274"/>
                <a:gd name="T9" fmla="*/ 0 h 25"/>
                <a:gd name="T10" fmla="*/ 262 w 274"/>
                <a:gd name="T11" fmla="*/ 0 h 25"/>
                <a:gd name="T12" fmla="*/ 273 w 274"/>
                <a:gd name="T13" fmla="*/ 13 h 25"/>
                <a:gd name="T14" fmla="*/ 262 w 274"/>
                <a:gd name="T15" fmla="*/ 24 h 25"/>
                <a:gd name="T16" fmla="*/ 154 w 274"/>
                <a:gd name="T17" fmla="*/ 24 h 25"/>
                <a:gd name="T18" fmla="*/ 154 w 274"/>
                <a:gd name="T19" fmla="*/ 24 h 25"/>
                <a:gd name="T20" fmla="*/ 119 w 274"/>
                <a:gd name="T21" fmla="*/ 24 h 25"/>
                <a:gd name="T22" fmla="*/ 108 w 274"/>
                <a:gd name="T23" fmla="*/ 13 h 25"/>
                <a:gd name="T24" fmla="*/ 119 w 274"/>
                <a:gd name="T25" fmla="*/ 0 h 25"/>
                <a:gd name="T26" fmla="*/ 154 w 274"/>
                <a:gd name="T27" fmla="*/ 0 h 25"/>
                <a:gd name="T28" fmla="*/ 166 w 274"/>
                <a:gd name="T29" fmla="*/ 13 h 25"/>
                <a:gd name="T30" fmla="*/ 154 w 274"/>
                <a:gd name="T31" fmla="*/ 24 h 25"/>
                <a:gd name="T32" fmla="*/ 47 w 274"/>
                <a:gd name="T33" fmla="*/ 24 h 25"/>
                <a:gd name="T34" fmla="*/ 47 w 274"/>
                <a:gd name="T35" fmla="*/ 24 h 25"/>
                <a:gd name="T36" fmla="*/ 12 w 274"/>
                <a:gd name="T37" fmla="*/ 24 h 25"/>
                <a:gd name="T38" fmla="*/ 0 w 274"/>
                <a:gd name="T39" fmla="*/ 13 h 25"/>
                <a:gd name="T40" fmla="*/ 12 w 274"/>
                <a:gd name="T41" fmla="*/ 0 h 25"/>
                <a:gd name="T42" fmla="*/ 47 w 274"/>
                <a:gd name="T43" fmla="*/ 0 h 25"/>
                <a:gd name="T44" fmla="*/ 60 w 274"/>
                <a:gd name="T45" fmla="*/ 13 h 25"/>
                <a:gd name="T46" fmla="*/ 47 w 274"/>
                <a:gd name="T47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4" h="25">
                  <a:moveTo>
                    <a:pt x="262" y="24"/>
                  </a:moveTo>
                  <a:lnTo>
                    <a:pt x="262" y="24"/>
                  </a:lnTo>
                  <a:cubicBezTo>
                    <a:pt x="225" y="24"/>
                    <a:pt x="225" y="24"/>
                    <a:pt x="225" y="24"/>
                  </a:cubicBezTo>
                  <a:cubicBezTo>
                    <a:pt x="219" y="24"/>
                    <a:pt x="214" y="19"/>
                    <a:pt x="214" y="13"/>
                  </a:cubicBezTo>
                  <a:cubicBezTo>
                    <a:pt x="214" y="7"/>
                    <a:pt x="219" y="0"/>
                    <a:pt x="225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8" y="0"/>
                    <a:pt x="273" y="7"/>
                    <a:pt x="273" y="13"/>
                  </a:cubicBezTo>
                  <a:cubicBezTo>
                    <a:pt x="273" y="19"/>
                    <a:pt x="268" y="24"/>
                    <a:pt x="262" y="24"/>
                  </a:cubicBezTo>
                  <a:close/>
                  <a:moveTo>
                    <a:pt x="154" y="24"/>
                  </a:moveTo>
                  <a:lnTo>
                    <a:pt x="154" y="24"/>
                  </a:lnTo>
                  <a:cubicBezTo>
                    <a:pt x="119" y="24"/>
                    <a:pt x="119" y="24"/>
                    <a:pt x="119" y="24"/>
                  </a:cubicBezTo>
                  <a:cubicBezTo>
                    <a:pt x="113" y="24"/>
                    <a:pt x="108" y="19"/>
                    <a:pt x="108" y="13"/>
                  </a:cubicBezTo>
                  <a:cubicBezTo>
                    <a:pt x="108" y="7"/>
                    <a:pt x="113" y="0"/>
                    <a:pt x="119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61" y="0"/>
                    <a:pt x="166" y="7"/>
                    <a:pt x="166" y="13"/>
                  </a:cubicBezTo>
                  <a:cubicBezTo>
                    <a:pt x="166" y="19"/>
                    <a:pt x="161" y="24"/>
                    <a:pt x="154" y="24"/>
                  </a:cubicBezTo>
                  <a:close/>
                  <a:moveTo>
                    <a:pt x="47" y="24"/>
                  </a:moveTo>
                  <a:lnTo>
                    <a:pt x="47" y="24"/>
                  </a:lnTo>
                  <a:cubicBezTo>
                    <a:pt x="12" y="24"/>
                    <a:pt x="12" y="24"/>
                    <a:pt x="12" y="24"/>
                  </a:cubicBezTo>
                  <a:cubicBezTo>
                    <a:pt x="6" y="24"/>
                    <a:pt x="0" y="19"/>
                    <a:pt x="0" y="13"/>
                  </a:cubicBezTo>
                  <a:cubicBezTo>
                    <a:pt x="0" y="7"/>
                    <a:pt x="6" y="0"/>
                    <a:pt x="1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4" y="0"/>
                    <a:pt x="60" y="7"/>
                    <a:pt x="60" y="13"/>
                  </a:cubicBezTo>
                  <a:cubicBezTo>
                    <a:pt x="60" y="19"/>
                    <a:pt x="54" y="24"/>
                    <a:pt x="47" y="24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>
                <a:latin typeface="+mn-ea"/>
              </a:endParaRPr>
            </a:p>
          </p:txBody>
        </p:sp>
      </p:grpSp>
      <p:sp>
        <p:nvSpPr>
          <p:cNvPr id="49" name="Freeform 166"/>
          <p:cNvSpPr>
            <a:spLocks noChangeAspect="1" noChangeArrowheads="1"/>
          </p:cNvSpPr>
          <p:nvPr/>
        </p:nvSpPr>
        <p:spPr bwMode="auto">
          <a:xfrm>
            <a:off x="4511584" y="1344074"/>
            <a:ext cx="1038585" cy="1269201"/>
          </a:xfrm>
          <a:custGeom>
            <a:avLst/>
            <a:gdLst>
              <a:gd name="T0" fmla="*/ 26342358 w 394"/>
              <a:gd name="T1" fmla="*/ 0 h 511"/>
              <a:gd name="T2" fmla="*/ 0 w 394"/>
              <a:gd name="T3" fmla="*/ 27520686 h 511"/>
              <a:gd name="T4" fmla="*/ 82025463 w 394"/>
              <a:gd name="T5" fmla="*/ 109653647 h 511"/>
              <a:gd name="T6" fmla="*/ 82025463 w 394"/>
              <a:gd name="T7" fmla="*/ 0 h 511"/>
              <a:gd name="T8" fmla="*/ 47972830 w 394"/>
              <a:gd name="T9" fmla="*/ 4515033 h 511"/>
              <a:gd name="T10" fmla="*/ 54183679 w 394"/>
              <a:gd name="T11" fmla="*/ 21715578 h 511"/>
              <a:gd name="T12" fmla="*/ 25271538 w 394"/>
              <a:gd name="T13" fmla="*/ 6450378 h 511"/>
              <a:gd name="T14" fmla="*/ 7709812 w 394"/>
              <a:gd name="T15" fmla="*/ 25370561 h 511"/>
              <a:gd name="T16" fmla="*/ 47544687 w 394"/>
              <a:gd name="T17" fmla="*/ 33541039 h 511"/>
              <a:gd name="T18" fmla="*/ 49472256 w 394"/>
              <a:gd name="T19" fmla="*/ 36335971 h 511"/>
              <a:gd name="T20" fmla="*/ 47544687 w 394"/>
              <a:gd name="T21" fmla="*/ 40851467 h 511"/>
              <a:gd name="T22" fmla="*/ 49472256 w 394"/>
              <a:gd name="T23" fmla="*/ 43646400 h 511"/>
              <a:gd name="T24" fmla="*/ 47544687 w 394"/>
              <a:gd name="T25" fmla="*/ 47946652 h 511"/>
              <a:gd name="T26" fmla="*/ 49472256 w 394"/>
              <a:gd name="T27" fmla="*/ 50741584 h 511"/>
              <a:gd name="T28" fmla="*/ 47544687 w 394"/>
              <a:gd name="T29" fmla="*/ 55256617 h 511"/>
              <a:gd name="T30" fmla="*/ 49472256 w 394"/>
              <a:gd name="T31" fmla="*/ 58052012 h 511"/>
              <a:gd name="T32" fmla="*/ 47544687 w 394"/>
              <a:gd name="T33" fmla="*/ 62567045 h 511"/>
              <a:gd name="T34" fmla="*/ 49472256 w 394"/>
              <a:gd name="T35" fmla="*/ 65361978 h 511"/>
              <a:gd name="T36" fmla="*/ 47544687 w 394"/>
              <a:gd name="T37" fmla="*/ 69662230 h 511"/>
              <a:gd name="T38" fmla="*/ 49472256 w 394"/>
              <a:gd name="T39" fmla="*/ 72457162 h 511"/>
              <a:gd name="T40" fmla="*/ 47544687 w 394"/>
              <a:gd name="T41" fmla="*/ 76972195 h 511"/>
              <a:gd name="T42" fmla="*/ 49472256 w 394"/>
              <a:gd name="T43" fmla="*/ 79767590 h 511"/>
              <a:gd name="T44" fmla="*/ 47544687 w 394"/>
              <a:gd name="T45" fmla="*/ 84282623 h 511"/>
              <a:gd name="T46" fmla="*/ 49472256 w 394"/>
              <a:gd name="T47" fmla="*/ 87077555 h 511"/>
              <a:gd name="T48" fmla="*/ 47544687 w 394"/>
              <a:gd name="T49" fmla="*/ 91593051 h 511"/>
              <a:gd name="T50" fmla="*/ 49472256 w 394"/>
              <a:gd name="T51" fmla="*/ 94387984 h 511"/>
              <a:gd name="T52" fmla="*/ 47544687 w 394"/>
              <a:gd name="T53" fmla="*/ 98688236 h 511"/>
              <a:gd name="T54" fmla="*/ 49472256 w 394"/>
              <a:gd name="T55" fmla="*/ 101483168 h 511"/>
              <a:gd name="T56" fmla="*/ 45831190 w 394"/>
              <a:gd name="T57" fmla="*/ 105138151 h 511"/>
              <a:gd name="T58" fmla="*/ 27841321 w 394"/>
              <a:gd name="T59" fmla="*/ 29886056 h 511"/>
              <a:gd name="T60" fmla="*/ 43689550 w 394"/>
              <a:gd name="T61" fmla="*/ 4515033 h 511"/>
              <a:gd name="T62" fmla="*/ 49472256 w 394"/>
              <a:gd name="T63" fmla="*/ 26230611 h 511"/>
              <a:gd name="T64" fmla="*/ 47544687 w 394"/>
              <a:gd name="T65" fmla="*/ 29026006 h 511"/>
              <a:gd name="T66" fmla="*/ 58895565 w 394"/>
              <a:gd name="T67" fmla="*/ 24080948 h 511"/>
              <a:gd name="T68" fmla="*/ 79455217 w 394"/>
              <a:gd name="T69" fmla="*/ 4515033 h 511"/>
              <a:gd name="T70" fmla="*/ 53327394 w 394"/>
              <a:gd name="T71" fmla="*/ 103848075 h 511"/>
              <a:gd name="T72" fmla="*/ 56967996 w 394"/>
              <a:gd name="T73" fmla="*/ 100193092 h 511"/>
              <a:gd name="T74" fmla="*/ 53327394 w 394"/>
              <a:gd name="T75" fmla="*/ 96538110 h 511"/>
              <a:gd name="T76" fmla="*/ 56967996 w 394"/>
              <a:gd name="T77" fmla="*/ 92883127 h 511"/>
              <a:gd name="T78" fmla="*/ 53327394 w 394"/>
              <a:gd name="T79" fmla="*/ 89227681 h 511"/>
              <a:gd name="T80" fmla="*/ 56967996 w 394"/>
              <a:gd name="T81" fmla="*/ 85572699 h 511"/>
              <a:gd name="T82" fmla="*/ 53327394 w 394"/>
              <a:gd name="T83" fmla="*/ 82132497 h 511"/>
              <a:gd name="T84" fmla="*/ 56967996 w 394"/>
              <a:gd name="T85" fmla="*/ 78477514 h 511"/>
              <a:gd name="T86" fmla="*/ 53327394 w 394"/>
              <a:gd name="T87" fmla="*/ 74822532 h 511"/>
              <a:gd name="T88" fmla="*/ 56967996 w 394"/>
              <a:gd name="T89" fmla="*/ 71167086 h 511"/>
              <a:gd name="T90" fmla="*/ 53327394 w 394"/>
              <a:gd name="T91" fmla="*/ 67512104 h 511"/>
              <a:gd name="T92" fmla="*/ 56967996 w 394"/>
              <a:gd name="T93" fmla="*/ 63857121 h 511"/>
              <a:gd name="T94" fmla="*/ 53327394 w 394"/>
              <a:gd name="T95" fmla="*/ 60201675 h 511"/>
              <a:gd name="T96" fmla="*/ 56967996 w 394"/>
              <a:gd name="T97" fmla="*/ 56761937 h 511"/>
              <a:gd name="T98" fmla="*/ 53327394 w 394"/>
              <a:gd name="T99" fmla="*/ 53106491 h 511"/>
              <a:gd name="T100" fmla="*/ 56967996 w 394"/>
              <a:gd name="T101" fmla="*/ 49451508 h 511"/>
              <a:gd name="T102" fmla="*/ 53327394 w 394"/>
              <a:gd name="T103" fmla="*/ 45796526 h 511"/>
              <a:gd name="T104" fmla="*/ 56967996 w 394"/>
              <a:gd name="T105" fmla="*/ 42141543 h 511"/>
              <a:gd name="T106" fmla="*/ 53327394 w 394"/>
              <a:gd name="T107" fmla="*/ 38486097 h 511"/>
              <a:gd name="T108" fmla="*/ 56967996 w 394"/>
              <a:gd name="T109" fmla="*/ 34831115 h 511"/>
              <a:gd name="T110" fmla="*/ 53327394 w 394"/>
              <a:gd name="T111" fmla="*/ 31390913 h 511"/>
              <a:gd name="T112" fmla="*/ 56967996 w 394"/>
              <a:gd name="T113" fmla="*/ 27735931 h 511"/>
              <a:gd name="T114" fmla="*/ 58895565 w 394"/>
              <a:gd name="T115" fmla="*/ 24080948 h 51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394" h="511">
                <a:moveTo>
                  <a:pt x="214" y="0"/>
                </a:moveTo>
                <a:lnTo>
                  <a:pt x="214" y="0"/>
                </a:lnTo>
                <a:cubicBezTo>
                  <a:pt x="123" y="0"/>
                  <a:pt x="123" y="0"/>
                  <a:pt x="123" y="0"/>
                </a:cubicBezTo>
                <a:cubicBezTo>
                  <a:pt x="120" y="0"/>
                  <a:pt x="117" y="1"/>
                  <a:pt x="116" y="4"/>
                </a:cubicBezTo>
                <a:cubicBezTo>
                  <a:pt x="3" y="121"/>
                  <a:pt x="3" y="121"/>
                  <a:pt x="3" y="121"/>
                </a:cubicBezTo>
                <a:cubicBezTo>
                  <a:pt x="2" y="124"/>
                  <a:pt x="0" y="126"/>
                  <a:pt x="0" y="128"/>
                </a:cubicBezTo>
                <a:cubicBezTo>
                  <a:pt x="0" y="499"/>
                  <a:pt x="0" y="499"/>
                  <a:pt x="0" y="499"/>
                </a:cubicBezTo>
                <a:cubicBezTo>
                  <a:pt x="0" y="506"/>
                  <a:pt x="6" y="510"/>
                  <a:pt x="12" y="510"/>
                </a:cubicBezTo>
                <a:cubicBezTo>
                  <a:pt x="383" y="510"/>
                  <a:pt x="383" y="510"/>
                  <a:pt x="383" y="510"/>
                </a:cubicBezTo>
                <a:cubicBezTo>
                  <a:pt x="388" y="510"/>
                  <a:pt x="393" y="506"/>
                  <a:pt x="393" y="499"/>
                </a:cubicBezTo>
                <a:cubicBezTo>
                  <a:pt x="393" y="11"/>
                  <a:pt x="393" y="11"/>
                  <a:pt x="393" y="11"/>
                </a:cubicBezTo>
                <a:cubicBezTo>
                  <a:pt x="393" y="6"/>
                  <a:pt x="388" y="0"/>
                  <a:pt x="383" y="0"/>
                </a:cubicBezTo>
                <a:cubicBezTo>
                  <a:pt x="265" y="0"/>
                  <a:pt x="265" y="0"/>
                  <a:pt x="265" y="0"/>
                </a:cubicBezTo>
                <a:lnTo>
                  <a:pt x="214" y="0"/>
                </a:lnTo>
                <a:close/>
                <a:moveTo>
                  <a:pt x="224" y="21"/>
                </a:moveTo>
                <a:lnTo>
                  <a:pt x="224" y="21"/>
                </a:lnTo>
                <a:cubicBezTo>
                  <a:pt x="253" y="21"/>
                  <a:pt x="253" y="21"/>
                  <a:pt x="253" y="21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24" y="101"/>
                  <a:pt x="224" y="101"/>
                  <a:pt x="224" y="101"/>
                </a:cubicBezTo>
                <a:lnTo>
                  <a:pt x="224" y="21"/>
                </a:lnTo>
                <a:close/>
                <a:moveTo>
                  <a:pt x="118" y="30"/>
                </a:moveTo>
                <a:lnTo>
                  <a:pt x="118" y="30"/>
                </a:lnTo>
                <a:cubicBezTo>
                  <a:pt x="118" y="118"/>
                  <a:pt x="118" y="118"/>
                  <a:pt x="118" y="118"/>
                </a:cubicBezTo>
                <a:cubicBezTo>
                  <a:pt x="36" y="118"/>
                  <a:pt x="36" y="118"/>
                  <a:pt x="36" y="118"/>
                </a:cubicBezTo>
                <a:lnTo>
                  <a:pt x="118" y="30"/>
                </a:lnTo>
                <a:close/>
                <a:moveTo>
                  <a:pt x="222" y="156"/>
                </a:moveTo>
                <a:lnTo>
                  <a:pt x="222" y="156"/>
                </a:lnTo>
                <a:cubicBezTo>
                  <a:pt x="231" y="156"/>
                  <a:pt x="231" y="156"/>
                  <a:pt x="231" y="156"/>
                </a:cubicBezTo>
                <a:cubicBezTo>
                  <a:pt x="229" y="158"/>
                  <a:pt x="228" y="160"/>
                  <a:pt x="228" y="162"/>
                </a:cubicBezTo>
                <a:cubicBezTo>
                  <a:pt x="228" y="165"/>
                  <a:pt x="229" y="168"/>
                  <a:pt x="231" y="169"/>
                </a:cubicBezTo>
                <a:cubicBezTo>
                  <a:pt x="222" y="169"/>
                  <a:pt x="222" y="169"/>
                  <a:pt x="222" y="169"/>
                </a:cubicBezTo>
                <a:cubicBezTo>
                  <a:pt x="216" y="169"/>
                  <a:pt x="211" y="173"/>
                  <a:pt x="211" y="179"/>
                </a:cubicBezTo>
                <a:cubicBezTo>
                  <a:pt x="211" y="185"/>
                  <a:pt x="216" y="190"/>
                  <a:pt x="222" y="190"/>
                </a:cubicBezTo>
                <a:cubicBezTo>
                  <a:pt x="231" y="190"/>
                  <a:pt x="231" y="190"/>
                  <a:pt x="231" y="190"/>
                </a:cubicBezTo>
                <a:cubicBezTo>
                  <a:pt x="229" y="192"/>
                  <a:pt x="228" y="193"/>
                  <a:pt x="228" y="196"/>
                </a:cubicBezTo>
                <a:cubicBezTo>
                  <a:pt x="228" y="199"/>
                  <a:pt x="229" y="200"/>
                  <a:pt x="231" y="203"/>
                </a:cubicBezTo>
                <a:cubicBezTo>
                  <a:pt x="222" y="203"/>
                  <a:pt x="222" y="203"/>
                  <a:pt x="222" y="203"/>
                </a:cubicBezTo>
                <a:cubicBezTo>
                  <a:pt x="216" y="203"/>
                  <a:pt x="211" y="207"/>
                  <a:pt x="211" y="213"/>
                </a:cubicBezTo>
                <a:cubicBezTo>
                  <a:pt x="211" y="219"/>
                  <a:pt x="216" y="223"/>
                  <a:pt x="222" y="223"/>
                </a:cubicBezTo>
                <a:cubicBezTo>
                  <a:pt x="231" y="223"/>
                  <a:pt x="231" y="223"/>
                  <a:pt x="231" y="223"/>
                </a:cubicBezTo>
                <a:cubicBezTo>
                  <a:pt x="229" y="226"/>
                  <a:pt x="228" y="227"/>
                  <a:pt x="228" y="230"/>
                </a:cubicBezTo>
                <a:cubicBezTo>
                  <a:pt x="228" y="233"/>
                  <a:pt x="229" y="234"/>
                  <a:pt x="231" y="236"/>
                </a:cubicBezTo>
                <a:cubicBezTo>
                  <a:pt x="222" y="236"/>
                  <a:pt x="222" y="236"/>
                  <a:pt x="222" y="236"/>
                </a:cubicBezTo>
                <a:cubicBezTo>
                  <a:pt x="216" y="236"/>
                  <a:pt x="211" y="241"/>
                  <a:pt x="211" y="247"/>
                </a:cubicBezTo>
                <a:cubicBezTo>
                  <a:pt x="211" y="253"/>
                  <a:pt x="216" y="257"/>
                  <a:pt x="222" y="257"/>
                </a:cubicBezTo>
                <a:cubicBezTo>
                  <a:pt x="231" y="257"/>
                  <a:pt x="231" y="257"/>
                  <a:pt x="231" y="257"/>
                </a:cubicBezTo>
                <a:cubicBezTo>
                  <a:pt x="229" y="259"/>
                  <a:pt x="228" y="261"/>
                  <a:pt x="228" y="264"/>
                </a:cubicBezTo>
                <a:cubicBezTo>
                  <a:pt x="228" y="266"/>
                  <a:pt x="229" y="268"/>
                  <a:pt x="231" y="270"/>
                </a:cubicBezTo>
                <a:cubicBezTo>
                  <a:pt x="222" y="270"/>
                  <a:pt x="222" y="270"/>
                  <a:pt x="222" y="270"/>
                </a:cubicBezTo>
                <a:cubicBezTo>
                  <a:pt x="216" y="270"/>
                  <a:pt x="211" y="274"/>
                  <a:pt x="211" y="280"/>
                </a:cubicBezTo>
                <a:cubicBezTo>
                  <a:pt x="211" y="285"/>
                  <a:pt x="216" y="291"/>
                  <a:pt x="222" y="291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29" y="293"/>
                  <a:pt x="228" y="294"/>
                  <a:pt x="228" y="297"/>
                </a:cubicBezTo>
                <a:cubicBezTo>
                  <a:pt x="228" y="300"/>
                  <a:pt x="229" y="301"/>
                  <a:pt x="231" y="304"/>
                </a:cubicBezTo>
                <a:cubicBezTo>
                  <a:pt x="222" y="304"/>
                  <a:pt x="222" y="304"/>
                  <a:pt x="222" y="304"/>
                </a:cubicBezTo>
                <a:cubicBezTo>
                  <a:pt x="216" y="304"/>
                  <a:pt x="211" y="308"/>
                  <a:pt x="211" y="314"/>
                </a:cubicBezTo>
                <a:cubicBezTo>
                  <a:pt x="211" y="320"/>
                  <a:pt x="216" y="324"/>
                  <a:pt x="222" y="324"/>
                </a:cubicBezTo>
                <a:cubicBezTo>
                  <a:pt x="231" y="324"/>
                  <a:pt x="231" y="324"/>
                  <a:pt x="231" y="324"/>
                </a:cubicBezTo>
                <a:cubicBezTo>
                  <a:pt x="229" y="327"/>
                  <a:pt x="228" y="328"/>
                  <a:pt x="228" y="331"/>
                </a:cubicBezTo>
                <a:cubicBezTo>
                  <a:pt x="228" y="334"/>
                  <a:pt x="229" y="335"/>
                  <a:pt x="231" y="337"/>
                </a:cubicBezTo>
                <a:cubicBezTo>
                  <a:pt x="222" y="337"/>
                  <a:pt x="222" y="337"/>
                  <a:pt x="222" y="337"/>
                </a:cubicBezTo>
                <a:cubicBezTo>
                  <a:pt x="216" y="337"/>
                  <a:pt x="211" y="342"/>
                  <a:pt x="211" y="348"/>
                </a:cubicBezTo>
                <a:cubicBezTo>
                  <a:pt x="211" y="354"/>
                  <a:pt x="216" y="358"/>
                  <a:pt x="222" y="358"/>
                </a:cubicBezTo>
                <a:cubicBezTo>
                  <a:pt x="231" y="358"/>
                  <a:pt x="231" y="358"/>
                  <a:pt x="231" y="358"/>
                </a:cubicBezTo>
                <a:cubicBezTo>
                  <a:pt x="229" y="359"/>
                  <a:pt x="228" y="362"/>
                  <a:pt x="228" y="365"/>
                </a:cubicBezTo>
                <a:cubicBezTo>
                  <a:pt x="228" y="367"/>
                  <a:pt x="229" y="369"/>
                  <a:pt x="231" y="371"/>
                </a:cubicBezTo>
                <a:cubicBezTo>
                  <a:pt x="222" y="371"/>
                  <a:pt x="222" y="371"/>
                  <a:pt x="222" y="371"/>
                </a:cubicBezTo>
                <a:cubicBezTo>
                  <a:pt x="216" y="371"/>
                  <a:pt x="211" y="375"/>
                  <a:pt x="211" y="382"/>
                </a:cubicBezTo>
                <a:cubicBezTo>
                  <a:pt x="211" y="388"/>
                  <a:pt x="216" y="392"/>
                  <a:pt x="222" y="392"/>
                </a:cubicBezTo>
                <a:cubicBezTo>
                  <a:pt x="231" y="392"/>
                  <a:pt x="231" y="392"/>
                  <a:pt x="231" y="392"/>
                </a:cubicBezTo>
                <a:cubicBezTo>
                  <a:pt x="229" y="393"/>
                  <a:pt x="228" y="396"/>
                  <a:pt x="228" y="398"/>
                </a:cubicBezTo>
                <a:cubicBezTo>
                  <a:pt x="228" y="401"/>
                  <a:pt x="229" y="403"/>
                  <a:pt x="231" y="405"/>
                </a:cubicBezTo>
                <a:cubicBezTo>
                  <a:pt x="222" y="405"/>
                  <a:pt x="222" y="405"/>
                  <a:pt x="222" y="405"/>
                </a:cubicBezTo>
                <a:cubicBezTo>
                  <a:pt x="216" y="405"/>
                  <a:pt x="211" y="409"/>
                  <a:pt x="211" y="415"/>
                </a:cubicBezTo>
                <a:cubicBezTo>
                  <a:pt x="211" y="420"/>
                  <a:pt x="216" y="426"/>
                  <a:pt x="222" y="426"/>
                </a:cubicBezTo>
                <a:cubicBezTo>
                  <a:pt x="231" y="426"/>
                  <a:pt x="231" y="426"/>
                  <a:pt x="231" y="426"/>
                </a:cubicBezTo>
                <a:cubicBezTo>
                  <a:pt x="229" y="428"/>
                  <a:pt x="228" y="429"/>
                  <a:pt x="228" y="432"/>
                </a:cubicBezTo>
                <a:cubicBezTo>
                  <a:pt x="228" y="435"/>
                  <a:pt x="229" y="436"/>
                  <a:pt x="231" y="439"/>
                </a:cubicBezTo>
                <a:cubicBezTo>
                  <a:pt x="222" y="439"/>
                  <a:pt x="222" y="439"/>
                  <a:pt x="222" y="439"/>
                </a:cubicBezTo>
                <a:cubicBezTo>
                  <a:pt x="216" y="439"/>
                  <a:pt x="211" y="443"/>
                  <a:pt x="211" y="449"/>
                </a:cubicBezTo>
                <a:cubicBezTo>
                  <a:pt x="211" y="455"/>
                  <a:pt x="216" y="459"/>
                  <a:pt x="222" y="459"/>
                </a:cubicBezTo>
                <a:cubicBezTo>
                  <a:pt x="231" y="459"/>
                  <a:pt x="231" y="459"/>
                  <a:pt x="231" y="459"/>
                </a:cubicBezTo>
                <a:cubicBezTo>
                  <a:pt x="229" y="462"/>
                  <a:pt x="228" y="463"/>
                  <a:pt x="228" y="466"/>
                </a:cubicBezTo>
                <a:cubicBezTo>
                  <a:pt x="228" y="469"/>
                  <a:pt x="229" y="470"/>
                  <a:pt x="231" y="472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16" y="472"/>
                  <a:pt x="211" y="477"/>
                  <a:pt x="211" y="483"/>
                </a:cubicBezTo>
                <a:cubicBezTo>
                  <a:pt x="211" y="484"/>
                  <a:pt x="212" y="487"/>
                  <a:pt x="214" y="489"/>
                </a:cubicBezTo>
                <a:cubicBezTo>
                  <a:pt x="22" y="489"/>
                  <a:pt x="22" y="489"/>
                  <a:pt x="22" y="489"/>
                </a:cubicBezTo>
                <a:cubicBezTo>
                  <a:pt x="22" y="139"/>
                  <a:pt x="22" y="139"/>
                  <a:pt x="22" y="139"/>
                </a:cubicBezTo>
                <a:cubicBezTo>
                  <a:pt x="130" y="139"/>
                  <a:pt x="130" y="139"/>
                  <a:pt x="130" y="139"/>
                </a:cubicBezTo>
                <a:cubicBezTo>
                  <a:pt x="135" y="139"/>
                  <a:pt x="140" y="135"/>
                  <a:pt x="140" y="129"/>
                </a:cubicBezTo>
                <a:cubicBezTo>
                  <a:pt x="140" y="21"/>
                  <a:pt x="140" y="21"/>
                  <a:pt x="140" y="21"/>
                </a:cubicBezTo>
                <a:cubicBezTo>
                  <a:pt x="204" y="21"/>
                  <a:pt x="204" y="21"/>
                  <a:pt x="204" y="21"/>
                </a:cubicBezTo>
                <a:cubicBezTo>
                  <a:pt x="204" y="112"/>
                  <a:pt x="204" y="112"/>
                  <a:pt x="204" y="112"/>
                </a:cubicBezTo>
                <a:cubicBezTo>
                  <a:pt x="204" y="118"/>
                  <a:pt x="208" y="122"/>
                  <a:pt x="214" y="122"/>
                </a:cubicBezTo>
                <a:cubicBezTo>
                  <a:pt x="231" y="122"/>
                  <a:pt x="231" y="122"/>
                  <a:pt x="231" y="122"/>
                </a:cubicBezTo>
                <a:cubicBezTo>
                  <a:pt x="229" y="125"/>
                  <a:pt x="228" y="126"/>
                  <a:pt x="228" y="129"/>
                </a:cubicBezTo>
                <a:cubicBezTo>
                  <a:pt x="228" y="131"/>
                  <a:pt x="229" y="133"/>
                  <a:pt x="231" y="135"/>
                </a:cubicBezTo>
                <a:cubicBezTo>
                  <a:pt x="222" y="135"/>
                  <a:pt x="222" y="135"/>
                  <a:pt x="222" y="135"/>
                </a:cubicBezTo>
                <a:cubicBezTo>
                  <a:pt x="216" y="135"/>
                  <a:pt x="211" y="139"/>
                  <a:pt x="211" y="146"/>
                </a:cubicBezTo>
                <a:cubicBezTo>
                  <a:pt x="211" y="152"/>
                  <a:pt x="216" y="156"/>
                  <a:pt x="222" y="156"/>
                </a:cubicBezTo>
                <a:close/>
                <a:moveTo>
                  <a:pt x="275" y="112"/>
                </a:moveTo>
                <a:lnTo>
                  <a:pt x="275" y="112"/>
                </a:lnTo>
                <a:cubicBezTo>
                  <a:pt x="275" y="21"/>
                  <a:pt x="275" y="21"/>
                  <a:pt x="275" y="21"/>
                </a:cubicBezTo>
                <a:cubicBezTo>
                  <a:pt x="371" y="21"/>
                  <a:pt x="371" y="21"/>
                  <a:pt x="371" y="21"/>
                </a:cubicBezTo>
                <a:cubicBezTo>
                  <a:pt x="371" y="489"/>
                  <a:pt x="371" y="489"/>
                  <a:pt x="371" y="489"/>
                </a:cubicBezTo>
                <a:cubicBezTo>
                  <a:pt x="246" y="489"/>
                  <a:pt x="246" y="489"/>
                  <a:pt x="246" y="489"/>
                </a:cubicBezTo>
                <a:cubicBezTo>
                  <a:pt x="248" y="487"/>
                  <a:pt x="249" y="484"/>
                  <a:pt x="249" y="483"/>
                </a:cubicBezTo>
                <a:cubicBezTo>
                  <a:pt x="249" y="480"/>
                  <a:pt x="248" y="477"/>
                  <a:pt x="246" y="476"/>
                </a:cubicBezTo>
                <a:cubicBezTo>
                  <a:pt x="256" y="476"/>
                  <a:pt x="256" y="476"/>
                  <a:pt x="256" y="476"/>
                </a:cubicBezTo>
                <a:cubicBezTo>
                  <a:pt x="262" y="476"/>
                  <a:pt x="266" y="472"/>
                  <a:pt x="266" y="466"/>
                </a:cubicBezTo>
                <a:cubicBezTo>
                  <a:pt x="266" y="460"/>
                  <a:pt x="262" y="455"/>
                  <a:pt x="256" y="455"/>
                </a:cubicBezTo>
                <a:cubicBezTo>
                  <a:pt x="246" y="455"/>
                  <a:pt x="246" y="455"/>
                  <a:pt x="246" y="455"/>
                </a:cubicBezTo>
                <a:cubicBezTo>
                  <a:pt x="248" y="453"/>
                  <a:pt x="249" y="452"/>
                  <a:pt x="249" y="449"/>
                </a:cubicBezTo>
                <a:cubicBezTo>
                  <a:pt x="249" y="446"/>
                  <a:pt x="248" y="445"/>
                  <a:pt x="246" y="442"/>
                </a:cubicBezTo>
                <a:cubicBezTo>
                  <a:pt x="256" y="442"/>
                  <a:pt x="256" y="442"/>
                  <a:pt x="256" y="442"/>
                </a:cubicBezTo>
                <a:cubicBezTo>
                  <a:pt x="262" y="442"/>
                  <a:pt x="266" y="438"/>
                  <a:pt x="266" y="432"/>
                </a:cubicBezTo>
                <a:cubicBezTo>
                  <a:pt x="266" y="426"/>
                  <a:pt x="262" y="422"/>
                  <a:pt x="256" y="422"/>
                </a:cubicBezTo>
                <a:cubicBezTo>
                  <a:pt x="246" y="422"/>
                  <a:pt x="246" y="422"/>
                  <a:pt x="246" y="422"/>
                </a:cubicBezTo>
                <a:cubicBezTo>
                  <a:pt x="248" y="419"/>
                  <a:pt x="249" y="418"/>
                  <a:pt x="249" y="415"/>
                </a:cubicBezTo>
                <a:cubicBezTo>
                  <a:pt x="249" y="412"/>
                  <a:pt x="248" y="411"/>
                  <a:pt x="246" y="409"/>
                </a:cubicBezTo>
                <a:cubicBezTo>
                  <a:pt x="256" y="409"/>
                  <a:pt x="256" y="409"/>
                  <a:pt x="256" y="409"/>
                </a:cubicBezTo>
                <a:cubicBezTo>
                  <a:pt x="262" y="409"/>
                  <a:pt x="266" y="403"/>
                  <a:pt x="266" y="398"/>
                </a:cubicBezTo>
                <a:cubicBezTo>
                  <a:pt x="266" y="392"/>
                  <a:pt x="262" y="388"/>
                  <a:pt x="256" y="388"/>
                </a:cubicBezTo>
                <a:cubicBezTo>
                  <a:pt x="246" y="388"/>
                  <a:pt x="246" y="388"/>
                  <a:pt x="246" y="388"/>
                </a:cubicBezTo>
                <a:cubicBezTo>
                  <a:pt x="248" y="386"/>
                  <a:pt x="249" y="384"/>
                  <a:pt x="249" y="382"/>
                </a:cubicBezTo>
                <a:cubicBezTo>
                  <a:pt x="249" y="379"/>
                  <a:pt x="248" y="376"/>
                  <a:pt x="246" y="375"/>
                </a:cubicBezTo>
                <a:cubicBezTo>
                  <a:pt x="256" y="375"/>
                  <a:pt x="256" y="375"/>
                  <a:pt x="256" y="375"/>
                </a:cubicBezTo>
                <a:cubicBezTo>
                  <a:pt x="262" y="375"/>
                  <a:pt x="266" y="371"/>
                  <a:pt x="266" y="365"/>
                </a:cubicBezTo>
                <a:cubicBezTo>
                  <a:pt x="266" y="359"/>
                  <a:pt x="262" y="354"/>
                  <a:pt x="256" y="354"/>
                </a:cubicBezTo>
                <a:cubicBezTo>
                  <a:pt x="246" y="354"/>
                  <a:pt x="246" y="354"/>
                  <a:pt x="246" y="354"/>
                </a:cubicBezTo>
                <a:cubicBezTo>
                  <a:pt x="248" y="352"/>
                  <a:pt x="249" y="351"/>
                  <a:pt x="249" y="348"/>
                </a:cubicBezTo>
                <a:cubicBezTo>
                  <a:pt x="249" y="345"/>
                  <a:pt x="248" y="344"/>
                  <a:pt x="246" y="341"/>
                </a:cubicBezTo>
                <a:cubicBezTo>
                  <a:pt x="256" y="341"/>
                  <a:pt x="256" y="341"/>
                  <a:pt x="256" y="341"/>
                </a:cubicBezTo>
                <a:cubicBezTo>
                  <a:pt x="262" y="341"/>
                  <a:pt x="266" y="337"/>
                  <a:pt x="266" y="331"/>
                </a:cubicBezTo>
                <a:cubicBezTo>
                  <a:pt x="266" y="325"/>
                  <a:pt x="262" y="321"/>
                  <a:pt x="256" y="321"/>
                </a:cubicBezTo>
                <a:cubicBezTo>
                  <a:pt x="246" y="321"/>
                  <a:pt x="246" y="321"/>
                  <a:pt x="246" y="321"/>
                </a:cubicBezTo>
                <a:cubicBezTo>
                  <a:pt x="248" y="318"/>
                  <a:pt x="249" y="317"/>
                  <a:pt x="249" y="314"/>
                </a:cubicBezTo>
                <a:cubicBezTo>
                  <a:pt x="249" y="311"/>
                  <a:pt x="248" y="310"/>
                  <a:pt x="246" y="308"/>
                </a:cubicBezTo>
                <a:cubicBezTo>
                  <a:pt x="256" y="308"/>
                  <a:pt x="256" y="308"/>
                  <a:pt x="256" y="308"/>
                </a:cubicBezTo>
                <a:cubicBezTo>
                  <a:pt x="262" y="308"/>
                  <a:pt x="266" y="303"/>
                  <a:pt x="266" y="297"/>
                </a:cubicBezTo>
                <a:cubicBezTo>
                  <a:pt x="266" y="291"/>
                  <a:pt x="262" y="287"/>
                  <a:pt x="256" y="287"/>
                </a:cubicBezTo>
                <a:cubicBezTo>
                  <a:pt x="246" y="287"/>
                  <a:pt x="246" y="287"/>
                  <a:pt x="246" y="287"/>
                </a:cubicBezTo>
                <a:cubicBezTo>
                  <a:pt x="248" y="285"/>
                  <a:pt x="249" y="283"/>
                  <a:pt x="249" y="280"/>
                </a:cubicBezTo>
                <a:cubicBezTo>
                  <a:pt x="249" y="278"/>
                  <a:pt x="248" y="276"/>
                  <a:pt x="246" y="274"/>
                </a:cubicBezTo>
                <a:cubicBezTo>
                  <a:pt x="256" y="274"/>
                  <a:pt x="256" y="274"/>
                  <a:pt x="256" y="274"/>
                </a:cubicBezTo>
                <a:cubicBezTo>
                  <a:pt x="262" y="274"/>
                  <a:pt x="266" y="270"/>
                  <a:pt x="266" y="264"/>
                </a:cubicBezTo>
                <a:cubicBezTo>
                  <a:pt x="266" y="257"/>
                  <a:pt x="262" y="253"/>
                  <a:pt x="256" y="253"/>
                </a:cubicBezTo>
                <a:cubicBezTo>
                  <a:pt x="246" y="253"/>
                  <a:pt x="246" y="253"/>
                  <a:pt x="246" y="253"/>
                </a:cubicBezTo>
                <a:cubicBezTo>
                  <a:pt x="248" y="251"/>
                  <a:pt x="249" y="249"/>
                  <a:pt x="249" y="247"/>
                </a:cubicBezTo>
                <a:cubicBezTo>
                  <a:pt x="249" y="244"/>
                  <a:pt x="248" y="241"/>
                  <a:pt x="246" y="240"/>
                </a:cubicBezTo>
                <a:cubicBezTo>
                  <a:pt x="256" y="240"/>
                  <a:pt x="256" y="240"/>
                  <a:pt x="256" y="240"/>
                </a:cubicBezTo>
                <a:cubicBezTo>
                  <a:pt x="262" y="240"/>
                  <a:pt x="266" y="236"/>
                  <a:pt x="266" y="230"/>
                </a:cubicBezTo>
                <a:cubicBezTo>
                  <a:pt x="266" y="224"/>
                  <a:pt x="262" y="219"/>
                  <a:pt x="256" y="219"/>
                </a:cubicBezTo>
                <a:cubicBezTo>
                  <a:pt x="246" y="219"/>
                  <a:pt x="246" y="219"/>
                  <a:pt x="246" y="219"/>
                </a:cubicBezTo>
                <a:cubicBezTo>
                  <a:pt x="248" y="217"/>
                  <a:pt x="249" y="216"/>
                  <a:pt x="249" y="213"/>
                </a:cubicBezTo>
                <a:cubicBezTo>
                  <a:pt x="249" y="210"/>
                  <a:pt x="248" y="209"/>
                  <a:pt x="246" y="207"/>
                </a:cubicBezTo>
                <a:cubicBezTo>
                  <a:pt x="256" y="207"/>
                  <a:pt x="256" y="207"/>
                  <a:pt x="256" y="207"/>
                </a:cubicBezTo>
                <a:cubicBezTo>
                  <a:pt x="262" y="207"/>
                  <a:pt x="266" y="202"/>
                  <a:pt x="266" y="196"/>
                </a:cubicBezTo>
                <a:cubicBezTo>
                  <a:pt x="266" y="190"/>
                  <a:pt x="262" y="186"/>
                  <a:pt x="256" y="186"/>
                </a:cubicBezTo>
                <a:cubicBezTo>
                  <a:pt x="246" y="186"/>
                  <a:pt x="246" y="186"/>
                  <a:pt x="246" y="186"/>
                </a:cubicBezTo>
                <a:cubicBezTo>
                  <a:pt x="248" y="183"/>
                  <a:pt x="249" y="182"/>
                  <a:pt x="249" y="179"/>
                </a:cubicBezTo>
                <a:cubicBezTo>
                  <a:pt x="249" y="177"/>
                  <a:pt x="248" y="175"/>
                  <a:pt x="246" y="173"/>
                </a:cubicBezTo>
                <a:cubicBezTo>
                  <a:pt x="256" y="173"/>
                  <a:pt x="256" y="173"/>
                  <a:pt x="256" y="173"/>
                </a:cubicBezTo>
                <a:cubicBezTo>
                  <a:pt x="262" y="173"/>
                  <a:pt x="266" y="168"/>
                  <a:pt x="266" y="162"/>
                </a:cubicBezTo>
                <a:cubicBezTo>
                  <a:pt x="266" y="156"/>
                  <a:pt x="262" y="152"/>
                  <a:pt x="256" y="152"/>
                </a:cubicBezTo>
                <a:cubicBezTo>
                  <a:pt x="246" y="152"/>
                  <a:pt x="246" y="152"/>
                  <a:pt x="246" y="152"/>
                </a:cubicBezTo>
                <a:cubicBezTo>
                  <a:pt x="248" y="151"/>
                  <a:pt x="249" y="148"/>
                  <a:pt x="249" y="146"/>
                </a:cubicBezTo>
                <a:cubicBezTo>
                  <a:pt x="249" y="143"/>
                  <a:pt x="248" y="141"/>
                  <a:pt x="246" y="139"/>
                </a:cubicBezTo>
                <a:cubicBezTo>
                  <a:pt x="256" y="139"/>
                  <a:pt x="256" y="139"/>
                  <a:pt x="256" y="139"/>
                </a:cubicBezTo>
                <a:cubicBezTo>
                  <a:pt x="262" y="139"/>
                  <a:pt x="266" y="135"/>
                  <a:pt x="266" y="129"/>
                </a:cubicBezTo>
                <a:cubicBezTo>
                  <a:pt x="266" y="126"/>
                  <a:pt x="265" y="125"/>
                  <a:pt x="263" y="122"/>
                </a:cubicBezTo>
                <a:cubicBezTo>
                  <a:pt x="265" y="122"/>
                  <a:pt x="265" y="122"/>
                  <a:pt x="265" y="122"/>
                </a:cubicBezTo>
                <a:cubicBezTo>
                  <a:pt x="270" y="122"/>
                  <a:pt x="275" y="118"/>
                  <a:pt x="275" y="112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9BB9FE"/>
            </a:solidFill>
          </a:ln>
        </p:spPr>
        <p:txBody>
          <a:bodyPr wrap="none" anchor="ctr"/>
          <a:lstStyle/>
          <a:p>
            <a:endParaRPr lang="en-US" sz="750">
              <a:latin typeface="+mn-ea"/>
            </a:endParaRPr>
          </a:p>
        </p:txBody>
      </p:sp>
      <p:sp>
        <p:nvSpPr>
          <p:cNvPr id="50" name="Rectangle 86"/>
          <p:cNvSpPr/>
          <p:nvPr/>
        </p:nvSpPr>
        <p:spPr>
          <a:xfrm>
            <a:off x="731750" y="2755268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Native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Columnar Storage</a:t>
            </a:r>
          </a:p>
        </p:txBody>
      </p:sp>
      <p:sp>
        <p:nvSpPr>
          <p:cNvPr id="51" name="Rectangle 89"/>
          <p:cNvSpPr/>
          <p:nvPr/>
        </p:nvSpPr>
        <p:spPr>
          <a:xfrm>
            <a:off x="4229350" y="2755268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Compression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/Encoding</a:t>
            </a:r>
          </a:p>
        </p:txBody>
      </p:sp>
      <p:sp>
        <p:nvSpPr>
          <p:cNvPr id="52" name="Rectangle 99"/>
          <p:cNvSpPr/>
          <p:nvPr/>
        </p:nvSpPr>
        <p:spPr>
          <a:xfrm>
            <a:off x="7443675" y="5752338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MPP Scale-out</a:t>
            </a:r>
          </a:p>
        </p:txBody>
      </p:sp>
      <p:sp>
        <p:nvSpPr>
          <p:cNvPr id="53" name="Rectangle 102"/>
          <p:cNvSpPr/>
          <p:nvPr/>
        </p:nvSpPr>
        <p:spPr>
          <a:xfrm>
            <a:off x="731750" y="5752338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Distributed Query  </a:t>
            </a:r>
          </a:p>
        </p:txBody>
      </p:sp>
      <p:sp>
        <p:nvSpPr>
          <p:cNvPr id="54" name="Rectangle 105"/>
          <p:cNvSpPr/>
          <p:nvPr/>
        </p:nvSpPr>
        <p:spPr>
          <a:xfrm>
            <a:off x="7407979" y="2682697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ea"/>
              </a:rPr>
              <a:t>Projections</a:t>
            </a:r>
          </a:p>
        </p:txBody>
      </p:sp>
      <p:sp>
        <p:nvSpPr>
          <p:cNvPr id="55" name="object 10"/>
          <p:cNvSpPr txBox="1"/>
          <p:nvPr/>
        </p:nvSpPr>
        <p:spPr>
          <a:xfrm>
            <a:off x="125076" y="3368765"/>
            <a:ext cx="2808000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50" spc="-70" dirty="0" smtClean="0">
                <a:latin typeface="+mn-ea"/>
                <a:cs typeface="맑은 고딕"/>
              </a:rPr>
              <a:t>필요한 </a:t>
            </a:r>
            <a:r>
              <a:rPr lang="ko-KR" altLang="en-US" sz="1050" spc="-70" dirty="0">
                <a:latin typeface="+mn-ea"/>
                <a:cs typeface="맑은 고딕"/>
              </a:rPr>
              <a:t>컬럼만을 조회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하여 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빠른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쿼리 성능 보장</a:t>
            </a:r>
            <a:endParaRPr sz="1050" dirty="0">
              <a:latin typeface="+mn-ea"/>
              <a:cs typeface="맑은 고딕"/>
            </a:endParaRPr>
          </a:p>
        </p:txBody>
      </p:sp>
      <p:sp>
        <p:nvSpPr>
          <p:cNvPr id="56" name="object 10"/>
          <p:cNvSpPr txBox="1"/>
          <p:nvPr/>
        </p:nvSpPr>
        <p:spPr>
          <a:xfrm>
            <a:off x="3622676" y="3368765"/>
            <a:ext cx="2808000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50" spc="-330" dirty="0" smtClean="0">
                <a:latin typeface="+mn-ea"/>
                <a:cs typeface="Courier New"/>
              </a:rPr>
              <a:t> </a:t>
            </a:r>
            <a:r>
              <a:rPr lang="en-US" altLang="ko-KR" sz="1050" dirty="0">
                <a:latin typeface="+mn-ea"/>
                <a:cs typeface="Pretendard Variable Medium" panose="02000003000000020004" pitchFamily="2" charset="-127"/>
              </a:rPr>
              <a:t>Disk </a:t>
            </a:r>
            <a:r>
              <a:rPr lang="en-US" altLang="ko-KR" sz="1050" spc="-70" dirty="0">
                <a:latin typeface="+mn-ea"/>
                <a:cs typeface="맑은 고딕"/>
              </a:rPr>
              <a:t>I/O </a:t>
            </a:r>
            <a:r>
              <a:rPr lang="ko-KR" altLang="en-US" sz="1050" spc="-70" dirty="0">
                <a:latin typeface="+mn-ea"/>
                <a:cs typeface="맑은 고딕"/>
              </a:rPr>
              <a:t>비용을 최소화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하는</a:t>
            </a:r>
            <a:r>
              <a:rPr lang="ko-KR" altLang="en-US" sz="1050" spc="-70" dirty="0">
                <a:latin typeface="+mn-ea"/>
                <a:cs typeface="맑은 고딕"/>
              </a:rPr>
              <a:t>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동시에 성능을 가속화</a:t>
            </a:r>
            <a:endParaRPr lang="en-US" altLang="ko-KR" sz="105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57" name="object 10"/>
          <p:cNvSpPr txBox="1"/>
          <p:nvPr/>
        </p:nvSpPr>
        <p:spPr>
          <a:xfrm>
            <a:off x="6815230" y="6365835"/>
            <a:ext cx="2808000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Name </a:t>
            </a:r>
            <a:r>
              <a:rPr lang="en-US" altLang="ko-KR" sz="1050" dirty="0">
                <a:latin typeface="+mn-ea"/>
                <a:cs typeface="Pretendard Variable Medium" panose="02000003000000020004" pitchFamily="2" charset="-127"/>
              </a:rPr>
              <a:t>node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와 같은 </a:t>
            </a:r>
            <a:r>
              <a:rPr lang="en-US" altLang="ko-KR" sz="1050" spc="-70" dirty="0">
                <a:latin typeface="+mn-ea"/>
                <a:cs typeface="맑은 고딕"/>
              </a:rPr>
              <a:t>Single point of failure</a:t>
            </a:r>
            <a:r>
              <a:rPr lang="ko-KR" altLang="en-US" sz="1050" spc="-70" dirty="0">
                <a:latin typeface="+mn-ea"/>
                <a:cs typeface="맑은 고딕"/>
              </a:rPr>
              <a:t>를 제거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한</a:t>
            </a:r>
            <a:r>
              <a:rPr lang="ko-KR" altLang="en-US" sz="1050" spc="-70" dirty="0">
                <a:latin typeface="+mn-ea"/>
                <a:cs typeface="맑은 고딕"/>
              </a:rPr>
              <a:t>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순수 </a:t>
            </a:r>
            <a:r>
              <a:rPr lang="en-US" altLang="ko-KR" sz="1050" dirty="0">
                <a:latin typeface="+mn-ea"/>
                <a:cs typeface="Pretendard Variable Medium" panose="02000003000000020004" pitchFamily="2" charset="-127"/>
              </a:rPr>
              <a:t>MPP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아키텍처</a:t>
            </a:r>
            <a:r>
              <a:rPr lang="en-US" altLang="ko-KR" sz="1050" dirty="0">
                <a:latin typeface="+mn-ea"/>
                <a:cs typeface="Pretendard Variable Medium" panose="02000003000000020004" pitchFamily="2" charset="-127"/>
              </a:rPr>
              <a:t/>
            </a:r>
            <a:br>
              <a:rPr lang="en-US" altLang="ko-KR" sz="1050" dirty="0">
                <a:latin typeface="+mn-ea"/>
                <a:cs typeface="Pretendard Variable Medium" panose="02000003000000020004" pitchFamily="2" charset="-127"/>
              </a:rPr>
            </a:br>
            <a:r>
              <a:rPr lang="en-US" altLang="ko-KR" sz="1050" dirty="0">
                <a:latin typeface="+mn-ea"/>
                <a:cs typeface="Pretendard Variable Medium" panose="02000003000000020004" pitchFamily="2" charset="-127"/>
              </a:rPr>
              <a:t>(</a:t>
            </a:r>
            <a:r>
              <a:rPr lang="en-US" altLang="ko-KR" sz="1050" i="0" dirty="0">
                <a:effectLst/>
                <a:latin typeface="+mn-ea"/>
              </a:rPr>
              <a:t>Massively Parallel Processing)</a:t>
            </a:r>
            <a:endParaRPr lang="en-US" altLang="ko-KR" sz="1050" dirty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Exabyte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수준의 </a:t>
            </a:r>
            <a:r>
              <a:rPr lang="ko-KR" altLang="en-US" sz="1050" dirty="0" err="1">
                <a:latin typeface="+mn-ea"/>
                <a:cs typeface="Pretendard Variable Medium" panose="02000003000000020004" pitchFamily="2" charset="-127"/>
              </a:rPr>
              <a:t>확장성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제공</a:t>
            </a:r>
            <a:endParaRPr lang="en-US" altLang="ko-KR" sz="105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58" name="object 10"/>
          <p:cNvSpPr txBox="1"/>
          <p:nvPr/>
        </p:nvSpPr>
        <p:spPr>
          <a:xfrm>
            <a:off x="144076" y="6365835"/>
            <a:ext cx="2808000" cy="38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특정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노드에 대한 종속성이 없는 </a:t>
            </a:r>
            <a:r>
              <a:rPr lang="ko-KR" altLang="en-US" sz="1050" spc="-70" dirty="0">
                <a:latin typeface="+mn-ea"/>
                <a:cs typeface="맑은 고딕"/>
              </a:rPr>
              <a:t>분산 쿼리 수행</a:t>
            </a:r>
            <a:endParaRPr lang="en-US" altLang="ko-KR" sz="1050" spc="-70" dirty="0">
              <a:latin typeface="+mn-ea"/>
              <a:cs typeface="맑은 고딕"/>
            </a:endParaRPr>
          </a:p>
        </p:txBody>
      </p:sp>
      <p:sp>
        <p:nvSpPr>
          <p:cNvPr id="59" name="object 10"/>
          <p:cNvSpPr txBox="1"/>
          <p:nvPr/>
        </p:nvSpPr>
        <p:spPr>
          <a:xfrm>
            <a:off x="6820305" y="3372394"/>
            <a:ext cx="2808000" cy="594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50" dirty="0" err="1" smtClean="0">
                <a:latin typeface="+mn-ea"/>
                <a:cs typeface="Pretendard Variable Medium" panose="02000003000000020004" pitchFamily="2" charset="-127"/>
              </a:rPr>
              <a:t>노드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장애 대처와 </a:t>
            </a:r>
            <a:r>
              <a:rPr lang="ko-KR" altLang="en-US" sz="1050" spc="-70" dirty="0">
                <a:latin typeface="+mn-ea"/>
                <a:cs typeface="맑은 고딕"/>
              </a:rPr>
              <a:t>쿼리 성능을 담보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하기</a:t>
            </a:r>
            <a:r>
              <a:rPr lang="ko-KR" altLang="en-US" sz="1050" spc="-70" dirty="0">
                <a:latin typeface="+mn-ea"/>
                <a:cs typeface="맑은 고딕"/>
              </a:rPr>
              <a:t> </a:t>
            </a:r>
            <a:r>
              <a:rPr lang="ko-KR" altLang="en-US" sz="1050" dirty="0">
                <a:latin typeface="+mn-ea"/>
                <a:cs typeface="Pretendard Variable Medium" panose="02000003000000020004" pitchFamily="2" charset="-127"/>
              </a:rPr>
              <a:t>위한 최적화 방안 제공</a:t>
            </a:r>
            <a:endParaRPr lang="en-US" altLang="ko-KR" sz="105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60" name="Group 1"/>
          <p:cNvGrpSpPr/>
          <p:nvPr/>
        </p:nvGrpSpPr>
        <p:grpSpPr>
          <a:xfrm rot="18900000">
            <a:off x="885276" y="4453258"/>
            <a:ext cx="1296000" cy="1296000"/>
            <a:chOff x="7135913" y="1248230"/>
            <a:chExt cx="1851539" cy="1832402"/>
          </a:xfrm>
        </p:grpSpPr>
        <p:grpSp>
          <p:nvGrpSpPr>
            <p:cNvPr id="61" name="Group 107"/>
            <p:cNvGrpSpPr>
              <a:grpSpLocks noChangeAspect="1"/>
            </p:cNvGrpSpPr>
            <p:nvPr/>
          </p:nvGrpSpPr>
          <p:grpSpPr>
            <a:xfrm>
              <a:off x="7579370" y="1782286"/>
              <a:ext cx="1408082" cy="1298346"/>
              <a:chOff x="1392805" y="8552255"/>
              <a:chExt cx="285314" cy="263087"/>
            </a:xfrm>
            <a:solidFill>
              <a:srgbClr val="0078EF"/>
            </a:solidFill>
          </p:grpSpPr>
          <p:sp>
            <p:nvSpPr>
              <p:cNvPr id="69" name="Freeform 119"/>
              <p:cNvSpPr>
                <a:spLocks noChangeArrowheads="1"/>
              </p:cNvSpPr>
              <p:nvPr/>
            </p:nvSpPr>
            <p:spPr bwMode="auto">
              <a:xfrm>
                <a:off x="1392805" y="8643039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0" name="Freeform 120"/>
              <p:cNvSpPr>
                <a:spLocks noChangeArrowheads="1"/>
              </p:cNvSpPr>
              <p:nvPr/>
            </p:nvSpPr>
            <p:spPr bwMode="auto">
              <a:xfrm>
                <a:off x="1624391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1" name="Freeform 121"/>
              <p:cNvSpPr>
                <a:spLocks noChangeArrowheads="1"/>
              </p:cNvSpPr>
              <p:nvPr/>
            </p:nvSpPr>
            <p:spPr bwMode="auto">
              <a:xfrm>
                <a:off x="1596601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2" name="Freeform 122"/>
              <p:cNvSpPr>
                <a:spLocks noChangeArrowheads="1"/>
              </p:cNvSpPr>
              <p:nvPr/>
            </p:nvSpPr>
            <p:spPr bwMode="auto">
              <a:xfrm>
                <a:off x="1596601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3" name="Freeform 123"/>
              <p:cNvSpPr>
                <a:spLocks noChangeArrowheads="1"/>
              </p:cNvSpPr>
              <p:nvPr/>
            </p:nvSpPr>
            <p:spPr bwMode="auto">
              <a:xfrm>
                <a:off x="1483586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4" name="Freeform 124"/>
              <p:cNvSpPr>
                <a:spLocks noChangeArrowheads="1"/>
              </p:cNvSpPr>
              <p:nvPr/>
            </p:nvSpPr>
            <p:spPr bwMode="auto">
              <a:xfrm>
                <a:off x="1485438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75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  <p:grpSp>
          <p:nvGrpSpPr>
            <p:cNvPr id="62" name="Group 115"/>
            <p:cNvGrpSpPr>
              <a:grpSpLocks noChangeAspect="1"/>
            </p:cNvGrpSpPr>
            <p:nvPr/>
          </p:nvGrpSpPr>
          <p:grpSpPr>
            <a:xfrm rot="16200000">
              <a:off x="7305065" y="1079078"/>
              <a:ext cx="960043" cy="1298347"/>
              <a:chOff x="1483585" y="8552255"/>
              <a:chExt cx="194530" cy="263087"/>
            </a:xfrm>
            <a:solidFill>
              <a:srgbClr val="0078EF"/>
            </a:solidFill>
          </p:grpSpPr>
          <p:sp>
            <p:nvSpPr>
              <p:cNvPr id="63" name="Freeform 120"/>
              <p:cNvSpPr>
                <a:spLocks noChangeArrowheads="1"/>
              </p:cNvSpPr>
              <p:nvPr/>
            </p:nvSpPr>
            <p:spPr bwMode="auto">
              <a:xfrm>
                <a:off x="1624387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64" name="Freeform 121"/>
              <p:cNvSpPr>
                <a:spLocks noChangeArrowheads="1"/>
              </p:cNvSpPr>
              <p:nvPr/>
            </p:nvSpPr>
            <p:spPr bwMode="auto">
              <a:xfrm>
                <a:off x="1596598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65" name="Freeform 122"/>
              <p:cNvSpPr>
                <a:spLocks noChangeArrowheads="1"/>
              </p:cNvSpPr>
              <p:nvPr/>
            </p:nvSpPr>
            <p:spPr bwMode="auto">
              <a:xfrm>
                <a:off x="1596597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66" name="Freeform 123"/>
              <p:cNvSpPr>
                <a:spLocks noChangeArrowheads="1"/>
              </p:cNvSpPr>
              <p:nvPr/>
            </p:nvSpPr>
            <p:spPr bwMode="auto">
              <a:xfrm>
                <a:off x="1483585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67" name="Freeform 124"/>
              <p:cNvSpPr>
                <a:spLocks noChangeArrowheads="1"/>
              </p:cNvSpPr>
              <p:nvPr/>
            </p:nvSpPr>
            <p:spPr bwMode="auto">
              <a:xfrm>
                <a:off x="1485436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68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</p:grpSp>
      <p:cxnSp>
        <p:nvCxnSpPr>
          <p:cNvPr id="76" name="직선 연결선 75"/>
          <p:cNvCxnSpPr/>
          <p:nvPr/>
        </p:nvCxnSpPr>
        <p:spPr>
          <a:xfrm flipV="1">
            <a:off x="114300" y="3937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99"/>
          <p:cNvSpPr/>
          <p:nvPr/>
        </p:nvSpPr>
        <p:spPr>
          <a:xfrm>
            <a:off x="4265046" y="5752338"/>
            <a:ext cx="1603053" cy="504000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  <a:latin typeface="+mn-ea"/>
              </a:rPr>
              <a:t>MCP</a:t>
            </a:r>
            <a:r>
              <a:rPr lang="en-US" sz="12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+mn-ea"/>
              </a:rPr>
              <a:t>Intergration</a:t>
            </a:r>
            <a:endParaRPr 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6" name="object 10"/>
          <p:cNvSpPr txBox="1"/>
          <p:nvPr/>
        </p:nvSpPr>
        <p:spPr>
          <a:xfrm>
            <a:off x="3677372" y="6365835"/>
            <a:ext cx="2808000" cy="9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MCP 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기반 자연어 질의 지원으로 </a:t>
            </a: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SQL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에 익숙하지 않은 사용자도 데이터 분석가능</a:t>
            </a:r>
            <a:endParaRPr lang="en-US" altLang="ko-KR" sz="1050" dirty="0" smtClean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이미지</a:t>
            </a: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/ 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비정형 데이터에 대한 고차원 </a:t>
            </a:r>
            <a:r>
              <a:rPr lang="en-US" altLang="ko-KR" sz="1050" dirty="0" smtClean="0">
                <a:latin typeface="+mn-ea"/>
                <a:cs typeface="Pretendard Variable Medium" panose="02000003000000020004" pitchFamily="2" charset="-127"/>
              </a:rPr>
              <a:t>Vector Search </a:t>
            </a:r>
            <a:r>
              <a:rPr lang="ko-KR" altLang="en-US" sz="1050" dirty="0" smtClean="0">
                <a:latin typeface="+mn-ea"/>
                <a:cs typeface="Pretendard Variable Medium" panose="02000003000000020004" pitchFamily="2" charset="-127"/>
              </a:rPr>
              <a:t>기능으로 유사도 기반 고속 검색 및 분석 가능</a:t>
            </a:r>
            <a:endParaRPr lang="en-US" altLang="ko-KR" sz="105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4420856" y="4565847"/>
            <a:ext cx="1296865" cy="1045583"/>
            <a:chOff x="7561385" y="4865070"/>
            <a:chExt cx="1363620" cy="1045583"/>
          </a:xfrm>
        </p:grpSpPr>
        <p:grpSp>
          <p:nvGrpSpPr>
            <p:cNvPr id="96" name="그룹 95"/>
            <p:cNvGrpSpPr/>
            <p:nvPr/>
          </p:nvGrpSpPr>
          <p:grpSpPr>
            <a:xfrm>
              <a:off x="7561385" y="4865070"/>
              <a:ext cx="1090245" cy="689287"/>
              <a:chOff x="7408985" y="4888525"/>
              <a:chExt cx="855784" cy="505613"/>
            </a:xfrm>
          </p:grpSpPr>
          <p:sp>
            <p:nvSpPr>
              <p:cNvPr id="5" name="모서리가 둥근 사각형 설명선 4"/>
              <p:cNvSpPr/>
              <p:nvPr/>
            </p:nvSpPr>
            <p:spPr>
              <a:xfrm>
                <a:off x="7432430" y="4888525"/>
                <a:ext cx="797171" cy="480646"/>
              </a:xfrm>
              <a:prstGeom prst="wedgeRoundRectCallout">
                <a:avLst>
                  <a:gd name="adj1" fmla="val -38392"/>
                  <a:gd name="adj2" fmla="val 90421"/>
                  <a:gd name="adj3" fmla="val 16667"/>
                </a:avLst>
              </a:prstGeom>
              <a:noFill/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>
                  <a:lnSpc>
                    <a:spcPct val="30000"/>
                  </a:lnSpc>
                </a:pPr>
                <a:endParaRPr lang="en-US" altLang="ko-KR" sz="2400" b="1" dirty="0">
                  <a:solidFill>
                    <a:srgbClr val="9BB9FE"/>
                  </a:solidFill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7408985" y="4948913"/>
                <a:ext cx="855784" cy="4452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>
                  <a:lnSpc>
                    <a:spcPct val="30000"/>
                  </a:lnSpc>
                </a:pPr>
                <a:r>
                  <a:rPr lang="en-US" altLang="ko-KR" sz="3600" b="1" dirty="0">
                    <a:solidFill>
                      <a:srgbClr val="9BB9FE"/>
                    </a:solidFill>
                  </a:rPr>
                  <a:t>-----</a:t>
                </a:r>
              </a:p>
              <a:p>
                <a:pPr algn="ctr">
                  <a:lnSpc>
                    <a:spcPct val="30000"/>
                  </a:lnSpc>
                </a:pPr>
                <a:r>
                  <a:rPr lang="en-US" altLang="ko-KR" sz="3600" b="1" dirty="0">
                    <a:solidFill>
                      <a:srgbClr val="9BB9FE"/>
                    </a:solidFill>
                  </a:rPr>
                  <a:t>-----</a:t>
                </a:r>
              </a:p>
              <a:p>
                <a:pPr algn="ctr">
                  <a:lnSpc>
                    <a:spcPct val="30000"/>
                  </a:lnSpc>
                </a:pPr>
                <a:r>
                  <a:rPr lang="en-US" altLang="ko-KR" sz="3600" b="1" dirty="0" smtClean="0">
                    <a:solidFill>
                      <a:srgbClr val="9BB9FE"/>
                    </a:solidFill>
                  </a:rPr>
                  <a:t>-----</a:t>
                </a:r>
                <a:endParaRPr lang="en-US" altLang="ko-KR" sz="3600" b="1" dirty="0">
                  <a:solidFill>
                    <a:srgbClr val="9BB9FE"/>
                  </a:solidFill>
                </a:endParaRPr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8172450" y="5175250"/>
              <a:ext cx="752555" cy="735403"/>
              <a:chOff x="8229600" y="5207000"/>
              <a:chExt cx="752555" cy="735403"/>
            </a:xfrm>
          </p:grpSpPr>
          <p:sp>
            <p:nvSpPr>
              <p:cNvPr id="93" name="뺄셈 기호 92"/>
              <p:cNvSpPr/>
              <p:nvPr/>
            </p:nvSpPr>
            <p:spPr>
              <a:xfrm rot="2468983">
                <a:off x="8546839" y="5539715"/>
                <a:ext cx="435316" cy="402688"/>
              </a:xfrm>
              <a:prstGeom prst="mathMinus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8229600" y="5207000"/>
                <a:ext cx="543600" cy="54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타원 97"/>
              <p:cNvSpPr/>
              <p:nvPr/>
            </p:nvSpPr>
            <p:spPr>
              <a:xfrm>
                <a:off x="8306687" y="5277100"/>
                <a:ext cx="396000" cy="396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74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9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15" y="5730068"/>
            <a:ext cx="1912809" cy="719215"/>
          </a:xfrm>
          <a:prstGeom prst="rect">
            <a:avLst/>
          </a:prstGeom>
        </p:spPr>
      </p:pic>
      <p:pic>
        <p:nvPicPr>
          <p:cNvPr id="3" name="Picture 30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40" y="5628537"/>
            <a:ext cx="1613988" cy="922277"/>
          </a:xfrm>
          <a:prstGeom prst="rect">
            <a:avLst/>
          </a:prstGeom>
        </p:spPr>
      </p:pic>
      <p:pic>
        <p:nvPicPr>
          <p:cNvPr id="4" name="Picture 3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637" y="4772602"/>
            <a:ext cx="1610159" cy="10355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25A3B3A-32C8-4401-A476-E8CCEB325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00" y="4808506"/>
            <a:ext cx="1292973" cy="96372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051FB3A4-C7F9-45D0-A73B-557A6E1C4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743" y="5797256"/>
            <a:ext cx="2482895" cy="58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포트폴리오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01171" y="1028700"/>
            <a:ext cx="931272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컬럼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처리 및 선진 압축 기법 기반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최대 성능 및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보장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ML, Pattern Matching, Flex Tables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 다양한 고급 기능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80786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온프레미스부터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퍼블릭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프라이빗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클라우드까지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고객의 환경에 최적화된 다양한 배포 옵션을 제공합니다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8471" y="2159000"/>
            <a:ext cx="9312729" cy="107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in the Clouds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플랫폼으로의 빠른 전개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(BYOL)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AWS, Azure, Google,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Vmware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완벽 지원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유연한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기반 옵션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01171" y="3289300"/>
            <a:ext cx="9312729" cy="1181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Eon in the Clouds &amp;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Computing Node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Storage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완전 분리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Object Storage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기반의 무한한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Workload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 따른 유연한 증설 및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Multi-Cluster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구성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지원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2726" y="6671388"/>
            <a:ext cx="9393237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Public / Private Cloud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AWS Azure GCP </a:t>
            </a:r>
            <a:r>
              <a:rPr lang="en-US" altLang="ko-KR" sz="1400" dirty="0" err="1">
                <a:latin typeface="+mj-ea"/>
                <a:ea typeface="+mj-ea"/>
              </a:rPr>
              <a:t>Naver</a:t>
            </a:r>
            <a:r>
              <a:rPr lang="en-US" altLang="ko-KR" sz="1400" dirty="0">
                <a:latin typeface="+mj-ea"/>
                <a:ea typeface="+mj-ea"/>
              </a:rPr>
              <a:t> Cloud KT Cloud </a:t>
            </a:r>
            <a:r>
              <a:rPr lang="en-US" altLang="ko-KR" sz="1400" dirty="0" err="1">
                <a:latin typeface="+mj-ea"/>
                <a:ea typeface="+mj-ea"/>
              </a:rPr>
              <a:t>Kubernetes</a:t>
            </a:r>
            <a:r>
              <a:rPr lang="en-US" altLang="ko-KR" sz="1400" dirty="0">
                <a:latin typeface="+mj-ea"/>
                <a:ea typeface="+mj-ea"/>
              </a:rPr>
              <a:t> 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주요 </a:t>
            </a:r>
            <a:r>
              <a:rPr lang="en-US" altLang="ko-KR" sz="1400" dirty="0">
                <a:latin typeface="+mj-ea"/>
                <a:ea typeface="+mj-ea"/>
              </a:rPr>
              <a:t>Public cloud marketplace</a:t>
            </a:r>
            <a:r>
              <a:rPr lang="ko-KR" altLang="en-US" sz="1400" dirty="0">
                <a:latin typeface="+mj-ea"/>
                <a:ea typeface="+mj-ea"/>
              </a:rPr>
              <a:t>를 통한 수분 내 클러스터 </a:t>
            </a:r>
            <a:r>
              <a:rPr lang="ko-KR" altLang="en-US" sz="1400" dirty="0" err="1">
                <a:latin typeface="+mj-ea"/>
                <a:ea typeface="+mj-ea"/>
              </a:rPr>
              <a:t>프로비저닝</a:t>
            </a:r>
            <a:r>
              <a:rPr lang="ko-KR" altLang="en-US" sz="1400" dirty="0">
                <a:latin typeface="+mj-ea"/>
                <a:ea typeface="+mj-ea"/>
              </a:rPr>
              <a:t> 지원 및 </a:t>
            </a:r>
            <a:r>
              <a:rPr lang="en-US" altLang="ko-KR" sz="1400" dirty="0">
                <a:latin typeface="+mj-ea"/>
                <a:ea typeface="+mj-ea"/>
              </a:rPr>
              <a:t>Private cloud(K8s, 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r>
              <a:rPr lang="en-US" altLang="ko-KR" sz="1400" dirty="0">
                <a:latin typeface="+mj-ea"/>
                <a:ea typeface="+mj-ea"/>
              </a:rPr>
              <a:t>) </a:t>
            </a:r>
            <a:r>
              <a:rPr lang="ko-KR" altLang="en-US" sz="1400" dirty="0">
                <a:latin typeface="+mj-ea"/>
                <a:ea typeface="+mj-ea"/>
              </a:rPr>
              <a:t>기반의 </a:t>
            </a:r>
            <a:r>
              <a:rPr lang="en-US" altLang="ko-KR" sz="1400" dirty="0">
                <a:latin typeface="+mj-ea"/>
                <a:ea typeface="+mj-ea"/>
              </a:rPr>
              <a:t>DW </a:t>
            </a:r>
            <a:r>
              <a:rPr lang="ko-KR" altLang="en-US" sz="1400" dirty="0">
                <a:latin typeface="+mj-ea"/>
                <a:ea typeface="+mj-ea"/>
              </a:rPr>
              <a:t>구축 지원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7524" y="1058997"/>
            <a:ext cx="867976" cy="101438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2285" y="2311072"/>
            <a:ext cx="1077127" cy="84706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7048" y="3599091"/>
            <a:ext cx="1286278" cy="637910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8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아키텍처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단순하고 효율적인 아키텍처로 대규모 데이터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07534" y="785585"/>
            <a:ext cx="931272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Pure-MPP (Massively Parallel Processing)</a:t>
            </a:r>
            <a:br>
              <a:rPr lang="en-US" altLang="ko-KR" sz="1600" b="1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별도의 마스터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분리하지 않고 모든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노드가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동일한 역할을 수행하는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pure-MPP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구조입니다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또한 클러스터 구성이나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구성에 특별한 하드웨어나 소프트웨어를 필요로 하지 않기 때문에 비용적인 강점이 있으며 복잡한 구성이 불필요하여 클러스터 구성 과정이 매우 간단하고 빠릅니다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41102" y="1737731"/>
            <a:ext cx="4366941" cy="2183652"/>
            <a:chOff x="1088681" y="2547978"/>
            <a:chExt cx="4366941" cy="2183652"/>
          </a:xfrm>
        </p:grpSpPr>
        <p:grpSp>
          <p:nvGrpSpPr>
            <p:cNvPr id="22" name="그룹 21"/>
            <p:cNvGrpSpPr/>
            <p:nvPr/>
          </p:nvGrpSpPr>
          <p:grpSpPr>
            <a:xfrm>
              <a:off x="1088681" y="2986780"/>
              <a:ext cx="4366941" cy="1744850"/>
              <a:chOff x="1088681" y="2986780"/>
              <a:chExt cx="4366941" cy="1744850"/>
            </a:xfrm>
          </p:grpSpPr>
          <p:grpSp>
            <p:nvGrpSpPr>
              <p:cNvPr id="24" name="그룹 54"/>
              <p:cNvGrpSpPr/>
              <p:nvPr/>
            </p:nvGrpSpPr>
            <p:grpSpPr>
              <a:xfrm>
                <a:off x="2666944" y="2986780"/>
                <a:ext cx="1463020" cy="1704455"/>
                <a:chOff x="2763035" y="2506034"/>
                <a:chExt cx="1594245" cy="1723318"/>
              </a:xfrm>
            </p:grpSpPr>
            <p:sp>
              <p:nvSpPr>
                <p:cNvPr id="50" name="Rounded Rectangle 32"/>
                <p:cNvSpPr/>
                <p:nvPr/>
              </p:nvSpPr>
              <p:spPr>
                <a:xfrm>
                  <a:off x="2859399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51" name="Rounded Rectangle 33"/>
                <p:cNvSpPr/>
                <p:nvPr/>
              </p:nvSpPr>
              <p:spPr>
                <a:xfrm>
                  <a:off x="3362503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52" name="Rounded Rectangle 34"/>
                <p:cNvSpPr/>
                <p:nvPr/>
              </p:nvSpPr>
              <p:spPr>
                <a:xfrm>
                  <a:off x="3865607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cxnSp>
              <p:nvCxnSpPr>
                <p:cNvPr id="53" name="Straight Connector 35"/>
                <p:cNvCxnSpPr>
                  <a:endCxn id="50" idx="0"/>
                </p:cNvCxnSpPr>
                <p:nvPr/>
              </p:nvCxnSpPr>
              <p:spPr>
                <a:xfrm>
                  <a:off x="3068719" y="3406619"/>
                  <a:ext cx="1" cy="143136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36"/>
                <p:cNvCxnSpPr/>
                <p:nvPr/>
              </p:nvCxnSpPr>
              <p:spPr>
                <a:xfrm>
                  <a:off x="3571822" y="3406619"/>
                  <a:ext cx="0" cy="162043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37"/>
                <p:cNvCxnSpPr/>
                <p:nvPr/>
              </p:nvCxnSpPr>
              <p:spPr>
                <a:xfrm>
                  <a:off x="4074927" y="3406619"/>
                  <a:ext cx="0" cy="162043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Rounded Rectangle 38"/>
                <p:cNvSpPr/>
                <p:nvPr/>
              </p:nvSpPr>
              <p:spPr>
                <a:xfrm>
                  <a:off x="3068720" y="2831866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cxnSp>
              <p:nvCxnSpPr>
                <p:cNvPr id="57" name="Straight Connector 39"/>
                <p:cNvCxnSpPr/>
                <p:nvPr/>
              </p:nvCxnSpPr>
              <p:spPr>
                <a:xfrm>
                  <a:off x="3278040" y="3246958"/>
                  <a:ext cx="1" cy="159661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40"/>
                <p:cNvCxnSpPr>
                  <a:stCxn id="59" idx="2"/>
                </p:cNvCxnSpPr>
                <p:nvPr/>
              </p:nvCxnSpPr>
              <p:spPr>
                <a:xfrm>
                  <a:off x="3823376" y="3246958"/>
                  <a:ext cx="3626" cy="159661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ounded Rectangle 41"/>
                <p:cNvSpPr/>
                <p:nvPr/>
              </p:nvSpPr>
              <p:spPr>
                <a:xfrm>
                  <a:off x="3614055" y="2831866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3095658" y="2506034"/>
                  <a:ext cx="945359" cy="264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DB Server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3062564" y="3964847"/>
                  <a:ext cx="1294716" cy="264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Storage Server</a:t>
                  </a:r>
                </a:p>
              </p:txBody>
            </p:sp>
            <p:sp>
              <p:nvSpPr>
                <p:cNvPr id="62" name="Rounded Rectangle 44"/>
                <p:cNvSpPr/>
                <p:nvPr/>
              </p:nvSpPr>
              <p:spPr>
                <a:xfrm>
                  <a:off x="2763035" y="3333144"/>
                  <a:ext cx="1586536" cy="146950"/>
                </a:xfrm>
                <a:prstGeom prst="roundRect">
                  <a:avLst/>
                </a:prstGeom>
                <a:solidFill>
                  <a:srgbClr val="F0533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 err="1">
                      <a:latin typeface="+mn-ea"/>
                    </a:rPr>
                    <a:t>InfiniBand</a:t>
                  </a:r>
                  <a:endParaRPr lang="en-US" sz="1000" dirty="0">
                    <a:latin typeface="+mn-ea"/>
                  </a:endParaRPr>
                </a:p>
              </p:txBody>
            </p:sp>
            <p:sp>
              <p:nvSpPr>
                <p:cNvPr id="63" name="Rounded Rectangle 45"/>
                <p:cNvSpPr/>
                <p:nvPr/>
              </p:nvSpPr>
              <p:spPr>
                <a:xfrm>
                  <a:off x="2905511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  <p:sp>
              <p:nvSpPr>
                <p:cNvPr id="64" name="Rounded Rectangle 46"/>
                <p:cNvSpPr/>
                <p:nvPr/>
              </p:nvSpPr>
              <p:spPr>
                <a:xfrm>
                  <a:off x="3420928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  <p:sp>
              <p:nvSpPr>
                <p:cNvPr id="65" name="Rounded Rectangle 47"/>
                <p:cNvSpPr/>
                <p:nvPr/>
              </p:nvSpPr>
              <p:spPr>
                <a:xfrm>
                  <a:off x="3924031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</p:grpSp>
          <p:grpSp>
            <p:nvGrpSpPr>
              <p:cNvPr id="25" name="그룹 24"/>
              <p:cNvGrpSpPr/>
              <p:nvPr/>
            </p:nvGrpSpPr>
            <p:grpSpPr>
              <a:xfrm>
                <a:off x="1088681" y="2990108"/>
                <a:ext cx="1307567" cy="1741522"/>
                <a:chOff x="1088681" y="2990108"/>
                <a:chExt cx="1307567" cy="1741522"/>
              </a:xfrm>
            </p:grpSpPr>
            <p:sp>
              <p:nvSpPr>
                <p:cNvPr id="35" name="TextBox 34"/>
                <p:cNvSpPr txBox="1"/>
                <p:nvPr/>
              </p:nvSpPr>
              <p:spPr>
                <a:xfrm>
                  <a:off x="1237358" y="2990108"/>
                  <a:ext cx="112242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altLang="ko-KR" sz="1100" b="1" dirty="0">
                      <a:latin typeface="+mn-ea"/>
                      <a:cs typeface="HP Simplified" pitchFamily="34" charset="0"/>
                    </a:rPr>
                    <a:t>Master Server</a:t>
                  </a:r>
                  <a:endParaRPr lang="en-US" sz="1100" b="1" dirty="0">
                    <a:latin typeface="+mn-ea"/>
                    <a:cs typeface="HP Simplified" pitchFamily="34" charset="0"/>
                  </a:endParaRPr>
                </a:p>
              </p:txBody>
            </p:sp>
            <p:grpSp>
              <p:nvGrpSpPr>
                <p:cNvPr id="36" name="그룹 35"/>
                <p:cNvGrpSpPr/>
                <p:nvPr/>
              </p:nvGrpSpPr>
              <p:grpSpPr>
                <a:xfrm>
                  <a:off x="1088681" y="3332572"/>
                  <a:ext cx="1307567" cy="1120580"/>
                  <a:chOff x="1088681" y="3332572"/>
                  <a:chExt cx="1307567" cy="1120580"/>
                </a:xfrm>
              </p:grpSpPr>
              <p:sp>
                <p:nvSpPr>
                  <p:cNvPr id="38" name="Rounded Rectangle 19"/>
                  <p:cNvSpPr/>
                  <p:nvPr/>
                </p:nvSpPr>
                <p:spPr>
                  <a:xfrm>
                    <a:off x="1088681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sp>
                <p:nvSpPr>
                  <p:cNvPr id="39" name="Rounded Rectangle 20"/>
                  <p:cNvSpPr/>
                  <p:nvPr/>
                </p:nvSpPr>
                <p:spPr>
                  <a:xfrm>
                    <a:off x="1550374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sp>
                <p:nvSpPr>
                  <p:cNvPr id="40" name="Rounded Rectangle 21"/>
                  <p:cNvSpPr/>
                  <p:nvPr/>
                </p:nvSpPr>
                <p:spPr>
                  <a:xfrm>
                    <a:off x="2012066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41" name="Straight Connector 22"/>
                  <p:cNvCxnSpPr/>
                  <p:nvPr/>
                </p:nvCxnSpPr>
                <p:spPr>
                  <a:xfrm>
                    <a:off x="1088681" y="3901034"/>
                    <a:ext cx="1307567" cy="0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23"/>
                  <p:cNvCxnSpPr>
                    <a:endCxn id="38" idx="0"/>
                  </p:cNvCxnSpPr>
                  <p:nvPr/>
                </p:nvCxnSpPr>
                <p:spPr>
                  <a:xfrm>
                    <a:off x="1280772" y="3901034"/>
                    <a:ext cx="1" cy="1415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24"/>
                  <p:cNvCxnSpPr/>
                  <p:nvPr/>
                </p:nvCxnSpPr>
                <p:spPr>
                  <a:xfrm>
                    <a:off x="1742463" y="3901034"/>
                    <a:ext cx="0" cy="1602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25"/>
                  <p:cNvCxnSpPr/>
                  <p:nvPr/>
                </p:nvCxnSpPr>
                <p:spPr>
                  <a:xfrm>
                    <a:off x="2204157" y="3901034"/>
                    <a:ext cx="0" cy="1602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5" name="Rounded Rectangle 26"/>
                  <p:cNvSpPr/>
                  <p:nvPr/>
                </p:nvSpPr>
                <p:spPr>
                  <a:xfrm>
                    <a:off x="1308765" y="3332572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46" name="Straight Connector 27"/>
                  <p:cNvCxnSpPr/>
                  <p:nvPr/>
                </p:nvCxnSpPr>
                <p:spPr>
                  <a:xfrm>
                    <a:off x="1500856" y="3743121"/>
                    <a:ext cx="1" cy="157913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28"/>
                  <p:cNvCxnSpPr>
                    <a:stCxn id="48" idx="2"/>
                  </p:cNvCxnSpPr>
                  <p:nvPr/>
                </p:nvCxnSpPr>
                <p:spPr>
                  <a:xfrm>
                    <a:off x="2001305" y="3743121"/>
                    <a:ext cx="3328" cy="157913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Rounded Rectangle 29"/>
                  <p:cNvSpPr/>
                  <p:nvPr/>
                </p:nvSpPr>
                <p:spPr>
                  <a:xfrm>
                    <a:off x="1809213" y="3332572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49" name="Straight Arrow Connector 31"/>
                  <p:cNvCxnSpPr/>
                  <p:nvPr/>
                </p:nvCxnSpPr>
                <p:spPr>
                  <a:xfrm>
                    <a:off x="1500857" y="3537846"/>
                    <a:ext cx="539203" cy="0"/>
                  </a:xfrm>
                  <a:prstGeom prst="straightConnector1">
                    <a:avLst/>
                  </a:prstGeom>
                  <a:ln w="12700" cmpd="sng">
                    <a:solidFill>
                      <a:srgbClr val="003300"/>
                    </a:solidFill>
                    <a:headEnd type="arrow"/>
                    <a:tailEnd type="arrow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7" name="TextBox 36"/>
                <p:cNvSpPr txBox="1"/>
                <p:nvPr/>
              </p:nvSpPr>
              <p:spPr>
                <a:xfrm>
                  <a:off x="1339149" y="4470020"/>
                  <a:ext cx="91403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altLang="ko-KR" sz="1100" b="1" dirty="0">
                      <a:latin typeface="+mn-ea"/>
                      <a:cs typeface="HP Simplified" pitchFamily="34" charset="0"/>
                    </a:rPr>
                    <a:t>Data Node</a:t>
                  </a:r>
                  <a:endParaRPr lang="en-US" sz="1100" b="1" dirty="0">
                    <a:latin typeface="+mn-ea"/>
                    <a:cs typeface="HP Simplified" pitchFamily="34" charset="0"/>
                  </a:endParaRPr>
                </a:p>
              </p:txBody>
            </p:sp>
          </p:grpSp>
          <p:grpSp>
            <p:nvGrpSpPr>
              <p:cNvPr id="26" name="그룹 125"/>
              <p:cNvGrpSpPr/>
              <p:nvPr/>
            </p:nvGrpSpPr>
            <p:grpSpPr>
              <a:xfrm>
                <a:off x="4393588" y="2986780"/>
                <a:ext cx="1062034" cy="1704455"/>
                <a:chOff x="3685766" y="2399156"/>
                <a:chExt cx="1062034" cy="1704455"/>
              </a:xfrm>
            </p:grpSpPr>
            <p:sp>
              <p:nvSpPr>
                <p:cNvPr id="27" name="Rounded Rectangle 33"/>
                <p:cNvSpPr/>
                <p:nvPr/>
              </p:nvSpPr>
              <p:spPr>
                <a:xfrm>
                  <a:off x="4001897" y="3431453"/>
                  <a:ext cx="384182" cy="410549"/>
                </a:xfrm>
                <a:prstGeom prst="roundRect">
                  <a:avLst/>
                </a:prstGeom>
                <a:solidFill>
                  <a:srgbClr val="104E9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28" name="Rounded Rectangle 38"/>
                <p:cNvSpPr/>
                <p:nvPr/>
              </p:nvSpPr>
              <p:spPr>
                <a:xfrm>
                  <a:off x="3744171" y="2721422"/>
                  <a:ext cx="384182" cy="410549"/>
                </a:xfrm>
                <a:prstGeom prst="roundRect">
                  <a:avLst/>
                </a:prstGeom>
                <a:solidFill>
                  <a:srgbClr val="60A4E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+mn-ea"/>
                  </a:endParaRPr>
                </a:p>
              </p:txBody>
            </p:sp>
            <p:cxnSp>
              <p:nvCxnSpPr>
                <p:cNvPr id="29" name="Straight Connector 39"/>
                <p:cNvCxnSpPr>
                  <a:endCxn id="27" idx="0"/>
                </p:cNvCxnSpPr>
                <p:nvPr/>
              </p:nvCxnSpPr>
              <p:spPr>
                <a:xfrm>
                  <a:off x="3924386" y="3131970"/>
                  <a:ext cx="269602" cy="299483"/>
                </a:xfrm>
                <a:prstGeom prst="line">
                  <a:avLst/>
                </a:prstGeom>
                <a:ln w="28575" cmpd="sng">
                  <a:solidFill>
                    <a:schemeClr val="accent4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40"/>
                <p:cNvCxnSpPr>
                  <a:stCxn id="31" idx="2"/>
                  <a:endCxn id="27" idx="0"/>
                </p:cNvCxnSpPr>
                <p:nvPr/>
              </p:nvCxnSpPr>
              <p:spPr>
                <a:xfrm flipH="1">
                  <a:off x="4193988" y="3131971"/>
                  <a:ext cx="242721" cy="299482"/>
                </a:xfrm>
                <a:prstGeom prst="line">
                  <a:avLst/>
                </a:prstGeom>
                <a:ln w="28575" cmpd="sng">
                  <a:solidFill>
                    <a:schemeClr val="accent4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ounded Rectangle 41"/>
                <p:cNvSpPr/>
                <p:nvPr/>
              </p:nvSpPr>
              <p:spPr>
                <a:xfrm>
                  <a:off x="4244618" y="2721422"/>
                  <a:ext cx="384182" cy="410549"/>
                </a:xfrm>
                <a:prstGeom prst="roundRect">
                  <a:avLst/>
                </a:prstGeom>
                <a:solidFill>
                  <a:srgbClr val="60A4E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3685766" y="2399156"/>
                  <a:ext cx="45878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R/W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833521" y="3842001"/>
                  <a:ext cx="71045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Storage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4160780" y="2399156"/>
                  <a:ext cx="58702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READ</a:t>
                  </a:r>
                </a:p>
              </p:txBody>
            </p:sp>
          </p:grpSp>
        </p:grpSp>
        <p:sp>
          <p:nvSpPr>
            <p:cNvPr id="23" name="Rectangle 18"/>
            <p:cNvSpPr/>
            <p:nvPr/>
          </p:nvSpPr>
          <p:spPr>
            <a:xfrm>
              <a:off x="2415186" y="2547978"/>
              <a:ext cx="16337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sz="1600" b="1" dirty="0">
                  <a:latin typeface="+mn-ea"/>
                  <a:cs typeface="HP Simplified" pitchFamily="34" charset="0"/>
                </a:rPr>
                <a:t>Other Systems</a:t>
              </a:r>
            </a:p>
          </p:txBody>
        </p:sp>
      </p:grpSp>
      <p:pic>
        <p:nvPicPr>
          <p:cNvPr id="66" name="Picture 2" descr="versus png에 대한 이미지 검색결과">
            <a:extLst>
              <a:ext uri="{FF2B5EF4-FFF2-40B4-BE49-F238E27FC236}">
                <a16:creationId xmlns:a16="http://schemas.microsoft.com/office/drawing/2014/main" xmlns="" id="{7CF353E0-AD86-40C8-A8CD-549B85952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09" y="2903897"/>
            <a:ext cx="1170546" cy="117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그룹 66"/>
          <p:cNvGrpSpPr/>
          <p:nvPr/>
        </p:nvGrpSpPr>
        <p:grpSpPr>
          <a:xfrm>
            <a:off x="6283271" y="1779028"/>
            <a:ext cx="2643013" cy="2270649"/>
            <a:chOff x="7746031" y="2605603"/>
            <a:chExt cx="2643013" cy="2270649"/>
          </a:xfrm>
        </p:grpSpPr>
        <p:grpSp>
          <p:nvGrpSpPr>
            <p:cNvPr id="68" name="그룹 67"/>
            <p:cNvGrpSpPr/>
            <p:nvPr/>
          </p:nvGrpSpPr>
          <p:grpSpPr>
            <a:xfrm>
              <a:off x="7767471" y="3263550"/>
              <a:ext cx="2566104" cy="649573"/>
              <a:chOff x="7767471" y="3263550"/>
              <a:chExt cx="2566104" cy="649573"/>
            </a:xfrm>
          </p:grpSpPr>
          <p:cxnSp>
            <p:nvCxnSpPr>
              <p:cNvPr id="73" name="Straight Connector 8"/>
              <p:cNvCxnSpPr/>
              <p:nvPr/>
            </p:nvCxnSpPr>
            <p:spPr>
              <a:xfrm>
                <a:off x="7767471" y="3263550"/>
                <a:ext cx="2566104" cy="0"/>
              </a:xfrm>
              <a:prstGeom prst="line">
                <a:avLst/>
              </a:prstGeom>
              <a:ln w="28575" cmpd="sng">
                <a:solidFill>
                  <a:srgbClr val="0079E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그룹 73"/>
              <p:cNvGrpSpPr/>
              <p:nvPr/>
            </p:nvGrpSpPr>
            <p:grpSpPr>
              <a:xfrm>
                <a:off x="7815960" y="3263550"/>
                <a:ext cx="418641" cy="649573"/>
                <a:chOff x="8086547" y="3263550"/>
                <a:chExt cx="418641" cy="649573"/>
              </a:xfrm>
            </p:grpSpPr>
            <p:sp>
              <p:nvSpPr>
                <p:cNvPr id="84" name="Rounded Rectangle 4"/>
                <p:cNvSpPr/>
                <p:nvPr/>
              </p:nvSpPr>
              <p:spPr>
                <a:xfrm>
                  <a:off x="8086547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85" name="Straight Connector 9"/>
                <p:cNvCxnSpPr/>
                <p:nvPr/>
              </p:nvCxnSpPr>
              <p:spPr>
                <a:xfrm>
                  <a:off x="8295867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그룹 74"/>
              <p:cNvGrpSpPr/>
              <p:nvPr/>
            </p:nvGrpSpPr>
            <p:grpSpPr>
              <a:xfrm>
                <a:off x="8493237" y="3263550"/>
                <a:ext cx="418641" cy="649573"/>
                <a:chOff x="8589651" y="3263550"/>
                <a:chExt cx="418641" cy="649573"/>
              </a:xfrm>
            </p:grpSpPr>
            <p:sp>
              <p:nvSpPr>
                <p:cNvPr id="82" name="Rounded Rectangle 5"/>
                <p:cNvSpPr/>
                <p:nvPr/>
              </p:nvSpPr>
              <p:spPr>
                <a:xfrm>
                  <a:off x="8589651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83" name="Straight Connector 10"/>
                <p:cNvCxnSpPr/>
                <p:nvPr/>
              </p:nvCxnSpPr>
              <p:spPr>
                <a:xfrm>
                  <a:off x="8798970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그룹 75"/>
              <p:cNvGrpSpPr/>
              <p:nvPr/>
            </p:nvGrpSpPr>
            <p:grpSpPr>
              <a:xfrm>
                <a:off x="9170514" y="3263550"/>
                <a:ext cx="418641" cy="649573"/>
                <a:chOff x="9092755" y="3263550"/>
                <a:chExt cx="418641" cy="649573"/>
              </a:xfrm>
            </p:grpSpPr>
            <p:sp>
              <p:nvSpPr>
                <p:cNvPr id="80" name="Rounded Rectangle 6"/>
                <p:cNvSpPr/>
                <p:nvPr/>
              </p:nvSpPr>
              <p:spPr>
                <a:xfrm>
                  <a:off x="9092755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81" name="Straight Connector 11"/>
                <p:cNvCxnSpPr/>
                <p:nvPr/>
              </p:nvCxnSpPr>
              <p:spPr>
                <a:xfrm>
                  <a:off x="9302075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그룹 76"/>
              <p:cNvGrpSpPr/>
              <p:nvPr/>
            </p:nvGrpSpPr>
            <p:grpSpPr>
              <a:xfrm>
                <a:off x="9847791" y="3263550"/>
                <a:ext cx="418641" cy="649573"/>
                <a:chOff x="9595858" y="3263550"/>
                <a:chExt cx="418641" cy="649573"/>
              </a:xfrm>
            </p:grpSpPr>
            <p:sp>
              <p:nvSpPr>
                <p:cNvPr id="78" name="Rounded Rectangle 7"/>
                <p:cNvSpPr/>
                <p:nvPr/>
              </p:nvSpPr>
              <p:spPr>
                <a:xfrm>
                  <a:off x="9595858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79" name="Straight Connector 12"/>
                <p:cNvCxnSpPr/>
                <p:nvPr/>
              </p:nvCxnSpPr>
              <p:spPr>
                <a:xfrm>
                  <a:off x="9805178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9" name="TextBox 68"/>
            <p:cNvSpPr txBox="1"/>
            <p:nvPr/>
          </p:nvSpPr>
          <p:spPr>
            <a:xfrm>
              <a:off x="8238483" y="2972991"/>
              <a:ext cx="14830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10G Ethernet N/W 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70741" y="3574932"/>
              <a:ext cx="2145870" cy="25200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Commodity Servers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746031" y="4168366"/>
              <a:ext cx="26430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No specialized nodes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All nodes are peers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Query/Load to any node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Continuous/real-time load &amp; query</a:t>
              </a:r>
            </a:p>
          </p:txBody>
        </p:sp>
        <p:sp>
          <p:nvSpPr>
            <p:cNvPr id="72" name="Rectangle 17"/>
            <p:cNvSpPr/>
            <p:nvPr/>
          </p:nvSpPr>
          <p:spPr>
            <a:xfrm>
              <a:off x="8488904" y="2605603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600" b="1" dirty="0">
                  <a:latin typeface="+mn-ea"/>
                  <a:cs typeface="HP Simplified" pitchFamily="34" charset="0"/>
                </a:rPr>
                <a:t>VERTICA</a:t>
              </a:r>
            </a:p>
          </p:txBody>
        </p:sp>
      </p:grpSp>
      <p:graphicFrame>
        <p:nvGraphicFramePr>
          <p:cNvPr id="86" name="표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00335"/>
              </p:ext>
            </p:extLst>
          </p:nvPr>
        </p:nvGraphicFramePr>
        <p:xfrm>
          <a:off x="647127" y="4037317"/>
          <a:ext cx="3351959" cy="162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84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Other</a:t>
                      </a:r>
                      <a:r>
                        <a:rPr lang="en-US" altLang="ko-KR" sz="1400" baseline="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 System</a:t>
                      </a:r>
                      <a:endParaRPr lang="ko-KR" altLang="en-US" sz="1400" dirty="0">
                        <a:solidFill>
                          <a:srgbClr val="0081CD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99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두 종류 이상의 서버</a:t>
                      </a:r>
                      <a:endParaRPr lang="ko-KR" altLang="en-US" sz="1100" b="0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특별한 </a:t>
                      </a:r>
                      <a:r>
                        <a:rPr lang="en-US" altLang="ko-KR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H/W </a:t>
                      </a: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사용으로 복잡도 증가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0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마스터 서버를 통한 작업 수행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저가형 서버 사용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관리</a:t>
                      </a:r>
                      <a:r>
                        <a:rPr lang="en-US" altLang="ko-KR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운영에 다양한 고려사항 존재</a:t>
                      </a:r>
                      <a:endParaRPr lang="en-US" sz="110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82494"/>
              </p:ext>
            </p:extLst>
          </p:nvPr>
        </p:nvGraphicFramePr>
        <p:xfrm>
          <a:off x="5717803" y="4070313"/>
          <a:ext cx="3721808" cy="162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184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VERTICA</a:t>
                      </a:r>
                      <a:endParaRPr lang="ko-KR" altLang="en-US" sz="1400" dirty="0">
                        <a:solidFill>
                          <a:srgbClr val="0081CD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99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동일 스펙 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동일 구성의 서버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단순한 구성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0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아무 서버에나 작업을 요청하면 전 노드가 병렬 수행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시장의 신뢰도를 확보한 서버 사용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관리 및 사용 용이성 확보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1393" y="6623929"/>
            <a:ext cx="4850208" cy="237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내용 개체 틀 2"/>
          <p:cNvSpPr txBox="1">
            <a:spLocks/>
          </p:cNvSpPr>
          <p:nvPr/>
        </p:nvSpPr>
        <p:spPr bwMode="auto">
          <a:xfrm>
            <a:off x="5290203" y="7000393"/>
            <a:ext cx="4275845" cy="18466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압축과 질의가 물리적인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I/O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레벨부터 컬럼 단위로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기반 저장 기술에 맞는 쿼리 옵티마이저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단위 저장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,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처리를 위한 별도의 옵션이나 절차가 불필요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저장 구조에 최적화된 데이터 적재와 트랜잭션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적은 하드웨어 리소스로 다른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DBMS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와 동일한 작업 수행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282348" y="5751289"/>
            <a:ext cx="9312729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Native Columnar</a:t>
            </a:r>
            <a:br>
              <a:rPr lang="en-US" altLang="ko-KR" sz="1600" b="1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대용량 데이터를 관리하는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DW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데이터베이스의 성능은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I/O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를 얼마나 줄일 수 있느냐에 달려 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Columnar DBMS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아키텍처는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Query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수행에 필요한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Column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만을 읽어 올 수 있도록 설계되었기 때문에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Query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시 마다 모든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`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열을 읽어와야 하는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row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DBMS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비교하여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I/O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발생량을 획기적으로 감소시킬 수 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직선 연결선 90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45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xxx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xxx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4191</TotalTime>
  <Words>529</Words>
  <Application>Microsoft Office PowerPoint</Application>
  <PresentationFormat>사용자 지정</PresentationFormat>
  <Paragraphs>106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HP Simplified</vt:lpstr>
      <vt:lpstr>Pretendard Variable Light</vt:lpstr>
      <vt:lpstr>Pretendard Variable Medium</vt:lpstr>
      <vt:lpstr>Pretendard Variable SemiBold</vt:lpstr>
      <vt:lpstr>맑은 고딕</vt:lpstr>
      <vt:lpstr>Arial</vt:lpstr>
      <vt:lpstr>Calibri</vt:lpstr>
      <vt:lpstr>Calibri Light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SOO</dc:creator>
  <cp:lastModifiedBy>SOO</cp:lastModifiedBy>
  <cp:revision>24</cp:revision>
  <dcterms:created xsi:type="dcterms:W3CDTF">2026-04-17T01:43:36Z</dcterms:created>
  <dcterms:modified xsi:type="dcterms:W3CDTF">2026-04-20T01:33:55Z</dcterms:modified>
</cp:coreProperties>
</file>